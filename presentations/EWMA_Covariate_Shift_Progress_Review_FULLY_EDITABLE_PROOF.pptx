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6"/>
  </p:notesMasterIdLst>
  <p:sldIdLst>
    <p:sldId id="256" r:id="rId2"/>
    <p:sldId id="257" r:id="rId3"/>
    <p:sldId id="300"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9" r:id="rId41"/>
    <p:sldId id="298" r:id="rId42"/>
    <p:sldId id="295" r:id="rId43"/>
    <p:sldId id="296" r:id="rId44"/>
    <p:sldId id="297" r:id="rId45"/>
  </p:sldIdLst>
  <p:sldSz cx="18288000" cy="10287000"/>
  <p:notesSz cx="6858000" cy="9144000"/>
  <p:embeddedFontLst>
    <p:embeddedFont>
      <p:font typeface="Aptos" panose="020B0004020202020204" pitchFamily="34" charset="0"/>
      <p:regular r:id="rId47"/>
    </p:embeddedFont>
    <p:embeddedFont>
      <p:font typeface="Aptos Bold" panose="020B0604020202020204" charset="0"/>
      <p:regular r:id="rId48"/>
    </p:embeddedFont>
    <p:embeddedFont>
      <p:font typeface="Calibri" panose="020F0502020204030204" pitchFamily="34" charset="0"/>
      <p:regular r:id="rId49"/>
      <p:bold r:id="rId50"/>
      <p:italic r:id="rId51"/>
      <p:boldItalic r:id="rId52"/>
    </p:embeddedFont>
    <p:embeddedFont>
      <p:font typeface="Calibri (MS)" panose="020B0604020202020204" charset="0"/>
      <p:regular r:id="rId53"/>
    </p:embeddedFont>
    <p:embeddedFont>
      <p:font typeface="Calibri (MS) Bold" panose="020B0604020202020204" charset="0"/>
      <p:regular r:id="rId54"/>
    </p:embeddedFont>
    <p:embeddedFont>
      <p:font typeface="Calibri (MS) Italics" panose="020B0604020202020204" charset="0"/>
      <p:regular r:id="rId55"/>
    </p:embeddedFont>
    <p:embeddedFont>
      <p:font typeface="Cambria Math" panose="02040503050406030204" pitchFamily="18" charset="0"/>
      <p:regular r:id="rId56"/>
    </p:embeddedFont>
    <p:embeddedFont>
      <p:font typeface="Consolas" panose="020B0609020204030204" pitchFamily="49" charset="0"/>
      <p:regular r:id="rId57"/>
      <p:bold r:id="rId58"/>
      <p:italic r:id="rId59"/>
      <p:boldItalic r:id="rId60"/>
    </p:embeddedFont>
    <p:embeddedFont>
      <p:font typeface="DejaVu Sans Bold" panose="020B0604020202020204" charset="0"/>
      <p:regular r:id="rId61"/>
    </p:embeddedFont>
    <p:embeddedFont>
      <p:font typeface="DejaVu Sans Light" panose="020B0604020202020204" charset="0"/>
      <p:regular r:id="rId62"/>
    </p:embeddedFont>
    <p:embeddedFont>
      <p:font typeface="Inter" panose="020B0604020202020204" charset="0"/>
      <p:regular r:id="rId63"/>
    </p:embeddedFont>
    <p:embeddedFont>
      <p:font typeface="Inter Bold" panose="020B0604020202020204" charset="0"/>
      <p:regular r:id="rId64"/>
    </p:embeddedFont>
    <p:embeddedFont>
      <p:font typeface="Inter Italics" panose="020B0604020202020204" charset="0"/>
      <p:regular r:id="rId65"/>
    </p:embeddedFont>
    <p:embeddedFont>
      <p:font typeface="Inter Medium" panose="020B0604020202020204" charset="0"/>
      <p:regular r:id="rId66"/>
    </p:embeddedFont>
    <p:embeddedFont>
      <p:font typeface="Inter Semi-Bold" panose="020B0604020202020204" charset="0"/>
      <p:regular r:id="rId67"/>
    </p:embeddedFont>
    <p:embeddedFont>
      <p:font typeface="Roboto" panose="02000000000000000000" pitchFamily="2" charset="0"/>
      <p:regular r:id="rId68"/>
      <p:bold r:id="rId69"/>
      <p:italic r:id="rId70"/>
      <p:boldItalic r:id="rId71"/>
    </p:embeddedFont>
    <p:embeddedFont>
      <p:font typeface="Roboto Bold" panose="02000000000000000000" charset="0"/>
      <p:regular r:id="rId7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2FD3ED-16D1-43BC-838C-0295E8DA5E05}" v="2" dt="2026-10-14T22:05:59.5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2" d="100"/>
          <a:sy n="72" d="100"/>
        </p:scale>
        <p:origin x="654"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font" Target="fonts/font1.fntdata"/><Relationship Id="rId63" Type="http://schemas.openxmlformats.org/officeDocument/2006/relationships/font" Target="fonts/font17.fntdata"/><Relationship Id="rId68" Type="http://schemas.openxmlformats.org/officeDocument/2006/relationships/font" Target="fonts/font22.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58" Type="http://schemas.openxmlformats.org/officeDocument/2006/relationships/font" Target="fonts/font12.fntdata"/><Relationship Id="rId66" Type="http://schemas.openxmlformats.org/officeDocument/2006/relationships/font" Target="fonts/font20.fntdata"/><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font" Target="fonts/font18.fntdata"/><Relationship Id="rId69" Type="http://schemas.openxmlformats.org/officeDocument/2006/relationships/font" Target="fonts/font23.fntdata"/><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font" Target="fonts/font5.fntdata"/><Relationship Id="rId72" Type="http://schemas.openxmlformats.org/officeDocument/2006/relationships/font" Target="fonts/font2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font" Target="fonts/font13.fntdata"/><Relationship Id="rId67"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font" Target="fonts/font16.fntdata"/><Relationship Id="rId70" Type="http://schemas.openxmlformats.org/officeDocument/2006/relationships/font" Target="fonts/font24.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font" Target="fonts/font14.fntdata"/><Relationship Id="rId65" Type="http://schemas.openxmlformats.org/officeDocument/2006/relationships/font" Target="fonts/font19.fntdata"/><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4.fntdata"/><Relationship Id="rId55" Type="http://schemas.openxmlformats.org/officeDocument/2006/relationships/font" Target="fonts/font9.fntdata"/><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25.fntdata"/><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ocheng Lin" userId="3c9af17cd41df8cf" providerId="LiveId" clId="{E85DCD58-ED75-4D29-A2F4-F018EE94DF03}"/>
    <pc:docChg chg="custSel addSld delSld modSld">
      <pc:chgData name="Haocheng Lin" userId="3c9af17cd41df8cf" providerId="LiveId" clId="{E85DCD58-ED75-4D29-A2F4-F018EE94DF03}" dt="2026-10-14T22:05:59.512" v="28"/>
      <pc:docMkLst>
        <pc:docMk/>
      </pc:docMkLst>
      <pc:sldChg chg="modSp mod">
        <pc:chgData name="Haocheng Lin" userId="3c9af17cd41df8cf" providerId="LiveId" clId="{E85DCD58-ED75-4D29-A2F4-F018EE94DF03}" dt="2026-10-14T22:01:23.443" v="19" actId="1076"/>
        <pc:sldMkLst>
          <pc:docMk/>
          <pc:sldMk cId="0" sldId="257"/>
        </pc:sldMkLst>
        <pc:spChg chg="mod">
          <ac:chgData name="Haocheng Lin" userId="3c9af17cd41df8cf" providerId="LiveId" clId="{E85DCD58-ED75-4D29-A2F4-F018EE94DF03}" dt="2026-10-14T22:01:23.443" v="19" actId="1076"/>
          <ac:spMkLst>
            <pc:docMk/>
            <pc:sldMk cId="0" sldId="257"/>
            <ac:spMk id="10" creationId="{00000000-0000-0000-0000-000000000000}"/>
          </ac:spMkLst>
        </pc:spChg>
        <pc:spChg chg="mod">
          <ac:chgData name="Haocheng Lin" userId="3c9af17cd41df8cf" providerId="LiveId" clId="{E85DCD58-ED75-4D29-A2F4-F018EE94DF03}" dt="2026-10-14T22:01:16.948" v="18" actId="1076"/>
          <ac:spMkLst>
            <pc:docMk/>
            <pc:sldMk cId="0" sldId="257"/>
            <ac:spMk id="15" creationId="{00000000-0000-0000-0000-000000000000}"/>
          </ac:spMkLst>
        </pc:spChg>
        <pc:spChg chg="mod">
          <ac:chgData name="Haocheng Lin" userId="3c9af17cd41df8cf" providerId="LiveId" clId="{E85DCD58-ED75-4D29-A2F4-F018EE94DF03}" dt="2026-10-14T22:00:54.316" v="14" actId="1076"/>
          <ac:spMkLst>
            <pc:docMk/>
            <pc:sldMk cId="0" sldId="257"/>
            <ac:spMk id="20" creationId="{00000000-0000-0000-0000-000000000000}"/>
          </ac:spMkLst>
        </pc:spChg>
        <pc:spChg chg="mod">
          <ac:chgData name="Haocheng Lin" userId="3c9af17cd41df8cf" providerId="LiveId" clId="{E85DCD58-ED75-4D29-A2F4-F018EE94DF03}" dt="2026-10-14T22:01:06.476" v="17" actId="1076"/>
          <ac:spMkLst>
            <pc:docMk/>
            <pc:sldMk cId="0" sldId="257"/>
            <ac:spMk id="25" creationId="{00000000-0000-0000-0000-000000000000}"/>
          </ac:spMkLst>
        </pc:spChg>
      </pc:sldChg>
      <pc:sldChg chg="modSp mod">
        <pc:chgData name="Haocheng Lin" userId="3c9af17cd41df8cf" providerId="LiveId" clId="{E85DCD58-ED75-4D29-A2F4-F018EE94DF03}" dt="2026-10-14T21:41:09.367" v="2" actId="207"/>
        <pc:sldMkLst>
          <pc:docMk/>
          <pc:sldMk cId="0" sldId="281"/>
        </pc:sldMkLst>
        <pc:graphicFrameChg chg="modGraphic">
          <ac:chgData name="Haocheng Lin" userId="3c9af17cd41df8cf" providerId="LiveId" clId="{E85DCD58-ED75-4D29-A2F4-F018EE94DF03}" dt="2026-10-14T21:41:09.367" v="2" actId="207"/>
          <ac:graphicFrameMkLst>
            <pc:docMk/>
            <pc:sldMk cId="0" sldId="281"/>
            <ac:graphicFrameMk id="6" creationId="{00000000-0000-0000-0000-000000000000}"/>
          </ac:graphicFrameMkLst>
        </pc:graphicFrameChg>
      </pc:sldChg>
      <pc:sldChg chg="modSp mod">
        <pc:chgData name="Haocheng Lin" userId="3c9af17cd41df8cf" providerId="LiveId" clId="{E85DCD58-ED75-4D29-A2F4-F018EE94DF03}" dt="2026-10-14T21:40:55.645" v="0" actId="207"/>
        <pc:sldMkLst>
          <pc:docMk/>
          <pc:sldMk cId="0" sldId="283"/>
        </pc:sldMkLst>
        <pc:graphicFrameChg chg="modGraphic">
          <ac:chgData name="Haocheng Lin" userId="3c9af17cd41df8cf" providerId="LiveId" clId="{E85DCD58-ED75-4D29-A2F4-F018EE94DF03}" dt="2026-10-14T21:40:55.645" v="0" actId="207"/>
          <ac:graphicFrameMkLst>
            <pc:docMk/>
            <pc:sldMk cId="0" sldId="283"/>
            <ac:graphicFrameMk id="6" creationId="{00000000-0000-0000-0000-000000000000}"/>
          </ac:graphicFrameMkLst>
        </pc:graphicFrameChg>
      </pc:sldChg>
      <pc:sldChg chg="modSp mod">
        <pc:chgData name="Haocheng Lin" userId="3c9af17cd41df8cf" providerId="LiveId" clId="{E85DCD58-ED75-4D29-A2F4-F018EE94DF03}" dt="2026-10-14T21:41:02.247" v="1" actId="207"/>
        <pc:sldMkLst>
          <pc:docMk/>
          <pc:sldMk cId="0" sldId="284"/>
        </pc:sldMkLst>
        <pc:graphicFrameChg chg="modGraphic">
          <ac:chgData name="Haocheng Lin" userId="3c9af17cd41df8cf" providerId="LiveId" clId="{E85DCD58-ED75-4D29-A2F4-F018EE94DF03}" dt="2026-10-14T21:41:02.247" v="1" actId="207"/>
          <ac:graphicFrameMkLst>
            <pc:docMk/>
            <pc:sldMk cId="0" sldId="284"/>
            <ac:graphicFrameMk id="6" creationId="{00000000-0000-0000-0000-000000000000}"/>
          </ac:graphicFrameMkLst>
        </pc:graphicFrameChg>
      </pc:sldChg>
      <pc:sldChg chg="modSp mod">
        <pc:chgData name="Haocheng Lin" userId="3c9af17cd41df8cf" providerId="LiveId" clId="{E85DCD58-ED75-4D29-A2F4-F018EE94DF03}" dt="2026-10-14T21:46:37.066" v="4" actId="207"/>
        <pc:sldMkLst>
          <pc:docMk/>
          <pc:sldMk cId="0" sldId="286"/>
        </pc:sldMkLst>
        <pc:graphicFrameChg chg="modGraphic">
          <ac:chgData name="Haocheng Lin" userId="3c9af17cd41df8cf" providerId="LiveId" clId="{E85DCD58-ED75-4D29-A2F4-F018EE94DF03}" dt="2026-10-14T21:46:37.066" v="4" actId="207"/>
          <ac:graphicFrameMkLst>
            <pc:docMk/>
            <pc:sldMk cId="0" sldId="286"/>
            <ac:graphicFrameMk id="6" creationId="{00000000-0000-0000-0000-000000000000}"/>
          </ac:graphicFrameMkLst>
        </pc:graphicFrameChg>
      </pc:sldChg>
      <pc:sldChg chg="modSp mod">
        <pc:chgData name="Haocheng Lin" userId="3c9af17cd41df8cf" providerId="LiveId" clId="{E85DCD58-ED75-4D29-A2F4-F018EE94DF03}" dt="2026-10-14T22:03:12.651" v="20" actId="207"/>
        <pc:sldMkLst>
          <pc:docMk/>
          <pc:sldMk cId="0" sldId="289"/>
        </pc:sldMkLst>
        <pc:graphicFrameChg chg="modGraphic">
          <ac:chgData name="Haocheng Lin" userId="3c9af17cd41df8cf" providerId="LiveId" clId="{E85DCD58-ED75-4D29-A2F4-F018EE94DF03}" dt="2026-10-14T22:03:12.651" v="20" actId="207"/>
          <ac:graphicFrameMkLst>
            <pc:docMk/>
            <pc:sldMk cId="0" sldId="289"/>
            <ac:graphicFrameMk id="5" creationId="{00000000-0000-0000-0000-000000000000}"/>
          </ac:graphicFrameMkLst>
        </pc:graphicFrameChg>
      </pc:sldChg>
      <pc:sldChg chg="modSp mod">
        <pc:chgData name="Haocheng Lin" userId="3c9af17cd41df8cf" providerId="LiveId" clId="{E85DCD58-ED75-4D29-A2F4-F018EE94DF03}" dt="2026-10-14T22:03:21.041" v="21" actId="207"/>
        <pc:sldMkLst>
          <pc:docMk/>
          <pc:sldMk cId="0" sldId="291"/>
        </pc:sldMkLst>
        <pc:graphicFrameChg chg="modGraphic">
          <ac:chgData name="Haocheng Lin" userId="3c9af17cd41df8cf" providerId="LiveId" clId="{E85DCD58-ED75-4D29-A2F4-F018EE94DF03}" dt="2026-10-14T22:03:21.041" v="21" actId="207"/>
          <ac:graphicFrameMkLst>
            <pc:docMk/>
            <pc:sldMk cId="0" sldId="291"/>
            <ac:graphicFrameMk id="6" creationId="{00000000-0000-0000-0000-000000000000}"/>
          </ac:graphicFrameMkLst>
        </pc:graphicFrameChg>
      </pc:sldChg>
      <pc:sldChg chg="modSp mod">
        <pc:chgData name="Haocheng Lin" userId="3c9af17cd41df8cf" providerId="LiveId" clId="{E85DCD58-ED75-4D29-A2F4-F018EE94DF03}" dt="2026-10-14T22:03:28.190" v="22" actId="207"/>
        <pc:sldMkLst>
          <pc:docMk/>
          <pc:sldMk cId="0" sldId="292"/>
        </pc:sldMkLst>
        <pc:graphicFrameChg chg="modGraphic">
          <ac:chgData name="Haocheng Lin" userId="3c9af17cd41df8cf" providerId="LiveId" clId="{E85DCD58-ED75-4D29-A2F4-F018EE94DF03}" dt="2026-10-14T22:03:28.190" v="22" actId="207"/>
          <ac:graphicFrameMkLst>
            <pc:docMk/>
            <pc:sldMk cId="0" sldId="292"/>
            <ac:graphicFrameMk id="6" creationId="{00000000-0000-0000-0000-000000000000}"/>
          </ac:graphicFrameMkLst>
        </pc:graphicFrameChg>
      </pc:sldChg>
      <pc:sldChg chg="modSp mod">
        <pc:chgData name="Haocheng Lin" userId="3c9af17cd41df8cf" providerId="LiveId" clId="{E85DCD58-ED75-4D29-A2F4-F018EE94DF03}" dt="2026-10-14T21:41:28.527" v="3" actId="207"/>
        <pc:sldMkLst>
          <pc:docMk/>
          <pc:sldMk cId="0" sldId="293"/>
        </pc:sldMkLst>
        <pc:graphicFrameChg chg="modGraphic">
          <ac:chgData name="Haocheng Lin" userId="3c9af17cd41df8cf" providerId="LiveId" clId="{E85DCD58-ED75-4D29-A2F4-F018EE94DF03}" dt="2026-10-14T21:41:28.527" v="3" actId="207"/>
          <ac:graphicFrameMkLst>
            <pc:docMk/>
            <pc:sldMk cId="0" sldId="293"/>
            <ac:graphicFrameMk id="5" creationId="{00000000-0000-0000-0000-000000000000}"/>
          </ac:graphicFrameMkLst>
        </pc:graphicFrameChg>
      </pc:sldChg>
      <pc:sldChg chg="del">
        <pc:chgData name="Haocheng Lin" userId="3c9af17cd41df8cf" providerId="LiveId" clId="{E85DCD58-ED75-4D29-A2F4-F018EE94DF03}" dt="2026-10-14T21:54:22.215" v="6" actId="2696"/>
        <pc:sldMkLst>
          <pc:docMk/>
          <pc:sldMk cId="0" sldId="294"/>
        </pc:sldMkLst>
      </pc:sldChg>
      <pc:sldChg chg="modSp add mod">
        <pc:chgData name="Haocheng Lin" userId="3c9af17cd41df8cf" providerId="LiveId" clId="{E85DCD58-ED75-4D29-A2F4-F018EE94DF03}" dt="2026-10-14T22:03:59.258" v="27" actId="1076"/>
        <pc:sldMkLst>
          <pc:docMk/>
          <pc:sldMk cId="2467281668" sldId="298"/>
        </pc:sldMkLst>
        <pc:spChg chg="mod">
          <ac:chgData name="Haocheng Lin" userId="3c9af17cd41df8cf" providerId="LiveId" clId="{E85DCD58-ED75-4D29-A2F4-F018EE94DF03}" dt="2026-10-14T21:55:08.476" v="13" actId="255"/>
          <ac:spMkLst>
            <pc:docMk/>
            <pc:sldMk cId="2467281668" sldId="298"/>
            <ac:spMk id="3" creationId="{00000000-0000-0000-0000-000000000000}"/>
          </ac:spMkLst>
        </pc:spChg>
        <pc:spChg chg="mod">
          <ac:chgData name="Haocheng Lin" userId="3c9af17cd41df8cf" providerId="LiveId" clId="{E85DCD58-ED75-4D29-A2F4-F018EE94DF03}" dt="2026-10-14T21:54:48.681" v="9" actId="255"/>
          <ac:spMkLst>
            <pc:docMk/>
            <pc:sldMk cId="2467281668" sldId="298"/>
            <ac:spMk id="5" creationId="{00000000-0000-0000-0000-000000000000}"/>
          </ac:spMkLst>
        </pc:spChg>
        <pc:spChg chg="mod">
          <ac:chgData name="Haocheng Lin" userId="3c9af17cd41df8cf" providerId="LiveId" clId="{E85DCD58-ED75-4D29-A2F4-F018EE94DF03}" dt="2026-10-14T21:54:57.016" v="11" actId="20577"/>
          <ac:spMkLst>
            <pc:docMk/>
            <pc:sldMk cId="2467281668" sldId="298"/>
            <ac:spMk id="6" creationId="{00000000-0000-0000-0000-000000000000}"/>
          </ac:spMkLst>
        </pc:spChg>
        <pc:spChg chg="mod">
          <ac:chgData name="Haocheng Lin" userId="3c9af17cd41df8cf" providerId="LiveId" clId="{E85DCD58-ED75-4D29-A2F4-F018EE94DF03}" dt="2026-10-14T22:03:52.111" v="24" actId="1076"/>
          <ac:spMkLst>
            <pc:docMk/>
            <pc:sldMk cId="2467281668" sldId="298"/>
            <ac:spMk id="7" creationId="{00000000-0000-0000-0000-000000000000}"/>
          </ac:spMkLst>
        </pc:spChg>
        <pc:spChg chg="mod">
          <ac:chgData name="Haocheng Lin" userId="3c9af17cd41df8cf" providerId="LiveId" clId="{E85DCD58-ED75-4D29-A2F4-F018EE94DF03}" dt="2026-10-14T22:03:54.137" v="25" actId="14100"/>
          <ac:spMkLst>
            <pc:docMk/>
            <pc:sldMk cId="2467281668" sldId="298"/>
            <ac:spMk id="9" creationId="{00000000-0000-0000-0000-000000000000}"/>
          </ac:spMkLst>
        </pc:spChg>
        <pc:spChg chg="mod">
          <ac:chgData name="Haocheng Lin" userId="3c9af17cd41df8cf" providerId="LiveId" clId="{E85DCD58-ED75-4D29-A2F4-F018EE94DF03}" dt="2026-10-14T22:03:59.258" v="27" actId="1076"/>
          <ac:spMkLst>
            <pc:docMk/>
            <pc:sldMk cId="2467281668" sldId="298"/>
            <ac:spMk id="11" creationId="{00000000-0000-0000-0000-000000000000}"/>
          </ac:spMkLst>
        </pc:spChg>
        <pc:spChg chg="mod">
          <ac:chgData name="Haocheng Lin" userId="3c9af17cd41df8cf" providerId="LiveId" clId="{E85DCD58-ED75-4D29-A2F4-F018EE94DF03}" dt="2026-10-14T21:54:39.924" v="8" actId="255"/>
          <ac:spMkLst>
            <pc:docMk/>
            <pc:sldMk cId="2467281668" sldId="298"/>
            <ac:spMk id="14" creationId="{00000000-0000-0000-0000-000000000000}"/>
          </ac:spMkLst>
        </pc:spChg>
        <pc:spChg chg="mod">
          <ac:chgData name="Haocheng Lin" userId="3c9af17cd41df8cf" providerId="LiveId" clId="{E85DCD58-ED75-4D29-A2F4-F018EE94DF03}" dt="2026-10-14T21:54:32.427" v="7" actId="1076"/>
          <ac:spMkLst>
            <pc:docMk/>
            <pc:sldMk cId="2467281668" sldId="298"/>
            <ac:spMk id="15" creationId="{00000000-0000-0000-0000-000000000000}"/>
          </ac:spMkLst>
        </pc:spChg>
      </pc:sldChg>
      <pc:sldChg chg="add">
        <pc:chgData name="Haocheng Lin" userId="3c9af17cd41df8cf" providerId="LiveId" clId="{E85DCD58-ED75-4D29-A2F4-F018EE94DF03}" dt="2026-10-14T22:05:59.512" v="28"/>
        <pc:sldMkLst>
          <pc:docMk/>
          <pc:sldMk cId="2539382702" sldId="2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Opening</a:t>
            </a:r>
          </a:p>
          <a:p>
            <a:endParaRPr lang="en-US"/>
          </a:p>
          <a:p>
            <a:r>
              <a:rPr lang="en-US"/>
              <a:t>Suggested explanation (30–60 seconds):</a:t>
            </a:r>
          </a:p>
          <a:p>
            <a:r>
              <a:rPr lang="en-US"/>
              <a:t>My project investigates when a detected change in EEG features should lead to a model update. I have built the detection and adaptation components, stored benchmark evidence, and started controlled policy comparisons. I will separate published findings from my implementation and results.</a:t>
            </a:r>
          </a:p>
          <a:p>
            <a:endParaRPr lang="en-US"/>
          </a:p>
          <a:p>
            <a:r>
              <a:rPr lang="en-US"/>
              <a:t>Likely question and answer:</a:t>
            </a:r>
          </a:p>
          <a:p>
            <a:r>
              <a:rPr lang="en-US"/>
              <a:t>What is the contribution? An auditable reconstruction and experimental framework; validated novelty and general adaptive gains are still research goals.</a:t>
            </a:r>
          </a:p>
          <a:p>
            <a:endParaRPr lang="en-US"/>
          </a:p>
          <a:p>
            <a:r>
              <a:rPr lang="en-US"/>
              <a:t>Evidence and cautions:</a:t>
            </a:r>
          </a:p>
          <a:p>
            <a:r>
              <a:rPr lang="en-US"/>
              <a:t>Roadmap: literature, implementation, evidence, next experiment.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Topic-led ordering for a PhD progress discussion. Distinguish published findings, implemented components, saved experiment evidence, and unvalidated research goals.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Research lineage</a:t>
            </a:r>
          </a:p>
          <a:p>
            <a:endParaRPr lang="en-US"/>
          </a:p>
          <a:p>
            <a:r>
              <a:rPr lang="en-US"/>
              <a:t>Suggested explanation (30–60 seconds):</a:t>
            </a:r>
          </a:p>
          <a:p>
            <a:r>
              <a:rPr lang="en-US"/>
              <a:t>Raza motivates detector reconstruction. Chowdhury demonstrates online supervised BCI adaptation. The later CSE-UAEL work motivates transductive updates and ensembles. Rao and Heyden motivate the subspace question. Diethe provides a maintenance architecture.</a:t>
            </a:r>
          </a:p>
          <a:p>
            <a:endParaRPr lang="en-US"/>
          </a:p>
          <a:p>
            <a:r>
              <a:rPr lang="en-US"/>
              <a:t>Likely question and answer:</a:t>
            </a:r>
          </a:p>
          <a:p>
            <a:r>
              <a:rPr lang="en-US"/>
              <a:t>Why Diethe 2019 when Notion says 2018? The supplied PDF identifies a 2018 workshop and arXiv v2 dated March 2019. State the version being cited consistently.</a:t>
            </a:r>
          </a:p>
          <a:p>
            <a:endParaRPr lang="en-US"/>
          </a:p>
          <a:p>
            <a:r>
              <a:rPr lang="en-US"/>
              <a:t>Evidence and cautions:</a:t>
            </a:r>
          </a:p>
          <a:p>
            <a:r>
              <a:rPr lang="en-US"/>
              <a:t>Transition: first explain what the clinical BCI paper established.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\delta_{ij}=1\ (i=j),\qquad \delta_{ij}=0\ (i\ne j)</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\mathrm{Cov}(Z_i,Z_j)=E[Z_iZ_j]=\delta_{ij}</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\frac{\partial w_i}{\partial w_j}=\delta_{ij}</a:t>
            </a:r>
          </a:p>
          <a:p>
            <a:r>
              <a:rPr lang="en-US"/>
              <a:t>Formula source (LaTeX): \mathrm{Var}(Z_i)=E[(Z_i-E[Z_i])^2]</a:t>
            </a:r>
          </a:p>
          <a:p>
            <a:r>
              <a:rPr lang="en-US"/>
              <a:t>Formula source (LaTeX): w_i(t+1)=w_i(t)+\eta e(t)x_i(t)</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\int t^m\psi(t)\,dt=0,\qquad m=0,\ldots,N-1</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Y=A Z,\quad \mathrm{Cov}(Z)=I\quad\Rightarrow\quad\mathrm{Cov}(Y)=AA^{\mathsf{T}}</a:t>
            </a:r>
          </a:p>
          <a:p>
            <a:r>
              <a:rPr lang="en-US"/>
              <a:t>Formula source (LaTeX): Y_1=Z_1,\quad Y_2=aZ_1+Z_2,\quad \mathrm{Cov}(Y_1,Y_2)=a</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Chowdhury protocol</a:t>
            </a:r>
          </a:p>
          <a:p>
            <a:endParaRPr lang="en-US"/>
          </a:p>
          <a:p>
            <a:r>
              <a:rPr lang="en-US"/>
              <a:t>Suggested explanation (30–60 seconds):</a:t>
            </a:r>
          </a:p>
          <a:p>
            <a:r>
              <a:rPr lang="en-US"/>
              <a:t>Each participant completed 80 calibration trials and 40 online trials. The classifier distinguishes left versus right imagery, not healthy versus stroke participants. The adaptive system ran online; the nonadaptive comparator replayed the recorded data offline.</a:t>
            </a:r>
          </a:p>
          <a:p>
            <a:endParaRPr lang="en-US"/>
          </a:p>
          <a:p>
            <a:r>
              <a:rPr lang="en-US"/>
              <a:t>Likely question and answer:</a:t>
            </a:r>
          </a:p>
          <a:p>
            <a:r>
              <a:rPr lang="en-US"/>
              <a:t>Did your repository reproduce the clinical system? No. It uses BCI Competition data and a different feature pipeline; the paper provides methodological context.</a:t>
            </a:r>
          </a:p>
          <a:p>
            <a:endParaRPr lang="en-US"/>
          </a:p>
          <a:p>
            <a:r>
              <a:rPr lang="en-US"/>
              <a:t>Evidence and cautions:</a:t>
            </a:r>
          </a:p>
          <a:p>
            <a:r>
              <a:rPr lang="en-US"/>
              <a:t>Chowdhury II.B p1072; II.D–E p1073; II.E.3 pp1074–1075.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Published accuracy</a:t>
            </a:r>
          </a:p>
          <a:p>
            <a:endParaRPr lang="en-US"/>
          </a:p>
          <a:p>
            <a:r>
              <a:rPr lang="en-US"/>
              <a:t>Suggested explanation (30–60 seconds):</a:t>
            </a:r>
          </a:p>
          <a:p>
            <a:r>
              <a:rPr lang="en-US"/>
              <a:t>The reported healthy-group gain is 6.25 percentage points and stroke-group gain is 5.50 points. Both paired comparisons were significant. These are paper results, not my repository results.</a:t>
            </a:r>
          </a:p>
          <a:p>
            <a:endParaRPr lang="en-US"/>
          </a:p>
          <a:p>
            <a:r>
              <a:rPr lang="en-US"/>
              <a:t>Likely question and answer:</a:t>
            </a:r>
          </a:p>
          <a:p>
            <a:r>
              <a:rPr lang="en-US"/>
              <a:t>Does this prove recovery? No. It demonstrates better decoding and online feasibility, without longitudinal motor-recovery outcomes.</a:t>
            </a:r>
          </a:p>
          <a:p>
            <a:endParaRPr lang="en-US"/>
          </a:p>
          <a:p>
            <a:r>
              <a:rPr lang="en-US"/>
              <a:t>Evidence and cautions:</a:t>
            </a:r>
          </a:p>
          <a:p>
            <a:r>
              <a:rPr lang="en-US"/>
              <a:t>Chowdhury III p1076 Tables II–IV. Mean ± SD; paired Wilcoxon significance.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Validation evidence</a:t>
            </a:r>
          </a:p>
          <a:p>
            <a:endParaRPr lang="en-US"/>
          </a:p>
          <a:p>
            <a:r>
              <a:rPr lang="en-US"/>
              <a:t>Suggested explanation (30–60 seconds):</a:t>
            </a:r>
          </a:p>
          <a:p>
            <a:r>
              <a:rPr lang="en-US"/>
              <a:t>CSW and CSV here are percentages of trials. Validation reduces the fraction triggering retraining. The correlation with accuracy gain is an association, not an isolated causal effect of the detector.</a:t>
            </a:r>
          </a:p>
          <a:p>
            <a:endParaRPr lang="en-US"/>
          </a:p>
          <a:p>
            <a:r>
              <a:rPr lang="en-US"/>
              <a:t>Likely question and answer:</a:t>
            </a:r>
          </a:p>
          <a:p>
            <a:r>
              <a:rPr lang="en-US"/>
              <a:t>Were rejected warnings false alarms? We cannot determine that without independent shift truth. Rejection is a statistical outcome, not a ground-truth label.</a:t>
            </a:r>
          </a:p>
          <a:p>
            <a:endParaRPr lang="en-US"/>
          </a:p>
          <a:p>
            <a:r>
              <a:rPr lang="en-US"/>
              <a:t>Evidence and cautions:</a:t>
            </a:r>
          </a:p>
          <a:p>
            <a:r>
              <a:rPr lang="en-US"/>
              <a:t>Chowdhury II.E.4 Eqs10–11 p1075; III p1077 Tables VI–VIII and Fig7.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Author-stated limitations</a:t>
            </a:r>
          </a:p>
          <a:p>
            <a:endParaRPr lang="en-US"/>
          </a:p>
          <a:p>
            <a:r>
              <a:rPr lang="en-US"/>
              <a:t>Suggested explanation (30–60 seconds):</a:t>
            </a:r>
          </a:p>
          <a:p>
            <a:r>
              <a:rPr lang="en-US"/>
              <a:t>Fixed bands, binary tasks and known cue labels constrain transfer to other settings. The authors also discuss continuous and asynchronous operation as extensions.</a:t>
            </a:r>
          </a:p>
          <a:p>
            <a:endParaRPr lang="en-US"/>
          </a:p>
          <a:p>
            <a:r>
              <a:rPr lang="en-US"/>
              <a:t>Likely question and answer:</a:t>
            </a:r>
          </a:p>
          <a:p>
            <a:r>
              <a:rPr lang="en-US"/>
              <a:t>Why are cue labels imperfect? The intended task is known, but actual participant compliance is assumed.</a:t>
            </a:r>
          </a:p>
          <a:p>
            <a:endParaRPr lang="en-US"/>
          </a:p>
          <a:p>
            <a:r>
              <a:rPr lang="en-US"/>
              <a:t>Evidence and cautions:</a:t>
            </a:r>
          </a:p>
          <a:p>
            <a:r>
              <a:rPr lang="en-US"/>
              <a:t>Chowdhury IV pp1078–1079. Transition: distinguish these statements from my design-derived critique.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Design-derived limitations</a:t>
            </a:r>
          </a:p>
          <a:p>
            <a:endParaRPr lang="en-US"/>
          </a:p>
          <a:p>
            <a:r>
              <a:rPr lang="en-US"/>
              <a:t>Suggested explanation (30–60 seconds):</a:t>
            </a:r>
          </a:p>
          <a:p>
            <a:r>
              <a:rPr lang="en-US"/>
              <a:t>My critical interpretation concerns small cohorts, a short feedback run and the offline baseline. The study supports short-term feasibility; it leaves generalisation and therapeutic efficacy unresolved.</a:t>
            </a:r>
          </a:p>
          <a:p>
            <a:endParaRPr lang="en-US"/>
          </a:p>
          <a:p>
            <a:r>
              <a:rPr lang="en-US"/>
              <a:t>Likely question and answer:</a:t>
            </a:r>
          </a:p>
          <a:p>
            <a:r>
              <a:rPr lang="en-US"/>
              <a:t>Are these author admissions? These are inferences from the protocol and outcome measures, not all direct limitations stated by the authors.</a:t>
            </a:r>
          </a:p>
          <a:p>
            <a:endParaRPr lang="en-US"/>
          </a:p>
          <a:p>
            <a:r>
              <a:rPr lang="en-US"/>
              <a:t>Evidence and cautions:</a:t>
            </a:r>
          </a:p>
          <a:p>
            <a:r>
              <a:rPr lang="en-US"/>
              <a:t>Chowdhury II.B p1072; II.D–E p1073; III pp1075–1077. Notion limitations page reviewed.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Paper-to-project bridge</a:t>
            </a:r>
          </a:p>
          <a:p>
            <a:endParaRPr lang="en-US"/>
          </a:p>
          <a:p>
            <a:r>
              <a:rPr lang="en-US"/>
              <a:t>Suggested explanation (30–60 seconds):</a:t>
            </a:r>
          </a:p>
          <a:p>
            <a:r>
              <a:rPr lang="en-US"/>
              <a:t>The shared mechanism is warning, validation and selective adaptation. The paper uses two bands and four CSP features; the repository uses ten-band FBCSP for its Competition protocols. I preserve those distinctions when interpreting reproduction.</a:t>
            </a:r>
          </a:p>
          <a:p>
            <a:endParaRPr lang="en-US"/>
          </a:p>
          <a:p>
            <a:r>
              <a:rPr lang="en-US"/>
              <a:t>Likely question and answer:</a:t>
            </a:r>
          </a:p>
          <a:p>
            <a:r>
              <a:rPr lang="en-US"/>
              <a:t>Why not copy every paper detail? Some temporal sample and update-batch choices are underspecified; alternatives should be named and tested.</a:t>
            </a:r>
          </a:p>
          <a:p>
            <a:endParaRPr lang="en-US"/>
          </a:p>
          <a:p>
            <a:r>
              <a:rPr lang="en-US"/>
              <a:t>Evidence and cautions:</a:t>
            </a:r>
          </a:p>
          <a:p>
            <a:r>
              <a:rPr lang="en-US"/>
              <a:t>Notion Methods &amp; equation evidence audit; PhD questions &amp; repository connections.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Explain the three steps: spatial projection, log-normalised variance, and fixed calibration PCA. f is a feature vector; x is the scalar first-PC score. Equation 2 uses clarified indices. PCA is an implementation-explicit reformulation of Eq4, not a verbatim transcription. The code selects extreme CSP components before normalising variances; the paper prose describes 12 elements followed by first/last selection. Record that convention explicitly. The paper uses two bands and four features; the Table-I repository path uses ten-band FBCSP. Sources: Chowdhury II.E pp1073–1074; src/bci/fbcsp.py; src/detection/preprocessing.py.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notation clarifies the current implementation. phi_0, P_0 and mu_0 denote initial fitted mappings. theta_t denotes classifier parameters after possible retraining. A fit of the linear SVM is not a recalibration of EEG feature extraction. This is an implementation interpretation, not a claimed equation from Chowdhury et 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Explain x_i as the PC1 score and e_i as a score prediction error, not classification error. Limits use previous variance. Equation8 updates the variance for subsequent trials. Alpha_v is a clarified name for the paper alpha, distinct from Stage-II test significance. Paper L=2; use the configured repository value when describing a run. Repository supports always, frozen, non_alarm variance modes; Diethe pilot used frozen. Paper warns strictly outside limits; repository sd_ewma includes equality. Pooled Stage-II equation is the repository mode, not direct Chowdhury Eq9. The degrees-of-freedom condition does not ensure covariance invertibility or valid inference. Sources: Chowdhury II.E.3 pp1074–1075; src/detection/stage1/sd_ewma.py; src/detection/stage2/paper_two_sample_hotelling.py.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T_t^2=(z_t-\mu_0)^{\mathsf{T}}\Sigma_{z,t}^{-1}(z_t-\mu_0)</a:t>
            </a:r>
          </a:p>
          <a:p>
            <a:r>
              <a:rPr lang="en-US"/>
              <a:t>Formula source (LaTeX): T^2=\frac{n_1n_2}{n_1+n_2}(\bar{x}_1-\bar{x}_2)^{\mathsf{T}}S_p^{-1}(\bar{x}_1-\bar{x}_2)</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Q=(\bar{x}_1-\bar{x}_2)^{\mathsf{T}}\left(\frac{S_1}{n_1}+\frac{S_2}{n_2}\right)^{-1}(\bar{x}_1-\bar{x}_2)</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Q=(\bar{x}_1-\bar{x}_2)^{\mathsf{T}}\left(\frac{S_1}{n_1}+\frac{S_2}{n_2}\right)^{-1}(\bar{x}_1-\bar{x}_2)</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Q=(\bar{x}_1-\bar{x}_2)^{\mathsf{T}}\left(\frac{S_1}{n_1}+\frac{S_2}{n_2}\right)^{-1}(\bar{x}_1-\bar{x}_2)</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Implementation responsibilities</a:t>
            </a:r>
          </a:p>
          <a:p>
            <a:endParaRPr lang="en-US"/>
          </a:p>
          <a:p>
            <a:r>
              <a:rPr lang="en-US"/>
              <a:t>Suggested explanation (30–60 seconds):</a:t>
            </a:r>
          </a:p>
          <a:p>
            <a:r>
              <a:rPr lang="en-US"/>
              <a:t>The update policy consumes evidence. A warning, a confirmation and performance deterioration are different signals. Labels can be supervised or pseudo-labelled. The current Diethe experiment uses fixed CSE, not the complementary score/residual extension.</a:t>
            </a:r>
          </a:p>
          <a:p>
            <a:endParaRPr lang="en-US"/>
          </a:p>
          <a:p>
            <a:r>
              <a:rPr lang="en-US"/>
              <a:t>Likely question and answer:</a:t>
            </a:r>
          </a:p>
          <a:p>
            <a:r>
              <a:rPr lang="en-US"/>
              <a:t>Is the whole model continuously learning? The current loop appends data and retrains; representation and detector stay fixed in Diethe.</a:t>
            </a:r>
          </a:p>
          <a:p>
            <a:endParaRPr lang="en-US"/>
          </a:p>
          <a:p>
            <a:r>
              <a:rPr lang="en-US"/>
              <a:t>Evidence and cautions:</a:t>
            </a:r>
          </a:p>
          <a:p>
            <a:r>
              <a:rPr lang="en-US"/>
              <a:t>src/adaptation/experiments/diethe.py and docs/diethe_experiments.md.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Protocol separation</a:t>
            </a:r>
          </a:p>
          <a:p>
            <a:endParaRPr lang="en-US"/>
          </a:p>
          <a:p>
            <a:r>
              <a:rPr lang="en-US"/>
              <a:t>Suggested explanation (30–60 seconds):</a:t>
            </a:r>
          </a:p>
          <a:p>
            <a:r>
              <a:rPr lang="en-US"/>
              <a:t>Fit preprocessing only on development training data and reuse it for held-out evaluation. CSE reproduction and classifier benchmarking have distinct split contracts.</a:t>
            </a:r>
          </a:p>
          <a:p>
            <a:endParaRPr lang="en-US"/>
          </a:p>
          <a:p>
            <a:r>
              <a:rPr lang="en-US"/>
              <a:t>Likely question and answer:</a:t>
            </a:r>
          </a:p>
          <a:p>
            <a:r>
              <a:rPr lang="en-US"/>
              <a:t>Why does 2B use different sessions in different slides? Different experiments answer different questions. Use the protocol table on slide16 to keep them explicit.</a:t>
            </a:r>
          </a:p>
          <a:p>
            <a:endParaRPr lang="en-US"/>
          </a:p>
          <a:p>
            <a:r>
              <a:rPr lang="en-US"/>
              <a:t>Evidence and cautions:</a:t>
            </a:r>
          </a:p>
          <a:p>
            <a:r>
              <a:rPr lang="en-US"/>
              <a:t>Repository dataset runners and stored bagging evaluation_scope fields.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Dataset roles</a:t>
            </a:r>
          </a:p>
          <a:p>
            <a:endParaRPr lang="en-US"/>
          </a:p>
          <a:p>
            <a:r>
              <a:rPr lang="en-US"/>
              <a:t>Suggested explanation (30–60 seconds):</a:t>
            </a:r>
          </a:p>
          <a:p>
            <a:r>
              <a:rPr lang="en-US"/>
              <a:t>Read this as a protocol map. For complementary 2B, I–II fit the representation, III calibrates thresholds, and IV–V evaluate. That differs from the classifier benchmark and Table-I path.</a:t>
            </a:r>
          </a:p>
          <a:p>
            <a:endParaRPr lang="en-US"/>
          </a:p>
          <a:p>
            <a:r>
              <a:rPr lang="en-US"/>
              <a:t>Likely question and answer:</a:t>
            </a:r>
          </a:p>
          <a:p>
            <a:r>
              <a:rPr lang="en-US"/>
              <a:t>Are real EEG warnings true detections? They are descriptive alarms unless independently annotated or experimentally injected shifts provide ground truth.</a:t>
            </a:r>
          </a:p>
          <a:p>
            <a:endParaRPr lang="en-US"/>
          </a:p>
          <a:p>
            <a:r>
              <a:rPr lang="en-US"/>
              <a:t>Evidence and cautions:</a:t>
            </a:r>
          </a:p>
          <a:p>
            <a:r>
              <a:rPr lang="en-US"/>
              <a:t>scripts/run_complementary_bci.py. Prepared Diethe arrays require the caller to enforce non-overlapping splits.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Diethe architecture</a:t>
            </a:r>
          </a:p>
          <a:p>
            <a:endParaRPr lang="en-US"/>
          </a:p>
          <a:p>
            <a:r>
              <a:rPr lang="en-US"/>
              <a:t>Suggested explanation (30–60 seconds):</a:t>
            </a:r>
          </a:p>
          <a:p>
            <a:r>
              <a:rPr lang="en-US"/>
              <a:t>Diethe separates data monitoring, prediction monitoring and update policy. My implementation operationalises part of this architecture using five explicit rules and saved evidence.</a:t>
            </a:r>
          </a:p>
          <a:p>
            <a:endParaRPr lang="en-US"/>
          </a:p>
          <a:p>
            <a:r>
              <a:rPr lang="en-US"/>
              <a:t>Likely question and answer:</a:t>
            </a:r>
          </a:p>
          <a:p>
            <a:r>
              <a:rPr lang="en-US"/>
              <a:t>Have you implemented Diethe completely? No. The paper discusses much broader state, actions, provenance and policy learning. My rules do not implement rollback, learned policy optimisation or energy accounting.</a:t>
            </a:r>
          </a:p>
          <a:p>
            <a:endParaRPr lang="en-US"/>
          </a:p>
          <a:p>
            <a:r>
              <a:rPr lang="en-US"/>
              <a:t>Evidence and cautions:</a:t>
            </a:r>
          </a:p>
          <a:p>
            <a:r>
              <a:rPr lang="en-US"/>
              <a:t>Supplied Diethe PDF: §4.1–4.2 and §5 p4; §5.2 p5; §3.3 p3. First run now saved.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Synthetic feature vectors are provided directly to the Diethe policy comparison. PCA belongs to a detector branch; do not claim that the comparison passed through EEG or FBCSP. Clearly separate current repository implementation from the cited reference architecture.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Controlled scenarios</a:t>
            </a:r>
          </a:p>
          <a:p>
            <a:endParaRPr lang="en-US"/>
          </a:p>
          <a:p>
            <a:r>
              <a:rPr lang="en-US"/>
              <a:t>Suggested explanation (30–60 seconds):</a:t>
            </a:r>
          </a:p>
          <a:p>
            <a:r>
              <a:rPr lang="en-US"/>
              <a:t>No shift measures baseline burden. Feature shift changes inputs while preserving the label rule. Relationship shift changes the label rule with the same input stream, so input monitoring can miss performance deterioration.</a:t>
            </a:r>
          </a:p>
          <a:p>
            <a:endParaRPr lang="en-US"/>
          </a:p>
          <a:p>
            <a:r>
              <a:rPr lang="en-US"/>
              <a:t>Likely question and answer:</a:t>
            </a:r>
          </a:p>
          <a:p>
            <a:r>
              <a:rPr lang="en-US"/>
              <a:t>When are labels available? Immediately after prediction, before any update. The validated policy waits for validation_time, not the earlier warning time.</a:t>
            </a:r>
          </a:p>
          <a:p>
            <a:endParaRPr lang="en-US"/>
          </a:p>
          <a:p>
            <a:r>
              <a:rPr lang="en-US"/>
              <a:t>Evidence and cautions:</a:t>
            </a:r>
          </a:p>
          <a:p>
            <a:r>
              <a:rPr lang="en-US"/>
              <a:t>DietheConfig: 120 training, 80 validation, 240 evaluation observations by default. These are feature vectors, not raw EEG.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First Diethe result</a:t>
            </a:r>
          </a:p>
          <a:p>
            <a:endParaRPr lang="en-US"/>
          </a:p>
          <a:p>
            <a:r>
              <a:rPr lang="en-US"/>
              <a:t>Suggested explanation (30–60 seconds):</a:t>
            </a:r>
          </a:p>
          <a:p>
            <a:r>
              <a:rPr lang="en-US"/>
              <a:t>The unchanged model gets 235 of 240 predictions correct. Periodic updating gets 236 with 12 updates. Warning and validated policies get 234; performance-drop matches never with zero updates. This illustrates why detection and update utility should be assessed separately.</a:t>
            </a:r>
          </a:p>
          <a:p>
            <a:endParaRPr lang="en-US"/>
          </a:p>
          <a:p>
            <a:r>
              <a:rPr lang="en-US"/>
              <a:t>Likely question and answer:</a:t>
            </a:r>
          </a:p>
          <a:p>
            <a:r>
              <a:rPr lang="en-US"/>
              <a:t>Is periodic best? Not established from one seed. Post-change accuracy is 99.17% for never and performance-drop versus 98.33% for the other three. The one-prediction overall advantage does not establish post-shift benefit.</a:t>
            </a:r>
          </a:p>
          <a:p>
            <a:endParaRPr lang="en-US"/>
          </a:p>
          <a:p>
            <a:r>
              <a:rPr lang="en-US"/>
              <a:t>Evidence and cautions:</a:t>
            </a:r>
          </a:p>
          <a:p>
            <a:r>
              <a:rPr lang="en-US"/>
              <a:t>Run 20261004T111759599003Z: feature_shift seed42 magnitude2; source commit2a8d20b. Three warnings; two rejected and one confirmed. Warning116 validates136, spanning true change120: do not label it an advance detection. Shared detector time≈29.71ms; retraining≈12.53ms periodic,3.12ms warning,1.21ms validated. Timing is one-machine wall time, not energy. Final periodic update239 cannot improve another prediction in this run.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Stored benchmark evidence</a:t>
            </a:r>
          </a:p>
          <a:p>
            <a:endParaRPr lang="en-US"/>
          </a:p>
          <a:p>
            <a:r>
              <a:rPr lang="en-US"/>
              <a:t>Suggested explanation (30–60 seconds):</a:t>
            </a:r>
          </a:p>
          <a:p>
            <a:r>
              <a:rPr lang="en-US"/>
              <a:t>Bagging changes accuracy only slightly and inconsistently across datasets. In synthetic monitoring, residuals detect orthogonal shifts missed by PC1, but combination has sensitivity and alarm-burden trade-offs.</a:t>
            </a:r>
          </a:p>
          <a:p>
            <a:endParaRPr lang="en-US"/>
          </a:p>
          <a:p>
            <a:r>
              <a:rPr lang="en-US"/>
              <a:t>Likely question and answer:</a:t>
            </a:r>
          </a:p>
          <a:p>
            <a:r>
              <a:rPr lang="en-US"/>
              <a:t>Does 100% PC2 detection establish superiority? Only for the specified synthetic conditions. The no-change window alarm rate and PC1 trade-off must also be reported.</a:t>
            </a:r>
          </a:p>
          <a:p>
            <a:endParaRPr lang="en-US"/>
          </a:p>
          <a:p>
            <a:r>
              <a:rPr lang="en-US"/>
              <a:t>Evidence and cautions:</a:t>
            </a:r>
          </a:p>
          <a:p>
            <a:r>
              <a:rPr lang="en-US"/>
              <a:t>outputs/metrics/bagging_bci_real.csv; outputs/complementary_100/summary.csv; magnitude6 summary. CI numbers on slide are explicitly the 2a8d20b snapshot, not a new test run.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B01 discrepancy</a:t>
            </a:r>
          </a:p>
          <a:p>
            <a:endParaRPr lang="en-US"/>
          </a:p>
          <a:p>
            <a:r>
              <a:rPr lang="en-US"/>
              <a:t>Suggested explanation (30–60 seconds):</a:t>
            </a:r>
          </a:p>
          <a:p>
            <a:r>
              <a:rPr lang="en-US"/>
              <a:t>Two committed files agree on 17 warnings but disagree on validated totals, five versus zero. This is why result provenance matters. I cannot infer that one run supersedes the other from these tables alone.</a:t>
            </a:r>
          </a:p>
          <a:p>
            <a:endParaRPr lang="en-US"/>
          </a:p>
          <a:p>
            <a:r>
              <a:rPr lang="en-US"/>
              <a:t>Likely question and answer:</a:t>
            </a:r>
          </a:p>
          <a:p>
            <a:r>
              <a:rPr lang="en-US"/>
              <a:t>What caused the difference? Not established by the saved CSVs. Check validation mode, windows, covariance, input representation and generating configuration.</a:t>
            </a:r>
          </a:p>
          <a:p>
            <a:endParaRPr lang="en-US"/>
          </a:p>
          <a:p>
            <a:r>
              <a:rPr lang="en-US"/>
              <a:t>Evidence and cautions:</a:t>
            </a:r>
          </a:p>
          <a:p>
            <a:r>
              <a:rPr lang="en-US"/>
              <a:t>outputs/metrics/bci_2b_table1_results.csv and bci_table1_comparison.csv.</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Reproduction boundary</a:t>
            </a:r>
          </a:p>
          <a:p>
            <a:endParaRPr lang="en-US"/>
          </a:p>
          <a:p>
            <a:r>
              <a:rPr lang="en-US"/>
              <a:t>Suggested explanation (30–60 seconds):</a:t>
            </a:r>
          </a:p>
          <a:p>
            <a:r>
              <a:rPr lang="en-US"/>
              <a:t>The combined results remain far below published validation counts. I can claim an executable reconstruction with measured discrepancies, but cannot claim numerical reproduction.</a:t>
            </a:r>
          </a:p>
          <a:p>
            <a:endParaRPr lang="en-US"/>
          </a:p>
          <a:p>
            <a:r>
              <a:rPr lang="en-US"/>
              <a:t>Likely question and answer:</a:t>
            </a:r>
          </a:p>
          <a:p>
            <a:r>
              <a:rPr lang="en-US"/>
              <a:t>Should parameters be tuned to match published test counts? That would risk fitting to the evaluation target. Select on development data and report sensitivity separately.</a:t>
            </a:r>
          </a:p>
          <a:p>
            <a:endParaRPr lang="en-US"/>
          </a:p>
          <a:p>
            <a:r>
              <a:rPr lang="en-US"/>
              <a:t>Evidence and cautions:</a:t>
            </a:r>
          </a:p>
          <a:p>
            <a:r>
              <a:rPr lang="en-US"/>
              <a:t>Combined Table-I file; means across nine subjects in each dataset. Not the standalone B01 result.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Implemented achievements</a:t>
            </a:r>
          </a:p>
          <a:p>
            <a:endParaRPr lang="en-US"/>
          </a:p>
          <a:p>
            <a:r>
              <a:rPr lang="en-US"/>
              <a:t>Suggested explanation (30–60 seconds):</a:t>
            </a:r>
          </a:p>
          <a:p>
            <a:r>
              <a:rPr lang="en-US"/>
              <a:t>The main engineering milestone is the separation of representation, detection, validation and adaptation. Supervised updates use revealed labels; the transductive path uses confidence-gated pseudo-labels. Neither is yet the full dynamic CSE-UAEL ensemble.</a:t>
            </a:r>
          </a:p>
          <a:p>
            <a:endParaRPr lang="en-US"/>
          </a:p>
          <a:p>
            <a:r>
              <a:rPr lang="en-US"/>
              <a:t>Likely question and answer:</a:t>
            </a:r>
          </a:p>
          <a:p>
            <a:r>
              <a:rPr lang="en-US"/>
              <a:t>Does implemented mean validated? No. Code and tests support behaviour; experiments must establish scientific benefit.</a:t>
            </a:r>
          </a:p>
          <a:p>
            <a:endParaRPr lang="en-US"/>
          </a:p>
          <a:p>
            <a:r>
              <a:rPr lang="en-US"/>
              <a:t>Evidence and cautions:</a:t>
            </a:r>
          </a:p>
          <a:p>
            <a:r>
              <a:rPr lang="en-US"/>
              <a:t>Repository README and src/adaptation/transductive.py; inspected at f3ef2e8.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Closing</a:t>
            </a:r>
          </a:p>
          <a:p>
            <a:endParaRPr lang="en-US"/>
          </a:p>
          <a:p>
            <a:r>
              <a:rPr lang="en-US"/>
              <a:t>Suggested explanation (30–60 seconds):</a:t>
            </a:r>
          </a:p>
          <a:p>
            <a:r>
              <a:rPr lang="en-US"/>
              <a:t>The next milestone is a reproducible evidence package: reconcile detector runs, repeat the policy experiment across scenarios and seeds, and generate real EEG complementary traces. Then judge benefit alongside update burden and uncertainty.</a:t>
            </a:r>
          </a:p>
          <a:p>
            <a:endParaRPr lang="en-US"/>
          </a:p>
          <a:p>
            <a:r>
              <a:rPr lang="en-US"/>
              <a:t>Likely question and answer:</a:t>
            </a:r>
          </a:p>
          <a:p>
            <a:r>
              <a:rPr lang="en-US"/>
              <a:t>What would count as success? Traceable configurations, repeated results with variability, a clear failure analysis, and evidence supporting a specific update policy under stated assumptions.</a:t>
            </a:r>
          </a:p>
          <a:p>
            <a:endParaRPr lang="en-US"/>
          </a:p>
          <a:p>
            <a:r>
              <a:rPr lang="en-US"/>
              <a:t>Evidence and cautions:</a:t>
            </a:r>
          </a:p>
          <a:p>
            <a:r>
              <a:rPr lang="en-US"/>
              <a:t>Closing question: when does a detected change justify updating the model? Return to this rather than claiming the full problem is solved.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41.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12" Type="http://schemas.openxmlformats.org/officeDocument/2006/relationships/image" Target="../media/image58.png"/><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grpSp>
        <p:nvGrpSpPr>
          <p:cNvPr id="2" name="Group 2"/>
          <p:cNvGrpSpPr/>
          <p:nvPr/>
        </p:nvGrpSpPr>
        <p:grpSpPr>
          <a:xfrm>
            <a:off x="914400" y="1000125"/>
            <a:ext cx="142875" cy="7429500"/>
            <a:chOff x="0" y="0"/>
            <a:chExt cx="190500" cy="9906000"/>
          </a:xfrm>
        </p:grpSpPr>
        <p:sp>
          <p:nvSpPr>
            <p:cNvPr id="3" name="Freeform 3"/>
            <p:cNvSpPr/>
            <p:nvPr/>
          </p:nvSpPr>
          <p:spPr>
            <a:xfrm>
              <a:off x="0" y="0"/>
              <a:ext cx="190500" cy="9906000"/>
            </a:xfrm>
            <a:custGeom>
              <a:avLst/>
              <a:gdLst/>
              <a:ahLst/>
              <a:cxnLst/>
              <a:rect l="l" t="t" r="r" b="b"/>
              <a:pathLst>
                <a:path w="190500" h="9906000">
                  <a:moveTo>
                    <a:pt x="0" y="0"/>
                  </a:moveTo>
                  <a:lnTo>
                    <a:pt x="190500" y="0"/>
                  </a:lnTo>
                  <a:lnTo>
                    <a:pt x="190500" y="9906000"/>
                  </a:lnTo>
                  <a:lnTo>
                    <a:pt x="0" y="9906000"/>
                  </a:lnTo>
                  <a:close/>
                </a:path>
              </a:pathLst>
            </a:custGeom>
            <a:solidFill>
              <a:srgbClr val="2DD4BF"/>
            </a:solidFill>
          </p:spPr>
          <p:txBody>
            <a:bodyPr/>
            <a:lstStyle/>
            <a:p>
              <a:endParaRPr lang="en-GB"/>
            </a:p>
          </p:txBody>
        </p:sp>
      </p:grpSp>
      <p:sp>
        <p:nvSpPr>
          <p:cNvPr id="4" name="TextBox 4"/>
          <p:cNvSpPr txBox="1"/>
          <p:nvPr/>
        </p:nvSpPr>
        <p:spPr>
          <a:xfrm>
            <a:off x="1571625" y="1571625"/>
            <a:ext cx="10858500" cy="2286000"/>
          </a:xfrm>
          <a:prstGeom prst="rect">
            <a:avLst/>
          </a:prstGeom>
        </p:spPr>
        <p:txBody>
          <a:bodyPr lIns="0" tIns="0" rIns="0" bIns="0" rtlCol="0" anchor="t">
            <a:spAutoFit/>
          </a:bodyPr>
          <a:lstStyle/>
          <a:p>
            <a:pPr algn="l">
              <a:lnSpc>
                <a:spcPts val="7289"/>
              </a:lnSpc>
            </a:pPr>
            <a:r>
              <a:rPr lang="en-US" sz="6075" b="1" dirty="0">
                <a:solidFill>
                  <a:srgbClr val="EAF2F8"/>
                </a:solidFill>
                <a:latin typeface="DejaVu Sans Bold"/>
                <a:ea typeface="DejaVu Sans Bold"/>
                <a:cs typeface="DejaVu Sans Bold"/>
                <a:sym typeface="DejaVu Sans Bold"/>
              </a:rPr>
              <a:t>EWMA Covariate</a:t>
            </a:r>
          </a:p>
          <a:p>
            <a:pPr algn="l">
              <a:lnSpc>
                <a:spcPts val="7289"/>
              </a:lnSpc>
            </a:pPr>
            <a:r>
              <a:rPr lang="en-US" sz="6075" b="1" dirty="0">
                <a:solidFill>
                  <a:srgbClr val="EAF2F8"/>
                </a:solidFill>
                <a:latin typeface="DejaVu Sans Bold"/>
                <a:ea typeface="DejaVu Sans Bold"/>
                <a:cs typeface="DejaVu Sans Bold"/>
                <a:sym typeface="DejaVu Sans Bold"/>
              </a:rPr>
              <a:t>Shift Demo</a:t>
            </a:r>
          </a:p>
        </p:txBody>
      </p:sp>
      <p:sp>
        <p:nvSpPr>
          <p:cNvPr id="5" name="TextBox 5"/>
          <p:cNvSpPr txBox="1"/>
          <p:nvPr/>
        </p:nvSpPr>
        <p:spPr>
          <a:xfrm>
            <a:off x="1600200" y="4191000"/>
            <a:ext cx="11287125" cy="652463"/>
          </a:xfrm>
          <a:prstGeom prst="rect">
            <a:avLst/>
          </a:prstGeom>
        </p:spPr>
        <p:txBody>
          <a:bodyPr lIns="0" tIns="0" rIns="0" bIns="0" rtlCol="0" anchor="t">
            <a:spAutoFit/>
          </a:bodyPr>
          <a:lstStyle/>
          <a:p>
            <a:pPr algn="l">
              <a:lnSpc>
                <a:spcPts val="3240"/>
              </a:lnSpc>
            </a:pPr>
            <a:r>
              <a:rPr lang="en-US" sz="2700" b="1">
                <a:solidFill>
                  <a:srgbClr val="2DD4BF"/>
                </a:solidFill>
                <a:latin typeface="DejaVu Sans Bold"/>
                <a:ea typeface="DejaVu Sans Bold"/>
                <a:cs typeface="DejaVu Sans Bold"/>
                <a:sym typeface="DejaVu Sans Bold"/>
              </a:rPr>
              <a:t>Research progress review</a:t>
            </a:r>
          </a:p>
        </p:txBody>
      </p:sp>
      <p:sp>
        <p:nvSpPr>
          <p:cNvPr id="6" name="TextBox 6"/>
          <p:cNvSpPr txBox="1"/>
          <p:nvPr/>
        </p:nvSpPr>
        <p:spPr>
          <a:xfrm>
            <a:off x="1600200" y="5038725"/>
            <a:ext cx="10858500" cy="1190625"/>
          </a:xfrm>
          <a:prstGeom prst="rect">
            <a:avLst/>
          </a:prstGeom>
        </p:spPr>
        <p:txBody>
          <a:bodyPr lIns="0" tIns="0" rIns="0" bIns="0" rtlCol="0" anchor="t">
            <a:spAutoFit/>
          </a:bodyPr>
          <a:lstStyle/>
          <a:p>
            <a:pPr algn="l">
              <a:lnSpc>
                <a:spcPts val="2970"/>
              </a:lnSpc>
            </a:pPr>
            <a:r>
              <a:rPr lang="en-US" sz="2475">
                <a:solidFill>
                  <a:srgbClr val="9CB0C3"/>
                </a:solidFill>
                <a:latin typeface="DejaVu Sans Light"/>
                <a:ea typeface="DejaVu Sans Light"/>
                <a:cs typeface="DejaVu Sans Light"/>
                <a:sym typeface="DejaVu Sans Light"/>
              </a:rPr>
              <a:t>Auditable CSE reconstruction for motor-imagery EEG</a:t>
            </a:r>
          </a:p>
          <a:p>
            <a:pPr algn="l">
              <a:lnSpc>
                <a:spcPts val="2970"/>
              </a:lnSpc>
            </a:pPr>
            <a:r>
              <a:rPr lang="en-US" sz="2475">
                <a:solidFill>
                  <a:srgbClr val="9CB0C3"/>
                </a:solidFill>
                <a:latin typeface="DejaVu Sans Light"/>
                <a:ea typeface="DejaVu Sans Light"/>
                <a:cs typeface="DejaVu Sans Light"/>
                <a:sym typeface="DejaVu Sans Light"/>
              </a:rPr>
              <a:t>Classifier benchmarks and complementary PCA monitoring</a:t>
            </a:r>
          </a:p>
        </p:txBody>
      </p:sp>
      <p:sp>
        <p:nvSpPr>
          <p:cNvPr id="7" name="TextBox 7"/>
          <p:cNvSpPr txBox="1"/>
          <p:nvPr/>
        </p:nvSpPr>
        <p:spPr>
          <a:xfrm>
            <a:off x="1600200" y="7620000"/>
            <a:ext cx="4857750" cy="438150"/>
          </a:xfrm>
          <a:prstGeom prst="rect">
            <a:avLst/>
          </a:prstGeom>
        </p:spPr>
        <p:txBody>
          <a:bodyPr lIns="0" tIns="0" rIns="0" bIns="0" rtlCol="0" anchor="t">
            <a:spAutoFit/>
          </a:bodyPr>
          <a:lstStyle/>
          <a:p>
            <a:pPr algn="l">
              <a:lnSpc>
                <a:spcPts val="2160"/>
              </a:lnSpc>
            </a:pPr>
            <a:r>
              <a:rPr lang="en-US" sz="1800" b="1">
                <a:solidFill>
                  <a:srgbClr val="EAF2F8"/>
                </a:solidFill>
                <a:latin typeface="DejaVu Sans Bold"/>
                <a:ea typeface="DejaVu Sans Bold"/>
                <a:cs typeface="DejaVu Sans Bold"/>
                <a:sym typeface="DejaVu Sans Bold"/>
              </a:rPr>
              <a:t>Haocheng Lin</a:t>
            </a:r>
          </a:p>
        </p:txBody>
      </p:sp>
      <p:sp>
        <p:nvSpPr>
          <p:cNvPr id="8" name="AutoShape 8"/>
          <p:cNvSpPr/>
          <p:nvPr/>
        </p:nvSpPr>
        <p:spPr>
          <a:xfrm rot="-1942019">
            <a:off x="12744021" y="2119312"/>
            <a:ext cx="1200998" cy="0"/>
          </a:xfrm>
          <a:prstGeom prst="line">
            <a:avLst/>
          </a:prstGeom>
          <a:ln w="19050" cap="rnd">
            <a:solidFill>
              <a:srgbClr val="2DD4BF"/>
            </a:solidFill>
            <a:prstDash val="solid"/>
            <a:headEnd type="none" w="sm" len="sm"/>
            <a:tailEnd type="none" w="sm" len="sm"/>
          </a:ln>
        </p:spPr>
        <p:txBody>
          <a:bodyPr/>
          <a:lstStyle/>
          <a:p>
            <a:endParaRPr lang="en-GB"/>
          </a:p>
        </p:txBody>
      </p:sp>
      <p:sp>
        <p:nvSpPr>
          <p:cNvPr id="9" name="AutoShape 9"/>
          <p:cNvSpPr/>
          <p:nvPr/>
        </p:nvSpPr>
        <p:spPr>
          <a:xfrm rot="3311520">
            <a:off x="13416801" y="2547938"/>
            <a:ext cx="1827124" cy="0"/>
          </a:xfrm>
          <a:prstGeom prst="line">
            <a:avLst/>
          </a:prstGeom>
          <a:ln w="19050" cap="rnd">
            <a:solidFill>
              <a:srgbClr val="4EA1FF"/>
            </a:solidFill>
            <a:prstDash val="solid"/>
            <a:headEnd type="none" w="sm" len="sm"/>
            <a:tailEnd type="none" w="sm" len="sm"/>
          </a:ln>
        </p:spPr>
        <p:txBody>
          <a:bodyPr/>
          <a:lstStyle/>
          <a:p>
            <a:endParaRPr lang="en-GB"/>
          </a:p>
        </p:txBody>
      </p:sp>
      <p:sp>
        <p:nvSpPr>
          <p:cNvPr id="10" name="AutoShape 10"/>
          <p:cNvSpPr/>
          <p:nvPr/>
        </p:nvSpPr>
        <p:spPr>
          <a:xfrm rot="-2188140">
            <a:off x="14688960" y="2933700"/>
            <a:ext cx="1225896" cy="0"/>
          </a:xfrm>
          <a:prstGeom prst="line">
            <a:avLst/>
          </a:prstGeom>
          <a:ln w="19050" cap="rnd">
            <a:solidFill>
              <a:srgbClr val="2DD4BF"/>
            </a:solidFill>
            <a:prstDash val="solid"/>
            <a:headEnd type="none" w="sm" len="sm"/>
            <a:tailEnd type="none" w="sm" len="sm"/>
          </a:ln>
        </p:spPr>
        <p:txBody>
          <a:bodyPr/>
          <a:lstStyle/>
          <a:p>
            <a:endParaRPr lang="en-GB"/>
          </a:p>
        </p:txBody>
      </p:sp>
      <p:sp>
        <p:nvSpPr>
          <p:cNvPr id="11" name="AutoShape 11"/>
          <p:cNvSpPr/>
          <p:nvPr/>
        </p:nvSpPr>
        <p:spPr>
          <a:xfrm rot="3325260">
            <a:off x="15365492" y="3305175"/>
            <a:ext cx="1787366" cy="0"/>
          </a:xfrm>
          <a:prstGeom prst="line">
            <a:avLst/>
          </a:prstGeom>
          <a:ln w="19050" cap="rnd">
            <a:solidFill>
              <a:srgbClr val="4EA1FF"/>
            </a:solidFill>
            <a:prstDash val="solid"/>
            <a:headEnd type="none" w="sm" len="sm"/>
            <a:tailEnd type="none" w="sm" len="sm"/>
          </a:ln>
        </p:spPr>
        <p:txBody>
          <a:bodyPr/>
          <a:lstStyle/>
          <a:p>
            <a:endParaRPr lang="en-GB"/>
          </a:p>
        </p:txBody>
      </p:sp>
      <p:sp>
        <p:nvSpPr>
          <p:cNvPr id="12" name="AutoShape 12"/>
          <p:cNvSpPr/>
          <p:nvPr/>
        </p:nvSpPr>
        <p:spPr>
          <a:xfrm rot="8385840">
            <a:off x="15264727" y="4548188"/>
            <a:ext cx="1703156" cy="0"/>
          </a:xfrm>
          <a:prstGeom prst="line">
            <a:avLst/>
          </a:prstGeom>
          <a:ln w="19050" cap="rnd">
            <a:solidFill>
              <a:srgbClr val="2DD4BF"/>
            </a:solidFill>
            <a:prstDash val="solid"/>
            <a:headEnd type="none" w="sm" len="sm"/>
            <a:tailEnd type="none" w="sm" len="sm"/>
          </a:ln>
        </p:spPr>
        <p:txBody>
          <a:bodyPr/>
          <a:lstStyle/>
          <a:p>
            <a:endParaRPr lang="en-GB"/>
          </a:p>
        </p:txBody>
      </p:sp>
      <p:sp>
        <p:nvSpPr>
          <p:cNvPr id="13" name="AutoShape 13"/>
          <p:cNvSpPr/>
          <p:nvPr/>
        </p:nvSpPr>
        <p:spPr>
          <a:xfrm rot="-9463800">
            <a:off x="13948429" y="4791075"/>
            <a:ext cx="1621107" cy="0"/>
          </a:xfrm>
          <a:prstGeom prst="line">
            <a:avLst/>
          </a:prstGeom>
          <a:ln w="19050" cap="rnd">
            <a:solidFill>
              <a:srgbClr val="4EA1FF"/>
            </a:solidFill>
            <a:prstDash val="solid"/>
            <a:headEnd type="none" w="sm" len="sm"/>
            <a:tailEnd type="none" w="sm" len="sm"/>
          </a:ln>
        </p:spPr>
        <p:txBody>
          <a:bodyPr/>
          <a:lstStyle/>
          <a:p>
            <a:endParaRPr lang="en-GB"/>
          </a:p>
        </p:txBody>
      </p:sp>
      <p:sp>
        <p:nvSpPr>
          <p:cNvPr id="14" name="AutoShape 14"/>
          <p:cNvSpPr/>
          <p:nvPr/>
        </p:nvSpPr>
        <p:spPr>
          <a:xfrm rot="7617840">
            <a:off x="12663011" y="5176838"/>
            <a:ext cx="1734502" cy="0"/>
          </a:xfrm>
          <a:prstGeom prst="line">
            <a:avLst/>
          </a:prstGeom>
          <a:ln w="19050" cap="rnd">
            <a:solidFill>
              <a:srgbClr val="2DD4BF"/>
            </a:solidFill>
            <a:prstDash val="solid"/>
            <a:headEnd type="none" w="sm" len="sm"/>
            <a:tailEnd type="none" w="sm" len="sm"/>
          </a:ln>
        </p:spPr>
        <p:txBody>
          <a:bodyPr/>
          <a:lstStyle/>
          <a:p>
            <a:endParaRPr lang="en-GB"/>
          </a:p>
        </p:txBody>
      </p:sp>
      <p:grpSp>
        <p:nvGrpSpPr>
          <p:cNvPr id="15" name="Group 15"/>
          <p:cNvGrpSpPr/>
          <p:nvPr/>
        </p:nvGrpSpPr>
        <p:grpSpPr>
          <a:xfrm>
            <a:off x="12773025" y="2343150"/>
            <a:ext cx="171450" cy="171450"/>
            <a:chOff x="0" y="0"/>
            <a:chExt cx="228600" cy="228600"/>
          </a:xfrm>
        </p:grpSpPr>
        <p:sp>
          <p:nvSpPr>
            <p:cNvPr id="16" name="Freeform 16"/>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17" name="Group 17"/>
          <p:cNvGrpSpPr/>
          <p:nvPr/>
        </p:nvGrpSpPr>
        <p:grpSpPr>
          <a:xfrm>
            <a:off x="13744575" y="1743075"/>
            <a:ext cx="171450" cy="171450"/>
            <a:chOff x="0" y="0"/>
            <a:chExt cx="228600" cy="228600"/>
          </a:xfrm>
        </p:grpSpPr>
        <p:sp>
          <p:nvSpPr>
            <p:cNvPr id="18" name="Freeform 18"/>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19" name="Group 19"/>
          <p:cNvGrpSpPr/>
          <p:nvPr/>
        </p:nvGrpSpPr>
        <p:grpSpPr>
          <a:xfrm>
            <a:off x="14744700" y="3200400"/>
            <a:ext cx="171450" cy="171450"/>
            <a:chOff x="0" y="0"/>
            <a:chExt cx="228600" cy="228600"/>
          </a:xfrm>
        </p:grpSpPr>
        <p:sp>
          <p:nvSpPr>
            <p:cNvPr id="20" name="Freeform 20"/>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1" name="Group 21"/>
          <p:cNvGrpSpPr/>
          <p:nvPr/>
        </p:nvGrpSpPr>
        <p:grpSpPr>
          <a:xfrm>
            <a:off x="15687675" y="2514600"/>
            <a:ext cx="171450" cy="171450"/>
            <a:chOff x="0" y="0"/>
            <a:chExt cx="228600" cy="228600"/>
          </a:xfrm>
        </p:grpSpPr>
        <p:sp>
          <p:nvSpPr>
            <p:cNvPr id="22" name="Freeform 22"/>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3" name="Group 23"/>
          <p:cNvGrpSpPr/>
          <p:nvPr/>
        </p:nvGrpSpPr>
        <p:grpSpPr>
          <a:xfrm>
            <a:off x="16659225" y="3943350"/>
            <a:ext cx="171450" cy="171450"/>
            <a:chOff x="0" y="0"/>
            <a:chExt cx="228600" cy="228600"/>
          </a:xfrm>
        </p:grpSpPr>
        <p:sp>
          <p:nvSpPr>
            <p:cNvPr id="24" name="Freeform 24"/>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F5B942"/>
            </a:solidFill>
          </p:spPr>
          <p:txBody>
            <a:bodyPr/>
            <a:lstStyle/>
            <a:p>
              <a:endParaRPr lang="en-GB"/>
            </a:p>
          </p:txBody>
        </p:sp>
      </p:grpSp>
      <p:grpSp>
        <p:nvGrpSpPr>
          <p:cNvPr id="25" name="Group 25"/>
          <p:cNvGrpSpPr/>
          <p:nvPr/>
        </p:nvGrpSpPr>
        <p:grpSpPr>
          <a:xfrm>
            <a:off x="15401925" y="5000625"/>
            <a:ext cx="171450" cy="171450"/>
            <a:chOff x="0" y="0"/>
            <a:chExt cx="228600" cy="228600"/>
          </a:xfrm>
        </p:grpSpPr>
        <p:sp>
          <p:nvSpPr>
            <p:cNvPr id="26" name="Freeform 26"/>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7" name="Group 27"/>
          <p:cNvGrpSpPr/>
          <p:nvPr/>
        </p:nvGrpSpPr>
        <p:grpSpPr>
          <a:xfrm>
            <a:off x="13944600" y="4429125"/>
            <a:ext cx="171450" cy="171450"/>
            <a:chOff x="0" y="0"/>
            <a:chExt cx="228600" cy="228600"/>
          </a:xfrm>
        </p:grpSpPr>
        <p:sp>
          <p:nvSpPr>
            <p:cNvPr id="28" name="Freeform 28"/>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9" name="Group 29"/>
          <p:cNvGrpSpPr/>
          <p:nvPr/>
        </p:nvGrpSpPr>
        <p:grpSpPr>
          <a:xfrm>
            <a:off x="12944475" y="5772150"/>
            <a:ext cx="171450" cy="171450"/>
            <a:chOff x="0" y="0"/>
            <a:chExt cx="228600" cy="228600"/>
          </a:xfrm>
        </p:grpSpPr>
        <p:sp>
          <p:nvSpPr>
            <p:cNvPr id="30" name="Freeform 30"/>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31" name="Group 31"/>
          <p:cNvGrpSpPr/>
          <p:nvPr/>
        </p:nvGrpSpPr>
        <p:grpSpPr>
          <a:xfrm>
            <a:off x="14629886" y="7973730"/>
            <a:ext cx="3258579" cy="2160003"/>
            <a:chOff x="0" y="0"/>
            <a:chExt cx="4344772" cy="2880004"/>
          </a:xfrm>
        </p:grpSpPr>
        <p:sp>
          <p:nvSpPr>
            <p:cNvPr id="32" name="Freeform 32"/>
            <p:cNvSpPr/>
            <p:nvPr/>
          </p:nvSpPr>
          <p:spPr>
            <a:xfrm>
              <a:off x="0" y="0"/>
              <a:ext cx="4344797" cy="2879979"/>
            </a:xfrm>
            <a:custGeom>
              <a:avLst/>
              <a:gdLst/>
              <a:ahLst/>
              <a:cxnLst/>
              <a:rect l="l" t="t" r="r" b="b"/>
              <a:pathLst>
                <a:path w="4344797" h="2879979">
                  <a:moveTo>
                    <a:pt x="0" y="0"/>
                  </a:moveTo>
                  <a:lnTo>
                    <a:pt x="4344797" y="0"/>
                  </a:lnTo>
                  <a:lnTo>
                    <a:pt x="4344797" y="2879979"/>
                  </a:lnTo>
                  <a:lnTo>
                    <a:pt x="0" y="2879979"/>
                  </a:lnTo>
                  <a:lnTo>
                    <a:pt x="0" y="0"/>
                  </a:lnTo>
                  <a:close/>
                </a:path>
              </a:pathLst>
            </a:custGeom>
            <a:blipFill>
              <a:blip r:embed="rId3"/>
              <a:stretch>
                <a:fillRect/>
              </a:stretch>
            </a:blipFill>
          </p:spPr>
          <p:txBody>
            <a:bodyPr/>
            <a:lstStyle/>
            <a:p>
              <a:endParaRPr lang="en-GB"/>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10412" y="484632"/>
            <a:ext cx="16139160" cy="388620"/>
          </a:xfrm>
          <a:prstGeom prst="rect">
            <a:avLst/>
          </a:prstGeom>
        </p:spPr>
        <p:txBody>
          <a:bodyPr lIns="0" tIns="0" rIns="0" bIns="0" rtlCol="0" anchor="t">
            <a:spAutoFit/>
          </a:bodyPr>
          <a:lstStyle/>
          <a:p>
            <a:pPr algn="l">
              <a:lnSpc>
                <a:spcPts val="2340"/>
              </a:lnSpc>
            </a:pPr>
            <a:r>
              <a:rPr lang="en-US" sz="1950" b="1" dirty="0">
                <a:solidFill>
                  <a:srgbClr val="AE9251"/>
                </a:solidFill>
                <a:latin typeface="Aptos Bold"/>
                <a:ea typeface="Aptos Bold"/>
                <a:cs typeface="Aptos Bold"/>
                <a:sym typeface="Aptos Bold"/>
              </a:rPr>
              <a:t>PRESENTATION GUIDE</a:t>
            </a:r>
          </a:p>
        </p:txBody>
      </p:sp>
      <p:sp>
        <p:nvSpPr>
          <p:cNvPr id="3" name="TextBox 3"/>
          <p:cNvSpPr txBox="1"/>
          <p:nvPr/>
        </p:nvSpPr>
        <p:spPr>
          <a:xfrm>
            <a:off x="1010412" y="1179957"/>
            <a:ext cx="16276320" cy="859155"/>
          </a:xfrm>
          <a:prstGeom prst="rect">
            <a:avLst/>
          </a:prstGeom>
        </p:spPr>
        <p:txBody>
          <a:bodyPr lIns="0" tIns="0" rIns="0" bIns="0" rtlCol="0" anchor="t">
            <a:spAutoFit/>
          </a:bodyPr>
          <a:lstStyle/>
          <a:p>
            <a:pPr algn="l">
              <a:lnSpc>
                <a:spcPts val="4860"/>
              </a:lnSpc>
            </a:pPr>
            <a:r>
              <a:rPr lang="en-US" sz="4050" b="1" dirty="0">
                <a:solidFill>
                  <a:srgbClr val="13274B"/>
                </a:solidFill>
                <a:latin typeface="Aptos Bold"/>
                <a:ea typeface="Aptos Bold"/>
                <a:cs typeface="Aptos Bold"/>
                <a:sym typeface="Aptos Bold"/>
              </a:rPr>
              <a:t>Research narrative and evidence boundaries</a:t>
            </a:r>
          </a:p>
        </p:txBody>
      </p:sp>
      <p:sp>
        <p:nvSpPr>
          <p:cNvPr id="4" name="TextBox 4"/>
          <p:cNvSpPr txBox="1"/>
          <p:nvPr/>
        </p:nvSpPr>
        <p:spPr>
          <a:xfrm>
            <a:off x="1120140" y="2189607"/>
            <a:ext cx="16139160" cy="68618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From published methods to implementation, reproducibility and the PhD research agenda.</a:t>
            </a:r>
          </a:p>
        </p:txBody>
      </p:sp>
      <p:sp>
        <p:nvSpPr>
          <p:cNvPr id="5" name="TextBox 5"/>
          <p:cNvSpPr txBox="1"/>
          <p:nvPr/>
        </p:nvSpPr>
        <p:spPr>
          <a:xfrm>
            <a:off x="1010412" y="9801987"/>
            <a:ext cx="12161520" cy="233553"/>
          </a:xfrm>
          <a:prstGeom prst="rect">
            <a:avLst/>
          </a:prstGeom>
        </p:spPr>
        <p:txBody>
          <a:bodyPr lIns="0" tIns="0" rIns="0" bIns="0" rtlCol="0" anchor="t">
            <a:spAutoFit/>
          </a:bodyPr>
          <a:lstStyle/>
          <a:p>
            <a:pPr algn="l">
              <a:lnSpc>
                <a:spcPts val="1620"/>
              </a:lnSpc>
            </a:pPr>
            <a:r>
              <a:rPr lang="en-US" sz="1350">
                <a:solidFill>
                  <a:srgbClr val="53657C"/>
                </a:solidFill>
                <a:latin typeface="Aptos"/>
                <a:ea typeface="Aptos"/>
                <a:cs typeface="Aptos"/>
                <a:sym typeface="Aptos"/>
              </a:rPr>
              <a:t>hlin863/ewma_covariate_shift_demo</a:t>
            </a:r>
          </a:p>
        </p:txBody>
      </p:sp>
      <p:grpSp>
        <p:nvGrpSpPr>
          <p:cNvPr id="6" name="Group 6"/>
          <p:cNvGrpSpPr/>
          <p:nvPr/>
        </p:nvGrpSpPr>
        <p:grpSpPr>
          <a:xfrm>
            <a:off x="1165860" y="2948940"/>
            <a:ext cx="15979140" cy="1124712"/>
            <a:chOff x="0" y="0"/>
            <a:chExt cx="21305520" cy="1499616"/>
          </a:xfrm>
        </p:grpSpPr>
        <p:sp>
          <p:nvSpPr>
            <p:cNvPr id="7" name="Freeform 7"/>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8" name="TextBox 8"/>
          <p:cNvSpPr txBox="1"/>
          <p:nvPr/>
        </p:nvSpPr>
        <p:spPr>
          <a:xfrm>
            <a:off x="1600200" y="31729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01</a:t>
            </a:r>
          </a:p>
        </p:txBody>
      </p:sp>
      <p:sp>
        <p:nvSpPr>
          <p:cNvPr id="9" name="TextBox 9"/>
          <p:cNvSpPr txBox="1"/>
          <p:nvPr/>
        </p:nvSpPr>
        <p:spPr>
          <a:xfrm>
            <a:off x="2628900" y="3159252"/>
            <a:ext cx="4686300" cy="457200"/>
          </a:xfrm>
          <a:prstGeom prst="rect">
            <a:avLst/>
          </a:prstGeom>
        </p:spPr>
        <p:txBody>
          <a:bodyPr lIns="0" tIns="0" rIns="0" bIns="0" rtlCol="0" anchor="t">
            <a:spAutoFit/>
          </a:bodyPr>
          <a:lstStyle/>
          <a:p>
            <a:pPr algn="l">
              <a:lnSpc>
                <a:spcPts val="3060"/>
              </a:lnSpc>
            </a:pPr>
            <a:r>
              <a:rPr lang="en-US" sz="2550" b="1" dirty="0">
                <a:solidFill>
                  <a:srgbClr val="13274B"/>
                </a:solidFill>
                <a:latin typeface="Aptos Bold"/>
                <a:ea typeface="Aptos Bold"/>
                <a:cs typeface="Aptos Bold"/>
                <a:sym typeface="Aptos Bold"/>
              </a:rPr>
              <a:t>Problem and literature</a:t>
            </a:r>
          </a:p>
        </p:txBody>
      </p:sp>
      <p:sp>
        <p:nvSpPr>
          <p:cNvPr id="10" name="TextBox 10"/>
          <p:cNvSpPr txBox="1"/>
          <p:nvPr/>
        </p:nvSpPr>
        <p:spPr>
          <a:xfrm>
            <a:off x="7589520" y="3273552"/>
            <a:ext cx="9281160" cy="48044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EEG non-stationarity; research lineage; clinical evidence</a:t>
            </a:r>
          </a:p>
        </p:txBody>
      </p:sp>
      <p:grpSp>
        <p:nvGrpSpPr>
          <p:cNvPr id="11" name="Group 11"/>
          <p:cNvGrpSpPr/>
          <p:nvPr/>
        </p:nvGrpSpPr>
        <p:grpSpPr>
          <a:xfrm>
            <a:off x="1165860" y="4320540"/>
            <a:ext cx="15979140" cy="1124712"/>
            <a:chOff x="0" y="0"/>
            <a:chExt cx="21305520" cy="1499616"/>
          </a:xfrm>
        </p:grpSpPr>
        <p:sp>
          <p:nvSpPr>
            <p:cNvPr id="12" name="Freeform 12"/>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13" name="TextBox 13"/>
          <p:cNvSpPr txBox="1"/>
          <p:nvPr/>
        </p:nvSpPr>
        <p:spPr>
          <a:xfrm>
            <a:off x="1600200" y="45445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02</a:t>
            </a:r>
          </a:p>
        </p:txBody>
      </p:sp>
      <p:sp>
        <p:nvSpPr>
          <p:cNvPr id="14" name="TextBox 14"/>
          <p:cNvSpPr txBox="1"/>
          <p:nvPr/>
        </p:nvSpPr>
        <p:spPr>
          <a:xfrm>
            <a:off x="2628900" y="4530852"/>
            <a:ext cx="4686300" cy="45720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Representation and detection</a:t>
            </a:r>
          </a:p>
        </p:txBody>
      </p:sp>
      <p:sp>
        <p:nvSpPr>
          <p:cNvPr id="15" name="TextBox 15"/>
          <p:cNvSpPr txBox="1"/>
          <p:nvPr/>
        </p:nvSpPr>
        <p:spPr>
          <a:xfrm>
            <a:off x="7573889" y="4639222"/>
            <a:ext cx="9281160" cy="48044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FBCSP features; frozen PCA coordinates; EWMA and Stage II</a:t>
            </a:r>
          </a:p>
        </p:txBody>
      </p:sp>
      <p:grpSp>
        <p:nvGrpSpPr>
          <p:cNvPr id="16" name="Group 16"/>
          <p:cNvGrpSpPr/>
          <p:nvPr/>
        </p:nvGrpSpPr>
        <p:grpSpPr>
          <a:xfrm>
            <a:off x="1165860" y="5692140"/>
            <a:ext cx="15979140" cy="1124712"/>
            <a:chOff x="0" y="0"/>
            <a:chExt cx="21305520" cy="1499616"/>
          </a:xfrm>
        </p:grpSpPr>
        <p:sp>
          <p:nvSpPr>
            <p:cNvPr id="17" name="Freeform 17"/>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18" name="TextBox 18"/>
          <p:cNvSpPr txBox="1"/>
          <p:nvPr/>
        </p:nvSpPr>
        <p:spPr>
          <a:xfrm>
            <a:off x="1600200" y="59161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03</a:t>
            </a:r>
          </a:p>
        </p:txBody>
      </p:sp>
      <p:sp>
        <p:nvSpPr>
          <p:cNvPr id="19" name="TextBox 19"/>
          <p:cNvSpPr txBox="1"/>
          <p:nvPr/>
        </p:nvSpPr>
        <p:spPr>
          <a:xfrm>
            <a:off x="2628900" y="5902452"/>
            <a:ext cx="4686300" cy="45720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Adaptation and system policies</a:t>
            </a:r>
          </a:p>
        </p:txBody>
      </p:sp>
      <p:sp>
        <p:nvSpPr>
          <p:cNvPr id="20" name="TextBox 20"/>
          <p:cNvSpPr txBox="1"/>
          <p:nvPr/>
        </p:nvSpPr>
        <p:spPr>
          <a:xfrm>
            <a:off x="7573889" y="5972644"/>
            <a:ext cx="9281160" cy="32060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Updated SVM, label availability, Diethe, and passive baselines</a:t>
            </a:r>
          </a:p>
        </p:txBody>
      </p:sp>
      <p:grpSp>
        <p:nvGrpSpPr>
          <p:cNvPr id="21" name="Group 21"/>
          <p:cNvGrpSpPr/>
          <p:nvPr/>
        </p:nvGrpSpPr>
        <p:grpSpPr>
          <a:xfrm>
            <a:off x="1165860" y="7063740"/>
            <a:ext cx="15979140" cy="1124712"/>
            <a:chOff x="0" y="0"/>
            <a:chExt cx="21305520" cy="1499616"/>
          </a:xfrm>
        </p:grpSpPr>
        <p:sp>
          <p:nvSpPr>
            <p:cNvPr id="22" name="Freeform 22"/>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23" name="TextBox 23"/>
          <p:cNvSpPr txBox="1"/>
          <p:nvPr/>
        </p:nvSpPr>
        <p:spPr>
          <a:xfrm>
            <a:off x="1600200" y="72877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04</a:t>
            </a:r>
          </a:p>
        </p:txBody>
      </p:sp>
      <p:sp>
        <p:nvSpPr>
          <p:cNvPr id="24" name="TextBox 24"/>
          <p:cNvSpPr txBox="1"/>
          <p:nvPr/>
        </p:nvSpPr>
        <p:spPr>
          <a:xfrm>
            <a:off x="2628900" y="7274052"/>
            <a:ext cx="4686300" cy="45720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Validation and research plan</a:t>
            </a:r>
          </a:p>
        </p:txBody>
      </p:sp>
      <p:sp>
        <p:nvSpPr>
          <p:cNvPr id="25" name="TextBox 25"/>
          <p:cNvSpPr txBox="1"/>
          <p:nvPr/>
        </p:nvSpPr>
        <p:spPr>
          <a:xfrm>
            <a:off x="7573889" y="7319010"/>
            <a:ext cx="9281160" cy="32060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BCI datasets, reproducibility gaps, pilot evidence, and next milestones</a:t>
            </a:r>
          </a:p>
        </p:txBody>
      </p:sp>
      <p:grpSp>
        <p:nvGrpSpPr>
          <p:cNvPr id="26" name="Group 31">
            <a:extLst>
              <a:ext uri="{FF2B5EF4-FFF2-40B4-BE49-F238E27FC236}">
                <a16:creationId xmlns:a16="http://schemas.microsoft.com/office/drawing/2014/main" id="{E57A8694-6769-4570-93C6-EE1209BC317F}"/>
              </a:ext>
            </a:extLst>
          </p:cNvPr>
          <p:cNvGrpSpPr/>
          <p:nvPr/>
        </p:nvGrpSpPr>
        <p:grpSpPr>
          <a:xfrm>
            <a:off x="16495899" y="166560"/>
            <a:ext cx="1581665" cy="938149"/>
            <a:chOff x="0" y="0"/>
            <a:chExt cx="4344772" cy="2880004"/>
          </a:xfrm>
        </p:grpSpPr>
        <p:sp>
          <p:nvSpPr>
            <p:cNvPr id="27" name="Freeform 32">
              <a:extLst>
                <a:ext uri="{FF2B5EF4-FFF2-40B4-BE49-F238E27FC236}">
                  <a16:creationId xmlns:a16="http://schemas.microsoft.com/office/drawing/2014/main" id="{B18DB557-D10C-465E-8949-DC3D84152D68}"/>
                </a:ext>
              </a:extLst>
            </p:cNvPr>
            <p:cNvSpPr/>
            <p:nvPr/>
          </p:nvSpPr>
          <p:spPr>
            <a:xfrm>
              <a:off x="0" y="0"/>
              <a:ext cx="4344797" cy="2879979"/>
            </a:xfrm>
            <a:custGeom>
              <a:avLst/>
              <a:gdLst/>
              <a:ahLst/>
              <a:cxnLst/>
              <a:rect l="l" t="t" r="r" b="b"/>
              <a:pathLst>
                <a:path w="4344797" h="2879979">
                  <a:moveTo>
                    <a:pt x="0" y="0"/>
                  </a:moveTo>
                  <a:lnTo>
                    <a:pt x="4344797" y="0"/>
                  </a:lnTo>
                  <a:lnTo>
                    <a:pt x="4344797" y="2879979"/>
                  </a:lnTo>
                  <a:lnTo>
                    <a:pt x="0" y="2879979"/>
                  </a:lnTo>
                  <a:lnTo>
                    <a:pt x="0" y="0"/>
                  </a:lnTo>
                  <a:close/>
                </a:path>
              </a:pathLst>
            </a:custGeom>
            <a:blipFill>
              <a:blip r:embed="rId3"/>
              <a:stretch>
                <a:fillRect/>
              </a:stretch>
            </a:blipFill>
          </p:spPr>
          <p:txBody>
            <a:bodyPr/>
            <a:lstStyle/>
            <a:p>
              <a:endParaRPr lang="en-GB"/>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44018"/>
          </a:xfrm>
          <a:prstGeom prst="rect">
            <a:avLst/>
          </a:prstGeom>
          <a:solidFill>
            <a:srgbClr val="1B2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781811" y="282348"/>
            <a:ext cx="16459200" cy="230832"/>
          </a:xfrm>
          <a:prstGeom prst="rect">
            <a:avLst/>
          </a:prstGeom>
          <a:noFill/>
        </p:spPr>
        <p:txBody>
          <a:bodyPr wrap="square" lIns="0" tIns="0" rIns="0" bIns="0" anchor="ctr">
            <a:spAutoFit/>
          </a:bodyPr>
          <a:lstStyle/>
          <a:p>
            <a:r>
              <a:rPr sz="1500" b="1" dirty="0">
                <a:solidFill>
                  <a:srgbClr val="118789"/>
                </a:solidFill>
              </a:rPr>
              <a:t>APPLICATION ARCHITECTURE  /  IMPLEMENTED RESEARCH</a:t>
            </a:r>
          </a:p>
        </p:txBody>
      </p:sp>
      <p:sp>
        <p:nvSpPr>
          <p:cNvPr id="4" name="TextBox 3"/>
          <p:cNvSpPr txBox="1"/>
          <p:nvPr/>
        </p:nvSpPr>
        <p:spPr>
          <a:xfrm>
            <a:off x="781811" y="662213"/>
            <a:ext cx="16802100" cy="623248"/>
          </a:xfrm>
          <a:prstGeom prst="rect">
            <a:avLst/>
          </a:prstGeom>
          <a:noFill/>
        </p:spPr>
        <p:txBody>
          <a:bodyPr wrap="square" lIns="0" tIns="0" rIns="0" bIns="0" anchor="ctr">
            <a:spAutoFit/>
          </a:bodyPr>
          <a:lstStyle/>
          <a:p>
            <a:r>
              <a:rPr sz="4050" b="1" dirty="0">
                <a:solidFill>
                  <a:srgbClr val="1B2D4C"/>
                </a:solidFill>
              </a:rPr>
              <a:t>From published algorithms to an auditable application</a:t>
            </a:r>
          </a:p>
        </p:txBody>
      </p:sp>
      <p:sp>
        <p:nvSpPr>
          <p:cNvPr id="5" name="TextBox 4"/>
          <p:cNvSpPr txBox="1"/>
          <p:nvPr/>
        </p:nvSpPr>
        <p:spPr>
          <a:xfrm>
            <a:off x="781811" y="1447873"/>
            <a:ext cx="16733520" cy="300082"/>
          </a:xfrm>
          <a:prstGeom prst="rect">
            <a:avLst/>
          </a:prstGeom>
          <a:noFill/>
        </p:spPr>
        <p:txBody>
          <a:bodyPr wrap="square" lIns="0" tIns="0" rIns="0" bIns="0" anchor="ctr">
            <a:spAutoFit/>
          </a:bodyPr>
          <a:lstStyle/>
          <a:p>
            <a:r>
              <a:rPr sz="1950" dirty="0">
                <a:solidFill>
                  <a:srgbClr val="5E6E84"/>
                </a:solidFill>
              </a:rPr>
              <a:t>Data preparation → shift evidence → adaptation policy → reproducible results</a:t>
            </a:r>
          </a:p>
        </p:txBody>
      </p:sp>
      <p:sp>
        <p:nvSpPr>
          <p:cNvPr id="6" name="TextBox 5"/>
          <p:cNvSpPr txBox="1"/>
          <p:nvPr/>
        </p:nvSpPr>
        <p:spPr>
          <a:xfrm>
            <a:off x="781811" y="2154582"/>
            <a:ext cx="8229600" cy="230832"/>
          </a:xfrm>
          <a:prstGeom prst="rect">
            <a:avLst/>
          </a:prstGeom>
          <a:noFill/>
        </p:spPr>
        <p:txBody>
          <a:bodyPr wrap="square" lIns="0" tIns="0" rIns="0" bIns="0" anchor="ctr">
            <a:spAutoFit/>
          </a:bodyPr>
          <a:lstStyle/>
          <a:p>
            <a:r>
              <a:rPr sz="1500" b="1" dirty="0">
                <a:solidFill>
                  <a:srgbClr val="1B2D4C"/>
                </a:solidFill>
              </a:rPr>
              <a:t>CORE COMPUTATIONAL PATH</a:t>
            </a:r>
          </a:p>
        </p:txBody>
      </p:sp>
      <p:sp>
        <p:nvSpPr>
          <p:cNvPr id="7" name="TextBox 6"/>
          <p:cNvSpPr txBox="1"/>
          <p:nvPr/>
        </p:nvSpPr>
        <p:spPr>
          <a:xfrm>
            <a:off x="11411713" y="2166123"/>
            <a:ext cx="6076187" cy="207749"/>
          </a:xfrm>
          <a:prstGeom prst="rect">
            <a:avLst/>
          </a:prstGeom>
          <a:noFill/>
        </p:spPr>
        <p:txBody>
          <a:bodyPr wrap="square" lIns="0" tIns="0" rIns="0" bIns="0" anchor="ctr">
            <a:spAutoFit/>
          </a:bodyPr>
          <a:lstStyle/>
          <a:p>
            <a:pPr algn="r"/>
            <a:r>
              <a:rPr sz="1350" b="1" dirty="0">
                <a:solidFill>
                  <a:srgbClr val="BA8121"/>
                </a:solidFill>
              </a:rPr>
              <a:t>CANDIDATE ≠ CONFIRMED ≠ ADAPTATION</a:t>
            </a:r>
          </a:p>
        </p:txBody>
      </p:sp>
      <p:sp>
        <p:nvSpPr>
          <p:cNvPr id="8" name="Rounded Rectangle 7"/>
          <p:cNvSpPr/>
          <p:nvPr/>
        </p:nvSpPr>
        <p:spPr>
          <a:xfrm>
            <a:off x="781811"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Rectangle 8"/>
          <p:cNvSpPr/>
          <p:nvPr/>
        </p:nvSpPr>
        <p:spPr>
          <a:xfrm>
            <a:off x="781811" y="2606040"/>
            <a:ext cx="2667762" cy="137160"/>
          </a:xfrm>
          <a:prstGeom prst="rect">
            <a:avLst/>
          </a:prstGeom>
          <a:solidFill>
            <a:srgbClr val="1187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946404" y="2907473"/>
            <a:ext cx="480060" cy="302390"/>
          </a:xfrm>
          <a:prstGeom prst="rect">
            <a:avLst/>
          </a:prstGeom>
          <a:noFill/>
        </p:spPr>
        <p:txBody>
          <a:bodyPr wrap="square" lIns="0" tIns="0" rIns="0" bIns="0" anchor="ctr">
            <a:spAutoFit/>
          </a:bodyPr>
          <a:lstStyle/>
          <a:p>
            <a:r>
              <a:rPr sz="1965" b="1" dirty="0">
                <a:solidFill>
                  <a:srgbClr val="1B2D4C"/>
                </a:solidFill>
              </a:rPr>
              <a:t>01</a:t>
            </a:r>
          </a:p>
        </p:txBody>
      </p:sp>
      <p:sp>
        <p:nvSpPr>
          <p:cNvPr id="11" name="TextBox 10"/>
          <p:cNvSpPr txBox="1"/>
          <p:nvPr/>
        </p:nvSpPr>
        <p:spPr>
          <a:xfrm>
            <a:off x="946404" y="3483545"/>
            <a:ext cx="2352294" cy="302390"/>
          </a:xfrm>
          <a:prstGeom prst="rect">
            <a:avLst/>
          </a:prstGeom>
          <a:noFill/>
        </p:spPr>
        <p:txBody>
          <a:bodyPr wrap="square" lIns="0" tIns="0" rIns="0" bIns="0" anchor="ctr">
            <a:spAutoFit/>
          </a:bodyPr>
          <a:lstStyle/>
          <a:p>
            <a:r>
              <a:rPr sz="1965" b="1" dirty="0">
                <a:solidFill>
                  <a:srgbClr val="1B2D4C"/>
                </a:solidFill>
              </a:rPr>
              <a:t>DATA SOURCES</a:t>
            </a:r>
          </a:p>
        </p:txBody>
      </p:sp>
      <p:sp>
        <p:nvSpPr>
          <p:cNvPr id="12" name="TextBox 11"/>
          <p:cNvSpPr txBox="1"/>
          <p:nvPr/>
        </p:nvSpPr>
        <p:spPr>
          <a:xfrm>
            <a:off x="946404" y="4071308"/>
            <a:ext cx="2352294" cy="484748"/>
          </a:xfrm>
          <a:prstGeom prst="rect">
            <a:avLst/>
          </a:prstGeom>
          <a:noFill/>
        </p:spPr>
        <p:txBody>
          <a:bodyPr wrap="square" lIns="0" tIns="0" rIns="0" bIns="0" anchor="ctr">
            <a:spAutoFit/>
          </a:bodyPr>
          <a:lstStyle/>
          <a:p>
            <a:r>
              <a:rPr sz="1575" dirty="0">
                <a:solidFill>
                  <a:srgbClr val="1F2D40"/>
                </a:solidFill>
              </a:rPr>
              <a:t>BCI IV 2A / 2B</a:t>
            </a:r>
          </a:p>
          <a:p>
            <a:r>
              <a:rPr sz="1575" dirty="0">
                <a:solidFill>
                  <a:srgbClr val="1F2D40"/>
                </a:solidFill>
              </a:rPr>
              <a:t>Synthetic + turbofan</a:t>
            </a:r>
          </a:p>
        </p:txBody>
      </p:sp>
      <p:cxnSp>
        <p:nvCxnSpPr>
          <p:cNvPr id="13" name="Connector 12"/>
          <p:cNvCxnSpPr/>
          <p:nvPr/>
        </p:nvCxnSpPr>
        <p:spPr>
          <a:xfrm>
            <a:off x="946404"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39546" y="4947141"/>
            <a:ext cx="2352294" cy="186974"/>
          </a:xfrm>
          <a:prstGeom prst="rect">
            <a:avLst/>
          </a:prstGeom>
          <a:noFill/>
        </p:spPr>
        <p:txBody>
          <a:bodyPr wrap="square" lIns="0" tIns="0" rIns="0" bIns="0" anchor="ctr">
            <a:spAutoFit/>
          </a:bodyPr>
          <a:lstStyle/>
          <a:p>
            <a:r>
              <a:rPr sz="1215" dirty="0">
                <a:solidFill>
                  <a:srgbClr val="5E6E84"/>
                </a:solidFill>
              </a:rPr>
              <a:t>src/bci/ · src/simulation/</a:t>
            </a:r>
          </a:p>
        </p:txBody>
      </p:sp>
      <p:sp>
        <p:nvSpPr>
          <p:cNvPr id="15" name="TextBox 14"/>
          <p:cNvSpPr txBox="1"/>
          <p:nvPr/>
        </p:nvSpPr>
        <p:spPr>
          <a:xfrm>
            <a:off x="3474263" y="3797323"/>
            <a:ext cx="208482" cy="415498"/>
          </a:xfrm>
          <a:prstGeom prst="rect">
            <a:avLst/>
          </a:prstGeom>
          <a:noFill/>
        </p:spPr>
        <p:txBody>
          <a:bodyPr wrap="square" lIns="0" tIns="0" rIns="0" bIns="0" anchor="ctr">
            <a:spAutoFit/>
          </a:bodyPr>
          <a:lstStyle/>
          <a:p>
            <a:pPr algn="ctr"/>
            <a:r>
              <a:rPr sz="2700" b="1" dirty="0">
                <a:solidFill>
                  <a:srgbClr val="118789"/>
                </a:solidFill>
              </a:rPr>
              <a:t>›</a:t>
            </a:r>
          </a:p>
        </p:txBody>
      </p:sp>
      <p:sp>
        <p:nvSpPr>
          <p:cNvPr id="16" name="Rounded Rectangle 15"/>
          <p:cNvSpPr/>
          <p:nvPr/>
        </p:nvSpPr>
        <p:spPr>
          <a:xfrm>
            <a:off x="3685488"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7" name="Rectangle 16"/>
          <p:cNvSpPr/>
          <p:nvPr/>
        </p:nvSpPr>
        <p:spPr>
          <a:xfrm>
            <a:off x="3685488" y="2606040"/>
            <a:ext cx="2667762" cy="137160"/>
          </a:xfrm>
          <a:prstGeom prst="rect">
            <a:avLst/>
          </a:prstGeom>
          <a:solidFill>
            <a:srgbClr val="1187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3850080" y="2907473"/>
            <a:ext cx="480060" cy="302390"/>
          </a:xfrm>
          <a:prstGeom prst="rect">
            <a:avLst/>
          </a:prstGeom>
          <a:noFill/>
        </p:spPr>
        <p:txBody>
          <a:bodyPr wrap="square" lIns="0" tIns="0" rIns="0" bIns="0" anchor="ctr">
            <a:spAutoFit/>
          </a:bodyPr>
          <a:lstStyle/>
          <a:p>
            <a:r>
              <a:rPr sz="1965" b="1" dirty="0">
                <a:solidFill>
                  <a:srgbClr val="1B2D4C"/>
                </a:solidFill>
              </a:rPr>
              <a:t>02</a:t>
            </a:r>
          </a:p>
        </p:txBody>
      </p:sp>
      <p:sp>
        <p:nvSpPr>
          <p:cNvPr id="19" name="TextBox 18"/>
          <p:cNvSpPr txBox="1"/>
          <p:nvPr/>
        </p:nvSpPr>
        <p:spPr>
          <a:xfrm>
            <a:off x="3850080" y="3483547"/>
            <a:ext cx="2352294" cy="302390"/>
          </a:xfrm>
          <a:prstGeom prst="rect">
            <a:avLst/>
          </a:prstGeom>
          <a:noFill/>
        </p:spPr>
        <p:txBody>
          <a:bodyPr wrap="square" lIns="0" tIns="0" rIns="0" bIns="0" anchor="ctr">
            <a:spAutoFit/>
          </a:bodyPr>
          <a:lstStyle/>
          <a:p>
            <a:r>
              <a:rPr sz="1965" b="1" dirty="0">
                <a:solidFill>
                  <a:srgbClr val="1B2D4C"/>
                </a:solidFill>
              </a:rPr>
              <a:t>REPRESENTATION</a:t>
            </a:r>
          </a:p>
        </p:txBody>
      </p:sp>
      <p:sp>
        <p:nvSpPr>
          <p:cNvPr id="20" name="TextBox 19"/>
          <p:cNvSpPr txBox="1"/>
          <p:nvPr/>
        </p:nvSpPr>
        <p:spPr>
          <a:xfrm>
            <a:off x="3850080" y="4071308"/>
            <a:ext cx="2352294" cy="484748"/>
          </a:xfrm>
          <a:prstGeom prst="rect">
            <a:avLst/>
          </a:prstGeom>
          <a:noFill/>
        </p:spPr>
        <p:txBody>
          <a:bodyPr wrap="square" lIns="0" tIns="0" rIns="0" bIns="0" anchor="ctr">
            <a:spAutoFit/>
          </a:bodyPr>
          <a:lstStyle/>
          <a:p>
            <a:r>
              <a:rPr sz="1575" dirty="0">
                <a:solidFill>
                  <a:srgbClr val="1F2D40"/>
                </a:solidFill>
              </a:rPr>
              <a:t>Trial extraction · FBCSP</a:t>
            </a:r>
          </a:p>
          <a:p>
            <a:r>
              <a:rPr sz="1575" dirty="0">
                <a:solidFill>
                  <a:srgbClr val="1F2D40"/>
                </a:solidFill>
              </a:rPr>
              <a:t>Train-fitted PCA</a:t>
            </a:r>
          </a:p>
        </p:txBody>
      </p:sp>
      <p:cxnSp>
        <p:nvCxnSpPr>
          <p:cNvPr id="21" name="Connector 20"/>
          <p:cNvCxnSpPr/>
          <p:nvPr/>
        </p:nvCxnSpPr>
        <p:spPr>
          <a:xfrm>
            <a:off x="3850080"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843222" y="4947141"/>
            <a:ext cx="2352294" cy="186974"/>
          </a:xfrm>
          <a:prstGeom prst="rect">
            <a:avLst/>
          </a:prstGeom>
          <a:noFill/>
        </p:spPr>
        <p:txBody>
          <a:bodyPr wrap="square" lIns="0" tIns="0" rIns="0" bIns="0" anchor="ctr">
            <a:spAutoFit/>
          </a:bodyPr>
          <a:lstStyle/>
          <a:p>
            <a:r>
              <a:rPr sz="1215" dirty="0">
                <a:solidFill>
                  <a:srgbClr val="5E6E84"/>
                </a:solidFill>
              </a:rPr>
              <a:t>src/bci/fbcsp.py</a:t>
            </a:r>
          </a:p>
        </p:txBody>
      </p:sp>
      <p:sp>
        <p:nvSpPr>
          <p:cNvPr id="23" name="TextBox 22"/>
          <p:cNvSpPr txBox="1"/>
          <p:nvPr/>
        </p:nvSpPr>
        <p:spPr>
          <a:xfrm>
            <a:off x="6377939" y="3797323"/>
            <a:ext cx="208482" cy="415498"/>
          </a:xfrm>
          <a:prstGeom prst="rect">
            <a:avLst/>
          </a:prstGeom>
          <a:noFill/>
        </p:spPr>
        <p:txBody>
          <a:bodyPr wrap="square" lIns="0" tIns="0" rIns="0" bIns="0" anchor="ctr">
            <a:spAutoFit/>
          </a:bodyPr>
          <a:lstStyle/>
          <a:p>
            <a:pPr algn="ctr"/>
            <a:r>
              <a:rPr sz="2700" b="1" dirty="0">
                <a:solidFill>
                  <a:srgbClr val="118789"/>
                </a:solidFill>
              </a:rPr>
              <a:t>›</a:t>
            </a:r>
          </a:p>
        </p:txBody>
      </p:sp>
      <p:sp>
        <p:nvSpPr>
          <p:cNvPr id="24" name="Rounded Rectangle 23"/>
          <p:cNvSpPr/>
          <p:nvPr/>
        </p:nvSpPr>
        <p:spPr>
          <a:xfrm>
            <a:off x="6589166"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Rectangle 24"/>
          <p:cNvSpPr/>
          <p:nvPr/>
        </p:nvSpPr>
        <p:spPr>
          <a:xfrm>
            <a:off x="6589166" y="2606040"/>
            <a:ext cx="2667762" cy="137160"/>
          </a:xfrm>
          <a:prstGeom prst="rect">
            <a:avLst/>
          </a:prstGeom>
          <a:solidFill>
            <a:srgbClr val="3D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6753758" y="2907473"/>
            <a:ext cx="480060" cy="302390"/>
          </a:xfrm>
          <a:prstGeom prst="rect">
            <a:avLst/>
          </a:prstGeom>
          <a:noFill/>
        </p:spPr>
        <p:txBody>
          <a:bodyPr wrap="square" lIns="0" tIns="0" rIns="0" bIns="0" anchor="ctr">
            <a:spAutoFit/>
          </a:bodyPr>
          <a:lstStyle/>
          <a:p>
            <a:r>
              <a:rPr sz="1965" b="1" dirty="0">
                <a:solidFill>
                  <a:srgbClr val="1B2D4C"/>
                </a:solidFill>
              </a:rPr>
              <a:t>03</a:t>
            </a:r>
          </a:p>
        </p:txBody>
      </p:sp>
      <p:sp>
        <p:nvSpPr>
          <p:cNvPr id="27" name="TextBox 26"/>
          <p:cNvSpPr txBox="1"/>
          <p:nvPr/>
        </p:nvSpPr>
        <p:spPr>
          <a:xfrm>
            <a:off x="6753758" y="3483547"/>
            <a:ext cx="2352294" cy="302390"/>
          </a:xfrm>
          <a:prstGeom prst="rect">
            <a:avLst/>
          </a:prstGeom>
          <a:noFill/>
        </p:spPr>
        <p:txBody>
          <a:bodyPr wrap="square" lIns="0" tIns="0" rIns="0" bIns="0" anchor="ctr">
            <a:spAutoFit/>
          </a:bodyPr>
          <a:lstStyle/>
          <a:p>
            <a:r>
              <a:rPr sz="1965" b="1" dirty="0">
                <a:solidFill>
                  <a:srgbClr val="1B2D4C"/>
                </a:solidFill>
              </a:rPr>
              <a:t>STAGE-I SCREEN</a:t>
            </a:r>
          </a:p>
        </p:txBody>
      </p:sp>
      <p:sp>
        <p:nvSpPr>
          <p:cNvPr id="28" name="TextBox 27"/>
          <p:cNvSpPr txBox="1"/>
          <p:nvPr/>
        </p:nvSpPr>
        <p:spPr>
          <a:xfrm>
            <a:off x="6753758" y="4071308"/>
            <a:ext cx="2352294" cy="484748"/>
          </a:xfrm>
          <a:prstGeom prst="rect">
            <a:avLst/>
          </a:prstGeom>
          <a:noFill/>
        </p:spPr>
        <p:txBody>
          <a:bodyPr wrap="square" lIns="0" tIns="0" rIns="0" bIns="0" anchor="ctr">
            <a:spAutoFit/>
          </a:bodyPr>
          <a:lstStyle/>
          <a:p>
            <a:r>
              <a:rPr sz="1575" dirty="0">
                <a:solidFill>
                  <a:srgbClr val="1F2D40"/>
                </a:solidFill>
              </a:rPr>
              <a:t>SD / MSD–EWMA</a:t>
            </a:r>
          </a:p>
          <a:p>
            <a:r>
              <a:rPr sz="1575" dirty="0">
                <a:solidFill>
                  <a:srgbClr val="1F2D40"/>
                </a:solidFill>
              </a:rPr>
              <a:t>PCA score + residual</a:t>
            </a:r>
          </a:p>
        </p:txBody>
      </p:sp>
      <p:cxnSp>
        <p:nvCxnSpPr>
          <p:cNvPr id="29" name="Connector 28"/>
          <p:cNvCxnSpPr/>
          <p:nvPr/>
        </p:nvCxnSpPr>
        <p:spPr>
          <a:xfrm>
            <a:off x="6753758"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746900" y="4947141"/>
            <a:ext cx="2352294" cy="186974"/>
          </a:xfrm>
          <a:prstGeom prst="rect">
            <a:avLst/>
          </a:prstGeom>
          <a:noFill/>
        </p:spPr>
        <p:txBody>
          <a:bodyPr wrap="square" lIns="0" tIns="0" rIns="0" bIns="0" anchor="ctr">
            <a:spAutoFit/>
          </a:bodyPr>
          <a:lstStyle/>
          <a:p>
            <a:r>
              <a:rPr sz="1215" dirty="0">
                <a:solidFill>
                  <a:srgbClr val="5E6E84"/>
                </a:solidFill>
              </a:rPr>
              <a:t>src/detection/stage1/</a:t>
            </a:r>
          </a:p>
        </p:txBody>
      </p:sp>
      <p:sp>
        <p:nvSpPr>
          <p:cNvPr id="31" name="TextBox 30"/>
          <p:cNvSpPr txBox="1"/>
          <p:nvPr/>
        </p:nvSpPr>
        <p:spPr>
          <a:xfrm>
            <a:off x="9281616" y="3797323"/>
            <a:ext cx="208482" cy="415498"/>
          </a:xfrm>
          <a:prstGeom prst="rect">
            <a:avLst/>
          </a:prstGeom>
          <a:noFill/>
        </p:spPr>
        <p:txBody>
          <a:bodyPr wrap="square" lIns="0" tIns="0" rIns="0" bIns="0" anchor="ctr">
            <a:spAutoFit/>
          </a:bodyPr>
          <a:lstStyle/>
          <a:p>
            <a:pPr algn="ctr"/>
            <a:r>
              <a:rPr sz="2700" b="1" dirty="0">
                <a:solidFill>
                  <a:srgbClr val="3D5FA8"/>
                </a:solidFill>
              </a:rPr>
              <a:t>›</a:t>
            </a:r>
          </a:p>
        </p:txBody>
      </p:sp>
      <p:sp>
        <p:nvSpPr>
          <p:cNvPr id="32" name="Rounded Rectangle 31"/>
          <p:cNvSpPr/>
          <p:nvPr/>
        </p:nvSpPr>
        <p:spPr>
          <a:xfrm>
            <a:off x="9492843"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Rectangle 32"/>
          <p:cNvSpPr/>
          <p:nvPr/>
        </p:nvSpPr>
        <p:spPr>
          <a:xfrm>
            <a:off x="9492843" y="2606040"/>
            <a:ext cx="2667762" cy="137160"/>
          </a:xfrm>
          <a:prstGeom prst="rect">
            <a:avLst/>
          </a:prstGeom>
          <a:solidFill>
            <a:srgbClr val="3D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9657435" y="2907473"/>
            <a:ext cx="480060" cy="302390"/>
          </a:xfrm>
          <a:prstGeom prst="rect">
            <a:avLst/>
          </a:prstGeom>
          <a:noFill/>
        </p:spPr>
        <p:txBody>
          <a:bodyPr wrap="square" lIns="0" tIns="0" rIns="0" bIns="0" anchor="ctr">
            <a:spAutoFit/>
          </a:bodyPr>
          <a:lstStyle/>
          <a:p>
            <a:r>
              <a:rPr sz="1965" b="1" dirty="0">
                <a:solidFill>
                  <a:srgbClr val="1B2D4C"/>
                </a:solidFill>
              </a:rPr>
              <a:t>04</a:t>
            </a:r>
          </a:p>
        </p:txBody>
      </p:sp>
      <p:sp>
        <p:nvSpPr>
          <p:cNvPr id="35" name="TextBox 34"/>
          <p:cNvSpPr txBox="1"/>
          <p:nvPr/>
        </p:nvSpPr>
        <p:spPr>
          <a:xfrm>
            <a:off x="9657435" y="3483545"/>
            <a:ext cx="2352294" cy="302390"/>
          </a:xfrm>
          <a:prstGeom prst="rect">
            <a:avLst/>
          </a:prstGeom>
          <a:noFill/>
        </p:spPr>
        <p:txBody>
          <a:bodyPr wrap="square" lIns="0" tIns="0" rIns="0" bIns="0" anchor="ctr">
            <a:spAutoFit/>
          </a:bodyPr>
          <a:lstStyle/>
          <a:p>
            <a:r>
              <a:rPr sz="1965" b="1" dirty="0">
                <a:solidFill>
                  <a:srgbClr val="1B2D4C"/>
                </a:solidFill>
              </a:rPr>
              <a:t>STAGE-II TEST</a:t>
            </a:r>
          </a:p>
        </p:txBody>
      </p:sp>
      <p:sp>
        <p:nvSpPr>
          <p:cNvPr id="36" name="TextBox 35"/>
          <p:cNvSpPr txBox="1"/>
          <p:nvPr/>
        </p:nvSpPr>
        <p:spPr>
          <a:xfrm>
            <a:off x="9657435" y="4071308"/>
            <a:ext cx="2352294" cy="484748"/>
          </a:xfrm>
          <a:prstGeom prst="rect">
            <a:avLst/>
          </a:prstGeom>
          <a:noFill/>
        </p:spPr>
        <p:txBody>
          <a:bodyPr wrap="square" lIns="0" tIns="0" rIns="0" bIns="0" anchor="ctr">
            <a:spAutoFit/>
          </a:bodyPr>
          <a:lstStyle/>
          <a:p>
            <a:r>
              <a:rPr sz="1575" dirty="0">
                <a:solidFill>
                  <a:srgbClr val="1F2D40"/>
                </a:solidFill>
              </a:rPr>
              <a:t>K–S / Hotelling variants</a:t>
            </a:r>
          </a:p>
          <a:p>
            <a:r>
              <a:rPr sz="1575" dirty="0">
                <a:solidFill>
                  <a:srgbClr val="1F2D40"/>
                </a:solidFill>
              </a:rPr>
              <a:t>Opt-in MMD + GPR</a:t>
            </a:r>
          </a:p>
        </p:txBody>
      </p:sp>
      <p:cxnSp>
        <p:nvCxnSpPr>
          <p:cNvPr id="37" name="Connector 36"/>
          <p:cNvCxnSpPr/>
          <p:nvPr/>
        </p:nvCxnSpPr>
        <p:spPr>
          <a:xfrm>
            <a:off x="9657435"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650577" y="4947141"/>
            <a:ext cx="2352294" cy="186974"/>
          </a:xfrm>
          <a:prstGeom prst="rect">
            <a:avLst/>
          </a:prstGeom>
          <a:noFill/>
        </p:spPr>
        <p:txBody>
          <a:bodyPr wrap="square" lIns="0" tIns="0" rIns="0" bIns="0" anchor="ctr">
            <a:spAutoFit/>
          </a:bodyPr>
          <a:lstStyle/>
          <a:p>
            <a:r>
              <a:rPr sz="1215" dirty="0">
                <a:solidFill>
                  <a:srgbClr val="5E6E84"/>
                </a:solidFill>
              </a:rPr>
              <a:t>src/detection/stage2/</a:t>
            </a:r>
          </a:p>
        </p:txBody>
      </p:sp>
      <p:sp>
        <p:nvSpPr>
          <p:cNvPr id="39" name="TextBox 38"/>
          <p:cNvSpPr txBox="1"/>
          <p:nvPr/>
        </p:nvSpPr>
        <p:spPr>
          <a:xfrm>
            <a:off x="12185294" y="3797323"/>
            <a:ext cx="208482" cy="415498"/>
          </a:xfrm>
          <a:prstGeom prst="rect">
            <a:avLst/>
          </a:prstGeom>
          <a:noFill/>
        </p:spPr>
        <p:txBody>
          <a:bodyPr wrap="square" lIns="0" tIns="0" rIns="0" bIns="0" anchor="ctr">
            <a:spAutoFit/>
          </a:bodyPr>
          <a:lstStyle/>
          <a:p>
            <a:pPr algn="ctr"/>
            <a:r>
              <a:rPr sz="2700" b="1" dirty="0">
                <a:solidFill>
                  <a:srgbClr val="3D5FA8"/>
                </a:solidFill>
              </a:rPr>
              <a:t>›</a:t>
            </a:r>
          </a:p>
        </p:txBody>
      </p:sp>
      <p:sp>
        <p:nvSpPr>
          <p:cNvPr id="40" name="Rounded Rectangle 39"/>
          <p:cNvSpPr/>
          <p:nvPr/>
        </p:nvSpPr>
        <p:spPr>
          <a:xfrm>
            <a:off x="12396521"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1" name="Rectangle 40"/>
          <p:cNvSpPr/>
          <p:nvPr/>
        </p:nvSpPr>
        <p:spPr>
          <a:xfrm>
            <a:off x="12396521" y="2606040"/>
            <a:ext cx="2667762" cy="137160"/>
          </a:xfrm>
          <a:prstGeom prst="rect">
            <a:avLst/>
          </a:prstGeom>
          <a:solidFill>
            <a:srgbClr val="7554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2" name="TextBox 41"/>
          <p:cNvSpPr txBox="1"/>
          <p:nvPr/>
        </p:nvSpPr>
        <p:spPr>
          <a:xfrm>
            <a:off x="12561113" y="2907473"/>
            <a:ext cx="480060" cy="302390"/>
          </a:xfrm>
          <a:prstGeom prst="rect">
            <a:avLst/>
          </a:prstGeom>
          <a:noFill/>
        </p:spPr>
        <p:txBody>
          <a:bodyPr wrap="square" lIns="0" tIns="0" rIns="0" bIns="0" anchor="ctr">
            <a:spAutoFit/>
          </a:bodyPr>
          <a:lstStyle/>
          <a:p>
            <a:r>
              <a:rPr sz="1965" b="1" dirty="0">
                <a:solidFill>
                  <a:srgbClr val="1B2D4C"/>
                </a:solidFill>
              </a:rPr>
              <a:t>05</a:t>
            </a:r>
          </a:p>
        </p:txBody>
      </p:sp>
      <p:sp>
        <p:nvSpPr>
          <p:cNvPr id="43" name="TextBox 42"/>
          <p:cNvSpPr txBox="1"/>
          <p:nvPr/>
        </p:nvSpPr>
        <p:spPr>
          <a:xfrm>
            <a:off x="12561113" y="3483545"/>
            <a:ext cx="2352294" cy="302390"/>
          </a:xfrm>
          <a:prstGeom prst="rect">
            <a:avLst/>
          </a:prstGeom>
          <a:noFill/>
        </p:spPr>
        <p:txBody>
          <a:bodyPr wrap="square" lIns="0" tIns="0" rIns="0" bIns="0" anchor="ctr">
            <a:spAutoFit/>
          </a:bodyPr>
          <a:lstStyle/>
          <a:p>
            <a:r>
              <a:rPr sz="1965" b="1" dirty="0">
                <a:solidFill>
                  <a:srgbClr val="1B2D4C"/>
                </a:solidFill>
              </a:rPr>
              <a:t>ADAPTATION</a:t>
            </a:r>
          </a:p>
        </p:txBody>
      </p:sp>
      <p:sp>
        <p:nvSpPr>
          <p:cNvPr id="44" name="TextBox 43"/>
          <p:cNvSpPr txBox="1"/>
          <p:nvPr/>
        </p:nvSpPr>
        <p:spPr>
          <a:xfrm>
            <a:off x="12561113" y="4071308"/>
            <a:ext cx="2352294" cy="484748"/>
          </a:xfrm>
          <a:prstGeom prst="rect">
            <a:avLst/>
          </a:prstGeom>
          <a:noFill/>
        </p:spPr>
        <p:txBody>
          <a:bodyPr wrap="square" lIns="0" tIns="0" rIns="0" bIns="0" anchor="ctr">
            <a:spAutoFit/>
          </a:bodyPr>
          <a:lstStyle/>
          <a:p>
            <a:r>
              <a:rPr sz="1575" dirty="0">
                <a:solidFill>
                  <a:srgbClr val="1F2D40"/>
                </a:solidFill>
              </a:rPr>
              <a:t>Decision policies</a:t>
            </a:r>
          </a:p>
          <a:p>
            <a:r>
              <a:rPr sz="1575" dirty="0">
                <a:solidFill>
                  <a:srgbClr val="1F2D40"/>
                </a:solidFill>
              </a:rPr>
              <a:t>SVM · PWKNN · bagging</a:t>
            </a:r>
          </a:p>
        </p:txBody>
      </p:sp>
      <p:cxnSp>
        <p:nvCxnSpPr>
          <p:cNvPr id="45" name="Connector 44"/>
          <p:cNvCxnSpPr/>
          <p:nvPr/>
        </p:nvCxnSpPr>
        <p:spPr>
          <a:xfrm>
            <a:off x="12561113"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2554255" y="4947141"/>
            <a:ext cx="2352294" cy="186974"/>
          </a:xfrm>
          <a:prstGeom prst="rect">
            <a:avLst/>
          </a:prstGeom>
          <a:noFill/>
        </p:spPr>
        <p:txBody>
          <a:bodyPr wrap="square" lIns="0" tIns="0" rIns="0" bIns="0" anchor="ctr">
            <a:spAutoFit/>
          </a:bodyPr>
          <a:lstStyle/>
          <a:p>
            <a:r>
              <a:rPr sz="1215" dirty="0">
                <a:solidFill>
                  <a:srgbClr val="5E6E84"/>
                </a:solidFill>
              </a:rPr>
              <a:t>src/adaptation/</a:t>
            </a:r>
          </a:p>
        </p:txBody>
      </p:sp>
      <p:sp>
        <p:nvSpPr>
          <p:cNvPr id="47" name="TextBox 46"/>
          <p:cNvSpPr txBox="1"/>
          <p:nvPr/>
        </p:nvSpPr>
        <p:spPr>
          <a:xfrm>
            <a:off x="15088971" y="3797323"/>
            <a:ext cx="208482" cy="415498"/>
          </a:xfrm>
          <a:prstGeom prst="rect">
            <a:avLst/>
          </a:prstGeom>
          <a:noFill/>
        </p:spPr>
        <p:txBody>
          <a:bodyPr wrap="square" lIns="0" tIns="0" rIns="0" bIns="0" anchor="ctr">
            <a:spAutoFit/>
          </a:bodyPr>
          <a:lstStyle/>
          <a:p>
            <a:pPr algn="ctr"/>
            <a:r>
              <a:rPr sz="2700" b="1" dirty="0">
                <a:solidFill>
                  <a:srgbClr val="75549F"/>
                </a:solidFill>
              </a:rPr>
              <a:t>›</a:t>
            </a:r>
          </a:p>
        </p:txBody>
      </p:sp>
      <p:sp>
        <p:nvSpPr>
          <p:cNvPr id="48" name="Rounded Rectangle 47"/>
          <p:cNvSpPr/>
          <p:nvPr/>
        </p:nvSpPr>
        <p:spPr>
          <a:xfrm>
            <a:off x="15300198"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Rectangle 48"/>
          <p:cNvSpPr/>
          <p:nvPr/>
        </p:nvSpPr>
        <p:spPr>
          <a:xfrm>
            <a:off x="15300198" y="2606040"/>
            <a:ext cx="2667762" cy="137160"/>
          </a:xfrm>
          <a:prstGeom prst="rect">
            <a:avLst/>
          </a:prstGeom>
          <a:solidFill>
            <a:srgbClr val="7554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0" name="TextBox 49"/>
          <p:cNvSpPr txBox="1"/>
          <p:nvPr/>
        </p:nvSpPr>
        <p:spPr>
          <a:xfrm>
            <a:off x="15464790" y="2907473"/>
            <a:ext cx="480060" cy="302390"/>
          </a:xfrm>
          <a:prstGeom prst="rect">
            <a:avLst/>
          </a:prstGeom>
          <a:noFill/>
        </p:spPr>
        <p:txBody>
          <a:bodyPr wrap="square" lIns="0" tIns="0" rIns="0" bIns="0" anchor="ctr">
            <a:spAutoFit/>
          </a:bodyPr>
          <a:lstStyle/>
          <a:p>
            <a:r>
              <a:rPr sz="1965" b="1" dirty="0">
                <a:solidFill>
                  <a:srgbClr val="1B2D4C"/>
                </a:solidFill>
              </a:rPr>
              <a:t>06</a:t>
            </a:r>
          </a:p>
        </p:txBody>
      </p:sp>
      <p:sp>
        <p:nvSpPr>
          <p:cNvPr id="51" name="TextBox 50"/>
          <p:cNvSpPr txBox="1"/>
          <p:nvPr/>
        </p:nvSpPr>
        <p:spPr>
          <a:xfrm>
            <a:off x="15464790" y="3483545"/>
            <a:ext cx="2352294" cy="302390"/>
          </a:xfrm>
          <a:prstGeom prst="rect">
            <a:avLst/>
          </a:prstGeom>
          <a:noFill/>
        </p:spPr>
        <p:txBody>
          <a:bodyPr wrap="square" lIns="0" tIns="0" rIns="0" bIns="0" anchor="ctr">
            <a:spAutoFit/>
          </a:bodyPr>
          <a:lstStyle/>
          <a:p>
            <a:r>
              <a:rPr sz="1965" b="1" dirty="0">
                <a:solidFill>
                  <a:srgbClr val="1B2D4C"/>
                </a:solidFill>
              </a:rPr>
              <a:t>EVIDENCE + UI</a:t>
            </a:r>
          </a:p>
        </p:txBody>
      </p:sp>
      <p:sp>
        <p:nvSpPr>
          <p:cNvPr id="52" name="TextBox 51"/>
          <p:cNvSpPr txBox="1"/>
          <p:nvPr/>
        </p:nvSpPr>
        <p:spPr>
          <a:xfrm>
            <a:off x="15464790" y="4071308"/>
            <a:ext cx="2352294" cy="484748"/>
          </a:xfrm>
          <a:prstGeom prst="rect">
            <a:avLst/>
          </a:prstGeom>
          <a:noFill/>
        </p:spPr>
        <p:txBody>
          <a:bodyPr wrap="square" lIns="0" tIns="0" rIns="0" bIns="0" anchor="ctr">
            <a:spAutoFit/>
          </a:bodyPr>
          <a:lstStyle/>
          <a:p>
            <a:r>
              <a:rPr sz="1575" dirty="0">
                <a:solidFill>
                  <a:srgbClr val="1F2D40"/>
                </a:solidFill>
              </a:rPr>
              <a:t>Metrics / CSV / Markdown</a:t>
            </a:r>
          </a:p>
          <a:p>
            <a:r>
              <a:rPr sz="1575" dirty="0">
                <a:solidFill>
                  <a:srgbClr val="1F2D40"/>
                </a:solidFill>
              </a:rPr>
              <a:t>Flask · GitHub Pages</a:t>
            </a:r>
          </a:p>
        </p:txBody>
      </p:sp>
      <p:cxnSp>
        <p:nvCxnSpPr>
          <p:cNvPr id="53" name="Connector 52"/>
          <p:cNvCxnSpPr/>
          <p:nvPr/>
        </p:nvCxnSpPr>
        <p:spPr>
          <a:xfrm>
            <a:off x="15464790"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5457932" y="4947141"/>
            <a:ext cx="2352294" cy="186974"/>
          </a:xfrm>
          <a:prstGeom prst="rect">
            <a:avLst/>
          </a:prstGeom>
          <a:noFill/>
        </p:spPr>
        <p:txBody>
          <a:bodyPr wrap="square" lIns="0" tIns="0" rIns="0" bIns="0" anchor="ctr">
            <a:spAutoFit/>
          </a:bodyPr>
          <a:lstStyle/>
          <a:p>
            <a:r>
              <a:rPr sz="1215" dirty="0">
                <a:solidFill>
                  <a:srgbClr val="5E6E84"/>
                </a:solidFill>
              </a:rPr>
              <a:t>src/reporting/ · src/web/</a:t>
            </a:r>
          </a:p>
        </p:txBody>
      </p:sp>
      <p:sp>
        <p:nvSpPr>
          <p:cNvPr id="55" name="TextBox 54"/>
          <p:cNvSpPr txBox="1"/>
          <p:nvPr/>
        </p:nvSpPr>
        <p:spPr>
          <a:xfrm>
            <a:off x="781811" y="5944211"/>
            <a:ext cx="16459200" cy="346249"/>
          </a:xfrm>
          <a:prstGeom prst="rect">
            <a:avLst/>
          </a:prstGeom>
          <a:noFill/>
        </p:spPr>
        <p:txBody>
          <a:bodyPr wrap="square" lIns="0" tIns="0" rIns="0" bIns="0" anchor="ctr">
            <a:spAutoFit/>
          </a:bodyPr>
          <a:lstStyle/>
          <a:p>
            <a:r>
              <a:rPr sz="2250" b="1" dirty="0">
                <a:solidFill>
                  <a:srgbClr val="1B2D4C"/>
                </a:solidFill>
              </a:rPr>
              <a:t>WHAT IS ALREADY ACHIEVED</a:t>
            </a:r>
          </a:p>
        </p:txBody>
      </p:sp>
      <p:sp>
        <p:nvSpPr>
          <p:cNvPr id="56" name="TextBox 55"/>
          <p:cNvSpPr txBox="1"/>
          <p:nvPr/>
        </p:nvSpPr>
        <p:spPr>
          <a:xfrm>
            <a:off x="781811" y="6440832"/>
            <a:ext cx="16459200" cy="230832"/>
          </a:xfrm>
          <a:prstGeom prst="rect">
            <a:avLst/>
          </a:prstGeom>
          <a:noFill/>
        </p:spPr>
        <p:txBody>
          <a:bodyPr wrap="square" lIns="0" tIns="0" rIns="0" bIns="0" anchor="ctr">
            <a:spAutoFit/>
          </a:bodyPr>
          <a:lstStyle/>
          <a:p>
            <a:r>
              <a:rPr sz="1500" dirty="0">
                <a:solidFill>
                  <a:srgbClr val="5E6E84"/>
                </a:solidFill>
              </a:rPr>
              <a:t>Concrete deliverables backed by source modules and saved evidence</a:t>
            </a:r>
          </a:p>
        </p:txBody>
      </p:sp>
      <p:sp>
        <p:nvSpPr>
          <p:cNvPr id="57" name="Rounded Rectangle 56"/>
          <p:cNvSpPr/>
          <p:nvPr/>
        </p:nvSpPr>
        <p:spPr>
          <a:xfrm>
            <a:off x="781811" y="6885432"/>
            <a:ext cx="5493258" cy="1961388"/>
          </a:xfrm>
          <a:prstGeom prst="roundRect">
            <a:avLst>
              <a:gd name="adj" fmla="val 12000"/>
            </a:avLst>
          </a:prstGeom>
          <a:solidFill>
            <a:srgbClr val="FFFFFF"/>
          </a:solidFill>
          <a:ln w="1016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Rounded Rectangle 57"/>
          <p:cNvSpPr/>
          <p:nvPr/>
        </p:nvSpPr>
        <p:spPr>
          <a:xfrm>
            <a:off x="1028700" y="7132320"/>
            <a:ext cx="493776" cy="452628"/>
          </a:xfrm>
          <a:prstGeom prst="roundRect">
            <a:avLst>
              <a:gd name="adj" fmla="val 12000"/>
            </a:avLst>
          </a:prstGeom>
          <a:solidFill>
            <a:srgbClr val="1187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9" name="TextBox 58"/>
          <p:cNvSpPr txBox="1"/>
          <p:nvPr/>
        </p:nvSpPr>
        <p:spPr>
          <a:xfrm>
            <a:off x="1042416" y="7218225"/>
            <a:ext cx="466344" cy="212238"/>
          </a:xfrm>
          <a:prstGeom prst="rect">
            <a:avLst/>
          </a:prstGeom>
          <a:noFill/>
        </p:spPr>
        <p:txBody>
          <a:bodyPr wrap="square" lIns="0" tIns="0" rIns="0" bIns="0" anchor="ctr">
            <a:spAutoFit/>
          </a:bodyPr>
          <a:lstStyle/>
          <a:p>
            <a:pPr algn="ctr"/>
            <a:r>
              <a:rPr sz="1379" b="1" dirty="0">
                <a:solidFill>
                  <a:srgbClr val="FFFFFF"/>
                </a:solidFill>
              </a:rPr>
              <a:t>01</a:t>
            </a:r>
          </a:p>
        </p:txBody>
      </p:sp>
      <p:sp>
        <p:nvSpPr>
          <p:cNvPr id="60" name="TextBox 59"/>
          <p:cNvSpPr txBox="1"/>
          <p:nvPr/>
        </p:nvSpPr>
        <p:spPr>
          <a:xfrm>
            <a:off x="1687068" y="7169821"/>
            <a:ext cx="4368546" cy="281616"/>
          </a:xfrm>
          <a:prstGeom prst="rect">
            <a:avLst/>
          </a:prstGeom>
          <a:noFill/>
        </p:spPr>
        <p:txBody>
          <a:bodyPr wrap="square" lIns="0" tIns="0" rIns="0" bIns="0" anchor="ctr">
            <a:spAutoFit/>
          </a:bodyPr>
          <a:lstStyle/>
          <a:p>
            <a:r>
              <a:rPr sz="1830" b="1" dirty="0">
                <a:solidFill>
                  <a:srgbClr val="1B2D4C"/>
                </a:solidFill>
              </a:rPr>
              <a:t>REPRODUCTION FOUNDATION</a:t>
            </a:r>
          </a:p>
        </p:txBody>
      </p:sp>
      <p:sp>
        <p:nvSpPr>
          <p:cNvPr id="61" name="TextBox 60"/>
          <p:cNvSpPr txBox="1"/>
          <p:nvPr/>
        </p:nvSpPr>
        <p:spPr>
          <a:xfrm>
            <a:off x="1042416" y="7799887"/>
            <a:ext cx="4999482" cy="461665"/>
          </a:xfrm>
          <a:prstGeom prst="rect">
            <a:avLst/>
          </a:prstGeom>
          <a:noFill/>
        </p:spPr>
        <p:txBody>
          <a:bodyPr wrap="square" lIns="0" tIns="0" rIns="0" bIns="0" anchor="ctr">
            <a:spAutoFit/>
          </a:bodyPr>
          <a:lstStyle/>
          <a:p>
            <a:r>
              <a:rPr sz="1500" dirty="0">
                <a:solidFill>
                  <a:srgbClr val="1F2D40"/>
                </a:solidFill>
              </a:rPr>
              <a:t>Raza 2015 synthetic D2/D3/D4 studies</a:t>
            </a:r>
            <a:endParaRPr lang="en-US" sz="1500" dirty="0">
              <a:solidFill>
                <a:srgbClr val="1F2D40"/>
              </a:solidFill>
            </a:endParaRPr>
          </a:p>
          <a:p>
            <a:r>
              <a:rPr sz="1500" dirty="0">
                <a:solidFill>
                  <a:srgbClr val="1F2D40"/>
                </a:solidFill>
              </a:rPr>
              <a:t>BCI IV 2A/2B Table 1 processing and comparison outputs.</a:t>
            </a:r>
          </a:p>
        </p:txBody>
      </p:sp>
      <p:sp>
        <p:nvSpPr>
          <p:cNvPr id="62" name="TextBox 61"/>
          <p:cNvSpPr txBox="1"/>
          <p:nvPr/>
        </p:nvSpPr>
        <p:spPr>
          <a:xfrm>
            <a:off x="1042416" y="8480167"/>
            <a:ext cx="5013198" cy="184666"/>
          </a:xfrm>
          <a:prstGeom prst="rect">
            <a:avLst/>
          </a:prstGeom>
          <a:noFill/>
        </p:spPr>
        <p:txBody>
          <a:bodyPr wrap="square" lIns="0" tIns="0" rIns="0" bIns="0" anchor="ctr">
            <a:spAutoFit/>
          </a:bodyPr>
          <a:lstStyle/>
          <a:p>
            <a:r>
              <a:rPr sz="1200" dirty="0">
                <a:solidFill>
                  <a:srgbClr val="5E6E84"/>
                </a:solidFill>
              </a:rPr>
              <a:t>src/experiments/paper2015/  ·  scripts/run_bci_table1_reproduction.py</a:t>
            </a:r>
          </a:p>
        </p:txBody>
      </p:sp>
      <p:sp>
        <p:nvSpPr>
          <p:cNvPr id="63" name="Rounded Rectangle 62"/>
          <p:cNvSpPr/>
          <p:nvPr/>
        </p:nvSpPr>
        <p:spPr>
          <a:xfrm>
            <a:off x="6521958" y="6885432"/>
            <a:ext cx="5493258" cy="1961388"/>
          </a:xfrm>
          <a:prstGeom prst="roundRect">
            <a:avLst>
              <a:gd name="adj" fmla="val 12000"/>
            </a:avLst>
          </a:prstGeom>
          <a:solidFill>
            <a:srgbClr val="FFFFFF"/>
          </a:solidFill>
          <a:ln w="1016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Rounded Rectangle 63"/>
          <p:cNvSpPr/>
          <p:nvPr/>
        </p:nvSpPr>
        <p:spPr>
          <a:xfrm>
            <a:off x="6768846" y="7132320"/>
            <a:ext cx="493776" cy="452628"/>
          </a:xfrm>
          <a:prstGeom prst="roundRect">
            <a:avLst>
              <a:gd name="adj" fmla="val 12000"/>
            </a:avLst>
          </a:prstGeom>
          <a:solidFill>
            <a:srgbClr val="3D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5" name="TextBox 64"/>
          <p:cNvSpPr txBox="1"/>
          <p:nvPr/>
        </p:nvSpPr>
        <p:spPr>
          <a:xfrm>
            <a:off x="6782562" y="7218225"/>
            <a:ext cx="466344" cy="212238"/>
          </a:xfrm>
          <a:prstGeom prst="rect">
            <a:avLst/>
          </a:prstGeom>
          <a:noFill/>
        </p:spPr>
        <p:txBody>
          <a:bodyPr wrap="square" lIns="0" tIns="0" rIns="0" bIns="0" anchor="ctr">
            <a:spAutoFit/>
          </a:bodyPr>
          <a:lstStyle/>
          <a:p>
            <a:pPr algn="ctr"/>
            <a:r>
              <a:rPr sz="1379" b="1" dirty="0">
                <a:solidFill>
                  <a:srgbClr val="FFFFFF"/>
                </a:solidFill>
              </a:rPr>
              <a:t>02</a:t>
            </a:r>
          </a:p>
        </p:txBody>
      </p:sp>
      <p:sp>
        <p:nvSpPr>
          <p:cNvPr id="66" name="TextBox 65"/>
          <p:cNvSpPr txBox="1"/>
          <p:nvPr/>
        </p:nvSpPr>
        <p:spPr>
          <a:xfrm>
            <a:off x="7427214" y="7169820"/>
            <a:ext cx="4368546" cy="281616"/>
          </a:xfrm>
          <a:prstGeom prst="rect">
            <a:avLst/>
          </a:prstGeom>
          <a:noFill/>
        </p:spPr>
        <p:txBody>
          <a:bodyPr wrap="square" lIns="0" tIns="0" rIns="0" bIns="0" anchor="ctr">
            <a:spAutoFit/>
          </a:bodyPr>
          <a:lstStyle/>
          <a:p>
            <a:r>
              <a:rPr sz="1830" b="1" dirty="0">
                <a:solidFill>
                  <a:srgbClr val="1B2D4C"/>
                </a:solidFill>
              </a:rPr>
              <a:t>DIAGNOSTIC BREADTH</a:t>
            </a:r>
          </a:p>
        </p:txBody>
      </p:sp>
      <p:sp>
        <p:nvSpPr>
          <p:cNvPr id="67" name="TextBox 66"/>
          <p:cNvSpPr txBox="1"/>
          <p:nvPr/>
        </p:nvSpPr>
        <p:spPr>
          <a:xfrm>
            <a:off x="6782562" y="7799887"/>
            <a:ext cx="4999482" cy="461665"/>
          </a:xfrm>
          <a:prstGeom prst="rect">
            <a:avLst/>
          </a:prstGeom>
          <a:noFill/>
        </p:spPr>
        <p:txBody>
          <a:bodyPr wrap="square" lIns="0" tIns="0" rIns="0" bIns="0" anchor="ctr">
            <a:spAutoFit/>
          </a:bodyPr>
          <a:lstStyle/>
          <a:p>
            <a:r>
              <a:rPr sz="1500" dirty="0">
                <a:solidFill>
                  <a:srgbClr val="1F2D40"/>
                </a:solidFill>
              </a:rPr>
              <a:t>Stage-I/II evidence kept separate; complementary PCA monitoring, Park CUSUM, and opt-in GPR/MMD.</a:t>
            </a:r>
          </a:p>
        </p:txBody>
      </p:sp>
      <p:sp>
        <p:nvSpPr>
          <p:cNvPr id="68" name="TextBox 67"/>
          <p:cNvSpPr txBox="1"/>
          <p:nvPr/>
        </p:nvSpPr>
        <p:spPr>
          <a:xfrm>
            <a:off x="6782562" y="8480167"/>
            <a:ext cx="5013198" cy="184666"/>
          </a:xfrm>
          <a:prstGeom prst="rect">
            <a:avLst/>
          </a:prstGeom>
          <a:noFill/>
        </p:spPr>
        <p:txBody>
          <a:bodyPr wrap="square" lIns="0" tIns="0" rIns="0" bIns="0" anchor="ctr">
            <a:spAutoFit/>
          </a:bodyPr>
          <a:lstStyle/>
          <a:p>
            <a:r>
              <a:rPr sz="1200" dirty="0">
                <a:solidFill>
                  <a:srgbClr val="5E6E84"/>
                </a:solidFill>
              </a:rPr>
              <a:t>src/detection/  ·  docs/gpr_kernel_validation.md</a:t>
            </a:r>
          </a:p>
        </p:txBody>
      </p:sp>
      <p:sp>
        <p:nvSpPr>
          <p:cNvPr id="69" name="Rounded Rectangle 68"/>
          <p:cNvSpPr/>
          <p:nvPr/>
        </p:nvSpPr>
        <p:spPr>
          <a:xfrm>
            <a:off x="12262104" y="6885432"/>
            <a:ext cx="5493258" cy="1961388"/>
          </a:xfrm>
          <a:prstGeom prst="roundRect">
            <a:avLst>
              <a:gd name="adj" fmla="val 12000"/>
            </a:avLst>
          </a:prstGeom>
          <a:solidFill>
            <a:srgbClr val="FFFFFF"/>
          </a:solidFill>
          <a:ln w="1016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Rounded Rectangle 69"/>
          <p:cNvSpPr/>
          <p:nvPr/>
        </p:nvSpPr>
        <p:spPr>
          <a:xfrm>
            <a:off x="12508991" y="7132320"/>
            <a:ext cx="493776" cy="452628"/>
          </a:xfrm>
          <a:prstGeom prst="roundRect">
            <a:avLst>
              <a:gd name="adj" fmla="val 12000"/>
            </a:avLst>
          </a:prstGeom>
          <a:solidFill>
            <a:srgbClr val="7554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1" name="TextBox 70"/>
          <p:cNvSpPr txBox="1"/>
          <p:nvPr/>
        </p:nvSpPr>
        <p:spPr>
          <a:xfrm>
            <a:off x="12522707" y="7218225"/>
            <a:ext cx="466344" cy="212238"/>
          </a:xfrm>
          <a:prstGeom prst="rect">
            <a:avLst/>
          </a:prstGeom>
          <a:noFill/>
        </p:spPr>
        <p:txBody>
          <a:bodyPr wrap="square" lIns="0" tIns="0" rIns="0" bIns="0" anchor="ctr">
            <a:spAutoFit/>
          </a:bodyPr>
          <a:lstStyle/>
          <a:p>
            <a:pPr algn="ctr"/>
            <a:r>
              <a:rPr sz="1379" b="1" dirty="0">
                <a:solidFill>
                  <a:srgbClr val="FFFFFF"/>
                </a:solidFill>
              </a:rPr>
              <a:t>03</a:t>
            </a:r>
          </a:p>
        </p:txBody>
      </p:sp>
      <p:sp>
        <p:nvSpPr>
          <p:cNvPr id="72" name="TextBox 71"/>
          <p:cNvSpPr txBox="1"/>
          <p:nvPr/>
        </p:nvSpPr>
        <p:spPr>
          <a:xfrm>
            <a:off x="13167360" y="7169821"/>
            <a:ext cx="4368546" cy="281616"/>
          </a:xfrm>
          <a:prstGeom prst="rect">
            <a:avLst/>
          </a:prstGeom>
          <a:noFill/>
        </p:spPr>
        <p:txBody>
          <a:bodyPr wrap="square" lIns="0" tIns="0" rIns="0" bIns="0" anchor="ctr">
            <a:spAutoFit/>
          </a:bodyPr>
          <a:lstStyle/>
          <a:p>
            <a:r>
              <a:rPr sz="1830" b="1" dirty="0">
                <a:solidFill>
                  <a:srgbClr val="1B2D4C"/>
                </a:solidFill>
              </a:rPr>
              <a:t>WORKING RESEARCH PLATFORM</a:t>
            </a:r>
          </a:p>
        </p:txBody>
      </p:sp>
      <p:sp>
        <p:nvSpPr>
          <p:cNvPr id="73" name="TextBox 72"/>
          <p:cNvSpPr txBox="1"/>
          <p:nvPr/>
        </p:nvSpPr>
        <p:spPr>
          <a:xfrm>
            <a:off x="12522707" y="7799887"/>
            <a:ext cx="4999482" cy="461665"/>
          </a:xfrm>
          <a:prstGeom prst="rect">
            <a:avLst/>
          </a:prstGeom>
          <a:noFill/>
        </p:spPr>
        <p:txBody>
          <a:bodyPr wrap="square" lIns="0" tIns="0" rIns="0" bIns="0" anchor="ctr">
            <a:spAutoFit/>
          </a:bodyPr>
          <a:lstStyle/>
          <a:p>
            <a:r>
              <a:rPr sz="1500" dirty="0">
                <a:solidFill>
                  <a:srgbClr val="1F2D40"/>
                </a:solidFill>
              </a:rPr>
              <a:t>Supervised and transductive experiments; Diethe policy laboratory; Flask results hub, tests and CI.</a:t>
            </a:r>
          </a:p>
        </p:txBody>
      </p:sp>
      <p:sp>
        <p:nvSpPr>
          <p:cNvPr id="74" name="TextBox 73"/>
          <p:cNvSpPr txBox="1"/>
          <p:nvPr/>
        </p:nvSpPr>
        <p:spPr>
          <a:xfrm>
            <a:off x="12522707" y="8480167"/>
            <a:ext cx="5013198" cy="184666"/>
          </a:xfrm>
          <a:prstGeom prst="rect">
            <a:avLst/>
          </a:prstGeom>
          <a:noFill/>
        </p:spPr>
        <p:txBody>
          <a:bodyPr wrap="square" lIns="0" tIns="0" rIns="0" bIns="0" anchor="ctr">
            <a:spAutoFit/>
          </a:bodyPr>
          <a:lstStyle/>
          <a:p>
            <a:r>
              <a:rPr sz="1200" dirty="0">
                <a:solidFill>
                  <a:srgbClr val="5E6E84"/>
                </a:solidFill>
              </a:rPr>
              <a:t>src/adaptation/  ·  src/web/  ·  tests/</a:t>
            </a:r>
          </a:p>
        </p:txBody>
      </p:sp>
      <p:sp>
        <p:nvSpPr>
          <p:cNvPr id="75" name="Rounded Rectangle 74"/>
          <p:cNvSpPr/>
          <p:nvPr/>
        </p:nvSpPr>
        <p:spPr>
          <a:xfrm>
            <a:off x="781811" y="9299448"/>
            <a:ext cx="16706088" cy="589788"/>
          </a:xfrm>
          <a:prstGeom prst="roundRect">
            <a:avLst>
              <a:gd name="adj" fmla="val 12000"/>
            </a:avLst>
          </a:prstGeom>
          <a:solidFill>
            <a:srgbClr val="EC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5"/>
          <p:cNvSpPr txBox="1"/>
          <p:nvPr/>
        </p:nvSpPr>
        <p:spPr>
          <a:xfrm>
            <a:off x="1014984" y="9465277"/>
            <a:ext cx="16226028" cy="216982"/>
          </a:xfrm>
          <a:prstGeom prst="rect">
            <a:avLst/>
          </a:prstGeom>
          <a:noFill/>
        </p:spPr>
        <p:txBody>
          <a:bodyPr wrap="square" lIns="0" tIns="0" rIns="0" bIns="0" anchor="ctr">
            <a:spAutoFit/>
          </a:bodyPr>
          <a:lstStyle/>
          <a:p>
            <a:r>
              <a:rPr sz="1410" dirty="0">
                <a:solidFill>
                  <a:srgbClr val="1B2D4C"/>
                </a:solidFill>
              </a:rPr>
              <a:t>RESEARCH BOUNDARY  •  Fully integrated digital twin, delayed-label joining and dynamic CSE-UAEL ensemble remain future work.</a:t>
            </a:r>
          </a:p>
        </p:txBody>
      </p:sp>
      <p:sp>
        <p:nvSpPr>
          <p:cNvPr id="77" name="TextBox 76"/>
          <p:cNvSpPr txBox="1"/>
          <p:nvPr/>
        </p:nvSpPr>
        <p:spPr>
          <a:xfrm>
            <a:off x="781811" y="9980915"/>
            <a:ext cx="13716000" cy="186974"/>
          </a:xfrm>
          <a:prstGeom prst="rect">
            <a:avLst/>
          </a:prstGeom>
          <a:noFill/>
        </p:spPr>
        <p:txBody>
          <a:bodyPr wrap="square" lIns="0" tIns="0" rIns="0" bIns="0" anchor="ctr">
            <a:spAutoFit/>
          </a:bodyPr>
          <a:lstStyle/>
          <a:p>
            <a:r>
              <a:rPr sz="1215" dirty="0">
                <a:solidFill>
                  <a:srgbClr val="5E6E84"/>
                </a:solidFill>
              </a:rPr>
              <a:t>Source: github.com/hlin863/ewma_covariate_shift_demo  ·  main at 15 Oct 2026</a:t>
            </a:r>
          </a:p>
        </p:txBody>
      </p:sp>
      <p:sp>
        <p:nvSpPr>
          <p:cNvPr id="78" name="TextBox 77"/>
          <p:cNvSpPr txBox="1"/>
          <p:nvPr/>
        </p:nvSpPr>
        <p:spPr>
          <a:xfrm>
            <a:off x="16706088" y="9965979"/>
            <a:ext cx="685800" cy="203133"/>
          </a:xfrm>
          <a:prstGeom prst="rect">
            <a:avLst/>
          </a:prstGeom>
          <a:noFill/>
        </p:spPr>
        <p:txBody>
          <a:bodyPr wrap="square" lIns="0" tIns="0" rIns="0" bIns="0" anchor="ctr">
            <a:spAutoFit/>
          </a:bodyPr>
          <a:lstStyle/>
          <a:p>
            <a:pPr algn="r"/>
            <a:r>
              <a:rPr sz="1320" b="1" dirty="0">
                <a:solidFill>
                  <a:srgbClr val="5E6E84"/>
                </a:solidFill>
              </a:rPr>
              <a:t>03</a:t>
            </a:r>
          </a:p>
        </p:txBody>
      </p:sp>
    </p:spTree>
    <p:extLst>
      <p:ext uri="{BB962C8B-B14F-4D97-AF65-F5344CB8AC3E}">
        <p14:creationId xmlns:p14="http://schemas.microsoft.com/office/powerpoint/2010/main" val="387455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4400" y="590550"/>
            <a:ext cx="8572500" cy="352425"/>
          </a:xfrm>
          <a:prstGeom prst="rect">
            <a:avLst/>
          </a:prstGeom>
        </p:spPr>
        <p:txBody>
          <a:bodyPr lIns="0" tIns="0" rIns="0" bIns="0" rtlCol="0" anchor="t">
            <a:spAutoFit/>
          </a:bodyPr>
          <a:lstStyle/>
          <a:p>
            <a:pPr algn="l">
              <a:lnSpc>
                <a:spcPts val="1755"/>
              </a:lnSpc>
            </a:pPr>
            <a:r>
              <a:rPr lang="en-US" sz="1462" b="1">
                <a:solidFill>
                  <a:srgbClr val="2DD4BF"/>
                </a:solidFill>
                <a:latin typeface="DejaVu Sans Bold"/>
                <a:ea typeface="DejaVu Sans Bold"/>
                <a:cs typeface="DejaVu Sans Bold"/>
                <a:sym typeface="DejaVu Sans Bold"/>
              </a:rPr>
              <a:t>LITERATURE REVIEW</a:t>
            </a:r>
          </a:p>
        </p:txBody>
      </p:sp>
      <p:sp>
        <p:nvSpPr>
          <p:cNvPr id="3" name="TextBox 3"/>
          <p:cNvSpPr txBox="1"/>
          <p:nvPr/>
        </p:nvSpPr>
        <p:spPr>
          <a:xfrm>
            <a:off x="914400" y="1028700"/>
            <a:ext cx="16430625" cy="828675"/>
          </a:xfrm>
          <a:prstGeom prst="rect">
            <a:avLst/>
          </a:prstGeom>
        </p:spPr>
        <p:txBody>
          <a:bodyPr lIns="0" tIns="0" rIns="0" bIns="0" rtlCol="0" anchor="t">
            <a:spAutoFit/>
          </a:bodyPr>
          <a:lstStyle/>
          <a:p>
            <a:pPr algn="l">
              <a:lnSpc>
                <a:spcPts val="4590"/>
              </a:lnSpc>
            </a:pPr>
            <a:r>
              <a:rPr lang="en-US" sz="3825" b="1" dirty="0">
                <a:solidFill>
                  <a:srgbClr val="EAF2F8"/>
                </a:solidFill>
                <a:latin typeface="DejaVu Sans Bold"/>
                <a:ea typeface="DejaVu Sans Bold"/>
                <a:cs typeface="DejaVu Sans Bold"/>
                <a:sym typeface="DejaVu Sans Bold"/>
              </a:rPr>
              <a:t>Reading informs the reconstruction and its limits</a:t>
            </a:r>
          </a:p>
        </p:txBody>
      </p:sp>
      <p:sp>
        <p:nvSpPr>
          <p:cNvPr id="4" name="AutoShape 4"/>
          <p:cNvSpPr/>
          <p:nvPr/>
        </p:nvSpPr>
        <p:spPr>
          <a:xfrm rot="5940">
            <a:off x="900103" y="2047875"/>
            <a:ext cx="16487804" cy="0"/>
          </a:xfrm>
          <a:prstGeom prst="line">
            <a:avLst/>
          </a:prstGeom>
          <a:ln w="19050" cap="rnd">
            <a:solidFill>
              <a:srgbClr val="294057"/>
            </a:solidFill>
            <a:prstDash val="solid"/>
            <a:headEnd type="none" w="sm" len="sm"/>
            <a:tailEnd type="none" w="sm" len="sm"/>
          </a:ln>
        </p:spPr>
        <p:txBody>
          <a:bodyPr/>
          <a:lstStyle/>
          <a:p>
            <a:endParaRPr lang="en-GB"/>
          </a:p>
        </p:txBody>
      </p:sp>
      <p:sp>
        <p:nvSpPr>
          <p:cNvPr id="5" name="AutoShape 5"/>
          <p:cNvSpPr/>
          <p:nvPr/>
        </p:nvSpPr>
        <p:spPr>
          <a:xfrm rot="16440">
            <a:off x="1678696" y="4695825"/>
            <a:ext cx="14930609" cy="0"/>
          </a:xfrm>
          <a:prstGeom prst="line">
            <a:avLst/>
          </a:prstGeom>
          <a:ln w="38100" cap="rnd">
            <a:solidFill>
              <a:srgbClr val="294057"/>
            </a:solidFill>
            <a:prstDash val="solid"/>
            <a:headEnd type="none" w="sm" len="sm"/>
            <a:tailEnd type="none" w="sm" len="sm"/>
          </a:ln>
        </p:spPr>
        <p:txBody>
          <a:bodyPr/>
          <a:lstStyle/>
          <a:p>
            <a:endParaRPr lang="en-GB"/>
          </a:p>
        </p:txBody>
      </p:sp>
      <p:grpSp>
        <p:nvGrpSpPr>
          <p:cNvPr id="6" name="Group 6"/>
          <p:cNvGrpSpPr/>
          <p:nvPr/>
        </p:nvGrpSpPr>
        <p:grpSpPr>
          <a:xfrm>
            <a:off x="1857375" y="4514850"/>
            <a:ext cx="400050" cy="400050"/>
            <a:chOff x="0" y="0"/>
            <a:chExt cx="533400" cy="533400"/>
          </a:xfrm>
        </p:grpSpPr>
        <p:sp>
          <p:nvSpPr>
            <p:cNvPr id="7" name="Freeform 7"/>
            <p:cNvSpPr/>
            <p:nvPr/>
          </p:nvSpPr>
          <p:spPr>
            <a:xfrm>
              <a:off x="0" y="0"/>
              <a:ext cx="533400" cy="533400"/>
            </a:xfrm>
            <a:custGeom>
              <a:avLst/>
              <a:gdLst/>
              <a:ahLst/>
              <a:cxnLst/>
              <a:rect l="l" t="t" r="r" b="b"/>
              <a:pathLst>
                <a:path w="533400" h="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4EA1FF"/>
            </a:solidFill>
          </p:spPr>
          <p:txBody>
            <a:bodyPr/>
            <a:lstStyle/>
            <a:p>
              <a:endParaRPr lang="en-GB"/>
            </a:p>
          </p:txBody>
        </p:sp>
      </p:grpSp>
      <p:sp>
        <p:nvSpPr>
          <p:cNvPr id="8" name="TextBox 8"/>
          <p:cNvSpPr txBox="1"/>
          <p:nvPr/>
        </p:nvSpPr>
        <p:spPr>
          <a:xfrm>
            <a:off x="1485900" y="3009900"/>
            <a:ext cx="1714500" cy="533400"/>
          </a:xfrm>
          <a:prstGeom prst="rect">
            <a:avLst/>
          </a:prstGeom>
        </p:spPr>
        <p:txBody>
          <a:bodyPr lIns="0" tIns="0" rIns="0" bIns="0" rtlCol="0" anchor="t">
            <a:spAutoFit/>
          </a:bodyPr>
          <a:lstStyle/>
          <a:p>
            <a:pPr algn="ctr">
              <a:lnSpc>
                <a:spcPts val="2970"/>
              </a:lnSpc>
            </a:pPr>
            <a:r>
              <a:rPr lang="en-US" sz="2475" b="1">
                <a:solidFill>
                  <a:srgbClr val="4EA1FF"/>
                </a:solidFill>
                <a:latin typeface="DejaVu Sans Bold"/>
                <a:ea typeface="DejaVu Sans Bold"/>
                <a:cs typeface="DejaVu Sans Bold"/>
                <a:sym typeface="DejaVu Sans Bold"/>
              </a:rPr>
              <a:t>2015</a:t>
            </a:r>
          </a:p>
        </p:txBody>
      </p:sp>
      <p:sp>
        <p:nvSpPr>
          <p:cNvPr id="9" name="TextBox 9"/>
          <p:cNvSpPr txBox="1"/>
          <p:nvPr/>
        </p:nvSpPr>
        <p:spPr>
          <a:xfrm>
            <a:off x="857250" y="3633787"/>
            <a:ext cx="2428875" cy="695325"/>
          </a:xfrm>
          <a:prstGeom prst="rect">
            <a:avLst/>
          </a:prstGeom>
        </p:spPr>
        <p:txBody>
          <a:bodyPr lIns="0" tIns="0" rIns="0" bIns="0" rtlCol="0" anchor="t">
            <a:spAutoFit/>
          </a:bodyPr>
          <a:lstStyle/>
          <a:p>
            <a:pPr algn="ctr">
              <a:lnSpc>
                <a:spcPts val="2295"/>
              </a:lnSpc>
            </a:pPr>
            <a:r>
              <a:rPr lang="en-US" sz="1912" b="1">
                <a:solidFill>
                  <a:srgbClr val="EAF2F8"/>
                </a:solidFill>
                <a:latin typeface="DejaVu Sans Bold"/>
                <a:ea typeface="DejaVu Sans Bold"/>
                <a:cs typeface="DejaVu Sans Bold"/>
                <a:sym typeface="DejaVu Sans Bold"/>
              </a:rPr>
              <a:t>Raza: detector basis</a:t>
            </a:r>
          </a:p>
        </p:txBody>
      </p:sp>
      <p:sp>
        <p:nvSpPr>
          <p:cNvPr id="10" name="TextBox 10"/>
          <p:cNvSpPr txBox="1"/>
          <p:nvPr/>
        </p:nvSpPr>
        <p:spPr>
          <a:xfrm>
            <a:off x="857250" y="5324475"/>
            <a:ext cx="2428875" cy="93345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EWMA warning logic</a:t>
            </a:r>
          </a:p>
          <a:p>
            <a:pPr algn="l">
              <a:lnSpc>
                <a:spcPts val="2025"/>
              </a:lnSpc>
            </a:pPr>
            <a:r>
              <a:rPr lang="en-US" sz="1687">
                <a:solidFill>
                  <a:srgbClr val="9CB0C3"/>
                </a:solidFill>
                <a:latin typeface="DejaVu Sans Light"/>
                <a:ea typeface="DejaVu Sans Light"/>
                <a:cs typeface="DejaVu Sans Light"/>
                <a:sym typeface="DejaVu Sans Light"/>
              </a:rPr>
              <a:t>D2/D3/D4 audit</a:t>
            </a:r>
          </a:p>
        </p:txBody>
      </p:sp>
      <p:grpSp>
        <p:nvGrpSpPr>
          <p:cNvPr id="11" name="Group 11"/>
          <p:cNvGrpSpPr/>
          <p:nvPr/>
        </p:nvGrpSpPr>
        <p:grpSpPr>
          <a:xfrm>
            <a:off x="5857875" y="4514850"/>
            <a:ext cx="400050" cy="400050"/>
            <a:chOff x="0" y="0"/>
            <a:chExt cx="533400" cy="533400"/>
          </a:xfrm>
        </p:grpSpPr>
        <p:sp>
          <p:nvSpPr>
            <p:cNvPr id="12" name="Freeform 12"/>
            <p:cNvSpPr/>
            <p:nvPr/>
          </p:nvSpPr>
          <p:spPr>
            <a:xfrm>
              <a:off x="0" y="0"/>
              <a:ext cx="533400" cy="533400"/>
            </a:xfrm>
            <a:custGeom>
              <a:avLst/>
              <a:gdLst/>
              <a:ahLst/>
              <a:cxnLst/>
              <a:rect l="l" t="t" r="r" b="b"/>
              <a:pathLst>
                <a:path w="533400" h="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2DD4BF"/>
            </a:solidFill>
          </p:spPr>
          <p:txBody>
            <a:bodyPr/>
            <a:lstStyle/>
            <a:p>
              <a:endParaRPr lang="en-GB"/>
            </a:p>
          </p:txBody>
        </p:sp>
      </p:grpSp>
      <p:sp>
        <p:nvSpPr>
          <p:cNvPr id="13" name="TextBox 13"/>
          <p:cNvSpPr txBox="1"/>
          <p:nvPr/>
        </p:nvSpPr>
        <p:spPr>
          <a:xfrm>
            <a:off x="5486400" y="3009900"/>
            <a:ext cx="1714500" cy="533400"/>
          </a:xfrm>
          <a:prstGeom prst="rect">
            <a:avLst/>
          </a:prstGeom>
        </p:spPr>
        <p:txBody>
          <a:bodyPr lIns="0" tIns="0" rIns="0" bIns="0" rtlCol="0" anchor="t">
            <a:spAutoFit/>
          </a:bodyPr>
          <a:lstStyle/>
          <a:p>
            <a:pPr algn="ctr">
              <a:lnSpc>
                <a:spcPts val="2970"/>
              </a:lnSpc>
            </a:pPr>
            <a:r>
              <a:rPr lang="en-US" sz="2475" b="1">
                <a:solidFill>
                  <a:srgbClr val="2DD4BF"/>
                </a:solidFill>
                <a:latin typeface="DejaVu Sans Bold"/>
                <a:ea typeface="DejaVu Sans Bold"/>
                <a:cs typeface="DejaVu Sans Bold"/>
                <a:sym typeface="DejaVu Sans Bold"/>
              </a:rPr>
              <a:t>2018</a:t>
            </a:r>
          </a:p>
        </p:txBody>
      </p:sp>
      <p:sp>
        <p:nvSpPr>
          <p:cNvPr id="14" name="TextBox 14"/>
          <p:cNvSpPr txBox="1"/>
          <p:nvPr/>
        </p:nvSpPr>
        <p:spPr>
          <a:xfrm>
            <a:off x="4857750" y="3633787"/>
            <a:ext cx="2428875" cy="695325"/>
          </a:xfrm>
          <a:prstGeom prst="rect">
            <a:avLst/>
          </a:prstGeom>
        </p:spPr>
        <p:txBody>
          <a:bodyPr lIns="0" tIns="0" rIns="0" bIns="0" rtlCol="0" anchor="t">
            <a:spAutoFit/>
          </a:bodyPr>
          <a:lstStyle/>
          <a:p>
            <a:pPr algn="ctr">
              <a:lnSpc>
                <a:spcPts val="2295"/>
              </a:lnSpc>
            </a:pPr>
            <a:r>
              <a:rPr lang="en-US" sz="1912" b="1">
                <a:solidFill>
                  <a:srgbClr val="EAF2F8"/>
                </a:solidFill>
                <a:latin typeface="DejaVu Sans Bold"/>
                <a:ea typeface="DejaVu Sans Bold"/>
                <a:cs typeface="DejaVu Sans Bold"/>
                <a:sym typeface="DejaVu Sans Bold"/>
              </a:rPr>
              <a:t>Chowdhury: online BCI</a:t>
            </a:r>
          </a:p>
        </p:txBody>
      </p:sp>
      <p:sp>
        <p:nvSpPr>
          <p:cNvPr id="15" name="TextBox 15"/>
          <p:cNvSpPr txBox="1"/>
          <p:nvPr/>
        </p:nvSpPr>
        <p:spPr>
          <a:xfrm>
            <a:off x="4857750" y="5324475"/>
            <a:ext cx="2428875" cy="93345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μ/β-band CSP</a:t>
            </a:r>
          </a:p>
          <a:p>
            <a:pPr algn="l">
              <a:lnSpc>
                <a:spcPts val="2025"/>
              </a:lnSpc>
            </a:pPr>
            <a:r>
              <a:rPr lang="en-US" sz="1687">
                <a:solidFill>
                  <a:srgbClr val="9CB0C3"/>
                </a:solidFill>
                <a:latin typeface="DejaVu Sans Light"/>
                <a:ea typeface="DejaVu Sans Light"/>
                <a:cs typeface="DejaVu Sans Light"/>
                <a:sym typeface="DejaVu Sans Light"/>
              </a:rPr>
              <a:t>SVM and feedback</a:t>
            </a:r>
          </a:p>
        </p:txBody>
      </p:sp>
      <p:grpSp>
        <p:nvGrpSpPr>
          <p:cNvPr id="16" name="Group 16"/>
          <p:cNvGrpSpPr/>
          <p:nvPr/>
        </p:nvGrpSpPr>
        <p:grpSpPr>
          <a:xfrm>
            <a:off x="9858375" y="4514850"/>
            <a:ext cx="400050" cy="400050"/>
            <a:chOff x="0" y="0"/>
            <a:chExt cx="533400" cy="533400"/>
          </a:xfrm>
        </p:grpSpPr>
        <p:sp>
          <p:nvSpPr>
            <p:cNvPr id="17" name="Freeform 17"/>
            <p:cNvSpPr/>
            <p:nvPr/>
          </p:nvSpPr>
          <p:spPr>
            <a:xfrm>
              <a:off x="0" y="0"/>
              <a:ext cx="533400" cy="533400"/>
            </a:xfrm>
            <a:custGeom>
              <a:avLst/>
              <a:gdLst/>
              <a:ahLst/>
              <a:cxnLst/>
              <a:rect l="l" t="t" r="r" b="b"/>
              <a:pathLst>
                <a:path w="533400" h="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F5B942"/>
            </a:solidFill>
          </p:spPr>
          <p:txBody>
            <a:bodyPr/>
            <a:lstStyle/>
            <a:p>
              <a:endParaRPr lang="en-GB"/>
            </a:p>
          </p:txBody>
        </p:sp>
      </p:grpSp>
      <p:sp>
        <p:nvSpPr>
          <p:cNvPr id="18" name="TextBox 18"/>
          <p:cNvSpPr txBox="1"/>
          <p:nvPr/>
        </p:nvSpPr>
        <p:spPr>
          <a:xfrm>
            <a:off x="9486900" y="3009900"/>
            <a:ext cx="1714500" cy="533400"/>
          </a:xfrm>
          <a:prstGeom prst="rect">
            <a:avLst/>
          </a:prstGeom>
        </p:spPr>
        <p:txBody>
          <a:bodyPr lIns="0" tIns="0" rIns="0" bIns="0" rtlCol="0" anchor="t">
            <a:spAutoFit/>
          </a:bodyPr>
          <a:lstStyle/>
          <a:p>
            <a:pPr algn="ctr">
              <a:lnSpc>
                <a:spcPts val="2970"/>
              </a:lnSpc>
            </a:pPr>
            <a:r>
              <a:rPr lang="en-US" sz="2475" b="1">
                <a:solidFill>
                  <a:srgbClr val="F5B942"/>
                </a:solidFill>
                <a:latin typeface="DejaVu Sans Bold"/>
                <a:ea typeface="DejaVu Sans Bold"/>
                <a:cs typeface="DejaVu Sans Bold"/>
                <a:sym typeface="DejaVu Sans Bold"/>
              </a:rPr>
              <a:t>2019</a:t>
            </a:r>
          </a:p>
        </p:txBody>
      </p:sp>
      <p:sp>
        <p:nvSpPr>
          <p:cNvPr id="19" name="TextBox 19"/>
          <p:cNvSpPr txBox="1"/>
          <p:nvPr/>
        </p:nvSpPr>
        <p:spPr>
          <a:xfrm>
            <a:off x="8858250" y="3633787"/>
            <a:ext cx="2428875" cy="695325"/>
          </a:xfrm>
          <a:prstGeom prst="rect">
            <a:avLst/>
          </a:prstGeom>
        </p:spPr>
        <p:txBody>
          <a:bodyPr lIns="0" tIns="0" rIns="0" bIns="0" rtlCol="0" anchor="t">
            <a:spAutoFit/>
          </a:bodyPr>
          <a:lstStyle/>
          <a:p>
            <a:pPr algn="ctr">
              <a:lnSpc>
                <a:spcPts val="2295"/>
              </a:lnSpc>
            </a:pPr>
            <a:r>
              <a:rPr lang="en-US" sz="1912" b="1">
                <a:solidFill>
                  <a:srgbClr val="EAF2F8"/>
                </a:solidFill>
                <a:latin typeface="DejaVu Sans Bold"/>
                <a:ea typeface="DejaVu Sans Bold"/>
                <a:cs typeface="DejaVu Sans Bold"/>
                <a:sym typeface="DejaVu Sans Bold"/>
              </a:rPr>
              <a:t>Raza: CSE-UAEL</a:t>
            </a:r>
          </a:p>
        </p:txBody>
      </p:sp>
      <p:sp>
        <p:nvSpPr>
          <p:cNvPr id="20" name="TextBox 20"/>
          <p:cNvSpPr txBox="1"/>
          <p:nvPr/>
        </p:nvSpPr>
        <p:spPr>
          <a:xfrm>
            <a:off x="8858250" y="5324475"/>
            <a:ext cx="2428875" cy="933450"/>
          </a:xfrm>
          <a:prstGeom prst="rect">
            <a:avLst/>
          </a:prstGeom>
        </p:spPr>
        <p:txBody>
          <a:bodyPr lIns="0" tIns="0" rIns="0" bIns="0" rtlCol="0" anchor="t">
            <a:spAutoFit/>
          </a:bodyPr>
          <a:lstStyle/>
          <a:p>
            <a:pPr algn="ctr">
              <a:lnSpc>
                <a:spcPts val="2025"/>
              </a:lnSpc>
            </a:pPr>
            <a:r>
              <a:rPr lang="en-US" sz="1687">
                <a:solidFill>
                  <a:srgbClr val="9CB0C3"/>
                </a:solidFill>
                <a:latin typeface="DejaVu Sans Light"/>
                <a:ea typeface="DejaVu Sans Light"/>
                <a:cs typeface="DejaVu Sans Light"/>
                <a:sym typeface="DejaVu Sans Light"/>
              </a:rPr>
              <a:t>Two-stage CSE</a:t>
            </a:r>
          </a:p>
          <a:p>
            <a:pPr algn="ctr">
              <a:lnSpc>
                <a:spcPts val="2025"/>
              </a:lnSpc>
            </a:pPr>
            <a:r>
              <a:rPr lang="en-US" sz="1687">
                <a:solidFill>
                  <a:srgbClr val="9CB0C3"/>
                </a:solidFill>
                <a:latin typeface="DejaVu Sans Light"/>
                <a:ea typeface="DejaVu Sans Light"/>
                <a:cs typeface="DejaVu Sans Light"/>
                <a:sym typeface="DejaVu Sans Light"/>
              </a:rPr>
              <a:t>Adaptation context</a:t>
            </a:r>
          </a:p>
        </p:txBody>
      </p:sp>
      <p:grpSp>
        <p:nvGrpSpPr>
          <p:cNvPr id="21" name="Group 21"/>
          <p:cNvGrpSpPr/>
          <p:nvPr/>
        </p:nvGrpSpPr>
        <p:grpSpPr>
          <a:xfrm>
            <a:off x="13858875" y="4514850"/>
            <a:ext cx="400050" cy="400050"/>
            <a:chOff x="0" y="0"/>
            <a:chExt cx="533400" cy="533400"/>
          </a:xfrm>
        </p:grpSpPr>
        <p:sp>
          <p:nvSpPr>
            <p:cNvPr id="22" name="Freeform 22"/>
            <p:cNvSpPr/>
            <p:nvPr/>
          </p:nvSpPr>
          <p:spPr>
            <a:xfrm>
              <a:off x="0" y="0"/>
              <a:ext cx="533400" cy="533400"/>
            </a:xfrm>
            <a:custGeom>
              <a:avLst/>
              <a:gdLst/>
              <a:ahLst/>
              <a:cxnLst/>
              <a:rect l="l" t="t" r="r" b="b"/>
              <a:pathLst>
                <a:path w="533400" h="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64D98B"/>
            </a:solidFill>
          </p:spPr>
          <p:txBody>
            <a:bodyPr/>
            <a:lstStyle/>
            <a:p>
              <a:endParaRPr lang="en-GB"/>
            </a:p>
          </p:txBody>
        </p:sp>
      </p:grpSp>
      <p:sp>
        <p:nvSpPr>
          <p:cNvPr id="23" name="TextBox 23"/>
          <p:cNvSpPr txBox="1"/>
          <p:nvPr/>
        </p:nvSpPr>
        <p:spPr>
          <a:xfrm>
            <a:off x="13487400" y="3009900"/>
            <a:ext cx="1714500" cy="533400"/>
          </a:xfrm>
          <a:prstGeom prst="rect">
            <a:avLst/>
          </a:prstGeom>
        </p:spPr>
        <p:txBody>
          <a:bodyPr lIns="0" tIns="0" rIns="0" bIns="0" rtlCol="0" anchor="t">
            <a:spAutoFit/>
          </a:bodyPr>
          <a:lstStyle/>
          <a:p>
            <a:pPr algn="ctr">
              <a:lnSpc>
                <a:spcPts val="2970"/>
              </a:lnSpc>
            </a:pPr>
            <a:r>
              <a:rPr lang="en-US" sz="2475" b="1">
                <a:solidFill>
                  <a:srgbClr val="64D98B"/>
                </a:solidFill>
                <a:latin typeface="DejaVu Sans Bold"/>
                <a:ea typeface="DejaVu Sans Bold"/>
                <a:cs typeface="DejaVu Sans Bold"/>
                <a:sym typeface="DejaVu Sans Bold"/>
              </a:rPr>
              <a:t>Related</a:t>
            </a:r>
          </a:p>
        </p:txBody>
      </p:sp>
      <p:sp>
        <p:nvSpPr>
          <p:cNvPr id="24" name="TextBox 24"/>
          <p:cNvSpPr txBox="1"/>
          <p:nvPr/>
        </p:nvSpPr>
        <p:spPr>
          <a:xfrm>
            <a:off x="12858750" y="3633787"/>
            <a:ext cx="2428875" cy="695325"/>
          </a:xfrm>
          <a:prstGeom prst="rect">
            <a:avLst/>
          </a:prstGeom>
        </p:spPr>
        <p:txBody>
          <a:bodyPr lIns="0" tIns="0" rIns="0" bIns="0" rtlCol="0" anchor="t">
            <a:spAutoFit/>
          </a:bodyPr>
          <a:lstStyle/>
          <a:p>
            <a:pPr algn="ctr">
              <a:lnSpc>
                <a:spcPts val="2295"/>
              </a:lnSpc>
            </a:pPr>
            <a:r>
              <a:rPr lang="en-US" sz="1912" b="1">
                <a:solidFill>
                  <a:srgbClr val="EAF2F8"/>
                </a:solidFill>
                <a:latin typeface="DejaVu Sans Bold"/>
                <a:ea typeface="DejaVu Sans Bold"/>
                <a:cs typeface="DejaVu Sans Bold"/>
                <a:sym typeface="DejaVu Sans Bold"/>
              </a:rPr>
              <a:t>Rao and Heyden</a:t>
            </a:r>
          </a:p>
        </p:txBody>
      </p:sp>
      <p:sp>
        <p:nvSpPr>
          <p:cNvPr id="25" name="TextBox 25"/>
          <p:cNvSpPr txBox="1"/>
          <p:nvPr/>
        </p:nvSpPr>
        <p:spPr>
          <a:xfrm>
            <a:off x="12858750" y="5324475"/>
            <a:ext cx="2428875" cy="93345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PCA subspaces</a:t>
            </a:r>
          </a:p>
          <a:p>
            <a:pPr algn="l">
              <a:lnSpc>
                <a:spcPts val="2025"/>
              </a:lnSpc>
            </a:pPr>
            <a:r>
              <a:rPr lang="en-US" sz="1687">
                <a:solidFill>
                  <a:srgbClr val="9CB0C3"/>
                </a:solidFill>
                <a:latin typeface="DejaVu Sans Light"/>
                <a:ea typeface="DejaVu Sans Light"/>
                <a:cs typeface="DejaVu Sans Light"/>
                <a:sym typeface="DejaVu Sans Light"/>
              </a:rPr>
              <a:t>Residual monitoring</a:t>
            </a:r>
          </a:p>
        </p:txBody>
      </p:sp>
      <p:sp>
        <p:nvSpPr>
          <p:cNvPr id="26" name="TextBox 26"/>
          <p:cNvSpPr txBox="1"/>
          <p:nvPr/>
        </p:nvSpPr>
        <p:spPr>
          <a:xfrm>
            <a:off x="1857375" y="8237982"/>
            <a:ext cx="14573250" cy="773430"/>
          </a:xfrm>
          <a:prstGeom prst="rect">
            <a:avLst/>
          </a:prstGeom>
        </p:spPr>
        <p:txBody>
          <a:bodyPr lIns="0" tIns="0" rIns="0" bIns="0" rtlCol="0" anchor="t">
            <a:spAutoFit/>
          </a:bodyPr>
          <a:lstStyle/>
          <a:p>
            <a:pPr algn="l">
              <a:lnSpc>
                <a:spcPts val="2700"/>
              </a:lnSpc>
            </a:pPr>
            <a:r>
              <a:rPr lang="en-US" sz="2250" b="1">
                <a:solidFill>
                  <a:srgbClr val="EAF2F8"/>
                </a:solidFill>
                <a:latin typeface="DejaVu Sans Bold"/>
                <a:ea typeface="DejaVu Sans Bold"/>
                <a:cs typeface="DejaVu Sans Bold"/>
                <a:sym typeface="DejaVu Sans Bold"/>
              </a:rPr>
              <a:t>Alippi et al. (2017): hierarchical detection provides a related framework for warning and validation.</a:t>
            </a:r>
          </a:p>
        </p:txBody>
      </p:sp>
      <p:sp>
        <p:nvSpPr>
          <p:cNvPr id="27" name="TextBox 27"/>
          <p:cNvSpPr txBox="1"/>
          <p:nvPr/>
        </p:nvSpPr>
        <p:spPr>
          <a:xfrm>
            <a:off x="914400" y="9763125"/>
            <a:ext cx="6143625" cy="266700"/>
          </a:xfrm>
          <a:prstGeom prst="rect">
            <a:avLst/>
          </a:prstGeom>
        </p:spPr>
        <p:txBody>
          <a:bodyPr lIns="0" tIns="0" rIns="0" bIns="0" rtlCol="0" anchor="t">
            <a:spAutoFit/>
          </a:bodyPr>
          <a:lstStyle/>
          <a:p>
            <a:pPr algn="l">
              <a:lnSpc>
                <a:spcPts val="1485"/>
              </a:lnSpc>
            </a:pPr>
            <a:r>
              <a:rPr lang="en-US" sz="1237">
                <a:solidFill>
                  <a:srgbClr val="9CB0C3"/>
                </a:solidFill>
                <a:latin typeface="DejaVu Sans Light"/>
                <a:ea typeface="DejaVu Sans Light"/>
                <a:cs typeface="DejaVu Sans Light"/>
                <a:sym typeface="DejaVu Sans Light"/>
              </a:rPr>
              <a:t>hlin863/ewma_covariate_shift_demo</a:t>
            </a:r>
          </a:p>
        </p:txBody>
      </p:sp>
      <p:sp>
        <p:nvSpPr>
          <p:cNvPr id="28" name="TextBox 28"/>
          <p:cNvSpPr txBox="1"/>
          <p:nvPr/>
        </p:nvSpPr>
        <p:spPr>
          <a:xfrm>
            <a:off x="16573500" y="9734550"/>
            <a:ext cx="800100" cy="295275"/>
          </a:xfrm>
          <a:prstGeom prst="rect">
            <a:avLst/>
          </a:prstGeom>
        </p:spPr>
        <p:txBody>
          <a:bodyPr lIns="0" tIns="0" rIns="0" bIns="0" rtlCol="0" anchor="t">
            <a:spAutoFit/>
          </a:bodyPr>
          <a:lstStyle/>
          <a:p>
            <a:pPr algn="l">
              <a:lnSpc>
                <a:spcPts val="2267"/>
              </a:lnSpc>
            </a:pPr>
            <a:r>
              <a:rPr lang="en-US" sz="1889">
                <a:solidFill>
                  <a:srgbClr val="000000"/>
                </a:solidFill>
                <a:latin typeface="Calibri (MS)"/>
                <a:ea typeface="Calibri (MS)"/>
                <a:cs typeface="Calibri (MS)"/>
                <a:sym typeface="Calibri (MS)"/>
              </a:rPr>
              <a:t>03</a:t>
            </a:r>
          </a:p>
        </p:txBody>
      </p:sp>
      <p:grpSp>
        <p:nvGrpSpPr>
          <p:cNvPr id="29" name="Group 29"/>
          <p:cNvGrpSpPr/>
          <p:nvPr/>
        </p:nvGrpSpPr>
        <p:grpSpPr>
          <a:xfrm>
            <a:off x="10515600" y="6436994"/>
            <a:ext cx="6433185" cy="1398573"/>
            <a:chOff x="0" y="0"/>
            <a:chExt cx="7614920" cy="1342136"/>
          </a:xfrm>
        </p:grpSpPr>
        <p:sp>
          <p:nvSpPr>
            <p:cNvPr id="30" name="Freeform 30"/>
            <p:cNvSpPr/>
            <p:nvPr/>
          </p:nvSpPr>
          <p:spPr>
            <a:xfrm>
              <a:off x="0" y="0"/>
              <a:ext cx="7614920" cy="1342136"/>
            </a:xfrm>
            <a:custGeom>
              <a:avLst/>
              <a:gdLst/>
              <a:ahLst/>
              <a:cxnLst/>
              <a:rect l="l" t="t" r="r" b="b"/>
              <a:pathLst>
                <a:path w="7614920" h="1342136">
                  <a:moveTo>
                    <a:pt x="0" y="223647"/>
                  </a:moveTo>
                  <a:cubicBezTo>
                    <a:pt x="0" y="100203"/>
                    <a:pt x="100203" y="0"/>
                    <a:pt x="223647" y="0"/>
                  </a:cubicBezTo>
                  <a:lnTo>
                    <a:pt x="7391273" y="0"/>
                  </a:lnTo>
                  <a:cubicBezTo>
                    <a:pt x="7514844" y="0"/>
                    <a:pt x="7614920" y="100203"/>
                    <a:pt x="7614920" y="223647"/>
                  </a:cubicBezTo>
                  <a:lnTo>
                    <a:pt x="7614920" y="1118489"/>
                  </a:lnTo>
                  <a:cubicBezTo>
                    <a:pt x="7614920" y="1242060"/>
                    <a:pt x="7514717" y="1342136"/>
                    <a:pt x="7391273" y="1342136"/>
                  </a:cubicBezTo>
                  <a:lnTo>
                    <a:pt x="223647" y="1342136"/>
                  </a:lnTo>
                  <a:cubicBezTo>
                    <a:pt x="100203" y="1342136"/>
                    <a:pt x="0" y="1241933"/>
                    <a:pt x="0" y="1118489"/>
                  </a:cubicBezTo>
                  <a:close/>
                </a:path>
              </a:pathLst>
            </a:custGeom>
            <a:solidFill>
              <a:srgbClr val="091A2B"/>
            </a:solidFill>
            <a:ln w="19050" cap="sq">
              <a:solidFill>
                <a:srgbClr val="A56AFF"/>
              </a:solidFill>
              <a:prstDash val="solid"/>
              <a:miter/>
            </a:ln>
          </p:spPr>
          <p:txBody>
            <a:bodyPr/>
            <a:lstStyle/>
            <a:p>
              <a:endParaRPr lang="en-GB"/>
            </a:p>
          </p:txBody>
        </p:sp>
      </p:grpSp>
      <p:sp>
        <p:nvSpPr>
          <p:cNvPr id="31" name="TextBox 31"/>
          <p:cNvSpPr txBox="1"/>
          <p:nvPr/>
        </p:nvSpPr>
        <p:spPr>
          <a:xfrm>
            <a:off x="10744200" y="6636183"/>
            <a:ext cx="5143500" cy="228981"/>
          </a:xfrm>
          <a:prstGeom prst="rect">
            <a:avLst/>
          </a:prstGeom>
        </p:spPr>
        <p:txBody>
          <a:bodyPr lIns="0" tIns="0" rIns="0" bIns="0" rtlCol="0" anchor="t">
            <a:spAutoFit/>
          </a:bodyPr>
          <a:lstStyle/>
          <a:p>
            <a:pPr algn="l">
              <a:lnSpc>
                <a:spcPts val="1512"/>
              </a:lnSpc>
            </a:pPr>
            <a:r>
              <a:rPr lang="en-US" sz="1260" b="1" dirty="0">
                <a:solidFill>
                  <a:srgbClr val="A56AFF"/>
                </a:solidFill>
                <a:latin typeface="Aptos Bold"/>
                <a:ea typeface="Aptos Bold"/>
                <a:cs typeface="Aptos Bold"/>
                <a:sym typeface="Aptos Bold"/>
              </a:rPr>
              <a:t>Heyden et al. (2024): reconstruction loss basis</a:t>
            </a:r>
          </a:p>
        </p:txBody>
      </p:sp>
      <mc:AlternateContent xmlns:mc="http://schemas.openxmlformats.org/markup-compatibility/2006">
        <mc:Choice xmlns:a14="http://schemas.microsoft.com/office/drawing/2010/main" Requires="a14">
          <p:sp>
            <p:nvSpPr>
              <p:cNvPr id="35" name="EDITABLE OfficeMath | MSE over d dimensions"/>
              <p:cNvSpPr txBox="1"/>
              <p:nvPr/>
            </p:nvSpPr>
            <p:spPr>
              <a:xfrm>
                <a:off x="10744200" y="6987766"/>
                <a:ext cx="3678699" cy="725199"/>
              </a:xfrm>
              <a:prstGeom prst="rect">
                <a:avLst/>
              </a:prstGeom>
              <a:no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sSub>
                        <m:sSubPr>
                          <m:ctrlPr>
                            <a:rPr lang="ar-AE" sz="1600" smtClean="0">
                              <a:solidFill>
                                <a:schemeClr val="bg1"/>
                              </a:solidFill>
                              <a:latin typeface="Cambria Math" panose="02040503050406030204" pitchFamily="18" charset="0"/>
                            </a:rPr>
                          </m:ctrlPr>
                        </m:sSubPr>
                        <m:e>
                          <m:r>
                            <a:rPr lang="ar-AE" sz="1600">
                              <a:solidFill>
                                <a:schemeClr val="bg1"/>
                              </a:solidFill>
                              <a:latin typeface="Cambria Math" panose="02040503050406030204" pitchFamily="18" charset="0"/>
                            </a:rPr>
                            <m:t>𝐿</m:t>
                          </m:r>
                        </m:e>
                        <m:sub>
                          <m:r>
                            <a:rPr lang="ar-AE" sz="1600">
                              <a:solidFill>
                                <a:schemeClr val="bg1"/>
                              </a:solidFill>
                              <a:latin typeface="Cambria Math" panose="02040503050406030204" pitchFamily="18" charset="0"/>
                            </a:rPr>
                            <m:t>𝑡</m:t>
                          </m:r>
                        </m:sub>
                      </m:sSub>
                      <m:r>
                        <a:rPr lang="ar-AE" sz="1600">
                          <a:solidFill>
                            <a:schemeClr val="bg1"/>
                          </a:solidFill>
                          <a:latin typeface="Cambria Math" panose="02040503050406030204" pitchFamily="18" charset="0"/>
                        </a:rPr>
                        <m:t> = </m:t>
                      </m:r>
                      <m:r>
                        <a:rPr lang="ar-AE" sz="1600">
                          <a:solidFill>
                            <a:schemeClr val="bg1"/>
                          </a:solidFill>
                          <a:latin typeface="Cambria Math" panose="02040503050406030204" pitchFamily="18" charset="0"/>
                        </a:rPr>
                        <m:t>𝑀𝑆𝐸</m:t>
                      </m:r>
                      <m:r>
                        <a:rPr lang="ar-AE" sz="1600">
                          <a:solidFill>
                            <a:schemeClr val="bg1"/>
                          </a:solidFill>
                          <a:latin typeface="Cambria Math" panose="02040503050406030204" pitchFamily="18" charset="0"/>
                        </a:rPr>
                        <m:t>(</m:t>
                      </m:r>
                      <m:sSub>
                        <m:sSubPr>
                          <m:ctrlPr>
                            <a:rPr lang="ar-AE" sz="1600" i="1">
                              <a:solidFill>
                                <a:schemeClr val="bg1"/>
                              </a:solidFill>
                              <a:latin typeface="Cambria Math" panose="02040503050406030204" pitchFamily="18" charset="0"/>
                            </a:rPr>
                          </m:ctrlPr>
                        </m:sSubPr>
                        <m:e>
                          <m:r>
                            <a:rPr lang="ar-AE" sz="1600">
                              <a:solidFill>
                                <a:schemeClr val="bg1"/>
                              </a:solidFill>
                              <a:latin typeface="Cambria Math" panose="02040503050406030204" pitchFamily="18" charset="0"/>
                            </a:rPr>
                            <m:t>𝑋</m:t>
                          </m:r>
                        </m:e>
                        <m:sub>
                          <m:r>
                            <a:rPr lang="ar-AE" sz="1600">
                              <a:solidFill>
                                <a:schemeClr val="bg1"/>
                              </a:solidFill>
                              <a:latin typeface="Cambria Math" panose="02040503050406030204" pitchFamily="18" charset="0"/>
                            </a:rPr>
                            <m:t>𝑡</m:t>
                          </m:r>
                        </m:sub>
                      </m:sSub>
                      <m:r>
                        <a:rPr lang="ar-AE" sz="1600">
                          <a:solidFill>
                            <a:schemeClr val="bg1"/>
                          </a:solidFill>
                          <a:latin typeface="Cambria Math" panose="02040503050406030204" pitchFamily="18" charset="0"/>
                        </a:rPr>
                        <m:t>, </m:t>
                      </m:r>
                      <m:acc>
                        <m:accPr>
                          <m:chr m:val="̂"/>
                          <m:ctrlPr>
                            <a:rPr lang="ar-AE" sz="1600" i="1">
                              <a:solidFill>
                                <a:schemeClr val="bg1"/>
                              </a:solidFill>
                              <a:latin typeface="Cambria Math" panose="02040503050406030204" pitchFamily="18" charset="0"/>
                            </a:rPr>
                          </m:ctrlPr>
                        </m:accPr>
                        <m:e>
                          <m:sSub>
                            <m:sSubPr>
                              <m:ctrlPr>
                                <a:rPr lang="ar-AE" sz="1600" i="1">
                                  <a:solidFill>
                                    <a:schemeClr val="bg1"/>
                                  </a:solidFill>
                                  <a:latin typeface="Cambria Math" panose="02040503050406030204" pitchFamily="18" charset="0"/>
                                </a:rPr>
                              </m:ctrlPr>
                            </m:sSubPr>
                            <m:e>
                              <m:r>
                                <a:rPr lang="ar-AE" sz="1600">
                                  <a:solidFill>
                                    <a:schemeClr val="bg1"/>
                                  </a:solidFill>
                                  <a:latin typeface="Cambria Math" panose="02040503050406030204" pitchFamily="18" charset="0"/>
                                </a:rPr>
                                <m:t>𝑋</m:t>
                              </m:r>
                            </m:e>
                            <m:sub>
                              <m:r>
                                <a:rPr lang="ar-AE" sz="1600">
                                  <a:solidFill>
                                    <a:schemeClr val="bg1"/>
                                  </a:solidFill>
                                  <a:latin typeface="Cambria Math" panose="02040503050406030204" pitchFamily="18" charset="0"/>
                                </a:rPr>
                                <m:t>𝑡</m:t>
                              </m:r>
                            </m:sub>
                          </m:sSub>
                        </m:e>
                      </m:acc>
                      <m:r>
                        <a:rPr lang="ar-AE" sz="1600">
                          <a:solidFill>
                            <a:schemeClr val="bg1"/>
                          </a:solidFill>
                          <a:latin typeface="Cambria Math" panose="02040503050406030204" pitchFamily="18" charset="0"/>
                        </a:rPr>
                        <m:t>) = </m:t>
                      </m:r>
                      <m:f>
                        <m:fPr>
                          <m:ctrlPr>
                            <a:rPr lang="ar-AE" sz="1600" i="1">
                              <a:solidFill>
                                <a:schemeClr val="bg1"/>
                              </a:solidFill>
                              <a:latin typeface="Cambria Math" panose="02040503050406030204" pitchFamily="18" charset="0"/>
                            </a:rPr>
                          </m:ctrlPr>
                        </m:fPr>
                        <m:num>
                          <m:r>
                            <a:rPr lang="ar-AE" sz="1600">
                              <a:solidFill>
                                <a:schemeClr val="bg1"/>
                              </a:solidFill>
                              <a:latin typeface="Cambria Math" panose="02040503050406030204" pitchFamily="18" charset="0"/>
                            </a:rPr>
                            <m:t>1</m:t>
                          </m:r>
                        </m:num>
                        <m:den>
                          <m:r>
                            <a:rPr lang="ar-AE" sz="1600">
                              <a:solidFill>
                                <a:schemeClr val="bg1"/>
                              </a:solidFill>
                              <a:latin typeface="Cambria Math" panose="02040503050406030204" pitchFamily="18" charset="0"/>
                            </a:rPr>
                            <m:t>𝑑</m:t>
                          </m:r>
                        </m:den>
                      </m:f>
                      <m:nary>
                        <m:naryPr>
                          <m:chr m:val="∑"/>
                          <m:ctrlPr>
                            <a:rPr lang="ar-AE" sz="1600" i="1">
                              <a:solidFill>
                                <a:schemeClr val="bg1"/>
                              </a:solidFill>
                              <a:latin typeface="Cambria Math" panose="02040503050406030204" pitchFamily="18" charset="0"/>
                            </a:rPr>
                          </m:ctrlPr>
                        </m:naryPr>
                        <m:sub>
                          <m:r>
                            <a:rPr lang="ar-AE" sz="1600">
                              <a:solidFill>
                                <a:schemeClr val="bg1"/>
                              </a:solidFill>
                              <a:latin typeface="Cambria Math" panose="02040503050406030204" pitchFamily="18" charset="0"/>
                            </a:rPr>
                            <m:t>𝑗</m:t>
                          </m:r>
                          <m:r>
                            <a:rPr lang="ar-AE" sz="1600">
                              <a:solidFill>
                                <a:schemeClr val="bg1"/>
                              </a:solidFill>
                              <a:latin typeface="Cambria Math" panose="02040503050406030204" pitchFamily="18" charset="0"/>
                            </a:rPr>
                            <m:t>=</m:t>
                          </m:r>
                          <m:r>
                            <a:rPr lang="ar-AE" sz="1600">
                              <a:solidFill>
                                <a:schemeClr val="bg1"/>
                              </a:solidFill>
                              <a:latin typeface="Cambria Math" panose="02040503050406030204" pitchFamily="18" charset="0"/>
                            </a:rPr>
                            <m:t>1</m:t>
                          </m:r>
                        </m:sub>
                        <m:sup>
                          <m:r>
                            <a:rPr lang="ar-AE" sz="1600">
                              <a:solidFill>
                                <a:schemeClr val="bg1"/>
                              </a:solidFill>
                              <a:latin typeface="Cambria Math" panose="02040503050406030204" pitchFamily="18" charset="0"/>
                            </a:rPr>
                            <m:t>𝑑</m:t>
                          </m:r>
                        </m:sup>
                        <m:e>
                          <m:r>
                            <a:rPr lang="ar-AE" sz="1600">
                              <a:solidFill>
                                <a:schemeClr val="bg1"/>
                              </a:solidFill>
                              <a:latin typeface="Cambria Math" panose="02040503050406030204" pitchFamily="18" charset="0"/>
                            </a:rPr>
                            <m:t>(</m:t>
                          </m:r>
                          <m:sSub>
                            <m:sSubPr>
                              <m:ctrlPr>
                                <a:rPr lang="ar-AE" sz="1600" i="1">
                                  <a:solidFill>
                                    <a:schemeClr val="bg1"/>
                                  </a:solidFill>
                                  <a:latin typeface="Cambria Math" panose="02040503050406030204" pitchFamily="18" charset="0"/>
                                </a:rPr>
                              </m:ctrlPr>
                            </m:sSubPr>
                            <m:e>
                              <m:r>
                                <a:rPr lang="ar-AE" sz="1600">
                                  <a:solidFill>
                                    <a:schemeClr val="bg1"/>
                                  </a:solidFill>
                                  <a:latin typeface="Cambria Math" panose="02040503050406030204" pitchFamily="18" charset="0"/>
                                </a:rPr>
                                <m:t>𝑋</m:t>
                              </m:r>
                            </m:e>
                            <m:sub>
                              <m:r>
                                <a:rPr lang="ar-AE" sz="1600">
                                  <a:solidFill>
                                    <a:schemeClr val="bg1"/>
                                  </a:solidFill>
                                  <a:latin typeface="Cambria Math" panose="02040503050406030204" pitchFamily="18" charset="0"/>
                                </a:rPr>
                                <m:t>𝑡</m:t>
                              </m:r>
                              <m:r>
                                <a:rPr lang="ar-AE" sz="1600">
                                  <a:solidFill>
                                    <a:schemeClr val="bg1"/>
                                  </a:solidFill>
                                  <a:latin typeface="Cambria Math" panose="02040503050406030204" pitchFamily="18" charset="0"/>
                                </a:rPr>
                                <m:t>,</m:t>
                              </m:r>
                              <m:r>
                                <a:rPr lang="ar-AE" sz="1600">
                                  <a:solidFill>
                                    <a:schemeClr val="bg1"/>
                                  </a:solidFill>
                                  <a:latin typeface="Cambria Math" panose="02040503050406030204" pitchFamily="18" charset="0"/>
                                </a:rPr>
                                <m:t>𝑗</m:t>
                              </m:r>
                            </m:sub>
                          </m:sSub>
                          <m:r>
                            <a:rPr lang="ar-AE" sz="1600">
                              <a:solidFill>
                                <a:schemeClr val="bg1"/>
                              </a:solidFill>
                              <a:latin typeface="Cambria Math" panose="02040503050406030204" pitchFamily="18" charset="0"/>
                            </a:rPr>
                            <m:t> − </m:t>
                          </m:r>
                          <m:acc>
                            <m:accPr>
                              <m:chr m:val="̂"/>
                              <m:ctrlPr>
                                <a:rPr lang="ar-AE" sz="1600" i="1">
                                  <a:solidFill>
                                    <a:schemeClr val="bg1"/>
                                  </a:solidFill>
                                  <a:latin typeface="Cambria Math" panose="02040503050406030204" pitchFamily="18" charset="0"/>
                                </a:rPr>
                              </m:ctrlPr>
                            </m:accPr>
                            <m:e>
                              <m:sSub>
                                <m:sSubPr>
                                  <m:ctrlPr>
                                    <a:rPr lang="ar-AE" sz="1600" i="1">
                                      <a:solidFill>
                                        <a:schemeClr val="bg1"/>
                                      </a:solidFill>
                                      <a:latin typeface="Cambria Math" panose="02040503050406030204" pitchFamily="18" charset="0"/>
                                    </a:rPr>
                                  </m:ctrlPr>
                                </m:sSubPr>
                                <m:e>
                                  <m:r>
                                    <a:rPr lang="ar-AE" sz="1600">
                                      <a:solidFill>
                                        <a:schemeClr val="bg1"/>
                                      </a:solidFill>
                                      <a:latin typeface="Cambria Math" panose="02040503050406030204" pitchFamily="18" charset="0"/>
                                    </a:rPr>
                                    <m:t>𝑋</m:t>
                                  </m:r>
                                </m:e>
                                <m:sub>
                                  <m:r>
                                    <a:rPr lang="ar-AE" sz="1600">
                                      <a:solidFill>
                                        <a:schemeClr val="bg1"/>
                                      </a:solidFill>
                                      <a:latin typeface="Cambria Math" panose="02040503050406030204" pitchFamily="18" charset="0"/>
                                    </a:rPr>
                                    <m:t>𝑡</m:t>
                                  </m:r>
                                  <m:r>
                                    <a:rPr lang="ar-AE" sz="1600">
                                      <a:solidFill>
                                        <a:schemeClr val="bg1"/>
                                      </a:solidFill>
                                      <a:latin typeface="Cambria Math" panose="02040503050406030204" pitchFamily="18" charset="0"/>
                                    </a:rPr>
                                    <m:t>,</m:t>
                                  </m:r>
                                  <m:r>
                                    <a:rPr lang="ar-AE" sz="1600">
                                      <a:solidFill>
                                        <a:schemeClr val="bg1"/>
                                      </a:solidFill>
                                      <a:latin typeface="Cambria Math" panose="02040503050406030204" pitchFamily="18" charset="0"/>
                                    </a:rPr>
                                    <m:t>𝑗</m:t>
                                  </m:r>
                                </m:sub>
                              </m:sSub>
                            </m:e>
                          </m:acc>
                          <m:sSup>
                            <m:sSupPr>
                              <m:ctrlPr>
                                <a:rPr lang="ar-AE" sz="1600" i="1">
                                  <a:solidFill>
                                    <a:schemeClr val="bg1"/>
                                  </a:solidFill>
                                  <a:latin typeface="Cambria Math" panose="02040503050406030204" pitchFamily="18" charset="0"/>
                                </a:rPr>
                              </m:ctrlPr>
                            </m:sSupPr>
                            <m:e>
                              <m:r>
                                <a:rPr lang="ar-AE" sz="1600">
                                  <a:solidFill>
                                    <a:schemeClr val="bg1"/>
                                  </a:solidFill>
                                  <a:latin typeface="Cambria Math" panose="02040503050406030204" pitchFamily="18" charset="0"/>
                                </a:rPr>
                                <m:t>)</m:t>
                              </m:r>
                            </m:e>
                            <m:sup>
                              <m:r>
                                <a:rPr lang="ar-AE" sz="1600">
                                  <a:solidFill>
                                    <a:schemeClr val="bg1"/>
                                  </a:solidFill>
                                  <a:latin typeface="Cambria Math" panose="02040503050406030204" pitchFamily="18" charset="0"/>
                                </a:rPr>
                                <m:t>2</m:t>
                              </m:r>
                            </m:sup>
                          </m:sSup>
                        </m:e>
                      </m:nary>
                    </m:oMath>
                  </m:oMathPara>
                </a14:m>
                <a:endParaRPr lang="ar-AE" sz="1600" dirty="0">
                  <a:solidFill>
                    <a:schemeClr val="bg1"/>
                  </a:solidFill>
                </a:endParaRPr>
              </a:p>
            </p:txBody>
          </p:sp>
        </mc:Choice>
        <mc:Fallback>
          <p:sp>
            <p:nvSpPr>
              <p:cNvPr id="35" name="EDITABLE OfficeMath | MSE over d dimensions"/>
              <p:cNvSpPr txBox="1">
                <a:spLocks noRot="1" noChangeAspect="1" noMove="1" noResize="1" noEditPoints="1" noAdjustHandles="1" noChangeArrowheads="1" noChangeShapeType="1" noTextEdit="1"/>
              </p:cNvSpPr>
              <p:nvPr/>
            </p:nvSpPr>
            <p:spPr>
              <a:xfrm>
                <a:off x="10744200" y="6987766"/>
                <a:ext cx="3678699" cy="725199"/>
              </a:xfrm>
              <a:prstGeom prst="rect">
                <a:avLst/>
              </a:prstGeom>
              <a:blipFill>
                <a:blip r:embed="rId3"/>
                <a:stretch>
                  <a:fillRect/>
                </a:stretch>
              </a:blipFill>
            </p:spPr>
            <p:txBody>
              <a:bodyPr/>
              <a:lstStyle/>
              <a:p>
                <a:r>
                  <a:rPr lang="en-GB">
                    <a:noFill/>
                  </a:rPr>
                  <a:t> </a:t>
                </a:r>
              </a:p>
            </p:txBody>
          </p:sp>
        </mc:Fallback>
      </mc:AlternateContent>
      <p:sp>
        <p:nvSpPr>
          <p:cNvPr id="34" name="TextBox 34"/>
          <p:cNvSpPr txBox="1"/>
          <p:nvPr/>
        </p:nvSpPr>
        <p:spPr>
          <a:xfrm>
            <a:off x="1028700" y="6414135"/>
            <a:ext cx="9326880" cy="1015365"/>
          </a:xfrm>
          <a:prstGeom prst="rect">
            <a:avLst/>
          </a:prstGeom>
        </p:spPr>
        <p:txBody>
          <a:bodyPr lIns="0" tIns="0" rIns="0" bIns="0" rtlCol="0" anchor="t">
            <a:spAutoFit/>
          </a:bodyPr>
          <a:lstStyle/>
          <a:p>
            <a:pPr algn="l">
              <a:lnSpc>
                <a:spcPts val="3060"/>
              </a:lnSpc>
            </a:pPr>
            <a:r>
              <a:rPr lang="en-US" sz="2550">
                <a:solidFill>
                  <a:srgbClr val="78D8CC"/>
                </a:solidFill>
                <a:latin typeface="DejaVu Sans Light"/>
                <a:ea typeface="DejaVu Sans Light"/>
                <a:cs typeface="DejaVu Sans Light"/>
                <a:sym typeface="DejaVu Sans Light"/>
              </a:rPr>
              <a:t>Diethe et al. (2019)</a:t>
            </a:r>
          </a:p>
          <a:p>
            <a:pPr algn="l">
              <a:lnSpc>
                <a:spcPts val="3060"/>
              </a:lnSpc>
            </a:pPr>
            <a:r>
              <a:rPr lang="en-US" sz="2550">
                <a:solidFill>
                  <a:srgbClr val="78D8CC"/>
                </a:solidFill>
                <a:latin typeface="DejaVu Sans Light"/>
                <a:ea typeface="DejaVu Sans Light"/>
                <a:cs typeface="DejaVu Sans Light"/>
                <a:sym typeface="DejaVu Sans Light"/>
              </a:rPr>
              <a:t>Monitoring, update policies and adaptation cost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LITERATURE INTEGRATION</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Park and Raza: two stages, different questions</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Read Park et al. (2023), Section 2.1 and second-order methodology; compare Raza et al. (2015) and Chowdhury et al. (2018).</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3007995"/>
            <a:ext cx="8042910" cy="5093970"/>
            <a:chOff x="0" y="0"/>
            <a:chExt cx="10723880" cy="6791960"/>
          </a:xfrm>
        </p:grpSpPr>
        <p:sp>
          <p:nvSpPr>
            <p:cNvPr id="7" name="Freeform 7"/>
            <p:cNvSpPr/>
            <p:nvPr/>
          </p:nvSpPr>
          <p:spPr>
            <a:xfrm>
              <a:off x="0" y="0"/>
              <a:ext cx="10723880" cy="6791960"/>
            </a:xfrm>
            <a:custGeom>
              <a:avLst/>
              <a:gdLst/>
              <a:ahLst/>
              <a:cxnLst/>
              <a:rect l="l" t="t" r="r" b="b"/>
              <a:pathLst>
                <a:path w="10723880" h="6791960">
                  <a:moveTo>
                    <a:pt x="0" y="1132078"/>
                  </a:moveTo>
                  <a:cubicBezTo>
                    <a:pt x="0" y="506857"/>
                    <a:pt x="506857" y="0"/>
                    <a:pt x="1132078" y="0"/>
                  </a:cubicBezTo>
                  <a:lnTo>
                    <a:pt x="9591802" y="0"/>
                  </a:lnTo>
                  <a:cubicBezTo>
                    <a:pt x="10217023" y="0"/>
                    <a:pt x="10723880" y="506857"/>
                    <a:pt x="10723880" y="1132078"/>
                  </a:cubicBezTo>
                  <a:lnTo>
                    <a:pt x="10723880" y="5659882"/>
                  </a:lnTo>
                  <a:cubicBezTo>
                    <a:pt x="10723880" y="6285103"/>
                    <a:pt x="10217023" y="6791960"/>
                    <a:pt x="9591802" y="6791960"/>
                  </a:cubicBezTo>
                  <a:lnTo>
                    <a:pt x="1132078" y="6791960"/>
                  </a:lnTo>
                  <a:cubicBezTo>
                    <a:pt x="506857" y="6791960"/>
                    <a:pt x="0" y="6285103"/>
                    <a:pt x="0" y="565988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214116"/>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PARK et al. (2023)</a:t>
            </a:r>
          </a:p>
        </p:txBody>
      </p:sp>
      <p:sp>
        <p:nvSpPr>
          <p:cNvPr id="9" name="TextBox 9"/>
          <p:cNvSpPr txBox="1"/>
          <p:nvPr/>
        </p:nvSpPr>
        <p:spPr>
          <a:xfrm>
            <a:off x="1220724" y="3831336"/>
            <a:ext cx="7438644" cy="4050792"/>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Step 1: aggregated feature-wise mean-CUSUM; estimate candidate split locations.</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If mean change is not established: investigate second-order structure using wavelets and dynamic PCA.</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Objective: type and location of structural change.</a:t>
            </a:r>
          </a:p>
        </p:txBody>
      </p:sp>
      <p:grpSp>
        <p:nvGrpSpPr>
          <p:cNvPr id="10" name="Group 10"/>
          <p:cNvGrpSpPr/>
          <p:nvPr/>
        </p:nvGrpSpPr>
        <p:grpSpPr>
          <a:xfrm>
            <a:off x="9317355" y="3007995"/>
            <a:ext cx="8042910" cy="5093970"/>
            <a:chOff x="0" y="0"/>
            <a:chExt cx="10723880" cy="6791960"/>
          </a:xfrm>
        </p:grpSpPr>
        <p:sp>
          <p:nvSpPr>
            <p:cNvPr id="11" name="Freeform 11"/>
            <p:cNvSpPr/>
            <p:nvPr/>
          </p:nvSpPr>
          <p:spPr>
            <a:xfrm>
              <a:off x="0" y="0"/>
              <a:ext cx="10723880" cy="6791960"/>
            </a:xfrm>
            <a:custGeom>
              <a:avLst/>
              <a:gdLst/>
              <a:ahLst/>
              <a:cxnLst/>
              <a:rect l="l" t="t" r="r" b="b"/>
              <a:pathLst>
                <a:path w="10723880" h="6791960">
                  <a:moveTo>
                    <a:pt x="0" y="1132078"/>
                  </a:moveTo>
                  <a:cubicBezTo>
                    <a:pt x="0" y="506857"/>
                    <a:pt x="506857" y="0"/>
                    <a:pt x="1132078" y="0"/>
                  </a:cubicBezTo>
                  <a:lnTo>
                    <a:pt x="9591802" y="0"/>
                  </a:lnTo>
                  <a:cubicBezTo>
                    <a:pt x="10217023" y="0"/>
                    <a:pt x="10723880" y="506857"/>
                    <a:pt x="10723880" y="1132078"/>
                  </a:cubicBezTo>
                  <a:lnTo>
                    <a:pt x="10723880" y="5659882"/>
                  </a:lnTo>
                  <a:cubicBezTo>
                    <a:pt x="10723880" y="6285103"/>
                    <a:pt x="10217023" y="6791960"/>
                    <a:pt x="9591802" y="6791960"/>
                  </a:cubicBezTo>
                  <a:lnTo>
                    <a:pt x="1132078" y="6791960"/>
                  </a:lnTo>
                  <a:cubicBezTo>
                    <a:pt x="506857" y="6791960"/>
                    <a:pt x="0" y="6285103"/>
                    <a:pt x="0" y="565988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214116"/>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RAZA / CHOWDHURY</a:t>
            </a:r>
          </a:p>
        </p:txBody>
      </p:sp>
      <p:sp>
        <p:nvSpPr>
          <p:cNvPr id="13" name="TextBox 13"/>
          <p:cNvSpPr txBox="1"/>
          <p:nvPr/>
        </p:nvSpPr>
        <p:spPr>
          <a:xfrm>
            <a:off x="9587484" y="3831336"/>
            <a:ext cx="7438644" cy="4050792"/>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Stage I: sequential EWMA score and control-limit warnings.</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Stage II: statistical validation (Hotelling T² or two-sample K–S, depending on formulation).</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Objective: validate shift warnings before adaptation.</a:t>
            </a:r>
          </a:p>
        </p:txBody>
      </p:sp>
      <p:sp>
        <p:nvSpPr>
          <p:cNvPr id="14" name="TextBox 14"/>
          <p:cNvSpPr txBox="1"/>
          <p:nvPr/>
        </p:nvSpPr>
        <p:spPr>
          <a:xfrm>
            <a:off x="1261872" y="8426196"/>
            <a:ext cx="16203168" cy="731520"/>
          </a:xfrm>
          <a:prstGeom prst="rect">
            <a:avLst/>
          </a:prstGeom>
        </p:spPr>
        <p:txBody>
          <a:bodyPr lIns="0" tIns="0" rIns="0" bIns="0" rtlCol="0" anchor="t">
            <a:spAutoFit/>
          </a:bodyPr>
          <a:lstStyle/>
          <a:p>
            <a:pPr algn="l">
              <a:lnSpc>
                <a:spcPts val="2700"/>
              </a:lnSpc>
            </a:pPr>
            <a:r>
              <a:rPr lang="en-US" sz="2250" b="1">
                <a:solidFill>
                  <a:srgbClr val="12233B"/>
                </a:solidFill>
                <a:latin typeface="Aptos Bold"/>
                <a:ea typeface="Aptos Bold"/>
                <a:cs typeface="Aptos Bold"/>
                <a:sym typeface="Aptos Bold"/>
              </a:rPr>
              <a:t>Key boundary: retrospective CUSUM peak ≠ calibrated online alarm; EWMA warning ≠ confirmed shift.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PARK READING INSIGHT</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Several CUSUM peaks ≠ several confirmed changes</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Interpret peak structure as competing change-point evidence, not as a multimodal EEG probability distribution.</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3021711"/>
            <a:ext cx="8042910" cy="5176266"/>
            <a:chOff x="0" y="0"/>
            <a:chExt cx="10723880" cy="6901688"/>
          </a:xfrm>
        </p:grpSpPr>
        <p:sp>
          <p:nvSpPr>
            <p:cNvPr id="7" name="Freeform 7"/>
            <p:cNvSpPr/>
            <p:nvPr/>
          </p:nvSpPr>
          <p:spPr>
            <a:xfrm>
              <a:off x="0" y="0"/>
              <a:ext cx="10723880" cy="6901688"/>
            </a:xfrm>
            <a:custGeom>
              <a:avLst/>
              <a:gdLst/>
              <a:ahLst/>
              <a:cxnLst/>
              <a:rect l="l" t="t" r="r" b="b"/>
              <a:pathLst>
                <a:path w="10723880" h="6901688">
                  <a:moveTo>
                    <a:pt x="0" y="1150366"/>
                  </a:moveTo>
                  <a:cubicBezTo>
                    <a:pt x="0" y="514985"/>
                    <a:pt x="514985" y="0"/>
                    <a:pt x="1150366" y="0"/>
                  </a:cubicBezTo>
                  <a:lnTo>
                    <a:pt x="9573514" y="0"/>
                  </a:lnTo>
                  <a:cubicBezTo>
                    <a:pt x="10208768" y="0"/>
                    <a:pt x="10723880" y="514985"/>
                    <a:pt x="10723880" y="1150366"/>
                  </a:cubicBezTo>
                  <a:lnTo>
                    <a:pt x="10723880" y="5751322"/>
                  </a:lnTo>
                  <a:cubicBezTo>
                    <a:pt x="10723880" y="6386576"/>
                    <a:pt x="10208895" y="6901688"/>
                    <a:pt x="9573514" y="6901688"/>
                  </a:cubicBezTo>
                  <a:lnTo>
                    <a:pt x="1150366" y="6901688"/>
                  </a:lnTo>
                  <a:cubicBezTo>
                    <a:pt x="514985" y="6901688"/>
                    <a:pt x="0" y="6386703"/>
                    <a:pt x="0" y="575132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227832"/>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What the curves provide</a:t>
            </a:r>
          </a:p>
        </p:txBody>
      </p:sp>
      <p:sp>
        <p:nvSpPr>
          <p:cNvPr id="9" name="TextBox 9"/>
          <p:cNvSpPr txBox="1"/>
          <p:nvPr/>
        </p:nvSpPr>
        <p:spPr>
          <a:xfrm>
            <a:off x="1220724" y="3845052"/>
            <a:ext cx="7438644" cy="1971932"/>
          </a:xfrm>
          <a:prstGeom prst="rect">
            <a:avLst/>
          </a:prstGeom>
        </p:spPr>
        <p:txBody>
          <a:bodyPr lIns="0" tIns="0" rIns="0" bIns="0" rtlCol="0" anchor="t">
            <a:spAutoFit/>
          </a:bodyPr>
          <a:lstStyle/>
          <a:p>
            <a:pPr algn="l">
              <a:lnSpc>
                <a:spcPts val="2160"/>
              </a:lnSpc>
            </a:pPr>
            <a:r>
              <a:rPr lang="en-US" sz="1800">
                <a:solidFill>
                  <a:srgbClr val="12233B"/>
                </a:solidFill>
                <a:latin typeface="Aptos"/>
                <a:ea typeface="Aptos"/>
                <a:cs typeface="Aptos"/>
                <a:sym typeface="Aptos"/>
              </a:rPr>
              <a:t>ν_max(t): strongest feature-wise normalised mean contrast at candidate t.</a:t>
            </a:r>
          </a:p>
          <a:p>
            <a:pPr algn="l">
              <a:lnSpc>
                <a:spcPts val="2160"/>
              </a:lnSpc>
            </a:pPr>
            <a:endParaRPr lang="en-US" sz="1800">
              <a:solidFill>
                <a:srgbClr val="12233B"/>
              </a:solidFill>
              <a:latin typeface="Aptos"/>
              <a:ea typeface="Aptos"/>
              <a:cs typeface="Aptos"/>
              <a:sym typeface="Aptos"/>
            </a:endParaRPr>
          </a:p>
          <a:p>
            <a:pPr algn="l">
              <a:lnSpc>
                <a:spcPts val="2160"/>
              </a:lnSpc>
            </a:pPr>
            <a:r>
              <a:rPr lang="en-US" sz="1800">
                <a:solidFill>
                  <a:srgbClr val="12233B"/>
                </a:solidFill>
                <a:latin typeface="Aptos"/>
                <a:ea typeface="Aptos"/>
                <a:cs typeface="Aptos"/>
                <a:sym typeface="Aptos"/>
              </a:rPr>
              <a:t>ν_avg(t): mean contrast across features.</a:t>
            </a:r>
          </a:p>
          <a:p>
            <a:pPr algn="l">
              <a:lnSpc>
                <a:spcPts val="2160"/>
              </a:lnSpc>
            </a:pPr>
            <a:endParaRPr lang="en-US" sz="1800">
              <a:solidFill>
                <a:srgbClr val="12233B"/>
              </a:solidFill>
              <a:latin typeface="Aptos"/>
              <a:ea typeface="Aptos"/>
              <a:cs typeface="Aptos"/>
              <a:sym typeface="Aptos"/>
            </a:endParaRPr>
          </a:p>
          <a:p>
            <a:pPr algn="l">
              <a:lnSpc>
                <a:spcPts val="2160"/>
              </a:lnSpc>
            </a:pPr>
            <a:r>
              <a:rPr lang="en-US" sz="1800">
                <a:solidFill>
                  <a:srgbClr val="12233B"/>
                </a:solidFill>
                <a:latin typeface="Aptos"/>
                <a:ea typeface="Aptos"/>
                <a:cs typeface="Aptos"/>
                <a:sym typeface="Aptos"/>
              </a:rPr>
              <a:t>Both identify candidate locations; their global maxima can disagree.</a:t>
            </a:r>
          </a:p>
        </p:txBody>
      </p:sp>
      <p:grpSp>
        <p:nvGrpSpPr>
          <p:cNvPr id="10" name="Group 10"/>
          <p:cNvGrpSpPr/>
          <p:nvPr/>
        </p:nvGrpSpPr>
        <p:grpSpPr>
          <a:xfrm>
            <a:off x="9317355" y="3021711"/>
            <a:ext cx="8042910" cy="5176266"/>
            <a:chOff x="0" y="0"/>
            <a:chExt cx="10723880" cy="6901688"/>
          </a:xfrm>
        </p:grpSpPr>
        <p:sp>
          <p:nvSpPr>
            <p:cNvPr id="11" name="Freeform 11"/>
            <p:cNvSpPr/>
            <p:nvPr/>
          </p:nvSpPr>
          <p:spPr>
            <a:xfrm>
              <a:off x="0" y="0"/>
              <a:ext cx="10723880" cy="6901688"/>
            </a:xfrm>
            <a:custGeom>
              <a:avLst/>
              <a:gdLst/>
              <a:ahLst/>
              <a:cxnLst/>
              <a:rect l="l" t="t" r="r" b="b"/>
              <a:pathLst>
                <a:path w="10723880" h="6901688">
                  <a:moveTo>
                    <a:pt x="0" y="1150366"/>
                  </a:moveTo>
                  <a:cubicBezTo>
                    <a:pt x="0" y="514985"/>
                    <a:pt x="514985" y="0"/>
                    <a:pt x="1150366" y="0"/>
                  </a:cubicBezTo>
                  <a:lnTo>
                    <a:pt x="9573514" y="0"/>
                  </a:lnTo>
                  <a:cubicBezTo>
                    <a:pt x="10208768" y="0"/>
                    <a:pt x="10723880" y="514985"/>
                    <a:pt x="10723880" y="1150366"/>
                  </a:cubicBezTo>
                  <a:lnTo>
                    <a:pt x="10723880" y="5751322"/>
                  </a:lnTo>
                  <a:cubicBezTo>
                    <a:pt x="10723880" y="6386576"/>
                    <a:pt x="10208895" y="6901688"/>
                    <a:pt x="9573514" y="6901688"/>
                  </a:cubicBezTo>
                  <a:lnTo>
                    <a:pt x="1150366" y="6901688"/>
                  </a:lnTo>
                  <a:cubicBezTo>
                    <a:pt x="514985" y="6901688"/>
                    <a:pt x="0" y="6386703"/>
                    <a:pt x="0" y="575132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227832"/>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What needs investigation</a:t>
            </a:r>
          </a:p>
        </p:txBody>
      </p:sp>
      <p:sp>
        <p:nvSpPr>
          <p:cNvPr id="13" name="TextBox 13"/>
          <p:cNvSpPr txBox="1"/>
          <p:nvPr/>
        </p:nvSpPr>
        <p:spPr>
          <a:xfrm>
            <a:off x="9587484" y="3845052"/>
            <a:ext cx="7438644" cy="4133088"/>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Several local peaks could reflect heterogeneous feature responses, multiple changes, or stochastic fluctuations.</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Inspect feature-wise traces, segmentation, dependence and metadata; do not infer an external cause from peaks alone.</a:t>
            </a:r>
          </a:p>
        </p:txBody>
      </p:sp>
      <p:sp>
        <p:nvSpPr>
          <p:cNvPr id="14" name="TextBox 14"/>
          <p:cNvSpPr txBox="1"/>
          <p:nvPr/>
        </p:nvSpPr>
        <p:spPr>
          <a:xfrm>
            <a:off x="1261872" y="8522208"/>
            <a:ext cx="16340328" cy="553212"/>
          </a:xfrm>
          <a:prstGeom prst="rect">
            <a:avLst/>
          </a:prstGeom>
        </p:spPr>
        <p:txBody>
          <a:bodyPr lIns="0" tIns="0" rIns="0" bIns="0" rtlCol="0" anchor="t">
            <a:spAutoFit/>
          </a:bodyPr>
          <a:lstStyle/>
          <a:p>
            <a:pPr algn="l">
              <a:lnSpc>
                <a:spcPts val="1800"/>
              </a:lnSpc>
            </a:pPr>
            <a:r>
              <a:rPr lang="en-US" sz="1500">
                <a:solidFill>
                  <a:srgbClr val="516377"/>
                </a:solidFill>
                <a:latin typeface="Aptos"/>
                <a:ea typeface="Aptos"/>
                <a:cs typeface="Aptos"/>
                <a:sym typeface="Aptos"/>
              </a:rPr>
              <a:t>Sources: Park et al. (2023), DOI 10.29220/CSAM.2023.30.4.369; Fearnhead &amp; Rigaill (2020), DOI 10.1002/sta4.291.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CODE-TO-MANUSCRIPT BOUNDARY</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Park extension: implemented calculations versus open tests</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Source: src/detection/stage1/park_mean_cusum.py and manuscript §§3.2, 4.8.</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3007995"/>
            <a:ext cx="8042910" cy="5162550"/>
            <a:chOff x="0" y="0"/>
            <a:chExt cx="10723880" cy="6883400"/>
          </a:xfrm>
        </p:grpSpPr>
        <p:sp>
          <p:nvSpPr>
            <p:cNvPr id="7" name="Freeform 7"/>
            <p:cNvSpPr/>
            <p:nvPr/>
          </p:nvSpPr>
          <p:spPr>
            <a:xfrm>
              <a:off x="0" y="0"/>
              <a:ext cx="10723880" cy="6883400"/>
            </a:xfrm>
            <a:custGeom>
              <a:avLst/>
              <a:gdLst/>
              <a:ahLst/>
              <a:cxnLst/>
              <a:rect l="l" t="t" r="r" b="b"/>
              <a:pathLst>
                <a:path w="10723880" h="6883400">
                  <a:moveTo>
                    <a:pt x="0" y="1147318"/>
                  </a:moveTo>
                  <a:cubicBezTo>
                    <a:pt x="0" y="513588"/>
                    <a:pt x="513588" y="0"/>
                    <a:pt x="1147318" y="0"/>
                  </a:cubicBezTo>
                  <a:lnTo>
                    <a:pt x="9576562" y="0"/>
                  </a:lnTo>
                  <a:cubicBezTo>
                    <a:pt x="10210165" y="0"/>
                    <a:pt x="10723880" y="513588"/>
                    <a:pt x="10723880" y="1147318"/>
                  </a:cubicBezTo>
                  <a:lnTo>
                    <a:pt x="10723880" y="5736082"/>
                  </a:lnTo>
                  <a:cubicBezTo>
                    <a:pt x="10723880" y="6369685"/>
                    <a:pt x="10210292" y="6883400"/>
                    <a:pt x="9576562" y="6883400"/>
                  </a:cubicBezTo>
                  <a:lnTo>
                    <a:pt x="1147318" y="6883400"/>
                  </a:lnTo>
                  <a:cubicBezTo>
                    <a:pt x="513588" y="6883400"/>
                    <a:pt x="0" y="6369812"/>
                    <a:pt x="0" y="573608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214116"/>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IMPLEMENTED</a:t>
            </a:r>
          </a:p>
        </p:txBody>
      </p:sp>
      <p:sp>
        <p:nvSpPr>
          <p:cNvPr id="9" name="TextBox 9"/>
          <p:cNvSpPr txBox="1"/>
          <p:nvPr/>
        </p:nvSpPr>
        <p:spPr>
          <a:xfrm>
            <a:off x="1261872" y="3792993"/>
            <a:ext cx="7438644" cy="1487186"/>
          </a:xfrm>
          <a:prstGeom prst="rect">
            <a:avLst/>
          </a:prstGeom>
        </p:spPr>
        <p:txBody>
          <a:bodyPr lIns="0" tIns="0" rIns="0" bIns="0" rtlCol="0" anchor="t">
            <a:spAutoFit/>
          </a:bodyPr>
          <a:lstStyle/>
          <a:p>
            <a:pPr algn="l">
              <a:lnSpc>
                <a:spcPts val="2160"/>
              </a:lnSpc>
            </a:pPr>
            <a:r>
              <a:rPr lang="en-US" sz="1800" dirty="0">
                <a:solidFill>
                  <a:srgbClr val="12233B"/>
                </a:solidFill>
                <a:latin typeface="Aptos"/>
                <a:ea typeface="Aptos"/>
                <a:cs typeface="Aptos"/>
                <a:sym typeface="Aptos"/>
              </a:rPr>
              <a:t>Positive-mean input validation and channelwise normalised mean-CUSUM </a:t>
            </a:r>
          </a:p>
          <a:p>
            <a:pPr algn="l">
              <a:lnSpc>
                <a:spcPts val="2160"/>
              </a:lnSpc>
            </a:pPr>
            <a:r>
              <a:rPr lang="en-US" sz="1800" dirty="0">
                <a:solidFill>
                  <a:srgbClr val="12233B"/>
                </a:solidFill>
                <a:latin typeface="Aptos"/>
                <a:ea typeface="Aptos"/>
                <a:cs typeface="Aptos"/>
                <a:sym typeface="Aptos"/>
              </a:rPr>
              <a:t>Maximum and average aggregation across channels </a:t>
            </a:r>
          </a:p>
          <a:p>
            <a:pPr algn="l">
              <a:lnSpc>
                <a:spcPts val="2160"/>
              </a:lnSpc>
            </a:pPr>
            <a:r>
              <a:rPr lang="en-US" sz="1800" dirty="0">
                <a:solidFill>
                  <a:srgbClr val="12233B"/>
                </a:solidFill>
                <a:latin typeface="Aptos"/>
                <a:ea typeface="Aptos"/>
                <a:cs typeface="Aptos"/>
                <a:sym typeface="Aptos"/>
              </a:rPr>
              <a:t>Raw and LOESS-style smoothed peak estimates (span=0.1) </a:t>
            </a:r>
          </a:p>
          <a:p>
            <a:pPr algn="l">
              <a:lnSpc>
                <a:spcPts val="2160"/>
              </a:lnSpc>
            </a:pPr>
            <a:r>
              <a:rPr lang="en-US" sz="1800" dirty="0">
                <a:solidFill>
                  <a:srgbClr val="12233B"/>
                </a:solidFill>
                <a:latin typeface="Aptos"/>
                <a:ea typeface="Aptos"/>
                <a:cs typeface="Aptos"/>
                <a:sym typeface="Aptos"/>
              </a:rPr>
              <a:t>Peak-location agreement gaps and exploratory visualisation</a:t>
            </a:r>
          </a:p>
        </p:txBody>
      </p:sp>
      <p:grpSp>
        <p:nvGrpSpPr>
          <p:cNvPr id="10" name="Group 10"/>
          <p:cNvGrpSpPr/>
          <p:nvPr/>
        </p:nvGrpSpPr>
        <p:grpSpPr>
          <a:xfrm>
            <a:off x="9317355" y="3007995"/>
            <a:ext cx="8042910" cy="5162550"/>
            <a:chOff x="0" y="0"/>
            <a:chExt cx="10723880" cy="6883400"/>
          </a:xfrm>
        </p:grpSpPr>
        <p:sp>
          <p:nvSpPr>
            <p:cNvPr id="11" name="Freeform 11"/>
            <p:cNvSpPr/>
            <p:nvPr/>
          </p:nvSpPr>
          <p:spPr>
            <a:xfrm>
              <a:off x="0" y="0"/>
              <a:ext cx="10723880" cy="6883400"/>
            </a:xfrm>
            <a:custGeom>
              <a:avLst/>
              <a:gdLst/>
              <a:ahLst/>
              <a:cxnLst/>
              <a:rect l="l" t="t" r="r" b="b"/>
              <a:pathLst>
                <a:path w="10723880" h="6883400">
                  <a:moveTo>
                    <a:pt x="0" y="1147318"/>
                  </a:moveTo>
                  <a:cubicBezTo>
                    <a:pt x="0" y="513588"/>
                    <a:pt x="513588" y="0"/>
                    <a:pt x="1147318" y="0"/>
                  </a:cubicBezTo>
                  <a:lnTo>
                    <a:pt x="9576562" y="0"/>
                  </a:lnTo>
                  <a:cubicBezTo>
                    <a:pt x="10210165" y="0"/>
                    <a:pt x="10723880" y="513588"/>
                    <a:pt x="10723880" y="1147318"/>
                  </a:cubicBezTo>
                  <a:lnTo>
                    <a:pt x="10723880" y="5736082"/>
                  </a:lnTo>
                  <a:cubicBezTo>
                    <a:pt x="10723880" y="6369685"/>
                    <a:pt x="10210292" y="6883400"/>
                    <a:pt x="9576562" y="6883400"/>
                  </a:cubicBezTo>
                  <a:lnTo>
                    <a:pt x="1147318" y="6883400"/>
                  </a:lnTo>
                  <a:cubicBezTo>
                    <a:pt x="513588" y="6883400"/>
                    <a:pt x="0" y="6369812"/>
                    <a:pt x="0" y="573608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214116"/>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NOT YET VERIFIED</a:t>
            </a:r>
          </a:p>
        </p:txBody>
      </p:sp>
      <p:sp>
        <p:nvSpPr>
          <p:cNvPr id="13" name="TextBox 13"/>
          <p:cNvSpPr txBox="1"/>
          <p:nvPr/>
        </p:nvSpPr>
        <p:spPr>
          <a:xfrm>
            <a:off x="9587484" y="3831336"/>
            <a:ext cx="7438644" cy="4119372"/>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Park unimodality and peak-agreement confirmation.</a:t>
            </a:r>
          </a:p>
          <a:p>
            <a:pPr algn="l">
              <a:lnSpc>
                <a:spcPts val="2340"/>
              </a:lnSpc>
            </a:pPr>
            <a:r>
              <a:rPr lang="en-US" sz="1950">
                <a:solidFill>
                  <a:srgbClr val="12233B"/>
                </a:solidFill>
                <a:latin typeface="Aptos"/>
                <a:ea typeface="Aptos"/>
                <a:cs typeface="Aptos"/>
                <a:sym typeface="Aptos"/>
              </a:rPr>
              <a:t>Multiple-change-point detection.</a:t>
            </a:r>
          </a:p>
          <a:p>
            <a:pPr algn="l">
              <a:lnSpc>
                <a:spcPts val="2340"/>
              </a:lnSpc>
            </a:pPr>
            <a:r>
              <a:rPr lang="en-US" sz="1950">
                <a:solidFill>
                  <a:srgbClr val="12233B"/>
                </a:solidFill>
                <a:latin typeface="Aptos"/>
                <a:ea typeface="Aptos"/>
                <a:cs typeface="Aptos"/>
                <a:sym typeface="Aptos"/>
              </a:rPr>
              <a:t>Calibrated false-alarm control.</a:t>
            </a:r>
          </a:p>
          <a:p>
            <a:pPr algn="l">
              <a:lnSpc>
                <a:spcPts val="2340"/>
              </a:lnSpc>
            </a:pPr>
            <a:r>
              <a:rPr lang="en-US" sz="1950">
                <a:solidFill>
                  <a:srgbClr val="12233B"/>
                </a:solidFill>
                <a:latin typeface="Aptos"/>
                <a:ea typeface="Aptos"/>
                <a:cs typeface="Aptos"/>
                <a:sym typeface="Aptos"/>
              </a:rPr>
              <a:t>Matched EEG feature-space comparisons.</a:t>
            </a:r>
          </a:p>
          <a:p>
            <a:pPr algn="l">
              <a:lnSpc>
                <a:spcPts val="2340"/>
              </a:lnSpc>
            </a:pPr>
            <a:r>
              <a:rPr lang="en-US" sz="1950">
                <a:solidFill>
                  <a:srgbClr val="12233B"/>
                </a:solidFill>
                <a:latin typeface="Aptos"/>
                <a:ea typeface="Aptos"/>
                <a:cs typeface="Aptos"/>
                <a:sym typeface="Aptos"/>
              </a:rPr>
              <a:t>Numerical Python/MATLAB parity evidence.</a:t>
            </a:r>
          </a:p>
        </p:txBody>
      </p:sp>
      <p:sp>
        <p:nvSpPr>
          <p:cNvPr id="14" name="TextBox 14"/>
          <p:cNvSpPr txBox="1"/>
          <p:nvPr/>
        </p:nvSpPr>
        <p:spPr>
          <a:xfrm>
            <a:off x="1261872" y="8498967"/>
            <a:ext cx="16066008" cy="631317"/>
          </a:xfrm>
          <a:prstGeom prst="rect">
            <a:avLst/>
          </a:prstGeom>
        </p:spPr>
        <p:txBody>
          <a:bodyPr lIns="0" tIns="0" rIns="0" bIns="0" rtlCol="0" anchor="t">
            <a:spAutoFit/>
          </a:bodyPr>
          <a:lstStyle/>
          <a:p>
            <a:pPr algn="l">
              <a:lnSpc>
                <a:spcPts val="2520"/>
              </a:lnSpc>
            </a:pPr>
            <a:r>
              <a:rPr lang="en-US" sz="2100" b="1">
                <a:solidFill>
                  <a:srgbClr val="12233B"/>
                </a:solidFill>
                <a:latin typeface="Aptos Bold"/>
                <a:ea typeface="Aptos Bold"/>
                <a:cs typeface="Aptos Bold"/>
                <a:sym typeface="Aptos Bold"/>
              </a:rPr>
              <a:t>Research question RQ4: candidate localisation is implemented; confirmation and statistical validity remain open.</a:t>
            </a:r>
          </a:p>
        </p:txBody>
      </p:sp>
      <p:sp>
        <p:nvSpPr>
          <p:cNvPr id="15" name="TextBox 15"/>
          <p:cNvSpPr txBox="1"/>
          <p:nvPr/>
        </p:nvSpPr>
        <p:spPr>
          <a:xfrm>
            <a:off x="1559233" y="7853563"/>
            <a:ext cx="6945696" cy="248209"/>
          </a:xfrm>
          <a:prstGeom prst="rect">
            <a:avLst/>
          </a:prstGeom>
        </p:spPr>
        <p:txBody>
          <a:bodyPr wrap="square" lIns="0" tIns="0" rIns="0" bIns="0" rtlCol="0" anchor="t">
            <a:spAutoFit/>
          </a:bodyPr>
          <a:lstStyle/>
          <a:p>
            <a:pPr algn="l">
              <a:lnSpc>
                <a:spcPts val="1980"/>
              </a:lnSpc>
            </a:pPr>
            <a:r>
              <a:rPr lang="en-US" sz="1650" dirty="0">
                <a:solidFill>
                  <a:srgbClr val="000000"/>
                </a:solidFill>
                <a:latin typeface="Calibri (MS)"/>
                <a:ea typeface="Calibri (MS)"/>
                <a:cs typeface="Calibri (MS)"/>
                <a:sym typeface="Calibri (MS)"/>
              </a:rPr>
              <a:t>d: channel · T: observations · t: candidate change-point position</a:t>
            </a:r>
          </a:p>
        </p:txBody>
      </p:sp>
      <p:sp>
        <p:nvSpPr>
          <p:cNvPr id="16" name="TextBox 16"/>
          <p:cNvSpPr txBox="1"/>
          <p:nvPr/>
        </p:nvSpPr>
        <p:spPr>
          <a:xfrm>
            <a:off x="987552" y="9383387"/>
            <a:ext cx="7005323" cy="329546"/>
          </a:xfrm>
          <a:prstGeom prst="rect">
            <a:avLst/>
          </a:prstGeom>
        </p:spPr>
        <p:txBody>
          <a:bodyPr lIns="0" tIns="0" rIns="0" bIns="0" rtlCol="0" anchor="t">
            <a:spAutoFit/>
          </a:bodyPr>
          <a:lstStyle/>
          <a:p>
            <a:pPr algn="l">
              <a:lnSpc>
                <a:spcPts val="1980"/>
              </a:lnSpc>
            </a:pPr>
            <a:r>
              <a:rPr lang="en-US" sz="1650" dirty="0">
                <a:solidFill>
                  <a:srgbClr val="000000"/>
                </a:solidFill>
                <a:latin typeface="Calibri (MS)"/>
                <a:ea typeface="Calibri (MS)"/>
                <a:cs typeface="Calibri (MS)"/>
                <a:sym typeface="Calibri (MS)"/>
              </a:rPr>
              <a:t>Park et al. (2023), Eq. 2.2</a:t>
            </a:r>
          </a:p>
        </p:txBody>
      </p:sp>
      <mc:AlternateContent xmlns:mc="http://schemas.openxmlformats.org/markup-compatibility/2006">
        <mc:Choice xmlns:a14="http://schemas.microsoft.com/office/drawing/2010/main" Requires="a14">
          <p:sp>
            <p:nvSpPr>
              <p:cNvPr id="6070" name="EDITABLE MATH | Park 2023 Eq 2.2 normalized CUSUM | ROW 1"/>
              <p:cNvSpPr txBox="1"/>
              <p:nvPr/>
            </p:nvSpPr>
            <p:spPr>
              <a:xfrm>
                <a:off x="1559233" y="5133122"/>
                <a:ext cx="6886070" cy="310896"/>
              </a:xfrm>
              <a:prstGeom prst="rect">
                <a:avLst/>
              </a:prstGeom>
              <a:noFill/>
            </p:spPr>
            <p:txBody>
              <a:bodyPr wrap="none" lIns="45720" tIns="36576" rIns="45720" bIns="36576">
                <a:spAutoFit/>
              </a:bodyPr>
              <a:lstStyle/>
              <a:p>
                <a:pPr algn="ctr">
                  <a:spcAft>
                    <a:spcPts val="400"/>
                  </a:spcAft>
                </a:pPr>
                <a14:m>
                  <m:oMathPara xmlns:m="http://schemas.openxmlformats.org/officeDocument/2006/math">
                    <m:oMathParaPr>
                      <m:jc m:val="centerGroup"/>
                    </m:oMathParaPr>
                    <m:oMath xmlns:m="http://schemas.openxmlformats.org/officeDocument/2006/math">
                      <m:sSubSup>
                        <m:sSubSupPr>
                          <m:ctrlPr>
                            <a:rPr>
                              <a:latin typeface="Cambria Math" panose="02040503050406030204" pitchFamily="18" charset="0"/>
                            </a:rPr>
                          </m:ctrlPr>
                        </m:sSubSupPr>
                        <m:e>
                          <m:r>
                            <a:rPr>
                              <a:latin typeface="Cambria Math" panose="02040503050406030204" pitchFamily="18" charset="0"/>
                            </a:rPr>
                            <m:t>𝜈</m:t>
                          </m:r>
                        </m:e>
                        <m:sub>
                          <m:r>
                            <a:rPr>
                              <a:latin typeface="Cambria Math" panose="02040503050406030204" pitchFamily="18" charset="0"/>
                            </a:rPr>
                            <m:t>𝑡</m:t>
                          </m:r>
                        </m:sub>
                        <m:sup>
                          <m:r>
                            <a:rPr>
                              <a:latin typeface="Cambria Math" panose="02040503050406030204" pitchFamily="18" charset="0"/>
                            </a:rPr>
                            <m:t>(</m:t>
                          </m:r>
                          <m:r>
                            <a:rPr>
                              <a:latin typeface="Cambria Math" panose="02040503050406030204" pitchFamily="18" charset="0"/>
                            </a:rPr>
                            <m:t>𝑑</m:t>
                          </m:r>
                          <m:r>
                            <a:rPr>
                              <a:latin typeface="Cambria Math" panose="02040503050406030204" pitchFamily="18" charset="0"/>
                            </a:rPr>
                            <m:t>)</m:t>
                          </m:r>
                        </m:sup>
                      </m:sSubSup>
                      <m:r>
                        <a:rPr>
                          <a:latin typeface="Cambria Math" panose="02040503050406030204" pitchFamily="18" charset="0"/>
                        </a:rPr>
                        <m:t> = </m:t>
                      </m:r>
                      <m:f>
                        <m:fPr>
                          <m:ctrlPr>
                            <a:rPr i="1">
                              <a:latin typeface="Cambria Math" panose="02040503050406030204" pitchFamily="18" charset="0"/>
                            </a:rPr>
                          </m:ctrlPr>
                        </m:fPr>
                        <m:num>
                          <m:r>
                            <a:rPr>
                              <a:latin typeface="Cambria Math" panose="02040503050406030204" pitchFamily="18" charset="0"/>
                            </a:rPr>
                            <m:t>|</m:t>
                          </m:r>
                          <m:r>
                            <a:rPr>
                              <a:latin typeface="Cambria Math" panose="02040503050406030204" pitchFamily="18" charset="0"/>
                            </a:rPr>
                            <m:t>𝐴</m:t>
                          </m:r>
                          <m:r>
                            <a:rPr>
                              <a:latin typeface="Cambria Math" panose="02040503050406030204" pitchFamily="18" charset="0"/>
                            </a:rPr>
                            <m:t>ₜ</m:t>
                          </m:r>
                          <m:r>
                            <a:rPr>
                              <a:latin typeface="Cambria Math" panose="02040503050406030204" pitchFamily="18" charset="0"/>
                            </a:rPr>
                            <m:t>⁽</m:t>
                          </m:r>
                          <m:r>
                            <a:rPr>
                              <a:latin typeface="Cambria Math" panose="02040503050406030204" pitchFamily="18" charset="0"/>
                            </a:rPr>
                            <m:t>ᵈ</m:t>
                          </m:r>
                          <m:r>
                            <a:rPr>
                              <a:latin typeface="Cambria Math" panose="02040503050406030204" pitchFamily="18" charset="0"/>
                            </a:rPr>
                            <m:t>⁾</m:t>
                          </m:r>
                          <m:r>
                            <a:rPr>
                              <a:latin typeface="Cambria Math" panose="02040503050406030204" pitchFamily="18" charset="0"/>
                            </a:rPr>
                            <m:t> − </m:t>
                          </m:r>
                          <m:r>
                            <a:rPr>
                              <a:latin typeface="Cambria Math" panose="02040503050406030204" pitchFamily="18" charset="0"/>
                            </a:rPr>
                            <m:t>𝐵</m:t>
                          </m:r>
                          <m:r>
                            <a:rPr>
                              <a:latin typeface="Cambria Math" panose="02040503050406030204" pitchFamily="18" charset="0"/>
                            </a:rPr>
                            <m:t>ₜ</m:t>
                          </m:r>
                          <m:r>
                            <a:rPr>
                              <a:latin typeface="Cambria Math" panose="02040503050406030204" pitchFamily="18" charset="0"/>
                            </a:rPr>
                            <m:t>⁽</m:t>
                          </m:r>
                          <m:r>
                            <a:rPr>
                              <a:latin typeface="Cambria Math" panose="02040503050406030204" pitchFamily="18" charset="0"/>
                            </a:rPr>
                            <m:t>ᵈ</m:t>
                          </m:r>
                          <m:r>
                            <a:rPr>
                              <a:latin typeface="Cambria Math" panose="02040503050406030204" pitchFamily="18" charset="0"/>
                            </a:rPr>
                            <m:t>⁾</m:t>
                          </m:r>
                          <m:r>
                            <a:rPr>
                              <a:latin typeface="Cambria Math" panose="02040503050406030204" pitchFamily="18" charset="0"/>
                            </a:rPr>
                            <m:t>|</m:t>
                          </m:r>
                        </m:num>
                        <m:den>
                          <m:r>
                            <a:rPr>
                              <a:latin typeface="Cambria Math" panose="02040503050406030204" pitchFamily="18" charset="0"/>
                            </a:rPr>
                            <m:t>𝑋</m:t>
                          </m:r>
                          <m:r>
                            <a:rPr>
                              <a:latin typeface="Cambria Math" panose="02040503050406030204" pitchFamily="18" charset="0"/>
                            </a:rPr>
                            <m:t>̄</m:t>
                          </m:r>
                          <m:r>
                            <a:rPr>
                              <a:latin typeface="Cambria Math" panose="02040503050406030204" pitchFamily="18" charset="0"/>
                            </a:rPr>
                            <m:t>⁽</m:t>
                          </m:r>
                          <m:r>
                            <a:rPr>
                              <a:latin typeface="Cambria Math" panose="02040503050406030204" pitchFamily="18" charset="0"/>
                            </a:rPr>
                            <m:t>ᵈ</m:t>
                          </m:r>
                          <m:r>
                            <a:rPr>
                              <a:latin typeface="Cambria Math" panose="02040503050406030204" pitchFamily="18" charset="0"/>
                            </a:rPr>
                            <m:t>⁾</m:t>
                          </m:r>
                        </m:den>
                      </m:f>
                    </m:oMath>
                  </m:oMathPara>
                </a14:m>
                <a:endParaRPr sz="1300" dirty="0"/>
              </a:p>
            </p:txBody>
          </p:sp>
        </mc:Choice>
        <mc:Fallback>
          <p:sp>
            <p:nvSpPr>
              <p:cNvPr id="6070" name="EDITABLE MATH | Park 2023 Eq 2.2 normalized CUSUM | ROW 1"/>
              <p:cNvSpPr txBox="1">
                <a:spLocks noRot="1" noChangeAspect="1" noMove="1" noResize="1" noEditPoints="1" noAdjustHandles="1" noChangeArrowheads="1" noChangeShapeType="1" noTextEdit="1"/>
              </p:cNvSpPr>
              <p:nvPr/>
            </p:nvSpPr>
            <p:spPr>
              <a:xfrm>
                <a:off x="1559233" y="5133122"/>
                <a:ext cx="6886070" cy="310896"/>
              </a:xfrm>
              <a:prstGeom prst="rect">
                <a:avLst/>
              </a:prstGeom>
              <a:blipFill>
                <a:blip r:embed="rId2"/>
                <a:stretch>
                  <a:fillRect b="-94118"/>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071" name="EDITABLE MATH | Park 2023 Eq 2.2 normalized CUSUM | ROW 2"/>
              <p:cNvSpPr txBox="1"/>
              <p:nvPr/>
            </p:nvSpPr>
            <p:spPr>
              <a:xfrm>
                <a:off x="1559233" y="5772440"/>
                <a:ext cx="2492221" cy="955646"/>
              </a:xfrm>
              <a:prstGeom prst="rect">
                <a:avLst/>
              </a:prstGeom>
              <a:noFill/>
            </p:spPr>
            <p:txBody>
              <a:bodyPr wrap="none" lIns="45720" tIns="36576" rIns="45720" bIns="36576">
                <a:spAutoFit/>
              </a:bodyPr>
              <a:lstStyle/>
              <a:p>
                <a:pPr algn="ctr">
                  <a:spcAft>
                    <a:spcPts val="400"/>
                  </a:spcAft>
                </a:pPr>
                <a14:m>
                  <m:oMathPara xmlns:m="http://schemas.openxmlformats.org/officeDocument/2006/math">
                    <m:oMathParaPr>
                      <m:jc m:val="centerGroup"/>
                    </m:oMathParaPr>
                    <m:oMath xmlns:m="http://schemas.openxmlformats.org/officeDocument/2006/math">
                      <m:r>
                        <a:rPr lang="en-GB" smtClean="0">
                          <a:latin typeface="Cambria Math" panose="02040503050406030204" pitchFamily="18" charset="0"/>
                        </a:rPr>
                        <m:t>𝐴</m:t>
                      </m:r>
                      <m:r>
                        <a:rPr lang="en-GB" smtClean="0">
                          <a:latin typeface="Cambria Math" panose="02040503050406030204" pitchFamily="18" charset="0"/>
                        </a:rPr>
                        <m:t>ₜ</m:t>
                      </m:r>
                      <m:r>
                        <a:rPr lang="en-GB" smtClean="0">
                          <a:latin typeface="Cambria Math" panose="02040503050406030204" pitchFamily="18" charset="0"/>
                        </a:rPr>
                        <m:t>⁽</m:t>
                      </m:r>
                      <m:r>
                        <a:rPr lang="en-GB" smtClean="0">
                          <a:latin typeface="Cambria Math" panose="02040503050406030204" pitchFamily="18" charset="0"/>
                        </a:rPr>
                        <m:t>ᵈ</m:t>
                      </m:r>
                      <m:r>
                        <a:rPr lang="en-GB" smtClean="0">
                          <a:latin typeface="Cambria Math" panose="02040503050406030204" pitchFamily="18" charset="0"/>
                        </a:rPr>
                        <m:t>⁾</m:t>
                      </m:r>
                      <m:r>
                        <a:rPr lang="en-GB" smtClean="0">
                          <a:latin typeface="Cambria Math" panose="02040503050406030204" pitchFamily="18" charset="0"/>
                        </a:rPr>
                        <m:t> =</m:t>
                      </m:r>
                      <m:rad>
                        <m:radPr>
                          <m:degHide m:val="on"/>
                          <m:ctrlPr>
                            <a:rPr lang="ar-AE" i="1">
                              <a:latin typeface="Cambria Math" panose="02040503050406030204" pitchFamily="18" charset="0"/>
                            </a:rPr>
                          </m:ctrlPr>
                        </m:radPr>
                        <m:deg/>
                        <m:e>
                          <m:f>
                            <m:fPr>
                              <m:ctrlPr>
                                <a:rPr lang="ar-AE" i="1">
                                  <a:latin typeface="Cambria Math" panose="02040503050406030204" pitchFamily="18" charset="0"/>
                                </a:rPr>
                              </m:ctrlPr>
                            </m:fPr>
                            <m:num>
                              <m:r>
                                <a:rPr lang="ar-AE"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𝑡</m:t>
                              </m:r>
                            </m:num>
                            <m:den>
                              <m:r>
                                <a:rPr lang="ar-AE" i="1">
                                  <a:latin typeface="Cambria Math" panose="02040503050406030204" pitchFamily="18" charset="0"/>
                                </a:rPr>
                                <m:t>𝑇</m:t>
                              </m:r>
                              <m:r>
                                <a:rPr lang="en-US" b="0" i="1" smtClean="0">
                                  <a:latin typeface="Cambria Math" panose="02040503050406030204" pitchFamily="18" charset="0"/>
                                </a:rPr>
                                <m:t>𝑡</m:t>
                              </m:r>
                            </m:den>
                          </m:f>
                        </m:e>
                      </m:rad>
                      <m:nary>
                        <m:naryPr>
                          <m:chr m:val="∑"/>
                          <m:ctrlPr>
                            <a:rPr lang="ar-AE" i="1">
                              <a:latin typeface="Cambria Math" panose="02040503050406030204" pitchFamily="18" charset="0"/>
                            </a:rPr>
                          </m:ctrlPr>
                        </m:naryPr>
                        <m:sub>
                          <m:r>
                            <m:rPr>
                              <m:brk m:alnAt="23"/>
                            </m:rPr>
                            <a:rPr lang="en-US" i="1">
                              <a:latin typeface="Cambria Math" panose="02040503050406030204" pitchFamily="18" charset="0"/>
                            </a:rPr>
                            <m:t>𝑢</m:t>
                          </m:r>
                          <m:r>
                            <a:rPr lang="en-US" i="1">
                              <a:latin typeface="Cambria Math" panose="02040503050406030204" pitchFamily="18" charset="0"/>
                            </a:rPr>
                            <m:t>=</m:t>
                          </m:r>
                          <m:r>
                            <a:rPr lang="en-US" b="0" i="1" smtClean="0">
                              <a:latin typeface="Cambria Math" panose="02040503050406030204" pitchFamily="18" charset="0"/>
                            </a:rPr>
                            <m:t>0</m:t>
                          </m:r>
                        </m:sub>
                        <m:sup>
                          <m:r>
                            <a:rPr lang="en-US" b="0" i="1" smtClean="0">
                              <a:latin typeface="Cambria Math" panose="02040503050406030204" pitchFamily="18" charset="0"/>
                            </a:rPr>
                            <m:t>𝑡</m:t>
                          </m:r>
                          <m:r>
                            <a:rPr lang="en-US" i="1">
                              <a:latin typeface="Cambria Math" panose="02040503050406030204" pitchFamily="18" charset="0"/>
                            </a:rPr>
                            <m:t> −</m:t>
                          </m:r>
                          <m:r>
                            <a:rPr lang="en-US" i="1">
                              <a:latin typeface="Cambria Math" panose="02040503050406030204" pitchFamily="18" charset="0"/>
                            </a:rPr>
                            <m:t>1</m:t>
                          </m:r>
                        </m:sup>
                        <m:e>
                          <m:sSubSup>
                            <m:sSubSupPr>
                              <m:ctrlPr>
                                <a:rPr lang="ar-AE" i="1">
                                  <a:latin typeface="Cambria Math" panose="02040503050406030204" pitchFamily="18" charset="0"/>
                                </a:rPr>
                              </m:ctrlPr>
                            </m:sSubSupPr>
                            <m:e>
                              <m:r>
                                <a:rPr lang="ar-AE">
                                  <a:latin typeface="Cambria Math" panose="02040503050406030204" pitchFamily="18" charset="0"/>
                                </a:rPr>
                                <m:t>𝑋</m:t>
                              </m:r>
                            </m:e>
                            <m:sub>
                              <m:r>
                                <a:rPr lang="ar-AE">
                                  <a:latin typeface="Cambria Math" panose="02040503050406030204" pitchFamily="18" charset="0"/>
                                </a:rPr>
                                <m:t>𝑢</m:t>
                              </m:r>
                              <m:r>
                                <a:rPr lang="ar-AE">
                                  <a:latin typeface="Cambria Math" panose="02040503050406030204" pitchFamily="18" charset="0"/>
                                </a:rPr>
                                <m:t>,</m:t>
                              </m:r>
                              <m:r>
                                <a:rPr lang="ar-AE">
                                  <a:latin typeface="Cambria Math" panose="02040503050406030204" pitchFamily="18" charset="0"/>
                                </a:rPr>
                                <m:t>𝑇</m:t>
                              </m:r>
                            </m:sub>
                            <m:sup>
                              <m:r>
                                <a:rPr lang="ar-AE">
                                  <a:latin typeface="Cambria Math" panose="02040503050406030204" pitchFamily="18" charset="0"/>
                                </a:rPr>
                                <m:t>(</m:t>
                              </m:r>
                              <m:r>
                                <a:rPr lang="ar-AE">
                                  <a:latin typeface="Cambria Math" panose="02040503050406030204" pitchFamily="18" charset="0"/>
                                </a:rPr>
                                <m:t>𝑑</m:t>
                              </m:r>
                              <m:r>
                                <a:rPr lang="ar-AE">
                                  <a:latin typeface="Cambria Math" panose="02040503050406030204" pitchFamily="18" charset="0"/>
                                </a:rPr>
                                <m:t>)</m:t>
                              </m:r>
                            </m:sup>
                          </m:sSubSup>
                        </m:e>
                      </m:nary>
                    </m:oMath>
                  </m:oMathPara>
                </a14:m>
                <a:endParaRPr sz="1300" dirty="0"/>
              </a:p>
            </p:txBody>
          </p:sp>
        </mc:Choice>
        <mc:Fallback>
          <p:sp>
            <p:nvSpPr>
              <p:cNvPr id="6071" name="EDITABLE MATH | Park 2023 Eq 2.2 normalized CUSUM | ROW 2"/>
              <p:cNvSpPr txBox="1">
                <a:spLocks noRot="1" noChangeAspect="1" noMove="1" noResize="1" noEditPoints="1" noAdjustHandles="1" noChangeArrowheads="1" noChangeShapeType="1" noTextEdit="1"/>
              </p:cNvSpPr>
              <p:nvPr/>
            </p:nvSpPr>
            <p:spPr>
              <a:xfrm>
                <a:off x="1559233" y="5772440"/>
                <a:ext cx="2492221" cy="955646"/>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072" name="EDITABLE MATH | Park 2023 Eq 2.2 normalized CUSUM | ROW 3"/>
              <p:cNvSpPr txBox="1"/>
              <p:nvPr/>
            </p:nvSpPr>
            <p:spPr>
              <a:xfrm>
                <a:off x="5787140" y="5891022"/>
                <a:ext cx="2936567" cy="943528"/>
              </a:xfrm>
              <a:prstGeom prst="rect">
                <a:avLst/>
              </a:prstGeom>
              <a:noFill/>
            </p:spPr>
            <p:txBody>
              <a:bodyPr wrap="square" lIns="45720" tIns="36576" rIns="45720" bIns="36576">
                <a:spAutoFit/>
              </a:bodyPr>
              <a:lstStyle/>
              <a:p>
                <a:pPr algn="ctr">
                  <a:spcAft>
                    <a:spcPts val="400"/>
                  </a:spcAft>
                </a:pPr>
                <a14:m>
                  <m:oMathPara xmlns:m="http://schemas.openxmlformats.org/officeDocument/2006/math">
                    <m:oMathParaPr>
                      <m:jc m:val="centerGroup"/>
                    </m:oMathParaPr>
                    <m:oMath xmlns:m="http://schemas.openxmlformats.org/officeDocument/2006/math">
                      <m:r>
                        <a:rPr lang="en-GB" smtClean="0">
                          <a:latin typeface="Cambria Math" panose="02040503050406030204" pitchFamily="18" charset="0"/>
                        </a:rPr>
                        <m:t>𝐵</m:t>
                      </m:r>
                      <m:r>
                        <a:rPr lang="en-GB" smtClean="0">
                          <a:latin typeface="Cambria Math" panose="02040503050406030204" pitchFamily="18" charset="0"/>
                        </a:rPr>
                        <m:t>ₜ</m:t>
                      </m:r>
                      <m:r>
                        <a:rPr lang="en-GB" smtClean="0">
                          <a:latin typeface="Cambria Math" panose="02040503050406030204" pitchFamily="18" charset="0"/>
                        </a:rPr>
                        <m:t>⁽</m:t>
                      </m:r>
                      <m:r>
                        <a:rPr lang="en-GB" smtClean="0">
                          <a:latin typeface="Cambria Math" panose="02040503050406030204" pitchFamily="18" charset="0"/>
                        </a:rPr>
                        <m:t>ᵈ</m:t>
                      </m:r>
                      <m:r>
                        <a:rPr lang="en-GB" smtClean="0">
                          <a:latin typeface="Cambria Math" panose="02040503050406030204" pitchFamily="18" charset="0"/>
                        </a:rPr>
                        <m:t>⁾</m:t>
                      </m:r>
                      <m:r>
                        <a:rPr lang="en-GB" smtClean="0">
                          <a:latin typeface="Cambria Math" panose="02040503050406030204" pitchFamily="18" charset="0"/>
                        </a:rPr>
                        <m:t> = </m:t>
                      </m:r>
                      <m:rad>
                        <m:radPr>
                          <m:degHide m:val="on"/>
                          <m:ctrlPr>
                            <a:rPr lang="ar-AE" i="1" smtClean="0">
                              <a:latin typeface="Cambria Math" panose="02040503050406030204" pitchFamily="18" charset="0"/>
                            </a:rPr>
                          </m:ctrlPr>
                        </m:radPr>
                        <m:deg/>
                        <m:e>
                          <m:f>
                            <m:fPr>
                              <m:ctrlPr>
                                <a:rPr lang="ar-AE" i="1" smtClean="0">
                                  <a:latin typeface="Cambria Math" panose="02040503050406030204" pitchFamily="18" charset="0"/>
                                </a:rPr>
                              </m:ctrlPr>
                            </m:fPr>
                            <m:num>
                              <m:r>
                                <a:rPr lang="ar-AE" b="0" i="1" smtClean="0">
                                  <a:latin typeface="Cambria Math" panose="02040503050406030204" pitchFamily="18" charset="0"/>
                                </a:rPr>
                                <m:t>𝑡</m:t>
                              </m:r>
                            </m:num>
                            <m:den>
                              <m:r>
                                <a:rPr lang="en-US" b="0" i="1" smtClean="0">
                                  <a:latin typeface="Cambria Math" panose="02040503050406030204" pitchFamily="18" charset="0"/>
                                </a:rPr>
                                <m:t>𝑇</m:t>
                              </m:r>
                              <m:d>
                                <m:dPr>
                                  <m:ctrlPr>
                                    <a:rPr lang="ar-AE" i="1" smtClean="0">
                                      <a:latin typeface="Cambria Math" panose="02040503050406030204" pitchFamily="18" charset="0"/>
                                    </a:rPr>
                                  </m:ctrlPr>
                                </m:dPr>
                                <m:e>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𝑡</m:t>
                                  </m:r>
                                </m:e>
                              </m:d>
                            </m:den>
                          </m:f>
                        </m:e>
                      </m:rad>
                      <m:nary>
                        <m:naryPr>
                          <m:chr m:val="∑"/>
                          <m:ctrlPr>
                            <a:rPr lang="ar-AE" i="1" smtClean="0">
                              <a:latin typeface="Cambria Math" panose="02040503050406030204" pitchFamily="18" charset="0"/>
                            </a:rPr>
                          </m:ctrlPr>
                        </m:naryPr>
                        <m:sub>
                          <m:r>
                            <m:rPr>
                              <m:brk m:alnAt="23"/>
                            </m:rP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𝑡</m:t>
                          </m:r>
                        </m:sub>
                        <m:sup>
                          <m:r>
                            <a:rPr lang="en-US" b="0" i="1" smtClean="0">
                              <a:latin typeface="Cambria Math" panose="02040503050406030204" pitchFamily="18" charset="0"/>
                            </a:rPr>
                            <m:t>𝑇</m:t>
                          </m:r>
                          <m:r>
                            <a:rPr lang="en-US" b="0" i="1" smtClean="0">
                              <a:latin typeface="Cambria Math" panose="02040503050406030204" pitchFamily="18" charset="0"/>
                            </a:rPr>
                            <m:t> −</m:t>
                          </m:r>
                          <m:r>
                            <a:rPr lang="en-US" b="0" i="1" smtClean="0">
                              <a:latin typeface="Cambria Math" panose="02040503050406030204" pitchFamily="18" charset="0"/>
                            </a:rPr>
                            <m:t>1</m:t>
                          </m:r>
                        </m:sup>
                        <m:e>
                          <m:sSubSup>
                            <m:sSubSupPr>
                              <m:ctrlPr>
                                <a:rPr lang="ar-AE" i="1">
                                  <a:latin typeface="Cambria Math" panose="02040503050406030204" pitchFamily="18" charset="0"/>
                                </a:rPr>
                              </m:ctrlPr>
                            </m:sSubSupPr>
                            <m:e>
                              <m:r>
                                <a:rPr lang="ar-AE">
                                  <a:latin typeface="Cambria Math" panose="02040503050406030204" pitchFamily="18" charset="0"/>
                                </a:rPr>
                                <m:t>𝑋</m:t>
                              </m:r>
                            </m:e>
                            <m:sub>
                              <m:r>
                                <a:rPr lang="ar-AE">
                                  <a:latin typeface="Cambria Math" panose="02040503050406030204" pitchFamily="18" charset="0"/>
                                </a:rPr>
                                <m:t>𝑢</m:t>
                              </m:r>
                              <m:r>
                                <a:rPr lang="ar-AE">
                                  <a:latin typeface="Cambria Math" panose="02040503050406030204" pitchFamily="18" charset="0"/>
                                </a:rPr>
                                <m:t>,</m:t>
                              </m:r>
                              <m:r>
                                <a:rPr lang="ar-AE">
                                  <a:latin typeface="Cambria Math" panose="02040503050406030204" pitchFamily="18" charset="0"/>
                                </a:rPr>
                                <m:t>𝑇</m:t>
                              </m:r>
                            </m:sub>
                            <m:sup>
                              <m:r>
                                <a:rPr lang="ar-AE">
                                  <a:latin typeface="Cambria Math" panose="02040503050406030204" pitchFamily="18" charset="0"/>
                                </a:rPr>
                                <m:t>(</m:t>
                              </m:r>
                              <m:r>
                                <a:rPr lang="ar-AE">
                                  <a:latin typeface="Cambria Math" panose="02040503050406030204" pitchFamily="18" charset="0"/>
                                </a:rPr>
                                <m:t>𝑑</m:t>
                              </m:r>
                              <m:r>
                                <a:rPr lang="ar-AE">
                                  <a:latin typeface="Cambria Math" panose="02040503050406030204" pitchFamily="18" charset="0"/>
                                </a:rPr>
                                <m:t>)</m:t>
                              </m:r>
                            </m:sup>
                          </m:sSubSup>
                        </m:e>
                      </m:nary>
                    </m:oMath>
                  </m:oMathPara>
                </a14:m>
                <a:endParaRPr sz="1300" dirty="0"/>
              </a:p>
            </p:txBody>
          </p:sp>
        </mc:Choice>
        <mc:Fallback>
          <p:sp>
            <p:nvSpPr>
              <p:cNvPr id="6072" name="EDITABLE MATH | Park 2023 Eq 2.2 normalized CUSUM | ROW 3"/>
              <p:cNvSpPr txBox="1">
                <a:spLocks noRot="1" noChangeAspect="1" noMove="1" noResize="1" noEditPoints="1" noAdjustHandles="1" noChangeArrowheads="1" noChangeShapeType="1" noTextEdit="1"/>
              </p:cNvSpPr>
              <p:nvPr/>
            </p:nvSpPr>
            <p:spPr>
              <a:xfrm>
                <a:off x="5787140" y="5891022"/>
                <a:ext cx="2936567" cy="943528"/>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073" name="EDITABLE MATH | Park 2023 Eq 2.2 normalized CUSUM | ROW 4"/>
              <p:cNvSpPr txBox="1"/>
              <p:nvPr/>
            </p:nvSpPr>
            <p:spPr>
              <a:xfrm>
                <a:off x="4093615" y="6929739"/>
                <a:ext cx="1936556" cy="904287"/>
              </a:xfrm>
              <a:prstGeom prst="rect">
                <a:avLst/>
              </a:prstGeom>
              <a:noFill/>
            </p:spPr>
            <p:txBody>
              <a:bodyPr wrap="none" lIns="45720" tIns="36576" rIns="45720" bIns="36576">
                <a:spAutoFit/>
              </a:bodyPr>
              <a:lstStyle/>
              <a:p>
                <a:pPr algn="ctr">
                  <a:spcAft>
                    <a:spcPts val="400"/>
                  </a:spcAft>
                </a:pPr>
                <a14:m>
                  <m:oMathPara xmlns:m="http://schemas.openxmlformats.org/officeDocument/2006/math">
                    <m:oMathParaPr>
                      <m:jc m:val="centerGroup"/>
                    </m:oMathParaPr>
                    <m:oMath xmlns:m="http://schemas.openxmlformats.org/officeDocument/2006/math">
                      <m:r>
                        <a:rPr lang="en-GB" smtClean="0">
                          <a:latin typeface="Cambria Math" panose="02040503050406030204" pitchFamily="18" charset="0"/>
                        </a:rPr>
                        <m:t>𝑋</m:t>
                      </m:r>
                      <m:r>
                        <a:rPr lang="en-GB" smtClean="0">
                          <a:latin typeface="Cambria Math" panose="02040503050406030204" pitchFamily="18" charset="0"/>
                        </a:rPr>
                        <m:t>̄</m:t>
                      </m:r>
                      <m:r>
                        <a:rPr lang="en-GB" smtClean="0">
                          <a:latin typeface="Cambria Math" panose="02040503050406030204" pitchFamily="18" charset="0"/>
                        </a:rPr>
                        <m:t>⁽</m:t>
                      </m:r>
                      <m:r>
                        <a:rPr lang="en-GB" smtClean="0">
                          <a:latin typeface="Cambria Math" panose="02040503050406030204" pitchFamily="18" charset="0"/>
                        </a:rPr>
                        <m:t>ᵈ</m:t>
                      </m:r>
                      <m:r>
                        <a:rPr lang="en-GB" smtClean="0">
                          <a:latin typeface="Cambria Math" panose="02040503050406030204" pitchFamily="18" charset="0"/>
                        </a:rPr>
                        <m:t>⁾</m:t>
                      </m:r>
                      <m:r>
                        <a:rPr lang="en-GB" smtClean="0">
                          <a:latin typeface="Cambria Math" panose="02040503050406030204" pitchFamily="18" charset="0"/>
                        </a:rPr>
                        <m:t> = </m:t>
                      </m:r>
                      <m:f>
                        <m:fPr>
                          <m:ctrlPr>
                            <a:rPr lang="ar-AE" i="1" smtClean="0">
                              <a:latin typeface="Cambria Math" panose="02040503050406030204" pitchFamily="18" charset="0"/>
                            </a:rPr>
                          </m:ctrlPr>
                        </m:fPr>
                        <m:num>
                          <m:r>
                            <a:rPr lang="ar-AE" b="0" i="1" smtClean="0">
                              <a:latin typeface="Cambria Math" panose="02040503050406030204" pitchFamily="18" charset="0"/>
                            </a:rPr>
                            <m:t>1</m:t>
                          </m:r>
                        </m:num>
                        <m:den>
                          <m:r>
                            <a:rPr lang="en-US" b="0" i="1" smtClean="0">
                              <a:latin typeface="Cambria Math" panose="02040503050406030204" pitchFamily="18" charset="0"/>
                            </a:rPr>
                            <m:t>𝑇</m:t>
                          </m:r>
                        </m:den>
                      </m:f>
                      <m:nary>
                        <m:naryPr>
                          <m:chr m:val="∑"/>
                          <m:ctrlPr>
                            <a:rPr lang="ar-AE" i="1">
                              <a:latin typeface="Cambria Math" panose="02040503050406030204" pitchFamily="18" charset="0"/>
                            </a:rPr>
                          </m:ctrlPr>
                        </m:naryPr>
                        <m:sub>
                          <m:r>
                            <m:rPr>
                              <m:brk m:alnAt="23"/>
                            </m:rPr>
                            <a:rPr lang="en-US" i="1">
                              <a:latin typeface="Cambria Math" panose="02040503050406030204" pitchFamily="18" charset="0"/>
                            </a:rPr>
                            <m:t>𝑢</m:t>
                          </m:r>
                          <m:r>
                            <a:rPr lang="en-US" i="1">
                              <a:latin typeface="Cambria Math" panose="02040503050406030204" pitchFamily="18" charset="0"/>
                            </a:rPr>
                            <m:t>=</m:t>
                          </m:r>
                          <m:r>
                            <a:rPr lang="en-US" i="1">
                              <a:latin typeface="Cambria Math" panose="02040503050406030204" pitchFamily="18" charset="0"/>
                            </a:rPr>
                            <m:t>0</m:t>
                          </m:r>
                        </m:sub>
                        <m:sup>
                          <m:r>
                            <a:rPr lang="en-US" b="0" i="1" smtClean="0">
                              <a:latin typeface="Cambria Math" panose="02040503050406030204" pitchFamily="18" charset="0"/>
                            </a:rPr>
                            <m:t>𝑇</m:t>
                          </m:r>
                          <m:r>
                            <a:rPr lang="en-US" i="1">
                              <a:latin typeface="Cambria Math" panose="02040503050406030204" pitchFamily="18" charset="0"/>
                            </a:rPr>
                            <m:t> −</m:t>
                          </m:r>
                          <m:r>
                            <a:rPr lang="en-US" i="1">
                              <a:latin typeface="Cambria Math" panose="02040503050406030204" pitchFamily="18" charset="0"/>
                            </a:rPr>
                            <m:t>1</m:t>
                          </m:r>
                        </m:sup>
                        <m:e>
                          <m:sSubSup>
                            <m:sSubSupPr>
                              <m:ctrlPr>
                                <a:rPr lang="ar-AE" i="1">
                                  <a:latin typeface="Cambria Math" panose="02040503050406030204" pitchFamily="18" charset="0"/>
                                </a:rPr>
                              </m:ctrlPr>
                            </m:sSubSupPr>
                            <m:e>
                              <m:r>
                                <a:rPr lang="ar-AE">
                                  <a:latin typeface="Cambria Math" panose="02040503050406030204" pitchFamily="18" charset="0"/>
                                </a:rPr>
                                <m:t>𝑋</m:t>
                              </m:r>
                            </m:e>
                            <m:sub>
                              <m:r>
                                <a:rPr lang="ar-AE">
                                  <a:latin typeface="Cambria Math" panose="02040503050406030204" pitchFamily="18" charset="0"/>
                                </a:rPr>
                                <m:t>𝑢</m:t>
                              </m:r>
                              <m:r>
                                <a:rPr lang="ar-AE">
                                  <a:latin typeface="Cambria Math" panose="02040503050406030204" pitchFamily="18" charset="0"/>
                                </a:rPr>
                                <m:t>,</m:t>
                              </m:r>
                              <m:r>
                                <a:rPr lang="ar-AE">
                                  <a:latin typeface="Cambria Math" panose="02040503050406030204" pitchFamily="18" charset="0"/>
                                </a:rPr>
                                <m:t>𝑇</m:t>
                              </m:r>
                            </m:sub>
                            <m:sup>
                              <m:r>
                                <a:rPr lang="ar-AE">
                                  <a:latin typeface="Cambria Math" panose="02040503050406030204" pitchFamily="18" charset="0"/>
                                </a:rPr>
                                <m:t>(</m:t>
                              </m:r>
                              <m:r>
                                <a:rPr lang="ar-AE">
                                  <a:latin typeface="Cambria Math" panose="02040503050406030204" pitchFamily="18" charset="0"/>
                                </a:rPr>
                                <m:t>𝑑</m:t>
                              </m:r>
                              <m:r>
                                <a:rPr lang="ar-AE">
                                  <a:latin typeface="Cambria Math" panose="02040503050406030204" pitchFamily="18" charset="0"/>
                                </a:rPr>
                                <m:t>)</m:t>
                              </m:r>
                            </m:sup>
                          </m:sSubSup>
                        </m:e>
                      </m:nary>
                    </m:oMath>
                  </m:oMathPara>
                </a14:m>
                <a:endParaRPr sz="1300" dirty="0"/>
              </a:p>
            </p:txBody>
          </p:sp>
        </mc:Choice>
        <mc:Fallback>
          <p:sp>
            <p:nvSpPr>
              <p:cNvPr id="6073" name="EDITABLE MATH | Park 2023 Eq 2.2 normalized CUSUM | ROW 4"/>
              <p:cNvSpPr txBox="1">
                <a:spLocks noRot="1" noChangeAspect="1" noMove="1" noResize="1" noEditPoints="1" noAdjustHandles="1" noChangeArrowheads="1" noChangeShapeType="1" noTextEdit="1"/>
              </p:cNvSpPr>
              <p:nvPr/>
            </p:nvSpPr>
            <p:spPr>
              <a:xfrm>
                <a:off x="4093615" y="6929739"/>
                <a:ext cx="1936556" cy="904287"/>
              </a:xfrm>
              <a:prstGeom prst="rect">
                <a:avLst/>
              </a:prstGeom>
              <a:blipFill>
                <a:blip r:embed="rId5"/>
                <a:stretch>
                  <a:fillRect/>
                </a:stretch>
              </a:blipFill>
            </p:spPr>
            <p:txBody>
              <a:bodyPr/>
              <a:lstStyle/>
              <a:p>
                <a:r>
                  <a:rPr lang="en-GB">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1088136"/>
            <a:ext cx="16340328" cy="679275"/>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From Channelwise Mean-CUSUM to Smoothed Change-Point Estimates</a:t>
            </a:r>
          </a:p>
        </p:txBody>
      </p:sp>
      <p:sp>
        <p:nvSpPr>
          <p:cNvPr id="3" name="TextBox 3"/>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4" name="Group 4"/>
          <p:cNvGrpSpPr/>
          <p:nvPr/>
        </p:nvGrpSpPr>
        <p:grpSpPr>
          <a:xfrm>
            <a:off x="950595" y="3007995"/>
            <a:ext cx="8042910" cy="5162550"/>
            <a:chOff x="0" y="0"/>
            <a:chExt cx="10723880" cy="6883400"/>
          </a:xfrm>
        </p:grpSpPr>
        <p:sp>
          <p:nvSpPr>
            <p:cNvPr id="5" name="Freeform 5"/>
            <p:cNvSpPr/>
            <p:nvPr/>
          </p:nvSpPr>
          <p:spPr>
            <a:xfrm>
              <a:off x="0" y="0"/>
              <a:ext cx="10723880" cy="6883400"/>
            </a:xfrm>
            <a:custGeom>
              <a:avLst/>
              <a:gdLst/>
              <a:ahLst/>
              <a:cxnLst/>
              <a:rect l="l" t="t" r="r" b="b"/>
              <a:pathLst>
                <a:path w="10723880" h="6883400">
                  <a:moveTo>
                    <a:pt x="0" y="1147318"/>
                  </a:moveTo>
                  <a:cubicBezTo>
                    <a:pt x="0" y="513588"/>
                    <a:pt x="513588" y="0"/>
                    <a:pt x="1147318" y="0"/>
                  </a:cubicBezTo>
                  <a:lnTo>
                    <a:pt x="9576562" y="0"/>
                  </a:lnTo>
                  <a:cubicBezTo>
                    <a:pt x="10210165" y="0"/>
                    <a:pt x="10723880" y="513588"/>
                    <a:pt x="10723880" y="1147318"/>
                  </a:cubicBezTo>
                  <a:lnTo>
                    <a:pt x="10723880" y="5736082"/>
                  </a:lnTo>
                  <a:cubicBezTo>
                    <a:pt x="10723880" y="6369685"/>
                    <a:pt x="10210292" y="6883400"/>
                    <a:pt x="9576562" y="6883400"/>
                  </a:cubicBezTo>
                  <a:lnTo>
                    <a:pt x="1147318" y="6883400"/>
                  </a:lnTo>
                  <a:cubicBezTo>
                    <a:pt x="513588" y="6883400"/>
                    <a:pt x="0" y="6369812"/>
                    <a:pt x="0" y="5736082"/>
                  </a:cubicBezTo>
                  <a:close/>
                </a:path>
              </a:pathLst>
            </a:custGeom>
            <a:solidFill>
              <a:srgbClr val="FFFFFF"/>
            </a:solidFill>
            <a:ln w="19050" cap="sq">
              <a:solidFill>
                <a:srgbClr val="DBE5ED"/>
              </a:solidFill>
              <a:prstDash val="solid"/>
              <a:miter/>
            </a:ln>
          </p:spPr>
          <p:txBody>
            <a:bodyPr/>
            <a:lstStyle/>
            <a:p>
              <a:endParaRPr lang="en-GB"/>
            </a:p>
          </p:txBody>
        </p:sp>
      </p:grpSp>
      <p:sp>
        <p:nvSpPr>
          <p:cNvPr id="6" name="TextBox 6"/>
          <p:cNvSpPr txBox="1"/>
          <p:nvPr/>
        </p:nvSpPr>
        <p:spPr>
          <a:xfrm>
            <a:off x="1220724" y="3214116"/>
            <a:ext cx="7438644" cy="425358"/>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STEP 1: Aggregation Across Channels</a:t>
            </a:r>
          </a:p>
        </p:txBody>
      </p:sp>
      <p:grpSp>
        <p:nvGrpSpPr>
          <p:cNvPr id="7" name="Group 7"/>
          <p:cNvGrpSpPr/>
          <p:nvPr/>
        </p:nvGrpSpPr>
        <p:grpSpPr>
          <a:xfrm>
            <a:off x="9317355" y="3007995"/>
            <a:ext cx="8042910" cy="5162550"/>
            <a:chOff x="0" y="0"/>
            <a:chExt cx="10723880" cy="6883400"/>
          </a:xfrm>
        </p:grpSpPr>
        <p:sp>
          <p:nvSpPr>
            <p:cNvPr id="8" name="Freeform 8"/>
            <p:cNvSpPr/>
            <p:nvPr/>
          </p:nvSpPr>
          <p:spPr>
            <a:xfrm>
              <a:off x="0" y="0"/>
              <a:ext cx="10723880" cy="6883400"/>
            </a:xfrm>
            <a:custGeom>
              <a:avLst/>
              <a:gdLst/>
              <a:ahLst/>
              <a:cxnLst/>
              <a:rect l="l" t="t" r="r" b="b"/>
              <a:pathLst>
                <a:path w="10723880" h="6883400">
                  <a:moveTo>
                    <a:pt x="0" y="1147318"/>
                  </a:moveTo>
                  <a:cubicBezTo>
                    <a:pt x="0" y="513588"/>
                    <a:pt x="513588" y="0"/>
                    <a:pt x="1147318" y="0"/>
                  </a:cubicBezTo>
                  <a:lnTo>
                    <a:pt x="9576562" y="0"/>
                  </a:lnTo>
                  <a:cubicBezTo>
                    <a:pt x="10210165" y="0"/>
                    <a:pt x="10723880" y="513588"/>
                    <a:pt x="10723880" y="1147318"/>
                  </a:cubicBezTo>
                  <a:lnTo>
                    <a:pt x="10723880" y="5736082"/>
                  </a:lnTo>
                  <a:cubicBezTo>
                    <a:pt x="10723880" y="6369685"/>
                    <a:pt x="10210292" y="6883400"/>
                    <a:pt x="9576562" y="6883400"/>
                  </a:cubicBezTo>
                  <a:lnTo>
                    <a:pt x="1147318" y="6883400"/>
                  </a:lnTo>
                  <a:cubicBezTo>
                    <a:pt x="513588" y="6883400"/>
                    <a:pt x="0" y="6369812"/>
                    <a:pt x="0" y="5736082"/>
                  </a:cubicBezTo>
                  <a:close/>
                </a:path>
              </a:pathLst>
            </a:custGeom>
            <a:solidFill>
              <a:srgbClr val="FFFFFF"/>
            </a:solidFill>
            <a:ln w="19050" cap="sq">
              <a:solidFill>
                <a:srgbClr val="DBE5ED"/>
              </a:solidFill>
              <a:prstDash val="solid"/>
              <a:miter/>
            </a:ln>
          </p:spPr>
          <p:txBody>
            <a:bodyPr/>
            <a:lstStyle/>
            <a:p>
              <a:endParaRPr lang="en-GB"/>
            </a:p>
          </p:txBody>
        </p:sp>
      </p:grpSp>
      <p:sp>
        <p:nvSpPr>
          <p:cNvPr id="9" name="TextBox 9"/>
          <p:cNvSpPr txBox="1"/>
          <p:nvPr/>
        </p:nvSpPr>
        <p:spPr>
          <a:xfrm>
            <a:off x="9587484" y="3214116"/>
            <a:ext cx="7438644" cy="425358"/>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STEP 2: Smooth the Aggregated Curves</a:t>
            </a:r>
          </a:p>
        </p:txBody>
      </p:sp>
      <p:sp>
        <p:nvSpPr>
          <p:cNvPr id="10" name="TextBox 10"/>
          <p:cNvSpPr txBox="1"/>
          <p:nvPr/>
        </p:nvSpPr>
        <p:spPr>
          <a:xfrm>
            <a:off x="1261872" y="8498967"/>
            <a:ext cx="16066008" cy="631317"/>
          </a:xfrm>
          <a:prstGeom prst="rect">
            <a:avLst/>
          </a:prstGeom>
        </p:spPr>
        <p:txBody>
          <a:bodyPr lIns="0" tIns="0" rIns="0" bIns="0" rtlCol="0" anchor="t">
            <a:spAutoFit/>
          </a:bodyPr>
          <a:lstStyle/>
          <a:p>
            <a:pPr algn="l">
              <a:lnSpc>
                <a:spcPts val="2520"/>
              </a:lnSpc>
            </a:pPr>
            <a:r>
              <a:rPr lang="en-US" sz="2100" b="1">
                <a:solidFill>
                  <a:srgbClr val="12233B"/>
                </a:solidFill>
                <a:latin typeface="Aptos Bold"/>
                <a:ea typeface="Aptos Bold"/>
                <a:cs typeface="Aptos Bold"/>
                <a:sym typeface="Aptos Bold"/>
              </a:rPr>
              <a:t>Research question RQ4: candidate localisation is implemented; confirmation and statistical validity remain open.</a:t>
            </a:r>
          </a:p>
        </p:txBody>
      </p:sp>
      <p:sp>
        <p:nvSpPr>
          <p:cNvPr id="11" name="TextBox 11"/>
          <p:cNvSpPr txBox="1"/>
          <p:nvPr/>
        </p:nvSpPr>
        <p:spPr>
          <a:xfrm>
            <a:off x="9804397" y="7505548"/>
            <a:ext cx="7068817" cy="283378"/>
          </a:xfrm>
          <a:prstGeom prst="rect">
            <a:avLst/>
          </a:prstGeom>
        </p:spPr>
        <p:txBody>
          <a:bodyPr lIns="0" tIns="0" rIns="0" bIns="0" rtlCol="0" anchor="t">
            <a:spAutoFit/>
          </a:bodyPr>
          <a:lstStyle/>
          <a:p>
            <a:pPr algn="l">
              <a:lnSpc>
                <a:spcPts val="1620"/>
              </a:lnSpc>
            </a:pPr>
            <a:r>
              <a:rPr lang="en-US" sz="1350" i="1">
                <a:solidFill>
                  <a:srgbClr val="000000"/>
                </a:solidFill>
                <a:latin typeface="Calibri (MS) Italics"/>
                <a:ea typeface="Calibri (MS) Italics"/>
                <a:cs typeface="Calibri (MS) Italics"/>
                <a:sym typeface="Calibri (MS) Italics"/>
              </a:rPr>
              <a:t>Source: Park et al. (2023), §2.3, Algorithm 1, Step 2, p. 377; smoothing motivation in §2.1, p. 373.</a:t>
            </a:r>
          </a:p>
        </p:txBody>
      </p:sp>
      <mc:AlternateContent xmlns:mc="http://schemas.openxmlformats.org/markup-compatibility/2006">
        <mc:Choice xmlns:a14="http://schemas.microsoft.com/office/drawing/2010/main" Requires="a14">
          <p:sp>
            <p:nvSpPr>
              <p:cNvPr id="6080" name="EDITABLE MATH | Park 2023 pointwise aggregation | ROW 1"/>
              <p:cNvSpPr txBox="1"/>
              <p:nvPr/>
            </p:nvSpPr>
            <p:spPr>
              <a:xfrm>
                <a:off x="1279779" y="4425315"/>
                <a:ext cx="7384542" cy="1463040"/>
              </a:xfrm>
              <a:prstGeom prst="rect">
                <a:avLst/>
              </a:prstGeom>
              <a:noFill/>
            </p:spPr>
            <p:txBody>
              <a:bodyPr wrap="none" lIns="45720" tIns="36576" rIns="45720" bIns="36576">
                <a:spAutoFit/>
              </a:bodyPr>
              <a:lstStyle/>
              <a:p>
                <a:pPr algn="ctr">
                  <a:spcAft>
                    <a:spcPts val="800"/>
                  </a:spcAft>
                </a:pPr>
                <a14:m>
                  <m:oMathPara xmlns:m="http://schemas.openxmlformats.org/officeDocument/2006/math">
                    <m:oMathParaPr>
                      <m:jc m:val="centerGroup"/>
                    </m:oMathParaPr>
                    <m:oMath xmlns:m="http://schemas.openxmlformats.org/officeDocument/2006/math">
                      <m:sSubSup>
                        <m:sSubSupPr>
                          <m:ctrlPr>
                            <a:rPr>
                              <a:latin typeface="Cambria Math" panose="02040503050406030204" pitchFamily="18" charset="0"/>
                            </a:rPr>
                          </m:ctrlPr>
                        </m:sSubSupPr>
                        <m:e>
                          <m:r>
                            <a:rPr>
                              <a:latin typeface="Cambria Math" panose="02040503050406030204" pitchFamily="18" charset="0"/>
                            </a:rPr>
                            <m:t>𝜈</m:t>
                          </m:r>
                        </m:e>
                        <m:sub>
                          <m:r>
                            <a:rPr>
                              <a:latin typeface="Cambria Math" panose="02040503050406030204" pitchFamily="18" charset="0"/>
                            </a:rPr>
                            <m:t>𝑡</m:t>
                          </m:r>
                        </m:sub>
                        <m:sup>
                          <m:r>
                            <a:rPr>
                              <a:latin typeface="Cambria Math" panose="02040503050406030204" pitchFamily="18" charset="0"/>
                            </a:rPr>
                            <m:t>𝑚𝑎𝑥</m:t>
                          </m:r>
                        </m:sup>
                      </m:sSubSup>
                      <m:r>
                        <a:rPr>
                          <a:latin typeface="Cambria Math" panose="02040503050406030204" pitchFamily="18" charset="0"/>
                        </a:rPr>
                        <m:t> = </m:t>
                      </m:r>
                      <m:r>
                        <a:rPr>
                          <a:latin typeface="Cambria Math" panose="02040503050406030204" pitchFamily="18" charset="0"/>
                        </a:rPr>
                        <m:t>𝑚𝑎𝑥</m:t>
                      </m:r>
                      <m:r>
                        <a:rPr>
                          <a:latin typeface="Cambria Math" panose="02040503050406030204" pitchFamily="18" charset="0"/>
                        </a:rPr>
                        <m:t>₍</m:t>
                      </m:r>
                      <m:r>
                        <a:rPr>
                          <a:latin typeface="Cambria Math" panose="02040503050406030204" pitchFamily="18" charset="0"/>
                        </a:rPr>
                        <m:t>₁</m:t>
                      </m:r>
                      <m:r>
                        <a:rPr>
                          <a:latin typeface="Cambria Math" panose="02040503050406030204" pitchFamily="18" charset="0"/>
                        </a:rPr>
                        <m:t>≤</m:t>
                      </m:r>
                      <m:r>
                        <a:rPr>
                          <a:latin typeface="Cambria Math" panose="02040503050406030204" pitchFamily="18" charset="0"/>
                        </a:rPr>
                        <m:t>𝑑</m:t>
                      </m:r>
                      <m:r>
                        <a:rPr>
                          <a:latin typeface="Cambria Math" panose="02040503050406030204" pitchFamily="18" charset="0"/>
                        </a:rPr>
                        <m:t>≤</m:t>
                      </m:r>
                      <m:r>
                        <a:rPr>
                          <a:latin typeface="Cambria Math" panose="02040503050406030204" pitchFamily="18" charset="0"/>
                        </a:rPr>
                        <m:t>𝑝</m:t>
                      </m:r>
                      <m:r>
                        <a:rPr>
                          <a:latin typeface="Cambria Math" panose="02040503050406030204" pitchFamily="18" charset="0"/>
                        </a:rPr>
                        <m:t>₎</m:t>
                      </m:r>
                      <m:r>
                        <a:rPr>
                          <a:latin typeface="Cambria Math" panose="02040503050406030204" pitchFamily="18" charset="0"/>
                        </a:rPr>
                        <m:t> </m:t>
                      </m:r>
                      <m:sSubSup>
                        <m:sSubSupPr>
                          <m:ctrlPr>
                            <a:rPr i="1">
                              <a:latin typeface="Cambria Math" panose="02040503050406030204" pitchFamily="18" charset="0"/>
                            </a:rPr>
                          </m:ctrlPr>
                        </m:sSubSupPr>
                        <m:e>
                          <m:r>
                            <a:rPr>
                              <a:latin typeface="Cambria Math" panose="02040503050406030204" pitchFamily="18" charset="0"/>
                            </a:rPr>
                            <m:t>𝜈</m:t>
                          </m:r>
                        </m:e>
                        <m:sub>
                          <m:r>
                            <a:rPr>
                              <a:latin typeface="Cambria Math" panose="02040503050406030204" pitchFamily="18" charset="0"/>
                            </a:rPr>
                            <m:t>𝑡</m:t>
                          </m:r>
                        </m:sub>
                        <m:sup>
                          <m:r>
                            <a:rPr>
                              <a:latin typeface="Cambria Math" panose="02040503050406030204" pitchFamily="18" charset="0"/>
                            </a:rPr>
                            <m:t>(</m:t>
                          </m:r>
                          <m:r>
                            <a:rPr>
                              <a:latin typeface="Cambria Math" panose="02040503050406030204" pitchFamily="18" charset="0"/>
                            </a:rPr>
                            <m:t>𝑑</m:t>
                          </m:r>
                          <m:r>
                            <a:rPr>
                              <a:latin typeface="Cambria Math" panose="02040503050406030204" pitchFamily="18" charset="0"/>
                            </a:rPr>
                            <m:t>)</m:t>
                          </m:r>
                        </m:sup>
                      </m:sSubSup>
                    </m:oMath>
                  </m:oMathPara>
                </a14:m>
                <a:endParaRPr sz="2400"/>
              </a:p>
            </p:txBody>
          </p:sp>
        </mc:Choice>
        <mc:Fallback>
          <p:sp>
            <p:nvSpPr>
              <p:cNvPr id="6080" name="EDITABLE MATH | Park 2023 pointwise aggregation | ROW 1"/>
              <p:cNvSpPr txBox="1">
                <a:spLocks noRot="1" noChangeAspect="1" noMove="1" noResize="1" noEditPoints="1" noAdjustHandles="1" noChangeArrowheads="1" noChangeShapeType="1" noTextEdit="1"/>
              </p:cNvSpPr>
              <p:nvPr/>
            </p:nvSpPr>
            <p:spPr>
              <a:xfrm>
                <a:off x="1279779" y="4425315"/>
                <a:ext cx="7384542" cy="1463040"/>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081" name="EDITABLE MATH | Park 2023 pointwise aggregation | ROW 2"/>
              <p:cNvSpPr txBox="1"/>
              <p:nvPr/>
            </p:nvSpPr>
            <p:spPr>
              <a:xfrm>
                <a:off x="1279779" y="5888355"/>
                <a:ext cx="7384542" cy="1463040"/>
              </a:xfrm>
              <a:prstGeom prst="rect">
                <a:avLst/>
              </a:prstGeom>
              <a:noFill/>
            </p:spPr>
            <p:txBody>
              <a:bodyPr wrap="none" lIns="45720" tIns="36576" rIns="45720" bIns="36576">
                <a:spAutoFit/>
              </a:bodyPr>
              <a:lstStyle/>
              <a:p>
                <a:pPr algn="ctr">
                  <a:spcAft>
                    <a:spcPts val="800"/>
                  </a:spcAft>
                </a:pPr>
                <a14:m>
                  <m:oMathPara xmlns:m="http://schemas.openxmlformats.org/officeDocument/2006/math">
                    <m:oMathParaPr>
                      <m:jc m:val="centerGroup"/>
                    </m:oMathParaPr>
                    <m:oMath xmlns:m="http://schemas.openxmlformats.org/officeDocument/2006/math">
                      <m:sSubSup>
                        <m:sSubSupPr>
                          <m:ctrlPr>
                            <a:rPr>
                              <a:latin typeface="Cambria Math" panose="02040503050406030204" pitchFamily="18" charset="0"/>
                            </a:rPr>
                          </m:ctrlPr>
                        </m:sSubSupPr>
                        <m:e>
                          <m:r>
                            <a:rPr>
                              <a:latin typeface="Cambria Math" panose="02040503050406030204" pitchFamily="18" charset="0"/>
                            </a:rPr>
                            <m:t>𝜈</m:t>
                          </m:r>
                        </m:e>
                        <m:sub>
                          <m:r>
                            <a:rPr>
                              <a:latin typeface="Cambria Math" panose="02040503050406030204" pitchFamily="18" charset="0"/>
                            </a:rPr>
                            <m:t>𝑡</m:t>
                          </m:r>
                        </m:sub>
                        <m:sup>
                          <m:r>
                            <a:rPr>
                              <a:latin typeface="Cambria Math" panose="02040503050406030204" pitchFamily="18" charset="0"/>
                            </a:rPr>
                            <m:t>𝑎𝑣𝑔</m:t>
                          </m:r>
                        </m:sup>
                      </m:sSubSup>
                      <m:r>
                        <a:rPr>
                          <a:latin typeface="Cambria Math" panose="02040503050406030204" pitchFamily="18" charset="0"/>
                        </a:rPr>
                        <m:t> = </m:t>
                      </m:r>
                      <m:f>
                        <m:fPr>
                          <m:ctrlPr>
                            <a:rPr i="1">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𝑝</m:t>
                          </m:r>
                        </m:den>
                      </m:f>
                      <m:r>
                        <a:rPr>
                          <a:latin typeface="Cambria Math" panose="02040503050406030204" pitchFamily="18" charset="0"/>
                        </a:rPr>
                        <m:t> ∑ᵈ</m:t>
                      </m:r>
                      <m:r>
                        <a:rPr>
                          <a:latin typeface="Cambria Math" panose="02040503050406030204" pitchFamily="18" charset="0"/>
                        </a:rPr>
                        <m:t>₌</m:t>
                      </m:r>
                      <m:r>
                        <a:rPr>
                          <a:latin typeface="Cambria Math" panose="02040503050406030204" pitchFamily="18" charset="0"/>
                        </a:rPr>
                        <m:t>₁</m:t>
                      </m:r>
                      <m:r>
                        <a:rPr>
                          <a:latin typeface="Cambria Math" panose="02040503050406030204" pitchFamily="18" charset="0"/>
                        </a:rPr>
                        <m:t>ᵖ </m:t>
                      </m:r>
                      <m:sSubSup>
                        <m:sSubSupPr>
                          <m:ctrlPr>
                            <a:rPr i="1">
                              <a:latin typeface="Cambria Math" panose="02040503050406030204" pitchFamily="18" charset="0"/>
                            </a:rPr>
                          </m:ctrlPr>
                        </m:sSubSupPr>
                        <m:e>
                          <m:r>
                            <a:rPr>
                              <a:latin typeface="Cambria Math" panose="02040503050406030204" pitchFamily="18" charset="0"/>
                            </a:rPr>
                            <m:t>𝜈</m:t>
                          </m:r>
                        </m:e>
                        <m:sub>
                          <m:r>
                            <a:rPr>
                              <a:latin typeface="Cambria Math" panose="02040503050406030204" pitchFamily="18" charset="0"/>
                            </a:rPr>
                            <m:t>𝑡</m:t>
                          </m:r>
                        </m:sub>
                        <m:sup>
                          <m:r>
                            <a:rPr>
                              <a:latin typeface="Cambria Math" panose="02040503050406030204" pitchFamily="18" charset="0"/>
                            </a:rPr>
                            <m:t>(</m:t>
                          </m:r>
                          <m:r>
                            <a:rPr>
                              <a:latin typeface="Cambria Math" panose="02040503050406030204" pitchFamily="18" charset="0"/>
                            </a:rPr>
                            <m:t>𝑑</m:t>
                          </m:r>
                          <m:r>
                            <a:rPr>
                              <a:latin typeface="Cambria Math" panose="02040503050406030204" pitchFamily="18" charset="0"/>
                            </a:rPr>
                            <m:t>)</m:t>
                          </m:r>
                        </m:sup>
                      </m:sSubSup>
                    </m:oMath>
                  </m:oMathPara>
                </a14:m>
                <a:endParaRPr sz="2400"/>
              </a:p>
            </p:txBody>
          </p:sp>
        </mc:Choice>
        <mc:Fallback>
          <p:sp>
            <p:nvSpPr>
              <p:cNvPr id="6081" name="EDITABLE MATH | Park 2023 pointwise aggregation | ROW 2"/>
              <p:cNvSpPr txBox="1">
                <a:spLocks noRot="1" noChangeAspect="1" noMove="1" noResize="1" noEditPoints="1" noAdjustHandles="1" noChangeArrowheads="1" noChangeShapeType="1" noTextEdit="1"/>
              </p:cNvSpPr>
              <p:nvPr/>
            </p:nvSpPr>
            <p:spPr>
              <a:xfrm>
                <a:off x="1279779" y="5888355"/>
                <a:ext cx="7384542" cy="1463040"/>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2" name="EDITABLE MATH | Code-grounded LOESS and peak estimates | ROW 1"/>
              <p:cNvSpPr txBox="1"/>
              <p:nvPr/>
            </p:nvSpPr>
            <p:spPr>
              <a:xfrm>
                <a:off x="9646539" y="4425315"/>
                <a:ext cx="7384542" cy="731520"/>
              </a:xfrm>
              <a:prstGeom prst="rect">
                <a:avLst/>
              </a:prstGeom>
              <a:noFill/>
            </p:spPr>
            <p:txBody>
              <a:bodyPr wrap="none" lIns="45720" tIns="36576" rIns="45720" bIns="36576">
                <a:spAutoFit/>
              </a:bodyPr>
              <a:lstStyle/>
              <a:p>
                <a:pPr algn="ctr">
                  <a:spcAft>
                    <a:spcPts val="400"/>
                  </a:spcAft>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𝜈</m:t>
                      </m:r>
                      <m:r>
                        <a:rPr>
                          <a:latin typeface="Cambria Math" panose="02040503050406030204" pitchFamily="18" charset="0"/>
                        </a:rPr>
                        <m:t>̃</m:t>
                      </m:r>
                      <m:r>
                        <a:rPr>
                          <a:latin typeface="Cambria Math" panose="02040503050406030204" pitchFamily="18" charset="0"/>
                        </a:rPr>
                        <m:t>ₜᵐᵃˣ = </m:t>
                      </m:r>
                      <m:r>
                        <a:rPr>
                          <a:latin typeface="Cambria Math" panose="02040503050406030204" pitchFamily="18" charset="0"/>
                        </a:rPr>
                        <m:t>𝐿𝑂𝐸𝑆𝑆</m:t>
                      </m:r>
                      <m:r>
                        <a:rPr>
                          <a:latin typeface="Cambria Math" panose="02040503050406030204" pitchFamily="18" charset="0"/>
                        </a:rPr>
                        <m:t>₀</m:t>
                      </m:r>
                      <m:r>
                        <a:rPr>
                          <a:latin typeface="Cambria Math" panose="02040503050406030204" pitchFamily="18" charset="0"/>
                        </a:rPr>
                        <m:t>.</m:t>
                      </m:r>
                      <m:r>
                        <a:rPr>
                          <a:latin typeface="Cambria Math" panose="02040503050406030204" pitchFamily="18" charset="0"/>
                        </a:rPr>
                        <m:t>₁</m:t>
                      </m:r>
                      <m:r>
                        <a:rPr>
                          <a:latin typeface="Cambria Math" panose="02040503050406030204" pitchFamily="18" charset="0"/>
                        </a:rPr>
                        <m:t>(</m:t>
                      </m:r>
                      <m:r>
                        <a:rPr>
                          <a:latin typeface="Cambria Math" panose="02040503050406030204" pitchFamily="18" charset="0"/>
                        </a:rPr>
                        <m:t>𝜈</m:t>
                      </m:r>
                      <m:r>
                        <a:rPr>
                          <a:latin typeface="Cambria Math" panose="02040503050406030204" pitchFamily="18" charset="0"/>
                        </a:rPr>
                        <m:t>ₜᵐᵃˣ)</m:t>
                      </m:r>
                    </m:oMath>
                  </m:oMathPara>
                </a14:m>
                <a:endParaRPr sz="1900"/>
              </a:p>
            </p:txBody>
          </p:sp>
        </mc:Choice>
        <mc:Fallback>
          <p:sp>
            <p:nvSpPr>
              <p:cNvPr id="12" name="EDITABLE MATH | Code-grounded LOESS and peak estimates | ROW 1"/>
              <p:cNvSpPr txBox="1">
                <a:spLocks noRot="1" noChangeAspect="1" noMove="1" noResize="1" noEditPoints="1" noAdjustHandles="1" noChangeArrowheads="1" noChangeShapeType="1" noTextEdit="1"/>
              </p:cNvSpPr>
              <p:nvPr/>
            </p:nvSpPr>
            <p:spPr>
              <a:xfrm>
                <a:off x="9646539" y="4425315"/>
                <a:ext cx="7384542" cy="731520"/>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3" name="EDITABLE MATH | Code-grounded LOESS and peak estimates | ROW 2"/>
              <p:cNvSpPr txBox="1"/>
              <p:nvPr/>
            </p:nvSpPr>
            <p:spPr>
              <a:xfrm>
                <a:off x="9646539" y="5156835"/>
                <a:ext cx="7384542" cy="731520"/>
              </a:xfrm>
              <a:prstGeom prst="rect">
                <a:avLst/>
              </a:prstGeom>
              <a:noFill/>
            </p:spPr>
            <p:txBody>
              <a:bodyPr wrap="none" lIns="45720" tIns="36576" rIns="45720" bIns="36576">
                <a:spAutoFit/>
              </a:bodyPr>
              <a:lstStyle/>
              <a:p>
                <a:pPr algn="ctr">
                  <a:spcAft>
                    <a:spcPts val="400"/>
                  </a:spcAft>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𝜈</m:t>
                      </m:r>
                      <m:r>
                        <a:rPr>
                          <a:latin typeface="Cambria Math" panose="02040503050406030204" pitchFamily="18" charset="0"/>
                        </a:rPr>
                        <m:t>̃</m:t>
                      </m:r>
                      <m:r>
                        <a:rPr>
                          <a:latin typeface="Cambria Math" panose="02040503050406030204" pitchFamily="18" charset="0"/>
                        </a:rPr>
                        <m:t>ₜᵃᵛᵍ = </m:t>
                      </m:r>
                      <m:r>
                        <a:rPr>
                          <a:latin typeface="Cambria Math" panose="02040503050406030204" pitchFamily="18" charset="0"/>
                        </a:rPr>
                        <m:t>𝐿𝑂𝐸𝑆𝑆</m:t>
                      </m:r>
                      <m:r>
                        <a:rPr>
                          <a:latin typeface="Cambria Math" panose="02040503050406030204" pitchFamily="18" charset="0"/>
                        </a:rPr>
                        <m:t>₀</m:t>
                      </m:r>
                      <m:r>
                        <a:rPr>
                          <a:latin typeface="Cambria Math" panose="02040503050406030204" pitchFamily="18" charset="0"/>
                        </a:rPr>
                        <m:t>.</m:t>
                      </m:r>
                      <m:r>
                        <a:rPr>
                          <a:latin typeface="Cambria Math" panose="02040503050406030204" pitchFamily="18" charset="0"/>
                        </a:rPr>
                        <m:t>₁</m:t>
                      </m:r>
                      <m:r>
                        <a:rPr>
                          <a:latin typeface="Cambria Math" panose="02040503050406030204" pitchFamily="18" charset="0"/>
                        </a:rPr>
                        <m:t>(</m:t>
                      </m:r>
                      <m:r>
                        <a:rPr>
                          <a:latin typeface="Cambria Math" panose="02040503050406030204" pitchFamily="18" charset="0"/>
                        </a:rPr>
                        <m:t>𝜈</m:t>
                      </m:r>
                      <m:r>
                        <a:rPr>
                          <a:latin typeface="Cambria Math" panose="02040503050406030204" pitchFamily="18" charset="0"/>
                        </a:rPr>
                        <m:t>ₜᵃᵛᵍ)</m:t>
                      </m:r>
                    </m:oMath>
                  </m:oMathPara>
                </a14:m>
                <a:endParaRPr sz="1900"/>
              </a:p>
            </p:txBody>
          </p:sp>
        </mc:Choice>
        <mc:Fallback>
          <p:sp>
            <p:nvSpPr>
              <p:cNvPr id="13" name="EDITABLE MATH | Code-grounded LOESS and peak estimates | ROW 2"/>
              <p:cNvSpPr txBox="1">
                <a:spLocks noRot="1" noChangeAspect="1" noMove="1" noResize="1" noEditPoints="1" noAdjustHandles="1" noChangeArrowheads="1" noChangeShapeType="1" noTextEdit="1"/>
              </p:cNvSpPr>
              <p:nvPr/>
            </p:nvSpPr>
            <p:spPr>
              <a:xfrm>
                <a:off x="9646539" y="5156835"/>
                <a:ext cx="7384542" cy="731520"/>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082" name="EDITABLE MATH | Code-grounded LOESS and peak estimates | ROW 3"/>
              <p:cNvSpPr txBox="1"/>
              <p:nvPr/>
            </p:nvSpPr>
            <p:spPr>
              <a:xfrm>
                <a:off x="9646539" y="5888355"/>
                <a:ext cx="7384542" cy="731520"/>
              </a:xfrm>
              <a:prstGeom prst="rect">
                <a:avLst/>
              </a:prstGeom>
              <a:noFill/>
            </p:spPr>
            <p:txBody>
              <a:bodyPr wrap="none" lIns="45720" tIns="36576" rIns="45720" bIns="36576">
                <a:spAutoFit/>
              </a:bodyPr>
              <a:lstStyle/>
              <a:p>
                <a:pPr algn="ctr">
                  <a:spcAft>
                    <a:spcPts val="400"/>
                  </a:spcAft>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𝑏</m:t>
                      </m:r>
                      <m:r>
                        <a:rPr>
                          <a:latin typeface="Cambria Math" panose="02040503050406030204" pitchFamily="18" charset="0"/>
                        </a:rPr>
                        <m:t>ₘₐₓ = </m:t>
                      </m:r>
                      <m:r>
                        <a:rPr>
                          <a:latin typeface="Cambria Math" panose="02040503050406030204" pitchFamily="18" charset="0"/>
                        </a:rPr>
                        <m:t>𝑎𝑟𝑔𝑚𝑎𝑥</m:t>
                      </m:r>
                      <m:r>
                        <a:rPr>
                          <a:latin typeface="Cambria Math" panose="02040503050406030204" pitchFamily="18" charset="0"/>
                        </a:rPr>
                        <m:t>ₜ </m:t>
                      </m:r>
                      <m:r>
                        <a:rPr>
                          <a:latin typeface="Cambria Math" panose="02040503050406030204" pitchFamily="18" charset="0"/>
                        </a:rPr>
                        <m:t>𝜈</m:t>
                      </m:r>
                      <m:r>
                        <a:rPr>
                          <a:latin typeface="Cambria Math" panose="02040503050406030204" pitchFamily="18" charset="0"/>
                        </a:rPr>
                        <m:t>̃</m:t>
                      </m:r>
                      <m:r>
                        <a:rPr>
                          <a:latin typeface="Cambria Math" panose="02040503050406030204" pitchFamily="18" charset="0"/>
                        </a:rPr>
                        <m:t>ₜᵐᵃˣ</m:t>
                      </m:r>
                    </m:oMath>
                  </m:oMathPara>
                </a14:m>
                <a:endParaRPr sz="1900"/>
              </a:p>
            </p:txBody>
          </p:sp>
        </mc:Choice>
        <mc:Fallback>
          <p:sp>
            <p:nvSpPr>
              <p:cNvPr id="6082" name="EDITABLE MATH | Code-grounded LOESS and peak estimates | ROW 3"/>
              <p:cNvSpPr txBox="1">
                <a:spLocks noRot="1" noChangeAspect="1" noMove="1" noResize="1" noEditPoints="1" noAdjustHandles="1" noChangeArrowheads="1" noChangeShapeType="1" noTextEdit="1"/>
              </p:cNvSpPr>
              <p:nvPr/>
            </p:nvSpPr>
            <p:spPr>
              <a:xfrm>
                <a:off x="9646539" y="5888355"/>
                <a:ext cx="7384542" cy="731520"/>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6083" name="EDITABLE MATH | Code-grounded LOESS and peak estimates | ROW 4"/>
              <p:cNvSpPr txBox="1"/>
              <p:nvPr/>
            </p:nvSpPr>
            <p:spPr>
              <a:xfrm>
                <a:off x="9646539" y="6619875"/>
                <a:ext cx="7384542" cy="731520"/>
              </a:xfrm>
              <a:prstGeom prst="rect">
                <a:avLst/>
              </a:prstGeom>
              <a:noFill/>
            </p:spPr>
            <p:txBody>
              <a:bodyPr wrap="none" lIns="45720" tIns="36576" rIns="45720" bIns="36576">
                <a:spAutoFit/>
              </a:bodyPr>
              <a:lstStyle/>
              <a:p>
                <a:pPr algn="ctr">
                  <a:spcAft>
                    <a:spcPts val="400"/>
                  </a:spcAft>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𝑏</m:t>
                      </m:r>
                      <m:r>
                        <a:rPr>
                          <a:latin typeface="Cambria Math" panose="02040503050406030204" pitchFamily="18" charset="0"/>
                        </a:rPr>
                        <m:t>ₐᵥ</m:t>
                      </m:r>
                      <m:r>
                        <a:rPr>
                          <a:latin typeface="Cambria Math" panose="02040503050406030204" pitchFamily="18" charset="0"/>
                        </a:rPr>
                        <m:t>𝑔</m:t>
                      </m:r>
                      <m:r>
                        <a:rPr>
                          <a:latin typeface="Cambria Math" panose="02040503050406030204" pitchFamily="18" charset="0"/>
                        </a:rPr>
                        <m:t> = </m:t>
                      </m:r>
                      <m:r>
                        <a:rPr>
                          <a:latin typeface="Cambria Math" panose="02040503050406030204" pitchFamily="18" charset="0"/>
                        </a:rPr>
                        <m:t>𝑎𝑟𝑔𝑚𝑎𝑥</m:t>
                      </m:r>
                      <m:r>
                        <a:rPr>
                          <a:latin typeface="Cambria Math" panose="02040503050406030204" pitchFamily="18" charset="0"/>
                        </a:rPr>
                        <m:t>ₜ </m:t>
                      </m:r>
                      <m:r>
                        <a:rPr>
                          <a:latin typeface="Cambria Math" panose="02040503050406030204" pitchFamily="18" charset="0"/>
                        </a:rPr>
                        <m:t>𝜈</m:t>
                      </m:r>
                      <m:r>
                        <a:rPr>
                          <a:latin typeface="Cambria Math" panose="02040503050406030204" pitchFamily="18" charset="0"/>
                        </a:rPr>
                        <m:t>̃</m:t>
                      </m:r>
                      <m:r>
                        <a:rPr>
                          <a:latin typeface="Cambria Math" panose="02040503050406030204" pitchFamily="18" charset="0"/>
                        </a:rPr>
                        <m:t>ₜᵃᵛᵍ</m:t>
                      </m:r>
                    </m:oMath>
                  </m:oMathPara>
                </a14:m>
                <a:endParaRPr sz="1900"/>
              </a:p>
            </p:txBody>
          </p:sp>
        </mc:Choice>
        <mc:Fallback>
          <p:sp>
            <p:nvSpPr>
              <p:cNvPr id="6083" name="EDITABLE MATH | Code-grounded LOESS and peak estimates | ROW 4"/>
              <p:cNvSpPr txBox="1">
                <a:spLocks noRot="1" noChangeAspect="1" noMove="1" noResize="1" noEditPoints="1" noAdjustHandles="1" noChangeArrowheads="1" noChangeShapeType="1" noTextEdit="1"/>
              </p:cNvSpPr>
              <p:nvPr/>
            </p:nvSpPr>
            <p:spPr>
              <a:xfrm>
                <a:off x="9646539" y="6619875"/>
                <a:ext cx="7384542" cy="731520"/>
              </a:xfrm>
              <a:prstGeom prst="rect">
                <a:avLst/>
              </a:prstGeom>
              <a:blipFill>
                <a:blip r:embed="rId7"/>
                <a:stretch>
                  <a:fillRect/>
                </a:stretch>
              </a:blipFill>
            </p:spPr>
            <p:txBody>
              <a:bodyPr/>
              <a:lstStyle/>
              <a:p>
                <a:r>
                  <a:rPr lang="en-GB">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Kronecker delta identifies matching indices</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Index equality gives a compact way to express identity and orthogonality.</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today’s Park Notion annotations and mathematical clarification. General identities, not a verbatim paper equation.</a:t>
            </a:r>
          </a:p>
        </p:txBody>
      </p:sp>
      <mc:AlternateContent xmlns:mc="http://schemas.openxmlformats.org/markup-compatibility/2006">
        <mc:Choice xmlns:a14="http://schemas.microsoft.com/office/drawing/2010/main" Requires="a14">
          <p:sp>
            <p:nvSpPr>
              <p:cNvPr id="10" name="EDITABLE OfficeMath | Kronecker delta"/>
              <p:cNvSpPr txBox="1"/>
              <p:nvPr/>
            </p:nvSpPr>
            <p:spPr>
              <a:xfrm>
                <a:off x="1234440" y="3566160"/>
                <a:ext cx="7263184" cy="822960"/>
              </a:xfrm>
              <a:prstGeom prst="rect">
                <a:avLst/>
              </a:prstGeom>
              <a:no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𝛿</m:t>
                          </m:r>
                        </m:e>
                        <m:sub>
                          <m:r>
                            <a:rPr>
                              <a:latin typeface="Cambria Math" panose="02040503050406030204" pitchFamily="18" charset="0"/>
                            </a:rPr>
                            <m:t>𝑖𝑗</m:t>
                          </m:r>
                        </m:sub>
                      </m:sSub>
                      <m:r>
                        <a:rPr>
                          <a:latin typeface="Cambria Math" panose="02040503050406030204" pitchFamily="18" charset="0"/>
                        </a:rPr>
                        <m:t> = </m:t>
                      </m:r>
                      <m:r>
                        <a:rPr>
                          <a:latin typeface="Cambria Math" panose="02040503050406030204" pitchFamily="18" charset="0"/>
                        </a:rPr>
                        <m:t>1</m:t>
                      </m:r>
                      <m:r>
                        <a:rPr>
                          <a:latin typeface="Cambria Math" panose="02040503050406030204" pitchFamily="18" charset="0"/>
                        </a:rPr>
                        <m:t> (</m:t>
                      </m:r>
                      <m:r>
                        <a:rPr>
                          <a:latin typeface="Cambria Math" panose="02040503050406030204" pitchFamily="18" charset="0"/>
                        </a:rPr>
                        <m:t>𝑖</m:t>
                      </m:r>
                      <m:r>
                        <a:rPr>
                          <a:latin typeface="Cambria Math" panose="02040503050406030204" pitchFamily="18" charset="0"/>
                        </a:rPr>
                        <m:t> = </m:t>
                      </m:r>
                      <m:r>
                        <a:rPr>
                          <a:latin typeface="Cambria Math" panose="02040503050406030204" pitchFamily="18" charset="0"/>
                        </a:rPr>
                        <m:t>𝑗</m:t>
                      </m:r>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𝛿</m:t>
                          </m:r>
                        </m:e>
                        <m:sub>
                          <m:r>
                            <a:rPr>
                              <a:latin typeface="Cambria Math" panose="02040503050406030204" pitchFamily="18" charset="0"/>
                            </a:rPr>
                            <m:t>𝑖𝑗</m:t>
                          </m:r>
                        </m:sub>
                      </m:sSub>
                      <m:r>
                        <a:rPr>
                          <a:latin typeface="Cambria Math" panose="02040503050406030204" pitchFamily="18" charset="0"/>
                        </a:rPr>
                        <m:t> = </m:t>
                      </m:r>
                      <m:r>
                        <a:rPr>
                          <a:latin typeface="Cambria Math" panose="02040503050406030204" pitchFamily="18" charset="0"/>
                        </a:rPr>
                        <m:t>0</m:t>
                      </m:r>
                      <m:r>
                        <a:rPr>
                          <a:latin typeface="Cambria Math" panose="02040503050406030204" pitchFamily="18" charset="0"/>
                        </a:rPr>
                        <m:t> (</m:t>
                      </m:r>
                      <m:r>
                        <a:rPr>
                          <a:latin typeface="Cambria Math" panose="02040503050406030204" pitchFamily="18" charset="0"/>
                        </a:rPr>
                        <m:t>𝑖</m:t>
                      </m:r>
                      <m:r>
                        <a:rPr>
                          <a:latin typeface="Cambria Math" panose="02040503050406030204" pitchFamily="18" charset="0"/>
                        </a:rPr>
                        <m:t> ≠ </m:t>
                      </m:r>
                      <m:r>
                        <a:rPr>
                          <a:latin typeface="Cambria Math" panose="02040503050406030204" pitchFamily="18" charset="0"/>
                        </a:rPr>
                        <m:t>𝑗</m:t>
                      </m:r>
                      <m:r>
                        <a:rPr>
                          <a:latin typeface="Cambria Math" panose="02040503050406030204" pitchFamily="18" charset="0"/>
                        </a:rPr>
                        <m:t>)</m:t>
                      </m:r>
                    </m:oMath>
                  </m:oMathPara>
                </a14:m>
                <a:endParaRPr lang="en-GB" sz="2400">
                  <a:solidFill>
                    <a:srgbClr val="14233B"/>
                  </a:solidFill>
                </a:endParaRPr>
              </a:p>
            </p:txBody>
          </p:sp>
        </mc:Choice>
        <mc:Fallback>
          <p:sp>
            <p:nvSpPr>
              <p:cNvPr id="10" name="EDITABLE OfficeMath | Kronecker delta"/>
              <p:cNvSpPr txBox="1">
                <a:spLocks noRot="1" noChangeAspect="1" noMove="1" noResize="1" noEditPoints="1" noAdjustHandles="1" noChangeArrowheads="1" noChangeShapeType="1" noTextEdit="1"/>
              </p:cNvSpPr>
              <p:nvPr/>
            </p:nvSpPr>
            <p:spPr>
              <a:xfrm>
                <a:off x="1234440" y="3566160"/>
                <a:ext cx="7263184" cy="822960"/>
              </a:xfrm>
              <a:prstGeom prst="rect">
                <a:avLst/>
              </a:prstGeom>
              <a:blipFill>
                <a:blip r:embed="rId3"/>
                <a:stretch>
                  <a:fillRect/>
                </a:stretch>
              </a:blipFill>
            </p:spPr>
            <p:txBody>
              <a:bodyPr/>
              <a:lstStyle/>
              <a:p>
                <a:r>
                  <a:rPr lang="en-GB">
                    <a:noFill/>
                  </a:rPr>
                  <a:t> </a:t>
                </a:r>
              </a:p>
            </p:txBody>
          </p:sp>
        </mc:Fallback>
      </mc:AlternateContent>
      <p:sp>
        <p:nvSpPr>
          <p:cNvPr id="8" name="TextBox 8"/>
          <p:cNvSpPr txBox="1"/>
          <p:nvPr/>
        </p:nvSpPr>
        <p:spPr>
          <a:xfrm>
            <a:off x="1325880" y="5120640"/>
            <a:ext cx="7635240" cy="3200400"/>
          </a:xfrm>
          <a:prstGeom prst="rect">
            <a:avLst/>
          </a:prstGeom>
        </p:spPr>
        <p:txBody>
          <a:bodyPr lIns="0" tIns="0" rIns="0" bIns="0" rtlCol="0" anchor="t">
            <a:spAutoFit/>
          </a:bodyPr>
          <a:lstStyle/>
          <a:p>
            <a:pPr algn="l">
              <a:lnSpc>
                <a:spcPts val="3779"/>
              </a:lnSpc>
            </a:pPr>
            <a:r>
              <a:rPr lang="en-US" sz="3150">
                <a:solidFill>
                  <a:srgbClr val="12233B"/>
                </a:solidFill>
                <a:latin typeface="Aptos"/>
                <a:ea typeface="Aptos"/>
                <a:cs typeface="Aptos"/>
                <a:sym typeface="Aptos"/>
              </a:rPr>
              <a:t>i and j label coordinates or components.</a:t>
            </a:r>
          </a:p>
          <a:p>
            <a:pPr algn="l">
              <a:lnSpc>
                <a:spcPts val="3779"/>
              </a:lnSpc>
            </a:pPr>
            <a:r>
              <a:rPr lang="en-US" sz="3150">
                <a:solidFill>
                  <a:srgbClr val="12233B"/>
                </a:solidFill>
                <a:latin typeface="Aptos"/>
                <a:ea typeface="Aptos"/>
                <a:cs typeface="Aptos"/>
                <a:sym typeface="Aptos"/>
              </a:rPr>
              <a:t>The comparison concerns indices, even when two observed values happen to be equal.</a:t>
            </a:r>
          </a:p>
        </p:txBody>
      </p:sp>
      <p:sp>
        <p:nvSpPr>
          <p:cNvPr id="9" name="TextBox 9"/>
          <p:cNvSpPr txBox="1"/>
          <p:nvPr/>
        </p:nvSpPr>
        <p:spPr>
          <a:xfrm>
            <a:off x="9692640" y="5120640"/>
            <a:ext cx="7086600" cy="3200400"/>
          </a:xfrm>
          <a:prstGeom prst="rect">
            <a:avLst/>
          </a:prstGeom>
        </p:spPr>
        <p:txBody>
          <a:bodyPr lIns="0" tIns="0" rIns="0" bIns="0" rtlCol="0" anchor="t">
            <a:spAutoFit/>
          </a:bodyPr>
          <a:lstStyle/>
          <a:p>
            <a:pPr algn="l">
              <a:lnSpc>
                <a:spcPts val="3779"/>
              </a:lnSpc>
            </a:pPr>
            <a:r>
              <a:rPr lang="en-US" sz="3150">
                <a:solidFill>
                  <a:srgbClr val="12233B"/>
                </a:solidFill>
                <a:latin typeface="Aptos"/>
                <a:ea typeface="Aptos"/>
                <a:cs typeface="Aptos"/>
                <a:sym typeface="Aptos"/>
              </a:rPr>
              <a:t>The matrix [δᵢⱼ] is the identity matrix.</a:t>
            </a:r>
          </a:p>
          <a:p>
            <a:pPr algn="l">
              <a:lnSpc>
                <a:spcPts val="3779"/>
              </a:lnSpc>
            </a:pPr>
            <a:r>
              <a:rPr lang="en-US" sz="3150">
                <a:solidFill>
                  <a:srgbClr val="12233B"/>
                </a:solidFill>
                <a:latin typeface="Aptos"/>
                <a:ea typeface="Aptos"/>
                <a:cs typeface="Aptos"/>
                <a:sym typeface="Aptos"/>
              </a:rPr>
              <a:t>A delta expression alone does not specify a random variable’s variance or independence.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Covariance and independence require separate assumptions</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Zero-mean, unit-variance innovations can have identity covariance.</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12 October chat analysis. Illustrative standardised-innovation condition, not verified as Park’s exact notation.</a:t>
            </a:r>
          </a:p>
        </p:txBody>
      </p:sp>
      <mc:AlternateContent xmlns:mc="http://schemas.openxmlformats.org/markup-compatibility/2006">
        <mc:Choice xmlns:a14="http://schemas.microsoft.com/office/drawing/2010/main" Requires="a14">
          <p:sp>
            <p:nvSpPr>
              <p:cNvPr id="10" name="EDITABLE OfficeMath | Covariance and Kronecker identity"/>
              <p:cNvSpPr txBox="1"/>
              <p:nvPr/>
            </p:nvSpPr>
            <p:spPr>
              <a:xfrm>
                <a:off x="1234440" y="3429000"/>
                <a:ext cx="7152456" cy="960120"/>
              </a:xfrm>
              <a:prstGeom prst="rect">
                <a:avLst/>
              </a:prstGeom>
              <a:no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𝐶𝑜𝑣</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𝑍</m:t>
                          </m:r>
                        </m:e>
                        <m:sub>
                          <m:r>
                            <a:rPr>
                              <a:latin typeface="Cambria Math" panose="02040503050406030204" pitchFamily="18" charset="0"/>
                            </a:rPr>
                            <m:t>𝑖</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𝑍</m:t>
                          </m:r>
                        </m:e>
                        <m:sub>
                          <m:r>
                            <a:rPr>
                              <a:latin typeface="Cambria Math" panose="02040503050406030204" pitchFamily="18" charset="0"/>
                            </a:rPr>
                            <m:t>𝑗</m:t>
                          </m:r>
                        </m:sub>
                      </m:sSub>
                      <m:r>
                        <a:rPr>
                          <a:latin typeface="Cambria Math" panose="02040503050406030204" pitchFamily="18" charset="0"/>
                        </a:rPr>
                        <m:t>) = </m:t>
                      </m:r>
                      <m:r>
                        <a:rPr>
                          <a:latin typeface="Cambria Math" panose="02040503050406030204" pitchFamily="18" charset="0"/>
                        </a:rPr>
                        <m:t>𝐸</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𝑍</m:t>
                          </m:r>
                        </m:e>
                        <m:sub>
                          <m:r>
                            <a:rPr>
                              <a:latin typeface="Cambria Math" panose="02040503050406030204" pitchFamily="18" charset="0"/>
                            </a:rPr>
                            <m:t>𝑖</m:t>
                          </m:r>
                        </m:sub>
                      </m:sSub>
                      <m:sSub>
                        <m:sSubPr>
                          <m:ctrlPr>
                            <a:rPr i="1">
                              <a:latin typeface="Cambria Math" panose="02040503050406030204" pitchFamily="18" charset="0"/>
                            </a:rPr>
                          </m:ctrlPr>
                        </m:sSubPr>
                        <m:e>
                          <m:r>
                            <a:rPr>
                              <a:latin typeface="Cambria Math" panose="02040503050406030204" pitchFamily="18" charset="0"/>
                            </a:rPr>
                            <m:t>𝑍</m:t>
                          </m:r>
                        </m:e>
                        <m:sub>
                          <m:r>
                            <a:rPr>
                              <a:latin typeface="Cambria Math" panose="02040503050406030204" pitchFamily="18" charset="0"/>
                            </a:rPr>
                            <m:t>𝑗</m:t>
                          </m:r>
                        </m:sub>
                      </m:sSub>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𝛿</m:t>
                          </m:r>
                        </m:e>
                        <m:sub>
                          <m:r>
                            <a:rPr>
                              <a:latin typeface="Cambria Math" panose="02040503050406030204" pitchFamily="18" charset="0"/>
                            </a:rPr>
                            <m:t>𝑖𝑗</m:t>
                          </m:r>
                        </m:sub>
                      </m:sSub>
                    </m:oMath>
                  </m:oMathPara>
                </a14:m>
                <a:endParaRPr lang="en-GB" sz="2800">
                  <a:solidFill>
                    <a:srgbClr val="14233B"/>
                  </a:solidFill>
                </a:endParaRPr>
              </a:p>
            </p:txBody>
          </p:sp>
        </mc:Choice>
        <mc:Fallback>
          <p:sp>
            <p:nvSpPr>
              <p:cNvPr id="10" name="EDITABLE OfficeMath | Covariance and Kronecker identity"/>
              <p:cNvSpPr txBox="1">
                <a:spLocks noRot="1" noChangeAspect="1" noMove="1" noResize="1" noEditPoints="1" noAdjustHandles="1" noChangeArrowheads="1" noChangeShapeType="1" noTextEdit="1"/>
              </p:cNvSpPr>
              <p:nvPr/>
            </p:nvSpPr>
            <p:spPr>
              <a:xfrm>
                <a:off x="1234440" y="3429000"/>
                <a:ext cx="7152456" cy="960120"/>
              </a:xfrm>
              <a:prstGeom prst="rect">
                <a:avLst/>
              </a:prstGeom>
              <a:blipFill>
                <a:blip r:embed="rId3"/>
                <a:stretch>
                  <a:fillRect t="-637"/>
                </a:stretch>
              </a:blipFill>
            </p:spPr>
            <p:txBody>
              <a:bodyPr/>
              <a:lstStyle/>
              <a:p>
                <a:r>
                  <a:rPr lang="en-GB">
                    <a:noFill/>
                  </a:rPr>
                  <a:t> </a:t>
                </a:r>
              </a:p>
            </p:txBody>
          </p:sp>
        </mc:Fallback>
      </mc:AlternateContent>
      <p:sp>
        <p:nvSpPr>
          <p:cNvPr id="8" name="TextBox 8"/>
          <p:cNvSpPr txBox="1"/>
          <p:nvPr/>
        </p:nvSpPr>
        <p:spPr>
          <a:xfrm>
            <a:off x="1325880" y="5052060"/>
            <a:ext cx="7498080" cy="347472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Diagonal entries equal 1 under unit variance. Off-diagonal entries equal 0 under zero covariance.</a:t>
            </a:r>
          </a:p>
          <a:p>
            <a:pPr algn="l">
              <a:lnSpc>
                <a:spcPts val="3600"/>
              </a:lnSpc>
            </a:pPr>
            <a:r>
              <a:rPr lang="en-US" sz="3000">
                <a:solidFill>
                  <a:srgbClr val="12233B"/>
                </a:solidFill>
                <a:latin typeface="Aptos"/>
                <a:ea typeface="Aptos"/>
                <a:cs typeface="Aptos"/>
                <a:sym typeface="Aptos"/>
              </a:rPr>
              <a:t>Without zero means, E[ZᵢZⱼ] also includes the product of the means.</a:t>
            </a:r>
          </a:p>
        </p:txBody>
      </p:sp>
      <p:sp>
        <p:nvSpPr>
          <p:cNvPr id="9" name="TextBox 9"/>
          <p:cNvSpPr txBox="1"/>
          <p:nvPr/>
        </p:nvSpPr>
        <p:spPr>
          <a:xfrm>
            <a:off x="9692640" y="5052060"/>
            <a:ext cx="7086600" cy="347472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Uncorrelated variables need not be independent.</a:t>
            </a:r>
          </a:p>
          <a:p>
            <a:pPr algn="l">
              <a:lnSpc>
                <a:spcPts val="3600"/>
              </a:lnSpc>
            </a:pPr>
            <a:r>
              <a:rPr lang="en-US" sz="3000">
                <a:solidFill>
                  <a:srgbClr val="12233B"/>
                </a:solidFill>
                <a:latin typeface="Aptos"/>
                <a:ea typeface="Aptos"/>
                <a:cs typeface="Aptos"/>
                <a:sym typeface="Aptos"/>
              </a:rPr>
              <a:t>For a jointly Gaussian vector, zero covariance between components implies independence.</a:t>
            </a:r>
          </a:p>
          <a:p>
            <a:pPr algn="l">
              <a:lnSpc>
                <a:spcPts val="3600"/>
              </a:lnSpc>
            </a:pPr>
            <a:r>
              <a:rPr lang="en-US" sz="3000">
                <a:solidFill>
                  <a:srgbClr val="12233B"/>
                </a:solidFill>
                <a:latin typeface="Aptos"/>
                <a:ea typeface="Aptos"/>
                <a:cs typeface="Aptos"/>
                <a:sym typeface="Aptos"/>
              </a:rPr>
              <a:t>The observed EEG channels can still be dependent.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A coordinate derivative describes sensitivity</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The derivative in today’s notes and statistical variance answer different questions.</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user’s Park Notion notes, corrected through today’s mathematical discussion.</a:t>
            </a:r>
          </a:p>
        </p:txBody>
      </p:sp>
      <mc:AlternateContent xmlns:mc="http://schemas.openxmlformats.org/markup-compatibility/2006">
        <mc:Choice xmlns:a14="http://schemas.microsoft.com/office/drawing/2010/main" Requires="a14">
          <p:sp>
            <p:nvSpPr>
              <p:cNvPr id="15" name="EDITABLE OfficeMath | Partial derivative identity"/>
              <p:cNvSpPr txBox="1"/>
              <p:nvPr/>
            </p:nvSpPr>
            <p:spPr>
              <a:xfrm>
                <a:off x="1234440" y="3429000"/>
                <a:ext cx="1778251" cy="960120"/>
              </a:xfrm>
              <a:prstGeom prst="rect">
                <a:avLst/>
              </a:prstGeom>
              <a:no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f>
                        <m:fPr>
                          <m:ctrlPr>
                            <a:rPr>
                              <a:latin typeface="Cambria Math" panose="02040503050406030204" pitchFamily="18" charset="0"/>
                            </a:rPr>
                          </m:ctrlPr>
                        </m:fPr>
                        <m:num>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ᵢ</m:t>
                          </m:r>
                        </m:num>
                        <m:den>
                          <m:r>
                            <a:rPr>
                              <a:latin typeface="Cambria Math" panose="02040503050406030204" pitchFamily="18" charset="0"/>
                            </a:rPr>
                            <m:t>𝜕</m:t>
                          </m:r>
                          <m:r>
                            <a:rPr>
                              <a:latin typeface="Cambria Math" panose="02040503050406030204" pitchFamily="18" charset="0"/>
                            </a:rPr>
                            <m:t>𝑤</m:t>
                          </m:r>
                          <m:r>
                            <a:rPr>
                              <a:latin typeface="Cambria Math" panose="02040503050406030204" pitchFamily="18" charset="0"/>
                            </a:rPr>
                            <m:t>ⱼ</m:t>
                          </m:r>
                        </m:den>
                      </m:f>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𝛿</m:t>
                          </m:r>
                        </m:e>
                        <m:sub>
                          <m:r>
                            <a:rPr>
                              <a:latin typeface="Cambria Math" panose="02040503050406030204" pitchFamily="18" charset="0"/>
                            </a:rPr>
                            <m:t>𝑖𝑗</m:t>
                          </m:r>
                        </m:sub>
                      </m:sSub>
                    </m:oMath>
                  </m:oMathPara>
                </a14:m>
                <a:endParaRPr lang="en-GB" sz="2800">
                  <a:solidFill>
                    <a:srgbClr val="14233B"/>
                  </a:solidFill>
                </a:endParaRPr>
              </a:p>
            </p:txBody>
          </p:sp>
        </mc:Choice>
        <mc:Fallback>
          <p:sp>
            <p:nvSpPr>
              <p:cNvPr id="15" name="EDITABLE OfficeMath | Partial derivative identity"/>
              <p:cNvSpPr txBox="1">
                <a:spLocks noRot="1" noChangeAspect="1" noMove="1" noResize="1" noEditPoints="1" noAdjustHandles="1" noChangeArrowheads="1" noChangeShapeType="1" noTextEdit="1"/>
              </p:cNvSpPr>
              <p:nvPr/>
            </p:nvSpPr>
            <p:spPr>
              <a:xfrm>
                <a:off x="1234440" y="3429000"/>
                <a:ext cx="1778251" cy="960120"/>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6" name="EDITABLE OfficeMath | Variance identity"/>
              <p:cNvSpPr txBox="1"/>
              <p:nvPr/>
            </p:nvSpPr>
            <p:spPr>
              <a:xfrm>
                <a:off x="9326880" y="3429000"/>
                <a:ext cx="7209787" cy="960120"/>
              </a:xfrm>
              <a:prstGeom prst="rect">
                <a:avLst/>
              </a:prstGeom>
              <a:no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𝑉𝑎𝑟</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𝑍</m:t>
                          </m:r>
                        </m:e>
                        <m:sub>
                          <m:r>
                            <a:rPr>
                              <a:latin typeface="Cambria Math" panose="02040503050406030204" pitchFamily="18" charset="0"/>
                            </a:rPr>
                            <m:t>𝑖</m:t>
                          </m:r>
                        </m:sub>
                      </m:sSub>
                      <m:r>
                        <a:rPr>
                          <a:latin typeface="Cambria Math" panose="02040503050406030204" pitchFamily="18" charset="0"/>
                        </a:rPr>
                        <m:t>) = </m:t>
                      </m:r>
                      <m:r>
                        <a:rPr>
                          <a:latin typeface="Cambria Math" panose="02040503050406030204" pitchFamily="18" charset="0"/>
                        </a:rPr>
                        <m:t>𝐸</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𝑍</m:t>
                          </m:r>
                        </m:e>
                        <m:sub>
                          <m:r>
                            <a:rPr>
                              <a:latin typeface="Cambria Math" panose="02040503050406030204" pitchFamily="18" charset="0"/>
                            </a:rPr>
                            <m:t>𝑖</m:t>
                          </m:r>
                        </m:sub>
                      </m:sSub>
                      <m:r>
                        <a:rPr>
                          <a:latin typeface="Cambria Math" panose="02040503050406030204" pitchFamily="18" charset="0"/>
                        </a:rPr>
                        <m:t> − </m:t>
                      </m:r>
                      <m:r>
                        <a:rPr>
                          <a:latin typeface="Cambria Math" panose="02040503050406030204" pitchFamily="18" charset="0"/>
                        </a:rPr>
                        <m:t>𝐸</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𝑍</m:t>
                          </m:r>
                        </m:e>
                        <m:sub>
                          <m:r>
                            <a:rPr>
                              <a:latin typeface="Cambria Math" panose="02040503050406030204" pitchFamily="18" charset="0"/>
                            </a:rPr>
                            <m:t>𝑖</m:t>
                          </m:r>
                        </m:sub>
                      </m:sSub>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r>
                        <a:rPr>
                          <a:latin typeface="Cambria Math" panose="02040503050406030204" pitchFamily="18" charset="0"/>
                        </a:rPr>
                        <m:t>]</m:t>
                      </m:r>
                    </m:oMath>
                  </m:oMathPara>
                </a14:m>
                <a:endParaRPr lang="en-GB" sz="2800">
                  <a:solidFill>
                    <a:srgbClr val="14233B"/>
                  </a:solidFill>
                </a:endParaRPr>
              </a:p>
            </p:txBody>
          </p:sp>
        </mc:Choice>
        <mc:Fallback>
          <p:sp>
            <p:nvSpPr>
              <p:cNvPr id="16" name="EDITABLE OfficeMath | Variance identity"/>
              <p:cNvSpPr txBox="1">
                <a:spLocks noRot="1" noChangeAspect="1" noMove="1" noResize="1" noEditPoints="1" noAdjustHandles="1" noChangeArrowheads="1" noChangeShapeType="1" noTextEdit="1"/>
              </p:cNvSpPr>
              <p:nvPr/>
            </p:nvSpPr>
            <p:spPr>
              <a:xfrm>
                <a:off x="9326880" y="3429000"/>
                <a:ext cx="7209787" cy="960120"/>
              </a:xfrm>
              <a:prstGeom prst="rect">
                <a:avLst/>
              </a:prstGeom>
              <a:blipFill>
                <a:blip r:embed="rId4"/>
                <a:stretch>
                  <a:fillRect t="-1274"/>
                </a:stretch>
              </a:blipFill>
            </p:spPr>
            <p:txBody>
              <a:bodyPr/>
              <a:lstStyle/>
              <a:p>
                <a:r>
                  <a:rPr lang="en-GB">
                    <a:noFill/>
                  </a:rPr>
                  <a:t> </a:t>
                </a:r>
              </a:p>
            </p:txBody>
          </p:sp>
        </mc:Fallback>
      </mc:AlternateContent>
      <p:sp>
        <p:nvSpPr>
          <p:cNvPr id="10" name="TextBox 10"/>
          <p:cNvSpPr txBox="1"/>
          <p:nvPr/>
        </p:nvSpPr>
        <p:spPr>
          <a:xfrm>
            <a:off x="1325880" y="5189220"/>
            <a:ext cx="7498080" cy="169164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The derivative is an entry of the identity Jacobian when wᵢ are independent coordinates.</a:t>
            </a:r>
          </a:p>
        </p:txBody>
      </p:sp>
      <p:sp>
        <p:nvSpPr>
          <p:cNvPr id="11" name="TextBox 11"/>
          <p:cNvSpPr txBox="1"/>
          <p:nvPr/>
        </p:nvSpPr>
        <p:spPr>
          <a:xfrm>
            <a:off x="9692640" y="5189220"/>
            <a:ext cx="7086600" cy="169164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Variance measures expected squared deviation from a random variable’s mean.</a:t>
            </a:r>
          </a:p>
        </p:txBody>
      </p:sp>
      <mc:AlternateContent xmlns:mc="http://schemas.openxmlformats.org/markup-compatibility/2006">
        <mc:Choice xmlns:a14="http://schemas.microsoft.com/office/drawing/2010/main" Requires="a14">
          <p:sp>
            <p:nvSpPr>
              <p:cNvPr id="17" name="EDITABLE OfficeMath | Online update"/>
              <p:cNvSpPr txBox="1"/>
              <p:nvPr/>
            </p:nvSpPr>
            <p:spPr>
              <a:xfrm>
                <a:off x="1234440" y="7269480"/>
                <a:ext cx="6078074" cy="685800"/>
              </a:xfrm>
              <a:prstGeom prst="rect">
                <a:avLst/>
              </a:prstGeom>
              <a:no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r>
                        <a:rPr>
                          <a:latin typeface="Cambria Math" panose="02040503050406030204" pitchFamily="18" charset="0"/>
                        </a:rPr>
                        <m:t>1</m:t>
                      </m:r>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𝑤</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 + </m:t>
                      </m:r>
                      <m:r>
                        <a:rPr>
                          <a:latin typeface="Cambria Math" panose="02040503050406030204" pitchFamily="18" charset="0"/>
                        </a:rPr>
                        <m:t>𝜂</m:t>
                      </m:r>
                      <m:r>
                        <a:rPr>
                          <a:latin typeface="Cambria Math" panose="02040503050406030204" pitchFamily="18" charset="0"/>
                        </a:rPr>
                        <m:t>𝑒</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oMath>
                  </m:oMathPara>
                </a14:m>
                <a:endParaRPr lang="en-GB" sz="2000">
                  <a:solidFill>
                    <a:srgbClr val="14233B"/>
                  </a:solidFill>
                </a:endParaRPr>
              </a:p>
            </p:txBody>
          </p:sp>
        </mc:Choice>
        <mc:Fallback>
          <p:sp>
            <p:nvSpPr>
              <p:cNvPr id="17" name="EDITABLE OfficeMath | Online update"/>
              <p:cNvSpPr txBox="1">
                <a:spLocks noRot="1" noChangeAspect="1" noMove="1" noResize="1" noEditPoints="1" noAdjustHandles="1" noChangeArrowheads="1" noChangeShapeType="1" noTextEdit="1"/>
              </p:cNvSpPr>
              <p:nvPr/>
            </p:nvSpPr>
            <p:spPr>
              <a:xfrm>
                <a:off x="1234440" y="7269480"/>
                <a:ext cx="6078074" cy="685800"/>
              </a:xfrm>
              <a:prstGeom prst="rect">
                <a:avLst/>
              </a:prstGeom>
              <a:blipFill>
                <a:blip r:embed="rId5"/>
                <a:stretch>
                  <a:fillRect t="-1786"/>
                </a:stretch>
              </a:blipFill>
            </p:spPr>
            <p:txBody>
              <a:bodyPr/>
              <a:lstStyle/>
              <a:p>
                <a:r>
                  <a:rPr lang="en-GB">
                    <a:noFill/>
                  </a:rPr>
                  <a:t> </a:t>
                </a:r>
              </a:p>
            </p:txBody>
          </p:sp>
        </mc:Fallback>
      </mc:AlternateContent>
      <p:sp>
        <p:nvSpPr>
          <p:cNvPr id="14" name="TextBox 14"/>
          <p:cNvSpPr txBox="1"/>
          <p:nvPr/>
        </p:nvSpPr>
        <p:spPr>
          <a:xfrm>
            <a:off x="11475720" y="7246620"/>
            <a:ext cx="5440680" cy="1554480"/>
          </a:xfrm>
          <a:prstGeom prst="rect">
            <a:avLst/>
          </a:prstGeom>
        </p:spPr>
        <p:txBody>
          <a:bodyPr lIns="0" tIns="0" rIns="0" bIns="0" rtlCol="0" anchor="t">
            <a:spAutoFit/>
          </a:bodyPr>
          <a:lstStyle/>
          <a:p>
            <a:pPr algn="l">
              <a:lnSpc>
                <a:spcPts val="3060"/>
              </a:lnSpc>
            </a:pPr>
            <a:r>
              <a:rPr lang="en-US" sz="2550">
                <a:solidFill>
                  <a:srgbClr val="12233B"/>
                </a:solidFill>
                <a:latin typeface="Aptos"/>
                <a:ea typeface="Aptos"/>
                <a:cs typeface="Aptos"/>
                <a:sym typeface="Aptos"/>
              </a:rPr>
              <a:t>This is a separate online learning rule. Define the error convention and learning rate before interpreting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Daubechies wavelets resolve local variation</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Wavelet scale and position describe where different patterns occur in time.</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Sources: Park Notion reading target; Wavelet background, Biometrika (2018), 105(4), 833–848. Specific Park settings remain to verify.</a:t>
            </a:r>
          </a:p>
        </p:txBody>
      </p:sp>
      <mc:AlternateContent xmlns:mc="http://schemas.openxmlformats.org/markup-compatibility/2006">
        <mc:Choice xmlns:a14="http://schemas.microsoft.com/office/drawing/2010/main" Requires="a14">
          <p:sp>
            <p:nvSpPr>
              <p:cNvPr id="10" name="EDITABLE OfficeMath | Vanishing wavelet moments"/>
              <p:cNvSpPr txBox="1"/>
              <p:nvPr/>
            </p:nvSpPr>
            <p:spPr>
              <a:xfrm>
                <a:off x="1234440" y="3497580"/>
                <a:ext cx="7342346" cy="822960"/>
              </a:xfrm>
              <a:prstGeom prst="rect">
                <a:avLst/>
              </a:prstGeom>
              <a:no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r>
                        <a:rPr>
                          <a:latin typeface="Cambria Math" panose="02040503050406030204" pitchFamily="18" charset="0"/>
                        </a:rPr>
                        <m:t>∫ </m:t>
                      </m:r>
                      <m:sSup>
                        <m:sSupPr>
                          <m:ctrlPr>
                            <a:rPr i="1">
                              <a:latin typeface="Cambria Math" panose="02040503050406030204" pitchFamily="18" charset="0"/>
                            </a:rPr>
                          </m:ctrlPr>
                        </m:sSupPr>
                        <m:e>
                          <m:r>
                            <a:rPr>
                              <a:latin typeface="Cambria Math" panose="02040503050406030204" pitchFamily="18" charset="0"/>
                            </a:rPr>
                            <m:t>𝑡</m:t>
                          </m:r>
                        </m:e>
                        <m:sup>
                          <m:r>
                            <a:rPr>
                              <a:latin typeface="Cambria Math" panose="02040503050406030204" pitchFamily="18" charset="0"/>
                            </a:rPr>
                            <m:t>𝑚</m:t>
                          </m:r>
                        </m:sup>
                      </m:sSup>
                      <m:r>
                        <a:rPr>
                          <a:latin typeface="Cambria Math" panose="02040503050406030204" pitchFamily="18" charset="0"/>
                        </a:rPr>
                        <m:t>𝜓</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r>
                        <a:rPr>
                          <a:latin typeface="Cambria Math" panose="02040503050406030204" pitchFamily="18" charset="0"/>
                        </a:rPr>
                        <m:t>𝑑𝑡</m:t>
                      </m:r>
                      <m:r>
                        <a:rPr>
                          <a:latin typeface="Cambria Math" panose="02040503050406030204" pitchFamily="18" charset="0"/>
                        </a:rPr>
                        <m:t> = </m:t>
                      </m:r>
                      <m:r>
                        <a:rPr>
                          <a:latin typeface="Cambria Math" panose="02040503050406030204" pitchFamily="18" charset="0"/>
                        </a:rPr>
                        <m:t>0</m:t>
                      </m:r>
                      <m:r>
                        <a:rPr>
                          <a:latin typeface="Cambria Math" panose="02040503050406030204" pitchFamily="18" charset="0"/>
                        </a:rPr>
                        <m:t>,     </m:t>
                      </m:r>
                      <m:r>
                        <a:rPr>
                          <a:latin typeface="Cambria Math" panose="02040503050406030204" pitchFamily="18" charset="0"/>
                        </a:rPr>
                        <m:t>𝑚</m:t>
                      </m:r>
                      <m:r>
                        <a:rPr>
                          <a:latin typeface="Cambria Math" panose="02040503050406030204" pitchFamily="18" charset="0"/>
                        </a:rPr>
                        <m:t> = </m:t>
                      </m:r>
                      <m:r>
                        <a:rPr>
                          <a:latin typeface="Cambria Math" panose="02040503050406030204" pitchFamily="18" charset="0"/>
                        </a:rPr>
                        <m:t>0</m:t>
                      </m:r>
                      <m:r>
                        <a:rPr>
                          <a:latin typeface="Cambria Math" panose="02040503050406030204" pitchFamily="18" charset="0"/>
                        </a:rPr>
                        <m:t>,…,</m:t>
                      </m:r>
                      <m:r>
                        <a:rPr>
                          <a:latin typeface="Cambria Math" panose="02040503050406030204" pitchFamily="18" charset="0"/>
                        </a:rPr>
                        <m:t>𝑁</m:t>
                      </m:r>
                      <m:r>
                        <a:rPr>
                          <a:latin typeface="Cambria Math" panose="02040503050406030204" pitchFamily="18" charset="0"/>
                        </a:rPr>
                        <m:t> − </m:t>
                      </m:r>
                      <m:r>
                        <a:rPr>
                          <a:latin typeface="Cambria Math" panose="02040503050406030204" pitchFamily="18" charset="0"/>
                        </a:rPr>
                        <m:t>1</m:t>
                      </m:r>
                    </m:oMath>
                  </m:oMathPara>
                </a14:m>
                <a:endParaRPr lang="en-GB" sz="2400">
                  <a:solidFill>
                    <a:srgbClr val="14233B"/>
                  </a:solidFill>
                </a:endParaRPr>
              </a:p>
            </p:txBody>
          </p:sp>
        </mc:Choice>
        <mc:Fallback>
          <p:sp>
            <p:nvSpPr>
              <p:cNvPr id="10" name="EDITABLE OfficeMath | Vanishing wavelet moments"/>
              <p:cNvSpPr txBox="1">
                <a:spLocks noRot="1" noChangeAspect="1" noMove="1" noResize="1" noEditPoints="1" noAdjustHandles="1" noChangeArrowheads="1" noChangeShapeType="1" noTextEdit="1"/>
              </p:cNvSpPr>
              <p:nvPr/>
            </p:nvSpPr>
            <p:spPr>
              <a:xfrm>
                <a:off x="1234440" y="3497580"/>
                <a:ext cx="7342346" cy="822960"/>
              </a:xfrm>
              <a:prstGeom prst="rect">
                <a:avLst/>
              </a:prstGeom>
              <a:blipFill>
                <a:blip r:embed="rId3"/>
                <a:stretch>
                  <a:fillRect t="-5185"/>
                </a:stretch>
              </a:blipFill>
            </p:spPr>
            <p:txBody>
              <a:bodyPr/>
              <a:lstStyle/>
              <a:p>
                <a:r>
                  <a:rPr lang="en-GB">
                    <a:noFill/>
                  </a:rPr>
                  <a:t> </a:t>
                </a:r>
              </a:p>
            </p:txBody>
          </p:sp>
        </mc:Fallback>
      </mc:AlternateContent>
      <p:sp>
        <p:nvSpPr>
          <p:cNvPr id="8" name="TextBox 8"/>
          <p:cNvSpPr txBox="1"/>
          <p:nvPr/>
        </p:nvSpPr>
        <p:spPr>
          <a:xfrm>
            <a:off x="1325880" y="5052060"/>
            <a:ext cx="7498080" cy="361188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ψ is the wavelet. N is its number of vanishing moments.</a:t>
            </a:r>
          </a:p>
          <a:p>
            <a:pPr algn="l">
              <a:lnSpc>
                <a:spcPts val="3600"/>
              </a:lnSpc>
            </a:pPr>
            <a:r>
              <a:rPr lang="en-US" sz="3000">
                <a:solidFill>
                  <a:srgbClr val="12233B"/>
                </a:solidFill>
                <a:latin typeface="Aptos"/>
                <a:ea typeface="Aptos"/>
                <a:cs typeface="Aptos"/>
                <a:sym typeface="Aptos"/>
              </a:rPr>
              <a:t>The integral vanishes for polynomial components below degree N, helping isolate local detail.</a:t>
            </a:r>
          </a:p>
          <a:p>
            <a:pPr algn="l">
              <a:lnSpc>
                <a:spcPts val="3600"/>
              </a:lnSpc>
            </a:pPr>
            <a:r>
              <a:rPr lang="en-US" sz="3000">
                <a:solidFill>
                  <a:srgbClr val="12233B"/>
                </a:solidFill>
                <a:latin typeface="Aptos"/>
                <a:ea typeface="Aptos"/>
                <a:cs typeface="Aptos"/>
                <a:sym typeface="Aptos"/>
              </a:rPr>
              <a:t>Compact support localises the wavelet in time.</a:t>
            </a:r>
          </a:p>
        </p:txBody>
      </p:sp>
      <p:sp>
        <p:nvSpPr>
          <p:cNvPr id="9" name="TextBox 9"/>
          <p:cNvSpPr txBox="1"/>
          <p:nvPr/>
        </p:nvSpPr>
        <p:spPr>
          <a:xfrm>
            <a:off x="9692640" y="5052060"/>
            <a:ext cx="7086600" cy="361188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Scale controls the duration of patterns. Position controls their location.</a:t>
            </a:r>
          </a:p>
          <a:p>
            <a:pPr algn="l">
              <a:lnSpc>
                <a:spcPts val="3600"/>
              </a:lnSpc>
            </a:pPr>
            <a:r>
              <a:rPr lang="en-US" sz="3000">
                <a:solidFill>
                  <a:srgbClr val="12233B"/>
                </a:solidFill>
                <a:latin typeface="Aptos"/>
                <a:ea typeface="Aptos"/>
                <a:cs typeface="Aptos"/>
                <a:sym typeface="Aptos"/>
              </a:rPr>
              <a:t>Longer filters trade localisation for additional smoothness or vanishing moments.</a:t>
            </a:r>
          </a:p>
          <a:p>
            <a:pPr algn="l">
              <a:lnSpc>
                <a:spcPts val="3600"/>
              </a:lnSpc>
            </a:pPr>
            <a:r>
              <a:rPr lang="en-US" sz="3000">
                <a:solidFill>
                  <a:srgbClr val="12233B"/>
                </a:solidFill>
                <a:latin typeface="Aptos"/>
                <a:ea typeface="Aptos"/>
                <a:cs typeface="Aptos"/>
                <a:sym typeface="Aptos"/>
              </a:rPr>
              <a:t>Next: verify Park’s filter convention, scale range and boundary treatment.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Transfer matrices can create observed dependence</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Identity covariance of innovations does not force identity covariance of observations.</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explanatory linear-transform identity. Park’s full locally stationary wavelet construction requires separate source verification.</a:t>
            </a:r>
          </a:p>
        </p:txBody>
      </p:sp>
      <mc:AlternateContent xmlns:mc="http://schemas.openxmlformats.org/markup-compatibility/2006">
        <mc:Choice xmlns:a14="http://schemas.microsoft.com/office/drawing/2010/main" Requires="a14">
          <p:sp>
            <p:nvSpPr>
              <p:cNvPr id="11" name="EDITABLE OfficeMath | Linear transformation and covariance"/>
              <p:cNvSpPr txBox="1"/>
              <p:nvPr/>
            </p:nvSpPr>
            <p:spPr>
              <a:xfrm>
                <a:off x="1234440" y="3360420"/>
                <a:ext cx="12084587" cy="960120"/>
              </a:xfrm>
              <a:prstGeom prst="rect">
                <a:avLst/>
              </a:prstGeom>
              <a:no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𝑌</m:t>
                      </m:r>
                      <m:r>
                        <a:rPr>
                          <a:latin typeface="Cambria Math" panose="02040503050406030204" pitchFamily="18" charset="0"/>
                        </a:rPr>
                        <m:t> = </m:t>
                      </m:r>
                      <m:r>
                        <a:rPr>
                          <a:latin typeface="Cambria Math" panose="02040503050406030204" pitchFamily="18" charset="0"/>
                        </a:rPr>
                        <m:t>𝐴𝑍</m:t>
                      </m:r>
                      <m:r>
                        <a:rPr>
                          <a:latin typeface="Cambria Math" panose="02040503050406030204" pitchFamily="18" charset="0"/>
                        </a:rPr>
                        <m:t>,    </m:t>
                      </m:r>
                      <m:r>
                        <a:rPr>
                          <a:latin typeface="Cambria Math" panose="02040503050406030204" pitchFamily="18" charset="0"/>
                        </a:rPr>
                        <m:t>𝐶𝑜𝑣</m:t>
                      </m:r>
                      <m:r>
                        <a:rPr>
                          <a:latin typeface="Cambria Math" panose="02040503050406030204" pitchFamily="18" charset="0"/>
                        </a:rPr>
                        <m:t>(</m:t>
                      </m:r>
                      <m:r>
                        <a:rPr>
                          <a:latin typeface="Cambria Math" panose="02040503050406030204" pitchFamily="18" charset="0"/>
                        </a:rPr>
                        <m:t>𝑍</m:t>
                      </m:r>
                      <m:r>
                        <a:rPr>
                          <a:latin typeface="Cambria Math" panose="02040503050406030204" pitchFamily="18" charset="0"/>
                        </a:rPr>
                        <m:t>) = </m:t>
                      </m:r>
                      <m:r>
                        <a:rPr>
                          <a:latin typeface="Cambria Math" panose="02040503050406030204" pitchFamily="18" charset="0"/>
                        </a:rPr>
                        <m:t>𝐼</m:t>
                      </m:r>
                      <m:r>
                        <a:rPr>
                          <a:latin typeface="Cambria Math" panose="02040503050406030204" pitchFamily="18" charset="0"/>
                        </a:rPr>
                        <m:t>    ⇒    </m:t>
                      </m:r>
                      <m:r>
                        <a:rPr>
                          <a:latin typeface="Cambria Math" panose="02040503050406030204" pitchFamily="18" charset="0"/>
                        </a:rPr>
                        <m:t>𝐶𝑜𝑣</m:t>
                      </m:r>
                      <m:r>
                        <a:rPr>
                          <a:latin typeface="Cambria Math" panose="02040503050406030204" pitchFamily="18" charset="0"/>
                        </a:rPr>
                        <m:t>(</m:t>
                      </m:r>
                      <m:r>
                        <a:rPr>
                          <a:latin typeface="Cambria Math" panose="02040503050406030204" pitchFamily="18" charset="0"/>
                        </a:rPr>
                        <m:t>𝑌</m:t>
                      </m:r>
                      <m:r>
                        <a:rPr>
                          <a:latin typeface="Cambria Math" panose="02040503050406030204" pitchFamily="18" charset="0"/>
                        </a:rPr>
                        <m:t>) = </m:t>
                      </m:r>
                      <m:r>
                        <a:rPr>
                          <a:latin typeface="Cambria Math" panose="02040503050406030204" pitchFamily="18" charset="0"/>
                        </a:rPr>
                        <m:t>𝐴</m:t>
                      </m:r>
                      <m:sSup>
                        <m:sSupPr>
                          <m:ctrlPr>
                            <a:rPr i="1">
                              <a:latin typeface="Cambria Math" panose="02040503050406030204" pitchFamily="18" charset="0"/>
                            </a:rPr>
                          </m:ctrlPr>
                        </m:sSupPr>
                        <m:e>
                          <m:r>
                            <a:rPr>
                              <a:latin typeface="Cambria Math" panose="02040503050406030204" pitchFamily="18" charset="0"/>
                            </a:rPr>
                            <m:t>𝐴</m:t>
                          </m:r>
                        </m:e>
                        <m:sup>
                          <m:r>
                            <a:rPr>
                              <a:latin typeface="Cambria Math" panose="02040503050406030204" pitchFamily="18" charset="0"/>
                            </a:rPr>
                            <m:t>𝑇</m:t>
                          </m:r>
                        </m:sup>
                      </m:sSup>
                    </m:oMath>
                  </m:oMathPara>
                </a14:m>
                <a:endParaRPr lang="en-GB" sz="2300">
                  <a:solidFill>
                    <a:srgbClr val="14233B"/>
                  </a:solidFill>
                </a:endParaRPr>
              </a:p>
            </p:txBody>
          </p:sp>
        </mc:Choice>
        <mc:Fallback>
          <p:sp>
            <p:nvSpPr>
              <p:cNvPr id="11" name="EDITABLE OfficeMath | Linear transformation and covariance"/>
              <p:cNvSpPr txBox="1">
                <a:spLocks noRot="1" noChangeAspect="1" noMove="1" noResize="1" noEditPoints="1" noAdjustHandles="1" noChangeArrowheads="1" noChangeShapeType="1" noTextEdit="1"/>
              </p:cNvSpPr>
              <p:nvPr/>
            </p:nvSpPr>
            <p:spPr>
              <a:xfrm>
                <a:off x="1234440" y="3360420"/>
                <a:ext cx="12084587" cy="960120"/>
              </a:xfrm>
              <a:prstGeom prst="rect">
                <a:avLst/>
              </a:prstGeom>
              <a:blipFill>
                <a:blip r:embed="rId3"/>
                <a:stretch>
                  <a:fillRect t="-1266"/>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2" name="EDITABLE OfficeMath | Correlation construction"/>
              <p:cNvSpPr txBox="1"/>
              <p:nvPr/>
            </p:nvSpPr>
            <p:spPr>
              <a:xfrm>
                <a:off x="1234440" y="4869180"/>
                <a:ext cx="13716000" cy="991876"/>
              </a:xfrm>
              <a:prstGeom prst="rect">
                <a:avLst/>
              </a:prstGeom>
              <a:no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𝑌</m:t>
                          </m:r>
                        </m:e>
                        <m:sub>
                          <m:r>
                            <a:rPr>
                              <a:latin typeface="Cambria Math" panose="02040503050406030204" pitchFamily="18" charset="0"/>
                            </a:rPr>
                            <m:t>1</m:t>
                          </m:r>
                        </m:sub>
                      </m:sSub>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𝑍</m:t>
                          </m:r>
                        </m:e>
                        <m:sub>
                          <m:r>
                            <a:rPr>
                              <a:latin typeface="Cambria Math" panose="02040503050406030204" pitchFamily="18" charset="0"/>
                            </a:rPr>
                            <m:t>1</m:t>
                          </m:r>
                        </m:sub>
                      </m:sSub>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𝑌</m:t>
                          </m:r>
                        </m:e>
                        <m:sub>
                          <m:r>
                            <a:rPr>
                              <a:latin typeface="Cambria Math" panose="02040503050406030204" pitchFamily="18" charset="0"/>
                            </a:rPr>
                            <m:t>2</m:t>
                          </m:r>
                        </m:sub>
                      </m:sSub>
                      <m:r>
                        <a:rPr>
                          <a:latin typeface="Cambria Math" panose="02040503050406030204" pitchFamily="18" charset="0"/>
                        </a:rPr>
                        <m:t> = </m:t>
                      </m:r>
                      <m:r>
                        <a:rPr>
                          <a:latin typeface="Cambria Math" panose="02040503050406030204" pitchFamily="18" charset="0"/>
                        </a:rPr>
                        <m:t>𝑎</m:t>
                      </m:r>
                      <m:sSub>
                        <m:sSubPr>
                          <m:ctrlPr>
                            <a:rPr i="1">
                              <a:latin typeface="Cambria Math" panose="02040503050406030204" pitchFamily="18" charset="0"/>
                            </a:rPr>
                          </m:ctrlPr>
                        </m:sSubPr>
                        <m:e>
                          <m:r>
                            <a:rPr>
                              <a:latin typeface="Cambria Math" panose="02040503050406030204" pitchFamily="18" charset="0"/>
                            </a:rPr>
                            <m:t>𝑍</m:t>
                          </m:r>
                        </m:e>
                        <m:sub>
                          <m:r>
                            <a:rPr>
                              <a:latin typeface="Cambria Math" panose="02040503050406030204" pitchFamily="18" charset="0"/>
                            </a:rPr>
                            <m:t>1</m:t>
                          </m:r>
                        </m:sub>
                      </m:sSub>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𝑍</m:t>
                          </m:r>
                        </m:e>
                        <m:sub>
                          <m:r>
                            <a:rPr>
                              <a:latin typeface="Cambria Math" panose="02040503050406030204" pitchFamily="18" charset="0"/>
                            </a:rPr>
                            <m:t>2</m:t>
                          </m:r>
                        </m:sub>
                      </m:sSub>
                      <m:r>
                        <a:rPr>
                          <a:latin typeface="Cambria Math" panose="02040503050406030204" pitchFamily="18" charset="0"/>
                        </a:rPr>
                        <m:t>,    </m:t>
                      </m:r>
                      <m:r>
                        <a:rPr>
                          <a:latin typeface="Cambria Math" panose="02040503050406030204" pitchFamily="18" charset="0"/>
                        </a:rPr>
                        <m:t>𝐶𝑜𝑣</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𝑌</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𝑌</m:t>
                          </m:r>
                        </m:e>
                        <m:sub>
                          <m:r>
                            <a:rPr>
                              <a:latin typeface="Cambria Math" panose="02040503050406030204" pitchFamily="18" charset="0"/>
                            </a:rPr>
                            <m:t>2</m:t>
                          </m:r>
                        </m:sub>
                      </m:sSub>
                      <m:r>
                        <a:rPr>
                          <a:latin typeface="Cambria Math" panose="02040503050406030204" pitchFamily="18" charset="0"/>
                        </a:rPr>
                        <m:t>) = </m:t>
                      </m:r>
                      <m:r>
                        <a:rPr>
                          <a:latin typeface="Cambria Math" panose="02040503050406030204" pitchFamily="18" charset="0"/>
                        </a:rPr>
                        <m:t>𝑎</m:t>
                      </m:r>
                    </m:oMath>
                  </m:oMathPara>
                </a14:m>
                <a:endParaRPr lang="en-GB" sz="2300">
                  <a:solidFill>
                    <a:srgbClr val="14233B"/>
                  </a:solidFill>
                </a:endParaRPr>
              </a:p>
            </p:txBody>
          </p:sp>
        </mc:Choice>
        <mc:Fallback>
          <p:sp>
            <p:nvSpPr>
              <p:cNvPr id="12" name="EDITABLE OfficeMath | Correlation construction"/>
              <p:cNvSpPr txBox="1">
                <a:spLocks noRot="1" noChangeAspect="1" noMove="1" noResize="1" noEditPoints="1" noAdjustHandles="1" noChangeArrowheads="1" noChangeShapeType="1" noTextEdit="1"/>
              </p:cNvSpPr>
              <p:nvPr/>
            </p:nvSpPr>
            <p:spPr>
              <a:xfrm>
                <a:off x="1234440" y="4869180"/>
                <a:ext cx="13716000" cy="991876"/>
              </a:xfrm>
              <a:prstGeom prst="rect">
                <a:avLst/>
              </a:prstGeom>
              <a:blipFill>
                <a:blip r:embed="rId4"/>
                <a:stretch>
                  <a:fillRect t="-617"/>
                </a:stretch>
              </a:blipFill>
            </p:spPr>
            <p:txBody>
              <a:bodyPr/>
              <a:lstStyle/>
              <a:p>
                <a:r>
                  <a:rPr lang="en-GB">
                    <a:noFill/>
                  </a:rPr>
                  <a:t> </a:t>
                </a:r>
              </a:p>
            </p:txBody>
          </p:sp>
        </mc:Fallback>
      </mc:AlternateContent>
      <p:sp>
        <p:nvSpPr>
          <p:cNvPr id="10" name="TextBox 10"/>
          <p:cNvSpPr txBox="1"/>
          <p:nvPr/>
        </p:nvSpPr>
        <p:spPr>
          <a:xfrm>
            <a:off x="1325880" y="6697980"/>
            <a:ext cx="15590520" cy="1965960"/>
          </a:xfrm>
          <a:prstGeom prst="rect">
            <a:avLst/>
          </a:prstGeom>
        </p:spPr>
        <p:txBody>
          <a:bodyPr lIns="0" tIns="0" rIns="0" bIns="0" rtlCol="0" anchor="t">
            <a:spAutoFit/>
          </a:bodyPr>
          <a:lstStyle/>
          <a:p>
            <a:pPr algn="l">
              <a:lnSpc>
                <a:spcPts val="3779"/>
              </a:lnSpc>
            </a:pPr>
            <a:r>
              <a:rPr lang="en-US" sz="3150">
                <a:solidFill>
                  <a:srgbClr val="12233B"/>
                </a:solidFill>
                <a:latin typeface="Aptos"/>
                <a:ea typeface="Aptos"/>
                <a:cs typeface="Aptos"/>
                <a:sym typeface="Aptos"/>
              </a:rPr>
              <a:t>For a ≠ 0, the observed components have nonzero cross-covariance.</a:t>
            </a:r>
          </a:p>
          <a:p>
            <a:pPr algn="l">
              <a:lnSpc>
                <a:spcPts val="3779"/>
              </a:lnSpc>
            </a:pPr>
            <a:r>
              <a:rPr lang="en-US" sz="3150">
                <a:solidFill>
                  <a:srgbClr val="12233B"/>
                </a:solidFill>
                <a:latin typeface="Aptos"/>
                <a:ea typeface="Aptos"/>
                <a:cs typeface="Aptos"/>
                <a:sym typeface="Aptos"/>
              </a:rPr>
              <a:t>Time-varying transfer coefficients can change variance or dependence while leaving the mean unchanged. This motivates the second-order reading pathway.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PAPER CONTEXT</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Chowdhury et al. (2018): online adaptive BCI</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§II.B, p. 1072 · §II.D–E, pp. 1073–1075 · Figs. 1, 3 and 4</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04</a:t>
            </a:r>
          </a:p>
        </p:txBody>
      </p:sp>
      <p:sp>
        <p:nvSpPr>
          <p:cNvPr id="7" name="TextBox 7"/>
          <p:cNvSpPr txBox="1"/>
          <p:nvPr/>
        </p:nvSpPr>
        <p:spPr>
          <a:xfrm>
            <a:off x="1005840" y="2588895"/>
            <a:ext cx="7389495" cy="451485"/>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Calibration and task</a:t>
            </a:r>
          </a:p>
        </p:txBody>
      </p:sp>
      <p:sp>
        <p:nvSpPr>
          <p:cNvPr id="8" name="TextBox 8"/>
          <p:cNvSpPr txBox="1"/>
          <p:nvPr/>
        </p:nvSpPr>
        <p:spPr>
          <a:xfrm>
            <a:off x="1005840" y="3322320"/>
            <a:ext cx="7389495"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10 healthy participants + 10 stroke patients</a:t>
            </a:r>
          </a:p>
          <a:p>
            <a:pPr algn="l">
              <a:lnSpc>
                <a:spcPts val="3240"/>
              </a:lnSpc>
            </a:pPr>
            <a:r>
              <a:rPr lang="en-US" sz="2700">
                <a:solidFill>
                  <a:srgbClr val="EAF2F8"/>
                </a:solidFill>
                <a:latin typeface="DejaVu Sans Light"/>
                <a:ea typeface="DejaVu Sans Light"/>
                <a:cs typeface="DejaVu Sans Light"/>
                <a:sym typeface="DejaVu Sans Light"/>
              </a:rPr>
              <a:t>80 calibration trials, then 40 online trials</a:t>
            </a:r>
          </a:p>
          <a:p>
            <a:pPr algn="l">
              <a:lnSpc>
                <a:spcPts val="3240"/>
              </a:lnSpc>
            </a:pPr>
            <a:r>
              <a:rPr lang="en-US" sz="2700">
                <a:solidFill>
                  <a:srgbClr val="EAF2F8"/>
                </a:solidFill>
                <a:latin typeface="DejaVu Sans Light"/>
                <a:ea typeface="DejaVu Sans Light"/>
                <a:cs typeface="DejaVu Sans Light"/>
                <a:sym typeface="DejaVu Sans Light"/>
              </a:rPr>
              <a:t>Left- versus right-hand motor imagery</a:t>
            </a:r>
          </a:p>
          <a:p>
            <a:pPr algn="l">
              <a:lnSpc>
                <a:spcPts val="3240"/>
              </a:lnSpc>
            </a:pPr>
            <a:r>
              <a:rPr lang="en-US" sz="2700">
                <a:solidFill>
                  <a:srgbClr val="EAF2F8"/>
                </a:solidFill>
                <a:latin typeface="DejaVu Sans Light"/>
                <a:ea typeface="DejaVu Sans Light"/>
                <a:cs typeface="DejaVu Sans Light"/>
                <a:sym typeface="DejaVu Sans Light"/>
              </a:rPr>
              <a:t>Initial linear SVM and CSD parameters</a:t>
            </a:r>
          </a:p>
        </p:txBody>
      </p:sp>
      <p:sp>
        <p:nvSpPr>
          <p:cNvPr id="9" name="TextBox 9"/>
          <p:cNvSpPr txBox="1"/>
          <p:nvPr/>
        </p:nvSpPr>
        <p:spPr>
          <a:xfrm>
            <a:off x="9949815" y="2588895"/>
            <a:ext cx="7103745" cy="451485"/>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Signal and adaptation</a:t>
            </a:r>
          </a:p>
        </p:txBody>
      </p:sp>
      <p:sp>
        <p:nvSpPr>
          <p:cNvPr id="10" name="TextBox 10"/>
          <p:cNvSpPr txBox="1"/>
          <p:nvPr/>
        </p:nvSpPr>
        <p:spPr>
          <a:xfrm>
            <a:off x="9949815" y="3322320"/>
            <a:ext cx="7103745"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μ 8–12 Hz and β 16–24 Hz</a:t>
            </a:r>
          </a:p>
          <a:p>
            <a:pPr algn="l">
              <a:lnSpc>
                <a:spcPts val="3240"/>
              </a:lnSpc>
            </a:pPr>
            <a:r>
              <a:rPr lang="en-US" sz="2700">
                <a:solidFill>
                  <a:srgbClr val="EAF2F8"/>
                </a:solidFill>
                <a:latin typeface="DejaVu Sans Light"/>
                <a:ea typeface="DejaVu Sans Light"/>
                <a:cs typeface="DejaVu Sans Light"/>
                <a:sym typeface="DejaVu Sans Light"/>
              </a:rPr>
              <a:t>CSP yields four log-variance features</a:t>
            </a:r>
          </a:p>
          <a:p>
            <a:pPr algn="l">
              <a:lnSpc>
                <a:spcPts val="3240"/>
              </a:lnSpc>
            </a:pPr>
            <a:r>
              <a:rPr lang="en-US" sz="2700">
                <a:solidFill>
                  <a:srgbClr val="EAF2F8"/>
                </a:solidFill>
                <a:latin typeface="DejaVu Sans Light"/>
                <a:ea typeface="DejaVu Sans Light"/>
                <a:cs typeface="DejaVu Sans Light"/>
                <a:sym typeface="DejaVu Sans Light"/>
              </a:rPr>
              <a:t>PC1 EWMA warning, then Hotelling T²</a:t>
            </a:r>
          </a:p>
          <a:p>
            <a:pPr algn="l">
              <a:lnSpc>
                <a:spcPts val="3240"/>
              </a:lnSpc>
            </a:pPr>
            <a:r>
              <a:rPr lang="en-US" sz="2700">
                <a:solidFill>
                  <a:srgbClr val="EAF2F8"/>
                </a:solidFill>
                <a:latin typeface="DejaVu Sans Light"/>
                <a:ea typeface="DejaVu Sans Light"/>
                <a:cs typeface="DejaVu Sans Light"/>
                <a:sym typeface="DejaVu Sans Light"/>
              </a:rPr>
              <a:t>Validated shift triggers SVM retraining</a:t>
            </a:r>
          </a:p>
        </p:txBody>
      </p:sp>
      <p:sp>
        <p:nvSpPr>
          <p:cNvPr id="11" name="TextBox 11"/>
          <p:cNvSpPr txBox="1"/>
          <p:nvPr/>
        </p:nvSpPr>
        <p:spPr>
          <a:xfrm>
            <a:off x="1005840" y="6203632"/>
            <a:ext cx="3246120" cy="394335"/>
          </a:xfrm>
          <a:prstGeom prst="rect">
            <a:avLst/>
          </a:prstGeom>
        </p:spPr>
        <p:txBody>
          <a:bodyPr lIns="0" tIns="0" rIns="0" bIns="0" rtlCol="0" anchor="t">
            <a:spAutoFit/>
          </a:bodyPr>
          <a:lstStyle/>
          <a:p>
            <a:pPr algn="l">
              <a:lnSpc>
                <a:spcPts val="3644"/>
              </a:lnSpc>
            </a:pPr>
            <a:r>
              <a:rPr lang="en-US" sz="3037" b="1">
                <a:solidFill>
                  <a:srgbClr val="F5B942"/>
                </a:solidFill>
                <a:latin typeface="DejaVu Sans Bold"/>
                <a:ea typeface="DejaVu Sans Bold"/>
                <a:cs typeface="DejaVu Sans Bold"/>
                <a:sym typeface="DejaVu Sans Bold"/>
              </a:rPr>
              <a:t>Online output</a:t>
            </a:r>
          </a:p>
        </p:txBody>
      </p:sp>
      <p:sp>
        <p:nvSpPr>
          <p:cNvPr id="12" name="TextBox 12"/>
          <p:cNvSpPr txBox="1"/>
          <p:nvPr/>
        </p:nvSpPr>
        <p:spPr>
          <a:xfrm>
            <a:off x="1005840" y="6903720"/>
            <a:ext cx="15533370" cy="837248"/>
          </a:xfrm>
          <a:prstGeom prst="rect">
            <a:avLst/>
          </a:prstGeom>
        </p:spPr>
        <p:txBody>
          <a:bodyPr lIns="0" tIns="0" rIns="0" bIns="0" rtlCol="0" anchor="t">
            <a:spAutoFit/>
          </a:bodyPr>
          <a:lstStyle/>
          <a:p>
            <a:pPr algn="l">
              <a:lnSpc>
                <a:spcPts val="3644"/>
              </a:lnSpc>
            </a:pPr>
            <a:r>
              <a:rPr lang="en-US" sz="3037">
                <a:solidFill>
                  <a:srgbClr val="EAF2F8"/>
                </a:solidFill>
                <a:latin typeface="DejaVu Sans Light"/>
                <a:ea typeface="DejaVu Sans Light"/>
                <a:cs typeface="DejaVu Sans Light"/>
                <a:sym typeface="DejaVu Sans Light"/>
              </a:rPr>
              <a:t>Visual feedback and hand-exoskeleton movement follow MI classification.</a:t>
            </a:r>
          </a:p>
        </p:txBody>
      </p:sp>
      <p:sp>
        <p:nvSpPr>
          <p:cNvPr id="13" name="TextBox 13"/>
          <p:cNvSpPr txBox="1"/>
          <p:nvPr/>
        </p:nvSpPr>
        <p:spPr>
          <a:xfrm>
            <a:off x="1005840" y="8094345"/>
            <a:ext cx="15961995" cy="632460"/>
          </a:xfrm>
          <a:prstGeom prst="rect">
            <a:avLst/>
          </a:prstGeom>
        </p:spPr>
        <p:txBody>
          <a:bodyPr lIns="0" tIns="0" rIns="0" bIns="0" rtlCol="0" anchor="t">
            <a:spAutoFit/>
          </a:bodyPr>
          <a:lstStyle/>
          <a:p>
            <a:pPr algn="l">
              <a:lnSpc>
                <a:spcPts val="3104"/>
              </a:lnSpc>
            </a:pPr>
            <a:r>
              <a:rPr lang="en-US" sz="2587">
                <a:solidFill>
                  <a:srgbClr val="9CB0C3"/>
                </a:solidFill>
                <a:latin typeface="DejaVu Sans Light"/>
                <a:ea typeface="DejaVu Sans Light"/>
                <a:cs typeface="DejaVu Sans Light"/>
                <a:sym typeface="DejaVu Sans Light"/>
              </a:rPr>
              <a:t>Comparator: EEG-NAC replays the same recorded data offline with a fixed classifier.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REPORTED ACHIEVEMENTS</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Decoding improved relative to the fixed classifier</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§III, p. 1076, Tables II–IV and Fig. 6 · §IV, p. 1078</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05</a:t>
            </a:r>
          </a:p>
        </p:txBody>
      </p:sp>
      <p:graphicFrame>
        <p:nvGraphicFramePr>
          <p:cNvPr id="7" name="Table 7"/>
          <p:cNvGraphicFramePr>
            <a:graphicFrameLocks noGrp="1"/>
          </p:cNvGraphicFramePr>
          <p:nvPr/>
        </p:nvGraphicFramePr>
        <p:xfrm>
          <a:off x="914400" y="2714625"/>
          <a:ext cx="16440150" cy="3257550"/>
        </p:xfrm>
        <a:graphic>
          <a:graphicData uri="http://schemas.openxmlformats.org/drawingml/2006/table">
            <a:tbl>
              <a:tblPr/>
              <a:tblGrid>
                <a:gridCol w="4281289">
                  <a:extLst>
                    <a:ext uri="{9D8B030D-6E8A-4147-A177-3AD203B41FA5}">
                      <a16:colId xmlns:a16="http://schemas.microsoft.com/office/drawing/2014/main" val="20000"/>
                    </a:ext>
                  </a:extLst>
                </a:gridCol>
                <a:gridCol w="4423999">
                  <a:extLst>
                    <a:ext uri="{9D8B030D-6E8A-4147-A177-3AD203B41FA5}">
                      <a16:colId xmlns:a16="http://schemas.microsoft.com/office/drawing/2014/main" val="20001"/>
                    </a:ext>
                  </a:extLst>
                </a:gridCol>
                <a:gridCol w="4423999">
                  <a:extLst>
                    <a:ext uri="{9D8B030D-6E8A-4147-A177-3AD203B41FA5}">
                      <a16:colId xmlns:a16="http://schemas.microsoft.com/office/drawing/2014/main" val="20002"/>
                    </a:ext>
                  </a:extLst>
                </a:gridCol>
                <a:gridCol w="3310864">
                  <a:extLst>
                    <a:ext uri="{9D8B030D-6E8A-4147-A177-3AD203B41FA5}">
                      <a16:colId xmlns:a16="http://schemas.microsoft.com/office/drawing/2014/main" val="20003"/>
                    </a:ext>
                  </a:extLst>
                </a:gridCol>
              </a:tblGrid>
              <a:tr h="1085850">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Group</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EEG-NAC</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EEG-CSAC</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Gain</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extLst>
                  <a:ext uri="{0D108BD9-81ED-4DB2-BD59-A6C34878D82A}">
                    <a16:rowId xmlns:a16="http://schemas.microsoft.com/office/drawing/2014/main" val="10000"/>
                  </a:ext>
                </a:extLst>
              </a:tr>
              <a:tr h="1085850">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Healthy (n = 10)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75.25 ± 5.46%</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81.50 ± 4.89%</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+6.25 pp</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extLst>
                  <a:ext uri="{0D108BD9-81ED-4DB2-BD59-A6C34878D82A}">
                    <a16:rowId xmlns:a16="http://schemas.microsoft.com/office/drawing/2014/main" val="10001"/>
                  </a:ext>
                </a:extLst>
              </a:tr>
              <a:tr h="1085850">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Stroke (n = 10)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70.25 ± 3.43%</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75.75 ± 3.92%</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+5.50 pp</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extLst>
                  <a:ext uri="{0D108BD9-81ED-4DB2-BD59-A6C34878D82A}">
                    <a16:rowId xmlns:a16="http://schemas.microsoft.com/office/drawing/2014/main" val="10002"/>
                  </a:ext>
                </a:extLst>
              </a:tr>
            </a:tbl>
          </a:graphicData>
        </a:graphic>
      </p:graphicFrame>
      <p:sp>
        <p:nvSpPr>
          <p:cNvPr id="8" name="TextBox 8"/>
          <p:cNvSpPr txBox="1"/>
          <p:nvPr/>
        </p:nvSpPr>
        <p:spPr>
          <a:xfrm>
            <a:off x="1005840" y="6465570"/>
            <a:ext cx="15533370" cy="561023"/>
          </a:xfrm>
          <a:prstGeom prst="rect">
            <a:avLst/>
          </a:prstGeom>
        </p:spPr>
        <p:txBody>
          <a:bodyPr lIns="0" tIns="0" rIns="0" bIns="0" rtlCol="0" anchor="t">
            <a:spAutoFit/>
          </a:bodyPr>
          <a:lstStyle/>
          <a:p>
            <a:pPr algn="l">
              <a:lnSpc>
                <a:spcPts val="3915"/>
              </a:lnSpc>
            </a:pPr>
            <a:r>
              <a:rPr lang="en-US" sz="3262" b="1">
                <a:solidFill>
                  <a:srgbClr val="2DD4BF"/>
                </a:solidFill>
                <a:latin typeface="DejaVu Sans Bold"/>
                <a:ea typeface="DejaVu Sans Bold"/>
                <a:cs typeface="DejaVu Sans Bold"/>
                <a:sym typeface="DejaVu Sans Bold"/>
              </a:rPr>
              <a:t>Both accuracy comparisons: p &lt; 0.01</a:t>
            </a:r>
          </a:p>
        </p:txBody>
      </p:sp>
      <p:sp>
        <p:nvSpPr>
          <p:cNvPr id="9" name="TextBox 9"/>
          <p:cNvSpPr txBox="1"/>
          <p:nvPr/>
        </p:nvSpPr>
        <p:spPr>
          <a:xfrm>
            <a:off x="1005840" y="7403782"/>
            <a:ext cx="15961995" cy="994410"/>
          </a:xfrm>
          <a:prstGeom prst="rect">
            <a:avLst/>
          </a:prstGeom>
        </p:spPr>
        <p:txBody>
          <a:bodyPr lIns="0" tIns="0" rIns="0" bIns="0" rtlCol="0" anchor="t">
            <a:spAutoFit/>
          </a:bodyPr>
          <a:lstStyle/>
          <a:p>
            <a:pPr algn="l">
              <a:lnSpc>
                <a:spcPts val="3375"/>
              </a:lnSpc>
            </a:pPr>
            <a:r>
              <a:rPr lang="en-US" sz="2812">
                <a:solidFill>
                  <a:srgbClr val="EAF2F8"/>
                </a:solidFill>
                <a:latin typeface="DejaVu Sans Light"/>
                <a:ea typeface="DejaVu Sans Light"/>
                <a:cs typeface="DejaVu Sans Light"/>
                <a:sym typeface="DejaVu Sans Light"/>
              </a:rPr>
              <a:t>Kappa also improved significantly. Every participant could trigger the exoskeleton.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DETECTOR EVIDENCE</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Stage-II validation reduced retraining triggers</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§II.E.4, p. 1075, Eqs. (10)–(11) · §III, p. 1077, Tables VI–VIII and Fig. 7</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06</a:t>
            </a:r>
          </a:p>
        </p:txBody>
      </p:sp>
      <p:graphicFrame>
        <p:nvGraphicFramePr>
          <p:cNvPr id="7" name="Table 7"/>
          <p:cNvGraphicFramePr>
            <a:graphicFrameLocks noGrp="1"/>
          </p:cNvGraphicFramePr>
          <p:nvPr/>
        </p:nvGraphicFramePr>
        <p:xfrm>
          <a:off x="914400" y="2714625"/>
          <a:ext cx="16459200" cy="3257550"/>
        </p:xfrm>
        <a:graphic>
          <a:graphicData uri="http://schemas.openxmlformats.org/drawingml/2006/table">
            <a:tbl>
              <a:tblPr/>
              <a:tblGrid>
                <a:gridCol w="5143500">
                  <a:extLst>
                    <a:ext uri="{9D8B030D-6E8A-4147-A177-3AD203B41FA5}">
                      <a16:colId xmlns:a16="http://schemas.microsoft.com/office/drawing/2014/main" val="20000"/>
                    </a:ext>
                  </a:extLst>
                </a:gridCol>
                <a:gridCol w="5657850">
                  <a:extLst>
                    <a:ext uri="{9D8B030D-6E8A-4147-A177-3AD203B41FA5}">
                      <a16:colId xmlns:a16="http://schemas.microsoft.com/office/drawing/2014/main" val="20001"/>
                    </a:ext>
                  </a:extLst>
                </a:gridCol>
                <a:gridCol w="5657850">
                  <a:extLst>
                    <a:ext uri="{9D8B030D-6E8A-4147-A177-3AD203B41FA5}">
                      <a16:colId xmlns:a16="http://schemas.microsoft.com/office/drawing/2014/main" val="20002"/>
                    </a:ext>
                  </a:extLst>
                </a:gridCol>
              </a:tblGrid>
              <a:tr h="1085850">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Group</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Stage-I CSW</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Stage-II CSV</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extLst>
                  <a:ext uri="{0D108BD9-81ED-4DB2-BD59-A6C34878D82A}">
                    <a16:rowId xmlns:a16="http://schemas.microsoft.com/office/drawing/2014/main" val="10000"/>
                  </a:ext>
                </a:extLst>
              </a:tr>
              <a:tr h="1085850">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Healthy</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15.75 ± 5.65%</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9.25 ± 3.54%</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extLst>
                  <a:ext uri="{0D108BD9-81ED-4DB2-BD59-A6C34878D82A}">
                    <a16:rowId xmlns:a16="http://schemas.microsoft.com/office/drawing/2014/main" val="10001"/>
                  </a:ext>
                </a:extLst>
              </a:tr>
              <a:tr h="1085850">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Stroke</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16.75 ± 2.89%</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9.00 ± 2.10%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extLst>
                  <a:ext uri="{0D108BD9-81ED-4DB2-BD59-A6C34878D82A}">
                    <a16:rowId xmlns:a16="http://schemas.microsoft.com/office/drawing/2014/main" val="10002"/>
                  </a:ext>
                </a:extLst>
              </a:tr>
            </a:tbl>
          </a:graphicData>
        </a:graphic>
      </p:graphicFrame>
      <p:sp>
        <p:nvSpPr>
          <p:cNvPr id="8" name="TextBox 8"/>
          <p:cNvSpPr txBox="1"/>
          <p:nvPr/>
        </p:nvSpPr>
        <p:spPr>
          <a:xfrm>
            <a:off x="1005840" y="6351270"/>
            <a:ext cx="15819120" cy="532447"/>
          </a:xfrm>
          <a:prstGeom prst="rect">
            <a:avLst/>
          </a:prstGeom>
        </p:spPr>
        <p:txBody>
          <a:bodyPr lIns="0" tIns="0" rIns="0" bIns="0" rtlCol="0" anchor="t">
            <a:spAutoFit/>
          </a:bodyPr>
          <a:lstStyle/>
          <a:p>
            <a:pPr algn="l">
              <a:lnSpc>
                <a:spcPts val="3510"/>
              </a:lnSpc>
            </a:pPr>
            <a:r>
              <a:rPr lang="en-US" sz="2925" b="1">
                <a:solidFill>
                  <a:srgbClr val="2DD4BF"/>
                </a:solidFill>
                <a:latin typeface="DejaVu Sans Bold"/>
                <a:ea typeface="DejaVu Sans Bold"/>
                <a:cs typeface="DejaVu Sans Bold"/>
                <a:sym typeface="DejaVu Sans Bold"/>
              </a:rPr>
              <a:t>Rates are percentages of trials. Both reductions: p &lt; 0.01.</a:t>
            </a:r>
          </a:p>
        </p:txBody>
      </p:sp>
      <p:sp>
        <p:nvSpPr>
          <p:cNvPr id="9" name="TextBox 9"/>
          <p:cNvSpPr txBox="1"/>
          <p:nvPr/>
        </p:nvSpPr>
        <p:spPr>
          <a:xfrm>
            <a:off x="1005840" y="7175182"/>
            <a:ext cx="16104870" cy="594360"/>
          </a:xfrm>
          <a:prstGeom prst="rect">
            <a:avLst/>
          </a:prstGeom>
        </p:spPr>
        <p:txBody>
          <a:bodyPr lIns="0" tIns="0" rIns="0" bIns="0" rtlCol="0" anchor="t">
            <a:spAutoFit/>
          </a:bodyPr>
          <a:lstStyle/>
          <a:p>
            <a:pPr algn="l">
              <a:lnSpc>
                <a:spcPts val="3375"/>
              </a:lnSpc>
            </a:pPr>
            <a:r>
              <a:rPr lang="en-US" sz="2812">
                <a:solidFill>
                  <a:srgbClr val="EAF2F8"/>
                </a:solidFill>
                <a:latin typeface="DejaVu Sans Light"/>
                <a:ea typeface="DejaVu Sans Light"/>
                <a:cs typeface="DejaVu Sans Light"/>
                <a:sym typeface="DejaVu Sans Light"/>
              </a:rPr>
              <a:t>Validated-shift rate and accuracy gain correlate: r = 0.853, p &lt; 0.01.</a:t>
            </a:r>
          </a:p>
        </p:txBody>
      </p:sp>
      <p:sp>
        <p:nvSpPr>
          <p:cNvPr id="10" name="TextBox 10"/>
          <p:cNvSpPr txBox="1"/>
          <p:nvPr/>
        </p:nvSpPr>
        <p:spPr>
          <a:xfrm>
            <a:off x="1005840" y="8008620"/>
            <a:ext cx="16104870" cy="718185"/>
          </a:xfrm>
          <a:prstGeom prst="rect">
            <a:avLst/>
          </a:prstGeom>
        </p:spPr>
        <p:txBody>
          <a:bodyPr lIns="0" tIns="0" rIns="0" bIns="0" rtlCol="0" anchor="t">
            <a:spAutoFit/>
          </a:bodyPr>
          <a:lstStyle/>
          <a:p>
            <a:pPr algn="l">
              <a:lnSpc>
                <a:spcPts val="3240"/>
              </a:lnSpc>
            </a:pPr>
            <a:r>
              <a:rPr lang="en-US" sz="2700">
                <a:solidFill>
                  <a:srgbClr val="F5B942"/>
                </a:solidFill>
                <a:latin typeface="DejaVu Sans Light"/>
                <a:ea typeface="DejaVu Sans Light"/>
                <a:cs typeface="DejaVu Sans Light"/>
                <a:sym typeface="DejaVu Sans Light"/>
              </a:rPr>
              <a:t>Interpretation: fewer retraining triggers do not independently quantify false alarms.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AUTHOR-STATED LIMITATIONS</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Limitations acknowledged by the authors</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§IV, p. 1078 (scope, frequency bands, comparator, noise) · pp. 1078–1079 (control and labels)</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07</a:t>
            </a:r>
          </a:p>
        </p:txBody>
      </p:sp>
      <p:sp>
        <p:nvSpPr>
          <p:cNvPr id="7" name="TextBox 7"/>
          <p:cNvSpPr txBox="1"/>
          <p:nvPr/>
        </p:nvSpPr>
        <p:spPr>
          <a:xfrm>
            <a:off x="1005840" y="2531745"/>
            <a:ext cx="7532370" cy="451485"/>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Representation and comparison</a:t>
            </a:r>
          </a:p>
        </p:txBody>
      </p:sp>
      <p:sp>
        <p:nvSpPr>
          <p:cNvPr id="8" name="TextBox 8"/>
          <p:cNvSpPr txBox="1"/>
          <p:nvPr/>
        </p:nvSpPr>
        <p:spPr>
          <a:xfrm>
            <a:off x="1005840" y="3265170"/>
            <a:ext cx="753237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Binary left/right MI classification</a:t>
            </a:r>
          </a:p>
          <a:p>
            <a:pPr algn="l">
              <a:lnSpc>
                <a:spcPts val="3240"/>
              </a:lnSpc>
            </a:pPr>
            <a:r>
              <a:rPr lang="en-US" sz="2700">
                <a:solidFill>
                  <a:srgbClr val="EAF2F8"/>
                </a:solidFill>
                <a:latin typeface="DejaVu Sans Light"/>
                <a:ea typeface="DejaVu Sans Light"/>
                <a:cs typeface="DejaVu Sans Light"/>
                <a:sym typeface="DejaVu Sans Light"/>
              </a:rPr>
              <a:t>Fixed μ/β bands for all participants</a:t>
            </a:r>
          </a:p>
          <a:p>
            <a:pPr algn="l">
              <a:lnSpc>
                <a:spcPts val="3240"/>
              </a:lnSpc>
            </a:pPr>
            <a:r>
              <a:rPr lang="en-US" sz="2700">
                <a:solidFill>
                  <a:srgbClr val="EAF2F8"/>
                </a:solidFill>
                <a:latin typeface="DejaVu Sans Light"/>
                <a:ea typeface="DejaVu Sans Light"/>
                <a:cs typeface="DejaVu Sans Light"/>
                <a:sym typeface="DejaVu Sans Light"/>
              </a:rPr>
              <a:t>No direct test against other adaptive BCIs</a:t>
            </a:r>
          </a:p>
        </p:txBody>
      </p:sp>
      <p:sp>
        <p:nvSpPr>
          <p:cNvPr id="9" name="TextBox 9"/>
          <p:cNvSpPr txBox="1"/>
          <p:nvPr/>
        </p:nvSpPr>
        <p:spPr>
          <a:xfrm>
            <a:off x="9949815" y="2531745"/>
            <a:ext cx="7246620" cy="451485"/>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Labels and online control</a:t>
            </a:r>
          </a:p>
        </p:txBody>
      </p:sp>
      <p:sp>
        <p:nvSpPr>
          <p:cNvPr id="10" name="TextBox 10"/>
          <p:cNvSpPr txBox="1"/>
          <p:nvPr/>
        </p:nvSpPr>
        <p:spPr>
          <a:xfrm>
            <a:off x="9949815" y="3265170"/>
            <a:ext cx="724662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Supervised adaptation assumes cue compliance</a:t>
            </a:r>
          </a:p>
          <a:p>
            <a:pPr algn="l">
              <a:lnSpc>
                <a:spcPts val="3240"/>
              </a:lnSpc>
            </a:pPr>
            <a:r>
              <a:rPr lang="en-US" sz="2700">
                <a:solidFill>
                  <a:srgbClr val="EAF2F8"/>
                </a:solidFill>
                <a:latin typeface="DejaVu Sans Light"/>
                <a:ea typeface="DejaVu Sans Light"/>
                <a:cs typeface="DejaVu Sans Light"/>
                <a:sym typeface="DejaVu Sans Light"/>
              </a:rPr>
              <a:t>Synchronous BCI, one feedback event per trial</a:t>
            </a:r>
          </a:p>
          <a:p>
            <a:pPr algn="l">
              <a:lnSpc>
                <a:spcPts val="3240"/>
              </a:lnSpc>
            </a:pPr>
            <a:r>
              <a:rPr lang="en-US" sz="2700">
                <a:solidFill>
                  <a:srgbClr val="EAF2F8"/>
                </a:solidFill>
                <a:latin typeface="DejaVu Sans Light"/>
                <a:ea typeface="DejaVu Sans Light"/>
                <a:cs typeface="DejaVu Sans Light"/>
                <a:sym typeface="DejaVu Sans Light"/>
              </a:rPr>
              <a:t>Continuous/asynchronous control remains future work</a:t>
            </a:r>
          </a:p>
        </p:txBody>
      </p:sp>
      <p:sp>
        <p:nvSpPr>
          <p:cNvPr id="11" name="TextBox 11"/>
          <p:cNvSpPr txBox="1"/>
          <p:nvPr/>
        </p:nvSpPr>
        <p:spPr>
          <a:xfrm>
            <a:off x="1005840" y="6403658"/>
            <a:ext cx="15533370" cy="451485"/>
          </a:xfrm>
          <a:prstGeom prst="rect">
            <a:avLst/>
          </a:prstGeom>
        </p:spPr>
        <p:txBody>
          <a:bodyPr lIns="0" tIns="0" rIns="0" bIns="0" rtlCol="0" anchor="t">
            <a:spAutoFit/>
          </a:bodyPr>
          <a:lstStyle/>
          <a:p>
            <a:pPr algn="l">
              <a:lnSpc>
                <a:spcPts val="3644"/>
              </a:lnSpc>
            </a:pPr>
            <a:r>
              <a:rPr lang="en-US" sz="3037" b="1">
                <a:solidFill>
                  <a:srgbClr val="F5B942"/>
                </a:solidFill>
                <a:latin typeface="DejaVu Sans Bold"/>
                <a:ea typeface="DejaVu Sans Bold"/>
                <a:cs typeface="DejaVu Sans Bold"/>
                <a:sym typeface="DejaVu Sans Bold"/>
              </a:rPr>
              <a:t>Artefacts and external noise</a:t>
            </a:r>
          </a:p>
        </p:txBody>
      </p:sp>
      <p:sp>
        <p:nvSpPr>
          <p:cNvPr id="12" name="TextBox 12"/>
          <p:cNvSpPr txBox="1"/>
          <p:nvPr/>
        </p:nvSpPr>
        <p:spPr>
          <a:xfrm>
            <a:off x="1005840" y="7179945"/>
            <a:ext cx="15533370" cy="1203960"/>
          </a:xfrm>
          <a:prstGeom prst="rect">
            <a:avLst/>
          </a:prstGeom>
        </p:spPr>
        <p:txBody>
          <a:bodyPr lIns="0" tIns="0" rIns="0" bIns="0" rtlCol="0" anchor="t">
            <a:spAutoFit/>
          </a:bodyPr>
          <a:lstStyle/>
          <a:p>
            <a:pPr algn="l">
              <a:lnSpc>
                <a:spcPts val="3510"/>
              </a:lnSpc>
            </a:pPr>
            <a:r>
              <a:rPr lang="en-US" sz="2925">
                <a:solidFill>
                  <a:srgbClr val="EAF2F8"/>
                </a:solidFill>
                <a:latin typeface="DejaVu Sans Light"/>
                <a:ea typeface="DejaVu Sans Light"/>
                <a:cs typeface="DejaVu Sans Light"/>
                <a:sym typeface="DejaVu Sans Light"/>
              </a:rPr>
              <a:t>Online preprocessing adds latency. The authors acknowledge that contaminated EEG can reduce decoding accuracy.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DESIGN-DERIVED LIMITATIONS</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Limits of the experimental evidence</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§II.B, p. 1072 · §II.D–E, p. 1073 · §III, pp. 1075–1077</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08</a:t>
            </a:r>
          </a:p>
        </p:txBody>
      </p:sp>
      <p:sp>
        <p:nvSpPr>
          <p:cNvPr id="7" name="TextBox 7"/>
          <p:cNvSpPr txBox="1"/>
          <p:nvPr/>
        </p:nvSpPr>
        <p:spPr>
          <a:xfrm>
            <a:off x="1005840" y="2531745"/>
            <a:ext cx="7532370" cy="451485"/>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Small cohort and short follow-up</a:t>
            </a:r>
          </a:p>
        </p:txBody>
      </p:sp>
      <p:sp>
        <p:nvSpPr>
          <p:cNvPr id="8" name="TextBox 8"/>
          <p:cNvSpPr txBox="1"/>
          <p:nvPr/>
        </p:nvSpPr>
        <p:spPr>
          <a:xfrm>
            <a:off x="1005840" y="3265170"/>
            <a:ext cx="753237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10 participants in each group</a:t>
            </a:r>
          </a:p>
          <a:p>
            <a:pPr algn="l">
              <a:lnSpc>
                <a:spcPts val="3240"/>
              </a:lnSpc>
            </a:pPr>
            <a:r>
              <a:rPr lang="en-US" sz="2700">
                <a:solidFill>
                  <a:srgbClr val="EAF2F8"/>
                </a:solidFill>
                <a:latin typeface="DejaVu Sans Light"/>
                <a:ea typeface="DejaVu Sans Light"/>
                <a:cs typeface="DejaVu Sans Light"/>
                <a:sym typeface="DejaVu Sans Light"/>
              </a:rPr>
              <a:t>One 40-trial online feedback run</a:t>
            </a:r>
          </a:p>
          <a:p>
            <a:pPr algn="l">
              <a:lnSpc>
                <a:spcPts val="3240"/>
              </a:lnSpc>
            </a:pPr>
            <a:r>
              <a:rPr lang="en-US" sz="2700">
                <a:solidFill>
                  <a:srgbClr val="EAF2F8"/>
                </a:solidFill>
                <a:latin typeface="DejaVu Sans Light"/>
                <a:ea typeface="DejaVu Sans Light"/>
                <a:cs typeface="DejaVu Sans Light"/>
                <a:sym typeface="DejaVu Sans Light"/>
              </a:rPr>
              <a:t>Limited evidence across patient subgroups</a:t>
            </a:r>
          </a:p>
          <a:p>
            <a:pPr algn="l">
              <a:lnSpc>
                <a:spcPts val="3240"/>
              </a:lnSpc>
            </a:pPr>
            <a:r>
              <a:rPr lang="en-US" sz="2700">
                <a:solidFill>
                  <a:srgbClr val="EAF2F8"/>
                </a:solidFill>
                <a:latin typeface="DejaVu Sans Light"/>
                <a:ea typeface="DejaVu Sans Light"/>
                <a:cs typeface="DejaVu Sans Light"/>
                <a:sym typeface="DejaVu Sans Light"/>
              </a:rPr>
              <a:t>and repeated rehabilitation sessions</a:t>
            </a:r>
          </a:p>
        </p:txBody>
      </p:sp>
      <p:sp>
        <p:nvSpPr>
          <p:cNvPr id="9" name="TextBox 9"/>
          <p:cNvSpPr txBox="1"/>
          <p:nvPr/>
        </p:nvSpPr>
        <p:spPr>
          <a:xfrm>
            <a:off x="9949815" y="2531745"/>
            <a:ext cx="7246620" cy="451485"/>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Comparison and recovery</a:t>
            </a:r>
          </a:p>
        </p:txBody>
      </p:sp>
      <p:sp>
        <p:nvSpPr>
          <p:cNvPr id="10" name="TextBox 10"/>
          <p:cNvSpPr txBox="1"/>
          <p:nvPr/>
        </p:nvSpPr>
        <p:spPr>
          <a:xfrm>
            <a:off x="9949815" y="3265170"/>
            <a:ext cx="724662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Fixed baseline applied offline to the same data</a:t>
            </a:r>
          </a:p>
          <a:p>
            <a:pPr algn="l">
              <a:lnSpc>
                <a:spcPts val="3240"/>
              </a:lnSpc>
            </a:pPr>
            <a:r>
              <a:rPr lang="en-US" sz="2700">
                <a:solidFill>
                  <a:srgbClr val="EAF2F8"/>
                </a:solidFill>
                <a:latin typeface="DejaVu Sans Light"/>
                <a:ea typeface="DejaVu Sans Light"/>
                <a:cs typeface="DejaVu Sans Light"/>
                <a:sym typeface="DejaVu Sans Light"/>
              </a:rPr>
              <a:t>No parallel online nonadaptive condition</a:t>
            </a:r>
          </a:p>
          <a:p>
            <a:pPr algn="l">
              <a:lnSpc>
                <a:spcPts val="3240"/>
              </a:lnSpc>
            </a:pPr>
            <a:r>
              <a:rPr lang="en-US" sz="2700">
                <a:solidFill>
                  <a:srgbClr val="EAF2F8"/>
                </a:solidFill>
                <a:latin typeface="DejaVu Sans Light"/>
                <a:ea typeface="DejaVu Sans Light"/>
                <a:cs typeface="DejaVu Sans Light"/>
                <a:sym typeface="DejaVu Sans Light"/>
              </a:rPr>
              <a:t>Reported metrics concern BCI performance</a:t>
            </a:r>
          </a:p>
          <a:p>
            <a:pPr algn="l">
              <a:lnSpc>
                <a:spcPts val="3240"/>
              </a:lnSpc>
            </a:pPr>
            <a:r>
              <a:rPr lang="en-US" sz="2700">
                <a:solidFill>
                  <a:srgbClr val="EAF2F8"/>
                </a:solidFill>
                <a:latin typeface="DejaVu Sans Light"/>
                <a:ea typeface="DejaVu Sans Light"/>
                <a:cs typeface="DejaVu Sans Light"/>
                <a:sym typeface="DejaVu Sans Light"/>
              </a:rPr>
              <a:t>Durable motor recovery remains untested</a:t>
            </a:r>
          </a:p>
        </p:txBody>
      </p:sp>
      <p:sp>
        <p:nvSpPr>
          <p:cNvPr id="11" name="TextBox 11"/>
          <p:cNvSpPr txBox="1"/>
          <p:nvPr/>
        </p:nvSpPr>
        <p:spPr>
          <a:xfrm>
            <a:off x="1005840" y="6646545"/>
            <a:ext cx="15533370" cy="451485"/>
          </a:xfrm>
          <a:prstGeom prst="rect">
            <a:avLst/>
          </a:prstGeom>
        </p:spPr>
        <p:txBody>
          <a:bodyPr lIns="0" tIns="0" rIns="0" bIns="0" rtlCol="0" anchor="t">
            <a:spAutoFit/>
          </a:bodyPr>
          <a:lstStyle/>
          <a:p>
            <a:pPr algn="l">
              <a:lnSpc>
                <a:spcPts val="3644"/>
              </a:lnSpc>
            </a:pPr>
            <a:r>
              <a:rPr lang="en-US" sz="3037" b="1">
                <a:solidFill>
                  <a:srgbClr val="F5B942"/>
                </a:solidFill>
                <a:latin typeface="DejaVu Sans Bold"/>
                <a:ea typeface="DejaVu Sans Bold"/>
                <a:cs typeface="DejaVu Sans Bold"/>
                <a:sym typeface="DejaVu Sans Bold"/>
              </a:rPr>
              <a:t>Supported conclusion</a:t>
            </a:r>
          </a:p>
        </p:txBody>
      </p:sp>
      <p:sp>
        <p:nvSpPr>
          <p:cNvPr id="12" name="TextBox 12"/>
          <p:cNvSpPr txBox="1"/>
          <p:nvPr/>
        </p:nvSpPr>
        <p:spPr>
          <a:xfrm>
            <a:off x="1005840" y="7389495"/>
            <a:ext cx="15676245" cy="1265873"/>
          </a:xfrm>
          <a:prstGeom prst="rect">
            <a:avLst/>
          </a:prstGeom>
        </p:spPr>
        <p:txBody>
          <a:bodyPr lIns="0" tIns="0" rIns="0" bIns="0" rtlCol="0" anchor="t">
            <a:spAutoFit/>
          </a:bodyPr>
          <a:lstStyle/>
          <a:p>
            <a:pPr algn="l">
              <a:lnSpc>
                <a:spcPts val="3644"/>
              </a:lnSpc>
            </a:pPr>
            <a:r>
              <a:rPr lang="en-US" sz="3037">
                <a:solidFill>
                  <a:srgbClr val="EAF2F8"/>
                </a:solidFill>
                <a:latin typeface="DejaVu Sans Light"/>
                <a:ea typeface="DejaVu Sans Light"/>
                <a:cs typeface="DejaVu Sans Light"/>
                <a:sym typeface="DejaVu Sans Light"/>
              </a:rPr>
              <a:t>The study establishes online technical feasibility and improved decoding. Longer-term reliability and rehabilitation benefit require further evaluation.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PAPER-TO-PROJECT MAPPING</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Relevance to the current EWMA project</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Sources: Chowdhury et al. (2018), §II.E and §III–IV; repository review at f3ef2e8.</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09</a:t>
            </a:r>
          </a:p>
        </p:txBody>
      </p:sp>
      <p:sp>
        <p:nvSpPr>
          <p:cNvPr id="7" name="TextBox 7"/>
          <p:cNvSpPr txBox="1"/>
          <p:nvPr/>
        </p:nvSpPr>
        <p:spPr>
          <a:xfrm>
            <a:off x="1005840" y="2531745"/>
            <a:ext cx="7460932" cy="451485"/>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Methodological connection</a:t>
            </a:r>
          </a:p>
        </p:txBody>
      </p:sp>
      <p:sp>
        <p:nvSpPr>
          <p:cNvPr id="8" name="TextBox 8"/>
          <p:cNvSpPr txBox="1"/>
          <p:nvPr/>
        </p:nvSpPr>
        <p:spPr>
          <a:xfrm>
            <a:off x="1005840" y="3265170"/>
            <a:ext cx="7460932"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EWMA warning followed by shift validation</a:t>
            </a:r>
          </a:p>
          <a:p>
            <a:pPr algn="l">
              <a:lnSpc>
                <a:spcPts val="3240"/>
              </a:lnSpc>
            </a:pPr>
            <a:r>
              <a:rPr lang="en-US" sz="2700">
                <a:solidFill>
                  <a:srgbClr val="EAF2F8"/>
                </a:solidFill>
                <a:latin typeface="DejaVu Sans Light"/>
                <a:ea typeface="DejaVu Sans Light"/>
                <a:cs typeface="DejaVu Sans Light"/>
                <a:sym typeface="DejaVu Sans Light"/>
              </a:rPr>
              <a:t>Selective adaptation motivates event auditing</a:t>
            </a:r>
          </a:p>
          <a:p>
            <a:pPr algn="l">
              <a:lnSpc>
                <a:spcPts val="3240"/>
              </a:lnSpc>
            </a:pPr>
            <a:r>
              <a:rPr lang="en-US" sz="2700">
                <a:solidFill>
                  <a:srgbClr val="EAF2F8"/>
                </a:solidFill>
                <a:latin typeface="DejaVu Sans Light"/>
                <a:ea typeface="DejaVu Sans Light"/>
                <a:cs typeface="DejaVu Sans Light"/>
                <a:sym typeface="DejaVu Sans Light"/>
              </a:rPr>
              <a:t>Paper uses two bands and four CSP features</a:t>
            </a:r>
          </a:p>
          <a:p>
            <a:pPr algn="l">
              <a:lnSpc>
                <a:spcPts val="3240"/>
              </a:lnSpc>
            </a:pPr>
            <a:r>
              <a:rPr lang="en-US" sz="2700">
                <a:solidFill>
                  <a:srgbClr val="EAF2F8"/>
                </a:solidFill>
                <a:latin typeface="DejaVu Sans Light"/>
                <a:ea typeface="DejaVu Sans Light"/>
                <a:cs typeface="DejaVu Sans Light"/>
                <a:sym typeface="DejaVu Sans Light"/>
              </a:rPr>
              <a:t>Current deck uses 10-band FBCSP on 2A/2B</a:t>
            </a:r>
          </a:p>
        </p:txBody>
      </p:sp>
      <p:sp>
        <p:nvSpPr>
          <p:cNvPr id="9" name="TextBox 9"/>
          <p:cNvSpPr txBox="1"/>
          <p:nvPr/>
        </p:nvSpPr>
        <p:spPr>
          <a:xfrm>
            <a:off x="9949815" y="2531745"/>
            <a:ext cx="7246620" cy="451485"/>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Existing next-step priorities</a:t>
            </a:r>
          </a:p>
        </p:txBody>
      </p:sp>
      <p:sp>
        <p:nvSpPr>
          <p:cNvPr id="10" name="TextBox 10"/>
          <p:cNvSpPr txBox="1"/>
          <p:nvPr/>
        </p:nvSpPr>
        <p:spPr>
          <a:xfrm>
            <a:off x="9949815" y="3265170"/>
            <a:ext cx="724662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Lock the reproduction configuration</a:t>
            </a:r>
          </a:p>
          <a:p>
            <a:pPr algn="l">
              <a:lnSpc>
                <a:spcPts val="3240"/>
              </a:lnSpc>
            </a:pPr>
            <a:r>
              <a:rPr lang="en-US" sz="2700">
                <a:solidFill>
                  <a:srgbClr val="EAF2F8"/>
                </a:solidFill>
                <a:latin typeface="DejaVu Sans Light"/>
                <a:ea typeface="DejaVu Sans Light"/>
                <a:cs typeface="DejaVu Sans Light"/>
                <a:sym typeface="DejaVu Sans Light"/>
              </a:rPr>
              <a:t>Explain accepted and rejected Stage-II events</a:t>
            </a:r>
          </a:p>
          <a:p>
            <a:pPr algn="l">
              <a:lnSpc>
                <a:spcPts val="3240"/>
              </a:lnSpc>
            </a:pPr>
            <a:r>
              <a:rPr lang="en-US" sz="2700">
                <a:solidFill>
                  <a:srgbClr val="EAF2F8"/>
                </a:solidFill>
                <a:latin typeface="DejaVu Sans Light"/>
                <a:ea typeface="DejaVu Sans Light"/>
                <a:cs typeface="DejaVu Sans Light"/>
                <a:sym typeface="DejaVu Sans Light"/>
              </a:rPr>
              <a:t>Measure synthetic false alarms and delay</a:t>
            </a:r>
          </a:p>
          <a:p>
            <a:pPr algn="l">
              <a:lnSpc>
                <a:spcPts val="3240"/>
              </a:lnSpc>
            </a:pPr>
            <a:r>
              <a:rPr lang="en-US" sz="2700">
                <a:solidFill>
                  <a:srgbClr val="EAF2F8"/>
                </a:solidFill>
                <a:latin typeface="DejaVu Sans Light"/>
                <a:ea typeface="DejaVu Sans Light"/>
                <a:cs typeface="DejaVu Sans Light"/>
                <a:sym typeface="DejaVu Sans Light"/>
              </a:rPr>
              <a:t>Export real EEG score/residual traces</a:t>
            </a:r>
          </a:p>
        </p:txBody>
      </p:sp>
      <p:sp>
        <p:nvSpPr>
          <p:cNvPr id="11" name="TextBox 11"/>
          <p:cNvSpPr txBox="1"/>
          <p:nvPr/>
        </p:nvSpPr>
        <p:spPr>
          <a:xfrm>
            <a:off x="1005840" y="6703695"/>
            <a:ext cx="15533370" cy="451485"/>
          </a:xfrm>
          <a:prstGeom prst="rect">
            <a:avLst/>
          </a:prstGeom>
        </p:spPr>
        <p:txBody>
          <a:bodyPr lIns="0" tIns="0" rIns="0" bIns="0" rtlCol="0" anchor="t">
            <a:spAutoFit/>
          </a:bodyPr>
          <a:lstStyle/>
          <a:p>
            <a:pPr algn="l">
              <a:lnSpc>
                <a:spcPts val="3644"/>
              </a:lnSpc>
            </a:pPr>
            <a:r>
              <a:rPr lang="en-US" sz="3037" b="1">
                <a:solidFill>
                  <a:srgbClr val="F5B942"/>
                </a:solidFill>
                <a:latin typeface="DejaVu Sans Bold"/>
                <a:ea typeface="DejaVu Sans Bold"/>
                <a:cs typeface="DejaVu Sans Bold"/>
                <a:sym typeface="DejaVu Sans Bold"/>
              </a:rPr>
              <a:t>Evidence boundary</a:t>
            </a:r>
          </a:p>
        </p:txBody>
      </p:sp>
      <p:sp>
        <p:nvSpPr>
          <p:cNvPr id="12" name="TextBox 12"/>
          <p:cNvSpPr txBox="1"/>
          <p:nvPr/>
        </p:nvSpPr>
        <p:spPr>
          <a:xfrm>
            <a:off x="1005840" y="7437120"/>
            <a:ext cx="15676245" cy="1261110"/>
          </a:xfrm>
          <a:prstGeom prst="rect">
            <a:avLst/>
          </a:prstGeom>
        </p:spPr>
        <p:txBody>
          <a:bodyPr lIns="0" tIns="0" rIns="0" bIns="0" rtlCol="0" anchor="t">
            <a:spAutoFit/>
          </a:bodyPr>
          <a:lstStyle/>
          <a:p>
            <a:pPr algn="l">
              <a:lnSpc>
                <a:spcPts val="3510"/>
              </a:lnSpc>
            </a:pPr>
            <a:r>
              <a:rPr lang="en-US" sz="2925">
                <a:solidFill>
                  <a:srgbClr val="EAF2F8"/>
                </a:solidFill>
                <a:latin typeface="DejaVu Sans Light"/>
                <a:ea typeface="DejaVu Sans Light"/>
                <a:cs typeface="DejaVu Sans Light"/>
                <a:sym typeface="DejaVu Sans Light"/>
              </a:rPr>
              <a:t>Keep the paper’s online results separate from repository benchmarks. Numerical reproduction and real EEG extension evidence remain open in the current deck.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61524"/>
        </a:solidFill>
        <a:effectLst/>
      </p:bgPr>
    </p:bg>
    <p:spTree>
      <p:nvGrpSpPr>
        <p:cNvPr id="1" name=""/>
        <p:cNvGrpSpPr/>
        <p:nvPr/>
      </p:nvGrpSpPr>
      <p:grpSpPr>
        <a:xfrm>
          <a:off x="0" y="0"/>
          <a:ext cx="0" cy="0"/>
          <a:chOff x="0" y="0"/>
          <a:chExt cx="0" cy="0"/>
        </a:xfrm>
      </p:grpSpPr>
      <p:sp>
        <p:nvSpPr>
          <p:cNvPr id="2" name="TextBox 2"/>
          <p:cNvSpPr txBox="1"/>
          <p:nvPr/>
        </p:nvSpPr>
        <p:spPr>
          <a:xfrm>
            <a:off x="918972" y="516255"/>
            <a:ext cx="16459200" cy="329565"/>
          </a:xfrm>
          <a:prstGeom prst="rect">
            <a:avLst/>
          </a:prstGeom>
        </p:spPr>
        <p:txBody>
          <a:bodyPr lIns="0" tIns="0" rIns="0" bIns="0" rtlCol="0" anchor="t">
            <a:spAutoFit/>
          </a:bodyPr>
          <a:lstStyle/>
          <a:p>
            <a:pPr algn="l">
              <a:lnSpc>
                <a:spcPts val="2340"/>
              </a:lnSpc>
            </a:pPr>
            <a:r>
              <a:rPr lang="en-US" sz="1950" b="1">
                <a:solidFill>
                  <a:srgbClr val="38DED3"/>
                </a:solidFill>
                <a:latin typeface="DejaVu Sans Bold"/>
                <a:ea typeface="DejaVu Sans Bold"/>
                <a:cs typeface="DejaVu Sans Bold"/>
                <a:sym typeface="DejaVu Sans Bold"/>
              </a:rPr>
              <a:t>FEATURE EXTRACTION</a:t>
            </a:r>
          </a:p>
        </p:txBody>
      </p:sp>
      <p:sp>
        <p:nvSpPr>
          <p:cNvPr id="3" name="TextBox 3"/>
          <p:cNvSpPr txBox="1"/>
          <p:nvPr/>
        </p:nvSpPr>
        <p:spPr>
          <a:xfrm>
            <a:off x="918972" y="1174623"/>
            <a:ext cx="16459200" cy="80962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From EEG signals to the monitored PCA score</a:t>
            </a:r>
          </a:p>
        </p:txBody>
      </p:sp>
      <p:sp>
        <p:nvSpPr>
          <p:cNvPr id="4" name="TextBox 4"/>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sp>
        <p:nvSpPr>
          <p:cNvPr id="5" name="TextBox 5"/>
          <p:cNvSpPr txBox="1"/>
          <p:nvPr/>
        </p:nvSpPr>
        <p:spPr>
          <a:xfrm>
            <a:off x="16596360" y="9754362"/>
            <a:ext cx="68580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10</a:t>
            </a:r>
          </a:p>
        </p:txBody>
      </p:sp>
      <p:sp>
        <p:nvSpPr>
          <p:cNvPr id="6" name="TextBox 6"/>
          <p:cNvSpPr txBox="1"/>
          <p:nvPr/>
        </p:nvSpPr>
        <p:spPr>
          <a:xfrm>
            <a:off x="1028700" y="2162175"/>
            <a:ext cx="16459200" cy="535305"/>
          </a:xfrm>
          <a:prstGeom prst="rect">
            <a:avLst/>
          </a:prstGeom>
        </p:spPr>
        <p:txBody>
          <a:bodyPr lIns="0" tIns="0" rIns="0" bIns="0" rtlCol="0" anchor="t">
            <a:spAutoFit/>
          </a:bodyPr>
          <a:lstStyle/>
          <a:p>
            <a:pPr algn="l">
              <a:lnSpc>
                <a:spcPts val="2879"/>
              </a:lnSpc>
            </a:pPr>
            <a:r>
              <a:rPr lang="en-US" sz="2400">
                <a:solidFill>
                  <a:srgbClr val="9CB0C3"/>
                </a:solidFill>
                <a:latin typeface="DejaVu Sans Light"/>
                <a:ea typeface="DejaVu Sans Light"/>
                <a:cs typeface="DejaVu Sans Light"/>
                <a:sym typeface="DejaVu Sans Light"/>
              </a:rPr>
              <a:t>Two frequency bands: μ 8–12 Hz and β 16–24 Hz. Fit the transformations on calibration data.</a:t>
            </a:r>
          </a:p>
        </p:txBody>
      </p:sp>
      <p:sp>
        <p:nvSpPr>
          <p:cNvPr id="7" name="TextBox 7"/>
          <p:cNvSpPr txBox="1"/>
          <p:nvPr/>
        </p:nvSpPr>
        <p:spPr>
          <a:xfrm>
            <a:off x="1028700" y="2916555"/>
            <a:ext cx="7955280" cy="466725"/>
          </a:xfrm>
          <a:prstGeom prst="rect">
            <a:avLst/>
          </a:prstGeom>
        </p:spPr>
        <p:txBody>
          <a:bodyPr lIns="0" tIns="0" rIns="0" bIns="0" rtlCol="0" anchor="t">
            <a:spAutoFit/>
          </a:bodyPr>
          <a:lstStyle/>
          <a:p>
            <a:pPr algn="l">
              <a:lnSpc>
                <a:spcPts val="3240"/>
              </a:lnSpc>
            </a:pPr>
            <a:r>
              <a:rPr lang="en-US" sz="2700" b="1">
                <a:solidFill>
                  <a:srgbClr val="38DED3"/>
                </a:solidFill>
                <a:latin typeface="DejaVu Sans Bold"/>
                <a:ea typeface="DejaVu Sans Bold"/>
                <a:cs typeface="DejaVu Sans Bold"/>
                <a:sym typeface="DejaVu Sans Bold"/>
              </a:rPr>
              <a:t>01  Spatial filtering</a:t>
            </a:r>
          </a:p>
        </p:txBody>
      </p:sp>
      <mc:AlternateContent xmlns:mc="http://schemas.openxmlformats.org/markup-compatibility/2006">
        <mc:Choice xmlns:a14="http://schemas.microsoft.com/office/drawing/2010/main" Requires="a14">
          <p:sp>
            <p:nvSpPr>
              <p:cNvPr id="23" name="EDITABLE OfficeMath | CSP spatial filter"/>
              <p:cNvSpPr txBox="1"/>
              <p:nvPr/>
            </p:nvSpPr>
            <p:spPr>
              <a:xfrm>
                <a:off x="1028700" y="3700462"/>
                <a:ext cx="1583055" cy="485775"/>
              </a:xfrm>
              <a:prstGeom prst="rect">
                <a:avLst/>
              </a:prstGeom>
              <a:solidFill>
                <a:srgbClr val="DDEBF3"/>
              </a:solid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𝑍</m:t>
                      </m:r>
                      <m:r>
                        <a:rPr>
                          <a:latin typeface="Cambria Math" panose="02040503050406030204" pitchFamily="18" charset="0"/>
                        </a:rPr>
                        <m:t> = </m:t>
                      </m:r>
                      <m:r>
                        <a:rPr>
                          <a:latin typeface="Cambria Math" panose="02040503050406030204" pitchFamily="18" charset="0"/>
                        </a:rPr>
                        <m:t>𝑊𝐸</m:t>
                      </m:r>
                    </m:oMath>
                  </m:oMathPara>
                </a14:m>
                <a:endParaRPr lang="en-GB" sz="1800">
                  <a:solidFill>
                    <a:srgbClr val="14233B"/>
                  </a:solidFill>
                </a:endParaRPr>
              </a:p>
            </p:txBody>
          </p:sp>
        </mc:Choice>
        <mc:Fallback>
          <p:sp>
            <p:nvSpPr>
              <p:cNvPr id="23" name="EDITABLE OfficeMath | CSP spatial filter"/>
              <p:cNvSpPr txBox="1">
                <a:spLocks noRot="1" noChangeAspect="1" noMove="1" noResize="1" noEditPoints="1" noAdjustHandles="1" noChangeArrowheads="1" noChangeShapeType="1" noTextEdit="1"/>
              </p:cNvSpPr>
              <p:nvPr/>
            </p:nvSpPr>
            <p:spPr>
              <a:xfrm>
                <a:off x="1028700" y="3700462"/>
                <a:ext cx="1583055" cy="485775"/>
              </a:xfrm>
              <a:prstGeom prst="rect">
                <a:avLst/>
              </a:prstGeom>
              <a:blipFill>
                <a:blip r:embed="rId3"/>
                <a:stretch>
                  <a:fillRect/>
                </a:stretch>
              </a:blipFill>
            </p:spPr>
            <p:txBody>
              <a:bodyPr/>
              <a:lstStyle/>
              <a:p>
                <a:r>
                  <a:rPr lang="en-GB">
                    <a:noFill/>
                  </a:rPr>
                  <a:t> </a:t>
                </a:r>
              </a:p>
            </p:txBody>
          </p:sp>
        </mc:Fallback>
      </mc:AlternateContent>
      <p:sp>
        <p:nvSpPr>
          <p:cNvPr id="10" name="TextBox 10"/>
          <p:cNvSpPr txBox="1"/>
          <p:nvPr/>
        </p:nvSpPr>
        <p:spPr>
          <a:xfrm>
            <a:off x="9944100" y="3190875"/>
            <a:ext cx="6995160" cy="809625"/>
          </a:xfrm>
          <a:prstGeom prst="rect">
            <a:avLst/>
          </a:prstGeom>
        </p:spPr>
        <p:txBody>
          <a:bodyPr lIns="0" tIns="0" rIns="0" bIns="0" rtlCol="0" anchor="t">
            <a:spAutoFit/>
          </a:bodyPr>
          <a:lstStyle/>
          <a:p>
            <a:pPr algn="l">
              <a:lnSpc>
                <a:spcPts val="3060"/>
              </a:lnSpc>
            </a:pPr>
            <a:r>
              <a:rPr lang="en-US" sz="2550">
                <a:solidFill>
                  <a:srgbClr val="EAF2F8"/>
                </a:solidFill>
                <a:latin typeface="DejaVu Sans Light"/>
                <a:ea typeface="DejaVu Sans Light"/>
                <a:cs typeface="DejaVu Sans Light"/>
                <a:sym typeface="DejaVu Sans Light"/>
              </a:rPr>
              <a:t>Combine EEG channels using learned CSP filters.</a:t>
            </a:r>
          </a:p>
        </p:txBody>
      </p:sp>
      <p:sp>
        <p:nvSpPr>
          <p:cNvPr id="11" name="TextBox 11"/>
          <p:cNvSpPr txBox="1"/>
          <p:nvPr/>
        </p:nvSpPr>
        <p:spPr>
          <a:xfrm>
            <a:off x="9944100" y="4123563"/>
            <a:ext cx="6995160" cy="603885"/>
          </a:xfrm>
          <a:prstGeom prst="rect">
            <a:avLst/>
          </a:prstGeom>
        </p:spPr>
        <p:txBody>
          <a:bodyPr lIns="0" tIns="0" rIns="0" bIns="0" rtlCol="0" anchor="t">
            <a:spAutoFit/>
          </a:bodyPr>
          <a:lstStyle/>
          <a:p>
            <a:pPr algn="l">
              <a:lnSpc>
                <a:spcPts val="2340"/>
              </a:lnSpc>
            </a:pPr>
            <a:r>
              <a:rPr lang="en-US" sz="1950">
                <a:solidFill>
                  <a:srgbClr val="9CB0C3"/>
                </a:solidFill>
                <a:latin typeface="DejaVu Sans Light"/>
                <a:ea typeface="DejaVu Sans Light"/>
                <a:cs typeface="DejaVu Sans Light"/>
                <a:sym typeface="DejaVu Sans Light"/>
              </a:rPr>
              <a:t>E: one EEG trial; W: spatial filters; Z: filtered signals.</a:t>
            </a:r>
          </a:p>
        </p:txBody>
      </p:sp>
      <p:sp>
        <p:nvSpPr>
          <p:cNvPr id="12" name="TextBox 12"/>
          <p:cNvSpPr txBox="1"/>
          <p:nvPr/>
        </p:nvSpPr>
        <p:spPr>
          <a:xfrm>
            <a:off x="1028700" y="4699635"/>
            <a:ext cx="7955280" cy="466725"/>
          </a:xfrm>
          <a:prstGeom prst="rect">
            <a:avLst/>
          </a:prstGeom>
        </p:spPr>
        <p:txBody>
          <a:bodyPr lIns="0" tIns="0" rIns="0" bIns="0" rtlCol="0" anchor="t">
            <a:spAutoFit/>
          </a:bodyPr>
          <a:lstStyle/>
          <a:p>
            <a:pPr algn="l">
              <a:lnSpc>
                <a:spcPts val="3240"/>
              </a:lnSpc>
            </a:pPr>
            <a:r>
              <a:rPr lang="en-US" sz="2700" b="1">
                <a:solidFill>
                  <a:srgbClr val="38DED3"/>
                </a:solidFill>
                <a:latin typeface="DejaVu Sans Bold"/>
                <a:ea typeface="DejaVu Sans Bold"/>
                <a:cs typeface="DejaVu Sans Bold"/>
                <a:sym typeface="DejaVu Sans Bold"/>
              </a:rPr>
              <a:t>02  Log-variance features</a:t>
            </a:r>
          </a:p>
        </p:txBody>
      </p:sp>
      <mc:AlternateContent xmlns:mc="http://schemas.openxmlformats.org/markup-compatibility/2006">
        <mc:Choice xmlns:a14="http://schemas.microsoft.com/office/drawing/2010/main" Requires="a14">
          <p:sp>
            <p:nvSpPr>
              <p:cNvPr id="24" name="EDITABLE OfficeMath | Normalised CSP log-variance feature"/>
              <p:cNvSpPr txBox="1"/>
              <p:nvPr/>
            </p:nvSpPr>
            <p:spPr>
              <a:xfrm>
                <a:off x="1028700" y="5226368"/>
                <a:ext cx="3697605" cy="1343025"/>
              </a:xfrm>
              <a:prstGeom prst="rect">
                <a:avLst/>
              </a:prstGeom>
              <a:solidFill>
                <a:srgbClr val="DDEBF3"/>
              </a:solid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𝑓</m:t>
                          </m:r>
                        </m:e>
                        <m:sub>
                          <m:r>
                            <a:rPr>
                              <a:latin typeface="Cambria Math" panose="02040503050406030204" pitchFamily="18" charset="0"/>
                            </a:rPr>
                            <m:t>𝑗</m:t>
                          </m:r>
                        </m:sub>
                      </m:sSub>
                      <m:r>
                        <a:rPr>
                          <a:latin typeface="Cambria Math" panose="02040503050406030204" pitchFamily="18" charset="0"/>
                        </a:rPr>
                        <m:t> = </m:t>
                      </m:r>
                      <m:r>
                        <a:rPr>
                          <a:latin typeface="Cambria Math" panose="02040503050406030204" pitchFamily="18" charset="0"/>
                        </a:rPr>
                        <m:t>𝑙𝑜𝑔</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𝑉𝑎𝑟</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𝑍</m:t>
                              </m:r>
                            </m:e>
                            <m:sub>
                              <m:r>
                                <a:rPr>
                                  <a:latin typeface="Cambria Math" panose="02040503050406030204" pitchFamily="18" charset="0"/>
                                </a:rPr>
                                <m:t>𝑗</m:t>
                              </m:r>
                            </m:sub>
                          </m:sSub>
                          <m:r>
                            <a:rPr>
                              <a:latin typeface="Cambria Math" panose="02040503050406030204" pitchFamily="18" charset="0"/>
                            </a:rPr>
                            <m:t>)</m:t>
                          </m:r>
                        </m:num>
                        <m:den>
                          <m:nary>
                            <m:naryPr>
                              <m:chr m:val="∑"/>
                              <m:ctrlPr>
                                <a:rPr i="1">
                                  <a:latin typeface="Cambria Math" panose="02040503050406030204" pitchFamily="18" charset="0"/>
                                </a:rPr>
                              </m:ctrlPr>
                            </m:naryPr>
                            <m:sub>
                              <m:r>
                                <a:rPr>
                                  <a:latin typeface="Cambria Math" panose="02040503050406030204" pitchFamily="18" charset="0"/>
                                </a:rPr>
                                <m:t>𝑘</m:t>
                              </m:r>
                              <m:r>
                                <a:rPr>
                                  <a:latin typeface="Cambria Math" panose="02040503050406030204" pitchFamily="18" charset="0"/>
                                </a:rPr>
                                <m:t>=</m:t>
                              </m:r>
                              <m:r>
                                <a:rPr>
                                  <a:latin typeface="Cambria Math" panose="02040503050406030204" pitchFamily="18" charset="0"/>
                                </a:rPr>
                                <m:t>1</m:t>
                              </m:r>
                            </m:sub>
                            <m:sup>
                              <m:r>
                                <a:rPr>
                                  <a:latin typeface="Cambria Math" panose="02040503050406030204" pitchFamily="18" charset="0"/>
                                </a:rPr>
                                <m:t>2</m:t>
                              </m:r>
                              <m:r>
                                <a:rPr>
                                  <a:latin typeface="Cambria Math" panose="02040503050406030204" pitchFamily="18" charset="0"/>
                                </a:rPr>
                                <m:t>𝑚</m:t>
                              </m:r>
                            </m:sup>
                            <m:e>
                              <m:r>
                                <a:rPr>
                                  <a:latin typeface="Cambria Math" panose="02040503050406030204" pitchFamily="18" charset="0"/>
                                </a:rPr>
                                <m:t>𝑉𝑎𝑟</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𝑍</m:t>
                                  </m:r>
                                </m:e>
                                <m:sub>
                                  <m:r>
                                    <a:rPr>
                                      <a:latin typeface="Cambria Math" panose="02040503050406030204" pitchFamily="18" charset="0"/>
                                    </a:rPr>
                                    <m:t>𝑘</m:t>
                                  </m:r>
                                </m:sub>
                              </m:sSub>
                              <m:r>
                                <a:rPr>
                                  <a:latin typeface="Cambria Math" panose="02040503050406030204" pitchFamily="18" charset="0"/>
                                </a:rPr>
                                <m:t>)</m:t>
                              </m:r>
                            </m:e>
                          </m:nary>
                        </m:den>
                      </m:f>
                      <m:r>
                        <a:rPr>
                          <a:latin typeface="Cambria Math" panose="02040503050406030204" pitchFamily="18" charset="0"/>
                        </a:rPr>
                        <m:t>)</m:t>
                      </m:r>
                    </m:oMath>
                  </m:oMathPara>
                </a14:m>
                <a:endParaRPr lang="en-GB" sz="2600">
                  <a:solidFill>
                    <a:srgbClr val="14233B"/>
                  </a:solidFill>
                </a:endParaRPr>
              </a:p>
            </p:txBody>
          </p:sp>
        </mc:Choice>
        <mc:Fallback>
          <p:sp>
            <p:nvSpPr>
              <p:cNvPr id="24" name="EDITABLE OfficeMath | Normalised CSP log-variance feature"/>
              <p:cNvSpPr txBox="1">
                <a:spLocks noRot="1" noChangeAspect="1" noMove="1" noResize="1" noEditPoints="1" noAdjustHandles="1" noChangeArrowheads="1" noChangeShapeType="1" noTextEdit="1"/>
              </p:cNvSpPr>
              <p:nvPr/>
            </p:nvSpPr>
            <p:spPr>
              <a:xfrm>
                <a:off x="1028700" y="5226368"/>
                <a:ext cx="3697605" cy="1343025"/>
              </a:xfrm>
              <a:prstGeom prst="rect">
                <a:avLst/>
              </a:prstGeom>
              <a:blipFill>
                <a:blip r:embed="rId4"/>
                <a:stretch>
                  <a:fillRect/>
                </a:stretch>
              </a:blipFill>
            </p:spPr>
            <p:txBody>
              <a:bodyPr/>
              <a:lstStyle/>
              <a:p>
                <a:r>
                  <a:rPr lang="en-GB">
                    <a:noFill/>
                  </a:rPr>
                  <a:t> </a:t>
                </a:r>
              </a:p>
            </p:txBody>
          </p:sp>
        </mc:Fallback>
      </mc:AlternateContent>
      <p:sp>
        <p:nvSpPr>
          <p:cNvPr id="15" name="TextBox 15"/>
          <p:cNvSpPr txBox="1"/>
          <p:nvPr/>
        </p:nvSpPr>
        <p:spPr>
          <a:xfrm>
            <a:off x="9944100" y="4973955"/>
            <a:ext cx="6995160" cy="809625"/>
          </a:xfrm>
          <a:prstGeom prst="rect">
            <a:avLst/>
          </a:prstGeom>
        </p:spPr>
        <p:txBody>
          <a:bodyPr lIns="0" tIns="0" rIns="0" bIns="0" rtlCol="0" anchor="t">
            <a:spAutoFit/>
          </a:bodyPr>
          <a:lstStyle/>
          <a:p>
            <a:pPr algn="l">
              <a:lnSpc>
                <a:spcPts val="3060"/>
              </a:lnSpc>
            </a:pPr>
            <a:r>
              <a:rPr lang="en-US" sz="2550">
                <a:solidFill>
                  <a:srgbClr val="EAF2F8"/>
                </a:solidFill>
                <a:latin typeface="DejaVu Sans Light"/>
                <a:ea typeface="DejaVu Sans Light"/>
                <a:cs typeface="DejaVu Sans Light"/>
                <a:sym typeface="DejaVu Sans Light"/>
              </a:rPr>
              <a:t>Express each selected signal’s variance relative to the total.</a:t>
            </a:r>
          </a:p>
        </p:txBody>
      </p:sp>
      <p:sp>
        <p:nvSpPr>
          <p:cNvPr id="16" name="TextBox 16"/>
          <p:cNvSpPr txBox="1"/>
          <p:nvPr/>
        </p:nvSpPr>
        <p:spPr>
          <a:xfrm>
            <a:off x="9944100" y="5906643"/>
            <a:ext cx="6995160" cy="603885"/>
          </a:xfrm>
          <a:prstGeom prst="rect">
            <a:avLst/>
          </a:prstGeom>
        </p:spPr>
        <p:txBody>
          <a:bodyPr lIns="0" tIns="0" rIns="0" bIns="0" rtlCol="0" anchor="t">
            <a:spAutoFit/>
          </a:bodyPr>
          <a:lstStyle/>
          <a:p>
            <a:pPr algn="l">
              <a:lnSpc>
                <a:spcPts val="2340"/>
              </a:lnSpc>
            </a:pPr>
            <a:r>
              <a:rPr lang="en-US" sz="1950">
                <a:solidFill>
                  <a:srgbClr val="9CB0C3"/>
                </a:solidFill>
                <a:latin typeface="DejaVu Sans Light"/>
                <a:ea typeface="DejaVu Sans Light"/>
                <a:cs typeface="DejaVu Sans Light"/>
                <a:sym typeface="DejaVu Sans Light"/>
              </a:rPr>
              <a:t>The paper retains two features per band: four per trial.</a:t>
            </a:r>
          </a:p>
        </p:txBody>
      </p:sp>
      <p:sp>
        <p:nvSpPr>
          <p:cNvPr id="17" name="TextBox 17"/>
          <p:cNvSpPr txBox="1"/>
          <p:nvPr/>
        </p:nvSpPr>
        <p:spPr>
          <a:xfrm>
            <a:off x="1028700" y="6688455"/>
            <a:ext cx="7955280" cy="466725"/>
          </a:xfrm>
          <a:prstGeom prst="rect">
            <a:avLst/>
          </a:prstGeom>
        </p:spPr>
        <p:txBody>
          <a:bodyPr lIns="0" tIns="0" rIns="0" bIns="0" rtlCol="0" anchor="t">
            <a:spAutoFit/>
          </a:bodyPr>
          <a:lstStyle/>
          <a:p>
            <a:pPr algn="l">
              <a:lnSpc>
                <a:spcPts val="3240"/>
              </a:lnSpc>
            </a:pPr>
            <a:r>
              <a:rPr lang="en-US" sz="2700" b="1">
                <a:solidFill>
                  <a:srgbClr val="38DED3"/>
                </a:solidFill>
                <a:latin typeface="DejaVu Sans Bold"/>
                <a:ea typeface="DejaVu Sans Bold"/>
                <a:cs typeface="DejaVu Sans Bold"/>
                <a:sym typeface="DejaVu Sans Bold"/>
              </a:rPr>
              <a:t>03  PCA and PC1 selection</a:t>
            </a:r>
          </a:p>
        </p:txBody>
      </p:sp>
      <mc:AlternateContent xmlns:mc="http://schemas.openxmlformats.org/markup-compatibility/2006">
        <mc:Choice xmlns:a14="http://schemas.microsoft.com/office/drawing/2010/main" Requires="a14">
          <p:sp>
            <p:nvSpPr>
              <p:cNvPr id="25" name="EDITABLE OfficeMath | PCA projection and first component"/>
              <p:cNvSpPr txBox="1"/>
              <p:nvPr/>
            </p:nvSpPr>
            <p:spPr>
              <a:xfrm>
                <a:off x="1028700" y="7420928"/>
                <a:ext cx="5383530" cy="588645"/>
              </a:xfrm>
              <a:prstGeom prst="rect">
                <a:avLst/>
              </a:prstGeom>
              <a:solidFill>
                <a:srgbClr val="DDEBF3"/>
              </a:solid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𝑠</m:t>
                          </m:r>
                        </m:e>
                        <m:sub>
                          <m:r>
                            <a:rPr>
                              <a:latin typeface="Cambria Math" panose="02040503050406030204" pitchFamily="18" charset="0"/>
                            </a:rPr>
                            <m:t>𝑖</m:t>
                          </m:r>
                        </m:sub>
                      </m:sSub>
                      <m:r>
                        <a:rPr>
                          <a:latin typeface="Cambria Math" panose="02040503050406030204" pitchFamily="18" charset="0"/>
                        </a:rPr>
                        <m:t> = </m:t>
                      </m:r>
                      <m:sSup>
                        <m:sSupPr>
                          <m:ctrlPr>
                            <a:rPr i="1">
                              <a:latin typeface="Cambria Math" panose="02040503050406030204" pitchFamily="18" charset="0"/>
                            </a:rPr>
                          </m:ctrlPr>
                        </m:sSupPr>
                        <m:e>
                          <m:r>
                            <a:rPr>
                              <a:latin typeface="Cambria Math" panose="02040503050406030204" pitchFamily="18" charset="0"/>
                            </a:rPr>
                            <m:t>𝑃</m:t>
                          </m:r>
                        </m:e>
                        <m:sup>
                          <m:r>
                            <a:rPr>
                              <a:latin typeface="Cambria Math" panose="02040503050406030204" pitchFamily="18" charset="0"/>
                            </a:rPr>
                            <m:t>𝑇</m:t>
                          </m:r>
                        </m:sup>
                      </m:sSup>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𝑓</m:t>
                          </m:r>
                        </m:e>
                        <m:sub>
                          <m:r>
                            <a:rPr>
                              <a:latin typeface="Cambria Math" panose="02040503050406030204" pitchFamily="18" charset="0"/>
                            </a:rPr>
                            <m:t>𝑖</m:t>
                          </m:r>
                        </m:sub>
                      </m:sSub>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𝑐𝑎𝑙</m:t>
                          </m:r>
                        </m:sub>
                      </m:sSub>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𝑋</m:t>
                          </m:r>
                        </m:e>
                        <m:sub>
                          <m:r>
                            <a:rPr>
                              <a:latin typeface="Cambria Math" panose="02040503050406030204" pitchFamily="18" charset="0"/>
                            </a:rPr>
                            <m:t>𝑖</m:t>
                          </m:r>
                        </m:sub>
                      </m:sSub>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𝑠</m:t>
                          </m:r>
                        </m:e>
                        <m:sub>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1</m:t>
                          </m:r>
                        </m:sub>
                      </m:sSub>
                    </m:oMath>
                  </m:oMathPara>
                </a14:m>
                <a:endParaRPr lang="en-GB" sz="1800">
                  <a:solidFill>
                    <a:srgbClr val="14233B"/>
                  </a:solidFill>
                </a:endParaRPr>
              </a:p>
            </p:txBody>
          </p:sp>
        </mc:Choice>
        <mc:Fallback>
          <p:sp>
            <p:nvSpPr>
              <p:cNvPr id="25" name="EDITABLE OfficeMath | PCA projection and first component"/>
              <p:cNvSpPr txBox="1">
                <a:spLocks noRot="1" noChangeAspect="1" noMove="1" noResize="1" noEditPoints="1" noAdjustHandles="1" noChangeArrowheads="1" noChangeShapeType="1" noTextEdit="1"/>
              </p:cNvSpPr>
              <p:nvPr/>
            </p:nvSpPr>
            <p:spPr>
              <a:xfrm>
                <a:off x="1028700" y="7420928"/>
                <a:ext cx="5383530" cy="588645"/>
              </a:xfrm>
              <a:prstGeom prst="rect">
                <a:avLst/>
              </a:prstGeom>
              <a:blipFill>
                <a:blip r:embed="rId5"/>
                <a:stretch>
                  <a:fillRect/>
                </a:stretch>
              </a:blipFill>
            </p:spPr>
            <p:txBody>
              <a:bodyPr/>
              <a:lstStyle/>
              <a:p>
                <a:r>
                  <a:rPr lang="en-GB">
                    <a:noFill/>
                  </a:rPr>
                  <a:t> </a:t>
                </a:r>
              </a:p>
            </p:txBody>
          </p:sp>
        </mc:Fallback>
      </mc:AlternateContent>
      <p:sp>
        <p:nvSpPr>
          <p:cNvPr id="20" name="TextBox 20"/>
          <p:cNvSpPr txBox="1"/>
          <p:nvPr/>
        </p:nvSpPr>
        <p:spPr>
          <a:xfrm>
            <a:off x="9944100" y="6962775"/>
            <a:ext cx="6995160" cy="809625"/>
          </a:xfrm>
          <a:prstGeom prst="rect">
            <a:avLst/>
          </a:prstGeom>
        </p:spPr>
        <p:txBody>
          <a:bodyPr lIns="0" tIns="0" rIns="0" bIns="0" rtlCol="0" anchor="t">
            <a:spAutoFit/>
          </a:bodyPr>
          <a:lstStyle/>
          <a:p>
            <a:pPr algn="l">
              <a:lnSpc>
                <a:spcPts val="3060"/>
              </a:lnSpc>
            </a:pPr>
            <a:r>
              <a:rPr lang="en-US" sz="2550">
                <a:solidFill>
                  <a:srgbClr val="EAF2F8"/>
                </a:solidFill>
                <a:latin typeface="DejaVu Sans Light"/>
                <a:ea typeface="DejaVu Sans Light"/>
                <a:cs typeface="DejaVu Sans Light"/>
                <a:sym typeface="DejaVu Sans Light"/>
              </a:rPr>
              <a:t>Transform the feature vector, then monitor its first PC score.</a:t>
            </a:r>
          </a:p>
        </p:txBody>
      </p:sp>
      <p:sp>
        <p:nvSpPr>
          <p:cNvPr id="21" name="TextBox 21"/>
          <p:cNvSpPr txBox="1"/>
          <p:nvPr/>
        </p:nvSpPr>
        <p:spPr>
          <a:xfrm>
            <a:off x="9944100" y="7895463"/>
            <a:ext cx="6995160" cy="603885"/>
          </a:xfrm>
          <a:prstGeom prst="rect">
            <a:avLst/>
          </a:prstGeom>
        </p:spPr>
        <p:txBody>
          <a:bodyPr lIns="0" tIns="0" rIns="0" bIns="0" rtlCol="0" anchor="t">
            <a:spAutoFit/>
          </a:bodyPr>
          <a:lstStyle/>
          <a:p>
            <a:pPr algn="l">
              <a:lnSpc>
                <a:spcPts val="2340"/>
              </a:lnSpc>
            </a:pPr>
            <a:r>
              <a:rPr lang="en-US" sz="1950">
                <a:solidFill>
                  <a:srgbClr val="9CB0C3"/>
                </a:solidFill>
                <a:latin typeface="DejaVu Sans Light"/>
                <a:ea typeface="DejaVu Sans Light"/>
                <a:cs typeface="DejaVu Sans Light"/>
                <a:sym typeface="DejaVu Sans Light"/>
              </a:rPr>
              <a:t>The classifier uses features; Stage I monitors the scalar xᵢ.</a:t>
            </a:r>
          </a:p>
        </p:txBody>
      </p:sp>
      <p:sp>
        <p:nvSpPr>
          <p:cNvPr id="22" name="TextBox 22"/>
          <p:cNvSpPr txBox="1"/>
          <p:nvPr/>
        </p:nvSpPr>
        <p:spPr>
          <a:xfrm>
            <a:off x="1028700" y="9020175"/>
            <a:ext cx="16459200" cy="603885"/>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Chowdhury et al. (2018), §II.E.1 and §II.E.3, Eqs. (1), (2), (4), pp. 1073–1074.</a:t>
            </a:r>
          </a:p>
          <a:p>
            <a:pPr algn="l">
              <a:lnSpc>
                <a:spcPts val="1980"/>
              </a:lnSpc>
            </a:pPr>
            <a:r>
              <a:rPr lang="en-US" sz="1650">
                <a:solidFill>
                  <a:srgbClr val="9CB0C3"/>
                </a:solidFill>
                <a:latin typeface="DejaVu Sans Light"/>
                <a:ea typeface="DejaVu Sans Light"/>
                <a:cs typeface="DejaVu Sans Light"/>
                <a:sym typeface="DejaVu Sans Light"/>
              </a:rPr>
              <a:t>Indices clarified; PCA shown with explicit calibration centring. Code: fbcsp.py; detection/preprocessing.py.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10412" y="484632"/>
            <a:ext cx="16139160" cy="388620"/>
          </a:xfrm>
          <a:prstGeom prst="rect">
            <a:avLst/>
          </a:prstGeom>
        </p:spPr>
        <p:txBody>
          <a:bodyPr lIns="0" tIns="0" rIns="0" bIns="0" rtlCol="0" anchor="t">
            <a:spAutoFit/>
          </a:bodyPr>
          <a:lstStyle/>
          <a:p>
            <a:pPr algn="l">
              <a:lnSpc>
                <a:spcPts val="2340"/>
              </a:lnSpc>
            </a:pPr>
            <a:r>
              <a:rPr lang="en-US" sz="1950" b="1">
                <a:solidFill>
                  <a:srgbClr val="AE9251"/>
                </a:solidFill>
                <a:latin typeface="Aptos Bold"/>
                <a:ea typeface="Aptos Bold"/>
                <a:cs typeface="Aptos Bold"/>
                <a:sym typeface="Aptos Bold"/>
              </a:rPr>
              <a:t>REPRESENTATION VERSUS ADAPTATION</a:t>
            </a:r>
          </a:p>
        </p:txBody>
      </p:sp>
      <p:sp>
        <p:nvSpPr>
          <p:cNvPr id="3" name="TextBox 3"/>
          <p:cNvSpPr txBox="1"/>
          <p:nvPr/>
        </p:nvSpPr>
        <p:spPr>
          <a:xfrm>
            <a:off x="1010412" y="1179957"/>
            <a:ext cx="16276320" cy="859155"/>
          </a:xfrm>
          <a:prstGeom prst="rect">
            <a:avLst/>
          </a:prstGeom>
        </p:spPr>
        <p:txBody>
          <a:bodyPr lIns="0" tIns="0" rIns="0" bIns="0" rtlCol="0" anchor="t">
            <a:spAutoFit/>
          </a:bodyPr>
          <a:lstStyle/>
          <a:p>
            <a:pPr algn="l">
              <a:lnSpc>
                <a:spcPts val="4860"/>
              </a:lnSpc>
            </a:pPr>
            <a:r>
              <a:rPr lang="en-US" sz="4050" b="1">
                <a:solidFill>
                  <a:srgbClr val="13274B"/>
                </a:solidFill>
                <a:latin typeface="Aptos Bold"/>
                <a:ea typeface="Aptos Bold"/>
                <a:cs typeface="Aptos Bold"/>
                <a:sym typeface="Aptos Bold"/>
              </a:rPr>
              <a:t>What is fixed and what changes during SVM updates</a:t>
            </a:r>
          </a:p>
        </p:txBody>
      </p:sp>
      <p:sp>
        <p:nvSpPr>
          <p:cNvPr id="4" name="TextBox 4"/>
          <p:cNvSpPr txBox="1"/>
          <p:nvPr/>
        </p:nvSpPr>
        <p:spPr>
          <a:xfrm>
            <a:off x="1120140" y="2189607"/>
            <a:ext cx="16139160" cy="686181"/>
          </a:xfrm>
          <a:prstGeom prst="rect">
            <a:avLst/>
          </a:prstGeom>
        </p:spPr>
        <p:txBody>
          <a:bodyPr lIns="0" tIns="0" rIns="0" bIns="0" rtlCol="0" anchor="t">
            <a:spAutoFit/>
          </a:bodyPr>
          <a:lstStyle/>
          <a:p>
            <a:pPr algn="l">
              <a:lnSpc>
                <a:spcPts val="2520"/>
              </a:lnSpc>
            </a:pPr>
            <a:r>
              <a:rPr lang="en-US" sz="2100">
                <a:solidFill>
                  <a:srgbClr val="53657C"/>
                </a:solidFill>
                <a:latin typeface="Aptos"/>
                <a:ea typeface="Aptos"/>
                <a:cs typeface="Aptos"/>
                <a:sym typeface="Aptos"/>
              </a:rPr>
              <a:t>The stored training set grows and a new linear SVM is fitted; the feature and monitoring mappings are not refitted.</a:t>
            </a:r>
          </a:p>
        </p:txBody>
      </p:sp>
      <p:sp>
        <p:nvSpPr>
          <p:cNvPr id="5" name="TextBox 5"/>
          <p:cNvSpPr txBox="1"/>
          <p:nvPr/>
        </p:nvSpPr>
        <p:spPr>
          <a:xfrm>
            <a:off x="1010412" y="9801987"/>
            <a:ext cx="12161520" cy="233553"/>
          </a:xfrm>
          <a:prstGeom prst="rect">
            <a:avLst/>
          </a:prstGeom>
        </p:spPr>
        <p:txBody>
          <a:bodyPr lIns="0" tIns="0" rIns="0" bIns="0" rtlCol="0" anchor="t">
            <a:spAutoFit/>
          </a:bodyPr>
          <a:lstStyle/>
          <a:p>
            <a:pPr algn="l">
              <a:lnSpc>
                <a:spcPts val="1620"/>
              </a:lnSpc>
            </a:pPr>
            <a:r>
              <a:rPr lang="en-US" sz="1350">
                <a:solidFill>
                  <a:srgbClr val="53657C"/>
                </a:solidFill>
                <a:latin typeface="Aptos"/>
                <a:ea typeface="Aptos"/>
                <a:cs typeface="Aptos"/>
                <a:sym typeface="Aptos"/>
              </a:rPr>
              <a:t>hlin863/ewma_covariate_shift_demo</a:t>
            </a:r>
          </a:p>
        </p:txBody>
      </p:sp>
      <mc:AlternateContent xmlns:mc="http://schemas.openxmlformats.org/markup-compatibility/2006">
        <mc:Choice xmlns:a14="http://schemas.microsoft.com/office/drawing/2010/main" Requires="a14">
          <p:sp>
            <p:nvSpPr>
              <p:cNvPr id="22" name="EDITABLE OfficeMath | Representation and adaptation"/>
              <p:cNvSpPr txBox="1"/>
              <p:nvPr/>
            </p:nvSpPr>
            <p:spPr>
              <a:xfrm>
                <a:off x="1097280" y="2798064"/>
                <a:ext cx="16116300" cy="1342063"/>
              </a:xfrm>
              <a:prstGeom prst="rect">
                <a:avLst/>
              </a:prstGeom>
              <a:no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𝑓</m:t>
                          </m:r>
                        </m:e>
                        <m:sub>
                          <m:r>
                            <a:rPr>
                              <a:latin typeface="Cambria Math" panose="02040503050406030204" pitchFamily="18" charset="0"/>
                            </a:rPr>
                            <m:t>𝑡</m:t>
                          </m:r>
                        </m:sub>
                      </m:sSub>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𝜙</m:t>
                          </m:r>
                        </m:e>
                        <m:sub>
                          <m:r>
                            <a:rPr>
                              <a:latin typeface="Cambria Math" panose="02040503050406030204" pitchFamily="18" charset="0"/>
                            </a:rPr>
                            <m:t>0</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𝐸</m:t>
                          </m:r>
                        </m:e>
                        <m:sub>
                          <m:r>
                            <a:rPr>
                              <a:latin typeface="Cambria Math" panose="02040503050406030204" pitchFamily="18" charset="0"/>
                            </a:rPr>
                            <m:t>𝑡</m:t>
                          </m:r>
                        </m:sub>
                      </m:sSub>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𝑞</m:t>
                          </m:r>
                        </m:e>
                        <m:sub>
                          <m:r>
                            <a:rPr>
                              <a:latin typeface="Cambria Math" panose="02040503050406030204" pitchFamily="18" charset="0"/>
                            </a:rPr>
                            <m:t>𝑡</m:t>
                          </m:r>
                        </m:sub>
                      </m:sSub>
                      <m:r>
                        <a:rPr>
                          <a:latin typeface="Cambria Math" panose="02040503050406030204" pitchFamily="18" charset="0"/>
                        </a:rPr>
                        <m:t> = </m:t>
                      </m:r>
                      <m:sSup>
                        <m:sSupPr>
                          <m:ctrlPr>
                            <a:rPr i="1">
                              <a:latin typeface="Cambria Math" panose="02040503050406030204" pitchFamily="18" charset="0"/>
                            </a:rPr>
                          </m:ctrlPr>
                        </m:sSupPr>
                        <m:e>
                          <m:sSub>
                            <m:sSubPr>
                              <m:ctrlPr>
                                <a:rPr i="1">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0</m:t>
                              </m:r>
                            </m:sub>
                          </m:sSub>
                        </m:e>
                        <m:sup>
                          <m:r>
                            <a:rPr>
                              <a:latin typeface="Cambria Math" panose="02040503050406030204" pitchFamily="18" charset="0"/>
                            </a:rPr>
                            <m:t>𝑇</m:t>
                          </m:r>
                        </m:sup>
                      </m:sSup>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𝑓</m:t>
                          </m:r>
                        </m:e>
                        <m:sub>
                          <m:r>
                            <a:rPr>
                              <a:latin typeface="Cambria Math" panose="02040503050406030204" pitchFamily="18" charset="0"/>
                            </a:rPr>
                            <m:t>𝑡</m:t>
                          </m:r>
                        </m:sub>
                      </m:sSub>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𝑢</m:t>
                          </m:r>
                        </m:e>
                        <m:sub>
                          <m:r>
                            <a:rPr>
                              <a:latin typeface="Cambria Math" panose="02040503050406030204" pitchFamily="18" charset="0"/>
                            </a:rPr>
                            <m:t>0</m:t>
                          </m:r>
                        </m:sub>
                      </m:sSub>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ŷ</m:t>
                          </m:r>
                        </m:e>
                        <m:sub>
                          <m:r>
                            <a:rPr>
                              <a:latin typeface="Cambria Math" panose="02040503050406030204" pitchFamily="18" charset="0"/>
                            </a:rPr>
                            <m:t>𝑡</m:t>
                          </m:r>
                        </m:sub>
                      </m:sSub>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𝑔</m:t>
                          </m:r>
                        </m:e>
                        <m:sub>
                          <m:sSub>
                            <m:sSubPr>
                              <m:ctrlPr>
                                <a:rPr i="1">
                                  <a:latin typeface="Cambria Math" panose="02040503050406030204" pitchFamily="18" charset="0"/>
                                </a:rPr>
                              </m:ctrlPr>
                            </m:sSubPr>
                            <m:e>
                              <m:r>
                                <a:rPr>
                                  <a:latin typeface="Cambria Math" panose="02040503050406030204" pitchFamily="18" charset="0"/>
                                </a:rPr>
                                <m:t>𝜃</m:t>
                              </m:r>
                            </m:e>
                            <m:sub>
                              <m:r>
                                <a:rPr>
                                  <a:latin typeface="Cambria Math" panose="02040503050406030204" pitchFamily="18" charset="0"/>
                                </a:rPr>
                                <m:t>𝑡</m:t>
                              </m:r>
                            </m:sub>
                          </m:sSub>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𝑓</m:t>
                          </m:r>
                        </m:e>
                        <m:sub>
                          <m:r>
                            <a:rPr>
                              <a:latin typeface="Cambria Math" panose="02040503050406030204" pitchFamily="18" charset="0"/>
                            </a:rPr>
                            <m:t>𝑡</m:t>
                          </m:r>
                        </m:sub>
                      </m:sSub>
                      <m:r>
                        <a:rPr>
                          <a:latin typeface="Cambria Math" panose="02040503050406030204" pitchFamily="18" charset="0"/>
                        </a:rPr>
                        <m:t>)</m:t>
                      </m:r>
                    </m:oMath>
                  </m:oMathPara>
                </a14:m>
                <a:endParaRPr lang="en-GB" sz="2300">
                  <a:solidFill>
                    <a:srgbClr val="14233B"/>
                  </a:solidFill>
                </a:endParaRPr>
              </a:p>
            </p:txBody>
          </p:sp>
        </mc:Choice>
        <mc:Fallback>
          <p:sp>
            <p:nvSpPr>
              <p:cNvPr id="22" name="EDITABLE OfficeMath | Representation and adaptation"/>
              <p:cNvSpPr txBox="1">
                <a:spLocks noRot="1" noChangeAspect="1" noMove="1" noResize="1" noEditPoints="1" noAdjustHandles="1" noChangeArrowheads="1" noChangeShapeType="1" noTextEdit="1"/>
              </p:cNvSpPr>
              <p:nvPr/>
            </p:nvSpPr>
            <p:spPr>
              <a:xfrm>
                <a:off x="1097280" y="2798064"/>
                <a:ext cx="16116300" cy="1342063"/>
              </a:xfrm>
              <a:prstGeom prst="rect">
                <a:avLst/>
              </a:prstGeom>
              <a:blipFill>
                <a:blip r:embed="rId3"/>
                <a:stretch>
                  <a:fillRect t="-455"/>
                </a:stretch>
              </a:blipFill>
            </p:spPr>
            <p:txBody>
              <a:bodyPr/>
              <a:lstStyle/>
              <a:p>
                <a:r>
                  <a:rPr lang="en-GB">
                    <a:noFill/>
                  </a:rPr>
                  <a:t> </a:t>
                </a:r>
              </a:p>
            </p:txBody>
          </p:sp>
        </mc:Fallback>
      </mc:AlternateContent>
      <p:grpSp>
        <p:nvGrpSpPr>
          <p:cNvPr id="8" name="Group 8"/>
          <p:cNvGrpSpPr/>
          <p:nvPr/>
        </p:nvGrpSpPr>
        <p:grpSpPr>
          <a:xfrm>
            <a:off x="1165860" y="4320540"/>
            <a:ext cx="5006340" cy="2496312"/>
            <a:chOff x="0" y="0"/>
            <a:chExt cx="6675120" cy="3328416"/>
          </a:xfrm>
        </p:grpSpPr>
        <p:sp>
          <p:nvSpPr>
            <p:cNvPr id="9" name="Freeform 9"/>
            <p:cNvSpPr/>
            <p:nvPr/>
          </p:nvSpPr>
          <p:spPr>
            <a:xfrm>
              <a:off x="0" y="0"/>
              <a:ext cx="6675120" cy="3328416"/>
            </a:xfrm>
            <a:custGeom>
              <a:avLst/>
              <a:gdLst/>
              <a:ahLst/>
              <a:cxnLst/>
              <a:rect l="l" t="t" r="r" b="b"/>
              <a:pathLst>
                <a:path w="6675120" h="3328416">
                  <a:moveTo>
                    <a:pt x="0" y="554736"/>
                  </a:moveTo>
                  <a:cubicBezTo>
                    <a:pt x="0" y="248412"/>
                    <a:pt x="248412" y="0"/>
                    <a:pt x="554736" y="0"/>
                  </a:cubicBezTo>
                  <a:lnTo>
                    <a:pt x="6120384" y="0"/>
                  </a:lnTo>
                  <a:cubicBezTo>
                    <a:pt x="6426708" y="0"/>
                    <a:pt x="6675120" y="248412"/>
                    <a:pt x="6675120" y="554736"/>
                  </a:cubicBezTo>
                  <a:lnTo>
                    <a:pt x="6675120" y="2773680"/>
                  </a:lnTo>
                  <a:cubicBezTo>
                    <a:pt x="6675120" y="3080004"/>
                    <a:pt x="6426708" y="3328416"/>
                    <a:pt x="6120384" y="3328416"/>
                  </a:cubicBezTo>
                  <a:lnTo>
                    <a:pt x="554736" y="3328416"/>
                  </a:lnTo>
                  <a:cubicBezTo>
                    <a:pt x="248412" y="3328416"/>
                    <a:pt x="0" y="3080004"/>
                    <a:pt x="0" y="2773680"/>
                  </a:cubicBezTo>
                  <a:close/>
                </a:path>
              </a:pathLst>
            </a:custGeom>
            <a:solidFill>
              <a:srgbClr val="ECF2F8"/>
            </a:solidFill>
          </p:spPr>
          <p:txBody>
            <a:bodyPr/>
            <a:lstStyle/>
            <a:p>
              <a:endParaRPr lang="en-GB"/>
            </a:p>
          </p:txBody>
        </p:sp>
      </p:grpSp>
      <p:sp>
        <p:nvSpPr>
          <p:cNvPr id="10" name="TextBox 10"/>
          <p:cNvSpPr txBox="1"/>
          <p:nvPr/>
        </p:nvSpPr>
        <p:spPr>
          <a:xfrm>
            <a:off x="1504188" y="4681728"/>
            <a:ext cx="4411980" cy="443484"/>
          </a:xfrm>
          <a:prstGeom prst="rect">
            <a:avLst/>
          </a:prstGeom>
        </p:spPr>
        <p:txBody>
          <a:bodyPr lIns="0" tIns="0" rIns="0" bIns="0" rtlCol="0" anchor="t">
            <a:spAutoFit/>
          </a:bodyPr>
          <a:lstStyle/>
          <a:p>
            <a:pPr algn="l">
              <a:lnSpc>
                <a:spcPts val="2879"/>
              </a:lnSpc>
            </a:pPr>
            <a:r>
              <a:rPr lang="en-US" sz="2400" b="1">
                <a:solidFill>
                  <a:srgbClr val="13274B"/>
                </a:solidFill>
                <a:latin typeface="Aptos Bold"/>
                <a:ea typeface="Aptos Bold"/>
                <a:cs typeface="Aptos Bold"/>
                <a:sym typeface="Aptos Bold"/>
              </a:rPr>
              <a:t>EEG → FBCSP</a:t>
            </a:r>
          </a:p>
        </p:txBody>
      </p:sp>
      <p:sp>
        <p:nvSpPr>
          <p:cNvPr id="11" name="TextBox 11"/>
          <p:cNvSpPr txBox="1"/>
          <p:nvPr/>
        </p:nvSpPr>
        <p:spPr>
          <a:xfrm>
            <a:off x="1504188" y="5408676"/>
            <a:ext cx="4343400" cy="1156716"/>
          </a:xfrm>
          <a:prstGeom prst="rect">
            <a:avLst/>
          </a:prstGeom>
        </p:spPr>
        <p:txBody>
          <a:bodyPr lIns="0" tIns="0" rIns="0" bIns="0" rtlCol="0" anchor="t">
            <a:spAutoFit/>
          </a:bodyPr>
          <a:lstStyle/>
          <a:p>
            <a:pPr algn="l">
              <a:lnSpc>
                <a:spcPts val="2160"/>
              </a:lnSpc>
            </a:pPr>
            <a:r>
              <a:rPr lang="en-US" sz="1800">
                <a:solidFill>
                  <a:srgbClr val="53657C"/>
                </a:solidFill>
                <a:latin typeface="Aptos"/>
                <a:ea typeface="Aptos"/>
                <a:cs typeface="Aptos"/>
                <a:sym typeface="Aptos"/>
              </a:rPr>
              <a:t>Eₜ is a trial; φ₀ is the mapping fitted at calibration. Not refitted during SVM updates.</a:t>
            </a:r>
          </a:p>
        </p:txBody>
      </p:sp>
      <p:grpSp>
        <p:nvGrpSpPr>
          <p:cNvPr id="12" name="Group 12"/>
          <p:cNvGrpSpPr/>
          <p:nvPr/>
        </p:nvGrpSpPr>
        <p:grpSpPr>
          <a:xfrm>
            <a:off x="6858000" y="4320540"/>
            <a:ext cx="5006340" cy="2496312"/>
            <a:chOff x="0" y="0"/>
            <a:chExt cx="6675120" cy="3328416"/>
          </a:xfrm>
        </p:grpSpPr>
        <p:sp>
          <p:nvSpPr>
            <p:cNvPr id="13" name="Freeform 13"/>
            <p:cNvSpPr/>
            <p:nvPr/>
          </p:nvSpPr>
          <p:spPr>
            <a:xfrm>
              <a:off x="0" y="0"/>
              <a:ext cx="6675120" cy="3328416"/>
            </a:xfrm>
            <a:custGeom>
              <a:avLst/>
              <a:gdLst/>
              <a:ahLst/>
              <a:cxnLst/>
              <a:rect l="l" t="t" r="r" b="b"/>
              <a:pathLst>
                <a:path w="6675120" h="3328416">
                  <a:moveTo>
                    <a:pt x="0" y="554736"/>
                  </a:moveTo>
                  <a:cubicBezTo>
                    <a:pt x="0" y="248412"/>
                    <a:pt x="248412" y="0"/>
                    <a:pt x="554736" y="0"/>
                  </a:cubicBezTo>
                  <a:lnTo>
                    <a:pt x="6120384" y="0"/>
                  </a:lnTo>
                  <a:cubicBezTo>
                    <a:pt x="6426708" y="0"/>
                    <a:pt x="6675120" y="248412"/>
                    <a:pt x="6675120" y="554736"/>
                  </a:cubicBezTo>
                  <a:lnTo>
                    <a:pt x="6675120" y="2773680"/>
                  </a:lnTo>
                  <a:cubicBezTo>
                    <a:pt x="6675120" y="3080004"/>
                    <a:pt x="6426708" y="3328416"/>
                    <a:pt x="6120384" y="3328416"/>
                  </a:cubicBezTo>
                  <a:lnTo>
                    <a:pt x="554736" y="3328416"/>
                  </a:lnTo>
                  <a:cubicBezTo>
                    <a:pt x="248412" y="3328416"/>
                    <a:pt x="0" y="3080004"/>
                    <a:pt x="0" y="2773680"/>
                  </a:cubicBezTo>
                  <a:close/>
                </a:path>
              </a:pathLst>
            </a:custGeom>
            <a:solidFill>
              <a:srgbClr val="ECF2F8"/>
            </a:solidFill>
          </p:spPr>
          <p:txBody>
            <a:bodyPr/>
            <a:lstStyle/>
            <a:p>
              <a:endParaRPr lang="en-GB"/>
            </a:p>
          </p:txBody>
        </p:sp>
      </p:grpSp>
      <p:sp>
        <p:nvSpPr>
          <p:cNvPr id="14" name="TextBox 14"/>
          <p:cNvSpPr txBox="1"/>
          <p:nvPr/>
        </p:nvSpPr>
        <p:spPr>
          <a:xfrm>
            <a:off x="7196328" y="4681728"/>
            <a:ext cx="4411980" cy="443484"/>
          </a:xfrm>
          <a:prstGeom prst="rect">
            <a:avLst/>
          </a:prstGeom>
        </p:spPr>
        <p:txBody>
          <a:bodyPr lIns="0" tIns="0" rIns="0" bIns="0" rtlCol="0" anchor="t">
            <a:spAutoFit/>
          </a:bodyPr>
          <a:lstStyle/>
          <a:p>
            <a:pPr algn="l">
              <a:lnSpc>
                <a:spcPts val="2879"/>
              </a:lnSpc>
            </a:pPr>
            <a:r>
              <a:rPr lang="en-US" sz="2400" b="1">
                <a:solidFill>
                  <a:srgbClr val="13274B"/>
                </a:solidFill>
                <a:latin typeface="Aptos Bold"/>
                <a:ea typeface="Aptos Bold"/>
                <a:cs typeface="Aptos Bold"/>
                <a:sym typeface="Aptos Bold"/>
              </a:rPr>
              <a:t>FBCSP → PCA monitor</a:t>
            </a:r>
          </a:p>
        </p:txBody>
      </p:sp>
      <p:sp>
        <p:nvSpPr>
          <p:cNvPr id="15" name="TextBox 15"/>
          <p:cNvSpPr txBox="1"/>
          <p:nvPr/>
        </p:nvSpPr>
        <p:spPr>
          <a:xfrm>
            <a:off x="7196328" y="5408676"/>
            <a:ext cx="4343400" cy="1156716"/>
          </a:xfrm>
          <a:prstGeom prst="rect">
            <a:avLst/>
          </a:prstGeom>
        </p:spPr>
        <p:txBody>
          <a:bodyPr lIns="0" tIns="0" rIns="0" bIns="0" rtlCol="0" anchor="t">
            <a:spAutoFit/>
          </a:bodyPr>
          <a:lstStyle/>
          <a:p>
            <a:pPr algn="l">
              <a:lnSpc>
                <a:spcPts val="2160"/>
              </a:lnSpc>
            </a:pPr>
            <a:r>
              <a:rPr lang="en-US" sz="1800">
                <a:solidFill>
                  <a:srgbClr val="53657C"/>
                </a:solidFill>
                <a:latin typeface="Aptos"/>
                <a:ea typeface="Aptos"/>
                <a:cs typeface="Aptos"/>
                <a:sym typeface="Aptos"/>
              </a:rPr>
              <a:t>μ₀ and P₀ define the initial PCA coordinates. qₜ is a monitoring score, not the SVM input.</a:t>
            </a:r>
          </a:p>
        </p:txBody>
      </p:sp>
      <p:grpSp>
        <p:nvGrpSpPr>
          <p:cNvPr id="16" name="Group 16"/>
          <p:cNvGrpSpPr/>
          <p:nvPr/>
        </p:nvGrpSpPr>
        <p:grpSpPr>
          <a:xfrm>
            <a:off x="12412980" y="4320540"/>
            <a:ext cx="5006340" cy="2496312"/>
            <a:chOff x="0" y="0"/>
            <a:chExt cx="6675120" cy="3328416"/>
          </a:xfrm>
        </p:grpSpPr>
        <p:sp>
          <p:nvSpPr>
            <p:cNvPr id="17" name="Freeform 17"/>
            <p:cNvSpPr/>
            <p:nvPr/>
          </p:nvSpPr>
          <p:spPr>
            <a:xfrm>
              <a:off x="0" y="0"/>
              <a:ext cx="6675120" cy="3328416"/>
            </a:xfrm>
            <a:custGeom>
              <a:avLst/>
              <a:gdLst/>
              <a:ahLst/>
              <a:cxnLst/>
              <a:rect l="l" t="t" r="r" b="b"/>
              <a:pathLst>
                <a:path w="6675120" h="3328416">
                  <a:moveTo>
                    <a:pt x="0" y="554736"/>
                  </a:moveTo>
                  <a:cubicBezTo>
                    <a:pt x="0" y="248412"/>
                    <a:pt x="248412" y="0"/>
                    <a:pt x="554736" y="0"/>
                  </a:cubicBezTo>
                  <a:lnTo>
                    <a:pt x="6120384" y="0"/>
                  </a:lnTo>
                  <a:cubicBezTo>
                    <a:pt x="6426708" y="0"/>
                    <a:pt x="6675120" y="248412"/>
                    <a:pt x="6675120" y="554736"/>
                  </a:cubicBezTo>
                  <a:lnTo>
                    <a:pt x="6675120" y="2773680"/>
                  </a:lnTo>
                  <a:cubicBezTo>
                    <a:pt x="6675120" y="3080004"/>
                    <a:pt x="6426708" y="3328416"/>
                    <a:pt x="6120384" y="3328416"/>
                  </a:cubicBezTo>
                  <a:lnTo>
                    <a:pt x="554736" y="3328416"/>
                  </a:lnTo>
                  <a:cubicBezTo>
                    <a:pt x="248412" y="3328416"/>
                    <a:pt x="0" y="3080004"/>
                    <a:pt x="0" y="2773680"/>
                  </a:cubicBezTo>
                  <a:close/>
                </a:path>
              </a:pathLst>
            </a:custGeom>
            <a:solidFill>
              <a:srgbClr val="ECF2F8"/>
            </a:solidFill>
          </p:spPr>
          <p:txBody>
            <a:bodyPr/>
            <a:lstStyle/>
            <a:p>
              <a:endParaRPr lang="en-GB"/>
            </a:p>
          </p:txBody>
        </p:sp>
      </p:grpSp>
      <p:sp>
        <p:nvSpPr>
          <p:cNvPr id="18" name="TextBox 18"/>
          <p:cNvSpPr txBox="1"/>
          <p:nvPr/>
        </p:nvSpPr>
        <p:spPr>
          <a:xfrm>
            <a:off x="12751308" y="4681728"/>
            <a:ext cx="4411980" cy="443484"/>
          </a:xfrm>
          <a:prstGeom prst="rect">
            <a:avLst/>
          </a:prstGeom>
        </p:spPr>
        <p:txBody>
          <a:bodyPr lIns="0" tIns="0" rIns="0" bIns="0" rtlCol="0" anchor="t">
            <a:spAutoFit/>
          </a:bodyPr>
          <a:lstStyle/>
          <a:p>
            <a:pPr algn="l">
              <a:lnSpc>
                <a:spcPts val="2879"/>
              </a:lnSpc>
            </a:pPr>
            <a:r>
              <a:rPr lang="en-US" sz="2400" b="1">
                <a:solidFill>
                  <a:srgbClr val="13274B"/>
                </a:solidFill>
                <a:latin typeface="Aptos Bold"/>
                <a:ea typeface="Aptos Bold"/>
                <a:cs typeface="Aptos Bold"/>
                <a:sym typeface="Aptos Bold"/>
              </a:rPr>
              <a:t>FBCSP → prediction</a:t>
            </a:r>
          </a:p>
        </p:txBody>
      </p:sp>
      <p:sp>
        <p:nvSpPr>
          <p:cNvPr id="19" name="TextBox 19"/>
          <p:cNvSpPr txBox="1"/>
          <p:nvPr/>
        </p:nvSpPr>
        <p:spPr>
          <a:xfrm>
            <a:off x="12751308" y="5408676"/>
            <a:ext cx="4343400" cy="1156716"/>
          </a:xfrm>
          <a:prstGeom prst="rect">
            <a:avLst/>
          </a:prstGeom>
        </p:spPr>
        <p:txBody>
          <a:bodyPr lIns="0" tIns="0" rIns="0" bIns="0" rtlCol="0" anchor="t">
            <a:spAutoFit/>
          </a:bodyPr>
          <a:lstStyle/>
          <a:p>
            <a:pPr algn="l">
              <a:lnSpc>
                <a:spcPts val="2160"/>
              </a:lnSpc>
            </a:pPr>
            <a:r>
              <a:rPr lang="en-US" sz="1800">
                <a:solidFill>
                  <a:srgbClr val="53657C"/>
                </a:solidFill>
                <a:latin typeface="Aptos"/>
                <a:ea typeface="Aptos"/>
                <a:cs typeface="Aptos"/>
                <a:sym typeface="Aptos"/>
              </a:rPr>
              <a:t>gθₜ acts on fₜ; θₜ changes when the SVM is retrained on accumulated examples.</a:t>
            </a:r>
          </a:p>
        </p:txBody>
      </p:sp>
      <p:sp>
        <p:nvSpPr>
          <p:cNvPr id="20" name="TextBox 20"/>
          <p:cNvSpPr txBox="1"/>
          <p:nvPr/>
        </p:nvSpPr>
        <p:spPr>
          <a:xfrm>
            <a:off x="1257300" y="7370064"/>
            <a:ext cx="15864840" cy="73152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Implementation boundary: refitting the classifier does not imply calling fit_fbcsp() or fit_cse_pca().</a:t>
            </a:r>
          </a:p>
        </p:txBody>
      </p:sp>
      <p:sp>
        <p:nvSpPr>
          <p:cNvPr id="21" name="TextBox 21"/>
          <p:cNvSpPr txBox="1"/>
          <p:nvPr/>
        </p:nvSpPr>
        <p:spPr>
          <a:xfrm>
            <a:off x="1257300" y="8535924"/>
            <a:ext cx="15727680" cy="416052"/>
          </a:xfrm>
          <a:prstGeom prst="rect">
            <a:avLst/>
          </a:prstGeom>
        </p:spPr>
        <p:txBody>
          <a:bodyPr lIns="0" tIns="0" rIns="0" bIns="0" rtlCol="0" anchor="t">
            <a:spAutoFit/>
          </a:bodyPr>
          <a:lstStyle/>
          <a:p>
            <a:pPr algn="l">
              <a:lnSpc>
                <a:spcPts val="2340"/>
              </a:lnSpc>
            </a:pPr>
            <a:r>
              <a:rPr lang="en-US" sz="1950">
                <a:solidFill>
                  <a:srgbClr val="53657C"/>
                </a:solidFill>
                <a:latin typeface="Aptos"/>
                <a:ea typeface="Aptos"/>
                <a:cs typeface="Aptos"/>
                <a:sym typeface="Aptos"/>
              </a:rPr>
              <a:t>Fixed mapping means fixed fitted parameters — not constant features or scores over time.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61524"/>
        </a:solidFill>
        <a:effectLst/>
      </p:bgPr>
    </p:bg>
    <p:spTree>
      <p:nvGrpSpPr>
        <p:cNvPr id="1" name=""/>
        <p:cNvGrpSpPr/>
        <p:nvPr/>
      </p:nvGrpSpPr>
      <p:grpSpPr>
        <a:xfrm>
          <a:off x="0" y="0"/>
          <a:ext cx="0" cy="0"/>
          <a:chOff x="0" y="0"/>
          <a:chExt cx="0" cy="0"/>
        </a:xfrm>
      </p:grpSpPr>
      <p:sp>
        <p:nvSpPr>
          <p:cNvPr id="2" name="TextBox 2"/>
          <p:cNvSpPr txBox="1"/>
          <p:nvPr/>
        </p:nvSpPr>
        <p:spPr>
          <a:xfrm>
            <a:off x="918972" y="516255"/>
            <a:ext cx="16459200" cy="329565"/>
          </a:xfrm>
          <a:prstGeom prst="rect">
            <a:avLst/>
          </a:prstGeom>
        </p:spPr>
        <p:txBody>
          <a:bodyPr lIns="0" tIns="0" rIns="0" bIns="0" rtlCol="0" anchor="t">
            <a:spAutoFit/>
          </a:bodyPr>
          <a:lstStyle/>
          <a:p>
            <a:pPr algn="l">
              <a:lnSpc>
                <a:spcPts val="2340"/>
              </a:lnSpc>
            </a:pPr>
            <a:r>
              <a:rPr lang="en-US" sz="1950" b="1">
                <a:solidFill>
                  <a:srgbClr val="38DED3"/>
                </a:solidFill>
                <a:latin typeface="DejaVu Sans Bold"/>
                <a:ea typeface="DejaVu Sans Bold"/>
                <a:cs typeface="DejaVu Sans Bold"/>
                <a:sym typeface="DejaVu Sans Bold"/>
              </a:rPr>
              <a:t>DETECTOR MATHEMATICS</a:t>
            </a:r>
          </a:p>
        </p:txBody>
      </p:sp>
      <p:sp>
        <p:nvSpPr>
          <p:cNvPr id="3" name="TextBox 3"/>
          <p:cNvSpPr txBox="1"/>
          <p:nvPr/>
        </p:nvSpPr>
        <p:spPr>
          <a:xfrm>
            <a:off x="918972" y="1174623"/>
            <a:ext cx="16459200" cy="80962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How PCA scores become warnings and confirmations</a:t>
            </a:r>
          </a:p>
        </p:txBody>
      </p:sp>
      <p:sp>
        <p:nvSpPr>
          <p:cNvPr id="4" name="TextBox 4"/>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sp>
        <p:nvSpPr>
          <p:cNvPr id="5" name="TextBox 5"/>
          <p:cNvSpPr txBox="1"/>
          <p:nvPr/>
        </p:nvSpPr>
        <p:spPr>
          <a:xfrm>
            <a:off x="16596360" y="9754362"/>
            <a:ext cx="68580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12</a:t>
            </a:r>
          </a:p>
        </p:txBody>
      </p:sp>
      <p:sp>
        <p:nvSpPr>
          <p:cNvPr id="6" name="TextBox 6"/>
          <p:cNvSpPr txBox="1"/>
          <p:nvPr/>
        </p:nvSpPr>
        <p:spPr>
          <a:xfrm>
            <a:off x="1028700" y="2308860"/>
            <a:ext cx="8229600" cy="457200"/>
          </a:xfrm>
          <a:prstGeom prst="rect">
            <a:avLst/>
          </a:prstGeom>
        </p:spPr>
        <p:txBody>
          <a:bodyPr lIns="0" tIns="0" rIns="0" bIns="0" rtlCol="0" anchor="t">
            <a:spAutoFit/>
          </a:bodyPr>
          <a:lstStyle/>
          <a:p>
            <a:pPr algn="l">
              <a:lnSpc>
                <a:spcPts val="3779"/>
              </a:lnSpc>
            </a:pPr>
            <a:r>
              <a:rPr lang="en-US" sz="3150" b="1">
                <a:solidFill>
                  <a:srgbClr val="38DED3"/>
                </a:solidFill>
                <a:latin typeface="DejaVu Sans Bold"/>
                <a:ea typeface="DejaVu Sans Bold"/>
                <a:cs typeface="DejaVu Sans Bold"/>
                <a:sym typeface="DejaVu Sans Bold"/>
              </a:rPr>
              <a:t>Stage I: EWMA warning</a:t>
            </a:r>
          </a:p>
        </p:txBody>
      </p:sp>
      <p:sp>
        <p:nvSpPr>
          <p:cNvPr id="7" name="TextBox 7"/>
          <p:cNvSpPr txBox="1"/>
          <p:nvPr/>
        </p:nvSpPr>
        <p:spPr>
          <a:xfrm>
            <a:off x="1028700" y="3112770"/>
            <a:ext cx="8641080" cy="407670"/>
          </a:xfrm>
          <a:prstGeom prst="rect">
            <a:avLst/>
          </a:prstGeom>
        </p:spPr>
        <p:txBody>
          <a:bodyPr lIns="0" tIns="0" rIns="0" bIns="0" rtlCol="0" anchor="t">
            <a:spAutoFit/>
          </a:bodyPr>
          <a:lstStyle/>
          <a:p>
            <a:pPr algn="l">
              <a:lnSpc>
                <a:spcPts val="2700"/>
              </a:lnSpc>
            </a:pPr>
            <a:r>
              <a:rPr lang="en-US" sz="2250">
                <a:solidFill>
                  <a:srgbClr val="38DED3"/>
                </a:solidFill>
                <a:latin typeface="DejaVu Sans Light"/>
                <a:ea typeface="DejaVu Sans Light"/>
                <a:cs typeface="DejaVu Sans Light"/>
                <a:sym typeface="DejaVu Sans Light"/>
              </a:rPr>
              <a:t>State and one-step prediction error</a:t>
            </a:r>
          </a:p>
        </p:txBody>
      </p:sp>
      <mc:AlternateContent xmlns:mc="http://schemas.openxmlformats.org/markup-compatibility/2006">
        <mc:Choice xmlns:a14="http://schemas.microsoft.com/office/drawing/2010/main" Requires="a14">
          <p:sp>
            <p:nvSpPr>
              <p:cNvPr id="26" name="EDITABLE OfficeMath | EWMA statistic and innovation"/>
              <p:cNvSpPr txBox="1"/>
              <p:nvPr/>
            </p:nvSpPr>
            <p:spPr>
              <a:xfrm>
                <a:off x="1028700" y="3745611"/>
                <a:ext cx="7406640" cy="491490"/>
              </a:xfrm>
              <a:prstGeom prst="rect">
                <a:avLst/>
              </a:prstGeom>
              <a:solidFill>
                <a:srgbClr val="DDEBF3"/>
              </a:solid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𝑧</m:t>
                          </m:r>
                        </m:e>
                        <m:sub>
                          <m:r>
                            <a:rPr>
                              <a:latin typeface="Cambria Math" panose="02040503050406030204" pitchFamily="18" charset="0"/>
                            </a:rPr>
                            <m:t>𝑖</m:t>
                          </m:r>
                        </m:sub>
                      </m:sSub>
                      <m:r>
                        <a:rPr>
                          <a:latin typeface="Cambria Math" panose="02040503050406030204" pitchFamily="18" charset="0"/>
                        </a:rPr>
                        <m:t> = </m:t>
                      </m:r>
                      <m:r>
                        <a:rPr>
                          <a:latin typeface="Cambria Math" panose="02040503050406030204" pitchFamily="18" charset="0"/>
                        </a:rPr>
                        <m:t>𝜆</m:t>
                      </m:r>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 + (</m:t>
                      </m:r>
                      <m:r>
                        <a:rPr>
                          <a:latin typeface="Cambria Math" panose="02040503050406030204" pitchFamily="18" charset="0"/>
                        </a:rPr>
                        <m:t>1</m:t>
                      </m:r>
                      <m:r>
                        <a:rPr>
                          <a:latin typeface="Cambria Math" panose="02040503050406030204" pitchFamily="18" charset="0"/>
                        </a:rPr>
                        <m:t>−</m:t>
                      </m:r>
                      <m:r>
                        <a:rPr>
                          <a:latin typeface="Cambria Math" panose="02040503050406030204" pitchFamily="18" charset="0"/>
                        </a:rPr>
                        <m:t>𝜆</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𝑧</m:t>
                          </m:r>
                        </m:e>
                        <m:sub>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1</m:t>
                          </m:r>
                        </m:sub>
                      </m:sSub>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𝑒</m:t>
                          </m:r>
                        </m:e>
                        <m:sub>
                          <m:r>
                            <a:rPr>
                              <a:latin typeface="Cambria Math" panose="02040503050406030204" pitchFamily="18" charset="0"/>
                            </a:rPr>
                            <m:t>𝑖</m:t>
                          </m:r>
                        </m:sub>
                      </m:sSub>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𝑧</m:t>
                          </m:r>
                        </m:e>
                        <m:sub>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1</m:t>
                          </m:r>
                        </m:sub>
                      </m:sSub>
                    </m:oMath>
                  </m:oMathPara>
                </a14:m>
                <a:endParaRPr lang="en-GB" sz="1800">
                  <a:solidFill>
                    <a:srgbClr val="14233B"/>
                  </a:solidFill>
                </a:endParaRPr>
              </a:p>
            </p:txBody>
          </p:sp>
        </mc:Choice>
        <mc:Fallback>
          <p:sp>
            <p:nvSpPr>
              <p:cNvPr id="26" name="EDITABLE OfficeMath | EWMA statistic and innovation"/>
              <p:cNvSpPr txBox="1">
                <a:spLocks noRot="1" noChangeAspect="1" noMove="1" noResize="1" noEditPoints="1" noAdjustHandles="1" noChangeArrowheads="1" noChangeShapeType="1" noTextEdit="1"/>
              </p:cNvSpPr>
              <p:nvPr/>
            </p:nvSpPr>
            <p:spPr>
              <a:xfrm>
                <a:off x="1028700" y="3745611"/>
                <a:ext cx="7406640" cy="491490"/>
              </a:xfrm>
              <a:prstGeom prst="rect">
                <a:avLst/>
              </a:prstGeom>
              <a:blipFill>
                <a:blip r:embed="rId3"/>
                <a:stretch>
                  <a:fillRect t="-1235"/>
                </a:stretch>
              </a:blipFill>
            </p:spPr>
            <p:txBody>
              <a:bodyPr/>
              <a:lstStyle/>
              <a:p>
                <a:r>
                  <a:rPr lang="en-GB">
                    <a:noFill/>
                  </a:rPr>
                  <a:t> </a:t>
                </a:r>
              </a:p>
            </p:txBody>
          </p:sp>
        </mc:Fallback>
      </mc:AlternateContent>
      <p:sp>
        <p:nvSpPr>
          <p:cNvPr id="10" name="TextBox 10"/>
          <p:cNvSpPr txBox="1"/>
          <p:nvPr/>
        </p:nvSpPr>
        <p:spPr>
          <a:xfrm>
            <a:off x="1028700" y="4552950"/>
            <a:ext cx="8641080" cy="407670"/>
          </a:xfrm>
          <a:prstGeom prst="rect">
            <a:avLst/>
          </a:prstGeom>
        </p:spPr>
        <p:txBody>
          <a:bodyPr lIns="0" tIns="0" rIns="0" bIns="0" rtlCol="0" anchor="t">
            <a:spAutoFit/>
          </a:bodyPr>
          <a:lstStyle/>
          <a:p>
            <a:pPr algn="l">
              <a:lnSpc>
                <a:spcPts val="2700"/>
              </a:lnSpc>
            </a:pPr>
            <a:r>
              <a:rPr lang="en-US" sz="2250">
                <a:solidFill>
                  <a:srgbClr val="38DED3"/>
                </a:solidFill>
                <a:latin typeface="DejaVu Sans Light"/>
                <a:ea typeface="DejaVu Sans Light"/>
                <a:cs typeface="DejaVu Sans Light"/>
                <a:sym typeface="DejaVu Sans Light"/>
              </a:rPr>
              <a:t>Control limits use the previous variance</a:t>
            </a:r>
          </a:p>
        </p:txBody>
      </p:sp>
      <mc:AlternateContent xmlns:mc="http://schemas.openxmlformats.org/markup-compatibility/2006">
        <mc:Choice xmlns:a14="http://schemas.microsoft.com/office/drawing/2010/main" Requires="a14">
          <p:sp>
            <p:nvSpPr>
              <p:cNvPr id="27" name="EDITABLE OfficeMath | EWMA upper and lower control limits"/>
              <p:cNvSpPr txBox="1"/>
              <p:nvPr/>
            </p:nvSpPr>
            <p:spPr>
              <a:xfrm>
                <a:off x="1028700" y="5189563"/>
                <a:ext cx="8641080" cy="483946"/>
              </a:xfrm>
              <a:prstGeom prst="rect">
                <a:avLst/>
              </a:prstGeom>
              <a:solidFill>
                <a:srgbClr val="DDEBF3"/>
              </a:solid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𝑈𝐶𝐿</m:t>
                          </m:r>
                        </m:e>
                        <m:sub>
                          <m:r>
                            <a:rPr>
                              <a:latin typeface="Cambria Math" panose="02040503050406030204" pitchFamily="18" charset="0"/>
                            </a:rPr>
                            <m:t>𝑖</m:t>
                          </m:r>
                        </m:sub>
                      </m:sSub>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𝑧</m:t>
                          </m:r>
                        </m:e>
                        <m:sub>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1</m:t>
                          </m:r>
                        </m:sub>
                      </m:sSub>
                      <m:r>
                        <a:rPr>
                          <a:latin typeface="Cambria Math" panose="02040503050406030204" pitchFamily="18" charset="0"/>
                        </a:rPr>
                        <m:t> + </m:t>
                      </m:r>
                      <m:r>
                        <a:rPr>
                          <a:latin typeface="Cambria Math" panose="02040503050406030204" pitchFamily="18" charset="0"/>
                        </a:rPr>
                        <m:t>𝐿</m:t>
                      </m:r>
                      <m:sSub>
                        <m:sSubPr>
                          <m:ctrlPr>
                            <a:rPr i="1">
                              <a:latin typeface="Cambria Math" panose="02040503050406030204" pitchFamily="18" charset="0"/>
                            </a:rPr>
                          </m:ctrlPr>
                        </m:sSubPr>
                        <m:e>
                          <m:r>
                            <a:rPr>
                              <a:latin typeface="Cambria Math" panose="02040503050406030204" pitchFamily="18" charset="0"/>
                            </a:rPr>
                            <m:t>𝜎</m:t>
                          </m:r>
                        </m:e>
                        <m:sub>
                          <m:r>
                            <a:rPr>
                              <a:latin typeface="Cambria Math" panose="02040503050406030204" pitchFamily="18" charset="0"/>
                            </a:rPr>
                            <m:t>𝑒</m:t>
                          </m:r>
                          <m:r>
                            <a:rPr>
                              <a:latin typeface="Cambria Math" panose="02040503050406030204" pitchFamily="18" charset="0"/>
                            </a:rPr>
                            <m:t>,</m:t>
                          </m:r>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1</m:t>
                          </m:r>
                        </m:sub>
                      </m:sSub>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𝐿𝐶𝐿</m:t>
                          </m:r>
                        </m:e>
                        <m:sub>
                          <m:r>
                            <a:rPr>
                              <a:latin typeface="Cambria Math" panose="02040503050406030204" pitchFamily="18" charset="0"/>
                            </a:rPr>
                            <m:t>𝑖</m:t>
                          </m:r>
                        </m:sub>
                      </m:sSub>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𝑧</m:t>
                          </m:r>
                        </m:e>
                        <m:sub>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1</m:t>
                          </m:r>
                        </m:sub>
                      </m:sSub>
                      <m:r>
                        <a:rPr>
                          <a:latin typeface="Cambria Math" panose="02040503050406030204" pitchFamily="18" charset="0"/>
                        </a:rPr>
                        <m:t> − </m:t>
                      </m:r>
                      <m:r>
                        <a:rPr>
                          <a:latin typeface="Cambria Math" panose="02040503050406030204" pitchFamily="18" charset="0"/>
                        </a:rPr>
                        <m:t>𝐿</m:t>
                      </m:r>
                      <m:sSub>
                        <m:sSubPr>
                          <m:ctrlPr>
                            <a:rPr i="1">
                              <a:latin typeface="Cambria Math" panose="02040503050406030204" pitchFamily="18" charset="0"/>
                            </a:rPr>
                          </m:ctrlPr>
                        </m:sSubPr>
                        <m:e>
                          <m:r>
                            <a:rPr>
                              <a:latin typeface="Cambria Math" panose="02040503050406030204" pitchFamily="18" charset="0"/>
                            </a:rPr>
                            <m:t>𝜎</m:t>
                          </m:r>
                        </m:e>
                        <m:sub>
                          <m:r>
                            <a:rPr>
                              <a:latin typeface="Cambria Math" panose="02040503050406030204" pitchFamily="18" charset="0"/>
                            </a:rPr>
                            <m:t>𝑒</m:t>
                          </m:r>
                          <m:r>
                            <a:rPr>
                              <a:latin typeface="Cambria Math" panose="02040503050406030204" pitchFamily="18" charset="0"/>
                            </a:rPr>
                            <m:t>,</m:t>
                          </m:r>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1</m:t>
                          </m:r>
                        </m:sub>
                      </m:sSub>
                    </m:oMath>
                  </m:oMathPara>
                </a14:m>
                <a:endParaRPr lang="en-GB" sz="1800">
                  <a:solidFill>
                    <a:srgbClr val="14233B"/>
                  </a:solidFill>
                </a:endParaRPr>
              </a:p>
            </p:txBody>
          </p:sp>
        </mc:Choice>
        <mc:Fallback>
          <p:sp>
            <p:nvSpPr>
              <p:cNvPr id="27" name="EDITABLE OfficeMath | EWMA upper and lower control limits"/>
              <p:cNvSpPr txBox="1">
                <a:spLocks noRot="1" noChangeAspect="1" noMove="1" noResize="1" noEditPoints="1" noAdjustHandles="1" noChangeArrowheads="1" noChangeShapeType="1" noTextEdit="1"/>
              </p:cNvSpPr>
              <p:nvPr/>
            </p:nvSpPr>
            <p:spPr>
              <a:xfrm>
                <a:off x="1028700" y="5189563"/>
                <a:ext cx="8641080" cy="483946"/>
              </a:xfrm>
              <a:prstGeom prst="rect">
                <a:avLst/>
              </a:prstGeom>
              <a:blipFill>
                <a:blip r:embed="rId4"/>
                <a:stretch>
                  <a:fillRect/>
                </a:stretch>
              </a:blipFill>
            </p:spPr>
            <p:txBody>
              <a:bodyPr/>
              <a:lstStyle/>
              <a:p>
                <a:r>
                  <a:rPr lang="en-GB">
                    <a:noFill/>
                  </a:rPr>
                  <a:t> </a:t>
                </a:r>
              </a:p>
            </p:txBody>
          </p:sp>
        </mc:Fallback>
      </mc:AlternateContent>
      <p:sp>
        <p:nvSpPr>
          <p:cNvPr id="13" name="TextBox 13"/>
          <p:cNvSpPr txBox="1"/>
          <p:nvPr/>
        </p:nvSpPr>
        <p:spPr>
          <a:xfrm>
            <a:off x="1028700" y="5993130"/>
            <a:ext cx="8641080" cy="407670"/>
          </a:xfrm>
          <a:prstGeom prst="rect">
            <a:avLst/>
          </a:prstGeom>
        </p:spPr>
        <p:txBody>
          <a:bodyPr lIns="0" tIns="0" rIns="0" bIns="0" rtlCol="0" anchor="t">
            <a:spAutoFit/>
          </a:bodyPr>
          <a:lstStyle/>
          <a:p>
            <a:pPr algn="l">
              <a:lnSpc>
                <a:spcPts val="2700"/>
              </a:lnSpc>
            </a:pPr>
            <a:r>
              <a:rPr lang="en-US" sz="2250">
                <a:solidFill>
                  <a:srgbClr val="38DED3"/>
                </a:solidFill>
                <a:latin typeface="DejaVu Sans Light"/>
                <a:ea typeface="DejaVu Sans Light"/>
                <a:cs typeface="DejaVu Sans Light"/>
                <a:sym typeface="DejaVu Sans Light"/>
              </a:rPr>
              <a:t>Smoothed error variance • Eq. (8)</a:t>
            </a:r>
          </a:p>
        </p:txBody>
      </p:sp>
      <mc:AlternateContent xmlns:mc="http://schemas.openxmlformats.org/markup-compatibility/2006">
        <mc:Choice xmlns:a14="http://schemas.microsoft.com/office/drawing/2010/main" Requires="a14">
          <p:sp>
            <p:nvSpPr>
              <p:cNvPr id="28" name="EDITABLE OfficeMath | Variance EWMA recurrence"/>
              <p:cNvSpPr txBox="1"/>
              <p:nvPr/>
            </p:nvSpPr>
            <p:spPr>
              <a:xfrm>
                <a:off x="1028700" y="6551676"/>
                <a:ext cx="5514975" cy="640080"/>
              </a:xfrm>
              <a:prstGeom prst="rect">
                <a:avLst/>
              </a:prstGeom>
              <a:solidFill>
                <a:srgbClr val="DDEBF3"/>
              </a:solid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sSubSup>
                        <m:sSubSupPr>
                          <m:ctrlPr>
                            <a:rPr>
                              <a:latin typeface="Cambria Math" panose="02040503050406030204" pitchFamily="18" charset="0"/>
                            </a:rPr>
                          </m:ctrlPr>
                        </m:sSubSupPr>
                        <m:e>
                          <m:r>
                            <a:rPr>
                              <a:latin typeface="Cambria Math" panose="02040503050406030204" pitchFamily="18" charset="0"/>
                            </a:rPr>
                            <m:t>𝜎</m:t>
                          </m:r>
                        </m:e>
                        <m:sub>
                          <m:r>
                            <a:rPr>
                              <a:latin typeface="Cambria Math" panose="02040503050406030204" pitchFamily="18" charset="0"/>
                            </a:rPr>
                            <m:t>𝑒</m:t>
                          </m:r>
                          <m:r>
                            <a:rPr>
                              <a:latin typeface="Cambria Math" panose="02040503050406030204" pitchFamily="18" charset="0"/>
                            </a:rPr>
                            <m:t>,</m:t>
                          </m:r>
                          <m:r>
                            <a:rPr>
                              <a:latin typeface="Cambria Math" panose="02040503050406030204" pitchFamily="18" charset="0"/>
                            </a:rPr>
                            <m:t>𝑖</m:t>
                          </m:r>
                        </m:sub>
                        <m:sup>
                          <m:r>
                            <a:rPr>
                              <a:latin typeface="Cambria Math" panose="02040503050406030204" pitchFamily="18" charset="0"/>
                            </a:rPr>
                            <m:t>2</m:t>
                          </m:r>
                        </m:sup>
                      </m:sSubSup>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𝛼</m:t>
                          </m:r>
                        </m:e>
                        <m:sub>
                          <m:r>
                            <a:rPr>
                              <a:latin typeface="Cambria Math" panose="02040503050406030204" pitchFamily="18" charset="0"/>
                            </a:rPr>
                            <m:t>𝑣</m:t>
                          </m:r>
                        </m:sub>
                      </m:sSub>
                      <m:sSup>
                        <m:sSupPr>
                          <m:ctrlPr>
                            <a:rPr i="1">
                              <a:latin typeface="Cambria Math" panose="02040503050406030204" pitchFamily="18" charset="0"/>
                            </a:rPr>
                          </m:ctrlPr>
                        </m:sSupPr>
                        <m:e>
                          <m:sSub>
                            <m:sSubPr>
                              <m:ctrlPr>
                                <a:rPr i="1">
                                  <a:latin typeface="Cambria Math" panose="02040503050406030204" pitchFamily="18" charset="0"/>
                                </a:rPr>
                              </m:ctrlPr>
                            </m:sSubPr>
                            <m:e>
                              <m:r>
                                <a:rPr>
                                  <a:latin typeface="Cambria Math" panose="02040503050406030204" pitchFamily="18" charset="0"/>
                                </a:rPr>
                                <m:t>𝑒</m:t>
                              </m:r>
                            </m:e>
                            <m:sub>
                              <m:r>
                                <a:rPr>
                                  <a:latin typeface="Cambria Math" panose="02040503050406030204" pitchFamily="18" charset="0"/>
                                </a:rPr>
                                <m:t>𝑖</m:t>
                              </m:r>
                            </m:sub>
                          </m:sSub>
                        </m:e>
                        <m:sup>
                          <m:r>
                            <a:rPr>
                              <a:latin typeface="Cambria Math" panose="02040503050406030204" pitchFamily="18" charset="0"/>
                            </a:rPr>
                            <m:t>2</m:t>
                          </m:r>
                        </m:sup>
                      </m:sSup>
                      <m:r>
                        <a:rPr>
                          <a:latin typeface="Cambria Math" panose="02040503050406030204" pitchFamily="18" charset="0"/>
                        </a:rPr>
                        <m:t> + (</m:t>
                      </m:r>
                      <m:r>
                        <a:rPr>
                          <a:latin typeface="Cambria Math" panose="02040503050406030204" pitchFamily="18" charset="0"/>
                        </a:rPr>
                        <m:t>1</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𝛼</m:t>
                          </m:r>
                        </m:e>
                        <m:sub>
                          <m:r>
                            <a:rPr>
                              <a:latin typeface="Cambria Math" panose="02040503050406030204" pitchFamily="18" charset="0"/>
                            </a:rPr>
                            <m:t>𝑣</m:t>
                          </m:r>
                        </m:sub>
                      </m:sSub>
                      <m:r>
                        <a:rPr>
                          <a:latin typeface="Cambria Math" panose="02040503050406030204" pitchFamily="18" charset="0"/>
                        </a:rPr>
                        <m:t>)</m:t>
                      </m:r>
                      <m:sSubSup>
                        <m:sSubSupPr>
                          <m:ctrlPr>
                            <a:rPr i="1">
                              <a:latin typeface="Cambria Math" panose="02040503050406030204" pitchFamily="18" charset="0"/>
                            </a:rPr>
                          </m:ctrlPr>
                        </m:sSubSupPr>
                        <m:e>
                          <m:r>
                            <a:rPr>
                              <a:latin typeface="Cambria Math" panose="02040503050406030204" pitchFamily="18" charset="0"/>
                            </a:rPr>
                            <m:t>𝜎</m:t>
                          </m:r>
                        </m:e>
                        <m:sub>
                          <m:r>
                            <a:rPr>
                              <a:latin typeface="Cambria Math" panose="02040503050406030204" pitchFamily="18" charset="0"/>
                            </a:rPr>
                            <m:t>𝑒</m:t>
                          </m:r>
                          <m:r>
                            <a:rPr>
                              <a:latin typeface="Cambria Math" panose="02040503050406030204" pitchFamily="18" charset="0"/>
                            </a:rPr>
                            <m:t>,</m:t>
                          </m:r>
                          <m:r>
                            <a:rPr>
                              <a:latin typeface="Cambria Math" panose="02040503050406030204" pitchFamily="18" charset="0"/>
                            </a:rPr>
                            <m:t>𝑖</m:t>
                          </m:r>
                          <m:r>
                            <a:rPr>
                              <a:latin typeface="Cambria Math" panose="02040503050406030204" pitchFamily="18" charset="0"/>
                            </a:rPr>
                            <m:t>−</m:t>
                          </m:r>
                          <m:r>
                            <a:rPr>
                              <a:latin typeface="Cambria Math" panose="02040503050406030204" pitchFamily="18" charset="0"/>
                            </a:rPr>
                            <m:t>1</m:t>
                          </m:r>
                        </m:sub>
                        <m:sup>
                          <m:r>
                            <a:rPr>
                              <a:latin typeface="Cambria Math" panose="02040503050406030204" pitchFamily="18" charset="0"/>
                            </a:rPr>
                            <m:t>2</m:t>
                          </m:r>
                        </m:sup>
                      </m:sSubSup>
                    </m:oMath>
                  </m:oMathPara>
                </a14:m>
                <a:endParaRPr lang="en-GB" sz="1800">
                  <a:solidFill>
                    <a:srgbClr val="14233B"/>
                  </a:solidFill>
                </a:endParaRPr>
              </a:p>
            </p:txBody>
          </p:sp>
        </mc:Choice>
        <mc:Fallback>
          <p:sp>
            <p:nvSpPr>
              <p:cNvPr id="28" name="EDITABLE OfficeMath | Variance EWMA recurrence"/>
              <p:cNvSpPr txBox="1">
                <a:spLocks noRot="1" noChangeAspect="1" noMove="1" noResize="1" noEditPoints="1" noAdjustHandles="1" noChangeArrowheads="1" noChangeShapeType="1" noTextEdit="1"/>
              </p:cNvSpPr>
              <p:nvPr/>
            </p:nvSpPr>
            <p:spPr>
              <a:xfrm>
                <a:off x="1028700" y="6551676"/>
                <a:ext cx="5514975" cy="640080"/>
              </a:xfrm>
              <a:prstGeom prst="rect">
                <a:avLst/>
              </a:prstGeom>
              <a:blipFill>
                <a:blip r:embed="rId5"/>
                <a:stretch>
                  <a:fillRect/>
                </a:stretch>
              </a:blipFill>
            </p:spPr>
            <p:txBody>
              <a:bodyPr/>
              <a:lstStyle/>
              <a:p>
                <a:r>
                  <a:rPr lang="en-GB">
                    <a:noFill/>
                  </a:rPr>
                  <a:t> </a:t>
                </a:r>
              </a:p>
            </p:txBody>
          </p:sp>
        </mc:Fallback>
      </mc:AlternateContent>
      <p:sp>
        <p:nvSpPr>
          <p:cNvPr id="16" name="TextBox 16"/>
          <p:cNvSpPr txBox="1"/>
          <p:nvPr/>
        </p:nvSpPr>
        <p:spPr>
          <a:xfrm>
            <a:off x="1028700" y="7707630"/>
            <a:ext cx="8435340" cy="1024890"/>
          </a:xfrm>
          <a:prstGeom prst="rect">
            <a:avLst/>
          </a:prstGeom>
        </p:spPr>
        <p:txBody>
          <a:bodyPr lIns="0" tIns="0" rIns="0" bIns="0" rtlCol="0" anchor="t">
            <a:spAutoFit/>
          </a:bodyPr>
          <a:lstStyle/>
          <a:p>
            <a:pPr algn="l">
              <a:lnSpc>
                <a:spcPts val="2520"/>
              </a:lnSpc>
            </a:pPr>
            <a:r>
              <a:rPr lang="en-US" sz="2100">
                <a:solidFill>
                  <a:srgbClr val="9CB0C3"/>
                </a:solidFill>
                <a:latin typeface="DejaVu Sans Light"/>
                <a:ea typeface="DejaVu Sans Light"/>
                <a:cs typeface="DejaVu Sans Light"/>
                <a:sym typeface="DejaVu Sans Light"/>
              </a:rPr>
              <a:t>Check current limits first; update state and variance afterwards.</a:t>
            </a:r>
          </a:p>
          <a:p>
            <a:pPr algn="l">
              <a:lnSpc>
                <a:spcPts val="2520"/>
              </a:lnSpc>
            </a:pPr>
            <a:r>
              <a:rPr lang="en-US" sz="2100">
                <a:solidFill>
                  <a:srgbClr val="9CB0C3"/>
                </a:solidFill>
                <a:latin typeface="DejaVu Sans Light"/>
                <a:ea typeface="DejaVu Sans Light"/>
                <a:cs typeface="DejaVu Sans Light"/>
                <a:sym typeface="DejaVu Sans Light"/>
              </a:rPr>
              <a:t>αᵥ is the variance-smoothing weight (paper: 0.05).</a:t>
            </a:r>
          </a:p>
        </p:txBody>
      </p:sp>
      <p:sp>
        <p:nvSpPr>
          <p:cNvPr id="17" name="TextBox 17"/>
          <p:cNvSpPr txBox="1"/>
          <p:nvPr/>
        </p:nvSpPr>
        <p:spPr>
          <a:xfrm>
            <a:off x="10149840" y="2308860"/>
            <a:ext cx="7269480" cy="457200"/>
          </a:xfrm>
          <a:prstGeom prst="rect">
            <a:avLst/>
          </a:prstGeom>
        </p:spPr>
        <p:txBody>
          <a:bodyPr lIns="0" tIns="0" rIns="0" bIns="0" rtlCol="0" anchor="t">
            <a:spAutoFit/>
          </a:bodyPr>
          <a:lstStyle/>
          <a:p>
            <a:pPr algn="l">
              <a:lnSpc>
                <a:spcPts val="3779"/>
              </a:lnSpc>
            </a:pPr>
            <a:r>
              <a:rPr lang="en-US" sz="3150" b="1">
                <a:solidFill>
                  <a:srgbClr val="F4C04B"/>
                </a:solidFill>
                <a:latin typeface="DejaVu Sans Bold"/>
                <a:ea typeface="DejaVu Sans Bold"/>
                <a:cs typeface="DejaVu Sans Bold"/>
                <a:sym typeface="DejaVu Sans Bold"/>
              </a:rPr>
              <a:t>Stage II: Hotelling validation</a:t>
            </a:r>
          </a:p>
        </p:txBody>
      </p:sp>
      <p:sp>
        <p:nvSpPr>
          <p:cNvPr id="18" name="TextBox 18"/>
          <p:cNvSpPr txBox="1"/>
          <p:nvPr/>
        </p:nvSpPr>
        <p:spPr>
          <a:xfrm>
            <a:off x="10149840" y="3112770"/>
            <a:ext cx="7269480" cy="476250"/>
          </a:xfrm>
          <a:prstGeom prst="rect">
            <a:avLst/>
          </a:prstGeom>
        </p:spPr>
        <p:txBody>
          <a:bodyPr lIns="0" tIns="0" rIns="0" bIns="0" rtlCol="0" anchor="t">
            <a:spAutoFit/>
          </a:bodyPr>
          <a:lstStyle/>
          <a:p>
            <a:pPr algn="l">
              <a:lnSpc>
                <a:spcPts val="2700"/>
              </a:lnSpc>
            </a:pPr>
            <a:r>
              <a:rPr lang="en-US" sz="2250">
                <a:solidFill>
                  <a:srgbClr val="F4C04B"/>
                </a:solidFill>
                <a:latin typeface="DejaVu Sans Light"/>
                <a:ea typeface="DejaVu Sans Light"/>
                <a:cs typeface="DejaVu Sans Light"/>
                <a:sym typeface="DejaVu Sans Light"/>
              </a:rPr>
              <a:t>Repository pooled two-sample mode</a:t>
            </a:r>
          </a:p>
        </p:txBody>
      </p:sp>
      <mc:AlternateContent xmlns:mc="http://schemas.openxmlformats.org/markup-compatibility/2006">
        <mc:Choice xmlns:a14="http://schemas.microsoft.com/office/drawing/2010/main" Requires="a14">
          <p:sp>
            <p:nvSpPr>
              <p:cNvPr id="29" name="EDITABLE OfficeMath | Two-sample Hotelling T squared"/>
              <p:cNvSpPr txBox="1"/>
              <p:nvPr/>
            </p:nvSpPr>
            <p:spPr>
              <a:xfrm>
                <a:off x="10081260" y="3980497"/>
                <a:ext cx="6623685" cy="680085"/>
              </a:xfrm>
              <a:prstGeom prst="rect">
                <a:avLst/>
              </a:prstGeom>
              <a:solidFill>
                <a:srgbClr val="DDEBF3"/>
              </a:solid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𝑇</m:t>
                          </m:r>
                        </m:e>
                        <m:sup>
                          <m:r>
                            <a:rPr>
                              <a:latin typeface="Cambria Math" panose="02040503050406030204" pitchFamily="18" charset="0"/>
                            </a:rPr>
                            <m:t>2</m:t>
                          </m:r>
                        </m:sup>
                      </m:sSup>
                      <m:r>
                        <a:rPr>
                          <a:latin typeface="Cambria Math" panose="02040503050406030204" pitchFamily="18" charset="0"/>
                        </a:rPr>
                        <m:t> = </m:t>
                      </m:r>
                      <m:f>
                        <m:fPr>
                          <m:ctrlPr>
                            <a:rPr i="1">
                              <a:latin typeface="Cambria Math" panose="02040503050406030204" pitchFamily="18" charset="0"/>
                            </a:rPr>
                          </m:ctrlPr>
                        </m:fPr>
                        <m:num>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1</m:t>
                              </m:r>
                            </m:sub>
                          </m:sSub>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2</m:t>
                              </m:r>
                            </m:sub>
                          </m:sSub>
                        </m:num>
                        <m:den>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2</m:t>
                              </m:r>
                            </m:sub>
                          </m:sSub>
                        </m:den>
                      </m:f>
                      <m:r>
                        <a:rPr>
                          <a:latin typeface="Cambria Math" panose="02040503050406030204" pitchFamily="18" charset="0"/>
                        </a:rPr>
                        <m:t>(</m:t>
                      </m:r>
                      <m:acc>
                        <m:accPr>
                          <m:chr m:val="̄"/>
                          <m:ctrlPr>
                            <a:rPr i="1">
                              <a:latin typeface="Cambria Math" panose="02040503050406030204" pitchFamily="18" charset="0"/>
                            </a:rPr>
                          </m:ctrlPr>
                        </m:accPr>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e>
                      </m:acc>
                      <m:r>
                        <a:rPr>
                          <a:latin typeface="Cambria Math" panose="02040503050406030204" pitchFamily="18" charset="0"/>
                        </a:rPr>
                        <m:t> − </m:t>
                      </m:r>
                      <m:acc>
                        <m:accPr>
                          <m:chr m:val="̄"/>
                          <m:ctrlPr>
                            <a:rPr i="1">
                              <a:latin typeface="Cambria Math" panose="02040503050406030204" pitchFamily="18" charset="0"/>
                            </a:rPr>
                          </m:ctrlPr>
                        </m:accPr>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e>
                      </m:acc>
                      <m:sSup>
                        <m:sSupPr>
                          <m:ctrlPr>
                            <a:rPr i="1">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𝑇</m:t>
                          </m:r>
                        </m:sup>
                      </m:sSup>
                      <m:sSup>
                        <m:sSupPr>
                          <m:ctrlPr>
                            <a:rPr i="1">
                              <a:latin typeface="Cambria Math" panose="02040503050406030204" pitchFamily="18" charset="0"/>
                            </a:rPr>
                          </m:ctrlPr>
                        </m:sSupPr>
                        <m:e>
                          <m:sSub>
                            <m:sSubPr>
                              <m:ctrlPr>
                                <a:rPr i="1">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𝑝</m:t>
                              </m:r>
                            </m:sub>
                          </m:sSub>
                        </m:e>
                        <m:sup>
                          <m:r>
                            <a:rPr>
                              <a:latin typeface="Cambria Math" panose="02040503050406030204" pitchFamily="18" charset="0"/>
                            </a:rPr>
                            <m:t>−</m:t>
                          </m:r>
                          <m:r>
                            <a:rPr>
                              <a:latin typeface="Cambria Math" panose="02040503050406030204" pitchFamily="18" charset="0"/>
                            </a:rPr>
                            <m:t>1</m:t>
                          </m:r>
                        </m:sup>
                      </m:sSup>
                      <m:r>
                        <a:rPr>
                          <a:latin typeface="Cambria Math" panose="02040503050406030204" pitchFamily="18" charset="0"/>
                        </a:rPr>
                        <m:t>(</m:t>
                      </m:r>
                      <m:acc>
                        <m:accPr>
                          <m:chr m:val="̄"/>
                          <m:ctrlPr>
                            <a:rPr i="1">
                              <a:latin typeface="Cambria Math" panose="02040503050406030204" pitchFamily="18" charset="0"/>
                            </a:rPr>
                          </m:ctrlPr>
                        </m:accPr>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e>
                      </m:acc>
                      <m:r>
                        <a:rPr>
                          <a:latin typeface="Cambria Math" panose="02040503050406030204" pitchFamily="18" charset="0"/>
                        </a:rPr>
                        <m:t> − </m:t>
                      </m:r>
                      <m:acc>
                        <m:accPr>
                          <m:chr m:val="̄"/>
                          <m:ctrlPr>
                            <a:rPr i="1">
                              <a:latin typeface="Cambria Math" panose="02040503050406030204" pitchFamily="18" charset="0"/>
                            </a:rPr>
                          </m:ctrlPr>
                        </m:accPr>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e>
                      </m:acc>
                      <m:r>
                        <a:rPr>
                          <a:latin typeface="Cambria Math" panose="02040503050406030204" pitchFamily="18" charset="0"/>
                        </a:rPr>
                        <m:t>)</m:t>
                      </m:r>
                    </m:oMath>
                  </m:oMathPara>
                </a14:m>
                <a:endParaRPr lang="en-GB" sz="2000">
                  <a:solidFill>
                    <a:srgbClr val="14233B"/>
                  </a:solidFill>
                </a:endParaRPr>
              </a:p>
            </p:txBody>
          </p:sp>
        </mc:Choice>
        <mc:Fallback>
          <p:sp>
            <p:nvSpPr>
              <p:cNvPr id="29" name="EDITABLE OfficeMath | Two-sample Hotelling T squared"/>
              <p:cNvSpPr txBox="1">
                <a:spLocks noRot="1" noChangeAspect="1" noMove="1" noResize="1" noEditPoints="1" noAdjustHandles="1" noChangeArrowheads="1" noChangeShapeType="1" noTextEdit="1"/>
              </p:cNvSpPr>
              <p:nvPr/>
            </p:nvSpPr>
            <p:spPr>
              <a:xfrm>
                <a:off x="10081260" y="3980497"/>
                <a:ext cx="6623685" cy="680085"/>
              </a:xfrm>
              <a:prstGeom prst="rect">
                <a:avLst/>
              </a:prstGeom>
              <a:blipFill>
                <a:blip r:embed="rId6"/>
                <a:stretch>
                  <a:fillRect/>
                </a:stretch>
              </a:blipFill>
            </p:spPr>
            <p:txBody>
              <a:bodyPr/>
              <a:lstStyle/>
              <a:p>
                <a:r>
                  <a:rPr lang="en-GB">
                    <a:noFill/>
                  </a:rPr>
                  <a:t> </a:t>
                </a:r>
              </a:p>
            </p:txBody>
          </p:sp>
        </mc:Fallback>
      </mc:AlternateContent>
      <p:sp>
        <p:nvSpPr>
          <p:cNvPr id="21" name="TextBox 21"/>
          <p:cNvSpPr txBox="1"/>
          <p:nvPr/>
        </p:nvSpPr>
        <p:spPr>
          <a:xfrm>
            <a:off x="10149840" y="5101590"/>
            <a:ext cx="7269480" cy="476250"/>
          </a:xfrm>
          <a:prstGeom prst="rect">
            <a:avLst/>
          </a:prstGeom>
        </p:spPr>
        <p:txBody>
          <a:bodyPr lIns="0" tIns="0" rIns="0" bIns="0" rtlCol="0" anchor="t">
            <a:spAutoFit/>
          </a:bodyPr>
          <a:lstStyle/>
          <a:p>
            <a:pPr algn="l">
              <a:lnSpc>
                <a:spcPts val="2700"/>
              </a:lnSpc>
            </a:pPr>
            <a:r>
              <a:rPr lang="en-US" sz="2250">
                <a:solidFill>
                  <a:srgbClr val="F4C04B"/>
                </a:solidFill>
                <a:latin typeface="DejaVu Sans Light"/>
                <a:ea typeface="DejaVu Sans Light"/>
                <a:cs typeface="DejaVu Sans Light"/>
                <a:sym typeface="DejaVu Sans Light"/>
              </a:rPr>
              <a:t>Decision and dimensionality condition</a:t>
            </a:r>
          </a:p>
        </p:txBody>
      </p:sp>
      <mc:AlternateContent xmlns:mc="http://schemas.openxmlformats.org/markup-compatibility/2006">
        <mc:Choice xmlns:a14="http://schemas.microsoft.com/office/drawing/2010/main" Requires="a14">
          <p:sp>
            <p:nvSpPr>
              <p:cNvPr id="30" name="EDITABLE OfficeMath | Detection threshold and degrees of freedom"/>
              <p:cNvSpPr txBox="1"/>
              <p:nvPr/>
            </p:nvSpPr>
            <p:spPr>
              <a:xfrm>
                <a:off x="10149840" y="5842444"/>
                <a:ext cx="5657850" cy="508635"/>
              </a:xfrm>
              <a:prstGeom prst="rect">
                <a:avLst/>
              </a:prstGeom>
              <a:solidFill>
                <a:srgbClr val="DDEBF3"/>
              </a:solid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𝑝</m:t>
                      </m:r>
                      <m:r>
                        <a:rPr>
                          <a:latin typeface="Cambria Math" panose="02040503050406030204" pitchFamily="18" charset="0"/>
                        </a:rPr>
                        <m:t> &lt; </m:t>
                      </m:r>
                      <m:sSub>
                        <m:sSubPr>
                          <m:ctrlPr>
                            <a:rPr i="1">
                              <a:latin typeface="Cambria Math" panose="02040503050406030204" pitchFamily="18" charset="0"/>
                            </a:rPr>
                          </m:ctrlPr>
                        </m:sSubPr>
                        <m:e>
                          <m:r>
                            <a:rPr>
                              <a:latin typeface="Cambria Math" panose="02040503050406030204" pitchFamily="18" charset="0"/>
                            </a:rPr>
                            <m:t>𝛼</m:t>
                          </m:r>
                        </m:e>
                        <m:sub>
                          <m:r>
                            <a:rPr>
                              <a:latin typeface="Cambria Math" panose="02040503050406030204" pitchFamily="18" charset="0"/>
                            </a:rPr>
                            <m:t>𝑡𝑒𝑠𝑡</m:t>
                          </m:r>
                        </m:sub>
                      </m:sSub>
                      <m:r>
                        <a:rPr>
                          <a:latin typeface="Cambria Math" panose="02040503050406030204" pitchFamily="18" charset="0"/>
                        </a:rPr>
                        <m:t>,     </m:t>
                      </m:r>
                      <m:r>
                        <a:rPr>
                          <a:latin typeface="Cambria Math" panose="02040503050406030204" pitchFamily="18" charset="0"/>
                        </a:rPr>
                        <m:t>2</m:t>
                      </m:r>
                      <m:r>
                        <a:rPr>
                          <a:latin typeface="Cambria Math" panose="02040503050406030204" pitchFamily="18" charset="0"/>
                        </a:rPr>
                        <m:t>𝐻</m:t>
                      </m:r>
                      <m:r>
                        <a:rPr>
                          <a:latin typeface="Cambria Math" panose="02040503050406030204" pitchFamily="18" charset="0"/>
                        </a:rPr>
                        <m:t> − </m:t>
                      </m:r>
                      <m:r>
                        <a:rPr>
                          <a:latin typeface="Cambria Math" panose="02040503050406030204" pitchFamily="18" charset="0"/>
                        </a:rPr>
                        <m:t>𝑑</m:t>
                      </m:r>
                      <m:r>
                        <a:rPr>
                          <a:latin typeface="Cambria Math" panose="02040503050406030204" pitchFamily="18" charset="0"/>
                        </a:rPr>
                        <m:t> − </m:t>
                      </m:r>
                      <m:r>
                        <a:rPr>
                          <a:latin typeface="Cambria Math" panose="02040503050406030204" pitchFamily="18" charset="0"/>
                        </a:rPr>
                        <m:t>1</m:t>
                      </m:r>
                      <m:r>
                        <a:rPr>
                          <a:latin typeface="Cambria Math" panose="02040503050406030204" pitchFamily="18" charset="0"/>
                        </a:rPr>
                        <m:t> &gt; </m:t>
                      </m:r>
                      <m:r>
                        <a:rPr>
                          <a:latin typeface="Cambria Math" panose="02040503050406030204" pitchFamily="18" charset="0"/>
                        </a:rPr>
                        <m:t>0</m:t>
                      </m:r>
                    </m:oMath>
                  </m:oMathPara>
                </a14:m>
                <a:endParaRPr lang="en-GB" sz="1800">
                  <a:solidFill>
                    <a:srgbClr val="14233B"/>
                  </a:solidFill>
                </a:endParaRPr>
              </a:p>
            </p:txBody>
          </p:sp>
        </mc:Choice>
        <mc:Fallback>
          <p:sp>
            <p:nvSpPr>
              <p:cNvPr id="30" name="EDITABLE OfficeMath | Detection threshold and degrees of freedom"/>
              <p:cNvSpPr txBox="1">
                <a:spLocks noRot="1" noChangeAspect="1" noMove="1" noResize="1" noEditPoints="1" noAdjustHandles="1" noChangeArrowheads="1" noChangeShapeType="1" noTextEdit="1"/>
              </p:cNvSpPr>
              <p:nvPr/>
            </p:nvSpPr>
            <p:spPr>
              <a:xfrm>
                <a:off x="10149840" y="5842444"/>
                <a:ext cx="5657850" cy="508635"/>
              </a:xfrm>
              <a:prstGeom prst="rect">
                <a:avLst/>
              </a:prstGeom>
              <a:blipFill>
                <a:blip r:embed="rId7"/>
                <a:stretch>
                  <a:fillRect/>
                </a:stretch>
              </a:blipFill>
            </p:spPr>
            <p:txBody>
              <a:bodyPr/>
              <a:lstStyle/>
              <a:p>
                <a:r>
                  <a:rPr lang="en-GB">
                    <a:noFill/>
                  </a:rPr>
                  <a:t> </a:t>
                </a:r>
              </a:p>
            </p:txBody>
          </p:sp>
        </mc:Fallback>
      </mc:AlternateContent>
      <p:sp>
        <p:nvSpPr>
          <p:cNvPr id="24" name="TextBox 24"/>
          <p:cNvSpPr txBox="1"/>
          <p:nvPr/>
        </p:nvSpPr>
        <p:spPr>
          <a:xfrm>
            <a:off x="10149840" y="6884670"/>
            <a:ext cx="6926580" cy="1573530"/>
          </a:xfrm>
          <a:prstGeom prst="rect">
            <a:avLst/>
          </a:prstGeom>
        </p:spPr>
        <p:txBody>
          <a:bodyPr lIns="0" tIns="0" rIns="0" bIns="0" rtlCol="0" anchor="t">
            <a:spAutoFit/>
          </a:bodyPr>
          <a:lstStyle/>
          <a:p>
            <a:pPr algn="l">
              <a:lnSpc>
                <a:spcPts val="2520"/>
              </a:lnSpc>
            </a:pPr>
            <a:r>
              <a:rPr lang="en-US" sz="2100">
                <a:solidFill>
                  <a:srgbClr val="9CB0C3"/>
                </a:solidFill>
                <a:latin typeface="DejaVu Sans Light"/>
                <a:ea typeface="DejaVu Sans Light"/>
                <a:cs typeface="DejaVu Sans Light"/>
                <a:sym typeface="DejaVu Sans Light"/>
              </a:rPr>
              <a:t>H: observations per window; d: retained dimensions.</a:t>
            </a:r>
          </a:p>
          <a:p>
            <a:pPr algn="l">
              <a:lnSpc>
                <a:spcPts val="2520"/>
              </a:lnSpc>
            </a:pPr>
            <a:r>
              <a:rPr lang="en-US" sz="2100">
                <a:solidFill>
                  <a:srgbClr val="9CB0C3"/>
                </a:solidFill>
                <a:latin typeface="DejaVu Sans Light"/>
                <a:ea typeface="DejaVu Sans Light"/>
                <a:cs typeface="DejaVu Sans Light"/>
                <a:sym typeface="DejaVu Sans Light"/>
              </a:rPr>
              <a:t>αtest is distinct from variance smoothing.</a:t>
            </a:r>
          </a:p>
          <a:p>
            <a:pPr algn="l">
              <a:lnSpc>
                <a:spcPts val="2520"/>
              </a:lnSpc>
            </a:pPr>
            <a:r>
              <a:rPr lang="en-US" sz="2100">
                <a:solidFill>
                  <a:srgbClr val="9CB0C3"/>
                </a:solidFill>
                <a:latin typeface="DejaVu Sans Light"/>
                <a:ea typeface="DejaVu Sans Light"/>
                <a:cs typeface="DejaVu Sans Light"/>
                <a:sym typeface="DejaVu Sans Light"/>
              </a:rPr>
              <a:t>Confirmation is available after the second window.</a:t>
            </a:r>
          </a:p>
        </p:txBody>
      </p:sp>
      <p:sp>
        <p:nvSpPr>
          <p:cNvPr id="25" name="TextBox 25"/>
          <p:cNvSpPr txBox="1"/>
          <p:nvPr/>
        </p:nvSpPr>
        <p:spPr>
          <a:xfrm>
            <a:off x="1028700" y="8951595"/>
            <a:ext cx="16459200" cy="603885"/>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Chowdhury §II.E.3, Eqs. (3), (5)–(9). Eq. (9) uses separate covariance terms; pooled mode is a repository choice.</a:t>
            </a:r>
          </a:p>
          <a:p>
            <a:pPr algn="l">
              <a:lnSpc>
                <a:spcPts val="1980"/>
              </a:lnSpc>
            </a:pPr>
            <a:r>
              <a:rPr lang="en-US" sz="1650">
                <a:solidFill>
                  <a:srgbClr val="9CB0C3"/>
                </a:solidFill>
                <a:latin typeface="DejaVu Sans Light"/>
                <a:ea typeface="DejaVu Sans Light"/>
                <a:cs typeface="DejaVu Sans Light"/>
                <a:sym typeface="DejaVu Sans Light"/>
              </a:rPr>
              <a:t>Eq. (8) describes the always-update variance mode. The Diethe pilot uses frozen variance.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Two statistics called T² monitor different objects</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A multivariate EWMA chart and a two-sample mean test use different reference structures.</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standard statistical comparison, linked to the existing detector mathematics slide. Calibration assumptions must match the chosen method.</a:t>
            </a:r>
          </a:p>
        </p:txBody>
      </p:sp>
      <mc:AlternateContent xmlns:mc="http://schemas.openxmlformats.org/markup-compatibility/2006">
        <mc:Choice xmlns:a14="http://schemas.microsoft.com/office/drawing/2010/main" Requires="a14">
          <p:sp>
            <p:nvSpPr>
              <p:cNvPr id="12" name="EDITABLE OfficeMath | One-sample online T squared"/>
              <p:cNvSpPr txBox="1"/>
              <p:nvPr/>
            </p:nvSpPr>
            <p:spPr>
              <a:xfrm>
                <a:off x="1234440" y="3497580"/>
                <a:ext cx="6359652" cy="891540"/>
              </a:xfrm>
              <a:prstGeom prst="rect">
                <a:avLst/>
              </a:prstGeom>
              <a:no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sSubSup>
                        <m:sSubSupPr>
                          <m:ctrlPr>
                            <a:rPr>
                              <a:latin typeface="Cambria Math" panose="02040503050406030204" pitchFamily="18" charset="0"/>
                            </a:rPr>
                          </m:ctrlPr>
                        </m:sSubSupPr>
                        <m:e>
                          <m:r>
                            <a:rPr>
                              <a:latin typeface="Cambria Math" panose="02040503050406030204" pitchFamily="18" charset="0"/>
                            </a:rPr>
                            <m:t>𝑇</m:t>
                          </m:r>
                        </m:e>
                        <m:sub>
                          <m:r>
                            <a:rPr>
                              <a:latin typeface="Cambria Math" panose="02040503050406030204" pitchFamily="18" charset="0"/>
                            </a:rPr>
                            <m:t>𝑡</m:t>
                          </m:r>
                        </m:sub>
                        <m:sup>
                          <m:r>
                            <a:rPr>
                              <a:latin typeface="Cambria Math" panose="02040503050406030204" pitchFamily="18" charset="0"/>
                            </a:rPr>
                            <m:t>2</m:t>
                          </m:r>
                        </m:sup>
                      </m:sSubSup>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𝑧</m:t>
                          </m:r>
                        </m:e>
                        <m:sub>
                          <m:r>
                            <a:rPr>
                              <a:latin typeface="Cambria Math" panose="02040503050406030204" pitchFamily="18" charset="0"/>
                            </a:rPr>
                            <m:t>𝑡</m:t>
                          </m:r>
                        </m:sub>
                      </m:sSub>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0</m:t>
                          </m:r>
                        </m:sub>
                      </m:sSub>
                      <m:sSup>
                        <m:sSupPr>
                          <m:ctrlPr>
                            <a:rPr i="1">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𝑇</m:t>
                          </m:r>
                        </m:sup>
                      </m:sSup>
                      <m:sSup>
                        <m:sSupPr>
                          <m:ctrlPr>
                            <a:rPr i="1">
                              <a:latin typeface="Cambria Math" panose="02040503050406030204" pitchFamily="18" charset="0"/>
                            </a:rPr>
                          </m:ctrlPr>
                        </m:sSupPr>
                        <m:e>
                          <m:sSub>
                            <m:sSubPr>
                              <m:ctrlPr>
                                <a:rPr i="1">
                                  <a:latin typeface="Cambria Math" panose="02040503050406030204" pitchFamily="18" charset="0"/>
                                </a:rPr>
                              </m:ctrlPr>
                            </m:sSubPr>
                            <m:e>
                              <m:r>
                                <a:rPr>
                                  <a:latin typeface="Cambria Math" panose="02040503050406030204" pitchFamily="18" charset="0"/>
                                </a:rPr>
                                <m:t>𝛴</m:t>
                              </m:r>
                            </m:e>
                            <m:sub>
                              <m:r>
                                <a:rPr>
                                  <a:latin typeface="Cambria Math" panose="02040503050406030204" pitchFamily="18" charset="0"/>
                                </a:rPr>
                                <m:t>𝑧</m:t>
                              </m:r>
                              <m:r>
                                <a:rPr>
                                  <a:latin typeface="Cambria Math" panose="02040503050406030204" pitchFamily="18" charset="0"/>
                                </a:rPr>
                                <m:t>,</m:t>
                              </m:r>
                              <m:r>
                                <a:rPr>
                                  <a:latin typeface="Cambria Math" panose="02040503050406030204" pitchFamily="18" charset="0"/>
                                </a:rPr>
                                <m:t>𝑡</m:t>
                              </m:r>
                            </m:sub>
                          </m:sSub>
                        </m:e>
                        <m:sup>
                          <m:r>
                            <a:rPr>
                              <a:latin typeface="Cambria Math" panose="02040503050406030204" pitchFamily="18" charset="0"/>
                            </a:rPr>
                            <m:t>−</m:t>
                          </m:r>
                          <m:r>
                            <a:rPr>
                              <a:latin typeface="Cambria Math" panose="02040503050406030204" pitchFamily="18" charset="0"/>
                            </a:rPr>
                            <m:t>1</m:t>
                          </m:r>
                        </m:sup>
                      </m:sSup>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𝑧</m:t>
                          </m:r>
                        </m:e>
                        <m:sub>
                          <m:r>
                            <a:rPr>
                              <a:latin typeface="Cambria Math" panose="02040503050406030204" pitchFamily="18" charset="0"/>
                            </a:rPr>
                            <m:t>𝑡</m:t>
                          </m:r>
                        </m:sub>
                      </m:sSub>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𝜇</m:t>
                          </m:r>
                        </m:e>
                        <m:sub>
                          <m:r>
                            <a:rPr>
                              <a:latin typeface="Cambria Math" panose="02040503050406030204" pitchFamily="18" charset="0"/>
                            </a:rPr>
                            <m:t>0</m:t>
                          </m:r>
                        </m:sub>
                      </m:sSub>
                      <m:r>
                        <a:rPr>
                          <a:latin typeface="Cambria Math" panose="02040503050406030204" pitchFamily="18" charset="0"/>
                        </a:rPr>
                        <m:t>)</m:t>
                      </m:r>
                    </m:oMath>
                  </m:oMathPara>
                </a14:m>
                <a:endParaRPr lang="en-GB" sz="2600">
                  <a:solidFill>
                    <a:srgbClr val="14233B"/>
                  </a:solidFill>
                </a:endParaRPr>
              </a:p>
            </p:txBody>
          </p:sp>
        </mc:Choice>
        <mc:Fallback>
          <p:sp>
            <p:nvSpPr>
              <p:cNvPr id="12" name="EDITABLE OfficeMath | One-sample online T squared"/>
              <p:cNvSpPr txBox="1">
                <a:spLocks noRot="1" noChangeAspect="1" noMove="1" noResize="1" noEditPoints="1" noAdjustHandles="1" noChangeArrowheads="1" noChangeShapeType="1" noTextEdit="1"/>
              </p:cNvSpPr>
              <p:nvPr/>
            </p:nvSpPr>
            <p:spPr>
              <a:xfrm>
                <a:off x="1234440" y="3497580"/>
                <a:ext cx="6359652" cy="891540"/>
              </a:xfrm>
              <a:prstGeom prst="rect">
                <a:avLst/>
              </a:prstGeom>
              <a:blipFill>
                <a:blip r:embed="rId3"/>
                <a:stretch>
                  <a:fillRect t="-685"/>
                </a:stretch>
              </a:blipFill>
            </p:spPr>
            <p:txBody>
              <a:bodyPr/>
              <a:lstStyle/>
              <a:p>
                <a:r>
                  <a:rPr lang="en-GB">
                    <a:noFill/>
                  </a:rPr>
                  <a:t> </a:t>
                </a:r>
              </a:p>
            </p:txBody>
          </p:sp>
        </mc:Fallback>
      </mc:AlternateContent>
      <p:sp>
        <p:nvSpPr>
          <p:cNvPr id="8" name="TextBox 8"/>
          <p:cNvSpPr txBox="1"/>
          <p:nvPr/>
        </p:nvSpPr>
        <p:spPr>
          <a:xfrm>
            <a:off x="1325880" y="4640580"/>
            <a:ext cx="15590520" cy="93726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Multivariate EWMA: compare a smoothed vector with a reference mean, using the covariance of that smoothed vector.</a:t>
            </a:r>
          </a:p>
        </p:txBody>
      </p:sp>
      <mc:AlternateContent xmlns:mc="http://schemas.openxmlformats.org/markup-compatibility/2006">
        <mc:Choice xmlns:a14="http://schemas.microsoft.com/office/drawing/2010/main" Requires="a14">
          <p:sp>
            <p:nvSpPr>
              <p:cNvPr id="13" name="EDITABLE OfficeMath | Pooled two-sample Hotelling"/>
              <p:cNvSpPr txBox="1"/>
              <p:nvPr/>
            </p:nvSpPr>
            <p:spPr>
              <a:xfrm>
                <a:off x="1234440" y="6035040"/>
                <a:ext cx="7874470" cy="960120"/>
              </a:xfrm>
              <a:prstGeom prst="rect">
                <a:avLst/>
              </a:prstGeom>
              <a:no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𝑇</m:t>
                          </m:r>
                        </m:e>
                        <m:sup>
                          <m:r>
                            <a:rPr>
                              <a:latin typeface="Cambria Math" panose="02040503050406030204" pitchFamily="18" charset="0"/>
                            </a:rPr>
                            <m:t>2</m:t>
                          </m:r>
                        </m:sup>
                      </m:sSup>
                      <m:r>
                        <a:rPr>
                          <a:latin typeface="Cambria Math" panose="02040503050406030204" pitchFamily="18" charset="0"/>
                        </a:rPr>
                        <m:t> = </m:t>
                      </m:r>
                      <m:f>
                        <m:fPr>
                          <m:ctrlPr>
                            <a:rPr i="1">
                              <a:latin typeface="Cambria Math" panose="02040503050406030204" pitchFamily="18" charset="0"/>
                            </a:rPr>
                          </m:ctrlPr>
                        </m:fPr>
                        <m:num>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1</m:t>
                              </m:r>
                            </m:sub>
                          </m:sSub>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2</m:t>
                              </m:r>
                            </m:sub>
                          </m:sSub>
                        </m:num>
                        <m:den>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1</m:t>
                              </m:r>
                            </m:sub>
                          </m:sSub>
                          <m:r>
                            <a:rPr>
                              <a:latin typeface="Cambria Math" panose="02040503050406030204" pitchFamily="18" charset="0"/>
                            </a:rPr>
                            <m:t> + </m:t>
                          </m:r>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2</m:t>
                              </m:r>
                            </m:sub>
                          </m:sSub>
                        </m:den>
                      </m:f>
                      <m:r>
                        <a:rPr>
                          <a:latin typeface="Cambria Math" panose="02040503050406030204" pitchFamily="18" charset="0"/>
                        </a:rPr>
                        <m:t>(</m:t>
                      </m:r>
                      <m:acc>
                        <m:accPr>
                          <m:chr m:val="̄"/>
                          <m:ctrlPr>
                            <a:rPr i="1">
                              <a:latin typeface="Cambria Math" panose="02040503050406030204" pitchFamily="18" charset="0"/>
                            </a:rPr>
                          </m:ctrlPr>
                        </m:accPr>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e>
                      </m:acc>
                      <m:r>
                        <a:rPr>
                          <a:latin typeface="Cambria Math" panose="02040503050406030204" pitchFamily="18" charset="0"/>
                        </a:rPr>
                        <m:t> − </m:t>
                      </m:r>
                      <m:acc>
                        <m:accPr>
                          <m:chr m:val="̄"/>
                          <m:ctrlPr>
                            <a:rPr i="1">
                              <a:latin typeface="Cambria Math" panose="02040503050406030204" pitchFamily="18" charset="0"/>
                            </a:rPr>
                          </m:ctrlPr>
                        </m:accPr>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e>
                      </m:acc>
                      <m:sSup>
                        <m:sSupPr>
                          <m:ctrlPr>
                            <a:rPr i="1">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𝑇</m:t>
                          </m:r>
                        </m:sup>
                      </m:sSup>
                      <m:sSup>
                        <m:sSupPr>
                          <m:ctrlPr>
                            <a:rPr i="1">
                              <a:latin typeface="Cambria Math" panose="02040503050406030204" pitchFamily="18" charset="0"/>
                            </a:rPr>
                          </m:ctrlPr>
                        </m:sSupPr>
                        <m:e>
                          <m:sSub>
                            <m:sSubPr>
                              <m:ctrlPr>
                                <a:rPr i="1">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𝑝</m:t>
                              </m:r>
                            </m:sub>
                          </m:sSub>
                        </m:e>
                        <m:sup>
                          <m:r>
                            <a:rPr>
                              <a:latin typeface="Cambria Math" panose="02040503050406030204" pitchFamily="18" charset="0"/>
                            </a:rPr>
                            <m:t>−</m:t>
                          </m:r>
                          <m:r>
                            <a:rPr>
                              <a:latin typeface="Cambria Math" panose="02040503050406030204" pitchFamily="18" charset="0"/>
                            </a:rPr>
                            <m:t>1</m:t>
                          </m:r>
                        </m:sup>
                      </m:sSup>
                      <m:r>
                        <a:rPr>
                          <a:latin typeface="Cambria Math" panose="02040503050406030204" pitchFamily="18" charset="0"/>
                        </a:rPr>
                        <m:t>(</m:t>
                      </m:r>
                      <m:acc>
                        <m:accPr>
                          <m:chr m:val="̄"/>
                          <m:ctrlPr>
                            <a:rPr i="1">
                              <a:latin typeface="Cambria Math" panose="02040503050406030204" pitchFamily="18" charset="0"/>
                            </a:rPr>
                          </m:ctrlPr>
                        </m:accPr>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e>
                      </m:acc>
                      <m:r>
                        <a:rPr>
                          <a:latin typeface="Cambria Math" panose="02040503050406030204" pitchFamily="18" charset="0"/>
                        </a:rPr>
                        <m:t> − </m:t>
                      </m:r>
                      <m:acc>
                        <m:accPr>
                          <m:chr m:val="̄"/>
                          <m:ctrlPr>
                            <a:rPr i="1">
                              <a:latin typeface="Cambria Math" panose="02040503050406030204" pitchFamily="18" charset="0"/>
                            </a:rPr>
                          </m:ctrlPr>
                        </m:accPr>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e>
                      </m:acc>
                      <m:r>
                        <a:rPr>
                          <a:latin typeface="Cambria Math" panose="02040503050406030204" pitchFamily="18" charset="0"/>
                        </a:rPr>
                        <m:t>)</m:t>
                      </m:r>
                    </m:oMath>
                  </m:oMathPara>
                </a14:m>
                <a:endParaRPr lang="en-GB" sz="2800">
                  <a:solidFill>
                    <a:srgbClr val="14233B"/>
                  </a:solidFill>
                </a:endParaRPr>
              </a:p>
            </p:txBody>
          </p:sp>
        </mc:Choice>
        <mc:Fallback>
          <p:sp>
            <p:nvSpPr>
              <p:cNvPr id="13" name="EDITABLE OfficeMath | Pooled two-sample Hotelling"/>
              <p:cNvSpPr txBox="1">
                <a:spLocks noRot="1" noChangeAspect="1" noMove="1" noResize="1" noEditPoints="1" noAdjustHandles="1" noChangeArrowheads="1" noChangeShapeType="1" noTextEdit="1"/>
              </p:cNvSpPr>
              <p:nvPr/>
            </p:nvSpPr>
            <p:spPr>
              <a:xfrm>
                <a:off x="1234440" y="6035040"/>
                <a:ext cx="7874470" cy="960120"/>
              </a:xfrm>
              <a:prstGeom prst="rect">
                <a:avLst/>
              </a:prstGeom>
              <a:blipFill>
                <a:blip r:embed="rId4"/>
                <a:stretch>
                  <a:fillRect/>
                </a:stretch>
              </a:blipFill>
            </p:spPr>
            <p:txBody>
              <a:bodyPr/>
              <a:lstStyle/>
              <a:p>
                <a:r>
                  <a:rPr lang="en-GB">
                    <a:noFill/>
                  </a:rPr>
                  <a:t> </a:t>
                </a:r>
              </a:p>
            </p:txBody>
          </p:sp>
        </mc:Fallback>
      </mc:AlternateContent>
      <p:sp>
        <p:nvSpPr>
          <p:cNvPr id="11" name="TextBox 11"/>
          <p:cNvSpPr txBox="1"/>
          <p:nvPr/>
        </p:nvSpPr>
        <p:spPr>
          <a:xfrm>
            <a:off x="1325880" y="7315200"/>
            <a:ext cx="15590520" cy="128016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Pooled two-sample Hotelling: compare two window means. Sₚ is pooled within-window covariance. This mode assumes a common covariance and appropriate sampling conditions.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404803"/>
            <a:ext cx="16276320" cy="300971"/>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a:t>
            </a:r>
          </a:p>
        </p:txBody>
      </p:sp>
      <p:sp>
        <p:nvSpPr>
          <p:cNvPr id="3" name="TextBox 3"/>
          <p:cNvSpPr txBox="1"/>
          <p:nvPr/>
        </p:nvSpPr>
        <p:spPr>
          <a:xfrm>
            <a:off x="1051560" y="937536"/>
            <a:ext cx="16276320" cy="638175"/>
          </a:xfrm>
          <a:prstGeom prst="rect">
            <a:avLst/>
          </a:prstGeom>
        </p:spPr>
        <p:txBody>
          <a:bodyPr lIns="0" tIns="0" rIns="0" bIns="0" rtlCol="0" anchor="t">
            <a:spAutoFit/>
          </a:bodyPr>
          <a:lstStyle/>
          <a:p>
            <a:pPr marL="0" lvl="0" indent="0" algn="l">
              <a:lnSpc>
                <a:spcPts val="5040"/>
              </a:lnSpc>
              <a:spcBef>
                <a:spcPct val="0"/>
              </a:spcBef>
            </a:pPr>
            <a:r>
              <a:rPr lang="en-US" sz="4200" b="1" u="none" strike="noStrike">
                <a:solidFill>
                  <a:srgbClr val="12233B"/>
                </a:solidFill>
                <a:latin typeface="Aptos Bold"/>
                <a:ea typeface="Aptos Bold"/>
                <a:cs typeface="Aptos Bold"/>
                <a:sym typeface="Aptos Bold"/>
              </a:rPr>
              <a:t>Which structural changes do statistical tests target?</a:t>
            </a:r>
          </a:p>
        </p:txBody>
      </p:sp>
      <p:sp>
        <p:nvSpPr>
          <p:cNvPr id="4" name="TextBox 4"/>
          <p:cNvSpPr txBox="1"/>
          <p:nvPr/>
        </p:nvSpPr>
        <p:spPr>
          <a:xfrm>
            <a:off x="1051560" y="1737503"/>
            <a:ext cx="16276320" cy="323850"/>
          </a:xfrm>
          <a:prstGeom prst="rect">
            <a:avLst/>
          </a:prstGeom>
        </p:spPr>
        <p:txBody>
          <a:bodyPr lIns="0" tIns="0" rIns="0" bIns="0" rtlCol="0" anchor="t">
            <a:spAutoFit/>
          </a:bodyPr>
          <a:lstStyle/>
          <a:p>
            <a:pPr marL="0" lvl="0" indent="0" algn="l">
              <a:lnSpc>
                <a:spcPts val="2520"/>
              </a:lnSpc>
              <a:spcBef>
                <a:spcPct val="0"/>
              </a:spcBef>
            </a:pPr>
            <a:r>
              <a:rPr lang="en-US" sz="2100" u="none" strike="noStrike">
                <a:solidFill>
                  <a:srgbClr val="506580"/>
                </a:solidFill>
                <a:latin typeface="Aptos"/>
                <a:ea typeface="Aptos"/>
                <a:cs typeface="Aptos"/>
                <a:sym typeface="Aptos"/>
              </a:rPr>
              <a:t>Conceptual comparison: mean, variance and temporal dependence require different statistical tests.</a:t>
            </a:r>
          </a:p>
        </p:txBody>
      </p:sp>
      <p:sp>
        <p:nvSpPr>
          <p:cNvPr id="5" name="TextBox 5"/>
          <p:cNvSpPr txBox="1"/>
          <p:nvPr/>
        </p:nvSpPr>
        <p:spPr>
          <a:xfrm>
            <a:off x="1034167" y="9468545"/>
            <a:ext cx="16276320" cy="228600"/>
          </a:xfrm>
          <a:prstGeom prst="rect">
            <a:avLst/>
          </a:prstGeom>
        </p:spPr>
        <p:txBody>
          <a:bodyPr lIns="0" tIns="0" rIns="0" bIns="0" rtlCol="0" anchor="t">
            <a:spAutoFit/>
          </a:bodyPr>
          <a:lstStyle/>
          <a:p>
            <a:pPr marL="0" lvl="0" indent="0" algn="l">
              <a:lnSpc>
                <a:spcPts val="1800"/>
              </a:lnSpc>
              <a:spcBef>
                <a:spcPct val="0"/>
              </a:spcBef>
            </a:pPr>
            <a:r>
              <a:rPr lang="en-US" sz="1500" u="none" strike="noStrike">
                <a:solidFill>
                  <a:srgbClr val="506580"/>
                </a:solidFill>
                <a:latin typeface="Aptos"/>
                <a:ea typeface="Aptos"/>
                <a:cs typeface="Aptos"/>
                <a:sym typeface="Aptos"/>
              </a:rPr>
              <a:t>Conceptual test targets. Sources: Chowdhury et al. (2018), Eq. (9); Park et al. (2023), §3.1.</a:t>
            </a:r>
          </a:p>
        </p:txBody>
      </p:sp>
      <p:grpSp>
        <p:nvGrpSpPr>
          <p:cNvPr id="6" name="Group 6"/>
          <p:cNvGrpSpPr/>
          <p:nvPr/>
        </p:nvGrpSpPr>
        <p:grpSpPr>
          <a:xfrm>
            <a:off x="1666875" y="3190875"/>
            <a:ext cx="14954250" cy="4273540"/>
            <a:chOff x="0" y="0"/>
            <a:chExt cx="16209556" cy="4632274"/>
          </a:xfrm>
        </p:grpSpPr>
        <p:sp>
          <p:nvSpPr>
            <p:cNvPr id="7" name="Freeform 7"/>
            <p:cNvSpPr/>
            <p:nvPr/>
          </p:nvSpPr>
          <p:spPr>
            <a:xfrm>
              <a:off x="0" y="0"/>
              <a:ext cx="16209518" cy="4632325"/>
            </a:xfrm>
            <a:custGeom>
              <a:avLst/>
              <a:gdLst/>
              <a:ahLst/>
              <a:cxnLst/>
              <a:rect l="l" t="t" r="r" b="b"/>
              <a:pathLst>
                <a:path w="16209518" h="4632325">
                  <a:moveTo>
                    <a:pt x="0" y="0"/>
                  </a:moveTo>
                  <a:lnTo>
                    <a:pt x="16209518" y="0"/>
                  </a:lnTo>
                  <a:lnTo>
                    <a:pt x="16209518" y="4632325"/>
                  </a:lnTo>
                  <a:lnTo>
                    <a:pt x="0" y="4632325"/>
                  </a:lnTo>
                  <a:lnTo>
                    <a:pt x="0" y="0"/>
                  </a:lnTo>
                  <a:close/>
                </a:path>
              </a:pathLst>
            </a:custGeom>
            <a:blipFill>
              <a:blip r:embed="rId3"/>
              <a:stretch>
                <a:fillRect b="1"/>
              </a:stretch>
            </a:blipFill>
          </p:spPr>
          <p:txBody>
            <a:bodyPr/>
            <a:lstStyle/>
            <a:p>
              <a:endParaRPr lang="en-GB"/>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404803"/>
            <a:ext cx="16276320" cy="300971"/>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a:t>
            </a:r>
          </a:p>
        </p:txBody>
      </p:sp>
      <p:sp>
        <p:nvSpPr>
          <p:cNvPr id="3" name="TextBox 3"/>
          <p:cNvSpPr txBox="1"/>
          <p:nvPr/>
        </p:nvSpPr>
        <p:spPr>
          <a:xfrm>
            <a:off x="1051560" y="937536"/>
            <a:ext cx="16276320" cy="638175"/>
          </a:xfrm>
          <a:prstGeom prst="rect">
            <a:avLst/>
          </a:prstGeom>
        </p:spPr>
        <p:txBody>
          <a:bodyPr lIns="0" tIns="0" rIns="0" bIns="0" rtlCol="0" anchor="t">
            <a:spAutoFit/>
          </a:bodyPr>
          <a:lstStyle/>
          <a:p>
            <a:pPr marL="0" lvl="0" indent="0" algn="l">
              <a:lnSpc>
                <a:spcPts val="5040"/>
              </a:lnSpc>
              <a:spcBef>
                <a:spcPct val="0"/>
              </a:spcBef>
            </a:pPr>
            <a:r>
              <a:rPr lang="en-US" sz="4200" b="1" u="none" strike="noStrike">
                <a:solidFill>
                  <a:srgbClr val="12233B"/>
                </a:solidFill>
                <a:latin typeface="Aptos Bold"/>
                <a:ea typeface="Aptos Bold"/>
                <a:cs typeface="Aptos Bold"/>
                <a:sym typeface="Aptos Bold"/>
              </a:rPr>
              <a:t>How structural changes appear in rolling statistics</a:t>
            </a:r>
          </a:p>
        </p:txBody>
      </p:sp>
      <p:sp>
        <p:nvSpPr>
          <p:cNvPr id="4" name="TextBox 4"/>
          <p:cNvSpPr txBox="1"/>
          <p:nvPr/>
        </p:nvSpPr>
        <p:spPr>
          <a:xfrm>
            <a:off x="1051560" y="1737503"/>
            <a:ext cx="16276320" cy="323850"/>
          </a:xfrm>
          <a:prstGeom prst="rect">
            <a:avLst/>
          </a:prstGeom>
        </p:spPr>
        <p:txBody>
          <a:bodyPr lIns="0" tIns="0" rIns="0" bIns="0" rtlCol="0" anchor="t">
            <a:spAutoFit/>
          </a:bodyPr>
          <a:lstStyle/>
          <a:p>
            <a:pPr marL="0" lvl="0" indent="0" algn="l">
              <a:lnSpc>
                <a:spcPts val="2520"/>
              </a:lnSpc>
              <a:spcBef>
                <a:spcPct val="0"/>
              </a:spcBef>
            </a:pPr>
            <a:r>
              <a:rPr lang="en-US" sz="2100" u="none" strike="noStrike">
                <a:solidFill>
                  <a:srgbClr val="506580"/>
                </a:solidFill>
                <a:latin typeface="Aptos"/>
                <a:ea typeface="Aptos"/>
                <a:cs typeface="Aptos"/>
                <a:sym typeface="Aptos"/>
              </a:rPr>
              <a:t>Mean, variance and AR dependence shift independently in controlled synthetic data.</a:t>
            </a:r>
          </a:p>
        </p:txBody>
      </p:sp>
      <p:sp>
        <p:nvSpPr>
          <p:cNvPr id="5" name="TextBox 5"/>
          <p:cNvSpPr txBox="1"/>
          <p:nvPr/>
        </p:nvSpPr>
        <p:spPr>
          <a:xfrm>
            <a:off x="1034167" y="9468545"/>
            <a:ext cx="16276320" cy="228600"/>
          </a:xfrm>
          <a:prstGeom prst="rect">
            <a:avLst/>
          </a:prstGeom>
        </p:spPr>
        <p:txBody>
          <a:bodyPr lIns="0" tIns="0" rIns="0" bIns="0" rtlCol="0" anchor="t">
            <a:spAutoFit/>
          </a:bodyPr>
          <a:lstStyle/>
          <a:p>
            <a:pPr marL="0" lvl="0" indent="0" algn="l">
              <a:lnSpc>
                <a:spcPts val="1800"/>
              </a:lnSpc>
              <a:spcBef>
                <a:spcPct val="0"/>
              </a:spcBef>
            </a:pPr>
            <a:r>
              <a:rPr lang="en-US" sz="1500" u="none" strike="noStrike">
                <a:solidFill>
                  <a:srgbClr val="506580"/>
                </a:solidFill>
                <a:latin typeface="Aptos"/>
                <a:ea typeface="Aptos"/>
                <a:cs typeface="Aptos"/>
                <a:sym typeface="Aptos"/>
              </a:rPr>
              <a:t>Source: scripts/generate_slide22_structural_visuals.py · n = 1024 · t₀ = 512 · seed 42 · window 96. Synthetic, descriptive; detector outcomes untested.</a:t>
            </a:r>
          </a:p>
        </p:txBody>
      </p:sp>
      <p:grpSp>
        <p:nvGrpSpPr>
          <p:cNvPr id="6" name="Group 6"/>
          <p:cNvGrpSpPr/>
          <p:nvPr/>
        </p:nvGrpSpPr>
        <p:grpSpPr>
          <a:xfrm>
            <a:off x="1000125" y="2743200"/>
            <a:ext cx="11811000" cy="6749143"/>
            <a:chOff x="0" y="0"/>
            <a:chExt cx="9245600" cy="5283200"/>
          </a:xfrm>
        </p:grpSpPr>
        <p:sp>
          <p:nvSpPr>
            <p:cNvPr id="7" name="Freeform 7"/>
            <p:cNvSpPr/>
            <p:nvPr/>
          </p:nvSpPr>
          <p:spPr>
            <a:xfrm>
              <a:off x="0" y="0"/>
              <a:ext cx="9245600" cy="5283200"/>
            </a:xfrm>
            <a:custGeom>
              <a:avLst/>
              <a:gdLst/>
              <a:ahLst/>
              <a:cxnLst/>
              <a:rect l="l" t="t" r="r" b="b"/>
              <a:pathLst>
                <a:path w="9245600" h="5283200">
                  <a:moveTo>
                    <a:pt x="0" y="0"/>
                  </a:moveTo>
                  <a:lnTo>
                    <a:pt x="9245600" y="0"/>
                  </a:lnTo>
                  <a:lnTo>
                    <a:pt x="9245600" y="5283200"/>
                  </a:lnTo>
                  <a:lnTo>
                    <a:pt x="0" y="5283200"/>
                  </a:lnTo>
                  <a:lnTo>
                    <a:pt x="0" y="0"/>
                  </a:lnTo>
                  <a:close/>
                </a:path>
              </a:pathLst>
            </a:custGeom>
            <a:blipFill>
              <a:blip r:embed="rId3"/>
              <a:stretch>
                <a:fillRect/>
              </a:stretch>
            </a:blipFill>
          </p:spPr>
          <p:txBody>
            <a:bodyPr/>
            <a:lstStyle/>
            <a:p>
              <a:endParaRPr lang="en-GB"/>
            </a:p>
          </p:txBody>
        </p:sp>
      </p:grpSp>
      <p:sp>
        <p:nvSpPr>
          <p:cNvPr id="8" name="TextBox 8"/>
          <p:cNvSpPr txBox="1"/>
          <p:nvPr/>
        </p:nvSpPr>
        <p:spPr>
          <a:xfrm>
            <a:off x="13192125" y="3009900"/>
            <a:ext cx="3952875" cy="2971800"/>
          </a:xfrm>
          <a:prstGeom prst="rect">
            <a:avLst/>
          </a:prstGeom>
        </p:spPr>
        <p:txBody>
          <a:bodyPr lIns="0" tIns="0" rIns="0" bIns="0" rtlCol="0" anchor="t">
            <a:spAutoFit/>
          </a:bodyPr>
          <a:lstStyle/>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ROWS</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Mean shift</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Variance shift</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AR-dependence shift</a:t>
            </a:r>
          </a:p>
          <a:p>
            <a:pPr marL="0" lvl="0" indent="0" algn="l">
              <a:lnSpc>
                <a:spcPts val="2160"/>
              </a:lnSpc>
              <a:spcBef>
                <a:spcPct val="0"/>
              </a:spcBef>
            </a:pPr>
            <a:endParaRPr lang="en-US" sz="1800" b="1" u="none" strike="noStrike">
              <a:solidFill>
                <a:srgbClr val="000000"/>
              </a:solidFill>
              <a:latin typeface="Calibri (MS) Bold"/>
              <a:ea typeface="Calibri (MS) Bold"/>
              <a:cs typeface="Calibri (MS) Bold"/>
              <a:sym typeface="Calibri (MS) Bold"/>
            </a:endParaRP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COLUMNS</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Rolling mean</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Rolling variance</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Lag-1 correlation</a:t>
            </a:r>
          </a:p>
          <a:p>
            <a:pPr marL="0" lvl="0" indent="0" algn="l">
              <a:lnSpc>
                <a:spcPts val="2160"/>
              </a:lnSpc>
              <a:spcBef>
                <a:spcPct val="0"/>
              </a:spcBef>
            </a:pPr>
            <a:endParaRPr lang="en-US" sz="1800" b="1" u="none" strike="noStrike">
              <a:solidFill>
                <a:srgbClr val="000000"/>
              </a:solidFill>
              <a:latin typeface="Calibri (MS) Bold"/>
              <a:ea typeface="Calibri (MS) Bold"/>
              <a:cs typeface="Calibri (MS) Bold"/>
              <a:sym typeface="Calibri (MS) Bold"/>
            </a:endParaRP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Dashed line: t₀ = 512</a:t>
            </a:r>
          </a:p>
        </p:txBody>
      </p:sp>
      <p:sp>
        <p:nvSpPr>
          <p:cNvPr id="9" name="TextBox 9"/>
          <p:cNvSpPr txBox="1"/>
          <p:nvPr/>
        </p:nvSpPr>
        <p:spPr>
          <a:xfrm>
            <a:off x="13192125" y="6524625"/>
            <a:ext cx="4048125" cy="1619250"/>
          </a:xfrm>
          <a:prstGeom prst="rect">
            <a:avLst/>
          </a:prstGeom>
        </p:spPr>
        <p:txBody>
          <a:bodyPr lIns="0" tIns="0" rIns="0" bIns="0" rtlCol="0" anchor="t">
            <a:spAutoFit/>
          </a:bodyPr>
          <a:lstStyle/>
          <a:p>
            <a:pPr marL="0" lvl="0" indent="0" algn="l">
              <a:lnSpc>
                <a:spcPts val="2520"/>
              </a:lnSpc>
              <a:spcBef>
                <a:spcPct val="0"/>
              </a:spcBef>
            </a:pPr>
            <a:r>
              <a:rPr lang="en-US" sz="2100" b="1" u="none" strike="noStrike">
                <a:solidFill>
                  <a:srgbClr val="000000"/>
                </a:solidFill>
                <a:latin typeface="Calibri (MS) Bold"/>
                <a:ea typeface="Calibri (MS) Bold"/>
                <a:cs typeface="Calibri (MS) Bold"/>
                <a:sym typeface="Calibri (MS) Bold"/>
              </a:rPr>
              <a:t>KEY FINDING</a:t>
            </a:r>
          </a:p>
          <a:p>
            <a:pPr marL="0" lvl="0" indent="0" algn="l">
              <a:lnSpc>
                <a:spcPts val="2520"/>
              </a:lnSpc>
              <a:spcBef>
                <a:spcPct val="0"/>
              </a:spcBef>
            </a:pPr>
            <a:r>
              <a:rPr lang="en-US" sz="2100" b="1" u="none" strike="noStrike">
                <a:solidFill>
                  <a:srgbClr val="000000"/>
                </a:solidFill>
                <a:latin typeface="Calibri (MS) Bold"/>
                <a:ea typeface="Calibri (MS) Bold"/>
                <a:cs typeface="Calibri (MS) Bold"/>
                <a:sym typeface="Calibri (MS) Bold"/>
              </a:rPr>
              <a:t>Temporal dependence can shift without a mean shift. Mean-based validation cannot establish covariance stability.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Mean validation has a variance-change limitation</a:t>
            </a:r>
          </a:p>
        </p:txBody>
      </p:sp>
      <p:sp>
        <p:nvSpPr>
          <p:cNvPr id="4" name="TextBox 4"/>
          <p:cNvSpPr txBox="1"/>
          <p:nvPr/>
        </p:nvSpPr>
        <p:spPr>
          <a:xfrm>
            <a:off x="1051560" y="2154212"/>
            <a:ext cx="16276320" cy="933745"/>
          </a:xfrm>
          <a:prstGeom prst="rect">
            <a:avLst/>
          </a:prstGeom>
        </p:spPr>
        <p:txBody>
          <a:bodyPr lIns="0" tIns="0" rIns="0" bIns="0" rtlCol="0" anchor="t">
            <a:spAutoFit/>
          </a:bodyPr>
          <a:lstStyle/>
          <a:p>
            <a:pPr algn="l">
              <a:lnSpc>
                <a:spcPts val="2520"/>
              </a:lnSpc>
            </a:pPr>
            <a:r>
              <a:rPr lang="en-US" sz="2100">
                <a:solidFill>
                  <a:srgbClr val="506580"/>
                </a:solidFill>
                <a:latin typeface="Aptos"/>
                <a:ea typeface="Aptos"/>
                <a:cs typeface="Aptos"/>
                <a:sym typeface="Aptos"/>
              </a:rPr>
              <a:t>Covariance scaling adjusts the mean contrast but does not make it a direct covariance-equality test.</a:t>
            </a:r>
          </a:p>
          <a:p>
            <a:pPr algn="l">
              <a:lnSpc>
                <a:spcPts val="2520"/>
              </a:lnSpc>
            </a:pPr>
            <a:r>
              <a:rPr lang="en-US" sz="2100">
                <a:solidFill>
                  <a:srgbClr val="506580"/>
                </a:solidFill>
                <a:latin typeface="Aptos"/>
                <a:ea typeface="Aptos"/>
                <a:cs typeface="Aptos"/>
                <a:sym typeface="Aptos"/>
              </a:rPr>
              <a:t>Different structural changes affect different statistical properties.</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Sources: existing detector slide; Chowdhury et al. (2018), Eq. (9). This expression preserves separate covariance terms.</a:t>
            </a:r>
          </a:p>
        </p:txBody>
      </p:sp>
      <mc:AlternateContent xmlns:mc="http://schemas.openxmlformats.org/markup-compatibility/2006">
        <mc:Choice xmlns:a14="http://schemas.microsoft.com/office/drawing/2010/main" Requires="a14">
          <p:sp>
            <p:nvSpPr>
              <p:cNvPr id="10" name="EDITABLE OfficeMath | Unpooled covariance weighted mean difference"/>
              <p:cNvSpPr txBox="1"/>
              <p:nvPr/>
            </p:nvSpPr>
            <p:spPr>
              <a:xfrm>
                <a:off x="1234440" y="3429000"/>
                <a:ext cx="8260080" cy="1028700"/>
              </a:xfrm>
              <a:prstGeom prst="rect">
                <a:avLst/>
              </a:prstGeom>
              <a:no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𝑄</m:t>
                      </m:r>
                      <m:r>
                        <a:rPr>
                          <a:latin typeface="Cambria Math" panose="02040503050406030204" pitchFamily="18" charset="0"/>
                        </a:rPr>
                        <m:t> = (</m:t>
                      </m:r>
                      <m:acc>
                        <m:accPr>
                          <m:chr m:val="̄"/>
                          <m:ctrlPr>
                            <a:rPr i="1">
                              <a:latin typeface="Cambria Math" panose="02040503050406030204" pitchFamily="18" charset="0"/>
                            </a:rPr>
                          </m:ctrlPr>
                        </m:accPr>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e>
                      </m:acc>
                      <m:r>
                        <a:rPr>
                          <a:latin typeface="Cambria Math" panose="02040503050406030204" pitchFamily="18" charset="0"/>
                        </a:rPr>
                        <m:t> − </m:t>
                      </m:r>
                      <m:acc>
                        <m:accPr>
                          <m:chr m:val="̄"/>
                          <m:ctrlPr>
                            <a:rPr i="1">
                              <a:latin typeface="Cambria Math" panose="02040503050406030204" pitchFamily="18" charset="0"/>
                            </a:rPr>
                          </m:ctrlPr>
                        </m:accPr>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e>
                      </m:acc>
                      <m:sSup>
                        <m:sSupPr>
                          <m:ctrlPr>
                            <a:rPr i="1">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𝑇</m:t>
                          </m:r>
                        </m:sup>
                      </m:sSup>
                      <m:sSup>
                        <m:sSupPr>
                          <m:ctrlPr>
                            <a:rPr i="1">
                              <a:latin typeface="Cambria Math" panose="02040503050406030204" pitchFamily="18" charset="0"/>
                            </a:rPr>
                          </m:ctrlPr>
                        </m:sSupPr>
                        <m:e>
                          <m:r>
                            <a:rPr>
                              <a:latin typeface="Cambria Math" panose="02040503050406030204" pitchFamily="18" charset="0"/>
                            </a:rPr>
                            <m:t>(</m:t>
                          </m:r>
                          <m:f>
                            <m:fPr>
                              <m:ctrlPr>
                                <a:rPr i="1">
                                  <a:latin typeface="Cambria Math" panose="02040503050406030204" pitchFamily="18" charset="0"/>
                                </a:rPr>
                              </m:ctrlPr>
                            </m:fPr>
                            <m:num>
                              <m:sSub>
                                <m:sSubPr>
                                  <m:ctrlPr>
                                    <a:rPr i="1">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1</m:t>
                                  </m:r>
                                </m:sub>
                              </m:sSub>
                            </m:num>
                            <m:den>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1</m:t>
                                  </m:r>
                                </m:sub>
                              </m:sSub>
                            </m:den>
                          </m:f>
                          <m:r>
                            <a:rPr>
                              <a:latin typeface="Cambria Math" panose="02040503050406030204" pitchFamily="18" charset="0"/>
                            </a:rPr>
                            <m:t> + </m:t>
                          </m:r>
                          <m:f>
                            <m:fPr>
                              <m:ctrlPr>
                                <a:rPr i="1">
                                  <a:latin typeface="Cambria Math" panose="02040503050406030204" pitchFamily="18" charset="0"/>
                                </a:rPr>
                              </m:ctrlPr>
                            </m:fPr>
                            <m:num>
                              <m:sSub>
                                <m:sSubPr>
                                  <m:ctrlPr>
                                    <a:rPr i="1">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2</m:t>
                                  </m:r>
                                </m:sub>
                              </m:sSub>
                            </m:num>
                            <m:den>
                              <m:sSub>
                                <m:sSubPr>
                                  <m:ctrlPr>
                                    <a:rPr i="1">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2</m:t>
                                  </m:r>
                                </m:sub>
                              </m:sSub>
                            </m:den>
                          </m:f>
                          <m:r>
                            <a:rPr>
                              <a:latin typeface="Cambria Math" panose="02040503050406030204" pitchFamily="18" charset="0"/>
                            </a:rPr>
                            <m:t>)</m:t>
                          </m:r>
                        </m:e>
                        <m:sup>
                          <m:r>
                            <a:rPr>
                              <a:latin typeface="Cambria Math" panose="02040503050406030204" pitchFamily="18" charset="0"/>
                            </a:rPr>
                            <m:t>−</m:t>
                          </m:r>
                          <m:r>
                            <a:rPr>
                              <a:latin typeface="Cambria Math" panose="02040503050406030204" pitchFamily="18" charset="0"/>
                            </a:rPr>
                            <m:t>1</m:t>
                          </m:r>
                        </m:sup>
                      </m:sSup>
                      <m:r>
                        <a:rPr>
                          <a:latin typeface="Cambria Math" panose="02040503050406030204" pitchFamily="18" charset="0"/>
                        </a:rPr>
                        <m:t>(</m:t>
                      </m:r>
                      <m:acc>
                        <m:accPr>
                          <m:chr m:val="̄"/>
                          <m:ctrlPr>
                            <a:rPr i="1">
                              <a:latin typeface="Cambria Math" panose="02040503050406030204" pitchFamily="18" charset="0"/>
                            </a:rPr>
                          </m:ctrlPr>
                        </m:accPr>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e>
                      </m:acc>
                      <m:r>
                        <a:rPr>
                          <a:latin typeface="Cambria Math" panose="02040503050406030204" pitchFamily="18" charset="0"/>
                        </a:rPr>
                        <m:t> − </m:t>
                      </m:r>
                      <m:acc>
                        <m:accPr>
                          <m:chr m:val="̄"/>
                          <m:ctrlPr>
                            <a:rPr i="1">
                              <a:latin typeface="Cambria Math" panose="02040503050406030204" pitchFamily="18" charset="0"/>
                            </a:rPr>
                          </m:ctrlPr>
                        </m:accPr>
                        <m:e>
                          <m:sSub>
                            <m:sSubPr>
                              <m:ctrlPr>
                                <a:rPr i="1">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e>
                      </m:acc>
                      <m:r>
                        <a:rPr>
                          <a:latin typeface="Cambria Math" panose="02040503050406030204" pitchFamily="18" charset="0"/>
                        </a:rPr>
                        <m:t>)</m:t>
                      </m:r>
                    </m:oMath>
                  </m:oMathPara>
                </a14:m>
                <a:endParaRPr lang="en-GB" sz="3000">
                  <a:solidFill>
                    <a:srgbClr val="14233B"/>
                  </a:solidFill>
                </a:endParaRPr>
              </a:p>
            </p:txBody>
          </p:sp>
        </mc:Choice>
        <mc:Fallback>
          <p:sp>
            <p:nvSpPr>
              <p:cNvPr id="10" name="EDITABLE OfficeMath | Unpooled covariance weighted mean difference"/>
              <p:cNvSpPr txBox="1">
                <a:spLocks noRot="1" noChangeAspect="1" noMove="1" noResize="1" noEditPoints="1" noAdjustHandles="1" noChangeArrowheads="1" noChangeShapeType="1" noTextEdit="1"/>
              </p:cNvSpPr>
              <p:nvPr/>
            </p:nvSpPr>
            <p:spPr>
              <a:xfrm>
                <a:off x="1234440" y="3429000"/>
                <a:ext cx="8260080" cy="1028700"/>
              </a:xfrm>
              <a:prstGeom prst="rect">
                <a:avLst/>
              </a:prstGeom>
              <a:blipFill>
                <a:blip r:embed="rId3"/>
                <a:stretch>
                  <a:fillRect/>
                </a:stretch>
              </a:blipFill>
            </p:spPr>
            <p:txBody>
              <a:bodyPr/>
              <a:lstStyle/>
              <a:p>
                <a:r>
                  <a:rPr lang="en-GB">
                    <a:noFill/>
                  </a:rPr>
                  <a:t> </a:t>
                </a:r>
              </a:p>
            </p:txBody>
          </p:sp>
        </mc:Fallback>
      </mc:AlternateContent>
      <p:sp>
        <p:nvSpPr>
          <p:cNvPr id="8" name="TextBox 8"/>
          <p:cNvSpPr txBox="1"/>
          <p:nvPr/>
        </p:nvSpPr>
        <p:spPr>
          <a:xfrm>
            <a:off x="1325880" y="5052060"/>
            <a:ext cx="7498080" cy="340614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Q and the pooled T² both start from a difference in means.</a:t>
            </a:r>
          </a:p>
          <a:p>
            <a:pPr algn="l">
              <a:lnSpc>
                <a:spcPts val="3600"/>
              </a:lnSpc>
            </a:pPr>
            <a:r>
              <a:rPr lang="en-US" sz="3000">
                <a:solidFill>
                  <a:srgbClr val="12233B"/>
                </a:solidFill>
                <a:latin typeface="Aptos"/>
                <a:ea typeface="Aptos"/>
                <a:cs typeface="Aptos"/>
                <a:sym typeface="Aptos"/>
              </a:rPr>
              <a:t>A pure variance or dependence change can therefore escape detection. Finite-sample mean fluctuations can still produce alarms.</a:t>
            </a:r>
          </a:p>
        </p:txBody>
      </p:sp>
      <p:sp>
        <p:nvSpPr>
          <p:cNvPr id="9" name="TextBox 9"/>
          <p:cNvSpPr txBox="1"/>
          <p:nvPr/>
        </p:nvSpPr>
        <p:spPr>
          <a:xfrm>
            <a:off x="9692640" y="5052060"/>
            <a:ext cx="7086600" cy="340614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Separate covariance terms need their own justified calibration. The pooled F conversion is not automatically exact.</a:t>
            </a:r>
          </a:p>
          <a:p>
            <a:pPr algn="l">
              <a:lnSpc>
                <a:spcPts val="3600"/>
              </a:lnSpc>
            </a:pPr>
            <a:r>
              <a:rPr lang="en-US" sz="3000">
                <a:solidFill>
                  <a:srgbClr val="12233B"/>
                </a:solidFill>
                <a:latin typeface="Aptos"/>
                <a:ea typeface="Aptos"/>
                <a:cs typeface="Aptos"/>
                <a:sym typeface="Aptos"/>
              </a:rPr>
              <a:t>Next comparison: mean-only, variance-only and dependence-only changes at matched false-alarm budgets.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IMPLEMENTED PIPELINE</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How evidence becomes an update decision</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Repository evidence: 2a8d20b. Implemented capabilities and stored results are distinguished.</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826987498"/>
              </p:ext>
            </p:extLst>
          </p:nvPr>
        </p:nvGraphicFramePr>
        <p:xfrm>
          <a:off x="1028700" y="2468880"/>
          <a:ext cx="16173450" cy="5109718"/>
        </p:xfrm>
        <a:graphic>
          <a:graphicData uri="http://schemas.openxmlformats.org/drawingml/2006/table">
            <a:tbl>
              <a:tblPr/>
              <a:tblGrid>
                <a:gridCol w="4386020">
                  <a:extLst>
                    <a:ext uri="{9D8B030D-6E8A-4147-A177-3AD203B41FA5}">
                      <a16:colId xmlns:a16="http://schemas.microsoft.com/office/drawing/2014/main" val="20000"/>
                    </a:ext>
                  </a:extLst>
                </a:gridCol>
                <a:gridCol w="11787430">
                  <a:extLst>
                    <a:ext uri="{9D8B030D-6E8A-4147-A177-3AD203B41FA5}">
                      <a16:colId xmlns:a16="http://schemas.microsoft.com/office/drawing/2014/main" val="20001"/>
                    </a:ext>
                  </a:extLst>
                </a:gridCol>
              </a:tblGrid>
              <a:tr h="819150">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Responsibility</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Implemented behaviour</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Representation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Cue-aligned EEG; FBCSP; PCA fitted on training data</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Detection and validation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EWMA warnings; explicit Stage-II interpretations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Update policy</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Never, periodic, warning, validated or performance-drop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Label regime</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Supervised labels or confidence-gated PWKNN pseudo-labels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Audit outputs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Predictions, accepted/rejected evidence and update events</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5"/>
                  </a:ext>
                </a:extLst>
              </a:tr>
            </a:tbl>
          </a:graphicData>
        </a:graphic>
      </p:graphicFrame>
      <p:sp>
        <p:nvSpPr>
          <p:cNvPr id="7" name="TextBox 7"/>
          <p:cNvSpPr txBox="1"/>
          <p:nvPr/>
        </p:nvSpPr>
        <p:spPr>
          <a:xfrm>
            <a:off x="1028700" y="7881747"/>
            <a:ext cx="16184880" cy="946785"/>
          </a:xfrm>
          <a:prstGeom prst="rect">
            <a:avLst/>
          </a:prstGeom>
        </p:spPr>
        <p:txBody>
          <a:bodyPr lIns="0" tIns="0" rIns="0" bIns="0" rtlCol="0" anchor="t">
            <a:spAutoFit/>
          </a:bodyPr>
          <a:lstStyle/>
          <a:p>
            <a:pPr algn="l">
              <a:lnSpc>
                <a:spcPts val="3240"/>
              </a:lnSpc>
            </a:pPr>
            <a:r>
              <a:rPr lang="en-US" sz="2700">
                <a:solidFill>
                  <a:srgbClr val="78D8CC"/>
                </a:solidFill>
                <a:latin typeface="DejaVu Sans Light"/>
                <a:ea typeface="DejaVu Sans Light"/>
                <a:cs typeface="DejaVu Sans Light"/>
                <a:sym typeface="DejaVu Sans Light"/>
              </a:rPr>
              <a:t>Score-plus-residual monitoring is a separate Stage-I extension.</a:t>
            </a:r>
          </a:p>
          <a:p>
            <a:pPr algn="l">
              <a:lnSpc>
                <a:spcPts val="3240"/>
              </a:lnSpc>
            </a:pPr>
            <a:r>
              <a:rPr lang="en-US" sz="2700">
                <a:solidFill>
                  <a:srgbClr val="78D8CC"/>
                </a:solidFill>
                <a:latin typeface="DejaVu Sans Light"/>
                <a:ea typeface="DejaVu Sans Light"/>
                <a:cs typeface="DejaVu Sans Light"/>
                <a:sym typeface="DejaVu Sans Light"/>
              </a:rPr>
              <a:t>The Diethe comparison currently uses the fixed CSE detector.</a:t>
            </a:r>
          </a:p>
        </p:txBody>
      </p:sp>
      <p:sp>
        <p:nvSpPr>
          <p:cNvPr id="8" name="TextBox 8"/>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13</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4400" y="590550"/>
            <a:ext cx="8572500" cy="352425"/>
          </a:xfrm>
          <a:prstGeom prst="rect">
            <a:avLst/>
          </a:prstGeom>
        </p:spPr>
        <p:txBody>
          <a:bodyPr lIns="0" tIns="0" rIns="0" bIns="0" rtlCol="0" anchor="t">
            <a:spAutoFit/>
          </a:bodyPr>
          <a:lstStyle/>
          <a:p>
            <a:pPr algn="l">
              <a:lnSpc>
                <a:spcPts val="1755"/>
              </a:lnSpc>
            </a:pPr>
            <a:r>
              <a:rPr lang="en-US" sz="1462" b="1">
                <a:solidFill>
                  <a:srgbClr val="2DD4BF"/>
                </a:solidFill>
                <a:latin typeface="DejaVu Sans Bold"/>
                <a:ea typeface="DejaVu Sans Bold"/>
                <a:cs typeface="DejaVu Sans Bold"/>
                <a:sym typeface="DejaVu Sans Bold"/>
              </a:rPr>
              <a:t>CSE TABLE-I DATA PROTOCOL</a:t>
            </a:r>
          </a:p>
        </p:txBody>
      </p:sp>
      <p:sp>
        <p:nvSpPr>
          <p:cNvPr id="3" name="TextBox 3"/>
          <p:cNvSpPr txBox="1"/>
          <p:nvPr/>
        </p:nvSpPr>
        <p:spPr>
          <a:xfrm>
            <a:off x="914400" y="1028700"/>
            <a:ext cx="16430625" cy="828675"/>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CSE development and held-out evaluation</a:t>
            </a:r>
          </a:p>
        </p:txBody>
      </p:sp>
      <p:sp>
        <p:nvSpPr>
          <p:cNvPr id="4" name="AutoShape 4"/>
          <p:cNvSpPr/>
          <p:nvPr/>
        </p:nvSpPr>
        <p:spPr>
          <a:xfrm rot="5940">
            <a:off x="900103" y="2047875"/>
            <a:ext cx="16487804" cy="0"/>
          </a:xfrm>
          <a:prstGeom prst="line">
            <a:avLst/>
          </a:prstGeom>
          <a:ln w="19050" cap="rnd">
            <a:solidFill>
              <a:srgbClr val="294057"/>
            </a:solidFill>
            <a:prstDash val="solid"/>
            <a:headEnd type="none" w="sm" len="sm"/>
            <a:tailEnd type="none" w="sm" len="sm"/>
          </a:ln>
        </p:spPr>
        <p:txBody>
          <a:bodyPr/>
          <a:lstStyle/>
          <a:p>
            <a:endParaRPr lang="en-GB"/>
          </a:p>
        </p:txBody>
      </p:sp>
      <p:sp>
        <p:nvSpPr>
          <p:cNvPr id="5" name="TextBox 5"/>
          <p:cNvSpPr txBox="1"/>
          <p:nvPr/>
        </p:nvSpPr>
        <p:spPr>
          <a:xfrm>
            <a:off x="914400" y="2571750"/>
            <a:ext cx="6715125" cy="571500"/>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BCI Competition IV 2A</a:t>
            </a:r>
          </a:p>
        </p:txBody>
      </p:sp>
      <p:sp>
        <p:nvSpPr>
          <p:cNvPr id="6" name="TextBox 6"/>
          <p:cNvSpPr txBox="1"/>
          <p:nvPr/>
        </p:nvSpPr>
        <p:spPr>
          <a:xfrm>
            <a:off x="914400" y="3219450"/>
            <a:ext cx="6715125" cy="509587"/>
          </a:xfrm>
          <a:prstGeom prst="rect">
            <a:avLst/>
          </a:prstGeom>
        </p:spPr>
        <p:txBody>
          <a:bodyPr lIns="0" tIns="0" rIns="0" bIns="0" rtlCol="0" anchor="t">
            <a:spAutoFit/>
          </a:bodyPr>
          <a:lstStyle/>
          <a:p>
            <a:pPr algn="l">
              <a:lnSpc>
                <a:spcPts val="2565"/>
              </a:lnSpc>
            </a:pPr>
            <a:r>
              <a:rPr lang="en-US" sz="2137" b="1">
                <a:solidFill>
                  <a:srgbClr val="EAF2F8"/>
                </a:solidFill>
                <a:latin typeface="DejaVu Sans Bold"/>
                <a:ea typeface="DejaVu Sans Bold"/>
                <a:cs typeface="DejaVu Sans Bold"/>
                <a:sym typeface="DejaVu Sans Bold"/>
              </a:rPr>
              <a:t>Session I develops the model</a:t>
            </a:r>
          </a:p>
        </p:txBody>
      </p:sp>
      <p:sp>
        <p:nvSpPr>
          <p:cNvPr id="7" name="TextBox 7"/>
          <p:cNvSpPr txBox="1"/>
          <p:nvPr/>
        </p:nvSpPr>
        <p:spPr>
          <a:xfrm>
            <a:off x="914400" y="3981450"/>
            <a:ext cx="7000875" cy="2376488"/>
          </a:xfrm>
          <a:prstGeom prst="rect">
            <a:avLst/>
          </a:prstGeom>
        </p:spPr>
        <p:txBody>
          <a:bodyPr lIns="0" tIns="0" rIns="0" bIns="0" rtlCol="0" anchor="t">
            <a:spAutoFit/>
          </a:bodyPr>
          <a:lstStyle/>
          <a:p>
            <a:pPr algn="l">
              <a:lnSpc>
                <a:spcPts val="2430"/>
              </a:lnSpc>
            </a:pPr>
            <a:r>
              <a:rPr lang="en-US" sz="2025">
                <a:solidFill>
                  <a:srgbClr val="9CB0C3"/>
                </a:solidFill>
                <a:latin typeface="DejaVu Sans Light"/>
                <a:ea typeface="DejaVu Sans Light"/>
                <a:cs typeface="DejaVu Sans Light"/>
                <a:sym typeface="DejaVu Sans Light"/>
              </a:rPr>
              <a:t>Stratified 70/30 split within Session I</a:t>
            </a:r>
          </a:p>
          <a:p>
            <a:pPr algn="l">
              <a:lnSpc>
                <a:spcPts val="2430"/>
              </a:lnSpc>
            </a:pPr>
            <a:r>
              <a:rPr lang="en-US" sz="2025">
                <a:solidFill>
                  <a:srgbClr val="9CB0C3"/>
                </a:solidFill>
                <a:latin typeface="DejaVu Sans Light"/>
                <a:ea typeface="DejaVu Sans Light"/>
                <a:cs typeface="DejaVu Sans Light"/>
                <a:sym typeface="DejaVu Sans Light"/>
              </a:rPr>
              <a:t>Fit FBCSP and PCA on training only</a:t>
            </a:r>
          </a:p>
          <a:p>
            <a:pPr algn="l">
              <a:lnSpc>
                <a:spcPts val="2430"/>
              </a:lnSpc>
            </a:pPr>
            <a:r>
              <a:rPr lang="en-US" sz="2025">
                <a:solidFill>
                  <a:srgbClr val="9CB0C3"/>
                </a:solidFill>
                <a:latin typeface="DejaVu Sans Light"/>
                <a:ea typeface="DejaVu Sans Light"/>
                <a:cs typeface="DejaVu Sans Light"/>
                <a:sym typeface="DejaVu Sans Light"/>
              </a:rPr>
              <a:t>Transform validation with fitted models</a:t>
            </a:r>
          </a:p>
          <a:p>
            <a:pPr algn="l">
              <a:lnSpc>
                <a:spcPts val="2430"/>
              </a:lnSpc>
            </a:pPr>
            <a:r>
              <a:rPr lang="en-US" sz="2025">
                <a:solidFill>
                  <a:srgbClr val="9CB0C3"/>
                </a:solidFill>
                <a:latin typeface="DejaVu Sans Light"/>
                <a:ea typeface="DejaVu Sans Light"/>
                <a:cs typeface="DejaVu Sans Light"/>
                <a:sym typeface="DejaVu Sans Light"/>
              </a:rPr>
              <a:t>Hold out Session II, left/right trials</a:t>
            </a:r>
          </a:p>
        </p:txBody>
      </p:sp>
      <p:sp>
        <p:nvSpPr>
          <p:cNvPr id="8" name="AutoShape 8"/>
          <p:cNvSpPr/>
          <p:nvPr/>
        </p:nvSpPr>
        <p:spPr>
          <a:xfrm rot="5380980">
            <a:off x="6129299" y="5162550"/>
            <a:ext cx="5172151" cy="0"/>
          </a:xfrm>
          <a:prstGeom prst="line">
            <a:avLst/>
          </a:prstGeom>
          <a:ln w="19050" cap="rnd">
            <a:solidFill>
              <a:srgbClr val="294057"/>
            </a:solidFill>
            <a:prstDash val="solid"/>
            <a:headEnd type="none" w="sm" len="sm"/>
            <a:tailEnd type="none" w="sm" len="sm"/>
          </a:ln>
        </p:spPr>
        <p:txBody>
          <a:bodyPr/>
          <a:lstStyle/>
          <a:p>
            <a:endParaRPr lang="en-GB"/>
          </a:p>
        </p:txBody>
      </p:sp>
      <p:sp>
        <p:nvSpPr>
          <p:cNvPr id="9" name="TextBox 9"/>
          <p:cNvSpPr txBox="1"/>
          <p:nvPr/>
        </p:nvSpPr>
        <p:spPr>
          <a:xfrm>
            <a:off x="9858375" y="2571750"/>
            <a:ext cx="6715125" cy="571500"/>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BCI Competition IV 2B</a:t>
            </a:r>
          </a:p>
        </p:txBody>
      </p:sp>
      <p:sp>
        <p:nvSpPr>
          <p:cNvPr id="10" name="TextBox 10"/>
          <p:cNvSpPr txBox="1"/>
          <p:nvPr/>
        </p:nvSpPr>
        <p:spPr>
          <a:xfrm>
            <a:off x="9858375" y="3219450"/>
            <a:ext cx="6715125" cy="509587"/>
          </a:xfrm>
          <a:prstGeom prst="rect">
            <a:avLst/>
          </a:prstGeom>
        </p:spPr>
        <p:txBody>
          <a:bodyPr lIns="0" tIns="0" rIns="0" bIns="0" rtlCol="0" anchor="t">
            <a:spAutoFit/>
          </a:bodyPr>
          <a:lstStyle/>
          <a:p>
            <a:pPr algn="l">
              <a:lnSpc>
                <a:spcPts val="2565"/>
              </a:lnSpc>
            </a:pPr>
            <a:r>
              <a:rPr lang="en-US" sz="2137" b="1">
                <a:solidFill>
                  <a:srgbClr val="EAF2F8"/>
                </a:solidFill>
                <a:latin typeface="DejaVu Sans Bold"/>
                <a:ea typeface="DejaVu Sans Bold"/>
                <a:cs typeface="DejaVu Sans Bold"/>
                <a:sym typeface="DejaVu Sans Bold"/>
              </a:rPr>
              <a:t>Sessions I–III develop the model</a:t>
            </a:r>
          </a:p>
        </p:txBody>
      </p:sp>
      <p:sp>
        <p:nvSpPr>
          <p:cNvPr id="11" name="TextBox 11"/>
          <p:cNvSpPr txBox="1"/>
          <p:nvPr/>
        </p:nvSpPr>
        <p:spPr>
          <a:xfrm>
            <a:off x="9858375" y="3981450"/>
            <a:ext cx="7000875" cy="2376488"/>
          </a:xfrm>
          <a:prstGeom prst="rect">
            <a:avLst/>
          </a:prstGeom>
        </p:spPr>
        <p:txBody>
          <a:bodyPr lIns="0" tIns="0" rIns="0" bIns="0" rtlCol="0" anchor="t">
            <a:spAutoFit/>
          </a:bodyPr>
          <a:lstStyle/>
          <a:p>
            <a:pPr algn="l">
              <a:lnSpc>
                <a:spcPts val="2430"/>
              </a:lnSpc>
            </a:pPr>
            <a:r>
              <a:rPr lang="en-US" sz="2025">
                <a:solidFill>
                  <a:srgbClr val="9CB0C3"/>
                </a:solidFill>
                <a:latin typeface="DejaVu Sans Light"/>
                <a:ea typeface="DejaVu Sans Light"/>
                <a:cs typeface="DejaVu Sans Light"/>
                <a:sym typeface="DejaVu Sans Light"/>
              </a:rPr>
              <a:t>Stratified 70/30 split within Sessions I–III</a:t>
            </a:r>
          </a:p>
          <a:p>
            <a:pPr algn="l">
              <a:lnSpc>
                <a:spcPts val="2430"/>
              </a:lnSpc>
            </a:pPr>
            <a:r>
              <a:rPr lang="en-US" sz="2025">
                <a:solidFill>
                  <a:srgbClr val="9CB0C3"/>
                </a:solidFill>
                <a:latin typeface="DejaVu Sans Light"/>
                <a:ea typeface="DejaVu Sans Light"/>
                <a:cs typeface="DejaVu Sans Light"/>
                <a:sym typeface="DejaVu Sans Light"/>
              </a:rPr>
              <a:t>Fit FBCSP and PCA on training only</a:t>
            </a:r>
          </a:p>
          <a:p>
            <a:pPr algn="l">
              <a:lnSpc>
                <a:spcPts val="2430"/>
              </a:lnSpc>
            </a:pPr>
            <a:r>
              <a:rPr lang="en-US" sz="2025">
                <a:solidFill>
                  <a:srgbClr val="9CB0C3"/>
                </a:solidFill>
                <a:latin typeface="DejaVu Sans Light"/>
                <a:ea typeface="DejaVu Sans Light"/>
                <a:cs typeface="DejaVu Sans Light"/>
                <a:sym typeface="DejaVu Sans Light"/>
              </a:rPr>
              <a:t>Transform validation with fitted models</a:t>
            </a:r>
          </a:p>
          <a:p>
            <a:pPr algn="l">
              <a:lnSpc>
                <a:spcPts val="2430"/>
              </a:lnSpc>
            </a:pPr>
            <a:r>
              <a:rPr lang="en-US" sz="2025">
                <a:solidFill>
                  <a:srgbClr val="9CB0C3"/>
                </a:solidFill>
                <a:latin typeface="DejaVu Sans Light"/>
                <a:ea typeface="DejaVu Sans Light"/>
                <a:cs typeface="DejaVu Sans Light"/>
                <a:sym typeface="DejaVu Sans Light"/>
              </a:rPr>
              <a:t>Hold out Sessions IV–V</a:t>
            </a:r>
          </a:p>
        </p:txBody>
      </p:sp>
      <p:grpSp>
        <p:nvGrpSpPr>
          <p:cNvPr id="12" name="Group 12"/>
          <p:cNvGrpSpPr/>
          <p:nvPr/>
        </p:nvGrpSpPr>
        <p:grpSpPr>
          <a:xfrm>
            <a:off x="907256" y="7208044"/>
            <a:ext cx="15873412" cy="1042988"/>
            <a:chOff x="0" y="0"/>
            <a:chExt cx="21164550" cy="1390650"/>
          </a:xfrm>
        </p:grpSpPr>
        <p:sp>
          <p:nvSpPr>
            <p:cNvPr id="13" name="Freeform 13"/>
            <p:cNvSpPr/>
            <p:nvPr/>
          </p:nvSpPr>
          <p:spPr>
            <a:xfrm>
              <a:off x="0" y="0"/>
              <a:ext cx="21164550" cy="1390650"/>
            </a:xfrm>
            <a:custGeom>
              <a:avLst/>
              <a:gdLst/>
              <a:ahLst/>
              <a:cxnLst/>
              <a:rect l="l" t="t" r="r" b="b"/>
              <a:pathLst>
                <a:path w="21164550" h="1390650">
                  <a:moveTo>
                    <a:pt x="0" y="193167"/>
                  </a:moveTo>
                  <a:cubicBezTo>
                    <a:pt x="0" y="86487"/>
                    <a:pt x="86487" y="0"/>
                    <a:pt x="193167" y="0"/>
                  </a:cubicBezTo>
                  <a:lnTo>
                    <a:pt x="20971383" y="0"/>
                  </a:lnTo>
                  <a:cubicBezTo>
                    <a:pt x="21078064" y="0"/>
                    <a:pt x="21164550" y="86487"/>
                    <a:pt x="21164550" y="193167"/>
                  </a:cubicBezTo>
                  <a:lnTo>
                    <a:pt x="21164550" y="1197483"/>
                  </a:lnTo>
                  <a:cubicBezTo>
                    <a:pt x="21164550" y="1304163"/>
                    <a:pt x="21078064" y="1390650"/>
                    <a:pt x="20971383" y="1390650"/>
                  </a:cubicBezTo>
                  <a:lnTo>
                    <a:pt x="193167" y="1390650"/>
                  </a:lnTo>
                  <a:cubicBezTo>
                    <a:pt x="86487" y="1390650"/>
                    <a:pt x="0" y="1304163"/>
                    <a:pt x="0" y="1197483"/>
                  </a:cubicBezTo>
                  <a:close/>
                </a:path>
              </a:pathLst>
            </a:custGeom>
            <a:solidFill>
              <a:srgbClr val="0F1C2B"/>
            </a:solidFill>
            <a:ln w="14288" cap="sq">
              <a:solidFill>
                <a:srgbClr val="294057"/>
              </a:solidFill>
              <a:prstDash val="solid"/>
              <a:miter/>
            </a:ln>
          </p:spPr>
          <p:txBody>
            <a:bodyPr/>
            <a:lstStyle/>
            <a:p>
              <a:endParaRPr lang="en-GB"/>
            </a:p>
          </p:txBody>
        </p:sp>
      </p:grpSp>
      <p:sp>
        <p:nvSpPr>
          <p:cNvPr id="14" name="TextBox 14"/>
          <p:cNvSpPr txBox="1"/>
          <p:nvPr/>
        </p:nvSpPr>
        <p:spPr>
          <a:xfrm>
            <a:off x="1228725" y="7477125"/>
            <a:ext cx="3143250" cy="352425"/>
          </a:xfrm>
          <a:prstGeom prst="rect">
            <a:avLst/>
          </a:prstGeom>
        </p:spPr>
        <p:txBody>
          <a:bodyPr lIns="0" tIns="0" rIns="0" bIns="0" rtlCol="0" anchor="t">
            <a:spAutoFit/>
          </a:bodyPr>
          <a:lstStyle/>
          <a:p>
            <a:pPr algn="l">
              <a:lnSpc>
                <a:spcPts val="1889"/>
              </a:lnSpc>
            </a:pPr>
            <a:r>
              <a:rPr lang="en-US" sz="1575" b="1">
                <a:solidFill>
                  <a:srgbClr val="F5B942"/>
                </a:solidFill>
                <a:latin typeface="DejaVu Sans Bold"/>
                <a:ea typeface="DejaVu Sans Bold"/>
                <a:cs typeface="DejaVu Sans Bold"/>
                <a:sym typeface="DejaVu Sans Bold"/>
              </a:rPr>
              <a:t>Shared rule</a:t>
            </a:r>
          </a:p>
        </p:txBody>
      </p:sp>
      <p:sp>
        <p:nvSpPr>
          <p:cNvPr id="15" name="TextBox 15"/>
          <p:cNvSpPr txBox="1"/>
          <p:nvPr/>
        </p:nvSpPr>
        <p:spPr>
          <a:xfrm>
            <a:off x="4543425" y="7362825"/>
            <a:ext cx="11787188" cy="609600"/>
          </a:xfrm>
          <a:prstGeom prst="rect">
            <a:avLst/>
          </a:prstGeom>
        </p:spPr>
        <p:txBody>
          <a:bodyPr lIns="0" tIns="0" rIns="0" bIns="0" rtlCol="0" anchor="t">
            <a:spAutoFit/>
          </a:bodyPr>
          <a:lstStyle/>
          <a:p>
            <a:pPr algn="l">
              <a:lnSpc>
                <a:spcPts val="2160"/>
              </a:lnSpc>
            </a:pPr>
            <a:r>
              <a:rPr lang="en-US" sz="1800" b="1">
                <a:solidFill>
                  <a:srgbClr val="EAF2F8"/>
                </a:solidFill>
                <a:latin typeface="DejaVu Sans Bold"/>
                <a:ea typeface="DejaVu Sans Bold"/>
                <a:cs typeface="DejaVu Sans Bold"/>
                <a:sym typeface="DejaVu Sans Bold"/>
              </a:rPr>
              <a:t>Evaluation trials do not enter feature-model fitting.</a:t>
            </a:r>
          </a:p>
          <a:p>
            <a:pPr algn="l">
              <a:lnSpc>
                <a:spcPts val="2160"/>
              </a:lnSpc>
            </a:pPr>
            <a:r>
              <a:rPr lang="en-US" sz="1800" b="1">
                <a:solidFill>
                  <a:srgbClr val="EAF2F8"/>
                </a:solidFill>
                <a:latin typeface="DejaVu Sans Bold"/>
                <a:ea typeface="DejaVu Sans Bold"/>
                <a:cs typeface="DejaVu Sans Bold"/>
                <a:sym typeface="DejaVu Sans Bold"/>
              </a:rPr>
              <a:t>Record the split seed and effective detector configuration.</a:t>
            </a:r>
          </a:p>
        </p:txBody>
      </p:sp>
      <p:sp>
        <p:nvSpPr>
          <p:cNvPr id="16" name="TextBox 16"/>
          <p:cNvSpPr txBox="1"/>
          <p:nvPr/>
        </p:nvSpPr>
        <p:spPr>
          <a:xfrm>
            <a:off x="914400" y="9763125"/>
            <a:ext cx="6143625" cy="266700"/>
          </a:xfrm>
          <a:prstGeom prst="rect">
            <a:avLst/>
          </a:prstGeom>
        </p:spPr>
        <p:txBody>
          <a:bodyPr lIns="0" tIns="0" rIns="0" bIns="0" rtlCol="0" anchor="t">
            <a:spAutoFit/>
          </a:bodyPr>
          <a:lstStyle/>
          <a:p>
            <a:pPr algn="l">
              <a:lnSpc>
                <a:spcPts val="1485"/>
              </a:lnSpc>
            </a:pPr>
            <a:r>
              <a:rPr lang="en-US" sz="1237">
                <a:solidFill>
                  <a:srgbClr val="9CB0C3"/>
                </a:solidFill>
                <a:latin typeface="DejaVu Sans Light"/>
                <a:ea typeface="DejaVu Sans Light"/>
                <a:cs typeface="DejaVu Sans Light"/>
                <a:sym typeface="DejaVu Sans Light"/>
              </a:rPr>
              <a:t>hlin863/ewma_covariate_shift_demo</a:t>
            </a:r>
          </a:p>
        </p:txBody>
      </p:sp>
      <p:sp>
        <p:nvSpPr>
          <p:cNvPr id="17" name="TextBox 17"/>
          <p:cNvSpPr txBox="1"/>
          <p:nvPr/>
        </p:nvSpPr>
        <p:spPr>
          <a:xfrm>
            <a:off x="16573500" y="9734550"/>
            <a:ext cx="800100" cy="295275"/>
          </a:xfrm>
          <a:prstGeom prst="rect">
            <a:avLst/>
          </a:prstGeom>
        </p:spPr>
        <p:txBody>
          <a:bodyPr lIns="0" tIns="0" rIns="0" bIns="0" rtlCol="0" anchor="t">
            <a:spAutoFit/>
          </a:bodyPr>
          <a:lstStyle/>
          <a:p>
            <a:pPr algn="l">
              <a:lnSpc>
                <a:spcPts val="2267"/>
              </a:lnSpc>
            </a:pPr>
            <a:r>
              <a:rPr lang="en-US" sz="1889">
                <a:solidFill>
                  <a:srgbClr val="000000"/>
                </a:solidFill>
                <a:latin typeface="Calibri (MS)"/>
                <a:ea typeface="Calibri (MS)"/>
                <a:cs typeface="Calibri (MS)"/>
                <a:sym typeface="Calibri (MS)"/>
              </a:rPr>
              <a:t>14</a:t>
            </a:r>
          </a:p>
        </p:txBody>
      </p:sp>
      <p:sp>
        <p:nvSpPr>
          <p:cNvPr id="18" name="TextBox 18"/>
          <p:cNvSpPr txBox="1"/>
          <p:nvPr/>
        </p:nvSpPr>
        <p:spPr>
          <a:xfrm>
            <a:off x="1005840" y="8599170"/>
            <a:ext cx="15961995" cy="670560"/>
          </a:xfrm>
          <a:prstGeom prst="rect">
            <a:avLst/>
          </a:prstGeom>
        </p:spPr>
        <p:txBody>
          <a:bodyPr lIns="0" tIns="0" rIns="0" bIns="0" rtlCol="0" anchor="t">
            <a:spAutoFit/>
          </a:bodyPr>
          <a:lstStyle/>
          <a:p>
            <a:pPr algn="l">
              <a:lnSpc>
                <a:spcPts val="2430"/>
              </a:lnSpc>
            </a:pPr>
            <a:r>
              <a:rPr lang="en-US" sz="2025">
                <a:solidFill>
                  <a:srgbClr val="9CB0C3"/>
                </a:solidFill>
                <a:latin typeface="DejaVu Sans Light"/>
                <a:ea typeface="DejaVu Sans Light"/>
                <a:cs typeface="DejaVu Sans Light"/>
                <a:sym typeface="DejaVu Sans Light"/>
              </a:rPr>
              <a:t>Classifier benchmark: 2A fits Session I and tests II.</a:t>
            </a:r>
          </a:p>
          <a:p>
            <a:pPr algn="l">
              <a:lnSpc>
                <a:spcPts val="2430"/>
              </a:lnSpc>
            </a:pPr>
            <a:r>
              <a:rPr lang="en-US" sz="2025">
                <a:solidFill>
                  <a:srgbClr val="9CB0C3"/>
                </a:solidFill>
                <a:latin typeface="DejaVu Sans Light"/>
                <a:ea typeface="DejaVu Sans Light"/>
                <a:cs typeface="DejaVu Sans Light"/>
                <a:sym typeface="DejaVu Sans Light"/>
              </a:rPr>
              <a:t>The stored 2B benchmark fits I–II and tests labelled Session III.</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DATA PROTOCOL</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Dataset roles differ across experiments</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 current runners and stored result files at 2a8d20b. Evaluation data do not fit the feature representation.</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3539286213"/>
              </p:ext>
            </p:extLst>
          </p:nvPr>
        </p:nvGraphicFramePr>
        <p:xfrm>
          <a:off x="1028700" y="2537460"/>
          <a:ext cx="16154401" cy="5635117"/>
        </p:xfrm>
        <a:graphic>
          <a:graphicData uri="http://schemas.openxmlformats.org/drawingml/2006/table">
            <a:tbl>
              <a:tblPr/>
              <a:tblGrid>
                <a:gridCol w="4107051">
                  <a:extLst>
                    <a:ext uri="{9D8B030D-6E8A-4147-A177-3AD203B41FA5}">
                      <a16:colId xmlns:a16="http://schemas.microsoft.com/office/drawing/2014/main" val="20000"/>
                    </a:ext>
                  </a:extLst>
                </a:gridCol>
                <a:gridCol w="6023675">
                  <a:extLst>
                    <a:ext uri="{9D8B030D-6E8A-4147-A177-3AD203B41FA5}">
                      <a16:colId xmlns:a16="http://schemas.microsoft.com/office/drawing/2014/main" val="20001"/>
                    </a:ext>
                  </a:extLst>
                </a:gridCol>
                <a:gridCol w="6023675">
                  <a:extLst>
                    <a:ext uri="{9D8B030D-6E8A-4147-A177-3AD203B41FA5}">
                      <a16:colId xmlns:a16="http://schemas.microsoft.com/office/drawing/2014/main" val="20002"/>
                    </a:ext>
                  </a:extLst>
                </a:gridCol>
              </a:tblGrid>
              <a:tr h="1066800">
                <a:tc>
                  <a:txBody>
                    <a:bodyPr/>
                    <a:lstStyle/>
                    <a:p>
                      <a:pPr algn="l">
                        <a:lnSpc>
                          <a:spcPts val="3060"/>
                        </a:lnSpc>
                        <a:defRPr/>
                      </a:pPr>
                      <a:r>
                        <a:rPr lang="en-US" sz="2550" b="1">
                          <a:solidFill>
                            <a:srgbClr val="FFFFFF"/>
                          </a:solidFill>
                          <a:latin typeface="DejaVu Sans Bold"/>
                          <a:ea typeface="DejaVu Sans Bold"/>
                          <a:cs typeface="DejaVu Sans Bold"/>
                          <a:sym typeface="DejaVu Sans Bold"/>
                        </a:rPr>
                        <a:t>Experiment</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060"/>
                        </a:lnSpc>
                        <a:defRPr/>
                      </a:pPr>
                      <a:r>
                        <a:rPr lang="en-US" sz="2550" b="1">
                          <a:solidFill>
                            <a:srgbClr val="FFFFFF"/>
                          </a:solidFill>
                          <a:latin typeface="DejaVu Sans Bold"/>
                          <a:ea typeface="DejaVu Sans Bold"/>
                          <a:cs typeface="DejaVu Sans Bold"/>
                          <a:sym typeface="DejaVu Sans Bold"/>
                        </a:rPr>
                        <a:t>2A</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060"/>
                        </a:lnSpc>
                        <a:defRPr/>
                      </a:pPr>
                      <a:r>
                        <a:rPr lang="en-US" sz="2550" b="1">
                          <a:solidFill>
                            <a:srgbClr val="FFFFFF"/>
                          </a:solidFill>
                          <a:latin typeface="DejaVu Sans Bold"/>
                          <a:ea typeface="DejaVu Sans Bold"/>
                          <a:cs typeface="DejaVu Sans Bold"/>
                          <a:sym typeface="DejaVu Sans Bold"/>
                        </a:rPr>
                        <a:t>2B</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1066800">
                <a:tc>
                  <a:txBody>
                    <a:bodyPr/>
                    <a:lstStyle/>
                    <a:p>
                      <a:pPr algn="l">
                        <a:lnSpc>
                          <a:spcPts val="3060"/>
                        </a:lnSpc>
                        <a:defRPr/>
                      </a:pPr>
                      <a:r>
                        <a:rPr lang="en-US" sz="2550" dirty="0">
                          <a:solidFill>
                            <a:schemeClr val="bg1"/>
                          </a:solidFill>
                          <a:latin typeface="DejaVu Sans Light"/>
                          <a:ea typeface="DejaVu Sans Light"/>
                          <a:cs typeface="DejaVu Sans Light"/>
                          <a:sym typeface="DejaVu Sans Light"/>
                        </a:rPr>
                        <a:t>Table-I CSE</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Session I development;</a:t>
                      </a:r>
                      <a:endParaRPr lang="en-US" sz="1100">
                        <a:solidFill>
                          <a:schemeClr val="bg1"/>
                        </a:solidFill>
                      </a:endParaRPr>
                    </a:p>
                    <a:p>
                      <a:pPr algn="l">
                        <a:lnSpc>
                          <a:spcPts val="3060"/>
                        </a:lnSpc>
                      </a:pPr>
                      <a:r>
                        <a:rPr lang="en-US" sz="2550">
                          <a:solidFill>
                            <a:schemeClr val="bg1"/>
                          </a:solidFill>
                          <a:latin typeface="DejaVu Sans Light"/>
                          <a:ea typeface="DejaVu Sans Light"/>
                          <a:cs typeface="DejaVu Sans Light"/>
                          <a:sym typeface="DejaVu Sans Light"/>
                        </a:rPr>
                        <a:t>Session II evaluation</a:t>
                      </a: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I–III development;</a:t>
                      </a:r>
                      <a:endParaRPr lang="en-US" sz="1100">
                        <a:solidFill>
                          <a:schemeClr val="bg1"/>
                        </a:solidFill>
                      </a:endParaRPr>
                    </a:p>
                    <a:p>
                      <a:pPr algn="l">
                        <a:lnSpc>
                          <a:spcPts val="3060"/>
                        </a:lnSpc>
                      </a:pPr>
                      <a:r>
                        <a:rPr lang="en-US" sz="2550">
                          <a:solidFill>
                            <a:schemeClr val="bg1"/>
                          </a:solidFill>
                          <a:latin typeface="DejaVu Sans Light"/>
                          <a:ea typeface="DejaVu Sans Light"/>
                          <a:cs typeface="DejaVu Sans Light"/>
                          <a:sym typeface="DejaVu Sans Light"/>
                        </a:rPr>
                        <a:t>IV–V evaluation</a:t>
                      </a: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1066800">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Stored classifier benchmark</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Fit I; evaluate II</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Fit I–II; evaluate III</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1066800">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Complementary EEG runner</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I: training/calibration split;</a:t>
                      </a:r>
                      <a:endParaRPr lang="en-US" sz="1100">
                        <a:solidFill>
                          <a:schemeClr val="bg1"/>
                        </a:solidFill>
                      </a:endParaRPr>
                    </a:p>
                    <a:p>
                      <a:pPr algn="l">
                        <a:lnSpc>
                          <a:spcPts val="3060"/>
                        </a:lnSpc>
                      </a:pPr>
                      <a:r>
                        <a:rPr lang="en-US" sz="2550">
                          <a:solidFill>
                            <a:schemeClr val="bg1"/>
                          </a:solidFill>
                          <a:latin typeface="DejaVu Sans Light"/>
                          <a:ea typeface="DejaVu Sans Light"/>
                          <a:cs typeface="DejaVu Sans Light"/>
                          <a:sym typeface="DejaVu Sans Light"/>
                        </a:rPr>
                        <a:t>II evaluation</a:t>
                      </a: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Fit I–II; calibrate III;</a:t>
                      </a:r>
                      <a:endParaRPr lang="en-US" sz="1100">
                        <a:solidFill>
                          <a:schemeClr val="bg1"/>
                        </a:solidFill>
                      </a:endParaRPr>
                    </a:p>
                    <a:p>
                      <a:pPr algn="l">
                        <a:lnSpc>
                          <a:spcPts val="3060"/>
                        </a:lnSpc>
                      </a:pPr>
                      <a:r>
                        <a:rPr lang="en-US" sz="2550">
                          <a:solidFill>
                            <a:schemeClr val="bg1"/>
                          </a:solidFill>
                          <a:latin typeface="DejaVu Sans Light"/>
                          <a:ea typeface="DejaVu Sans Light"/>
                          <a:cs typeface="DejaVu Sans Light"/>
                          <a:sym typeface="DejaVu Sans Light"/>
                        </a:rPr>
                        <a:t>evaluate IV–V</a:t>
                      </a: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1066800">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Diethe policy laboratory</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Synthetic feature streams by default; prepared EEG features accepted by CLI</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dirty="0">
                          <a:solidFill>
                            <a:schemeClr val="bg1"/>
                          </a:solidFill>
                          <a:latin typeface="DejaVu Sans Light"/>
                          <a:ea typeface="DejaVu Sans Light"/>
                          <a:cs typeface="DejaVu Sans Light"/>
                          <a:sym typeface="DejaVu Sans Light"/>
                        </a:rPr>
                        <a:t>Raw EEG loading is not automatically integrated</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bl>
          </a:graphicData>
        </a:graphic>
      </p:graphicFrame>
      <p:sp>
        <p:nvSpPr>
          <p:cNvPr id="7" name="TextBox 7"/>
          <p:cNvSpPr txBox="1"/>
          <p:nvPr/>
        </p:nvSpPr>
        <p:spPr>
          <a:xfrm>
            <a:off x="1028700" y="8293227"/>
            <a:ext cx="16184880" cy="603885"/>
          </a:xfrm>
          <a:prstGeom prst="rect">
            <a:avLst/>
          </a:prstGeom>
        </p:spPr>
        <p:txBody>
          <a:bodyPr lIns="0" tIns="0" rIns="0" bIns="0" rtlCol="0" anchor="t">
            <a:spAutoFit/>
          </a:bodyPr>
          <a:lstStyle/>
          <a:p>
            <a:pPr algn="l">
              <a:lnSpc>
                <a:spcPts val="3240"/>
              </a:lnSpc>
            </a:pPr>
            <a:r>
              <a:rPr lang="en-US" sz="2700">
                <a:solidFill>
                  <a:srgbClr val="78D8CC"/>
                </a:solidFill>
                <a:latin typeface="DejaVu Sans Light"/>
                <a:ea typeface="DejaVu Sans Light"/>
                <a:cs typeface="DejaVu Sans Light"/>
                <a:sym typeface="DejaVu Sans Light"/>
              </a:rPr>
              <a:t>Real EEG alarm traces describe alert burden. They do not supply ground-truth shift times.</a:t>
            </a:r>
          </a:p>
        </p:txBody>
      </p:sp>
      <p:sp>
        <p:nvSpPr>
          <p:cNvPr id="8" name="TextBox 8"/>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DIETHE POLICY LABORATORY</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Diethe: separate change, performance and action</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Sources: Diethe et al. (2019), §§3–5; docs/diethe_experiments.md; src/adaptation/experiments/diethe.py.</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2647056201"/>
              </p:ext>
            </p:extLst>
          </p:nvPr>
        </p:nvGraphicFramePr>
        <p:xfrm>
          <a:off x="1028700" y="2674620"/>
          <a:ext cx="16173450" cy="4946904"/>
        </p:xfrm>
        <a:graphic>
          <a:graphicData uri="http://schemas.openxmlformats.org/drawingml/2006/table">
            <a:tbl>
              <a:tblPr/>
              <a:tblGrid>
                <a:gridCol w="6990220">
                  <a:extLst>
                    <a:ext uri="{9D8B030D-6E8A-4147-A177-3AD203B41FA5}">
                      <a16:colId xmlns:a16="http://schemas.microsoft.com/office/drawing/2014/main" val="20000"/>
                    </a:ext>
                  </a:extLst>
                </a:gridCol>
                <a:gridCol w="9183230">
                  <a:extLst>
                    <a:ext uri="{9D8B030D-6E8A-4147-A177-3AD203B41FA5}">
                      <a16:colId xmlns:a16="http://schemas.microsoft.com/office/drawing/2014/main" val="20001"/>
                    </a:ext>
                  </a:extLst>
                </a:gridCol>
              </a:tblGrid>
              <a:tr h="876300">
                <a:tc>
                  <a:txBody>
                    <a:bodyPr/>
                    <a:lstStyle/>
                    <a:p>
                      <a:pPr algn="l">
                        <a:lnSpc>
                          <a:spcPts val="3419"/>
                        </a:lnSpc>
                        <a:defRPr/>
                      </a:pPr>
                      <a:r>
                        <a:rPr lang="en-US" sz="2850" b="1">
                          <a:solidFill>
                            <a:srgbClr val="FFFFFF"/>
                          </a:solidFill>
                          <a:latin typeface="DejaVu Sans Bold"/>
                          <a:ea typeface="DejaVu Sans Bold"/>
                          <a:cs typeface="DejaVu Sans Bold"/>
                          <a:sym typeface="DejaVu Sans Bold"/>
                        </a:rPr>
                        <a:t>Question</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419"/>
                        </a:lnSpc>
                        <a:defRPr/>
                      </a:pPr>
                      <a:r>
                        <a:rPr lang="en-US" sz="2850" b="1">
                          <a:solidFill>
                            <a:srgbClr val="FFFFFF"/>
                          </a:solidFill>
                          <a:latin typeface="DejaVu Sans Bold"/>
                          <a:ea typeface="DejaVu Sans Bold"/>
                          <a:cs typeface="DejaVu Sans Bold"/>
                          <a:sym typeface="DejaVu Sans Bold"/>
                        </a:rPr>
                        <a:t>Repository experiment</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76300">
                <a:tc>
                  <a:txBody>
                    <a:bodyPr/>
                    <a:lstStyle/>
                    <a:p>
                      <a:pPr algn="l">
                        <a:lnSpc>
                          <a:spcPts val="3419"/>
                        </a:lnSpc>
                        <a:defRPr/>
                      </a:pPr>
                      <a:r>
                        <a:rPr lang="en-US" sz="2850" dirty="0">
                          <a:solidFill>
                            <a:schemeClr val="bg1"/>
                          </a:solidFill>
                          <a:latin typeface="DejaVu Sans Light"/>
                          <a:ea typeface="DejaVu Sans Light"/>
                          <a:cs typeface="DejaVu Sans Light"/>
                          <a:sym typeface="DejaVu Sans Light"/>
                        </a:rPr>
                        <a:t>Has the input changed?</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Shared CSE warnings and Stage-II validation records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76300">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Has prediction quality changed?</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Rolling accuracy against a held-out validation reference</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876300">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Should the model update?</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419"/>
                        </a:lnSpc>
                        <a:defRPr/>
                      </a:pPr>
                      <a:r>
                        <a:rPr lang="en-US" sz="2850" dirty="0">
                          <a:solidFill>
                            <a:schemeClr val="bg1"/>
                          </a:solidFill>
                          <a:latin typeface="DejaVu Sans Light"/>
                          <a:ea typeface="DejaVu Sans Light"/>
                          <a:cs typeface="DejaVu Sans Light"/>
                          <a:sym typeface="DejaVu Sans Light"/>
                        </a:rPr>
                        <a:t>Five explicit rules compared on the same stream</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876300">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What does updating cost?</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419"/>
                        </a:lnSpc>
                        <a:defRPr/>
                      </a:pPr>
                      <a:r>
                        <a:rPr lang="en-US" sz="2850" dirty="0">
                          <a:solidFill>
                            <a:schemeClr val="bg1"/>
                          </a:solidFill>
                          <a:latin typeface="DejaVu Sans Light"/>
                          <a:ea typeface="DejaVu Sans Light"/>
                          <a:cs typeface="DejaVu Sans Light"/>
                          <a:sym typeface="DejaVu Sans Light"/>
                        </a:rPr>
                        <a:t>Update count, fitting time, prediction time and training size</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bl>
          </a:graphicData>
        </a:graphic>
      </p:graphicFrame>
      <p:sp>
        <p:nvSpPr>
          <p:cNvPr id="7" name="TextBox 7"/>
          <p:cNvSpPr txBox="1"/>
          <p:nvPr/>
        </p:nvSpPr>
        <p:spPr>
          <a:xfrm>
            <a:off x="1028700" y="7559802"/>
            <a:ext cx="16184880" cy="120015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Initial five-policy pilot is historical; a sixth evidence-sufficiency policy is now implemented.</a:t>
            </a:r>
          </a:p>
          <a:p>
            <a:pPr algn="l">
              <a:lnSpc>
                <a:spcPts val="3240"/>
              </a:lnSpc>
            </a:pPr>
            <a:r>
              <a:rPr lang="en-US" sz="2700">
                <a:solidFill>
                  <a:srgbClr val="000000"/>
                </a:solidFill>
                <a:latin typeface="Calibri (MS)"/>
                <a:ea typeface="Calibri (MS)"/>
                <a:cs typeface="Calibri (MS)"/>
                <a:sym typeface="Calibri (MS)"/>
              </a:rPr>
              <a:t>Repeated matched comparisons across scenarios and seeds remain pending. This is not a Diethe reproduction.</a:t>
            </a:r>
          </a:p>
        </p:txBody>
      </p:sp>
      <p:sp>
        <p:nvSpPr>
          <p:cNvPr id="8" name="TextBox 8"/>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10412" y="484632"/>
            <a:ext cx="16139160" cy="388620"/>
          </a:xfrm>
          <a:prstGeom prst="rect">
            <a:avLst/>
          </a:prstGeom>
        </p:spPr>
        <p:txBody>
          <a:bodyPr lIns="0" tIns="0" rIns="0" bIns="0" rtlCol="0" anchor="t">
            <a:spAutoFit/>
          </a:bodyPr>
          <a:lstStyle/>
          <a:p>
            <a:pPr algn="l">
              <a:lnSpc>
                <a:spcPts val="2340"/>
              </a:lnSpc>
            </a:pPr>
            <a:r>
              <a:rPr lang="en-US" sz="1950" b="1">
                <a:solidFill>
                  <a:srgbClr val="AE9251"/>
                </a:solidFill>
                <a:latin typeface="Aptos Bold"/>
                <a:ea typeface="Aptos Bold"/>
                <a:cs typeface="Aptos Bold"/>
                <a:sym typeface="Aptos Bold"/>
              </a:rPr>
              <a:t>SEPARATE EXPERIMENTAL CONTEXT</a:t>
            </a:r>
          </a:p>
        </p:txBody>
      </p:sp>
      <p:sp>
        <p:nvSpPr>
          <p:cNvPr id="3" name="TextBox 3"/>
          <p:cNvSpPr txBox="1"/>
          <p:nvPr/>
        </p:nvSpPr>
        <p:spPr>
          <a:xfrm>
            <a:off x="1010412" y="1179957"/>
            <a:ext cx="16276320" cy="859155"/>
          </a:xfrm>
          <a:prstGeom prst="rect">
            <a:avLst/>
          </a:prstGeom>
        </p:spPr>
        <p:txBody>
          <a:bodyPr lIns="0" tIns="0" rIns="0" bIns="0" rtlCol="0" anchor="t">
            <a:spAutoFit/>
          </a:bodyPr>
          <a:lstStyle/>
          <a:p>
            <a:pPr algn="l">
              <a:lnSpc>
                <a:spcPts val="4860"/>
              </a:lnSpc>
            </a:pPr>
            <a:r>
              <a:rPr lang="en-US" sz="4050" b="1">
                <a:solidFill>
                  <a:srgbClr val="13274B"/>
                </a:solidFill>
                <a:latin typeface="Aptos Bold"/>
                <a:ea typeface="Aptos Bold"/>
                <a:cs typeface="Aptos Bold"/>
                <a:sym typeface="Aptos Bold"/>
              </a:rPr>
              <a:t>The Diethe policy lab uses supplied feature vectors</a:t>
            </a:r>
          </a:p>
        </p:txBody>
      </p:sp>
      <p:sp>
        <p:nvSpPr>
          <p:cNvPr id="4" name="TextBox 4"/>
          <p:cNvSpPr txBox="1"/>
          <p:nvPr/>
        </p:nvSpPr>
        <p:spPr>
          <a:xfrm>
            <a:off x="1120140" y="2189607"/>
            <a:ext cx="16139160" cy="686181"/>
          </a:xfrm>
          <a:prstGeom prst="rect">
            <a:avLst/>
          </a:prstGeom>
        </p:spPr>
        <p:txBody>
          <a:bodyPr lIns="0" tIns="0" rIns="0" bIns="0" rtlCol="0" anchor="t">
            <a:spAutoFit/>
          </a:bodyPr>
          <a:lstStyle/>
          <a:p>
            <a:pPr algn="l">
              <a:lnSpc>
                <a:spcPts val="2520"/>
              </a:lnSpc>
            </a:pPr>
            <a:r>
              <a:rPr lang="en-US" sz="2100">
                <a:solidFill>
                  <a:srgbClr val="53657C"/>
                </a:solidFill>
                <a:latin typeface="Aptos"/>
                <a:ea typeface="Aptos"/>
                <a:cs typeface="Aptos"/>
                <a:sym typeface="Aptos"/>
              </a:rPr>
              <a:t>Do not conflate the real-EEG FBCSP/PCA monitoring pipeline with the synthetic policy-comparison branch.</a:t>
            </a:r>
          </a:p>
        </p:txBody>
      </p:sp>
      <p:sp>
        <p:nvSpPr>
          <p:cNvPr id="5" name="TextBox 5"/>
          <p:cNvSpPr txBox="1"/>
          <p:nvPr/>
        </p:nvSpPr>
        <p:spPr>
          <a:xfrm>
            <a:off x="1010412" y="9801987"/>
            <a:ext cx="12161520" cy="233553"/>
          </a:xfrm>
          <a:prstGeom prst="rect">
            <a:avLst/>
          </a:prstGeom>
        </p:spPr>
        <p:txBody>
          <a:bodyPr lIns="0" tIns="0" rIns="0" bIns="0" rtlCol="0" anchor="t">
            <a:spAutoFit/>
          </a:bodyPr>
          <a:lstStyle/>
          <a:p>
            <a:pPr algn="l">
              <a:lnSpc>
                <a:spcPts val="1620"/>
              </a:lnSpc>
            </a:pPr>
            <a:r>
              <a:rPr lang="en-US" sz="1350">
                <a:solidFill>
                  <a:srgbClr val="53657C"/>
                </a:solidFill>
                <a:latin typeface="Aptos"/>
                <a:ea typeface="Aptos"/>
                <a:cs typeface="Aptos"/>
                <a:sym typeface="Aptos"/>
              </a:rPr>
              <a:t>hlin863/ewma_covariate_shift_demo</a:t>
            </a:r>
          </a:p>
        </p:txBody>
      </p:sp>
      <p:grpSp>
        <p:nvGrpSpPr>
          <p:cNvPr id="6" name="Group 6"/>
          <p:cNvGrpSpPr/>
          <p:nvPr/>
        </p:nvGrpSpPr>
        <p:grpSpPr>
          <a:xfrm>
            <a:off x="1234440" y="2907792"/>
            <a:ext cx="7543800" cy="3497580"/>
            <a:chOff x="0" y="0"/>
            <a:chExt cx="10058400" cy="4663440"/>
          </a:xfrm>
        </p:grpSpPr>
        <p:sp>
          <p:nvSpPr>
            <p:cNvPr id="7" name="Freeform 7"/>
            <p:cNvSpPr/>
            <p:nvPr/>
          </p:nvSpPr>
          <p:spPr>
            <a:xfrm>
              <a:off x="0" y="0"/>
              <a:ext cx="10058400" cy="4663440"/>
            </a:xfrm>
            <a:custGeom>
              <a:avLst/>
              <a:gdLst/>
              <a:ahLst/>
              <a:cxnLst/>
              <a:rect l="l" t="t" r="r" b="b"/>
              <a:pathLst>
                <a:path w="10058400" h="4663440">
                  <a:moveTo>
                    <a:pt x="0" y="777240"/>
                  </a:moveTo>
                  <a:cubicBezTo>
                    <a:pt x="0" y="347980"/>
                    <a:pt x="347980" y="0"/>
                    <a:pt x="777240" y="0"/>
                  </a:cubicBezTo>
                  <a:lnTo>
                    <a:pt x="9281160" y="0"/>
                  </a:lnTo>
                  <a:cubicBezTo>
                    <a:pt x="9710420" y="0"/>
                    <a:pt x="10058400" y="347980"/>
                    <a:pt x="10058400" y="777240"/>
                  </a:cubicBezTo>
                  <a:lnTo>
                    <a:pt x="10058400" y="3886200"/>
                  </a:lnTo>
                  <a:cubicBezTo>
                    <a:pt x="10058400" y="4315460"/>
                    <a:pt x="9710420" y="4663440"/>
                    <a:pt x="9281160" y="4663440"/>
                  </a:cubicBezTo>
                  <a:lnTo>
                    <a:pt x="777240" y="4663440"/>
                  </a:lnTo>
                  <a:cubicBezTo>
                    <a:pt x="347980" y="4663440"/>
                    <a:pt x="0" y="4315460"/>
                    <a:pt x="0" y="3886200"/>
                  </a:cubicBezTo>
                  <a:close/>
                </a:path>
              </a:pathLst>
            </a:custGeom>
            <a:solidFill>
              <a:srgbClr val="ECF2F8"/>
            </a:solidFill>
          </p:spPr>
          <p:txBody>
            <a:bodyPr/>
            <a:lstStyle/>
            <a:p>
              <a:endParaRPr lang="en-GB"/>
            </a:p>
          </p:txBody>
        </p:sp>
      </p:grpSp>
      <p:grpSp>
        <p:nvGrpSpPr>
          <p:cNvPr id="8" name="Group 8"/>
          <p:cNvGrpSpPr/>
          <p:nvPr/>
        </p:nvGrpSpPr>
        <p:grpSpPr>
          <a:xfrm>
            <a:off x="9326880" y="2907792"/>
            <a:ext cx="7543800" cy="3497580"/>
            <a:chOff x="0" y="0"/>
            <a:chExt cx="10058400" cy="4663440"/>
          </a:xfrm>
        </p:grpSpPr>
        <p:sp>
          <p:nvSpPr>
            <p:cNvPr id="9" name="Freeform 9"/>
            <p:cNvSpPr/>
            <p:nvPr/>
          </p:nvSpPr>
          <p:spPr>
            <a:xfrm>
              <a:off x="0" y="0"/>
              <a:ext cx="10058400" cy="4663440"/>
            </a:xfrm>
            <a:custGeom>
              <a:avLst/>
              <a:gdLst/>
              <a:ahLst/>
              <a:cxnLst/>
              <a:rect l="l" t="t" r="r" b="b"/>
              <a:pathLst>
                <a:path w="10058400" h="4663440">
                  <a:moveTo>
                    <a:pt x="0" y="777240"/>
                  </a:moveTo>
                  <a:cubicBezTo>
                    <a:pt x="0" y="347980"/>
                    <a:pt x="347980" y="0"/>
                    <a:pt x="777240" y="0"/>
                  </a:cubicBezTo>
                  <a:lnTo>
                    <a:pt x="9281160" y="0"/>
                  </a:lnTo>
                  <a:cubicBezTo>
                    <a:pt x="9710420" y="0"/>
                    <a:pt x="10058400" y="347980"/>
                    <a:pt x="10058400" y="777240"/>
                  </a:cubicBezTo>
                  <a:lnTo>
                    <a:pt x="10058400" y="3886200"/>
                  </a:lnTo>
                  <a:cubicBezTo>
                    <a:pt x="10058400" y="4315460"/>
                    <a:pt x="9710420" y="4663440"/>
                    <a:pt x="9281160" y="4663440"/>
                  </a:cubicBezTo>
                  <a:lnTo>
                    <a:pt x="777240" y="4663440"/>
                  </a:lnTo>
                  <a:cubicBezTo>
                    <a:pt x="347980" y="4663440"/>
                    <a:pt x="0" y="4315460"/>
                    <a:pt x="0" y="3886200"/>
                  </a:cubicBezTo>
                  <a:close/>
                </a:path>
              </a:pathLst>
            </a:custGeom>
            <a:solidFill>
              <a:srgbClr val="ECF2F8"/>
            </a:solidFill>
          </p:spPr>
          <p:txBody>
            <a:bodyPr/>
            <a:lstStyle/>
            <a:p>
              <a:endParaRPr lang="en-GB"/>
            </a:p>
          </p:txBody>
        </p:sp>
      </p:grpSp>
      <p:sp>
        <p:nvSpPr>
          <p:cNvPr id="10" name="TextBox 10"/>
          <p:cNvSpPr txBox="1"/>
          <p:nvPr/>
        </p:nvSpPr>
        <p:spPr>
          <a:xfrm>
            <a:off x="1655064" y="3364992"/>
            <a:ext cx="6620256" cy="525780"/>
          </a:xfrm>
          <a:prstGeom prst="rect">
            <a:avLst/>
          </a:prstGeom>
        </p:spPr>
        <p:txBody>
          <a:bodyPr lIns="0" tIns="0" rIns="0" bIns="0" rtlCol="0" anchor="t">
            <a:spAutoFit/>
          </a:bodyPr>
          <a:lstStyle/>
          <a:p>
            <a:pPr algn="l">
              <a:lnSpc>
                <a:spcPts val="3600"/>
              </a:lnSpc>
            </a:pPr>
            <a:r>
              <a:rPr lang="en-US" sz="3000" b="1">
                <a:solidFill>
                  <a:srgbClr val="13274B"/>
                </a:solidFill>
                <a:latin typeface="Aptos Bold"/>
                <a:ea typeface="Aptos Bold"/>
                <a:cs typeface="Aptos Bold"/>
                <a:sym typeface="Aptos Bold"/>
              </a:rPr>
              <a:t>Real-EEG branch</a:t>
            </a:r>
          </a:p>
        </p:txBody>
      </p:sp>
      <p:sp>
        <p:nvSpPr>
          <p:cNvPr id="11" name="TextBox 11"/>
          <p:cNvSpPr txBox="1"/>
          <p:nvPr/>
        </p:nvSpPr>
        <p:spPr>
          <a:xfrm>
            <a:off x="1655064" y="4242816"/>
            <a:ext cx="6620256" cy="1554480"/>
          </a:xfrm>
          <a:prstGeom prst="rect">
            <a:avLst/>
          </a:prstGeom>
        </p:spPr>
        <p:txBody>
          <a:bodyPr lIns="0" tIns="0" rIns="0" bIns="0" rtlCol="0" anchor="t">
            <a:spAutoFit/>
          </a:bodyPr>
          <a:lstStyle/>
          <a:p>
            <a:pPr algn="l">
              <a:lnSpc>
                <a:spcPts val="2879"/>
              </a:lnSpc>
            </a:pPr>
            <a:r>
              <a:rPr lang="en-US" sz="2400">
                <a:solidFill>
                  <a:srgbClr val="53657C"/>
                </a:solidFill>
                <a:latin typeface="Aptos"/>
                <a:ea typeface="Aptos"/>
                <a:cs typeface="Aptos"/>
                <a:sym typeface="Aptos"/>
              </a:rPr>
              <a:t>EEG trial → calibrated FBCSP → feature vector fₜ</a:t>
            </a:r>
          </a:p>
          <a:p>
            <a:pPr algn="l">
              <a:lnSpc>
                <a:spcPts val="2879"/>
              </a:lnSpc>
            </a:pPr>
            <a:r>
              <a:rPr lang="en-US" sz="2400">
                <a:solidFill>
                  <a:srgbClr val="53657C"/>
                </a:solidFill>
                <a:latin typeface="Aptos"/>
                <a:ea typeface="Aptos"/>
                <a:cs typeface="Aptos"/>
                <a:sym typeface="Aptos"/>
              </a:rPr>
              <a:t>PCA is used by monitoring; SVM receives fₜ.</a:t>
            </a:r>
          </a:p>
        </p:txBody>
      </p:sp>
      <p:sp>
        <p:nvSpPr>
          <p:cNvPr id="12" name="TextBox 12"/>
          <p:cNvSpPr txBox="1"/>
          <p:nvPr/>
        </p:nvSpPr>
        <p:spPr>
          <a:xfrm>
            <a:off x="9747504" y="3364992"/>
            <a:ext cx="6620256" cy="525780"/>
          </a:xfrm>
          <a:prstGeom prst="rect">
            <a:avLst/>
          </a:prstGeom>
        </p:spPr>
        <p:txBody>
          <a:bodyPr lIns="0" tIns="0" rIns="0" bIns="0" rtlCol="0" anchor="t">
            <a:spAutoFit/>
          </a:bodyPr>
          <a:lstStyle/>
          <a:p>
            <a:pPr algn="l">
              <a:lnSpc>
                <a:spcPts val="3600"/>
              </a:lnSpc>
            </a:pPr>
            <a:r>
              <a:rPr lang="en-US" sz="3000" b="1">
                <a:solidFill>
                  <a:srgbClr val="13274B"/>
                </a:solidFill>
                <a:latin typeface="Aptos Bold"/>
                <a:ea typeface="Aptos Bold"/>
                <a:cs typeface="Aptos Bold"/>
                <a:sym typeface="Aptos Bold"/>
              </a:rPr>
              <a:t>Diethe laboratory branch</a:t>
            </a:r>
          </a:p>
        </p:txBody>
      </p:sp>
      <p:sp>
        <p:nvSpPr>
          <p:cNvPr id="13" name="TextBox 13"/>
          <p:cNvSpPr txBox="1"/>
          <p:nvPr/>
        </p:nvSpPr>
        <p:spPr>
          <a:xfrm>
            <a:off x="9747504" y="4242816"/>
            <a:ext cx="6620256" cy="1554480"/>
          </a:xfrm>
          <a:prstGeom prst="rect">
            <a:avLst/>
          </a:prstGeom>
        </p:spPr>
        <p:txBody>
          <a:bodyPr lIns="0" tIns="0" rIns="0" bIns="0" rtlCol="0" anchor="t">
            <a:spAutoFit/>
          </a:bodyPr>
          <a:lstStyle/>
          <a:p>
            <a:pPr algn="l">
              <a:lnSpc>
                <a:spcPts val="2879"/>
              </a:lnSpc>
            </a:pPr>
            <a:r>
              <a:rPr lang="en-US" sz="2400">
                <a:solidFill>
                  <a:srgbClr val="53657C"/>
                </a:solidFill>
                <a:latin typeface="Aptos"/>
                <a:ea typeface="Aptos"/>
                <a:cs typeface="Aptos"/>
                <a:sym typeface="Aptos"/>
              </a:rPr>
              <a:t>Supplied / synthetic features → classifier and CSE detector</a:t>
            </a:r>
          </a:p>
          <a:p>
            <a:pPr algn="l">
              <a:lnSpc>
                <a:spcPts val="2879"/>
              </a:lnSpc>
            </a:pPr>
            <a:r>
              <a:rPr lang="en-US" sz="2400">
                <a:solidFill>
                  <a:srgbClr val="53657C"/>
                </a:solidFill>
                <a:latin typeface="Aptos"/>
                <a:ea typeface="Aptos"/>
                <a:cs typeface="Aptos"/>
                <a:sym typeface="Aptos"/>
              </a:rPr>
              <a:t>No EEG extraction or FBCSP step is present.</a:t>
            </a:r>
          </a:p>
        </p:txBody>
      </p:sp>
      <p:sp>
        <p:nvSpPr>
          <p:cNvPr id="14" name="TextBox 14"/>
          <p:cNvSpPr txBox="1"/>
          <p:nvPr/>
        </p:nvSpPr>
        <p:spPr>
          <a:xfrm>
            <a:off x="1435608" y="7027164"/>
            <a:ext cx="15727680" cy="800100"/>
          </a:xfrm>
          <a:prstGeom prst="rect">
            <a:avLst/>
          </a:prstGeom>
        </p:spPr>
        <p:txBody>
          <a:bodyPr lIns="0" tIns="0" rIns="0" bIns="0" rtlCol="0" anchor="t">
            <a:spAutoFit/>
          </a:bodyPr>
          <a:lstStyle/>
          <a:p>
            <a:pPr algn="l">
              <a:lnSpc>
                <a:spcPts val="3240"/>
              </a:lnSpc>
            </a:pPr>
            <a:r>
              <a:rPr lang="en-US" sz="2700" b="1">
                <a:solidFill>
                  <a:srgbClr val="13274B"/>
                </a:solidFill>
                <a:latin typeface="Aptos Bold"/>
                <a:ea typeface="Aptos Bold"/>
                <a:cs typeface="Aptos Bold"/>
                <a:sym typeface="Aptos Bold"/>
              </a:rPr>
              <a:t>Shared research question: should a confirmed distribution change trigger an update, and does that update help predictive performance?</a:t>
            </a:r>
          </a:p>
        </p:txBody>
      </p:sp>
      <p:sp>
        <p:nvSpPr>
          <p:cNvPr id="15" name="TextBox 15"/>
          <p:cNvSpPr txBox="1"/>
          <p:nvPr/>
        </p:nvSpPr>
        <p:spPr>
          <a:xfrm>
            <a:off x="1435608" y="8604504"/>
            <a:ext cx="15590520" cy="457200"/>
          </a:xfrm>
          <a:prstGeom prst="rect">
            <a:avLst/>
          </a:prstGeom>
        </p:spPr>
        <p:txBody>
          <a:bodyPr lIns="0" tIns="0" rIns="0" bIns="0" rtlCol="0" anchor="t">
            <a:spAutoFit/>
          </a:bodyPr>
          <a:lstStyle/>
          <a:p>
            <a:pPr algn="l">
              <a:lnSpc>
                <a:spcPts val="2340"/>
              </a:lnSpc>
            </a:pPr>
            <a:r>
              <a:rPr lang="en-US" sz="1950">
                <a:solidFill>
                  <a:srgbClr val="53657C"/>
                </a:solidFill>
                <a:latin typeface="Aptos"/>
                <a:ea typeface="Aptos"/>
                <a:cs typeface="Aptos"/>
                <a:sym typeface="Aptos"/>
              </a:rPr>
              <a:t>Repository interpretation: run_policy_comparison(); the five-policy comparison is a controlled laboratory, not proof of clinical BCI benefit.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DIETHE EXPERIMENT DESIGN</a:t>
            </a:r>
          </a:p>
        </p:txBody>
      </p:sp>
      <p:sp>
        <p:nvSpPr>
          <p:cNvPr id="3" name="TextBox 3"/>
          <p:cNvSpPr txBox="1"/>
          <p:nvPr/>
        </p:nvSpPr>
        <p:spPr>
          <a:xfrm>
            <a:off x="918972" y="1154430"/>
            <a:ext cx="16459200" cy="9258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Six policies, three controlled scenarios</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 docs/diethe_experiments.md and current CLI. Defaults: 240 trials, 20-trial interval, 30-trial performance window.</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2160426477"/>
              </p:ext>
            </p:extLst>
          </p:nvPr>
        </p:nvGraphicFramePr>
        <p:xfrm>
          <a:off x="1028700" y="2510028"/>
          <a:ext cx="16154400" cy="2895600"/>
        </p:xfrm>
        <a:graphic>
          <a:graphicData uri="http://schemas.openxmlformats.org/drawingml/2006/table">
            <a:tbl>
              <a:tblPr/>
              <a:tblGrid>
                <a:gridCol w="6023675">
                  <a:extLst>
                    <a:ext uri="{9D8B030D-6E8A-4147-A177-3AD203B41FA5}">
                      <a16:colId xmlns:a16="http://schemas.microsoft.com/office/drawing/2014/main" val="20000"/>
                    </a:ext>
                  </a:extLst>
                </a:gridCol>
                <a:gridCol w="10130725">
                  <a:extLst>
                    <a:ext uri="{9D8B030D-6E8A-4147-A177-3AD203B41FA5}">
                      <a16:colId xmlns:a16="http://schemas.microsoft.com/office/drawing/2014/main" val="20001"/>
                    </a:ext>
                  </a:extLst>
                </a:gridCol>
              </a:tblGrid>
              <a:tr h="723900">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Policy</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Update trigger</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72390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Never / periodic</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No update / every configured interval</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7239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Warning / validated</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Stage-I warning / available Stage-II confirmation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7239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Performance drop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Rolling accuracy drops below the validation reference</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bl>
          </a:graphicData>
        </a:graphic>
      </p:graphicFrame>
      <p:sp>
        <p:nvSpPr>
          <p:cNvPr id="7" name="TextBox 7"/>
          <p:cNvSpPr txBox="1"/>
          <p:nvPr/>
        </p:nvSpPr>
        <p:spPr>
          <a:xfrm>
            <a:off x="1028700" y="5879211"/>
            <a:ext cx="16184880" cy="17697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No shift: baseline alert and update burden.</a:t>
            </a:r>
          </a:p>
          <a:p>
            <a:pPr algn="l">
              <a:lnSpc>
                <a:spcPts val="3600"/>
              </a:lnSpc>
            </a:pPr>
            <a:r>
              <a:rPr lang="en-US" sz="3000">
                <a:solidFill>
                  <a:srgbClr val="EAF2F8"/>
                </a:solidFill>
                <a:latin typeface="DejaVu Sans Light"/>
                <a:ea typeface="DejaVu Sans Light"/>
                <a:cs typeface="DejaVu Sans Light"/>
                <a:sym typeface="DejaVu Sans Light"/>
              </a:rPr>
              <a:t>Feature shift: P(X) changes; the label rule stays fixed.</a:t>
            </a:r>
          </a:p>
          <a:p>
            <a:pPr algn="l">
              <a:lnSpc>
                <a:spcPts val="3600"/>
              </a:lnSpc>
            </a:pPr>
            <a:r>
              <a:rPr lang="en-US" sz="3000">
                <a:solidFill>
                  <a:srgbClr val="EAF2F8"/>
                </a:solidFill>
                <a:latin typeface="DejaVu Sans Light"/>
                <a:ea typeface="DejaVu Sans Light"/>
                <a:cs typeface="DejaVu Sans Light"/>
                <a:sym typeface="DejaVu Sans Light"/>
              </a:rPr>
              <a:t>Relationship shift: the label rule changes; P(X) stays fixed.</a:t>
            </a:r>
          </a:p>
        </p:txBody>
      </p:sp>
      <p:sp>
        <p:nvSpPr>
          <p:cNvPr id="8" name="TextBox 8"/>
          <p:cNvSpPr txBox="1"/>
          <p:nvPr/>
        </p:nvSpPr>
        <p:spPr>
          <a:xfrm>
            <a:off x="1028700" y="8087487"/>
            <a:ext cx="16184880" cy="809625"/>
          </a:xfrm>
          <a:prstGeom prst="rect">
            <a:avLst/>
          </a:prstGeom>
        </p:spPr>
        <p:txBody>
          <a:bodyPr lIns="0" tIns="0" rIns="0" bIns="0" rtlCol="0" anchor="t">
            <a:spAutoFit/>
          </a:bodyPr>
          <a:lstStyle/>
          <a:p>
            <a:pPr algn="l">
              <a:lnSpc>
                <a:spcPts val="2879"/>
              </a:lnSpc>
            </a:pPr>
            <a:r>
              <a:rPr lang="en-US" sz="2400">
                <a:solidFill>
                  <a:srgbClr val="9CB0C3"/>
                </a:solidFill>
                <a:latin typeface="DejaVu Sans Light"/>
                <a:ea typeface="DejaVu Sans Light"/>
                <a:cs typeface="DejaVu Sans Light"/>
                <a:sym typeface="DejaVu Sans Light"/>
              </a:rPr>
              <a:t>Predict before revealing each label. Training expands after updates.</a:t>
            </a:r>
          </a:p>
          <a:p>
            <a:pPr algn="l">
              <a:lnSpc>
                <a:spcPts val="2879"/>
              </a:lnSpc>
            </a:pPr>
            <a:r>
              <a:rPr lang="en-US" sz="2400">
                <a:solidFill>
                  <a:srgbClr val="9CB0C3"/>
                </a:solidFill>
                <a:latin typeface="DejaVu Sans Light"/>
                <a:ea typeface="DejaVu Sans Light"/>
                <a:cs typeface="DejaVu Sans Light"/>
                <a:sym typeface="DejaVu Sans Light"/>
              </a:rPr>
              <a:t>Delayed labels, rollback and energy measurement remain outside this experiment.</a:t>
            </a:r>
          </a:p>
        </p:txBody>
      </p:sp>
      <p:sp>
        <p:nvSpPr>
          <p:cNvPr id="9" name="TextBox 9"/>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18</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ADAPTATION POLICY PROGRESS</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Six policy families — one exploratory laboratory</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Repository HEAD 98908f08f; Diethe-oriented comparison is not a reproduction of Diethe et al. (2019).</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2980563"/>
            <a:ext cx="8042910" cy="5327142"/>
            <a:chOff x="0" y="0"/>
            <a:chExt cx="10723880" cy="7102856"/>
          </a:xfrm>
        </p:grpSpPr>
        <p:sp>
          <p:nvSpPr>
            <p:cNvPr id="7" name="Freeform 7"/>
            <p:cNvSpPr/>
            <p:nvPr/>
          </p:nvSpPr>
          <p:spPr>
            <a:xfrm>
              <a:off x="0" y="0"/>
              <a:ext cx="10723880" cy="7102856"/>
            </a:xfrm>
            <a:custGeom>
              <a:avLst/>
              <a:gdLst/>
              <a:ahLst/>
              <a:cxnLst/>
              <a:rect l="l" t="t" r="r" b="b"/>
              <a:pathLst>
                <a:path w="10723880" h="7102856">
                  <a:moveTo>
                    <a:pt x="0" y="1183894"/>
                  </a:moveTo>
                  <a:cubicBezTo>
                    <a:pt x="0" y="529971"/>
                    <a:pt x="529971" y="0"/>
                    <a:pt x="1183894" y="0"/>
                  </a:cubicBezTo>
                  <a:lnTo>
                    <a:pt x="9539986" y="0"/>
                  </a:lnTo>
                  <a:cubicBezTo>
                    <a:pt x="10193782" y="0"/>
                    <a:pt x="10723880" y="529971"/>
                    <a:pt x="10723880" y="1183894"/>
                  </a:cubicBezTo>
                  <a:lnTo>
                    <a:pt x="10723880" y="5918962"/>
                  </a:lnTo>
                  <a:cubicBezTo>
                    <a:pt x="10723880" y="6572758"/>
                    <a:pt x="10193909" y="7102856"/>
                    <a:pt x="9539986" y="7102856"/>
                  </a:cubicBezTo>
                  <a:lnTo>
                    <a:pt x="1183894" y="7102856"/>
                  </a:lnTo>
                  <a:cubicBezTo>
                    <a:pt x="529971" y="7102856"/>
                    <a:pt x="0" y="6572885"/>
                    <a:pt x="0" y="591896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186684"/>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POLICIES</a:t>
            </a:r>
          </a:p>
        </p:txBody>
      </p:sp>
      <p:sp>
        <p:nvSpPr>
          <p:cNvPr id="9" name="TextBox 9"/>
          <p:cNvSpPr txBox="1"/>
          <p:nvPr/>
        </p:nvSpPr>
        <p:spPr>
          <a:xfrm>
            <a:off x="1220724" y="3803904"/>
            <a:ext cx="7438644" cy="4283964"/>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1. Never update (baseline)</a:t>
            </a:r>
          </a:p>
          <a:p>
            <a:pPr algn="l">
              <a:lnSpc>
                <a:spcPts val="2340"/>
              </a:lnSpc>
            </a:pPr>
            <a:r>
              <a:rPr lang="en-US" sz="1950">
                <a:solidFill>
                  <a:srgbClr val="12233B"/>
                </a:solidFill>
                <a:latin typeface="Aptos"/>
                <a:ea typeface="Aptos"/>
                <a:cs typeface="Aptos"/>
                <a:sym typeface="Aptos"/>
              </a:rPr>
              <a:t>2. Periodic retraining (passive)</a:t>
            </a:r>
          </a:p>
          <a:p>
            <a:pPr algn="l">
              <a:lnSpc>
                <a:spcPts val="2340"/>
              </a:lnSpc>
            </a:pPr>
            <a:r>
              <a:rPr lang="en-US" sz="1950">
                <a:solidFill>
                  <a:srgbClr val="12233B"/>
                </a:solidFill>
                <a:latin typeface="Aptos"/>
                <a:ea typeface="Aptos"/>
                <a:cs typeface="Aptos"/>
                <a:sym typeface="Aptos"/>
              </a:rPr>
              <a:t>3. EWMA warning-triggered update</a:t>
            </a:r>
          </a:p>
          <a:p>
            <a:pPr algn="l">
              <a:lnSpc>
                <a:spcPts val="2340"/>
              </a:lnSpc>
            </a:pPr>
            <a:r>
              <a:rPr lang="en-US" sz="1950">
                <a:solidFill>
                  <a:srgbClr val="12233B"/>
                </a:solidFill>
                <a:latin typeface="Aptos"/>
                <a:ea typeface="Aptos"/>
                <a:cs typeface="Aptos"/>
                <a:sym typeface="Aptos"/>
              </a:rPr>
              <a:t>4. Validated shift-triggered update</a:t>
            </a:r>
          </a:p>
          <a:p>
            <a:pPr algn="l">
              <a:lnSpc>
                <a:spcPts val="2340"/>
              </a:lnSpc>
            </a:pPr>
            <a:r>
              <a:rPr lang="en-US" sz="1950">
                <a:solidFill>
                  <a:srgbClr val="12233B"/>
                </a:solidFill>
                <a:latin typeface="Aptos"/>
                <a:ea typeface="Aptos"/>
                <a:cs typeface="Aptos"/>
                <a:sym typeface="Aptos"/>
              </a:rPr>
              <a:t>5. Performance-drop-triggered update</a:t>
            </a:r>
          </a:p>
          <a:p>
            <a:pPr algn="l">
              <a:lnSpc>
                <a:spcPts val="2340"/>
              </a:lnSpc>
            </a:pPr>
            <a:r>
              <a:rPr lang="en-US" sz="1950">
                <a:solidFill>
                  <a:srgbClr val="12233B"/>
                </a:solidFill>
                <a:latin typeface="Aptos"/>
                <a:ea typeface="Aptos"/>
                <a:cs typeface="Aptos"/>
                <a:sym typeface="Aptos"/>
              </a:rPr>
              <a:t>6. Evidence-sufficiency heuristic</a:t>
            </a:r>
          </a:p>
        </p:txBody>
      </p:sp>
      <p:grpSp>
        <p:nvGrpSpPr>
          <p:cNvPr id="10" name="Group 10"/>
          <p:cNvGrpSpPr/>
          <p:nvPr/>
        </p:nvGrpSpPr>
        <p:grpSpPr>
          <a:xfrm>
            <a:off x="9317355" y="2980563"/>
            <a:ext cx="8042910" cy="5327142"/>
            <a:chOff x="0" y="0"/>
            <a:chExt cx="10723880" cy="7102856"/>
          </a:xfrm>
        </p:grpSpPr>
        <p:sp>
          <p:nvSpPr>
            <p:cNvPr id="11" name="Freeform 11"/>
            <p:cNvSpPr/>
            <p:nvPr/>
          </p:nvSpPr>
          <p:spPr>
            <a:xfrm>
              <a:off x="0" y="0"/>
              <a:ext cx="10723880" cy="7102856"/>
            </a:xfrm>
            <a:custGeom>
              <a:avLst/>
              <a:gdLst/>
              <a:ahLst/>
              <a:cxnLst/>
              <a:rect l="l" t="t" r="r" b="b"/>
              <a:pathLst>
                <a:path w="10723880" h="7102856">
                  <a:moveTo>
                    <a:pt x="0" y="1183894"/>
                  </a:moveTo>
                  <a:cubicBezTo>
                    <a:pt x="0" y="529971"/>
                    <a:pt x="529971" y="0"/>
                    <a:pt x="1183894" y="0"/>
                  </a:cubicBezTo>
                  <a:lnTo>
                    <a:pt x="9539986" y="0"/>
                  </a:lnTo>
                  <a:cubicBezTo>
                    <a:pt x="10193782" y="0"/>
                    <a:pt x="10723880" y="529971"/>
                    <a:pt x="10723880" y="1183894"/>
                  </a:cubicBezTo>
                  <a:lnTo>
                    <a:pt x="10723880" y="5918962"/>
                  </a:lnTo>
                  <a:cubicBezTo>
                    <a:pt x="10723880" y="6572758"/>
                    <a:pt x="10193909" y="7102856"/>
                    <a:pt x="9539986" y="7102856"/>
                  </a:cubicBezTo>
                  <a:lnTo>
                    <a:pt x="1183894" y="7102856"/>
                  </a:lnTo>
                  <a:cubicBezTo>
                    <a:pt x="529971" y="7102856"/>
                    <a:pt x="0" y="6572885"/>
                    <a:pt x="0" y="591896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186684"/>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VALIDATION BOUNDARIES</a:t>
            </a:r>
          </a:p>
        </p:txBody>
      </p:sp>
      <p:sp>
        <p:nvSpPr>
          <p:cNvPr id="13" name="TextBox 13"/>
          <p:cNvSpPr txBox="1"/>
          <p:nvPr/>
        </p:nvSpPr>
        <p:spPr>
          <a:xfrm>
            <a:off x="9587484" y="3803904"/>
            <a:ext cx="7438644" cy="4283964"/>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Three scenarios: stationary, marginal feature shift, changed label relationship.</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Labels arrive immediately after prediction; historical training data accumulate.</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Precision-gain proxy is not optimal welfare value. Repeated seeds, delayed labels, energy and forgetting remain open.</a:t>
            </a:r>
          </a:p>
        </p:txBody>
      </p:sp>
      <p:sp>
        <p:nvSpPr>
          <p:cNvPr id="14" name="TextBox 14"/>
          <p:cNvSpPr txBox="1"/>
          <p:nvPr/>
        </p:nvSpPr>
        <p:spPr>
          <a:xfrm>
            <a:off x="1261872" y="8549640"/>
            <a:ext cx="16340328" cy="512064"/>
          </a:xfrm>
          <a:prstGeom prst="rect">
            <a:avLst/>
          </a:prstGeom>
        </p:spPr>
        <p:txBody>
          <a:bodyPr lIns="0" tIns="0" rIns="0" bIns="0" rtlCol="0" anchor="t">
            <a:spAutoFit/>
          </a:bodyPr>
          <a:lstStyle/>
          <a:p>
            <a:pPr algn="l">
              <a:lnSpc>
                <a:spcPts val="1800"/>
              </a:lnSpc>
            </a:pPr>
            <a:r>
              <a:rPr lang="en-US" sz="1500">
                <a:solidFill>
                  <a:srgbClr val="516377"/>
                </a:solidFill>
                <a:latin typeface="Aptos"/>
                <a:ea typeface="Aptos"/>
                <a:cs typeface="Aptos"/>
                <a:sym typeface="Aptos"/>
              </a:rPr>
              <a:t>Sources: docs/diethe_experiments.md; src/adaptation/evidence_value.py; Diethe et al. (2019).</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937260" y="448056"/>
            <a:ext cx="16285464" cy="448056"/>
          </a:xfrm>
          <a:prstGeom prst="rect">
            <a:avLst/>
          </a:prstGeom>
        </p:spPr>
        <p:txBody>
          <a:bodyPr lIns="0" tIns="0" rIns="0" bIns="0" rtlCol="0" anchor="t">
            <a:spAutoFit/>
          </a:bodyPr>
          <a:lstStyle/>
          <a:p>
            <a:pPr algn="l">
              <a:lnSpc>
                <a:spcPts val="3419"/>
              </a:lnSpc>
            </a:pPr>
            <a:r>
              <a:rPr lang="en-US" sz="2850" b="1">
                <a:solidFill>
                  <a:srgbClr val="24DED2"/>
                </a:solidFill>
                <a:latin typeface="Aptos Bold"/>
                <a:ea typeface="Aptos Bold"/>
                <a:cs typeface="Aptos Bold"/>
                <a:sym typeface="Aptos Bold"/>
              </a:rPr>
              <a:t>CONTINUAL LEARNING UPDATE</a:t>
            </a:r>
          </a:p>
        </p:txBody>
      </p:sp>
      <p:sp>
        <p:nvSpPr>
          <p:cNvPr id="3" name="TextBox 3"/>
          <p:cNvSpPr txBox="1"/>
          <p:nvPr/>
        </p:nvSpPr>
        <p:spPr>
          <a:xfrm>
            <a:off x="937260" y="1078992"/>
            <a:ext cx="16285464" cy="996696"/>
          </a:xfrm>
          <a:prstGeom prst="rect">
            <a:avLst/>
          </a:prstGeom>
        </p:spPr>
        <p:txBody>
          <a:bodyPr lIns="0" tIns="0" rIns="0" bIns="0" rtlCol="0" anchor="t">
            <a:spAutoFit/>
          </a:bodyPr>
          <a:lstStyle/>
          <a:p>
            <a:pPr algn="l">
              <a:lnSpc>
                <a:spcPts val="3960"/>
              </a:lnSpc>
            </a:pPr>
            <a:r>
              <a:rPr lang="en-US" sz="3300" b="1">
                <a:solidFill>
                  <a:srgbClr val="F5F8FC"/>
                </a:solidFill>
                <a:latin typeface="Aptos Bold"/>
                <a:ea typeface="Aptos Bold"/>
                <a:cs typeface="Aptos Bold"/>
                <a:sym typeface="Aptos Bold"/>
              </a:rPr>
              <a:t>Hurtado-aligned passive updating: count new experience, not global trial position</a:t>
            </a:r>
          </a:p>
        </p:txBody>
      </p:sp>
      <p:sp>
        <p:nvSpPr>
          <p:cNvPr id="4" name="TextBox 4"/>
          <p:cNvSpPr txBox="1"/>
          <p:nvPr/>
        </p:nvSpPr>
        <p:spPr>
          <a:xfrm>
            <a:off x="937260" y="2189988"/>
            <a:ext cx="16285464" cy="393192"/>
          </a:xfrm>
          <a:prstGeom prst="rect">
            <a:avLst/>
          </a:prstGeom>
        </p:spPr>
        <p:txBody>
          <a:bodyPr lIns="0" tIns="0" rIns="0" bIns="0" rtlCol="0" anchor="t">
            <a:spAutoFit/>
          </a:bodyPr>
          <a:lstStyle/>
          <a:p>
            <a:pPr algn="l">
              <a:lnSpc>
                <a:spcPts val="2070"/>
              </a:lnSpc>
            </a:pPr>
            <a:r>
              <a:rPr lang="en-US" sz="1725">
                <a:solidFill>
                  <a:srgbClr val="B2BCC6"/>
                </a:solidFill>
                <a:latin typeface="Aptos"/>
                <a:ea typeface="Aptos"/>
                <a:cs typeface="Aptos"/>
                <a:sym typeface="Aptos"/>
              </a:rPr>
              <a:t>Source: Hurtado et al. (2023), §4.1.2; policy refinement for src/adaptation/policies.py</a:t>
            </a:r>
          </a:p>
        </p:txBody>
      </p:sp>
      <p:grpSp>
        <p:nvGrpSpPr>
          <p:cNvPr id="5" name="Group 5"/>
          <p:cNvGrpSpPr/>
          <p:nvPr/>
        </p:nvGrpSpPr>
        <p:grpSpPr>
          <a:xfrm>
            <a:off x="975646" y="2772442"/>
            <a:ext cx="6264592" cy="3109912"/>
            <a:chOff x="0" y="0"/>
            <a:chExt cx="8352790" cy="4146550"/>
          </a:xfrm>
        </p:grpSpPr>
        <p:sp>
          <p:nvSpPr>
            <p:cNvPr id="6" name="Freeform 6"/>
            <p:cNvSpPr/>
            <p:nvPr/>
          </p:nvSpPr>
          <p:spPr>
            <a:xfrm>
              <a:off x="0" y="0"/>
              <a:ext cx="8352790" cy="4146550"/>
            </a:xfrm>
            <a:custGeom>
              <a:avLst/>
              <a:gdLst/>
              <a:ahLst/>
              <a:cxnLst/>
              <a:rect l="l" t="t" r="r" b="b"/>
              <a:pathLst>
                <a:path w="8352790" h="4146550">
                  <a:moveTo>
                    <a:pt x="0" y="691134"/>
                  </a:moveTo>
                  <a:cubicBezTo>
                    <a:pt x="0" y="309372"/>
                    <a:pt x="309372" y="0"/>
                    <a:pt x="691134" y="0"/>
                  </a:cubicBezTo>
                  <a:lnTo>
                    <a:pt x="7661656" y="0"/>
                  </a:lnTo>
                  <a:cubicBezTo>
                    <a:pt x="8043291" y="0"/>
                    <a:pt x="8352790" y="309372"/>
                    <a:pt x="8352790" y="691134"/>
                  </a:cubicBezTo>
                  <a:lnTo>
                    <a:pt x="8352790" y="3455416"/>
                  </a:lnTo>
                  <a:cubicBezTo>
                    <a:pt x="8352790" y="3837051"/>
                    <a:pt x="8043418" y="4146550"/>
                    <a:pt x="7661656" y="4146550"/>
                  </a:cubicBezTo>
                  <a:lnTo>
                    <a:pt x="691134" y="4146550"/>
                  </a:lnTo>
                  <a:cubicBezTo>
                    <a:pt x="309372" y="4146550"/>
                    <a:pt x="0" y="3837178"/>
                    <a:pt x="0" y="3455416"/>
                  </a:cubicBezTo>
                  <a:close/>
                </a:path>
              </a:pathLst>
            </a:custGeom>
            <a:solidFill>
              <a:srgbClr val="0C121A"/>
            </a:solidFill>
            <a:ln w="23812" cap="sq">
              <a:solidFill>
                <a:srgbClr val="BCA869"/>
              </a:solidFill>
              <a:prstDash val="solid"/>
              <a:miter/>
            </a:ln>
          </p:spPr>
          <p:txBody>
            <a:bodyPr/>
            <a:lstStyle/>
            <a:p>
              <a:endParaRPr lang="en-GB"/>
            </a:p>
          </p:txBody>
        </p:sp>
      </p:grpSp>
      <p:grpSp>
        <p:nvGrpSpPr>
          <p:cNvPr id="7" name="Group 7"/>
          <p:cNvGrpSpPr/>
          <p:nvPr/>
        </p:nvGrpSpPr>
        <p:grpSpPr>
          <a:xfrm>
            <a:off x="11029474" y="2772442"/>
            <a:ext cx="6264592" cy="3109912"/>
            <a:chOff x="0" y="0"/>
            <a:chExt cx="8352790" cy="4146550"/>
          </a:xfrm>
        </p:grpSpPr>
        <p:sp>
          <p:nvSpPr>
            <p:cNvPr id="8" name="Freeform 8"/>
            <p:cNvSpPr/>
            <p:nvPr/>
          </p:nvSpPr>
          <p:spPr>
            <a:xfrm>
              <a:off x="0" y="0"/>
              <a:ext cx="8352790" cy="4146550"/>
            </a:xfrm>
            <a:custGeom>
              <a:avLst/>
              <a:gdLst/>
              <a:ahLst/>
              <a:cxnLst/>
              <a:rect l="l" t="t" r="r" b="b"/>
              <a:pathLst>
                <a:path w="8352790" h="4146550">
                  <a:moveTo>
                    <a:pt x="0" y="691134"/>
                  </a:moveTo>
                  <a:cubicBezTo>
                    <a:pt x="0" y="309372"/>
                    <a:pt x="309372" y="0"/>
                    <a:pt x="691134" y="0"/>
                  </a:cubicBezTo>
                  <a:lnTo>
                    <a:pt x="7661656" y="0"/>
                  </a:lnTo>
                  <a:cubicBezTo>
                    <a:pt x="8043291" y="0"/>
                    <a:pt x="8352790" y="309372"/>
                    <a:pt x="8352790" y="691134"/>
                  </a:cubicBezTo>
                  <a:lnTo>
                    <a:pt x="8352790" y="3455416"/>
                  </a:lnTo>
                  <a:cubicBezTo>
                    <a:pt x="8352790" y="3837051"/>
                    <a:pt x="8043418" y="4146550"/>
                    <a:pt x="7661656" y="4146550"/>
                  </a:cubicBezTo>
                  <a:lnTo>
                    <a:pt x="691134" y="4146550"/>
                  </a:lnTo>
                  <a:cubicBezTo>
                    <a:pt x="309372" y="4146550"/>
                    <a:pt x="0" y="3837178"/>
                    <a:pt x="0" y="3455416"/>
                  </a:cubicBezTo>
                  <a:close/>
                </a:path>
              </a:pathLst>
            </a:custGeom>
            <a:solidFill>
              <a:srgbClr val="0C121A"/>
            </a:solidFill>
            <a:ln w="23812" cap="sq">
              <a:solidFill>
                <a:srgbClr val="24DED2"/>
              </a:solidFill>
              <a:prstDash val="solid"/>
              <a:miter/>
            </a:ln>
          </p:spPr>
          <p:txBody>
            <a:bodyPr/>
            <a:lstStyle/>
            <a:p>
              <a:endParaRPr lang="en-GB"/>
            </a:p>
          </p:txBody>
        </p:sp>
      </p:grpSp>
      <p:sp>
        <p:nvSpPr>
          <p:cNvPr id="9" name="TextBox 9"/>
          <p:cNvSpPr txBox="1"/>
          <p:nvPr/>
        </p:nvSpPr>
        <p:spPr>
          <a:xfrm>
            <a:off x="1321308" y="3081528"/>
            <a:ext cx="3803904" cy="365760"/>
          </a:xfrm>
          <a:prstGeom prst="rect">
            <a:avLst/>
          </a:prstGeom>
        </p:spPr>
        <p:txBody>
          <a:bodyPr lIns="0" tIns="0" rIns="0" bIns="0" rtlCol="0" anchor="t">
            <a:spAutoFit/>
          </a:bodyPr>
          <a:lstStyle/>
          <a:p>
            <a:pPr algn="l">
              <a:lnSpc>
                <a:spcPts val="2160"/>
              </a:lnSpc>
            </a:pPr>
            <a:r>
              <a:rPr lang="en-US" sz="1800" b="1">
                <a:solidFill>
                  <a:srgbClr val="BCA869"/>
                </a:solidFill>
                <a:latin typeface="Aptos Bold"/>
                <a:ea typeface="Aptos Bold"/>
                <a:cs typeface="Aptos Bold"/>
                <a:sym typeface="Aptos Bold"/>
              </a:rPr>
              <a:t>BEFORE: CLOCKED SCHEDULE</a:t>
            </a:r>
          </a:p>
        </p:txBody>
      </p:sp>
      <p:sp>
        <p:nvSpPr>
          <p:cNvPr id="10" name="TextBox 10"/>
          <p:cNvSpPr txBox="1"/>
          <p:nvPr/>
        </p:nvSpPr>
        <p:spPr>
          <a:xfrm>
            <a:off x="1321308" y="3849624"/>
            <a:ext cx="5381244" cy="502920"/>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Absolute trial index</a:t>
            </a:r>
          </a:p>
        </p:txBody>
      </p:sp>
      <p:grpSp>
        <p:nvGrpSpPr>
          <p:cNvPr id="11" name="Group 11"/>
          <p:cNvGrpSpPr/>
          <p:nvPr/>
        </p:nvGrpSpPr>
        <p:grpSpPr>
          <a:xfrm>
            <a:off x="1303020" y="4416552"/>
            <a:ext cx="5417820" cy="576072"/>
            <a:chOff x="0" y="0"/>
            <a:chExt cx="7223760" cy="768096"/>
          </a:xfrm>
        </p:grpSpPr>
        <p:sp>
          <p:nvSpPr>
            <p:cNvPr id="12" name="Freeform 12"/>
            <p:cNvSpPr/>
            <p:nvPr/>
          </p:nvSpPr>
          <p:spPr>
            <a:xfrm>
              <a:off x="0" y="0"/>
              <a:ext cx="7223760" cy="768096"/>
            </a:xfrm>
            <a:custGeom>
              <a:avLst/>
              <a:gdLst/>
              <a:ahLst/>
              <a:cxnLst/>
              <a:rect l="l" t="t" r="r" b="b"/>
              <a:pathLst>
                <a:path w="7223760" h="768096">
                  <a:moveTo>
                    <a:pt x="0" y="0"/>
                  </a:moveTo>
                  <a:lnTo>
                    <a:pt x="7223760" y="0"/>
                  </a:lnTo>
                  <a:lnTo>
                    <a:pt x="7223760" y="768096"/>
                  </a:lnTo>
                  <a:lnTo>
                    <a:pt x="0" y="768096"/>
                  </a:lnTo>
                  <a:close/>
                </a:path>
              </a:pathLst>
            </a:custGeom>
            <a:solidFill>
              <a:srgbClr val="080D13"/>
            </a:solidFill>
            <a:ln cap="sq">
              <a:noFill/>
              <a:prstDash val="solid"/>
              <a:miter/>
            </a:ln>
          </p:spPr>
          <p:txBody>
            <a:bodyPr/>
            <a:lstStyle/>
            <a:p>
              <a:endParaRPr lang="en-GB"/>
            </a:p>
          </p:txBody>
        </p:sp>
        <p:sp>
          <p:nvSpPr>
            <p:cNvPr id="13" name="TextBox 13"/>
            <p:cNvSpPr txBox="1"/>
            <p:nvPr/>
          </p:nvSpPr>
          <p:spPr>
            <a:xfrm>
              <a:off x="0" y="-47625"/>
              <a:ext cx="7223760" cy="815721"/>
            </a:xfrm>
            <a:prstGeom prst="rect">
              <a:avLst/>
            </a:prstGeom>
          </p:spPr>
          <p:txBody>
            <a:bodyPr lIns="50800" tIns="50800" rIns="50800" bIns="50800" rtlCol="0" anchor="t"/>
            <a:lstStyle/>
            <a:p>
              <a:pPr algn="l">
                <a:lnSpc>
                  <a:spcPts val="2790"/>
                </a:lnSpc>
              </a:pPr>
              <a:r>
                <a:rPr lang="en-US" sz="2325">
                  <a:solidFill>
                    <a:srgbClr val="D2DCE6"/>
                  </a:solidFill>
                  <a:latin typeface="Consolas"/>
                  <a:ea typeface="Consolas"/>
                  <a:cs typeface="Consolas"/>
                  <a:sym typeface="Consolas"/>
                </a:rPr>
                <a:t>(trial_index + 1) % interval == 0</a:t>
              </a:r>
            </a:p>
          </p:txBody>
        </p:sp>
      </p:grpSp>
      <p:sp>
        <p:nvSpPr>
          <p:cNvPr id="14" name="TextBox 14"/>
          <p:cNvSpPr txBox="1"/>
          <p:nvPr/>
        </p:nvSpPr>
        <p:spPr>
          <a:xfrm>
            <a:off x="1348740" y="5152644"/>
            <a:ext cx="5326380" cy="585216"/>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Can retrain soon after a separate update event.</a:t>
            </a:r>
          </a:p>
        </p:txBody>
      </p:sp>
      <p:sp>
        <p:nvSpPr>
          <p:cNvPr id="15" name="TextBox 15"/>
          <p:cNvSpPr txBox="1"/>
          <p:nvPr/>
        </p:nvSpPr>
        <p:spPr>
          <a:xfrm>
            <a:off x="11375136" y="3081528"/>
            <a:ext cx="3803904" cy="365760"/>
          </a:xfrm>
          <a:prstGeom prst="rect">
            <a:avLst/>
          </a:prstGeom>
        </p:spPr>
        <p:txBody>
          <a:bodyPr lIns="0" tIns="0" rIns="0" bIns="0" rtlCol="0" anchor="t">
            <a:spAutoFit/>
          </a:bodyPr>
          <a:lstStyle/>
          <a:p>
            <a:pPr algn="l">
              <a:lnSpc>
                <a:spcPts val="2160"/>
              </a:lnSpc>
            </a:pPr>
            <a:r>
              <a:rPr lang="en-US" sz="1800" b="1">
                <a:solidFill>
                  <a:srgbClr val="24DED2"/>
                </a:solidFill>
                <a:latin typeface="Aptos Bold"/>
                <a:ea typeface="Aptos Bold"/>
                <a:cs typeface="Aptos Bold"/>
                <a:sym typeface="Aptos Bold"/>
              </a:rPr>
              <a:t>AFTER: PASSIVE STREAM BASELINE</a:t>
            </a:r>
          </a:p>
        </p:txBody>
      </p:sp>
      <p:sp>
        <p:nvSpPr>
          <p:cNvPr id="16" name="TextBox 16"/>
          <p:cNvSpPr txBox="1"/>
          <p:nvPr/>
        </p:nvSpPr>
        <p:spPr>
          <a:xfrm>
            <a:off x="11375136" y="3849624"/>
            <a:ext cx="5381244" cy="502920"/>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New data since last update</a:t>
            </a:r>
          </a:p>
        </p:txBody>
      </p:sp>
      <p:grpSp>
        <p:nvGrpSpPr>
          <p:cNvPr id="17" name="Group 17"/>
          <p:cNvGrpSpPr/>
          <p:nvPr/>
        </p:nvGrpSpPr>
        <p:grpSpPr>
          <a:xfrm>
            <a:off x="11356848" y="4416552"/>
            <a:ext cx="5417820" cy="576072"/>
            <a:chOff x="0" y="0"/>
            <a:chExt cx="7223760" cy="768096"/>
          </a:xfrm>
        </p:grpSpPr>
        <p:sp>
          <p:nvSpPr>
            <p:cNvPr id="18" name="Freeform 18"/>
            <p:cNvSpPr/>
            <p:nvPr/>
          </p:nvSpPr>
          <p:spPr>
            <a:xfrm>
              <a:off x="0" y="0"/>
              <a:ext cx="7223760" cy="768096"/>
            </a:xfrm>
            <a:custGeom>
              <a:avLst/>
              <a:gdLst/>
              <a:ahLst/>
              <a:cxnLst/>
              <a:rect l="l" t="t" r="r" b="b"/>
              <a:pathLst>
                <a:path w="7223760" h="768096">
                  <a:moveTo>
                    <a:pt x="0" y="0"/>
                  </a:moveTo>
                  <a:lnTo>
                    <a:pt x="7223760" y="0"/>
                  </a:lnTo>
                  <a:lnTo>
                    <a:pt x="7223760" y="768096"/>
                  </a:lnTo>
                  <a:lnTo>
                    <a:pt x="0" y="768096"/>
                  </a:lnTo>
                  <a:close/>
                </a:path>
              </a:pathLst>
            </a:custGeom>
            <a:solidFill>
              <a:srgbClr val="080D13"/>
            </a:solidFill>
            <a:ln cap="sq">
              <a:noFill/>
              <a:prstDash val="solid"/>
              <a:miter/>
            </a:ln>
          </p:spPr>
          <p:txBody>
            <a:bodyPr/>
            <a:lstStyle/>
            <a:p>
              <a:endParaRPr lang="en-GB"/>
            </a:p>
          </p:txBody>
        </p:sp>
        <p:sp>
          <p:nvSpPr>
            <p:cNvPr id="19" name="TextBox 19"/>
            <p:cNvSpPr txBox="1"/>
            <p:nvPr/>
          </p:nvSpPr>
          <p:spPr>
            <a:xfrm>
              <a:off x="0" y="-47625"/>
              <a:ext cx="7223760" cy="815721"/>
            </a:xfrm>
            <a:prstGeom prst="rect">
              <a:avLst/>
            </a:prstGeom>
          </p:spPr>
          <p:txBody>
            <a:bodyPr lIns="50800" tIns="50800" rIns="50800" bIns="50800" rtlCol="0" anchor="t"/>
            <a:lstStyle/>
            <a:p>
              <a:pPr algn="l">
                <a:lnSpc>
                  <a:spcPts val="2790"/>
                </a:lnSpc>
              </a:pPr>
              <a:r>
                <a:rPr lang="en-US" sz="2325">
                  <a:solidFill>
                    <a:srgbClr val="D2DCE6"/>
                  </a:solidFill>
                  <a:latin typeface="Consolas"/>
                  <a:ea typeface="Consolas"/>
                  <a:cs typeface="Consolas"/>
                  <a:sym typeface="Consolas"/>
                </a:rPr>
                <a:t>trials_since_update &gt;= interval</a:t>
              </a:r>
            </a:p>
          </p:txBody>
        </p:sp>
      </p:grpSp>
      <p:sp>
        <p:nvSpPr>
          <p:cNvPr id="20" name="TextBox 20"/>
          <p:cNvSpPr txBox="1"/>
          <p:nvPr/>
        </p:nvSpPr>
        <p:spPr>
          <a:xfrm>
            <a:off x="11402568" y="5152644"/>
            <a:ext cx="5326380" cy="585216"/>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Updates only after enough fresh streaming observations.</a:t>
            </a:r>
          </a:p>
        </p:txBody>
      </p:sp>
      <p:grpSp>
        <p:nvGrpSpPr>
          <p:cNvPr id="21" name="Group 21"/>
          <p:cNvGrpSpPr/>
          <p:nvPr/>
        </p:nvGrpSpPr>
        <p:grpSpPr>
          <a:xfrm>
            <a:off x="7465695" y="3830955"/>
            <a:ext cx="3146298" cy="951738"/>
            <a:chOff x="0" y="0"/>
            <a:chExt cx="4195064" cy="1268984"/>
          </a:xfrm>
        </p:grpSpPr>
        <p:sp>
          <p:nvSpPr>
            <p:cNvPr id="22" name="Freeform 22"/>
            <p:cNvSpPr/>
            <p:nvPr/>
          </p:nvSpPr>
          <p:spPr>
            <a:xfrm>
              <a:off x="0" y="0"/>
              <a:ext cx="4195064" cy="1268984"/>
            </a:xfrm>
            <a:custGeom>
              <a:avLst/>
              <a:gdLst/>
              <a:ahLst/>
              <a:cxnLst/>
              <a:rect l="l" t="t" r="r" b="b"/>
              <a:pathLst>
                <a:path w="4195064" h="1268984">
                  <a:moveTo>
                    <a:pt x="0" y="317246"/>
                  </a:moveTo>
                  <a:lnTo>
                    <a:pt x="3560572" y="317246"/>
                  </a:lnTo>
                  <a:lnTo>
                    <a:pt x="3560572" y="0"/>
                  </a:lnTo>
                  <a:lnTo>
                    <a:pt x="4195064" y="634492"/>
                  </a:lnTo>
                  <a:lnTo>
                    <a:pt x="3560572" y="1268984"/>
                  </a:lnTo>
                  <a:lnTo>
                    <a:pt x="3560572" y="951738"/>
                  </a:lnTo>
                  <a:lnTo>
                    <a:pt x="0" y="951738"/>
                  </a:lnTo>
                  <a:close/>
                </a:path>
              </a:pathLst>
            </a:custGeom>
            <a:solidFill>
              <a:srgbClr val="24DED2"/>
            </a:solidFill>
            <a:ln w="19050" cap="sq">
              <a:solidFill>
                <a:srgbClr val="24DED2"/>
              </a:solidFill>
              <a:prstDash val="solid"/>
              <a:miter/>
            </a:ln>
          </p:spPr>
          <p:txBody>
            <a:bodyPr/>
            <a:lstStyle/>
            <a:p>
              <a:endParaRPr lang="en-GB"/>
            </a:p>
          </p:txBody>
        </p:sp>
      </p:grpSp>
      <p:sp>
        <p:nvSpPr>
          <p:cNvPr id="23" name="TextBox 23"/>
          <p:cNvSpPr txBox="1"/>
          <p:nvPr/>
        </p:nvSpPr>
        <p:spPr>
          <a:xfrm>
            <a:off x="7630668" y="4878324"/>
            <a:ext cx="2843784" cy="557784"/>
          </a:xfrm>
          <a:prstGeom prst="rect">
            <a:avLst/>
          </a:prstGeom>
        </p:spPr>
        <p:txBody>
          <a:bodyPr lIns="0" tIns="0" rIns="0" bIns="0" rtlCol="0" anchor="t">
            <a:spAutoFit/>
          </a:bodyPr>
          <a:lstStyle/>
          <a:p>
            <a:pPr algn="ctr">
              <a:lnSpc>
                <a:spcPts val="2340"/>
              </a:lnSpc>
            </a:pPr>
            <a:r>
              <a:rPr lang="en-US" sz="1950" b="1">
                <a:solidFill>
                  <a:srgbClr val="F5F8FC"/>
                </a:solidFill>
                <a:latin typeface="Aptos Bold"/>
                <a:ea typeface="Aptos Bold"/>
                <a:cs typeface="Aptos Bold"/>
                <a:sym typeface="Aptos Bold"/>
              </a:rPr>
              <a:t>semantics</a:t>
            </a:r>
          </a:p>
        </p:txBody>
      </p:sp>
      <p:sp>
        <p:nvSpPr>
          <p:cNvPr id="24" name="TextBox 24"/>
          <p:cNvSpPr txBox="1"/>
          <p:nvPr/>
        </p:nvSpPr>
        <p:spPr>
          <a:xfrm>
            <a:off x="7493508" y="3108960"/>
            <a:ext cx="3145536" cy="530352"/>
          </a:xfrm>
          <a:prstGeom prst="rect">
            <a:avLst/>
          </a:prstGeom>
        </p:spPr>
        <p:txBody>
          <a:bodyPr lIns="0" tIns="0" rIns="0" bIns="0" rtlCol="0" anchor="t">
            <a:spAutoFit/>
          </a:bodyPr>
          <a:lstStyle/>
          <a:p>
            <a:pPr algn="ctr">
              <a:lnSpc>
                <a:spcPts val="2340"/>
              </a:lnSpc>
            </a:pPr>
            <a:r>
              <a:rPr lang="en-US" sz="1950" b="1">
                <a:solidFill>
                  <a:srgbClr val="BCA869"/>
                </a:solidFill>
                <a:latin typeface="Aptos Bold"/>
                <a:ea typeface="Aptos Bold"/>
                <a:cs typeface="Aptos Bold"/>
                <a:sym typeface="Aptos Bold"/>
              </a:rPr>
              <a:t>POLICY UPDATE</a:t>
            </a:r>
          </a:p>
        </p:txBody>
      </p:sp>
      <p:grpSp>
        <p:nvGrpSpPr>
          <p:cNvPr id="25" name="Group 25"/>
          <p:cNvGrpSpPr/>
          <p:nvPr/>
        </p:nvGrpSpPr>
        <p:grpSpPr>
          <a:xfrm>
            <a:off x="975646" y="6091714"/>
            <a:ext cx="16318420" cy="1738312"/>
            <a:chOff x="0" y="0"/>
            <a:chExt cx="21757894" cy="2317750"/>
          </a:xfrm>
        </p:grpSpPr>
        <p:sp>
          <p:nvSpPr>
            <p:cNvPr id="26" name="Freeform 26"/>
            <p:cNvSpPr/>
            <p:nvPr/>
          </p:nvSpPr>
          <p:spPr>
            <a:xfrm>
              <a:off x="0" y="0"/>
              <a:ext cx="21757895" cy="2317750"/>
            </a:xfrm>
            <a:custGeom>
              <a:avLst/>
              <a:gdLst/>
              <a:ahLst/>
              <a:cxnLst/>
              <a:rect l="l" t="t" r="r" b="b"/>
              <a:pathLst>
                <a:path w="21757895" h="2317750">
                  <a:moveTo>
                    <a:pt x="0" y="386334"/>
                  </a:moveTo>
                  <a:cubicBezTo>
                    <a:pt x="0" y="172974"/>
                    <a:pt x="172974" y="0"/>
                    <a:pt x="386334" y="0"/>
                  </a:cubicBezTo>
                  <a:lnTo>
                    <a:pt x="21371561" y="0"/>
                  </a:lnTo>
                  <a:cubicBezTo>
                    <a:pt x="21584921" y="0"/>
                    <a:pt x="21757895" y="172974"/>
                    <a:pt x="21757895" y="386334"/>
                  </a:cubicBezTo>
                  <a:lnTo>
                    <a:pt x="21757895" y="1931416"/>
                  </a:lnTo>
                  <a:cubicBezTo>
                    <a:pt x="21757895" y="2144776"/>
                    <a:pt x="21584921" y="2317750"/>
                    <a:pt x="21371561" y="2317750"/>
                  </a:cubicBezTo>
                  <a:lnTo>
                    <a:pt x="386334" y="2317750"/>
                  </a:lnTo>
                  <a:cubicBezTo>
                    <a:pt x="172974" y="2317750"/>
                    <a:pt x="0" y="2144776"/>
                    <a:pt x="0" y="1931416"/>
                  </a:cubicBezTo>
                  <a:close/>
                </a:path>
              </a:pathLst>
            </a:custGeom>
            <a:solidFill>
              <a:srgbClr val="18242E"/>
            </a:solidFill>
            <a:ln w="23812" cap="sq">
              <a:solidFill>
                <a:srgbClr val="3C525E"/>
              </a:solidFill>
              <a:prstDash val="solid"/>
              <a:miter/>
            </a:ln>
          </p:spPr>
          <p:txBody>
            <a:bodyPr/>
            <a:lstStyle/>
            <a:p>
              <a:endParaRPr lang="en-GB"/>
            </a:p>
          </p:txBody>
        </p:sp>
      </p:grpSp>
      <p:sp>
        <p:nvSpPr>
          <p:cNvPr id="27" name="TextBox 27"/>
          <p:cNvSpPr txBox="1"/>
          <p:nvPr/>
        </p:nvSpPr>
        <p:spPr>
          <a:xfrm>
            <a:off x="1362456" y="6414516"/>
            <a:ext cx="4626864" cy="461772"/>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Why this matters for PdM</a:t>
            </a:r>
          </a:p>
        </p:txBody>
      </p:sp>
      <p:sp>
        <p:nvSpPr>
          <p:cNvPr id="28" name="TextBox 28"/>
          <p:cNvSpPr txBox="1"/>
          <p:nvPr/>
        </p:nvSpPr>
        <p:spPr>
          <a:xfrm>
            <a:off x="1389888" y="6935724"/>
            <a:ext cx="4777740" cy="544068"/>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Hurtado’s passive side assumes a continuously evolving stream.</a:t>
            </a:r>
          </a:p>
        </p:txBody>
      </p:sp>
      <p:sp>
        <p:nvSpPr>
          <p:cNvPr id="29" name="TextBox 29"/>
          <p:cNvSpPr txBox="1"/>
          <p:nvPr/>
        </p:nvSpPr>
        <p:spPr>
          <a:xfrm>
            <a:off x="6670548" y="6414516"/>
            <a:ext cx="4078224" cy="461772"/>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Cleaner experiment axis</a:t>
            </a:r>
          </a:p>
        </p:txBody>
      </p:sp>
      <p:sp>
        <p:nvSpPr>
          <p:cNvPr id="30" name="TextBox 30"/>
          <p:cNvSpPr txBox="1"/>
          <p:nvPr/>
        </p:nvSpPr>
        <p:spPr>
          <a:xfrm>
            <a:off x="6697980" y="6935724"/>
            <a:ext cx="4297680" cy="544068"/>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Separate when to update from which data or labels enter training.</a:t>
            </a:r>
          </a:p>
        </p:txBody>
      </p:sp>
      <p:sp>
        <p:nvSpPr>
          <p:cNvPr id="31" name="TextBox 31"/>
          <p:cNvSpPr txBox="1"/>
          <p:nvPr/>
        </p:nvSpPr>
        <p:spPr>
          <a:xfrm>
            <a:off x="11745468" y="6414516"/>
            <a:ext cx="4352544" cy="461772"/>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Next passive baseline</a:t>
            </a:r>
          </a:p>
        </p:txBody>
      </p:sp>
      <p:sp>
        <p:nvSpPr>
          <p:cNvPr id="32" name="TextBox 32"/>
          <p:cNvSpPr txBox="1"/>
          <p:nvPr/>
        </p:nvSpPr>
        <p:spPr>
          <a:xfrm>
            <a:off x="11772900" y="6935724"/>
            <a:ext cx="4503420" cy="544068"/>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Add ContinuousRetrain(batch_size) for mini-batch or per-observation updates.</a:t>
            </a:r>
          </a:p>
        </p:txBody>
      </p:sp>
      <p:sp>
        <p:nvSpPr>
          <p:cNvPr id="33" name="TextBox 33"/>
          <p:cNvSpPr txBox="1"/>
          <p:nvPr/>
        </p:nvSpPr>
        <p:spPr>
          <a:xfrm>
            <a:off x="937260" y="8297799"/>
            <a:ext cx="14502384" cy="334137"/>
          </a:xfrm>
          <a:prstGeom prst="rect">
            <a:avLst/>
          </a:prstGeom>
        </p:spPr>
        <p:txBody>
          <a:bodyPr lIns="0" tIns="0" rIns="0" bIns="0" rtlCol="0" anchor="t">
            <a:spAutoFit/>
          </a:bodyPr>
          <a:lstStyle/>
          <a:p>
            <a:pPr algn="l">
              <a:lnSpc>
                <a:spcPts val="2124"/>
              </a:lnSpc>
            </a:pPr>
            <a:r>
              <a:rPr lang="en-US" sz="1770">
                <a:solidFill>
                  <a:srgbClr val="B2BCC6"/>
                </a:solidFill>
                <a:latin typeface="Aptos"/>
                <a:ea typeface="Aptos"/>
                <a:cs typeface="Aptos"/>
                <a:sym typeface="Aptos"/>
              </a:rPr>
              <a:t>Achievement: policy taxonomy now distinguishes active triggers from passive stream updates, supporting continual-learning experiments for predictive maintenance.</a:t>
            </a:r>
          </a:p>
        </p:txBody>
      </p:sp>
      <p:sp>
        <p:nvSpPr>
          <p:cNvPr id="34" name="TextBox 34"/>
          <p:cNvSpPr txBox="1"/>
          <p:nvPr/>
        </p:nvSpPr>
        <p:spPr>
          <a:xfrm>
            <a:off x="937260" y="8924544"/>
            <a:ext cx="13267944" cy="256032"/>
          </a:xfrm>
          <a:prstGeom prst="rect">
            <a:avLst/>
          </a:prstGeom>
        </p:spPr>
        <p:txBody>
          <a:bodyPr lIns="0" tIns="0" rIns="0" bIns="0" rtlCol="0" anchor="t">
            <a:spAutoFit/>
          </a:bodyPr>
          <a:lstStyle/>
          <a:p>
            <a:pPr algn="l">
              <a:lnSpc>
                <a:spcPts val="1889"/>
              </a:lnSpc>
            </a:pPr>
            <a:r>
              <a:rPr lang="en-US" sz="1575">
                <a:solidFill>
                  <a:srgbClr val="919CA8"/>
                </a:solidFill>
                <a:latin typeface="Aptos"/>
                <a:ea typeface="Aptos"/>
                <a:cs typeface="Aptos"/>
                <a:sym typeface="Aptos"/>
              </a:rPr>
              <a:t>hlin863/ewma_covariate_shift_demo</a:t>
            </a:r>
          </a:p>
        </p:txBody>
      </p:sp>
      <p:sp>
        <p:nvSpPr>
          <p:cNvPr id="35" name="TextBox 35"/>
          <p:cNvSpPr txBox="1"/>
          <p:nvPr/>
        </p:nvSpPr>
        <p:spPr>
          <a:xfrm>
            <a:off x="16175736" y="8867394"/>
            <a:ext cx="786384" cy="313182"/>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19</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98145"/>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DIETHE PILOT RESULT</a:t>
            </a:r>
          </a:p>
        </p:txBody>
      </p:sp>
      <p:sp>
        <p:nvSpPr>
          <p:cNvPr id="3" name="TextBox 3"/>
          <p:cNvSpPr txBox="1"/>
          <p:nvPr/>
        </p:nvSpPr>
        <p:spPr>
          <a:xfrm>
            <a:off x="918972" y="1211580"/>
            <a:ext cx="16459200" cy="868680"/>
          </a:xfrm>
          <a:prstGeom prst="rect">
            <a:avLst/>
          </a:prstGeom>
        </p:spPr>
        <p:txBody>
          <a:bodyPr lIns="0" tIns="0" rIns="0" bIns="0" rtlCol="0" anchor="t">
            <a:spAutoFit/>
          </a:bodyPr>
          <a:lstStyle/>
          <a:p>
            <a:pPr algn="l">
              <a:lnSpc>
                <a:spcPts val="4680"/>
              </a:lnSpc>
            </a:pPr>
            <a:r>
              <a:rPr lang="en-US" sz="3900" b="1">
                <a:solidFill>
                  <a:srgbClr val="EAF2F8"/>
                </a:solidFill>
                <a:latin typeface="DejaVu Sans Bold"/>
                <a:ea typeface="DejaVu Sans Bold"/>
                <a:cs typeface="DejaVu Sans Bold"/>
                <a:sym typeface="DejaVu Sans Bold"/>
              </a:rPr>
              <a:t>A detected shift does not guarantee a useful update</a:t>
            </a:r>
          </a:p>
        </p:txBody>
      </p:sp>
      <p:sp>
        <p:nvSpPr>
          <p:cNvPr id="4" name="TextBox 4"/>
          <p:cNvSpPr txBox="1"/>
          <p:nvPr/>
        </p:nvSpPr>
        <p:spPr>
          <a:xfrm>
            <a:off x="1028700" y="2367915"/>
            <a:ext cx="16184880" cy="60388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Synthetic feature shift; seed 42; 240 trials; shift starts at index 120.</a:t>
            </a:r>
          </a:p>
        </p:txBody>
      </p:sp>
      <p:graphicFrame>
        <p:nvGraphicFramePr>
          <p:cNvPr id="5" name="Table 5"/>
          <p:cNvGraphicFramePr>
            <a:graphicFrameLocks noGrp="1"/>
          </p:cNvGraphicFramePr>
          <p:nvPr>
            <p:extLst>
              <p:ext uri="{D42A27DB-BD31-4B8C-83A1-F6EECF244321}">
                <p14:modId xmlns:p14="http://schemas.microsoft.com/office/powerpoint/2010/main" val="659229463"/>
              </p:ext>
            </p:extLst>
          </p:nvPr>
        </p:nvGraphicFramePr>
        <p:xfrm>
          <a:off x="1028700" y="3223260"/>
          <a:ext cx="16135350" cy="3645408"/>
        </p:xfrm>
        <a:graphic>
          <a:graphicData uri="http://schemas.openxmlformats.org/drawingml/2006/table">
            <a:tbl>
              <a:tblPr/>
              <a:tblGrid>
                <a:gridCol w="6016571">
                  <a:extLst>
                    <a:ext uri="{9D8B030D-6E8A-4147-A177-3AD203B41FA5}">
                      <a16:colId xmlns:a16="http://schemas.microsoft.com/office/drawing/2014/main" val="20000"/>
                    </a:ext>
                  </a:extLst>
                </a:gridCol>
                <a:gridCol w="3281766">
                  <a:extLst>
                    <a:ext uri="{9D8B030D-6E8A-4147-A177-3AD203B41FA5}">
                      <a16:colId xmlns:a16="http://schemas.microsoft.com/office/drawing/2014/main" val="20001"/>
                    </a:ext>
                  </a:extLst>
                </a:gridCol>
                <a:gridCol w="3008286">
                  <a:extLst>
                    <a:ext uri="{9D8B030D-6E8A-4147-A177-3AD203B41FA5}">
                      <a16:colId xmlns:a16="http://schemas.microsoft.com/office/drawing/2014/main" val="20002"/>
                    </a:ext>
                  </a:extLst>
                </a:gridCol>
                <a:gridCol w="3828727">
                  <a:extLst>
                    <a:ext uri="{9D8B030D-6E8A-4147-A177-3AD203B41FA5}">
                      <a16:colId xmlns:a16="http://schemas.microsoft.com/office/drawing/2014/main" val="20003"/>
                    </a:ext>
                  </a:extLst>
                </a:gridCol>
              </a:tblGrid>
              <a:tr h="590550">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Policy</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Accuracy</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Updates</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Gain vs never</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Never</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97.92%</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0.00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Periodic</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98.33%</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12</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+0.42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Warning</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97.50%</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3</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−0.42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Validated</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97.50%</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1</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−0.42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r h="5905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Performance drop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97.92%</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0</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0.00 pp</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5"/>
                  </a:ext>
                </a:extLst>
              </a:tr>
            </a:tbl>
          </a:graphicData>
        </a:graphic>
      </p:graphicFrame>
      <p:sp>
        <p:nvSpPr>
          <p:cNvPr id="6" name="TextBox 6"/>
          <p:cNvSpPr txBox="1"/>
          <p:nvPr/>
        </p:nvSpPr>
        <p:spPr>
          <a:xfrm>
            <a:off x="1028700" y="7305675"/>
            <a:ext cx="16184880" cy="946785"/>
          </a:xfrm>
          <a:prstGeom prst="rect">
            <a:avLst/>
          </a:prstGeom>
        </p:spPr>
        <p:txBody>
          <a:bodyPr lIns="0" tIns="0" rIns="0" bIns="0" rtlCol="0" anchor="t">
            <a:spAutoFit/>
          </a:bodyPr>
          <a:lstStyle/>
          <a:p>
            <a:pPr algn="l">
              <a:lnSpc>
                <a:spcPts val="3419"/>
              </a:lnSpc>
            </a:pPr>
            <a:r>
              <a:rPr lang="en-US" sz="2850">
                <a:solidFill>
                  <a:srgbClr val="78D8CC"/>
                </a:solidFill>
                <a:latin typeface="DejaVu Sans Light"/>
                <a:ea typeface="DejaVu Sans Light"/>
                <a:cs typeface="DejaVu Sans Light"/>
                <a:sym typeface="DejaVu Sans Light"/>
              </a:rPr>
              <a:t>Periodic updating gains one correct prediction overall for 12 updates.</a:t>
            </a:r>
          </a:p>
          <a:p>
            <a:pPr algn="l">
              <a:lnSpc>
                <a:spcPts val="3419"/>
              </a:lnSpc>
            </a:pPr>
            <a:r>
              <a:rPr lang="en-US" sz="2850">
                <a:solidFill>
                  <a:srgbClr val="78D8CC"/>
                </a:solidFill>
                <a:latin typeface="DejaVu Sans Light"/>
                <a:ea typeface="DejaVu Sans Light"/>
                <a:cs typeface="DejaVu Sans Light"/>
                <a:sym typeface="DejaVu Sans Light"/>
              </a:rPr>
              <a:t>Validated updating finishes one prediction below never-update.</a:t>
            </a:r>
          </a:p>
        </p:txBody>
      </p:sp>
      <p:sp>
        <p:nvSpPr>
          <p:cNvPr id="7" name="TextBox 7"/>
          <p:cNvSpPr txBox="1"/>
          <p:nvPr/>
        </p:nvSpPr>
        <p:spPr>
          <a:xfrm>
            <a:off x="1028700" y="8489442"/>
            <a:ext cx="16184880" cy="476250"/>
          </a:xfrm>
          <a:prstGeom prst="rect">
            <a:avLst/>
          </a:prstGeom>
        </p:spPr>
        <p:txBody>
          <a:bodyPr lIns="0" tIns="0" rIns="0" bIns="0" rtlCol="0" anchor="t">
            <a:spAutoFit/>
          </a:bodyPr>
          <a:lstStyle/>
          <a:p>
            <a:pPr algn="l">
              <a:lnSpc>
                <a:spcPts val="2520"/>
              </a:lnSpc>
            </a:pPr>
            <a:r>
              <a:rPr lang="en-US" sz="2100">
                <a:solidFill>
                  <a:srgbClr val="9CB0C3"/>
                </a:solidFill>
                <a:latin typeface="DejaVu Sans Light"/>
                <a:ea typeface="DejaVu Sans Light"/>
                <a:cs typeface="DejaVu Sans Light"/>
                <a:sym typeface="DejaVu Sans Light"/>
              </a:rPr>
              <a:t>One-run illustration, not a policy ranking. Next: matched comparisons across scenarios and seeds.</a:t>
            </a:r>
          </a:p>
        </p:txBody>
      </p:sp>
      <p:sp>
        <p:nvSpPr>
          <p:cNvPr id="8" name="TextBox 8"/>
          <p:cNvSpPr txBox="1"/>
          <p:nvPr/>
        </p:nvSpPr>
        <p:spPr>
          <a:xfrm>
            <a:off x="1028700" y="9184767"/>
            <a:ext cx="16184880" cy="356997"/>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 outputs/diethe/20261004T111759599003Z/summary.csv; generating commit 2a8d20b.</a:t>
            </a:r>
          </a:p>
        </p:txBody>
      </p:sp>
      <p:sp>
        <p:nvSpPr>
          <p:cNvPr id="9" name="TextBox 9"/>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sp>
        <p:nvSpPr>
          <p:cNvPr id="10" name="TextBox 10"/>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4400" y="590550"/>
            <a:ext cx="8572500" cy="352425"/>
          </a:xfrm>
          <a:prstGeom prst="rect">
            <a:avLst/>
          </a:prstGeom>
        </p:spPr>
        <p:txBody>
          <a:bodyPr lIns="0" tIns="0" rIns="0" bIns="0" rtlCol="0" anchor="t">
            <a:spAutoFit/>
          </a:bodyPr>
          <a:lstStyle/>
          <a:p>
            <a:pPr algn="l">
              <a:lnSpc>
                <a:spcPts val="1755"/>
              </a:lnSpc>
            </a:pPr>
            <a:r>
              <a:rPr lang="en-US" sz="1462" b="1">
                <a:solidFill>
                  <a:srgbClr val="2DD4BF"/>
                </a:solidFill>
                <a:latin typeface="DejaVu Sans Bold"/>
                <a:ea typeface="DejaVu Sans Bold"/>
                <a:cs typeface="DejaVu Sans Bold"/>
                <a:sym typeface="DejaVu Sans Bold"/>
              </a:rPr>
              <a:t>TRACKED EXPERIMENT RESULTS</a:t>
            </a:r>
          </a:p>
        </p:txBody>
      </p:sp>
      <p:sp>
        <p:nvSpPr>
          <p:cNvPr id="3" name="TextBox 3"/>
          <p:cNvSpPr txBox="1"/>
          <p:nvPr/>
        </p:nvSpPr>
        <p:spPr>
          <a:xfrm>
            <a:off x="914400" y="1028700"/>
            <a:ext cx="16430625" cy="828675"/>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Classifier and complementary-monitoring results</a:t>
            </a:r>
          </a:p>
        </p:txBody>
      </p:sp>
      <p:sp>
        <p:nvSpPr>
          <p:cNvPr id="4" name="AutoShape 4"/>
          <p:cNvSpPr/>
          <p:nvPr/>
        </p:nvSpPr>
        <p:spPr>
          <a:xfrm rot="5940">
            <a:off x="900103" y="2047875"/>
            <a:ext cx="16487804" cy="0"/>
          </a:xfrm>
          <a:prstGeom prst="line">
            <a:avLst/>
          </a:prstGeom>
          <a:ln w="19050" cap="rnd">
            <a:solidFill>
              <a:srgbClr val="294057"/>
            </a:solidFill>
            <a:prstDash val="solid"/>
            <a:headEnd type="none" w="sm" len="sm"/>
            <a:tailEnd type="none" w="sm" len="sm"/>
          </a:ln>
        </p:spPr>
        <p:txBody>
          <a:bodyPr/>
          <a:lstStyle/>
          <a:p>
            <a:endParaRPr lang="en-GB"/>
          </a:p>
        </p:txBody>
      </p:sp>
      <p:sp>
        <p:nvSpPr>
          <p:cNvPr id="5" name="TextBox 5"/>
          <p:cNvSpPr txBox="1"/>
          <p:nvPr/>
        </p:nvSpPr>
        <p:spPr>
          <a:xfrm>
            <a:off x="914400" y="9763125"/>
            <a:ext cx="6143625" cy="266700"/>
          </a:xfrm>
          <a:prstGeom prst="rect">
            <a:avLst/>
          </a:prstGeom>
        </p:spPr>
        <p:txBody>
          <a:bodyPr lIns="0" tIns="0" rIns="0" bIns="0" rtlCol="0" anchor="t">
            <a:spAutoFit/>
          </a:bodyPr>
          <a:lstStyle/>
          <a:p>
            <a:pPr algn="l">
              <a:lnSpc>
                <a:spcPts val="1485"/>
              </a:lnSpc>
            </a:pPr>
            <a:r>
              <a:rPr lang="en-US" sz="1237">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573500" y="9734550"/>
            <a:ext cx="800100" cy="295275"/>
          </a:xfrm>
          <a:prstGeom prst="rect">
            <a:avLst/>
          </a:prstGeom>
        </p:spPr>
        <p:txBody>
          <a:bodyPr lIns="0" tIns="0" rIns="0" bIns="0" rtlCol="0" anchor="t">
            <a:spAutoFit/>
          </a:bodyPr>
          <a:lstStyle/>
          <a:p>
            <a:pPr algn="l">
              <a:lnSpc>
                <a:spcPts val="2267"/>
              </a:lnSpc>
            </a:pPr>
            <a:r>
              <a:rPr lang="en-US" sz="1889">
                <a:solidFill>
                  <a:srgbClr val="000000"/>
                </a:solidFill>
                <a:latin typeface="Calibri (MS)"/>
                <a:ea typeface="Calibri (MS)"/>
                <a:cs typeface="Calibri (MS)"/>
                <a:sym typeface="Calibri (MS)"/>
              </a:rPr>
              <a:t>21</a:t>
            </a:r>
          </a:p>
        </p:txBody>
      </p:sp>
      <p:sp>
        <p:nvSpPr>
          <p:cNvPr id="7" name="TextBox 7"/>
          <p:cNvSpPr txBox="1"/>
          <p:nvPr/>
        </p:nvSpPr>
        <p:spPr>
          <a:xfrm>
            <a:off x="1005840" y="2579370"/>
            <a:ext cx="6817995" cy="418147"/>
          </a:xfrm>
          <a:prstGeom prst="rect">
            <a:avLst/>
          </a:prstGeom>
        </p:spPr>
        <p:txBody>
          <a:bodyPr lIns="0" tIns="0" rIns="0" bIns="0" rtlCol="0" anchor="t">
            <a:spAutoFit/>
          </a:bodyPr>
          <a:lstStyle/>
          <a:p>
            <a:pPr algn="l">
              <a:lnSpc>
                <a:spcPts val="3104"/>
              </a:lnSpc>
            </a:pPr>
            <a:r>
              <a:rPr lang="en-US" sz="2587" b="1">
                <a:solidFill>
                  <a:srgbClr val="64D98B"/>
                </a:solidFill>
                <a:latin typeface="DejaVu Sans Bold"/>
                <a:ea typeface="DejaVu Sans Bold"/>
                <a:cs typeface="DejaVu Sans Bold"/>
                <a:sym typeface="DejaVu Sans Bold"/>
              </a:rPr>
              <a:t>Real EEG classifier benchmark</a:t>
            </a:r>
          </a:p>
        </p:txBody>
      </p:sp>
      <p:sp>
        <p:nvSpPr>
          <p:cNvPr id="8" name="TextBox 8"/>
          <p:cNvSpPr txBox="1"/>
          <p:nvPr/>
        </p:nvSpPr>
        <p:spPr>
          <a:xfrm>
            <a:off x="1005840" y="3179445"/>
            <a:ext cx="6960870" cy="318135"/>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Mean accuracy across 9 subjects per dataset</a:t>
            </a:r>
          </a:p>
        </p:txBody>
      </p:sp>
      <p:sp>
        <p:nvSpPr>
          <p:cNvPr id="9" name="TextBox 9"/>
          <p:cNvSpPr txBox="1"/>
          <p:nvPr/>
        </p:nvSpPr>
        <p:spPr>
          <a:xfrm>
            <a:off x="9449752" y="2579370"/>
            <a:ext cx="7675245" cy="418147"/>
          </a:xfrm>
          <a:prstGeom prst="rect">
            <a:avLst/>
          </a:prstGeom>
        </p:spPr>
        <p:txBody>
          <a:bodyPr lIns="0" tIns="0" rIns="0" bIns="0" rtlCol="0" anchor="t">
            <a:spAutoFit/>
          </a:bodyPr>
          <a:lstStyle/>
          <a:p>
            <a:pPr algn="l">
              <a:lnSpc>
                <a:spcPts val="3104"/>
              </a:lnSpc>
            </a:pPr>
            <a:r>
              <a:rPr lang="en-US" sz="2587" b="1">
                <a:solidFill>
                  <a:srgbClr val="2DD4BF"/>
                </a:solidFill>
                <a:latin typeface="DejaVu Sans Bold"/>
                <a:ea typeface="DejaVu Sans Bold"/>
                <a:cs typeface="DejaVu Sans Bold"/>
                <a:sym typeface="DejaVu Sans Bold"/>
              </a:rPr>
              <a:t>Complementary Stage-I monitoring</a:t>
            </a:r>
          </a:p>
        </p:txBody>
      </p:sp>
      <p:sp>
        <p:nvSpPr>
          <p:cNvPr id="10" name="TextBox 10"/>
          <p:cNvSpPr txBox="1"/>
          <p:nvPr/>
        </p:nvSpPr>
        <p:spPr>
          <a:xfrm>
            <a:off x="9449752" y="3179445"/>
            <a:ext cx="7675245" cy="561023"/>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Detection within 20 samples, 100 seeds, magnitude 3</a:t>
            </a:r>
          </a:p>
        </p:txBody>
      </p:sp>
      <p:sp>
        <p:nvSpPr>
          <p:cNvPr id="11" name="TextBox 11"/>
          <p:cNvSpPr txBox="1"/>
          <p:nvPr/>
        </p:nvSpPr>
        <p:spPr>
          <a:xfrm>
            <a:off x="1005840" y="6441758"/>
            <a:ext cx="7532370" cy="756285"/>
          </a:xfrm>
          <a:prstGeom prst="rect">
            <a:avLst/>
          </a:prstGeom>
        </p:spPr>
        <p:txBody>
          <a:bodyPr lIns="0" tIns="0" rIns="0" bIns="0" rtlCol="0" anchor="t">
            <a:spAutoFit/>
          </a:bodyPr>
          <a:lstStyle/>
          <a:p>
            <a:pPr algn="l">
              <a:lnSpc>
                <a:spcPts val="2430"/>
              </a:lnSpc>
            </a:pPr>
            <a:r>
              <a:rPr lang="en-US" sz="2025">
                <a:solidFill>
                  <a:srgbClr val="EAF2F8"/>
                </a:solidFill>
                <a:latin typeface="DejaVu Sans Light"/>
                <a:ea typeface="DejaVu Sans Light"/>
                <a:cs typeface="DejaVu Sans Light"/>
                <a:sym typeface="DejaVu Sans Light"/>
              </a:rPr>
              <a:t>Mean change: −0.15 pp (2A), +0.56 pp (2B).</a:t>
            </a:r>
          </a:p>
          <a:p>
            <a:pPr algn="l">
              <a:lnSpc>
                <a:spcPts val="2430"/>
              </a:lnSpc>
            </a:pPr>
            <a:r>
              <a:rPr lang="en-US" sz="2025">
                <a:solidFill>
                  <a:srgbClr val="EAF2F8"/>
                </a:solidFill>
                <a:latin typeface="DejaVu Sans Light"/>
                <a:ea typeface="DejaVu Sans Light"/>
                <a:cs typeface="DejaVu Sans Light"/>
                <a:sym typeface="DejaVu Sans Light"/>
              </a:rPr>
              <a:t>No consistent gain across both datasets.</a:t>
            </a:r>
          </a:p>
        </p:txBody>
      </p:sp>
      <p:sp>
        <p:nvSpPr>
          <p:cNvPr id="12" name="TextBox 12"/>
          <p:cNvSpPr txBox="1"/>
          <p:nvPr/>
        </p:nvSpPr>
        <p:spPr>
          <a:xfrm>
            <a:off x="1005840" y="7508557"/>
            <a:ext cx="7532370" cy="689610"/>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2A: Session II evaluation</a:t>
            </a:r>
          </a:p>
          <a:p>
            <a:pPr algn="l">
              <a:lnSpc>
                <a:spcPts val="2160"/>
              </a:lnSpc>
            </a:pPr>
            <a:r>
              <a:rPr lang="en-US" sz="1800">
                <a:solidFill>
                  <a:srgbClr val="9CB0C3"/>
                </a:solidFill>
                <a:latin typeface="DejaVu Sans Light"/>
                <a:ea typeface="DejaVu Sans Light"/>
                <a:cs typeface="DejaVu Sans Light"/>
                <a:sym typeface="DejaVu Sans Light"/>
              </a:rPr>
              <a:t>2B: Session III GDF-only holdout</a:t>
            </a:r>
          </a:p>
        </p:txBody>
      </p:sp>
      <p:sp>
        <p:nvSpPr>
          <p:cNvPr id="13" name="TextBox 13"/>
          <p:cNvSpPr txBox="1"/>
          <p:nvPr/>
        </p:nvSpPr>
        <p:spPr>
          <a:xfrm>
            <a:off x="9449752" y="7108507"/>
            <a:ext cx="7746682" cy="675323"/>
          </a:xfrm>
          <a:prstGeom prst="rect">
            <a:avLst/>
          </a:prstGeom>
        </p:spPr>
        <p:txBody>
          <a:bodyPr lIns="0" tIns="0" rIns="0" bIns="0" rtlCol="0" anchor="t">
            <a:spAutoFit/>
          </a:bodyPr>
          <a:lstStyle/>
          <a:p>
            <a:pPr algn="l">
              <a:lnSpc>
                <a:spcPts val="2295"/>
              </a:lnSpc>
            </a:pPr>
            <a:r>
              <a:rPr lang="en-US" sz="1912">
                <a:solidFill>
                  <a:srgbClr val="EAF2F8"/>
                </a:solidFill>
                <a:latin typeface="DejaVu Sans Light"/>
                <a:ea typeface="DejaVu Sans Light"/>
                <a:cs typeface="DejaVu Sans Light"/>
                <a:sym typeface="DejaVu Sans Light"/>
              </a:rPr>
              <a:t>Magnitude 6: PC1 detection rises to 88%</a:t>
            </a:r>
          </a:p>
          <a:p>
            <a:pPr algn="l">
              <a:lnSpc>
                <a:spcPts val="2295"/>
              </a:lnSpc>
            </a:pPr>
            <a:r>
              <a:rPr lang="en-US" sz="1912">
                <a:solidFill>
                  <a:srgbClr val="EAF2F8"/>
                </a:solidFill>
                <a:latin typeface="DejaVu Sans Light"/>
                <a:ea typeface="DejaVu Sans Light"/>
                <a:cs typeface="DejaVu Sans Light"/>
                <a:sym typeface="DejaVu Sans Light"/>
              </a:rPr>
              <a:t>(score) and 82% (combined).</a:t>
            </a:r>
          </a:p>
        </p:txBody>
      </p:sp>
      <p:sp>
        <p:nvSpPr>
          <p:cNvPr id="14" name="TextBox 14"/>
          <p:cNvSpPr txBox="1"/>
          <p:nvPr/>
        </p:nvSpPr>
        <p:spPr>
          <a:xfrm>
            <a:off x="9449752" y="8008620"/>
            <a:ext cx="7746682" cy="632460"/>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No-shift 20-sample alarm rate: 21–26%.</a:t>
            </a:r>
          </a:p>
          <a:p>
            <a:pPr algn="l">
              <a:lnSpc>
                <a:spcPts val="2160"/>
              </a:lnSpc>
            </a:pPr>
            <a:r>
              <a:rPr lang="en-US" sz="1800">
                <a:solidFill>
                  <a:srgbClr val="9CB0C3"/>
                </a:solidFill>
                <a:latin typeface="DejaVu Sans Light"/>
                <a:ea typeface="DejaVu Sans Light"/>
                <a:cs typeface="DejaVu Sans Light"/>
                <a:sym typeface="DejaVu Sans Light"/>
              </a:rPr>
              <a:t>Per-sample false-alarm rate: about 1%.</a:t>
            </a:r>
          </a:p>
        </p:txBody>
      </p:sp>
      <p:sp>
        <p:nvSpPr>
          <p:cNvPr id="15" name="TextBox 15"/>
          <p:cNvSpPr txBox="1"/>
          <p:nvPr/>
        </p:nvSpPr>
        <p:spPr>
          <a:xfrm>
            <a:off x="1005840" y="9123045"/>
            <a:ext cx="16104870" cy="318135"/>
          </a:xfrm>
          <a:prstGeom prst="rect">
            <a:avLst/>
          </a:prstGeom>
        </p:spPr>
        <p:txBody>
          <a:bodyPr lIns="0" tIns="0" rIns="0" bIns="0" rtlCol="0" anchor="t">
            <a:spAutoFit/>
          </a:bodyPr>
          <a:lstStyle/>
          <a:p>
            <a:pPr algn="l">
              <a:lnSpc>
                <a:spcPts val="2160"/>
              </a:lnSpc>
            </a:pPr>
            <a:r>
              <a:rPr lang="en-US" sz="1800">
                <a:solidFill>
                  <a:srgbClr val="F5B942"/>
                </a:solidFill>
                <a:latin typeface="DejaVu Sans Light"/>
                <a:ea typeface="DejaVu Sans Light"/>
                <a:cs typeface="DejaVu Sans Light"/>
                <a:sym typeface="DejaVu Sans Light"/>
              </a:rPr>
              <a:t>CI at 2a8d20b: 255 passed, 1 failed. Homepage test expects /diethe; route is /results/diethe.</a:t>
            </a:r>
          </a:p>
        </p:txBody>
      </p:sp>
      <p:graphicFrame>
        <p:nvGraphicFramePr>
          <p:cNvPr id="16" name="Table 16"/>
          <p:cNvGraphicFramePr>
            <a:graphicFrameLocks noGrp="1"/>
          </p:cNvGraphicFramePr>
          <p:nvPr/>
        </p:nvGraphicFramePr>
        <p:xfrm>
          <a:off x="914400" y="3971925"/>
          <a:ext cx="7124700" cy="2114550"/>
        </p:xfrm>
        <a:graphic>
          <a:graphicData uri="http://schemas.openxmlformats.org/drawingml/2006/table">
            <a:tbl>
              <a:tblPr/>
              <a:tblGrid>
                <a:gridCol w="1852422">
                  <a:extLst>
                    <a:ext uri="{9D8B030D-6E8A-4147-A177-3AD203B41FA5}">
                      <a16:colId xmlns:a16="http://schemas.microsoft.com/office/drawing/2014/main" val="20000"/>
                    </a:ext>
                  </a:extLst>
                </a:gridCol>
                <a:gridCol w="2564892">
                  <a:extLst>
                    <a:ext uri="{9D8B030D-6E8A-4147-A177-3AD203B41FA5}">
                      <a16:colId xmlns:a16="http://schemas.microsoft.com/office/drawing/2014/main" val="20001"/>
                    </a:ext>
                  </a:extLst>
                </a:gridCol>
                <a:gridCol w="2707386">
                  <a:extLst>
                    <a:ext uri="{9D8B030D-6E8A-4147-A177-3AD203B41FA5}">
                      <a16:colId xmlns:a16="http://schemas.microsoft.com/office/drawing/2014/main" val="20002"/>
                    </a:ext>
                  </a:extLst>
                </a:gridCol>
              </a:tblGrid>
              <a:tr h="704850">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Dataset</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Single SVM</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Bagged SVM</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extLst>
                  <a:ext uri="{0D108BD9-81ED-4DB2-BD59-A6C34878D82A}">
                    <a16:rowId xmlns:a16="http://schemas.microsoft.com/office/drawing/2014/main" val="10000"/>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2A</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76.00%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75.85%</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1"/>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2B</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74.86%</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75.42%</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2"/>
                  </a:ext>
                </a:extLst>
              </a:tr>
            </a:tbl>
          </a:graphicData>
        </a:graphic>
      </p:graphicFrame>
      <p:graphicFrame>
        <p:nvGraphicFramePr>
          <p:cNvPr id="17" name="Table 17"/>
          <p:cNvGraphicFramePr>
            <a:graphicFrameLocks noGrp="1"/>
          </p:cNvGraphicFramePr>
          <p:nvPr/>
        </p:nvGraphicFramePr>
        <p:xfrm>
          <a:off x="9358312" y="3971925"/>
          <a:ext cx="7886701" cy="2819400"/>
        </p:xfrm>
        <a:graphic>
          <a:graphicData uri="http://schemas.openxmlformats.org/drawingml/2006/table">
            <a:tbl>
              <a:tblPr/>
              <a:tblGrid>
                <a:gridCol w="1634181">
                  <a:extLst>
                    <a:ext uri="{9D8B030D-6E8A-4147-A177-3AD203B41FA5}">
                      <a16:colId xmlns:a16="http://schemas.microsoft.com/office/drawing/2014/main" val="20000"/>
                    </a:ext>
                  </a:extLst>
                </a:gridCol>
                <a:gridCol w="1776284">
                  <a:extLst>
                    <a:ext uri="{9D8B030D-6E8A-4147-A177-3AD203B41FA5}">
                      <a16:colId xmlns:a16="http://schemas.microsoft.com/office/drawing/2014/main" val="20001"/>
                    </a:ext>
                  </a:extLst>
                </a:gridCol>
                <a:gridCol w="2131541">
                  <a:extLst>
                    <a:ext uri="{9D8B030D-6E8A-4147-A177-3AD203B41FA5}">
                      <a16:colId xmlns:a16="http://schemas.microsoft.com/office/drawing/2014/main" val="20002"/>
                    </a:ext>
                  </a:extLst>
                </a:gridCol>
                <a:gridCol w="2344695">
                  <a:extLst>
                    <a:ext uri="{9D8B030D-6E8A-4147-A177-3AD203B41FA5}">
                      <a16:colId xmlns:a16="http://schemas.microsoft.com/office/drawing/2014/main" val="20003"/>
                    </a:ext>
                  </a:extLst>
                </a:gridCol>
              </a:tblGrid>
              <a:tr h="704850">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Shift</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Score</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Residual</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Combined</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extLst>
                  <a:ext uri="{0D108BD9-81ED-4DB2-BD59-A6C34878D82A}">
                    <a16:rowId xmlns:a16="http://schemas.microsoft.com/office/drawing/2014/main" val="10000"/>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PC1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35%</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31%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1"/>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PC2</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100%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100%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2"/>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Both</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26%</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100%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99%</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3"/>
                  </a:ext>
                </a:extLst>
              </a:tr>
            </a:tbl>
          </a:graphicData>
        </a:graphic>
      </p:graphicFrame>
      <p:grpSp>
        <p:nvGrpSpPr>
          <p:cNvPr id="18" name="Group 18"/>
          <p:cNvGrpSpPr/>
          <p:nvPr/>
        </p:nvGrpSpPr>
        <p:grpSpPr>
          <a:xfrm>
            <a:off x="13089255" y="8658987"/>
            <a:ext cx="3832098" cy="361950"/>
            <a:chOff x="0" y="0"/>
            <a:chExt cx="5109464" cy="482600"/>
          </a:xfrm>
        </p:grpSpPr>
        <p:sp>
          <p:nvSpPr>
            <p:cNvPr id="19" name="Freeform 19"/>
            <p:cNvSpPr/>
            <p:nvPr/>
          </p:nvSpPr>
          <p:spPr>
            <a:xfrm>
              <a:off x="0" y="0"/>
              <a:ext cx="5109464" cy="482600"/>
            </a:xfrm>
            <a:custGeom>
              <a:avLst/>
              <a:gdLst/>
              <a:ahLst/>
              <a:cxnLst/>
              <a:rect l="l" t="t" r="r" b="b"/>
              <a:pathLst>
                <a:path w="5109464" h="482600">
                  <a:moveTo>
                    <a:pt x="0" y="80391"/>
                  </a:moveTo>
                  <a:cubicBezTo>
                    <a:pt x="0" y="36068"/>
                    <a:pt x="36068" y="0"/>
                    <a:pt x="80391" y="0"/>
                  </a:cubicBezTo>
                  <a:lnTo>
                    <a:pt x="5029073" y="0"/>
                  </a:lnTo>
                  <a:cubicBezTo>
                    <a:pt x="5073523" y="0"/>
                    <a:pt x="5109464" y="36068"/>
                    <a:pt x="5109464" y="80391"/>
                  </a:cubicBezTo>
                  <a:lnTo>
                    <a:pt x="5109464" y="402209"/>
                  </a:lnTo>
                  <a:cubicBezTo>
                    <a:pt x="5109464" y="446659"/>
                    <a:pt x="5073396" y="482600"/>
                    <a:pt x="5029073" y="482600"/>
                  </a:cubicBezTo>
                  <a:lnTo>
                    <a:pt x="80391" y="482600"/>
                  </a:lnTo>
                  <a:cubicBezTo>
                    <a:pt x="36068" y="482600"/>
                    <a:pt x="0" y="446532"/>
                    <a:pt x="0" y="402209"/>
                  </a:cubicBezTo>
                  <a:close/>
                </a:path>
              </a:pathLst>
            </a:custGeom>
            <a:solidFill>
              <a:srgbClr val="071422"/>
            </a:solidFill>
            <a:ln w="19050" cap="sq">
              <a:solidFill>
                <a:srgbClr val="1DE7D5"/>
              </a:solidFill>
              <a:prstDash val="solid"/>
              <a:miter/>
            </a:ln>
          </p:spPr>
          <p:txBody>
            <a:bodyPr/>
            <a:lstStyle/>
            <a:p>
              <a:endParaRPr lang="en-GB"/>
            </a:p>
          </p:txBody>
        </p:sp>
      </p:grpSp>
      <mc:AlternateContent xmlns:mc="http://schemas.openxmlformats.org/markup-compatibility/2006">
        <mc:Choice xmlns:a14="http://schemas.microsoft.com/office/drawing/2010/main" Requires="a14">
          <p:sp>
            <p:nvSpPr>
              <p:cNvPr id="22" name="EDITABLE OfficeMath | CUSUM auxiliary quantity"/>
              <p:cNvSpPr txBox="1"/>
              <p:nvPr/>
            </p:nvSpPr>
            <p:spPr>
              <a:xfrm>
                <a:off x="14785848" y="8738902"/>
                <a:ext cx="914962" cy="250288"/>
              </a:xfrm>
              <a:prstGeom prst="rect">
                <a:avLst/>
              </a:prstGeom>
              <a:solidFill>
                <a:srgbClr val="D5F6F1"/>
              </a:solidFill>
            </p:spPr>
            <p:txBody>
              <a:bodyPr wrap="none" lIns="0" tIns="0" rIns="0" bIns="0">
                <a:spAutoFit/>
              </a:bodyPr>
              <a:lstStyle/>
              <a:p>
                <a:pPr algn="ctr"/>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𝑄</m:t>
                          </m:r>
                        </m:e>
                        <m:sub>
                          <m:r>
                            <a:rPr>
                              <a:latin typeface="Cambria Math" panose="02040503050406030204" pitchFamily="18" charset="0"/>
                            </a:rPr>
                            <m:t>𝑡</m:t>
                          </m:r>
                        </m:sub>
                      </m:sSub>
                      <m:r>
                        <a:rPr>
                          <a:latin typeface="Cambria Math" panose="02040503050406030204" pitchFamily="18" charset="0"/>
                        </a:rPr>
                        <m:t> = </m:t>
                      </m:r>
                      <m:r>
                        <a:rPr>
                          <a:latin typeface="Cambria Math" panose="02040503050406030204" pitchFamily="18" charset="0"/>
                        </a:rPr>
                        <m:t>𝑑</m:t>
                      </m:r>
                      <m:sSub>
                        <m:sSubPr>
                          <m:ctrlPr>
                            <a:rPr i="1">
                              <a:latin typeface="Cambria Math" panose="02040503050406030204" pitchFamily="18" charset="0"/>
                            </a:rPr>
                          </m:ctrlPr>
                        </m:sSubPr>
                        <m:e>
                          <m:r>
                            <a:rPr>
                              <a:latin typeface="Cambria Math" panose="02040503050406030204" pitchFamily="18" charset="0"/>
                            </a:rPr>
                            <m:t>𝐿</m:t>
                          </m:r>
                        </m:e>
                        <m:sub>
                          <m:r>
                            <a:rPr>
                              <a:latin typeface="Cambria Math" panose="02040503050406030204" pitchFamily="18" charset="0"/>
                            </a:rPr>
                            <m:t>𝑡</m:t>
                          </m:r>
                        </m:sub>
                      </m:sSub>
                    </m:oMath>
                  </m:oMathPara>
                </a14:m>
                <a:endParaRPr lang="en-GB" sz="1800">
                  <a:solidFill>
                    <a:srgbClr val="075F57"/>
                  </a:solidFill>
                </a:endParaRPr>
              </a:p>
            </p:txBody>
          </p:sp>
        </mc:Choice>
        <mc:Fallback>
          <p:sp>
            <p:nvSpPr>
              <p:cNvPr id="22" name="EDITABLE OfficeMath | CUSUM auxiliary quantity"/>
              <p:cNvSpPr txBox="1">
                <a:spLocks noRot="1" noChangeAspect="1" noMove="1" noResize="1" noEditPoints="1" noAdjustHandles="1" noChangeArrowheads="1" noChangeShapeType="1" noTextEdit="1"/>
              </p:cNvSpPr>
              <p:nvPr/>
            </p:nvSpPr>
            <p:spPr>
              <a:xfrm>
                <a:off x="14785848" y="8738902"/>
                <a:ext cx="914962" cy="250288"/>
              </a:xfrm>
              <a:prstGeom prst="rect">
                <a:avLst/>
              </a:prstGeom>
              <a:blipFill>
                <a:blip r:embed="rId3"/>
                <a:stretch>
                  <a:fillRect l="-18000" r="-5333" b="-43902"/>
                </a:stretch>
              </a:blipFill>
            </p:spPr>
            <p:txBody>
              <a:bodyPr/>
              <a:lstStyle/>
              <a:p>
                <a:r>
                  <a:rPr lang="en-GB">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REPRODUCTION EVIDENCE</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B01: two saved runs give different validation totals</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Sources: outputs/metrics/bci_2b_table1_results.csv and bci_table1_comparison.csv at 2a8d20b.</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1064935326"/>
              </p:ext>
            </p:extLst>
          </p:nvPr>
        </p:nvGraphicFramePr>
        <p:xfrm>
          <a:off x="1028700" y="2674620"/>
          <a:ext cx="16154401" cy="3687318"/>
        </p:xfrm>
        <a:graphic>
          <a:graphicData uri="http://schemas.openxmlformats.org/drawingml/2006/table">
            <a:tbl>
              <a:tblPr/>
              <a:tblGrid>
                <a:gridCol w="9583119">
                  <a:extLst>
                    <a:ext uri="{9D8B030D-6E8A-4147-A177-3AD203B41FA5}">
                      <a16:colId xmlns:a16="http://schemas.microsoft.com/office/drawing/2014/main" val="20000"/>
                    </a:ext>
                  </a:extLst>
                </a:gridCol>
                <a:gridCol w="3285641">
                  <a:extLst>
                    <a:ext uri="{9D8B030D-6E8A-4147-A177-3AD203B41FA5}">
                      <a16:colId xmlns:a16="http://schemas.microsoft.com/office/drawing/2014/main" val="20001"/>
                    </a:ext>
                  </a:extLst>
                </a:gridCol>
                <a:gridCol w="3285641">
                  <a:extLst>
                    <a:ext uri="{9D8B030D-6E8A-4147-A177-3AD203B41FA5}">
                      <a16:colId xmlns:a16="http://schemas.microsoft.com/office/drawing/2014/main" val="20002"/>
                    </a:ext>
                  </a:extLst>
                </a:gridCol>
              </a:tblGrid>
              <a:tr h="857250">
                <a:tc>
                  <a:txBody>
                    <a:bodyPr/>
                    <a:lstStyle/>
                    <a:p>
                      <a:pPr algn="l">
                        <a:lnSpc>
                          <a:spcPts val="3600"/>
                        </a:lnSpc>
                        <a:defRPr/>
                      </a:pPr>
                      <a:r>
                        <a:rPr lang="en-US" sz="3000" b="1">
                          <a:solidFill>
                            <a:srgbClr val="FFFFFF"/>
                          </a:solidFill>
                          <a:latin typeface="DejaVu Sans Bold"/>
                          <a:ea typeface="DejaVu Sans Bold"/>
                          <a:cs typeface="DejaVu Sans Bold"/>
                          <a:sym typeface="DejaVu Sans Bold"/>
                        </a:rPr>
                        <a:t>B01 evidence</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600"/>
                        </a:lnSpc>
                        <a:defRPr/>
                      </a:pPr>
                      <a:r>
                        <a:rPr lang="en-US" sz="3000" b="1">
                          <a:solidFill>
                            <a:srgbClr val="FFFFFF"/>
                          </a:solidFill>
                          <a:latin typeface="DejaVu Sans Bold"/>
                          <a:ea typeface="DejaVu Sans Bold"/>
                          <a:cs typeface="DejaVu Sans Bold"/>
                          <a:sym typeface="DejaVu Sans Bold"/>
                        </a:rPr>
                        <a:t>Warnings</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600"/>
                        </a:lnSpc>
                        <a:defRPr/>
                      </a:pPr>
                      <a:r>
                        <a:rPr lang="en-US" sz="3000" b="1">
                          <a:solidFill>
                            <a:srgbClr val="FFFFFF"/>
                          </a:solidFill>
                          <a:latin typeface="DejaVu Sans Bold"/>
                          <a:ea typeface="DejaVu Sans Bold"/>
                          <a:cs typeface="DejaVu Sans Bold"/>
                          <a:sym typeface="DejaVu Sans Bold"/>
                        </a:rPr>
                        <a:t>Validated shifts</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57250">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Published reference</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14</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10</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57250">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Standalone diagnostic</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17</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5</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857250">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Combined Table-I file</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17</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0</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bl>
          </a:graphicData>
        </a:graphic>
      </p:graphicFrame>
      <p:sp>
        <p:nvSpPr>
          <p:cNvPr id="7" name="TextBox 7"/>
          <p:cNvSpPr txBox="1"/>
          <p:nvPr/>
        </p:nvSpPr>
        <p:spPr>
          <a:xfrm>
            <a:off x="1028700" y="6592443"/>
            <a:ext cx="16184880" cy="466725"/>
          </a:xfrm>
          <a:prstGeom prst="rect">
            <a:avLst/>
          </a:prstGeom>
        </p:spPr>
        <p:txBody>
          <a:bodyPr lIns="0" tIns="0" rIns="0" bIns="0" rtlCol="0" anchor="t">
            <a:spAutoFit/>
          </a:bodyPr>
          <a:lstStyle/>
          <a:p>
            <a:pPr algn="l">
              <a:lnSpc>
                <a:spcPts val="3960"/>
              </a:lnSpc>
            </a:pPr>
            <a:r>
              <a:rPr lang="en-US" sz="3300" b="1">
                <a:solidFill>
                  <a:srgbClr val="78D8CC"/>
                </a:solidFill>
                <a:latin typeface="DejaVu Sans Bold"/>
                <a:ea typeface="DejaVu Sans Bold"/>
                <a:cs typeface="DejaVu Sans Bold"/>
                <a:sym typeface="DejaVu Sans Bold"/>
              </a:rPr>
              <a:t>What this means</a:t>
            </a:r>
          </a:p>
        </p:txBody>
      </p:sp>
      <p:sp>
        <p:nvSpPr>
          <p:cNvPr id="8" name="TextBox 8"/>
          <p:cNvSpPr txBox="1"/>
          <p:nvPr/>
        </p:nvSpPr>
        <p:spPr>
          <a:xfrm>
            <a:off x="1028700" y="7260336"/>
            <a:ext cx="16184880" cy="800100"/>
          </a:xfrm>
          <a:prstGeom prst="rect">
            <a:avLst/>
          </a:prstGeom>
        </p:spPr>
        <p:txBody>
          <a:bodyPr lIns="0" tIns="0" rIns="0" bIns="0" rtlCol="0" anchor="t">
            <a:spAutoFit/>
          </a:bodyPr>
          <a:lstStyle/>
          <a:p>
            <a:pPr algn="l">
              <a:lnSpc>
                <a:spcPts val="3779"/>
              </a:lnSpc>
            </a:pPr>
            <a:r>
              <a:rPr lang="en-US" sz="3150">
                <a:solidFill>
                  <a:srgbClr val="EAF2F8"/>
                </a:solidFill>
                <a:latin typeface="DejaVu Sans Light"/>
                <a:ea typeface="DejaVu Sans Light"/>
                <a:cs typeface="DejaVu Sans Light"/>
                <a:sym typeface="DejaVu Sans Light"/>
              </a:rPr>
              <a:t>Both stored runs differ from the published result. Neither file proves that one run supersedes the other.</a:t>
            </a:r>
          </a:p>
        </p:txBody>
      </p:sp>
      <p:sp>
        <p:nvSpPr>
          <p:cNvPr id="9" name="TextBox 9"/>
          <p:cNvSpPr txBox="1"/>
          <p:nvPr/>
        </p:nvSpPr>
        <p:spPr>
          <a:xfrm>
            <a:off x="1028700" y="8306943"/>
            <a:ext cx="16184880" cy="535305"/>
          </a:xfrm>
          <a:prstGeom prst="rect">
            <a:avLst/>
          </a:prstGeom>
        </p:spPr>
        <p:txBody>
          <a:bodyPr lIns="0" tIns="0" rIns="0" bIns="0" rtlCol="0" anchor="t">
            <a:spAutoFit/>
          </a:bodyPr>
          <a:lstStyle/>
          <a:p>
            <a:pPr algn="l">
              <a:lnSpc>
                <a:spcPts val="3060"/>
              </a:lnSpc>
            </a:pPr>
            <a:r>
              <a:rPr lang="en-US" sz="2550">
                <a:solidFill>
                  <a:srgbClr val="9CB0C3"/>
                </a:solidFill>
                <a:latin typeface="DejaVu Sans Light"/>
                <a:ea typeface="DejaVu Sans Light"/>
                <a:cs typeface="DejaVu Sans Light"/>
                <a:sym typeface="DejaVu Sans Light"/>
              </a:rPr>
              <a:t>Next: record the Stage-II mode, window settings and generating commit for each run.</a:t>
            </a:r>
          </a:p>
        </p:txBody>
      </p:sp>
      <p:sp>
        <p:nvSpPr>
          <p:cNvPr id="10" name="TextBox 10"/>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MANUSCRIPT EVIDENCE</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Numerical reproduction remains unresolved</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 outputs/metrics/bci_table1_comparison.csv at 2a8d20b; means calculated across nine subjects per dataset.</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4188413810"/>
              </p:ext>
            </p:extLst>
          </p:nvPr>
        </p:nvGraphicFramePr>
        <p:xfrm>
          <a:off x="1028700" y="2674620"/>
          <a:ext cx="16154401" cy="2514600"/>
        </p:xfrm>
        <a:graphic>
          <a:graphicData uri="http://schemas.openxmlformats.org/drawingml/2006/table">
            <a:tbl>
              <a:tblPr/>
              <a:tblGrid>
                <a:gridCol w="9583119">
                  <a:extLst>
                    <a:ext uri="{9D8B030D-6E8A-4147-A177-3AD203B41FA5}">
                      <a16:colId xmlns:a16="http://schemas.microsoft.com/office/drawing/2014/main" val="20000"/>
                    </a:ext>
                  </a:extLst>
                </a:gridCol>
                <a:gridCol w="3285641">
                  <a:extLst>
                    <a:ext uri="{9D8B030D-6E8A-4147-A177-3AD203B41FA5}">
                      <a16:colId xmlns:a16="http://schemas.microsoft.com/office/drawing/2014/main" val="20001"/>
                    </a:ext>
                  </a:extLst>
                </a:gridCol>
                <a:gridCol w="3285641">
                  <a:extLst>
                    <a:ext uri="{9D8B030D-6E8A-4147-A177-3AD203B41FA5}">
                      <a16:colId xmlns:a16="http://schemas.microsoft.com/office/drawing/2014/main" val="20002"/>
                    </a:ext>
                  </a:extLst>
                </a:gridCol>
              </a:tblGrid>
              <a:tr h="838200">
                <a:tc>
                  <a:txBody>
                    <a:bodyPr/>
                    <a:lstStyle/>
                    <a:p>
                      <a:pPr algn="l">
                        <a:lnSpc>
                          <a:spcPts val="3779"/>
                        </a:lnSpc>
                        <a:defRPr/>
                      </a:pPr>
                      <a:r>
                        <a:rPr lang="en-US" sz="3150" b="1">
                          <a:solidFill>
                            <a:srgbClr val="FFFFFF"/>
                          </a:solidFill>
                          <a:latin typeface="DejaVu Sans Bold"/>
                          <a:ea typeface="DejaVu Sans Bold"/>
                          <a:cs typeface="DejaVu Sans Bold"/>
                          <a:sym typeface="DejaVu Sans Bold"/>
                        </a:rPr>
                        <a:t>Mean validated-shift count</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779"/>
                        </a:lnSpc>
                        <a:defRPr/>
                      </a:pPr>
                      <a:r>
                        <a:rPr lang="en-US" sz="3150" b="1">
                          <a:solidFill>
                            <a:srgbClr val="FFFFFF"/>
                          </a:solidFill>
                          <a:latin typeface="DejaVu Sans Bold"/>
                          <a:ea typeface="DejaVu Sans Bold"/>
                          <a:cs typeface="DejaVu Sans Bold"/>
                          <a:sym typeface="DejaVu Sans Bold"/>
                        </a:rPr>
                        <a:t>Computed</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779"/>
                        </a:lnSpc>
                        <a:defRPr/>
                      </a:pPr>
                      <a:r>
                        <a:rPr lang="en-US" sz="3150" b="1">
                          <a:solidFill>
                            <a:srgbClr val="FFFFFF"/>
                          </a:solidFill>
                          <a:latin typeface="DejaVu Sans Bold"/>
                          <a:ea typeface="DejaVu Sans Bold"/>
                          <a:cs typeface="DejaVu Sans Bold"/>
                          <a:sym typeface="DejaVu Sans Bold"/>
                        </a:rPr>
                        <a:t>Published</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38200">
                <a:tc>
                  <a:txBody>
                    <a:bodyPr/>
                    <a:lstStyle/>
                    <a:p>
                      <a:pPr algn="l">
                        <a:lnSpc>
                          <a:spcPts val="3779"/>
                        </a:lnSpc>
                        <a:defRPr/>
                      </a:pPr>
                      <a:r>
                        <a:rPr lang="en-US" sz="3150" dirty="0">
                          <a:solidFill>
                            <a:schemeClr val="bg1"/>
                          </a:solidFill>
                          <a:latin typeface="DejaVu Sans Light"/>
                          <a:ea typeface="DejaVu Sans Light"/>
                          <a:cs typeface="DejaVu Sans Light"/>
                          <a:sym typeface="DejaVu Sans Light"/>
                        </a:rPr>
                        <a:t>Dataset 2A</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779"/>
                        </a:lnSpc>
                        <a:defRPr/>
                      </a:pPr>
                      <a:r>
                        <a:rPr lang="en-US" sz="3150">
                          <a:solidFill>
                            <a:schemeClr val="bg1"/>
                          </a:solidFill>
                          <a:latin typeface="DejaVu Sans Light"/>
                          <a:ea typeface="DejaVu Sans Light"/>
                          <a:cs typeface="DejaVu Sans Light"/>
                          <a:sym typeface="DejaVu Sans Light"/>
                        </a:rPr>
                        <a:t>0.33</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779"/>
                        </a:lnSpc>
                        <a:defRPr/>
                      </a:pPr>
                      <a:r>
                        <a:rPr lang="en-US" sz="3150">
                          <a:solidFill>
                            <a:schemeClr val="bg1"/>
                          </a:solidFill>
                          <a:latin typeface="DejaVu Sans Light"/>
                          <a:ea typeface="DejaVu Sans Light"/>
                          <a:cs typeface="DejaVu Sans Light"/>
                          <a:sym typeface="DejaVu Sans Light"/>
                        </a:rPr>
                        <a:t>5.56</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38200">
                <a:tc>
                  <a:txBody>
                    <a:bodyPr/>
                    <a:lstStyle/>
                    <a:p>
                      <a:pPr algn="l">
                        <a:lnSpc>
                          <a:spcPts val="3779"/>
                        </a:lnSpc>
                        <a:defRPr/>
                      </a:pPr>
                      <a:r>
                        <a:rPr lang="en-US" sz="3150" dirty="0">
                          <a:solidFill>
                            <a:schemeClr val="bg1"/>
                          </a:solidFill>
                          <a:latin typeface="DejaVu Sans Light"/>
                          <a:ea typeface="DejaVu Sans Light"/>
                          <a:cs typeface="DejaVu Sans Light"/>
                          <a:sym typeface="DejaVu Sans Light"/>
                        </a:rPr>
                        <a:t>Dataset 2B</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779"/>
                        </a:lnSpc>
                        <a:defRPr/>
                      </a:pPr>
                      <a:r>
                        <a:rPr lang="en-US" sz="3150" dirty="0">
                          <a:solidFill>
                            <a:schemeClr val="bg1"/>
                          </a:solidFill>
                          <a:latin typeface="DejaVu Sans Light"/>
                          <a:ea typeface="DejaVu Sans Light"/>
                          <a:cs typeface="DejaVu Sans Light"/>
                          <a:sym typeface="DejaVu Sans Light"/>
                        </a:rPr>
                        <a:t>0.67</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779"/>
                        </a:lnSpc>
                        <a:defRPr/>
                      </a:pPr>
                      <a:r>
                        <a:rPr lang="en-US" sz="3150" dirty="0">
                          <a:solidFill>
                            <a:schemeClr val="bg1"/>
                          </a:solidFill>
                          <a:latin typeface="DejaVu Sans Light"/>
                          <a:ea typeface="DejaVu Sans Light"/>
                          <a:cs typeface="DejaVu Sans Light"/>
                          <a:sym typeface="DejaVu Sans Light"/>
                        </a:rPr>
                        <a:t>10.33</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bl>
          </a:graphicData>
        </a:graphic>
      </p:graphicFrame>
      <p:sp>
        <p:nvSpPr>
          <p:cNvPr id="7" name="TextBox 7"/>
          <p:cNvSpPr txBox="1"/>
          <p:nvPr/>
        </p:nvSpPr>
        <p:spPr>
          <a:xfrm>
            <a:off x="1028700" y="5796915"/>
            <a:ext cx="7543800" cy="466725"/>
          </a:xfrm>
          <a:prstGeom prst="rect">
            <a:avLst/>
          </a:prstGeom>
        </p:spPr>
        <p:txBody>
          <a:bodyPr lIns="0" tIns="0" rIns="0" bIns="0" rtlCol="0" anchor="t">
            <a:spAutoFit/>
          </a:bodyPr>
          <a:lstStyle/>
          <a:p>
            <a:pPr algn="l">
              <a:lnSpc>
                <a:spcPts val="3960"/>
              </a:lnSpc>
            </a:pPr>
            <a:r>
              <a:rPr lang="en-US" sz="3300" b="1">
                <a:solidFill>
                  <a:srgbClr val="78D8CC"/>
                </a:solidFill>
                <a:latin typeface="DejaVu Sans Bold"/>
                <a:ea typeface="DejaVu Sans Bold"/>
                <a:cs typeface="DejaVu Sans Bold"/>
                <a:sym typeface="DejaVu Sans Bold"/>
              </a:rPr>
              <a:t>Evidence available</a:t>
            </a:r>
          </a:p>
        </p:txBody>
      </p:sp>
      <p:sp>
        <p:nvSpPr>
          <p:cNvPr id="8" name="TextBox 8"/>
          <p:cNvSpPr txBox="1"/>
          <p:nvPr/>
        </p:nvSpPr>
        <p:spPr>
          <a:xfrm>
            <a:off x="1028700" y="6578727"/>
            <a:ext cx="7543800" cy="17697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Subject-level comparisons</a:t>
            </a:r>
          </a:p>
          <a:p>
            <a:pPr algn="l">
              <a:lnSpc>
                <a:spcPts val="3600"/>
              </a:lnSpc>
            </a:pPr>
            <a:r>
              <a:rPr lang="en-US" sz="3000">
                <a:solidFill>
                  <a:srgbClr val="EAF2F8"/>
                </a:solidFill>
                <a:latin typeface="DejaVu Sans Light"/>
                <a:ea typeface="DejaVu Sans Light"/>
                <a:cs typeface="DejaVu Sans Light"/>
                <a:sym typeface="DejaVu Sans Light"/>
              </a:rPr>
              <a:t>Classifier benchmarks</a:t>
            </a:r>
          </a:p>
          <a:p>
            <a:pPr algn="l">
              <a:lnSpc>
                <a:spcPts val="3600"/>
              </a:lnSpc>
            </a:pPr>
            <a:r>
              <a:rPr lang="en-US" sz="3000">
                <a:solidFill>
                  <a:srgbClr val="EAF2F8"/>
                </a:solidFill>
                <a:latin typeface="DejaVu Sans Light"/>
                <a:ea typeface="DejaVu Sans Light"/>
                <a:cs typeface="DejaVu Sans Light"/>
                <a:sym typeface="DejaVu Sans Light"/>
              </a:rPr>
              <a:t>Synthetic score/residual ablations</a:t>
            </a:r>
          </a:p>
        </p:txBody>
      </p:sp>
      <p:sp>
        <p:nvSpPr>
          <p:cNvPr id="9" name="TextBox 9"/>
          <p:cNvSpPr txBox="1"/>
          <p:nvPr/>
        </p:nvSpPr>
        <p:spPr>
          <a:xfrm>
            <a:off x="9464040" y="5796915"/>
            <a:ext cx="7543800" cy="466725"/>
          </a:xfrm>
          <a:prstGeom prst="rect">
            <a:avLst/>
          </a:prstGeom>
        </p:spPr>
        <p:txBody>
          <a:bodyPr lIns="0" tIns="0" rIns="0" bIns="0" rtlCol="0" anchor="t">
            <a:spAutoFit/>
          </a:bodyPr>
          <a:lstStyle/>
          <a:p>
            <a:pPr algn="l">
              <a:lnSpc>
                <a:spcPts val="3960"/>
              </a:lnSpc>
            </a:pPr>
            <a:r>
              <a:rPr lang="en-US" sz="3300" b="1">
                <a:solidFill>
                  <a:srgbClr val="78D8CC"/>
                </a:solidFill>
                <a:latin typeface="DejaVu Sans Bold"/>
                <a:ea typeface="DejaVu Sans Bold"/>
                <a:cs typeface="DejaVu Sans Bold"/>
                <a:sym typeface="DejaVu Sans Bold"/>
              </a:rPr>
              <a:t>Evidence to complete</a:t>
            </a:r>
          </a:p>
        </p:txBody>
      </p:sp>
      <p:sp>
        <p:nvSpPr>
          <p:cNvPr id="10" name="TextBox 10"/>
          <p:cNvSpPr txBox="1"/>
          <p:nvPr/>
        </p:nvSpPr>
        <p:spPr>
          <a:xfrm>
            <a:off x="9464040" y="6578727"/>
            <a:ext cx="7543800" cy="17697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One configuration per reproducible run</a:t>
            </a:r>
          </a:p>
          <a:p>
            <a:pPr algn="l">
              <a:lnSpc>
                <a:spcPts val="3600"/>
              </a:lnSpc>
            </a:pPr>
            <a:r>
              <a:rPr lang="en-US" sz="3000">
                <a:solidFill>
                  <a:srgbClr val="EAF2F8"/>
                </a:solidFill>
                <a:latin typeface="DejaVu Sans Light"/>
                <a:ea typeface="DejaVu Sans Light"/>
                <a:cs typeface="DejaVu Sans Light"/>
                <a:sym typeface="DejaVu Sans Light"/>
              </a:rPr>
              <a:t>Stage-II acceptance/rejection analysis</a:t>
            </a:r>
          </a:p>
          <a:p>
            <a:pPr algn="l">
              <a:lnSpc>
                <a:spcPts val="3600"/>
              </a:lnSpc>
            </a:pPr>
            <a:r>
              <a:rPr lang="en-US" sz="3000">
                <a:solidFill>
                  <a:srgbClr val="EAF2F8"/>
                </a:solidFill>
                <a:latin typeface="DejaVu Sans Light"/>
                <a:ea typeface="DejaVu Sans Light"/>
                <a:cs typeface="DejaVu Sans Light"/>
                <a:sym typeface="DejaVu Sans Light"/>
              </a:rPr>
              <a:t>Real EEG traces and repeated Diethe runs</a:t>
            </a:r>
          </a:p>
        </p:txBody>
      </p:sp>
      <p:sp>
        <p:nvSpPr>
          <p:cNvPr id="11" name="TextBox 11"/>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23</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PROJECT PROGRESS</a:t>
            </a:r>
          </a:p>
        </p:txBody>
      </p:sp>
      <p:sp>
        <p:nvSpPr>
          <p:cNvPr id="3" name="TextBox 3"/>
          <p:cNvSpPr txBox="1"/>
          <p:nvPr/>
        </p:nvSpPr>
        <p:spPr>
          <a:xfrm>
            <a:off x="918972" y="1154430"/>
            <a:ext cx="16459200" cy="9258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CSE reconstruction and policy prototypes implemented</a:t>
            </a:r>
          </a:p>
        </p:txBody>
      </p:sp>
      <p:sp>
        <p:nvSpPr>
          <p:cNvPr id="4" name="TextBox 4"/>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5" name="Table 5"/>
          <p:cNvGraphicFramePr>
            <a:graphicFrameLocks noGrp="1"/>
          </p:cNvGraphicFramePr>
          <p:nvPr>
            <p:extLst>
              <p:ext uri="{D42A27DB-BD31-4B8C-83A1-F6EECF244321}">
                <p14:modId xmlns:p14="http://schemas.microsoft.com/office/powerpoint/2010/main" val="2684865835"/>
              </p:ext>
            </p:extLst>
          </p:nvPr>
        </p:nvGraphicFramePr>
        <p:xfrm>
          <a:off x="1028700" y="2537460"/>
          <a:ext cx="16173450" cy="5014468"/>
        </p:xfrm>
        <a:graphic>
          <a:graphicData uri="http://schemas.openxmlformats.org/drawingml/2006/table">
            <a:tbl>
              <a:tblPr/>
              <a:tblGrid>
                <a:gridCol w="4248958">
                  <a:extLst>
                    <a:ext uri="{9D8B030D-6E8A-4147-A177-3AD203B41FA5}">
                      <a16:colId xmlns:a16="http://schemas.microsoft.com/office/drawing/2014/main" val="20000"/>
                    </a:ext>
                  </a:extLst>
                </a:gridCol>
                <a:gridCol w="11924492">
                  <a:extLst>
                    <a:ext uri="{9D8B030D-6E8A-4147-A177-3AD203B41FA5}">
                      <a16:colId xmlns:a16="http://schemas.microsoft.com/office/drawing/2014/main" val="20001"/>
                    </a:ext>
                  </a:extLst>
                </a:gridCol>
              </a:tblGrid>
              <a:tr h="800100">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Workstream</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Current position</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CSE reconstruction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EEG features, EWMA warnings and Stage-II diagnostics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Supervised adaptation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Predict first, then update using the revealed label</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Transductive adaptation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PWKNN pseudo-labels; confidence-gated training updates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Policy experiments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Five Diethe-inspired policies on matched streams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Evidence still needed</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Matched reproduction runs and saved adaptation comparisons</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5"/>
                  </a:ext>
                </a:extLst>
              </a:tr>
            </a:tbl>
          </a:graphicData>
        </a:graphic>
      </p:graphicFrame>
      <p:sp>
        <p:nvSpPr>
          <p:cNvPr id="6" name="TextBox 6"/>
          <p:cNvSpPr txBox="1"/>
          <p:nvPr/>
        </p:nvSpPr>
        <p:spPr>
          <a:xfrm>
            <a:off x="1028700" y="7922895"/>
            <a:ext cx="16184880" cy="672465"/>
          </a:xfrm>
          <a:prstGeom prst="rect">
            <a:avLst/>
          </a:prstGeom>
        </p:spPr>
        <p:txBody>
          <a:bodyPr lIns="0" tIns="0" rIns="0" bIns="0" rtlCol="0" anchor="t">
            <a:spAutoFit/>
          </a:bodyPr>
          <a:lstStyle/>
          <a:p>
            <a:pPr algn="l">
              <a:lnSpc>
                <a:spcPts val="3600"/>
              </a:lnSpc>
            </a:pPr>
            <a:r>
              <a:rPr lang="en-US" sz="3000">
                <a:solidFill>
                  <a:srgbClr val="78D8CC"/>
                </a:solidFill>
                <a:latin typeface="DejaVu Sans Light"/>
                <a:ea typeface="DejaVu Sans Light"/>
                <a:cs typeface="DejaVu Sans Light"/>
                <a:sym typeface="DejaVu Sans Light"/>
              </a:rPr>
              <a:t>Full dynamic CSE-UAEL ensemble growth and weighted voting remain open.</a:t>
            </a:r>
          </a:p>
        </p:txBody>
      </p:sp>
      <p:sp>
        <p:nvSpPr>
          <p:cNvPr id="7" name="TextBox 7"/>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24</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564084" y="493551"/>
            <a:ext cx="2527490" cy="284983"/>
          </a:xfrm>
          <a:prstGeom prst="rect">
            <a:avLst/>
          </a:prstGeom>
        </p:spPr>
        <p:txBody>
          <a:bodyPr lIns="0" tIns="0" rIns="0" bIns="0" rtlCol="0" anchor="t">
            <a:spAutoFit/>
          </a:bodyPr>
          <a:lstStyle/>
          <a:p>
            <a:pPr algn="l">
              <a:lnSpc>
                <a:spcPts val="2179"/>
              </a:lnSpc>
            </a:pPr>
            <a:r>
              <a:rPr lang="en-US" sz="2179" b="1" spc="-43">
                <a:solidFill>
                  <a:srgbClr val="F6F6F6"/>
                </a:solidFill>
                <a:latin typeface="Roboto Bold"/>
                <a:ea typeface="Roboto Bold"/>
                <a:cs typeface="Roboto Bold"/>
                <a:sym typeface="Roboto Bold"/>
              </a:rPr>
              <a:t>PROJECT TIMELINE</a:t>
            </a:r>
          </a:p>
        </p:txBody>
      </p:sp>
      <p:sp>
        <p:nvSpPr>
          <p:cNvPr id="4" name="TextBox 4"/>
          <p:cNvSpPr txBox="1"/>
          <p:nvPr/>
        </p:nvSpPr>
        <p:spPr>
          <a:xfrm>
            <a:off x="477399" y="981511"/>
            <a:ext cx="11196013" cy="776061"/>
          </a:xfrm>
          <a:prstGeom prst="rect">
            <a:avLst/>
          </a:prstGeom>
        </p:spPr>
        <p:txBody>
          <a:bodyPr lIns="0" tIns="0" rIns="0" bIns="0" rtlCol="0" anchor="t">
            <a:spAutoFit/>
          </a:bodyPr>
          <a:lstStyle/>
          <a:p>
            <a:pPr algn="l">
              <a:lnSpc>
                <a:spcPts val="5868"/>
              </a:lnSpc>
            </a:pPr>
            <a:r>
              <a:rPr lang="en-US" sz="5868" b="1" spc="-174">
                <a:solidFill>
                  <a:srgbClr val="F6F6F6"/>
                </a:solidFill>
                <a:latin typeface="Roboto Bold"/>
                <a:ea typeface="Roboto Bold"/>
                <a:cs typeface="Roboto Bold"/>
                <a:sym typeface="Roboto Bold"/>
              </a:rPr>
              <a:t>Year 1 timeline · Part 1: WP1–WP3</a:t>
            </a:r>
          </a:p>
        </p:txBody>
      </p:sp>
      <p:sp>
        <p:nvSpPr>
          <p:cNvPr id="5" name="TextBox 5"/>
          <p:cNvSpPr txBox="1"/>
          <p:nvPr/>
        </p:nvSpPr>
        <p:spPr>
          <a:xfrm>
            <a:off x="460787" y="1803076"/>
            <a:ext cx="12857213" cy="478561"/>
          </a:xfrm>
          <a:prstGeom prst="rect">
            <a:avLst/>
          </a:prstGeom>
        </p:spPr>
        <p:txBody>
          <a:bodyPr lIns="0" tIns="0" rIns="0" bIns="0" rtlCol="0" anchor="t">
            <a:spAutoFit/>
          </a:bodyPr>
          <a:lstStyle/>
          <a:p>
            <a:pPr algn="l">
              <a:lnSpc>
                <a:spcPts val="3863"/>
              </a:lnSpc>
            </a:pPr>
            <a:r>
              <a:rPr lang="en-US" sz="2759" b="1" spc="-55">
                <a:solidFill>
                  <a:srgbClr val="8F96A2"/>
                </a:solidFill>
                <a:latin typeface="Roboto Bold"/>
                <a:ea typeface="Roboto Bold"/>
                <a:cs typeface="Roboto Bold"/>
                <a:sym typeface="Roboto Bold"/>
              </a:rPr>
              <a:t>October 2026 – September 2027 | Foundations, detection evidence and adaptation</a:t>
            </a:r>
          </a:p>
        </p:txBody>
      </p:sp>
      <p:sp>
        <p:nvSpPr>
          <p:cNvPr id="6" name="Freeform 6"/>
          <p:cNvSpPr/>
          <p:nvPr/>
        </p:nvSpPr>
        <p:spPr>
          <a:xfrm>
            <a:off x="426574" y="2776725"/>
            <a:ext cx="17434852" cy="229572"/>
          </a:xfrm>
          <a:custGeom>
            <a:avLst/>
            <a:gdLst/>
            <a:ahLst/>
            <a:cxnLst/>
            <a:rect l="l" t="t" r="r" b="b"/>
            <a:pathLst>
              <a:path w="17434852" h="229572">
                <a:moveTo>
                  <a:pt x="0" y="0"/>
                </a:moveTo>
                <a:lnTo>
                  <a:pt x="17434852" y="0"/>
                </a:lnTo>
                <a:lnTo>
                  <a:pt x="17434852" y="229571"/>
                </a:lnTo>
                <a:lnTo>
                  <a:pt x="0" y="229571"/>
                </a:lnTo>
                <a:lnTo>
                  <a:pt x="0" y="0"/>
                </a:lnTo>
                <a:close/>
              </a:path>
            </a:pathLst>
          </a:custGeom>
          <a:blipFill>
            <a:blip r:embed="rId3"/>
            <a:stretch>
              <a:fillRect/>
            </a:stretch>
          </a:blipFill>
        </p:spPr>
        <p:txBody>
          <a:bodyPr/>
          <a:lstStyle/>
          <a:p>
            <a:endParaRPr lang="en-GB"/>
          </a:p>
        </p:txBody>
      </p:sp>
      <p:sp>
        <p:nvSpPr>
          <p:cNvPr id="7" name="Freeform 7"/>
          <p:cNvSpPr/>
          <p:nvPr/>
        </p:nvSpPr>
        <p:spPr>
          <a:xfrm>
            <a:off x="2384440" y="2776725"/>
            <a:ext cx="448450" cy="448211"/>
          </a:xfrm>
          <a:custGeom>
            <a:avLst/>
            <a:gdLst/>
            <a:ahLst/>
            <a:cxnLst/>
            <a:rect l="l" t="t" r="r" b="b"/>
            <a:pathLst>
              <a:path w="448450" h="448211">
                <a:moveTo>
                  <a:pt x="0" y="0"/>
                </a:moveTo>
                <a:lnTo>
                  <a:pt x="448450" y="0"/>
                </a:lnTo>
                <a:lnTo>
                  <a:pt x="448450" y="448211"/>
                </a:lnTo>
                <a:lnTo>
                  <a:pt x="0" y="448211"/>
                </a:lnTo>
                <a:lnTo>
                  <a:pt x="0" y="0"/>
                </a:lnTo>
                <a:close/>
              </a:path>
            </a:pathLst>
          </a:custGeom>
          <a:blipFill>
            <a:blip r:embed="rId4"/>
            <a:stretch>
              <a:fillRect/>
            </a:stretch>
          </a:blipFill>
        </p:spPr>
        <p:txBody>
          <a:bodyPr/>
          <a:lstStyle/>
          <a:p>
            <a:endParaRPr lang="en-GB"/>
          </a:p>
        </p:txBody>
      </p:sp>
      <p:sp>
        <p:nvSpPr>
          <p:cNvPr id="8" name="TextBox 8"/>
          <p:cNvSpPr txBox="1"/>
          <p:nvPr/>
        </p:nvSpPr>
        <p:spPr>
          <a:xfrm>
            <a:off x="1852947" y="3244675"/>
            <a:ext cx="1530296"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Oct–Dec 2026</a:t>
            </a:r>
          </a:p>
        </p:txBody>
      </p:sp>
      <p:sp>
        <p:nvSpPr>
          <p:cNvPr id="9" name="Freeform 9"/>
          <p:cNvSpPr/>
          <p:nvPr/>
        </p:nvSpPr>
        <p:spPr>
          <a:xfrm>
            <a:off x="6748622" y="2776725"/>
            <a:ext cx="437512" cy="448211"/>
          </a:xfrm>
          <a:custGeom>
            <a:avLst/>
            <a:gdLst/>
            <a:ahLst/>
            <a:cxnLst/>
            <a:rect l="l" t="t" r="r" b="b"/>
            <a:pathLst>
              <a:path w="437512" h="448211">
                <a:moveTo>
                  <a:pt x="0" y="0"/>
                </a:moveTo>
                <a:lnTo>
                  <a:pt x="437512" y="0"/>
                </a:lnTo>
                <a:lnTo>
                  <a:pt x="437512" y="448211"/>
                </a:lnTo>
                <a:lnTo>
                  <a:pt x="0" y="448211"/>
                </a:lnTo>
                <a:lnTo>
                  <a:pt x="0" y="0"/>
                </a:lnTo>
                <a:close/>
              </a:path>
            </a:pathLst>
          </a:custGeom>
          <a:blipFill>
            <a:blip r:embed="rId5"/>
            <a:stretch>
              <a:fillRect/>
            </a:stretch>
          </a:blipFill>
        </p:spPr>
        <p:txBody>
          <a:bodyPr/>
          <a:lstStyle/>
          <a:p>
            <a:endParaRPr lang="en-GB"/>
          </a:p>
        </p:txBody>
      </p:sp>
      <p:sp>
        <p:nvSpPr>
          <p:cNvPr id="10" name="TextBox 10"/>
          <p:cNvSpPr txBox="1"/>
          <p:nvPr/>
        </p:nvSpPr>
        <p:spPr>
          <a:xfrm>
            <a:off x="6145006" y="3244675"/>
            <a:ext cx="1572255"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Jan–Mar 2027</a:t>
            </a:r>
          </a:p>
        </p:txBody>
      </p:sp>
      <p:sp>
        <p:nvSpPr>
          <p:cNvPr id="11" name="Freeform 11"/>
          <p:cNvSpPr/>
          <p:nvPr/>
        </p:nvSpPr>
        <p:spPr>
          <a:xfrm>
            <a:off x="11101866" y="2776725"/>
            <a:ext cx="437512" cy="448211"/>
          </a:xfrm>
          <a:custGeom>
            <a:avLst/>
            <a:gdLst/>
            <a:ahLst/>
            <a:cxnLst/>
            <a:rect l="l" t="t" r="r" b="b"/>
            <a:pathLst>
              <a:path w="437512" h="448211">
                <a:moveTo>
                  <a:pt x="0" y="0"/>
                </a:moveTo>
                <a:lnTo>
                  <a:pt x="437512" y="0"/>
                </a:lnTo>
                <a:lnTo>
                  <a:pt x="437512" y="448211"/>
                </a:lnTo>
                <a:lnTo>
                  <a:pt x="0" y="448211"/>
                </a:lnTo>
                <a:lnTo>
                  <a:pt x="0" y="0"/>
                </a:lnTo>
                <a:close/>
              </a:path>
            </a:pathLst>
          </a:custGeom>
          <a:blipFill>
            <a:blip r:embed="rId6"/>
            <a:stretch>
              <a:fillRect/>
            </a:stretch>
          </a:blipFill>
        </p:spPr>
        <p:txBody>
          <a:bodyPr/>
          <a:lstStyle/>
          <a:p>
            <a:endParaRPr lang="en-GB"/>
          </a:p>
        </p:txBody>
      </p:sp>
      <p:sp>
        <p:nvSpPr>
          <p:cNvPr id="12" name="TextBox 12"/>
          <p:cNvSpPr txBox="1"/>
          <p:nvPr/>
        </p:nvSpPr>
        <p:spPr>
          <a:xfrm>
            <a:off x="10533387" y="3244675"/>
            <a:ext cx="1528728"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Apr–Jun 2027</a:t>
            </a:r>
          </a:p>
        </p:txBody>
      </p:sp>
      <p:sp>
        <p:nvSpPr>
          <p:cNvPr id="13" name="Freeform 13"/>
          <p:cNvSpPr/>
          <p:nvPr/>
        </p:nvSpPr>
        <p:spPr>
          <a:xfrm>
            <a:off x="15455110" y="2776725"/>
            <a:ext cx="448450" cy="448211"/>
          </a:xfrm>
          <a:custGeom>
            <a:avLst/>
            <a:gdLst/>
            <a:ahLst/>
            <a:cxnLst/>
            <a:rect l="l" t="t" r="r" b="b"/>
            <a:pathLst>
              <a:path w="448450" h="448211">
                <a:moveTo>
                  <a:pt x="0" y="0"/>
                </a:moveTo>
                <a:lnTo>
                  <a:pt x="448450" y="0"/>
                </a:lnTo>
                <a:lnTo>
                  <a:pt x="448450" y="448211"/>
                </a:lnTo>
                <a:lnTo>
                  <a:pt x="0" y="448211"/>
                </a:lnTo>
                <a:lnTo>
                  <a:pt x="0" y="0"/>
                </a:lnTo>
                <a:close/>
              </a:path>
            </a:pathLst>
          </a:custGeom>
          <a:blipFill>
            <a:blip r:embed="rId7"/>
            <a:stretch>
              <a:fillRect/>
            </a:stretch>
          </a:blipFill>
        </p:spPr>
        <p:txBody>
          <a:bodyPr/>
          <a:lstStyle/>
          <a:p>
            <a:endParaRPr lang="en-GB"/>
          </a:p>
        </p:txBody>
      </p:sp>
      <p:sp>
        <p:nvSpPr>
          <p:cNvPr id="14" name="TextBox 14"/>
          <p:cNvSpPr txBox="1"/>
          <p:nvPr/>
        </p:nvSpPr>
        <p:spPr>
          <a:xfrm>
            <a:off x="14892205" y="3244675"/>
            <a:ext cx="1490748"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Jul–Sep 2027</a:t>
            </a:r>
          </a:p>
        </p:txBody>
      </p:sp>
      <p:sp>
        <p:nvSpPr>
          <p:cNvPr id="15" name="TextBox 15"/>
          <p:cNvSpPr txBox="1"/>
          <p:nvPr/>
        </p:nvSpPr>
        <p:spPr>
          <a:xfrm>
            <a:off x="6184916" y="3620205"/>
            <a:ext cx="5693583" cy="325345"/>
          </a:xfrm>
          <a:prstGeom prst="rect">
            <a:avLst/>
          </a:prstGeom>
        </p:spPr>
        <p:txBody>
          <a:bodyPr lIns="0" tIns="0" rIns="0" bIns="0" rtlCol="0" anchor="t">
            <a:spAutoFit/>
          </a:bodyPr>
          <a:lstStyle/>
          <a:p>
            <a:pPr algn="l">
              <a:lnSpc>
                <a:spcPts val="2794"/>
              </a:lnSpc>
            </a:pPr>
            <a:r>
              <a:rPr lang="en-US" sz="1863" spc="-37">
                <a:solidFill>
                  <a:srgbClr val="8F96A2"/>
                </a:solidFill>
                <a:latin typeface="Roboto"/>
                <a:ea typeface="Roboto"/>
                <a:cs typeface="Roboto"/>
                <a:sym typeface="Roboto"/>
              </a:rPr>
              <a:t>planning horizon; exact package dates not yet validated</a:t>
            </a:r>
          </a:p>
        </p:txBody>
      </p:sp>
      <p:sp>
        <p:nvSpPr>
          <p:cNvPr id="16" name="Freeform 16"/>
          <p:cNvSpPr/>
          <p:nvPr/>
        </p:nvSpPr>
        <p:spPr>
          <a:xfrm>
            <a:off x="426574" y="4066699"/>
            <a:ext cx="17434852" cy="1727254"/>
          </a:xfrm>
          <a:custGeom>
            <a:avLst/>
            <a:gdLst/>
            <a:ahLst/>
            <a:cxnLst/>
            <a:rect l="l" t="t" r="r" b="b"/>
            <a:pathLst>
              <a:path w="17434852" h="1727254">
                <a:moveTo>
                  <a:pt x="0" y="0"/>
                </a:moveTo>
                <a:lnTo>
                  <a:pt x="17434852" y="0"/>
                </a:lnTo>
                <a:lnTo>
                  <a:pt x="17434852" y="1727254"/>
                </a:lnTo>
                <a:lnTo>
                  <a:pt x="0" y="1727254"/>
                </a:lnTo>
                <a:lnTo>
                  <a:pt x="0" y="0"/>
                </a:lnTo>
                <a:close/>
              </a:path>
            </a:pathLst>
          </a:custGeom>
          <a:blipFill>
            <a:blip r:embed="rId8"/>
            <a:stretch>
              <a:fillRect/>
            </a:stretch>
          </a:blipFill>
        </p:spPr>
        <p:txBody>
          <a:bodyPr/>
          <a:lstStyle/>
          <a:p>
            <a:endParaRPr lang="en-GB"/>
          </a:p>
        </p:txBody>
      </p:sp>
      <p:sp>
        <p:nvSpPr>
          <p:cNvPr id="17" name="TextBox 17"/>
          <p:cNvSpPr txBox="1"/>
          <p:nvPr/>
        </p:nvSpPr>
        <p:spPr>
          <a:xfrm>
            <a:off x="966177" y="4733867"/>
            <a:ext cx="5180699" cy="425509"/>
          </a:xfrm>
          <a:prstGeom prst="rect">
            <a:avLst/>
          </a:prstGeom>
        </p:spPr>
        <p:txBody>
          <a:bodyPr lIns="0" tIns="0" rIns="0" bIns="0" rtlCol="0" anchor="t">
            <a:spAutoFit/>
          </a:bodyPr>
          <a:lstStyle/>
          <a:p>
            <a:pPr algn="l">
              <a:lnSpc>
                <a:spcPts val="3168"/>
              </a:lnSpc>
            </a:pPr>
            <a:r>
              <a:rPr lang="en-US" sz="3168" b="1" spc="-94">
                <a:solidFill>
                  <a:srgbClr val="F6F6F6"/>
                </a:solidFill>
                <a:latin typeface="Roboto Bold"/>
                <a:ea typeface="Roboto Bold"/>
                <a:cs typeface="Roboto Bold"/>
                <a:sym typeface="Roboto Bold"/>
              </a:rPr>
              <a:t>WP1 · Theory and architecture</a:t>
            </a:r>
          </a:p>
        </p:txBody>
      </p:sp>
      <p:sp>
        <p:nvSpPr>
          <p:cNvPr id="18" name="TextBox 18"/>
          <p:cNvSpPr txBox="1"/>
          <p:nvPr/>
        </p:nvSpPr>
        <p:spPr>
          <a:xfrm>
            <a:off x="6990433" y="4824515"/>
            <a:ext cx="2830119"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EWMA / Stage-II pipeline,</a:t>
            </a:r>
          </a:p>
          <a:p>
            <a:pPr algn="l">
              <a:lnSpc>
                <a:spcPts val="2610"/>
              </a:lnSpc>
            </a:pPr>
            <a:r>
              <a:rPr lang="en-US" sz="1740" spc="-34">
                <a:solidFill>
                  <a:srgbClr val="8F96A2"/>
                </a:solidFill>
                <a:latin typeface="Roboto"/>
                <a:ea typeface="Roboto"/>
                <a:cs typeface="Roboto"/>
                <a:sym typeface="Roboto"/>
              </a:rPr>
              <a:t>research architecture drafted</a:t>
            </a:r>
          </a:p>
        </p:txBody>
      </p:sp>
      <p:sp>
        <p:nvSpPr>
          <p:cNvPr id="19" name="Freeform 19"/>
          <p:cNvSpPr/>
          <p:nvPr/>
        </p:nvSpPr>
        <p:spPr>
          <a:xfrm>
            <a:off x="11965952" y="4285339"/>
            <a:ext cx="229694" cy="1289974"/>
          </a:xfrm>
          <a:custGeom>
            <a:avLst/>
            <a:gdLst/>
            <a:ahLst/>
            <a:cxnLst/>
            <a:rect l="l" t="t" r="r" b="b"/>
            <a:pathLst>
              <a:path w="229694" h="1289974">
                <a:moveTo>
                  <a:pt x="0" y="0"/>
                </a:moveTo>
                <a:lnTo>
                  <a:pt x="229694" y="0"/>
                </a:lnTo>
                <a:lnTo>
                  <a:pt x="229694" y="1289974"/>
                </a:lnTo>
                <a:lnTo>
                  <a:pt x="0" y="1289974"/>
                </a:lnTo>
                <a:lnTo>
                  <a:pt x="0" y="0"/>
                </a:lnTo>
                <a:close/>
              </a:path>
            </a:pathLst>
          </a:custGeom>
          <a:blipFill>
            <a:blip r:embed="rId9"/>
            <a:stretch>
              <a:fillRect/>
            </a:stretch>
          </a:blipFill>
        </p:spPr>
        <p:txBody>
          <a:bodyPr/>
          <a:lstStyle/>
          <a:p>
            <a:endParaRPr lang="en-GB"/>
          </a:p>
        </p:txBody>
      </p:sp>
      <p:sp>
        <p:nvSpPr>
          <p:cNvPr id="20" name="TextBox 20"/>
          <p:cNvSpPr txBox="1"/>
          <p:nvPr/>
        </p:nvSpPr>
        <p:spPr>
          <a:xfrm>
            <a:off x="12423145" y="4794393"/>
            <a:ext cx="3376937"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Documented CPD–CL–digital-twin architecture</a:t>
            </a:r>
          </a:p>
        </p:txBody>
      </p:sp>
      <p:sp>
        <p:nvSpPr>
          <p:cNvPr id="21" name="Freeform 21"/>
          <p:cNvSpPr/>
          <p:nvPr/>
        </p:nvSpPr>
        <p:spPr>
          <a:xfrm>
            <a:off x="426574" y="5564382"/>
            <a:ext cx="17434852" cy="1727254"/>
          </a:xfrm>
          <a:custGeom>
            <a:avLst/>
            <a:gdLst/>
            <a:ahLst/>
            <a:cxnLst/>
            <a:rect l="l" t="t" r="r" b="b"/>
            <a:pathLst>
              <a:path w="17434852" h="1727254">
                <a:moveTo>
                  <a:pt x="0" y="0"/>
                </a:moveTo>
                <a:lnTo>
                  <a:pt x="17434852" y="0"/>
                </a:lnTo>
                <a:lnTo>
                  <a:pt x="17434852" y="1727253"/>
                </a:lnTo>
                <a:lnTo>
                  <a:pt x="0" y="1727253"/>
                </a:lnTo>
                <a:lnTo>
                  <a:pt x="0" y="0"/>
                </a:lnTo>
                <a:close/>
              </a:path>
            </a:pathLst>
          </a:custGeom>
          <a:blipFill>
            <a:blip r:embed="rId10"/>
            <a:stretch>
              <a:fillRect/>
            </a:stretch>
          </a:blipFill>
        </p:spPr>
        <p:txBody>
          <a:bodyPr/>
          <a:lstStyle/>
          <a:p>
            <a:endParaRPr lang="en-GB"/>
          </a:p>
        </p:txBody>
      </p:sp>
      <p:sp>
        <p:nvSpPr>
          <p:cNvPr id="22" name="TextBox 22"/>
          <p:cNvSpPr txBox="1"/>
          <p:nvPr/>
        </p:nvSpPr>
        <p:spPr>
          <a:xfrm>
            <a:off x="973781" y="6270073"/>
            <a:ext cx="4420302" cy="425509"/>
          </a:xfrm>
          <a:prstGeom prst="rect">
            <a:avLst/>
          </a:prstGeom>
        </p:spPr>
        <p:txBody>
          <a:bodyPr lIns="0" tIns="0" rIns="0" bIns="0" rtlCol="0" anchor="t">
            <a:spAutoFit/>
          </a:bodyPr>
          <a:lstStyle/>
          <a:p>
            <a:pPr algn="l">
              <a:lnSpc>
                <a:spcPts val="3168"/>
              </a:lnSpc>
            </a:pPr>
            <a:r>
              <a:rPr lang="en-US" sz="3168" b="1" spc="-94">
                <a:solidFill>
                  <a:srgbClr val="F6F6F6"/>
                </a:solidFill>
                <a:latin typeface="Roboto Bold"/>
                <a:ea typeface="Roboto Bold"/>
                <a:cs typeface="Roboto Bold"/>
                <a:sym typeface="Roboto Bold"/>
              </a:rPr>
              <a:t>WP2 · CPD benchmarking</a:t>
            </a:r>
          </a:p>
        </p:txBody>
      </p:sp>
      <p:sp>
        <p:nvSpPr>
          <p:cNvPr id="23" name="TextBox 23"/>
          <p:cNvSpPr txBox="1"/>
          <p:nvPr/>
        </p:nvSpPr>
        <p:spPr>
          <a:xfrm>
            <a:off x="6996500" y="6045991"/>
            <a:ext cx="2223464"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CURRENT EVIDENCE</a:t>
            </a:r>
          </a:p>
        </p:txBody>
      </p:sp>
      <p:sp>
        <p:nvSpPr>
          <p:cNvPr id="24" name="TextBox 24"/>
          <p:cNvSpPr txBox="1"/>
          <p:nvPr/>
        </p:nvSpPr>
        <p:spPr>
          <a:xfrm>
            <a:off x="6973968" y="6360720"/>
            <a:ext cx="4476622"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Mean-CUSUM smoothing, Park simulation models and controlled scenario visualisations</a:t>
            </a:r>
          </a:p>
        </p:txBody>
      </p:sp>
      <p:sp>
        <p:nvSpPr>
          <p:cNvPr id="25" name="Freeform 25"/>
          <p:cNvSpPr/>
          <p:nvPr/>
        </p:nvSpPr>
        <p:spPr>
          <a:xfrm>
            <a:off x="11965952" y="5783021"/>
            <a:ext cx="229694" cy="1508614"/>
          </a:xfrm>
          <a:custGeom>
            <a:avLst/>
            <a:gdLst/>
            <a:ahLst/>
            <a:cxnLst/>
            <a:rect l="l" t="t" r="r" b="b"/>
            <a:pathLst>
              <a:path w="229694" h="1508614">
                <a:moveTo>
                  <a:pt x="0" y="0"/>
                </a:moveTo>
                <a:lnTo>
                  <a:pt x="229694" y="0"/>
                </a:lnTo>
                <a:lnTo>
                  <a:pt x="229694" y="1508614"/>
                </a:lnTo>
                <a:lnTo>
                  <a:pt x="0" y="1508614"/>
                </a:lnTo>
                <a:lnTo>
                  <a:pt x="0" y="0"/>
                </a:lnTo>
                <a:close/>
              </a:path>
            </a:pathLst>
          </a:custGeom>
          <a:blipFill>
            <a:blip r:embed="rId11"/>
            <a:stretch>
              <a:fillRect/>
            </a:stretch>
          </a:blipFill>
        </p:spPr>
        <p:txBody>
          <a:bodyPr/>
          <a:lstStyle/>
          <a:p>
            <a:endParaRPr lang="en-GB"/>
          </a:p>
        </p:txBody>
      </p:sp>
      <p:sp>
        <p:nvSpPr>
          <p:cNvPr id="26" name="TextBox 26"/>
          <p:cNvSpPr txBox="1"/>
          <p:nvPr/>
        </p:nvSpPr>
        <p:spPr>
          <a:xfrm>
            <a:off x="12435340" y="6045991"/>
            <a:ext cx="2157391"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NEXT DELIVERABLE</a:t>
            </a:r>
          </a:p>
        </p:txBody>
      </p:sp>
      <p:sp>
        <p:nvSpPr>
          <p:cNvPr id="27" name="TextBox 27"/>
          <p:cNvSpPr txBox="1"/>
          <p:nvPr/>
        </p:nvSpPr>
        <p:spPr>
          <a:xfrm>
            <a:off x="12423388" y="6360721"/>
            <a:ext cx="3352599"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Calibrated multi-seed benchmarks and Stage-II gap investigation</a:t>
            </a:r>
          </a:p>
        </p:txBody>
      </p:sp>
      <p:sp>
        <p:nvSpPr>
          <p:cNvPr id="28" name="Freeform 28"/>
          <p:cNvSpPr/>
          <p:nvPr/>
        </p:nvSpPr>
        <p:spPr>
          <a:xfrm>
            <a:off x="426574" y="7280704"/>
            <a:ext cx="17434852" cy="1727254"/>
          </a:xfrm>
          <a:custGeom>
            <a:avLst/>
            <a:gdLst/>
            <a:ahLst/>
            <a:cxnLst/>
            <a:rect l="l" t="t" r="r" b="b"/>
            <a:pathLst>
              <a:path w="17434852" h="1727254">
                <a:moveTo>
                  <a:pt x="0" y="0"/>
                </a:moveTo>
                <a:lnTo>
                  <a:pt x="17434852" y="0"/>
                </a:lnTo>
                <a:lnTo>
                  <a:pt x="17434852" y="1727253"/>
                </a:lnTo>
                <a:lnTo>
                  <a:pt x="0" y="1727253"/>
                </a:lnTo>
                <a:lnTo>
                  <a:pt x="0" y="0"/>
                </a:lnTo>
                <a:close/>
              </a:path>
            </a:pathLst>
          </a:custGeom>
          <a:blipFill>
            <a:blip r:embed="rId12"/>
            <a:stretch>
              <a:fillRect/>
            </a:stretch>
          </a:blipFill>
        </p:spPr>
        <p:txBody>
          <a:bodyPr/>
          <a:lstStyle/>
          <a:p>
            <a:endParaRPr lang="en-GB"/>
          </a:p>
        </p:txBody>
      </p:sp>
      <p:sp>
        <p:nvSpPr>
          <p:cNvPr id="29" name="TextBox 29"/>
          <p:cNvSpPr txBox="1"/>
          <p:nvPr/>
        </p:nvSpPr>
        <p:spPr>
          <a:xfrm>
            <a:off x="976336" y="7641802"/>
            <a:ext cx="4164815" cy="779048"/>
          </a:xfrm>
          <a:prstGeom prst="rect">
            <a:avLst/>
          </a:prstGeom>
        </p:spPr>
        <p:txBody>
          <a:bodyPr lIns="0" tIns="0" rIns="0" bIns="0" rtlCol="0" anchor="t">
            <a:spAutoFit/>
          </a:bodyPr>
          <a:lstStyle/>
          <a:p>
            <a:pPr algn="l">
              <a:lnSpc>
                <a:spcPts val="3032"/>
              </a:lnSpc>
            </a:pPr>
            <a:r>
              <a:rPr lang="en-US" sz="3032" b="1" spc="-90">
                <a:solidFill>
                  <a:srgbClr val="F6F6F6"/>
                </a:solidFill>
                <a:latin typeface="Roboto Bold"/>
                <a:ea typeface="Roboto Bold"/>
                <a:cs typeface="Roboto Bold"/>
                <a:sym typeface="Roboto Bold"/>
              </a:rPr>
              <a:t>WP3 · Continual learning and sustainability</a:t>
            </a:r>
          </a:p>
        </p:txBody>
      </p:sp>
      <p:sp>
        <p:nvSpPr>
          <p:cNvPr id="30" name="TextBox 30"/>
          <p:cNvSpPr txBox="1"/>
          <p:nvPr/>
        </p:nvSpPr>
        <p:spPr>
          <a:xfrm>
            <a:off x="6996500" y="7597258"/>
            <a:ext cx="2223464"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CURRENT EVIDENCE</a:t>
            </a:r>
          </a:p>
        </p:txBody>
      </p:sp>
      <p:sp>
        <p:nvSpPr>
          <p:cNvPr id="31" name="TextBox 31"/>
          <p:cNvSpPr txBox="1"/>
          <p:nvPr/>
        </p:nvSpPr>
        <p:spPr>
          <a:xfrm>
            <a:off x="6981854" y="7911987"/>
            <a:ext cx="3688073"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Six adaptation-policy prototypes and supervised/pseudo-label experiments</a:t>
            </a:r>
          </a:p>
        </p:txBody>
      </p:sp>
      <p:sp>
        <p:nvSpPr>
          <p:cNvPr id="32" name="Freeform 32"/>
          <p:cNvSpPr/>
          <p:nvPr/>
        </p:nvSpPr>
        <p:spPr>
          <a:xfrm>
            <a:off x="11965952" y="7280704"/>
            <a:ext cx="229694" cy="1508614"/>
          </a:xfrm>
          <a:custGeom>
            <a:avLst/>
            <a:gdLst/>
            <a:ahLst/>
            <a:cxnLst/>
            <a:rect l="l" t="t" r="r" b="b"/>
            <a:pathLst>
              <a:path w="229694" h="1508614">
                <a:moveTo>
                  <a:pt x="0" y="0"/>
                </a:moveTo>
                <a:lnTo>
                  <a:pt x="229694" y="0"/>
                </a:lnTo>
                <a:lnTo>
                  <a:pt x="229694" y="1508614"/>
                </a:lnTo>
                <a:lnTo>
                  <a:pt x="0" y="1508614"/>
                </a:lnTo>
                <a:lnTo>
                  <a:pt x="0" y="0"/>
                </a:lnTo>
                <a:close/>
              </a:path>
            </a:pathLst>
          </a:custGeom>
          <a:blipFill>
            <a:blip r:embed="rId13"/>
            <a:stretch>
              <a:fillRect/>
            </a:stretch>
          </a:blipFill>
        </p:spPr>
        <p:txBody>
          <a:bodyPr/>
          <a:lstStyle/>
          <a:p>
            <a:endParaRPr lang="en-GB"/>
          </a:p>
        </p:txBody>
      </p:sp>
      <p:sp>
        <p:nvSpPr>
          <p:cNvPr id="33" name="TextBox 33"/>
          <p:cNvSpPr txBox="1"/>
          <p:nvPr/>
        </p:nvSpPr>
        <p:spPr>
          <a:xfrm>
            <a:off x="12435340" y="7597258"/>
            <a:ext cx="2157391"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NEXT DELIVERABLE</a:t>
            </a:r>
          </a:p>
        </p:txBody>
      </p:sp>
      <p:sp>
        <p:nvSpPr>
          <p:cNvPr id="34" name="TextBox 34"/>
          <p:cNvSpPr txBox="1"/>
          <p:nvPr/>
        </p:nvSpPr>
        <p:spPr>
          <a:xfrm>
            <a:off x="12427574" y="7911987"/>
            <a:ext cx="2933980"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Forgetting, replay, update-cost</a:t>
            </a:r>
          </a:p>
          <a:p>
            <a:pPr algn="l">
              <a:lnSpc>
                <a:spcPts val="2610"/>
              </a:lnSpc>
            </a:pPr>
            <a:r>
              <a:rPr lang="en-US" sz="1740" spc="-34">
                <a:solidFill>
                  <a:srgbClr val="8F96A2"/>
                </a:solidFill>
                <a:latin typeface="Roboto"/>
                <a:ea typeface="Roboto"/>
                <a:cs typeface="Roboto"/>
                <a:sym typeface="Roboto"/>
              </a:rPr>
              <a:t>and energy evaluation</a:t>
            </a:r>
          </a:p>
        </p:txBody>
      </p:sp>
      <p:sp>
        <p:nvSpPr>
          <p:cNvPr id="35" name="TextBox 35"/>
          <p:cNvSpPr txBox="1"/>
          <p:nvPr/>
        </p:nvSpPr>
        <p:spPr>
          <a:xfrm>
            <a:off x="504738" y="9036509"/>
            <a:ext cx="8462115" cy="675495"/>
          </a:xfrm>
          <a:prstGeom prst="rect">
            <a:avLst/>
          </a:prstGeom>
        </p:spPr>
        <p:txBody>
          <a:bodyPr lIns="0" tIns="0" rIns="0" bIns="0" rtlCol="0" anchor="t">
            <a:spAutoFit/>
          </a:bodyPr>
          <a:lstStyle/>
          <a:p>
            <a:pPr algn="l">
              <a:lnSpc>
                <a:spcPts val="2780"/>
              </a:lnSpc>
            </a:pPr>
            <a:r>
              <a:rPr lang="en-US" sz="1986" spc="-39">
                <a:solidFill>
                  <a:srgbClr val="8F96A2"/>
                </a:solidFill>
                <a:latin typeface="Roboto"/>
                <a:ea typeface="Roboto"/>
                <a:cs typeface="Roboto"/>
                <a:sym typeface="Roboto"/>
              </a:rPr>
              <a:t>Evidence boundary: Implemented code # validated detection or reproduction; BOCPD, density ratios and energy benchmarking remain planned.</a:t>
            </a:r>
          </a:p>
        </p:txBody>
      </p:sp>
      <p:sp>
        <p:nvSpPr>
          <p:cNvPr id="36" name="TextBox 36"/>
          <p:cNvSpPr txBox="1"/>
          <p:nvPr/>
        </p:nvSpPr>
        <p:spPr>
          <a:xfrm>
            <a:off x="11777094" y="9478314"/>
            <a:ext cx="5834516" cy="312180"/>
          </a:xfrm>
          <a:prstGeom prst="rect">
            <a:avLst/>
          </a:prstGeom>
        </p:spPr>
        <p:txBody>
          <a:bodyPr lIns="0" tIns="0" rIns="0" bIns="0" rtlCol="0" anchor="t">
            <a:spAutoFit/>
          </a:bodyPr>
          <a:lstStyle/>
          <a:p>
            <a:pPr algn="r">
              <a:lnSpc>
                <a:spcPts val="2610"/>
              </a:lnSpc>
            </a:pPr>
            <a:r>
              <a:rPr lang="en-US" sz="1740" spc="-34">
                <a:solidFill>
                  <a:srgbClr val="8F96A2"/>
                </a:solidFill>
                <a:latin typeface="Roboto"/>
                <a:ea typeface="Roboto"/>
                <a:cs typeface="Roboto"/>
                <a:sym typeface="Roboto"/>
              </a:rPr>
              <a:t>hlin863/ewma_covariate_shift demo  |  October 2026 status</a:t>
            </a:r>
          </a:p>
        </p:txBody>
      </p:sp>
      <p:sp>
        <p:nvSpPr>
          <p:cNvPr id="37" name="TextBox 37"/>
          <p:cNvSpPr txBox="1"/>
          <p:nvPr/>
        </p:nvSpPr>
        <p:spPr>
          <a:xfrm>
            <a:off x="6996500" y="4494725"/>
            <a:ext cx="2223464"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CURRENT EVIDENCE</a:t>
            </a:r>
          </a:p>
        </p:txBody>
      </p:sp>
      <p:sp>
        <p:nvSpPr>
          <p:cNvPr id="38" name="TextBox 38"/>
          <p:cNvSpPr txBox="1"/>
          <p:nvPr/>
        </p:nvSpPr>
        <p:spPr>
          <a:xfrm>
            <a:off x="12435340" y="4494725"/>
            <a:ext cx="2157391"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NEXT DELIVERABLE</a:t>
            </a:r>
          </a:p>
        </p:txBody>
      </p:sp>
    </p:spTree>
    <p:extLst>
      <p:ext uri="{BB962C8B-B14F-4D97-AF65-F5344CB8AC3E}">
        <p14:creationId xmlns:p14="http://schemas.microsoft.com/office/powerpoint/2010/main" val="25393827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647156" y="475155"/>
            <a:ext cx="2257028" cy="277512"/>
          </a:xfrm>
          <a:prstGeom prst="rect">
            <a:avLst/>
          </a:prstGeom>
        </p:spPr>
        <p:txBody>
          <a:bodyPr lIns="0" tIns="0" rIns="0" bIns="0" rtlCol="0" anchor="t">
            <a:spAutoFit/>
          </a:bodyPr>
          <a:lstStyle/>
          <a:p>
            <a:pPr algn="l">
              <a:lnSpc>
                <a:spcPts val="2383"/>
              </a:lnSpc>
            </a:pPr>
            <a:r>
              <a:rPr lang="en-US" sz="1600" b="1" spc="-39" dirty="0">
                <a:solidFill>
                  <a:srgbClr val="081F42"/>
                </a:solidFill>
                <a:latin typeface="Roboto Bold"/>
                <a:ea typeface="Roboto Bold"/>
                <a:cs typeface="Roboto Bold"/>
                <a:sym typeface="Roboto Bold"/>
              </a:rPr>
              <a:t>PROJECT TIMELINE</a:t>
            </a:r>
          </a:p>
        </p:txBody>
      </p:sp>
      <p:sp>
        <p:nvSpPr>
          <p:cNvPr id="4" name="Freeform 4"/>
          <p:cNvSpPr/>
          <p:nvPr/>
        </p:nvSpPr>
        <p:spPr>
          <a:xfrm>
            <a:off x="645330" y="852695"/>
            <a:ext cx="885962" cy="229572"/>
          </a:xfrm>
          <a:custGeom>
            <a:avLst/>
            <a:gdLst/>
            <a:ahLst/>
            <a:cxnLst/>
            <a:rect l="l" t="t" r="r" b="b"/>
            <a:pathLst>
              <a:path w="885962" h="229572">
                <a:moveTo>
                  <a:pt x="0" y="0"/>
                </a:moveTo>
                <a:lnTo>
                  <a:pt x="885962" y="0"/>
                </a:lnTo>
                <a:lnTo>
                  <a:pt x="885962" y="229572"/>
                </a:lnTo>
                <a:lnTo>
                  <a:pt x="0" y="229572"/>
                </a:lnTo>
                <a:lnTo>
                  <a:pt x="0" y="0"/>
                </a:lnTo>
                <a:close/>
              </a:path>
            </a:pathLst>
          </a:custGeom>
          <a:blipFill>
            <a:blip r:embed="rId3"/>
            <a:stretch>
              <a:fillRect/>
            </a:stretch>
          </a:blipFill>
        </p:spPr>
        <p:txBody>
          <a:bodyPr/>
          <a:lstStyle/>
          <a:p>
            <a:endParaRPr lang="en-GB"/>
          </a:p>
        </p:txBody>
      </p:sp>
      <p:sp>
        <p:nvSpPr>
          <p:cNvPr id="5" name="TextBox 5"/>
          <p:cNvSpPr txBox="1"/>
          <p:nvPr/>
        </p:nvSpPr>
        <p:spPr>
          <a:xfrm>
            <a:off x="1629611" y="1026870"/>
            <a:ext cx="14542647" cy="970715"/>
          </a:xfrm>
          <a:prstGeom prst="rect">
            <a:avLst/>
          </a:prstGeom>
        </p:spPr>
        <p:txBody>
          <a:bodyPr lIns="0" tIns="0" rIns="0" bIns="0" rtlCol="0" anchor="t">
            <a:spAutoFit/>
          </a:bodyPr>
          <a:lstStyle/>
          <a:p>
            <a:pPr algn="ctr">
              <a:lnSpc>
                <a:spcPts val="8992"/>
              </a:lnSpc>
            </a:pPr>
            <a:r>
              <a:rPr lang="en-US" sz="3600" b="1" spc="-149" dirty="0">
                <a:solidFill>
                  <a:srgbClr val="081F42"/>
                </a:solidFill>
                <a:latin typeface="Roboto Bold"/>
                <a:ea typeface="Roboto Bold"/>
                <a:cs typeface="Roboto Bold"/>
                <a:sym typeface="Roboto Bold"/>
              </a:rPr>
              <a:t>Year 1 timeline · Part 2: WP4–WP6</a:t>
            </a:r>
          </a:p>
        </p:txBody>
      </p:sp>
      <p:sp>
        <p:nvSpPr>
          <p:cNvPr id="6" name="TextBox 6"/>
          <p:cNvSpPr txBox="1"/>
          <p:nvPr/>
        </p:nvSpPr>
        <p:spPr>
          <a:xfrm>
            <a:off x="3060151" y="2332521"/>
            <a:ext cx="11919990" cy="414491"/>
          </a:xfrm>
          <a:prstGeom prst="rect">
            <a:avLst/>
          </a:prstGeom>
        </p:spPr>
        <p:txBody>
          <a:bodyPr lIns="0" tIns="0" rIns="0" bIns="0" rtlCol="0" anchor="t">
            <a:spAutoFit/>
          </a:bodyPr>
          <a:lstStyle/>
          <a:p>
            <a:pPr algn="ctr">
              <a:lnSpc>
                <a:spcPts val="3381"/>
              </a:lnSpc>
            </a:pPr>
            <a:r>
              <a:rPr lang="en-US" sz="2601" b="1" spc="-52" dirty="0">
                <a:solidFill>
                  <a:srgbClr val="081F42"/>
                </a:solidFill>
                <a:latin typeface="Inter Semi-Bold"/>
                <a:ea typeface="Inter Semi-Bold"/>
                <a:cs typeface="Inter Semi-Bold"/>
                <a:sym typeface="Inter Semi-Bold"/>
              </a:rPr>
              <a:t>October 2026–September 2027 · planned work packages.</a:t>
            </a:r>
          </a:p>
        </p:txBody>
      </p:sp>
      <p:sp>
        <p:nvSpPr>
          <p:cNvPr id="7" name="TextBox 7"/>
          <p:cNvSpPr txBox="1"/>
          <p:nvPr/>
        </p:nvSpPr>
        <p:spPr>
          <a:xfrm>
            <a:off x="4455210" y="3239748"/>
            <a:ext cx="1888872" cy="385234"/>
          </a:xfrm>
          <a:prstGeom prst="rect">
            <a:avLst/>
          </a:prstGeom>
        </p:spPr>
        <p:txBody>
          <a:bodyPr wrap="square" lIns="0" tIns="0" rIns="0" bIns="0" rtlCol="0" anchor="t">
            <a:spAutoFit/>
          </a:bodyPr>
          <a:lstStyle/>
          <a:p>
            <a:pPr algn="ctr">
              <a:lnSpc>
                <a:spcPts val="3185"/>
              </a:lnSpc>
            </a:pPr>
            <a:r>
              <a:rPr lang="en-US" sz="2654" b="1" spc="-53" dirty="0">
                <a:solidFill>
                  <a:srgbClr val="081F42"/>
                </a:solidFill>
                <a:latin typeface="Roboto Bold"/>
                <a:ea typeface="Roboto Bold"/>
                <a:cs typeface="Roboto Bold"/>
                <a:sym typeface="Roboto Bold"/>
              </a:rPr>
              <a:t>Foundation</a:t>
            </a:r>
          </a:p>
        </p:txBody>
      </p:sp>
      <p:sp>
        <p:nvSpPr>
          <p:cNvPr id="8" name="Freeform 8"/>
          <p:cNvSpPr/>
          <p:nvPr/>
        </p:nvSpPr>
        <p:spPr>
          <a:xfrm>
            <a:off x="6529866" y="3214004"/>
            <a:ext cx="1531292" cy="437279"/>
          </a:xfrm>
          <a:custGeom>
            <a:avLst/>
            <a:gdLst/>
            <a:ahLst/>
            <a:cxnLst/>
            <a:rect l="l" t="t" r="r" b="b"/>
            <a:pathLst>
              <a:path w="1531292" h="437279">
                <a:moveTo>
                  <a:pt x="0" y="0"/>
                </a:moveTo>
                <a:lnTo>
                  <a:pt x="1531292" y="0"/>
                </a:lnTo>
                <a:lnTo>
                  <a:pt x="1531292" y="437280"/>
                </a:lnTo>
                <a:lnTo>
                  <a:pt x="0" y="437280"/>
                </a:lnTo>
                <a:lnTo>
                  <a:pt x="0" y="0"/>
                </a:lnTo>
                <a:close/>
              </a:path>
            </a:pathLst>
          </a:custGeom>
          <a:blipFill>
            <a:blip r:embed="rId4"/>
            <a:stretch>
              <a:fillRect/>
            </a:stretch>
          </a:blipFill>
        </p:spPr>
        <p:txBody>
          <a:bodyPr/>
          <a:lstStyle/>
          <a:p>
            <a:endParaRPr lang="en-GB"/>
          </a:p>
        </p:txBody>
      </p:sp>
      <p:sp>
        <p:nvSpPr>
          <p:cNvPr id="9" name="TextBox 9"/>
          <p:cNvSpPr txBox="1"/>
          <p:nvPr/>
        </p:nvSpPr>
        <p:spPr>
          <a:xfrm>
            <a:off x="8294918" y="3231288"/>
            <a:ext cx="1763482" cy="385234"/>
          </a:xfrm>
          <a:prstGeom prst="rect">
            <a:avLst/>
          </a:prstGeom>
        </p:spPr>
        <p:txBody>
          <a:bodyPr wrap="square" lIns="0" tIns="0" rIns="0" bIns="0" rtlCol="0" anchor="t">
            <a:spAutoFit/>
          </a:bodyPr>
          <a:lstStyle/>
          <a:p>
            <a:pPr algn="ctr">
              <a:lnSpc>
                <a:spcPts val="3185"/>
              </a:lnSpc>
            </a:pPr>
            <a:r>
              <a:rPr lang="en-US" sz="2654" b="1" spc="-53" dirty="0">
                <a:solidFill>
                  <a:srgbClr val="081F42"/>
                </a:solidFill>
                <a:latin typeface="Roboto Bold"/>
                <a:ea typeface="Roboto Bold"/>
                <a:cs typeface="Roboto Bold"/>
                <a:sym typeface="Roboto Bold"/>
              </a:rPr>
              <a:t>Evaluation</a:t>
            </a:r>
          </a:p>
        </p:txBody>
      </p:sp>
      <p:sp>
        <p:nvSpPr>
          <p:cNvPr id="10" name="Freeform 10"/>
          <p:cNvSpPr/>
          <p:nvPr/>
        </p:nvSpPr>
        <p:spPr>
          <a:xfrm>
            <a:off x="10226842" y="3214004"/>
            <a:ext cx="1312536" cy="437279"/>
          </a:xfrm>
          <a:custGeom>
            <a:avLst/>
            <a:gdLst/>
            <a:ahLst/>
            <a:cxnLst/>
            <a:rect l="l" t="t" r="r" b="b"/>
            <a:pathLst>
              <a:path w="1312536" h="437279">
                <a:moveTo>
                  <a:pt x="0" y="0"/>
                </a:moveTo>
                <a:lnTo>
                  <a:pt x="1312536" y="0"/>
                </a:lnTo>
                <a:lnTo>
                  <a:pt x="1312536" y="437280"/>
                </a:lnTo>
                <a:lnTo>
                  <a:pt x="0" y="437280"/>
                </a:lnTo>
                <a:lnTo>
                  <a:pt x="0" y="0"/>
                </a:lnTo>
                <a:close/>
              </a:path>
            </a:pathLst>
          </a:custGeom>
          <a:blipFill>
            <a:blip r:embed="rId5"/>
            <a:stretch>
              <a:fillRect/>
            </a:stretch>
          </a:blipFill>
        </p:spPr>
        <p:txBody>
          <a:bodyPr/>
          <a:lstStyle/>
          <a:p>
            <a:endParaRPr lang="en-GB"/>
          </a:p>
        </p:txBody>
      </p:sp>
      <p:sp>
        <p:nvSpPr>
          <p:cNvPr id="11" name="TextBox 11"/>
          <p:cNvSpPr txBox="1"/>
          <p:nvPr/>
        </p:nvSpPr>
        <p:spPr>
          <a:xfrm>
            <a:off x="11787639" y="3239748"/>
            <a:ext cx="1720543" cy="385234"/>
          </a:xfrm>
          <a:prstGeom prst="rect">
            <a:avLst/>
          </a:prstGeom>
        </p:spPr>
        <p:txBody>
          <a:bodyPr wrap="square" lIns="0" tIns="0" rIns="0" bIns="0" rtlCol="0" anchor="t">
            <a:spAutoFit/>
          </a:bodyPr>
          <a:lstStyle/>
          <a:p>
            <a:pPr algn="ctr">
              <a:lnSpc>
                <a:spcPts val="3185"/>
              </a:lnSpc>
            </a:pPr>
            <a:r>
              <a:rPr lang="en-US" sz="2654" b="1" spc="-53" dirty="0">
                <a:solidFill>
                  <a:srgbClr val="081F42"/>
                </a:solidFill>
                <a:latin typeface="Roboto Bold"/>
                <a:ea typeface="Roboto Bold"/>
                <a:cs typeface="Roboto Bold"/>
                <a:sym typeface="Roboto Bold"/>
              </a:rPr>
              <a:t>Synthesis</a:t>
            </a:r>
          </a:p>
        </p:txBody>
      </p:sp>
      <p:sp>
        <p:nvSpPr>
          <p:cNvPr id="12" name="Freeform 12"/>
          <p:cNvSpPr/>
          <p:nvPr/>
        </p:nvSpPr>
        <p:spPr>
          <a:xfrm>
            <a:off x="645330" y="3848060"/>
            <a:ext cx="5676718" cy="4088563"/>
          </a:xfrm>
          <a:custGeom>
            <a:avLst/>
            <a:gdLst/>
            <a:ahLst/>
            <a:cxnLst/>
            <a:rect l="l" t="t" r="r" b="b"/>
            <a:pathLst>
              <a:path w="5676718" h="4088563">
                <a:moveTo>
                  <a:pt x="0" y="0"/>
                </a:moveTo>
                <a:lnTo>
                  <a:pt x="5676718" y="0"/>
                </a:lnTo>
                <a:lnTo>
                  <a:pt x="5676718" y="4088563"/>
                </a:lnTo>
                <a:lnTo>
                  <a:pt x="0" y="4088563"/>
                </a:lnTo>
                <a:lnTo>
                  <a:pt x="0" y="0"/>
                </a:lnTo>
                <a:close/>
              </a:path>
            </a:pathLst>
          </a:custGeom>
          <a:blipFill>
            <a:blip r:embed="rId6"/>
            <a:stretch>
              <a:fillRect/>
            </a:stretch>
          </a:blipFill>
        </p:spPr>
        <p:txBody>
          <a:bodyPr/>
          <a:lstStyle/>
          <a:p>
            <a:endParaRPr lang="en-GB"/>
          </a:p>
        </p:txBody>
      </p:sp>
      <p:sp>
        <p:nvSpPr>
          <p:cNvPr id="13" name="Freeform 13"/>
          <p:cNvSpPr/>
          <p:nvPr/>
        </p:nvSpPr>
        <p:spPr>
          <a:xfrm>
            <a:off x="1082842" y="4285339"/>
            <a:ext cx="1104718" cy="437279"/>
          </a:xfrm>
          <a:custGeom>
            <a:avLst/>
            <a:gdLst/>
            <a:ahLst/>
            <a:cxnLst/>
            <a:rect l="l" t="t" r="r" b="b"/>
            <a:pathLst>
              <a:path w="1104718" h="437279">
                <a:moveTo>
                  <a:pt x="0" y="0"/>
                </a:moveTo>
                <a:lnTo>
                  <a:pt x="1104718" y="0"/>
                </a:lnTo>
                <a:lnTo>
                  <a:pt x="1104718" y="437279"/>
                </a:lnTo>
                <a:lnTo>
                  <a:pt x="0" y="437279"/>
                </a:lnTo>
                <a:lnTo>
                  <a:pt x="0" y="0"/>
                </a:lnTo>
                <a:close/>
              </a:path>
            </a:pathLst>
          </a:custGeom>
          <a:blipFill>
            <a:blip r:embed="rId7"/>
            <a:stretch>
              <a:fillRect/>
            </a:stretch>
          </a:blipFill>
        </p:spPr>
        <p:txBody>
          <a:bodyPr/>
          <a:lstStyle/>
          <a:p>
            <a:endParaRPr lang="en-GB"/>
          </a:p>
        </p:txBody>
      </p:sp>
      <p:sp>
        <p:nvSpPr>
          <p:cNvPr id="14" name="TextBox 14"/>
          <p:cNvSpPr txBox="1"/>
          <p:nvPr/>
        </p:nvSpPr>
        <p:spPr>
          <a:xfrm>
            <a:off x="1091814" y="4797616"/>
            <a:ext cx="3332673" cy="1009033"/>
          </a:xfrm>
          <a:prstGeom prst="rect">
            <a:avLst/>
          </a:prstGeom>
        </p:spPr>
        <p:txBody>
          <a:bodyPr lIns="0" tIns="0" rIns="0" bIns="0" rtlCol="0" anchor="t">
            <a:spAutoFit/>
          </a:bodyPr>
          <a:lstStyle/>
          <a:p>
            <a:pPr algn="l">
              <a:lnSpc>
                <a:spcPts val="4040"/>
              </a:lnSpc>
            </a:pPr>
            <a:r>
              <a:rPr lang="en-US" sz="2800" b="1" spc="-67" dirty="0">
                <a:solidFill>
                  <a:srgbClr val="0F9699"/>
                </a:solidFill>
                <a:latin typeface="Roboto Bold"/>
                <a:ea typeface="Roboto Bold"/>
                <a:cs typeface="Roboto Bold"/>
                <a:sym typeface="Roboto Bold"/>
              </a:rPr>
              <a:t>WP4</a:t>
            </a:r>
            <a:r>
              <a:rPr lang="en-US" sz="2800" b="1" spc="-67" dirty="0">
                <a:solidFill>
                  <a:srgbClr val="081F42"/>
                </a:solidFill>
                <a:latin typeface="Roboto Bold"/>
                <a:ea typeface="Roboto Bold"/>
                <a:cs typeface="Roboto Bold"/>
                <a:sym typeface="Roboto Bold"/>
              </a:rPr>
              <a:t> · Digital twin</a:t>
            </a:r>
          </a:p>
          <a:p>
            <a:pPr algn="l">
              <a:lnSpc>
                <a:spcPts val="4040"/>
              </a:lnSpc>
            </a:pPr>
            <a:r>
              <a:rPr lang="en-US" sz="2800" b="1" spc="-67" dirty="0">
                <a:solidFill>
                  <a:srgbClr val="081F42"/>
                </a:solidFill>
                <a:latin typeface="Roboto Bold"/>
                <a:ea typeface="Roboto Bold"/>
                <a:cs typeface="Roboto Bold"/>
                <a:sym typeface="Roboto Bold"/>
              </a:rPr>
              <a:t>co-evolution</a:t>
            </a:r>
          </a:p>
        </p:txBody>
      </p:sp>
      <p:sp>
        <p:nvSpPr>
          <p:cNvPr id="15" name="TextBox 15"/>
          <p:cNvSpPr txBox="1"/>
          <p:nvPr/>
        </p:nvSpPr>
        <p:spPr>
          <a:xfrm>
            <a:off x="1079892" y="6457176"/>
            <a:ext cx="4059985" cy="369645"/>
          </a:xfrm>
          <a:prstGeom prst="rect">
            <a:avLst/>
          </a:prstGeom>
        </p:spPr>
        <p:txBody>
          <a:bodyPr lIns="0" tIns="0" rIns="0" bIns="0" rtlCol="0" anchor="t">
            <a:spAutoFit/>
          </a:bodyPr>
          <a:lstStyle/>
          <a:p>
            <a:pPr algn="l">
              <a:lnSpc>
                <a:spcPts val="3167"/>
              </a:lnSpc>
            </a:pPr>
            <a:r>
              <a:rPr lang="en-US" sz="1863" b="1" spc="-37" dirty="0">
                <a:solidFill>
                  <a:srgbClr val="081F42"/>
                </a:solidFill>
                <a:latin typeface="Inter Semi-Bold"/>
                <a:ea typeface="Inter Semi-Bold"/>
                <a:cs typeface="Inter Semi-Bold"/>
                <a:sym typeface="Inter Semi-Bold"/>
              </a:rPr>
              <a:t>Joint updates, disagreement, safety</a:t>
            </a:r>
          </a:p>
        </p:txBody>
      </p:sp>
      <p:sp>
        <p:nvSpPr>
          <p:cNvPr id="16" name="TextBox 16"/>
          <p:cNvSpPr txBox="1"/>
          <p:nvPr/>
        </p:nvSpPr>
        <p:spPr>
          <a:xfrm>
            <a:off x="1079892" y="7014960"/>
            <a:ext cx="4524835" cy="369645"/>
          </a:xfrm>
          <a:prstGeom prst="rect">
            <a:avLst/>
          </a:prstGeom>
        </p:spPr>
        <p:txBody>
          <a:bodyPr lIns="0" tIns="0" rIns="0" bIns="0" rtlCol="0" anchor="t">
            <a:spAutoFit/>
          </a:bodyPr>
          <a:lstStyle/>
          <a:p>
            <a:pPr algn="l">
              <a:lnSpc>
                <a:spcPts val="3167"/>
              </a:lnSpc>
            </a:pPr>
            <a:r>
              <a:rPr lang="en-US" sz="1863" b="1" spc="-37">
                <a:solidFill>
                  <a:srgbClr val="0F9699"/>
                </a:solidFill>
                <a:latin typeface="Inter Semi-Bold"/>
                <a:ea typeface="Inter Semi-Bold"/>
                <a:cs typeface="Inter Semi-Bold"/>
                <a:sym typeface="Inter Semi-Bold"/>
              </a:rPr>
              <a:t>Deliverable:</a:t>
            </a:r>
            <a:r>
              <a:rPr lang="en-US" sz="1863" b="1" spc="-37">
                <a:solidFill>
                  <a:srgbClr val="081F42"/>
                </a:solidFill>
                <a:latin typeface="Inter Medium"/>
                <a:ea typeface="Inter Medium"/>
                <a:cs typeface="Inter Medium"/>
                <a:sym typeface="Inter Medium"/>
              </a:rPr>
              <a:t> twin framework and testbed</a:t>
            </a:r>
          </a:p>
        </p:txBody>
      </p:sp>
      <p:sp>
        <p:nvSpPr>
          <p:cNvPr id="17" name="Freeform 17"/>
          <p:cNvSpPr/>
          <p:nvPr/>
        </p:nvSpPr>
        <p:spPr>
          <a:xfrm>
            <a:off x="6311110" y="3848060"/>
            <a:ext cx="5665780" cy="4088563"/>
          </a:xfrm>
          <a:custGeom>
            <a:avLst/>
            <a:gdLst/>
            <a:ahLst/>
            <a:cxnLst/>
            <a:rect l="l" t="t" r="r" b="b"/>
            <a:pathLst>
              <a:path w="5665780" h="4088563">
                <a:moveTo>
                  <a:pt x="0" y="0"/>
                </a:moveTo>
                <a:lnTo>
                  <a:pt x="5665780" y="0"/>
                </a:lnTo>
                <a:lnTo>
                  <a:pt x="5665780" y="4088563"/>
                </a:lnTo>
                <a:lnTo>
                  <a:pt x="0" y="4088563"/>
                </a:lnTo>
                <a:lnTo>
                  <a:pt x="0" y="0"/>
                </a:lnTo>
                <a:close/>
              </a:path>
            </a:pathLst>
          </a:custGeom>
          <a:blipFill>
            <a:blip r:embed="rId8"/>
            <a:stretch>
              <a:fillRect/>
            </a:stretch>
          </a:blipFill>
        </p:spPr>
        <p:txBody>
          <a:bodyPr/>
          <a:lstStyle/>
          <a:p>
            <a:endParaRPr lang="en-GB"/>
          </a:p>
        </p:txBody>
      </p:sp>
      <p:sp>
        <p:nvSpPr>
          <p:cNvPr id="18" name="Freeform 18"/>
          <p:cNvSpPr/>
          <p:nvPr/>
        </p:nvSpPr>
        <p:spPr>
          <a:xfrm>
            <a:off x="6529866" y="4285339"/>
            <a:ext cx="1312536" cy="437279"/>
          </a:xfrm>
          <a:custGeom>
            <a:avLst/>
            <a:gdLst/>
            <a:ahLst/>
            <a:cxnLst/>
            <a:rect l="l" t="t" r="r" b="b"/>
            <a:pathLst>
              <a:path w="1312536" h="437279">
                <a:moveTo>
                  <a:pt x="0" y="0"/>
                </a:moveTo>
                <a:lnTo>
                  <a:pt x="1312536" y="0"/>
                </a:lnTo>
                <a:lnTo>
                  <a:pt x="1312536" y="437279"/>
                </a:lnTo>
                <a:lnTo>
                  <a:pt x="0" y="437279"/>
                </a:lnTo>
                <a:lnTo>
                  <a:pt x="0" y="0"/>
                </a:lnTo>
                <a:close/>
              </a:path>
            </a:pathLst>
          </a:custGeom>
          <a:blipFill>
            <a:blip r:embed="rId9"/>
            <a:stretch>
              <a:fillRect/>
            </a:stretch>
          </a:blipFill>
        </p:spPr>
        <p:txBody>
          <a:bodyPr/>
          <a:lstStyle/>
          <a:p>
            <a:endParaRPr lang="en-GB"/>
          </a:p>
        </p:txBody>
      </p:sp>
      <p:sp>
        <p:nvSpPr>
          <p:cNvPr id="19" name="TextBox 19"/>
          <p:cNvSpPr txBox="1"/>
          <p:nvPr/>
        </p:nvSpPr>
        <p:spPr>
          <a:xfrm>
            <a:off x="6711708" y="4797616"/>
            <a:ext cx="3913561" cy="1009033"/>
          </a:xfrm>
          <a:prstGeom prst="rect">
            <a:avLst/>
          </a:prstGeom>
        </p:spPr>
        <p:txBody>
          <a:bodyPr lIns="0" tIns="0" rIns="0" bIns="0" rtlCol="0" anchor="t">
            <a:spAutoFit/>
          </a:bodyPr>
          <a:lstStyle/>
          <a:p>
            <a:pPr algn="l">
              <a:lnSpc>
                <a:spcPts val="4040"/>
              </a:lnSpc>
            </a:pPr>
            <a:r>
              <a:rPr lang="en-US" sz="3366" b="1" spc="-67">
                <a:solidFill>
                  <a:srgbClr val="0F9699"/>
                </a:solidFill>
                <a:latin typeface="Roboto Bold"/>
                <a:ea typeface="Roboto Bold"/>
                <a:cs typeface="Roboto Bold"/>
                <a:sym typeface="Roboto Bold"/>
              </a:rPr>
              <a:t>WP5</a:t>
            </a:r>
            <a:r>
              <a:rPr lang="en-US" sz="3366" b="1" spc="-67">
                <a:solidFill>
                  <a:srgbClr val="081F42"/>
                </a:solidFill>
                <a:latin typeface="Roboto Bold"/>
                <a:ea typeface="Roboto Bold"/>
                <a:cs typeface="Roboto Bold"/>
                <a:sym typeface="Roboto Bold"/>
              </a:rPr>
              <a:t> · Cross-domain evaluation</a:t>
            </a:r>
          </a:p>
        </p:txBody>
      </p:sp>
      <p:sp>
        <p:nvSpPr>
          <p:cNvPr id="20" name="Freeform 20"/>
          <p:cNvSpPr/>
          <p:nvPr/>
        </p:nvSpPr>
        <p:spPr>
          <a:xfrm>
            <a:off x="11965952" y="3848060"/>
            <a:ext cx="5676718" cy="4088563"/>
          </a:xfrm>
          <a:custGeom>
            <a:avLst/>
            <a:gdLst/>
            <a:ahLst/>
            <a:cxnLst/>
            <a:rect l="l" t="t" r="r" b="b"/>
            <a:pathLst>
              <a:path w="5676718" h="4088563">
                <a:moveTo>
                  <a:pt x="0" y="0"/>
                </a:moveTo>
                <a:lnTo>
                  <a:pt x="5676718" y="0"/>
                </a:lnTo>
                <a:lnTo>
                  <a:pt x="5676718" y="4088563"/>
                </a:lnTo>
                <a:lnTo>
                  <a:pt x="0" y="4088563"/>
                </a:lnTo>
                <a:lnTo>
                  <a:pt x="0" y="0"/>
                </a:lnTo>
                <a:close/>
              </a:path>
            </a:pathLst>
          </a:custGeom>
          <a:blipFill>
            <a:blip r:embed="rId10"/>
            <a:stretch>
              <a:fillRect/>
            </a:stretch>
          </a:blipFill>
        </p:spPr>
        <p:txBody>
          <a:bodyPr/>
          <a:lstStyle/>
          <a:p>
            <a:endParaRPr lang="en-GB"/>
          </a:p>
        </p:txBody>
      </p:sp>
      <p:sp>
        <p:nvSpPr>
          <p:cNvPr id="21" name="Freeform 21"/>
          <p:cNvSpPr/>
          <p:nvPr/>
        </p:nvSpPr>
        <p:spPr>
          <a:xfrm>
            <a:off x="12184708" y="4285339"/>
            <a:ext cx="1323474" cy="437279"/>
          </a:xfrm>
          <a:custGeom>
            <a:avLst/>
            <a:gdLst/>
            <a:ahLst/>
            <a:cxnLst/>
            <a:rect l="l" t="t" r="r" b="b"/>
            <a:pathLst>
              <a:path w="1323474" h="437279">
                <a:moveTo>
                  <a:pt x="0" y="0"/>
                </a:moveTo>
                <a:lnTo>
                  <a:pt x="1323474" y="0"/>
                </a:lnTo>
                <a:lnTo>
                  <a:pt x="1323474" y="437279"/>
                </a:lnTo>
                <a:lnTo>
                  <a:pt x="0" y="437279"/>
                </a:lnTo>
                <a:lnTo>
                  <a:pt x="0" y="0"/>
                </a:lnTo>
                <a:close/>
              </a:path>
            </a:pathLst>
          </a:custGeom>
          <a:blipFill>
            <a:blip r:embed="rId11"/>
            <a:stretch>
              <a:fillRect/>
            </a:stretch>
          </a:blipFill>
        </p:spPr>
        <p:txBody>
          <a:bodyPr/>
          <a:lstStyle/>
          <a:p>
            <a:endParaRPr lang="en-GB"/>
          </a:p>
        </p:txBody>
      </p:sp>
      <p:sp>
        <p:nvSpPr>
          <p:cNvPr id="22" name="TextBox 22"/>
          <p:cNvSpPr txBox="1"/>
          <p:nvPr/>
        </p:nvSpPr>
        <p:spPr>
          <a:xfrm>
            <a:off x="12364463" y="4797616"/>
            <a:ext cx="3887332" cy="1009033"/>
          </a:xfrm>
          <a:prstGeom prst="rect">
            <a:avLst/>
          </a:prstGeom>
        </p:spPr>
        <p:txBody>
          <a:bodyPr lIns="0" tIns="0" rIns="0" bIns="0" rtlCol="0" anchor="t">
            <a:spAutoFit/>
          </a:bodyPr>
          <a:lstStyle/>
          <a:p>
            <a:pPr algn="l">
              <a:lnSpc>
                <a:spcPts val="4040"/>
              </a:lnSpc>
            </a:pPr>
            <a:r>
              <a:rPr lang="en-US" sz="3366" b="1" spc="-67">
                <a:solidFill>
                  <a:srgbClr val="0F9699"/>
                </a:solidFill>
                <a:latin typeface="Roboto Bold"/>
                <a:ea typeface="Roboto Bold"/>
                <a:cs typeface="Roboto Bold"/>
                <a:sym typeface="Roboto Bold"/>
              </a:rPr>
              <a:t>WP6</a:t>
            </a:r>
            <a:r>
              <a:rPr lang="en-US" sz="3366" b="1" spc="-67">
                <a:solidFill>
                  <a:srgbClr val="081F42"/>
                </a:solidFill>
                <a:latin typeface="Roboto Bold"/>
                <a:ea typeface="Roboto Bold"/>
                <a:cs typeface="Roboto Bold"/>
                <a:sym typeface="Roboto Bold"/>
              </a:rPr>
              <a:t> · Synthesis and engagement</a:t>
            </a:r>
          </a:p>
        </p:txBody>
      </p:sp>
      <p:sp>
        <p:nvSpPr>
          <p:cNvPr id="23" name="TextBox 23"/>
          <p:cNvSpPr txBox="1"/>
          <p:nvPr/>
        </p:nvSpPr>
        <p:spPr>
          <a:xfrm>
            <a:off x="12360570" y="5960028"/>
            <a:ext cx="4276608" cy="794136"/>
          </a:xfrm>
          <a:prstGeom prst="rect">
            <a:avLst/>
          </a:prstGeom>
        </p:spPr>
        <p:txBody>
          <a:bodyPr lIns="0" tIns="0" rIns="0" bIns="0" rtlCol="0" anchor="t">
            <a:spAutoFit/>
          </a:bodyPr>
          <a:lstStyle/>
          <a:p>
            <a:pPr algn="l">
              <a:lnSpc>
                <a:spcPts val="3272"/>
              </a:lnSpc>
            </a:pPr>
            <a:r>
              <a:rPr lang="en-US" sz="1924" b="1" spc="-38">
                <a:solidFill>
                  <a:srgbClr val="081F42"/>
                </a:solidFill>
                <a:latin typeface="Inter Semi-Bold"/>
                <a:ea typeface="Inter Semi-Bold"/>
                <a:cs typeface="Inter Semi-Bold"/>
                <a:sym typeface="Inter Semi-Bold"/>
              </a:rPr>
              <a:t>Manuscript, open research artifacts, stakeholder review</a:t>
            </a:r>
          </a:p>
        </p:txBody>
      </p:sp>
      <p:sp>
        <p:nvSpPr>
          <p:cNvPr id="24" name="TextBox 24"/>
          <p:cNvSpPr txBox="1"/>
          <p:nvPr/>
        </p:nvSpPr>
        <p:spPr>
          <a:xfrm>
            <a:off x="12357532" y="7025022"/>
            <a:ext cx="4580378" cy="335023"/>
          </a:xfrm>
          <a:prstGeom prst="rect">
            <a:avLst/>
          </a:prstGeom>
        </p:spPr>
        <p:txBody>
          <a:bodyPr lIns="0" tIns="0" rIns="0" bIns="0" rtlCol="0" anchor="t">
            <a:spAutoFit/>
          </a:bodyPr>
          <a:lstStyle/>
          <a:p>
            <a:pPr algn="l">
              <a:lnSpc>
                <a:spcPts val="2884"/>
              </a:lnSpc>
            </a:pPr>
            <a:r>
              <a:rPr lang="en-US" sz="1696" b="1" spc="-33">
                <a:solidFill>
                  <a:srgbClr val="0F9699"/>
                </a:solidFill>
                <a:latin typeface="Inter Semi-Bold"/>
                <a:ea typeface="Inter Semi-Bold"/>
                <a:cs typeface="Inter Semi-Bold"/>
                <a:sym typeface="Inter Semi-Bold"/>
              </a:rPr>
              <a:t>Deliverable:</a:t>
            </a:r>
            <a:r>
              <a:rPr lang="en-US" sz="1696" b="1" spc="-33">
                <a:solidFill>
                  <a:srgbClr val="081F42"/>
                </a:solidFill>
                <a:latin typeface="Inter Medium"/>
                <a:ea typeface="Inter Medium"/>
                <a:cs typeface="Inter Medium"/>
                <a:sym typeface="Inter Medium"/>
              </a:rPr>
              <a:t> submission and release roadmap</a:t>
            </a:r>
          </a:p>
        </p:txBody>
      </p:sp>
      <p:sp>
        <p:nvSpPr>
          <p:cNvPr id="25" name="TextBox 25"/>
          <p:cNvSpPr txBox="1"/>
          <p:nvPr/>
        </p:nvSpPr>
        <p:spPr>
          <a:xfrm>
            <a:off x="4023370" y="8302668"/>
            <a:ext cx="9878893" cy="817048"/>
          </a:xfrm>
          <a:prstGeom prst="rect">
            <a:avLst/>
          </a:prstGeom>
        </p:spPr>
        <p:txBody>
          <a:bodyPr lIns="0" tIns="0" rIns="0" bIns="0" rtlCol="0" anchor="t">
            <a:spAutoFit/>
          </a:bodyPr>
          <a:lstStyle/>
          <a:p>
            <a:pPr algn="ctr">
              <a:lnSpc>
                <a:spcPts val="3347"/>
              </a:lnSpc>
            </a:pPr>
            <a:r>
              <a:rPr lang="en-US" sz="2575" i="1" spc="-51">
                <a:solidFill>
                  <a:srgbClr val="081F42"/>
                </a:solidFill>
                <a:latin typeface="Inter Italics"/>
                <a:ea typeface="Inter Italics"/>
                <a:cs typeface="Inter Italics"/>
                <a:sym typeface="Inter Italics"/>
              </a:rPr>
              <a:t>Dependency: verified CPD and repeated adaptation benchmarks</a:t>
            </a:r>
          </a:p>
          <a:p>
            <a:pPr algn="ctr">
              <a:lnSpc>
                <a:spcPts val="3347"/>
              </a:lnSpc>
            </a:pPr>
            <a:r>
              <a:rPr lang="en-US" sz="2575" i="1" spc="-51">
                <a:solidFill>
                  <a:srgbClr val="081F42"/>
                </a:solidFill>
                <a:latin typeface="Inter Italics"/>
                <a:ea typeface="Inter Italics"/>
                <a:cs typeface="Inter Italics"/>
                <a:sym typeface="Inter Italics"/>
              </a:rPr>
              <a:t>precede twin safety evaluation and cross-domain claims.</a:t>
            </a:r>
          </a:p>
        </p:txBody>
      </p:sp>
      <p:sp>
        <p:nvSpPr>
          <p:cNvPr id="26" name="Freeform 26"/>
          <p:cNvSpPr/>
          <p:nvPr/>
        </p:nvSpPr>
        <p:spPr>
          <a:xfrm>
            <a:off x="645330" y="9423373"/>
            <a:ext cx="16997340" cy="229572"/>
          </a:xfrm>
          <a:custGeom>
            <a:avLst/>
            <a:gdLst/>
            <a:ahLst/>
            <a:cxnLst/>
            <a:rect l="l" t="t" r="r" b="b"/>
            <a:pathLst>
              <a:path w="16997340" h="229572">
                <a:moveTo>
                  <a:pt x="0" y="0"/>
                </a:moveTo>
                <a:lnTo>
                  <a:pt x="16997340" y="0"/>
                </a:lnTo>
                <a:lnTo>
                  <a:pt x="16997340" y="229572"/>
                </a:lnTo>
                <a:lnTo>
                  <a:pt x="0" y="229572"/>
                </a:lnTo>
                <a:lnTo>
                  <a:pt x="0" y="0"/>
                </a:lnTo>
                <a:close/>
              </a:path>
            </a:pathLst>
          </a:custGeom>
          <a:blipFill>
            <a:blip r:embed="rId12"/>
            <a:stretch>
              <a:fillRect/>
            </a:stretch>
          </a:blipFill>
        </p:spPr>
        <p:txBody>
          <a:bodyPr/>
          <a:lstStyle/>
          <a:p>
            <a:endParaRPr lang="en-GB"/>
          </a:p>
        </p:txBody>
      </p:sp>
      <p:sp>
        <p:nvSpPr>
          <p:cNvPr id="27" name="TextBox 27"/>
          <p:cNvSpPr txBox="1"/>
          <p:nvPr/>
        </p:nvSpPr>
        <p:spPr>
          <a:xfrm>
            <a:off x="591352" y="9622422"/>
            <a:ext cx="7837413" cy="298226"/>
          </a:xfrm>
          <a:prstGeom prst="rect">
            <a:avLst/>
          </a:prstGeom>
        </p:spPr>
        <p:txBody>
          <a:bodyPr lIns="0" tIns="0" rIns="0" bIns="0" rtlCol="0" anchor="t">
            <a:spAutoFit/>
          </a:bodyPr>
          <a:lstStyle/>
          <a:p>
            <a:pPr algn="l">
              <a:lnSpc>
                <a:spcPts val="2490"/>
              </a:lnSpc>
            </a:pPr>
            <a:r>
              <a:rPr lang="en-US" sz="1916" b="1" spc="-38">
                <a:solidFill>
                  <a:srgbClr val="081F42"/>
                </a:solidFill>
                <a:latin typeface="Inter Bold"/>
                <a:ea typeface="Inter Bold"/>
                <a:cs typeface="Inter Bold"/>
                <a:sym typeface="Inter Bold"/>
              </a:rPr>
              <a:t>hlin863/ewma_covariate_shift demo</a:t>
            </a:r>
            <a:r>
              <a:rPr lang="en-US" sz="1916" b="1" spc="-38">
                <a:solidFill>
                  <a:srgbClr val="081F42"/>
                </a:solidFill>
                <a:latin typeface="Inter Semi-Bold"/>
                <a:ea typeface="Inter Semi-Bold"/>
                <a:cs typeface="Inter Semi-Bold"/>
                <a:sym typeface="Inter Semi-Bold"/>
              </a:rPr>
              <a:t> </a:t>
            </a:r>
            <a:r>
              <a:rPr lang="en-US" sz="1916" spc="-38">
                <a:solidFill>
                  <a:srgbClr val="0F9699"/>
                </a:solidFill>
                <a:latin typeface="Inter"/>
                <a:ea typeface="Inter"/>
                <a:cs typeface="Inter"/>
                <a:sym typeface="Inter"/>
              </a:rPr>
              <a:t>·</a:t>
            </a:r>
            <a:r>
              <a:rPr lang="en-US" sz="1916" spc="-38">
                <a:solidFill>
                  <a:srgbClr val="081F42"/>
                </a:solidFill>
                <a:latin typeface="Inter"/>
                <a:ea typeface="Inter"/>
                <a:cs typeface="Inter"/>
                <a:sym typeface="Inter"/>
              </a:rPr>
              <a:t> Planned milestones, Oct 2026</a:t>
            </a:r>
          </a:p>
        </p:txBody>
      </p:sp>
      <p:sp>
        <p:nvSpPr>
          <p:cNvPr id="28" name="TextBox 28"/>
          <p:cNvSpPr txBox="1"/>
          <p:nvPr/>
        </p:nvSpPr>
        <p:spPr>
          <a:xfrm>
            <a:off x="6705050" y="7032507"/>
            <a:ext cx="4579386" cy="322195"/>
          </a:xfrm>
          <a:prstGeom prst="rect">
            <a:avLst/>
          </a:prstGeom>
        </p:spPr>
        <p:txBody>
          <a:bodyPr lIns="0" tIns="0" rIns="0" bIns="0" rtlCol="0" anchor="t">
            <a:spAutoFit/>
          </a:bodyPr>
          <a:lstStyle/>
          <a:p>
            <a:pPr algn="l">
              <a:lnSpc>
                <a:spcPts val="2749"/>
              </a:lnSpc>
            </a:pPr>
            <a:r>
              <a:rPr lang="en-US" sz="1617" b="1" spc="-32">
                <a:solidFill>
                  <a:srgbClr val="0F9699"/>
                </a:solidFill>
                <a:latin typeface="Inter Semi-Bold"/>
                <a:ea typeface="Inter Semi-Bold"/>
                <a:cs typeface="Inter Semi-Bold"/>
                <a:sym typeface="Inter Semi-Bold"/>
              </a:rPr>
              <a:t>Deliverable:</a:t>
            </a:r>
            <a:r>
              <a:rPr lang="en-US" sz="1617" b="1" spc="-32">
                <a:solidFill>
                  <a:srgbClr val="081F42"/>
                </a:solidFill>
                <a:latin typeface="Inter Medium"/>
                <a:ea typeface="Inter Medium"/>
                <a:cs typeface="Inter Medium"/>
                <a:sym typeface="Inter Medium"/>
              </a:rPr>
              <a:t> comparative transfer benchmarks</a:t>
            </a:r>
          </a:p>
        </p:txBody>
      </p:sp>
      <p:sp>
        <p:nvSpPr>
          <p:cNvPr id="29" name="TextBox 29"/>
          <p:cNvSpPr txBox="1"/>
          <p:nvPr/>
        </p:nvSpPr>
        <p:spPr>
          <a:xfrm>
            <a:off x="6718572" y="5960701"/>
            <a:ext cx="3227132" cy="369645"/>
          </a:xfrm>
          <a:prstGeom prst="rect">
            <a:avLst/>
          </a:prstGeom>
        </p:spPr>
        <p:txBody>
          <a:bodyPr lIns="0" tIns="0" rIns="0" bIns="0" rtlCol="0" anchor="t">
            <a:spAutoFit/>
          </a:bodyPr>
          <a:lstStyle/>
          <a:p>
            <a:pPr algn="l">
              <a:lnSpc>
                <a:spcPts val="3167"/>
              </a:lnSpc>
            </a:pPr>
            <a:r>
              <a:rPr lang="en-US" sz="1863" b="1" spc="-37">
                <a:solidFill>
                  <a:srgbClr val="081F42"/>
                </a:solidFill>
                <a:latin typeface="Inter Semi-Bold"/>
                <a:ea typeface="Inter Semi-Bold"/>
                <a:cs typeface="Inter Semi-Bold"/>
                <a:sym typeface="Inter Semi-Bold"/>
              </a:rPr>
              <a:t>BCI and phonic maintenance</a:t>
            </a:r>
          </a:p>
        </p:txBody>
      </p:sp>
    </p:spTree>
    <p:extLst>
      <p:ext uri="{BB962C8B-B14F-4D97-AF65-F5344CB8AC3E}">
        <p14:creationId xmlns:p14="http://schemas.microsoft.com/office/powerpoint/2010/main" val="24672816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NEXT MILESTONE</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Next milestone: a reproducible evidence package</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Repository evidence: 2a8d20b. Implemented capabilities and stored results are distinguished.</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028700" y="2610612"/>
            <a:ext cx="16184880" cy="594360"/>
          </a:xfrm>
          <a:prstGeom prst="rect">
            <a:avLst/>
          </a:prstGeom>
        </p:spPr>
        <p:txBody>
          <a:bodyPr lIns="0" tIns="0" rIns="0" bIns="0" rtlCol="0" anchor="t">
            <a:spAutoFit/>
          </a:bodyPr>
          <a:lstStyle/>
          <a:p>
            <a:pPr algn="l">
              <a:lnSpc>
                <a:spcPts val="4140"/>
              </a:lnSpc>
            </a:pPr>
            <a:r>
              <a:rPr lang="en-US" sz="3450" b="1">
                <a:solidFill>
                  <a:srgbClr val="78D8CC"/>
                </a:solidFill>
                <a:latin typeface="DejaVu Sans Bold"/>
                <a:ea typeface="DejaVu Sans Bold"/>
                <a:cs typeface="DejaVu Sans Bold"/>
                <a:sym typeface="DejaVu Sans Bold"/>
              </a:rPr>
              <a:t>1. Reconcile the saved reproduction runs</a:t>
            </a:r>
          </a:p>
        </p:txBody>
      </p:sp>
      <p:sp>
        <p:nvSpPr>
          <p:cNvPr id="7" name="TextBox 7"/>
          <p:cNvSpPr txBox="1"/>
          <p:nvPr/>
        </p:nvSpPr>
        <p:spPr>
          <a:xfrm>
            <a:off x="1028700" y="3410331"/>
            <a:ext cx="16184880" cy="7410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Lock settings and explain the Stage-II accepted, rejected and ineligible events.</a:t>
            </a:r>
          </a:p>
        </p:txBody>
      </p:sp>
      <p:sp>
        <p:nvSpPr>
          <p:cNvPr id="8" name="TextBox 8"/>
          <p:cNvSpPr txBox="1"/>
          <p:nvPr/>
        </p:nvSpPr>
        <p:spPr>
          <a:xfrm>
            <a:off x="1028700" y="4530852"/>
            <a:ext cx="16184880" cy="594360"/>
          </a:xfrm>
          <a:prstGeom prst="rect">
            <a:avLst/>
          </a:prstGeom>
        </p:spPr>
        <p:txBody>
          <a:bodyPr lIns="0" tIns="0" rIns="0" bIns="0" rtlCol="0" anchor="t">
            <a:spAutoFit/>
          </a:bodyPr>
          <a:lstStyle/>
          <a:p>
            <a:pPr algn="l">
              <a:lnSpc>
                <a:spcPts val="4140"/>
              </a:lnSpc>
            </a:pPr>
            <a:r>
              <a:rPr lang="en-US" sz="3450" b="1">
                <a:solidFill>
                  <a:srgbClr val="78D8CC"/>
                </a:solidFill>
                <a:latin typeface="DejaVu Sans Bold"/>
                <a:ea typeface="DejaVu Sans Bold"/>
                <a:cs typeface="DejaVu Sans Bold"/>
                <a:sym typeface="DejaVu Sans Bold"/>
              </a:rPr>
              <a:t>2. Generate adaptation and real EEG evidence</a:t>
            </a:r>
          </a:p>
        </p:txBody>
      </p:sp>
      <p:sp>
        <p:nvSpPr>
          <p:cNvPr id="9" name="TextBox 9"/>
          <p:cNvSpPr txBox="1"/>
          <p:nvPr/>
        </p:nvSpPr>
        <p:spPr>
          <a:xfrm>
            <a:off x="1028700" y="5330571"/>
            <a:ext cx="16184880" cy="87820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Extend the saved Diethe pilot across three scenarios and 20 seeds. Export 2A/2B complementary traces.</a:t>
            </a:r>
          </a:p>
        </p:txBody>
      </p:sp>
      <p:sp>
        <p:nvSpPr>
          <p:cNvPr id="10" name="TextBox 10"/>
          <p:cNvSpPr txBox="1"/>
          <p:nvPr/>
        </p:nvSpPr>
        <p:spPr>
          <a:xfrm>
            <a:off x="1028700" y="6629400"/>
            <a:ext cx="16184880" cy="594360"/>
          </a:xfrm>
          <a:prstGeom prst="rect">
            <a:avLst/>
          </a:prstGeom>
        </p:spPr>
        <p:txBody>
          <a:bodyPr lIns="0" tIns="0" rIns="0" bIns="0" rtlCol="0" anchor="t">
            <a:spAutoFit/>
          </a:bodyPr>
          <a:lstStyle/>
          <a:p>
            <a:pPr algn="l">
              <a:lnSpc>
                <a:spcPts val="4140"/>
              </a:lnSpc>
            </a:pPr>
            <a:r>
              <a:rPr lang="en-US" sz="3450" b="1">
                <a:solidFill>
                  <a:srgbClr val="78D8CC"/>
                </a:solidFill>
                <a:latin typeface="DejaVu Sans Bold"/>
                <a:ea typeface="DejaVu Sans Bold"/>
                <a:cs typeface="DejaVu Sans Bold"/>
                <a:sym typeface="DejaVu Sans Bold"/>
              </a:rPr>
              <a:t>3. Align tests, slides and research notes</a:t>
            </a:r>
          </a:p>
        </p:txBody>
      </p:sp>
      <p:sp>
        <p:nvSpPr>
          <p:cNvPr id="11" name="TextBox 11"/>
          <p:cNvSpPr txBox="1"/>
          <p:nvPr/>
        </p:nvSpPr>
        <p:spPr>
          <a:xfrm>
            <a:off x="1028700" y="7415403"/>
            <a:ext cx="16184880" cy="10839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Resolve the homepage route assertion. Refresh Notion implementation status and link every numerical claim to its run.</a:t>
            </a:r>
          </a:p>
        </p:txBody>
      </p:sp>
      <p:sp>
        <p:nvSpPr>
          <p:cNvPr id="12" name="TextBox 12"/>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Reading, writing and project management reinforce each other</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Today’s learning turns a notation correction into a clearer research claim and a testable next step.</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Sources: supplied learning image and today’s chat. Assessment reflects discussion evidence, not a scored evaluation.</a:t>
            </a:r>
          </a:p>
        </p:txBody>
      </p:sp>
      <p:sp>
        <p:nvSpPr>
          <p:cNvPr id="6" name="TextBox 6"/>
          <p:cNvSpPr txBox="1"/>
          <p:nvPr/>
        </p:nvSpPr>
        <p:spPr>
          <a:xfrm>
            <a:off x="1325880" y="3680460"/>
            <a:ext cx="4480560" cy="594360"/>
          </a:xfrm>
          <a:prstGeom prst="rect">
            <a:avLst/>
          </a:prstGeom>
        </p:spPr>
        <p:txBody>
          <a:bodyPr lIns="0" tIns="0" rIns="0" bIns="0" rtlCol="0" anchor="t">
            <a:spAutoFit/>
          </a:bodyPr>
          <a:lstStyle/>
          <a:p>
            <a:pPr algn="l">
              <a:lnSpc>
                <a:spcPts val="3779"/>
              </a:lnSpc>
            </a:pPr>
            <a:r>
              <a:rPr lang="en-US" sz="3150" b="1">
                <a:solidFill>
                  <a:srgbClr val="009D94"/>
                </a:solidFill>
                <a:latin typeface="Aptos Bold"/>
                <a:ea typeface="Aptos Bold"/>
                <a:cs typeface="Aptos Bold"/>
                <a:sym typeface="Aptos Bold"/>
              </a:rPr>
              <a:t>Reading</a:t>
            </a:r>
          </a:p>
        </p:txBody>
      </p:sp>
      <p:sp>
        <p:nvSpPr>
          <p:cNvPr id="7" name="TextBox 7"/>
          <p:cNvSpPr txBox="1"/>
          <p:nvPr/>
        </p:nvSpPr>
        <p:spPr>
          <a:xfrm>
            <a:off x="1325880" y="4709160"/>
            <a:ext cx="4480560" cy="361188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Strength: interrogating symbols and connecting methods.</a:t>
            </a:r>
          </a:p>
          <a:p>
            <a:pPr algn="l">
              <a:lnSpc>
                <a:spcPts val="3419"/>
              </a:lnSpc>
            </a:pPr>
            <a:r>
              <a:rPr lang="en-US" sz="2850">
                <a:solidFill>
                  <a:srgbClr val="12233B"/>
                </a:solidFill>
                <a:latin typeface="Aptos"/>
                <a:ea typeface="Aptos"/>
                <a:cs typeface="Aptos"/>
                <a:sym typeface="Aptos"/>
              </a:rPr>
              <a:t>Next: record each symbol’s role, assumptions and equation location.</a:t>
            </a:r>
          </a:p>
        </p:txBody>
      </p:sp>
      <p:sp>
        <p:nvSpPr>
          <p:cNvPr id="8" name="TextBox 8"/>
          <p:cNvSpPr txBox="1"/>
          <p:nvPr/>
        </p:nvSpPr>
        <p:spPr>
          <a:xfrm>
            <a:off x="6949440" y="3680460"/>
            <a:ext cx="4480560" cy="594360"/>
          </a:xfrm>
          <a:prstGeom prst="rect">
            <a:avLst/>
          </a:prstGeom>
        </p:spPr>
        <p:txBody>
          <a:bodyPr lIns="0" tIns="0" rIns="0" bIns="0" rtlCol="0" anchor="t">
            <a:spAutoFit/>
          </a:bodyPr>
          <a:lstStyle/>
          <a:p>
            <a:pPr algn="l">
              <a:lnSpc>
                <a:spcPts val="3779"/>
              </a:lnSpc>
            </a:pPr>
            <a:r>
              <a:rPr lang="en-US" sz="3150" b="1">
                <a:solidFill>
                  <a:srgbClr val="009D94"/>
                </a:solidFill>
                <a:latin typeface="Aptos Bold"/>
                <a:ea typeface="Aptos Bold"/>
                <a:cs typeface="Aptos Bold"/>
                <a:sym typeface="Aptos Bold"/>
              </a:rPr>
              <a:t>Writing</a:t>
            </a:r>
          </a:p>
        </p:txBody>
      </p:sp>
      <p:sp>
        <p:nvSpPr>
          <p:cNvPr id="9" name="TextBox 9"/>
          <p:cNvSpPr txBox="1"/>
          <p:nvPr/>
        </p:nvSpPr>
        <p:spPr>
          <a:xfrm>
            <a:off x="6949440" y="4709160"/>
            <a:ext cx="4480560" cy="361188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Strength: maintaining explicit evidence boundaries.</a:t>
            </a:r>
          </a:p>
          <a:p>
            <a:pPr algn="l">
              <a:lnSpc>
                <a:spcPts val="3419"/>
              </a:lnSpc>
            </a:pPr>
            <a:r>
              <a:rPr lang="en-US" sz="2850">
                <a:solidFill>
                  <a:srgbClr val="12233B"/>
                </a:solidFill>
                <a:latin typeface="Aptos"/>
                <a:ea typeface="Aptos"/>
                <a:cs typeface="Aptos"/>
                <a:sym typeface="Aptos"/>
              </a:rPr>
              <a:t>Next: separate mathematical identity, modelling assumption and empirical finding.</a:t>
            </a:r>
          </a:p>
        </p:txBody>
      </p:sp>
      <p:sp>
        <p:nvSpPr>
          <p:cNvPr id="10" name="TextBox 10"/>
          <p:cNvSpPr txBox="1"/>
          <p:nvPr/>
        </p:nvSpPr>
        <p:spPr>
          <a:xfrm>
            <a:off x="12573000" y="3680460"/>
            <a:ext cx="4480560" cy="594360"/>
          </a:xfrm>
          <a:prstGeom prst="rect">
            <a:avLst/>
          </a:prstGeom>
        </p:spPr>
        <p:txBody>
          <a:bodyPr lIns="0" tIns="0" rIns="0" bIns="0" rtlCol="0" anchor="t">
            <a:spAutoFit/>
          </a:bodyPr>
          <a:lstStyle/>
          <a:p>
            <a:pPr algn="l">
              <a:lnSpc>
                <a:spcPts val="3779"/>
              </a:lnSpc>
            </a:pPr>
            <a:r>
              <a:rPr lang="en-US" sz="3150" b="1">
                <a:solidFill>
                  <a:srgbClr val="009D94"/>
                </a:solidFill>
                <a:latin typeface="Aptos Bold"/>
                <a:ea typeface="Aptos Bold"/>
                <a:cs typeface="Aptos Bold"/>
                <a:sym typeface="Aptos Bold"/>
              </a:rPr>
              <a:t>Project management</a:t>
            </a:r>
          </a:p>
        </p:txBody>
      </p:sp>
      <p:sp>
        <p:nvSpPr>
          <p:cNvPr id="11" name="TextBox 11"/>
          <p:cNvSpPr txBox="1"/>
          <p:nvPr/>
        </p:nvSpPr>
        <p:spPr>
          <a:xfrm>
            <a:off x="12573000" y="4709160"/>
            <a:ext cx="4480560" cy="361188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Strength: linking notes with code and a research diary.</a:t>
            </a:r>
          </a:p>
          <a:p>
            <a:pPr algn="l">
              <a:lnSpc>
                <a:spcPts val="3419"/>
              </a:lnSpc>
            </a:pPr>
            <a:r>
              <a:rPr lang="en-US" sz="2850">
                <a:solidFill>
                  <a:srgbClr val="12233B"/>
                </a:solidFill>
                <a:latin typeface="Aptos"/>
                <a:ea typeface="Aptos"/>
                <a:cs typeface="Aptos"/>
                <a:sym typeface="Aptos"/>
              </a:rPr>
              <a:t>Next: keep one dated claim ledger and define a falsifiable test for each open question.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RESEARCH SOURCE TRAIL</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Reading map and evidence hierarchy</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Separate the original papers, code implementation, verified experimental findings and future research goals.</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2980563"/>
            <a:ext cx="8042910" cy="5327142"/>
            <a:chOff x="0" y="0"/>
            <a:chExt cx="10723880" cy="7102856"/>
          </a:xfrm>
        </p:grpSpPr>
        <p:sp>
          <p:nvSpPr>
            <p:cNvPr id="7" name="Freeform 7"/>
            <p:cNvSpPr/>
            <p:nvPr/>
          </p:nvSpPr>
          <p:spPr>
            <a:xfrm>
              <a:off x="0" y="0"/>
              <a:ext cx="10723880" cy="7102856"/>
            </a:xfrm>
            <a:custGeom>
              <a:avLst/>
              <a:gdLst/>
              <a:ahLst/>
              <a:cxnLst/>
              <a:rect l="l" t="t" r="r" b="b"/>
              <a:pathLst>
                <a:path w="10723880" h="7102856">
                  <a:moveTo>
                    <a:pt x="0" y="1183894"/>
                  </a:moveTo>
                  <a:cubicBezTo>
                    <a:pt x="0" y="529971"/>
                    <a:pt x="529971" y="0"/>
                    <a:pt x="1183894" y="0"/>
                  </a:cubicBezTo>
                  <a:lnTo>
                    <a:pt x="9539986" y="0"/>
                  </a:lnTo>
                  <a:cubicBezTo>
                    <a:pt x="10193782" y="0"/>
                    <a:pt x="10723880" y="529971"/>
                    <a:pt x="10723880" y="1183894"/>
                  </a:cubicBezTo>
                  <a:lnTo>
                    <a:pt x="10723880" y="5918962"/>
                  </a:lnTo>
                  <a:cubicBezTo>
                    <a:pt x="10723880" y="6572758"/>
                    <a:pt x="10193909" y="7102856"/>
                    <a:pt x="9539986" y="7102856"/>
                  </a:cubicBezTo>
                  <a:lnTo>
                    <a:pt x="1183894" y="7102856"/>
                  </a:lnTo>
                  <a:cubicBezTo>
                    <a:pt x="529971" y="7102856"/>
                    <a:pt x="0" y="6572885"/>
                    <a:pt x="0" y="591896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186684"/>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ORIGINAL LITERATURE</a:t>
            </a:r>
          </a:p>
        </p:txBody>
      </p:sp>
      <p:sp>
        <p:nvSpPr>
          <p:cNvPr id="9" name="TextBox 9"/>
          <p:cNvSpPr txBox="1"/>
          <p:nvPr/>
        </p:nvSpPr>
        <p:spPr>
          <a:xfrm>
            <a:off x="1220724" y="3803904"/>
            <a:ext cx="7438644" cy="4283964"/>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Raza et al. (2015, 2019): CSE and adaptive ensemble.</a:t>
            </a:r>
          </a:p>
          <a:p>
            <a:pPr algn="l">
              <a:lnSpc>
                <a:spcPts val="2340"/>
              </a:lnSpc>
            </a:pPr>
            <a:r>
              <a:rPr lang="en-US" sz="1950">
                <a:solidFill>
                  <a:srgbClr val="12233B"/>
                </a:solidFill>
                <a:latin typeface="Aptos"/>
                <a:ea typeface="Aptos"/>
                <a:cs typeface="Aptos"/>
                <a:sym typeface="Aptos"/>
              </a:rPr>
              <a:t>Chowdhury et al. (2018): online BCI, validated EWMA warnings.</a:t>
            </a:r>
          </a:p>
          <a:p>
            <a:pPr algn="l">
              <a:lnSpc>
                <a:spcPts val="2340"/>
              </a:lnSpc>
            </a:pPr>
            <a:r>
              <a:rPr lang="en-US" sz="1950">
                <a:solidFill>
                  <a:srgbClr val="12233B"/>
                </a:solidFill>
                <a:latin typeface="Aptos"/>
                <a:ea typeface="Aptos"/>
                <a:cs typeface="Aptos"/>
                <a:sym typeface="Aptos"/>
              </a:rPr>
              <a:t>Park et al. (2023): mean versus second-order changes.</a:t>
            </a:r>
          </a:p>
          <a:p>
            <a:pPr algn="l">
              <a:lnSpc>
                <a:spcPts val="2340"/>
              </a:lnSpc>
            </a:pPr>
            <a:r>
              <a:rPr lang="en-US" sz="1950">
                <a:solidFill>
                  <a:srgbClr val="12233B"/>
                </a:solidFill>
                <a:latin typeface="Aptos"/>
                <a:ea typeface="Aptos"/>
                <a:cs typeface="Aptos"/>
                <a:sym typeface="Aptos"/>
              </a:rPr>
              <a:t>Fearnhead &amp; Rigaill (2020): broader change-in-mean methodology.</a:t>
            </a:r>
          </a:p>
        </p:txBody>
      </p:sp>
      <p:grpSp>
        <p:nvGrpSpPr>
          <p:cNvPr id="10" name="Group 10"/>
          <p:cNvGrpSpPr/>
          <p:nvPr/>
        </p:nvGrpSpPr>
        <p:grpSpPr>
          <a:xfrm>
            <a:off x="9317355" y="2980563"/>
            <a:ext cx="8042910" cy="5327142"/>
            <a:chOff x="0" y="0"/>
            <a:chExt cx="10723880" cy="7102856"/>
          </a:xfrm>
        </p:grpSpPr>
        <p:sp>
          <p:nvSpPr>
            <p:cNvPr id="11" name="Freeform 11"/>
            <p:cNvSpPr/>
            <p:nvPr/>
          </p:nvSpPr>
          <p:spPr>
            <a:xfrm>
              <a:off x="0" y="0"/>
              <a:ext cx="10723880" cy="7102856"/>
            </a:xfrm>
            <a:custGeom>
              <a:avLst/>
              <a:gdLst/>
              <a:ahLst/>
              <a:cxnLst/>
              <a:rect l="l" t="t" r="r" b="b"/>
              <a:pathLst>
                <a:path w="10723880" h="7102856">
                  <a:moveTo>
                    <a:pt x="0" y="1183894"/>
                  </a:moveTo>
                  <a:cubicBezTo>
                    <a:pt x="0" y="529971"/>
                    <a:pt x="529971" y="0"/>
                    <a:pt x="1183894" y="0"/>
                  </a:cubicBezTo>
                  <a:lnTo>
                    <a:pt x="9539986" y="0"/>
                  </a:lnTo>
                  <a:cubicBezTo>
                    <a:pt x="10193782" y="0"/>
                    <a:pt x="10723880" y="529971"/>
                    <a:pt x="10723880" y="1183894"/>
                  </a:cubicBezTo>
                  <a:lnTo>
                    <a:pt x="10723880" y="5918962"/>
                  </a:lnTo>
                  <a:cubicBezTo>
                    <a:pt x="10723880" y="6572758"/>
                    <a:pt x="10193909" y="7102856"/>
                    <a:pt x="9539986" y="7102856"/>
                  </a:cubicBezTo>
                  <a:lnTo>
                    <a:pt x="1183894" y="7102856"/>
                  </a:lnTo>
                  <a:cubicBezTo>
                    <a:pt x="529971" y="7102856"/>
                    <a:pt x="0" y="6572885"/>
                    <a:pt x="0" y="591896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186684"/>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CURRENT EVIDENCE</a:t>
            </a:r>
          </a:p>
        </p:txBody>
      </p:sp>
      <p:sp>
        <p:nvSpPr>
          <p:cNvPr id="13" name="TextBox 13"/>
          <p:cNvSpPr txBox="1"/>
          <p:nvPr/>
        </p:nvSpPr>
        <p:spPr>
          <a:xfrm>
            <a:off x="9587484" y="3803904"/>
            <a:ext cx="7438644" cy="4283964"/>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Reconstructed CSE, multiple Stage-II options.</a:t>
            </a:r>
          </a:p>
          <a:p>
            <a:pPr algn="l">
              <a:lnSpc>
                <a:spcPts val="2340"/>
              </a:lnSpc>
            </a:pPr>
            <a:r>
              <a:rPr lang="en-US" sz="1950">
                <a:solidFill>
                  <a:srgbClr val="12233B"/>
                </a:solidFill>
                <a:latin typeface="Aptos"/>
                <a:ea typeface="Aptos"/>
                <a:cs typeface="Aptos"/>
                <a:sym typeface="Aptos"/>
              </a:rPr>
              <a:t>Park candidate curves, not confirmation.</a:t>
            </a:r>
          </a:p>
          <a:p>
            <a:pPr algn="l">
              <a:lnSpc>
                <a:spcPts val="2340"/>
              </a:lnSpc>
            </a:pPr>
            <a:r>
              <a:rPr lang="en-US" sz="1950">
                <a:solidFill>
                  <a:srgbClr val="12233B"/>
                </a:solidFill>
                <a:latin typeface="Aptos"/>
                <a:ea typeface="Aptos"/>
                <a:cs typeface="Aptos"/>
                <a:sym typeface="Aptos"/>
              </a:rPr>
              <a:t>Six-policy supervised lab, not conclusive rankings.</a:t>
            </a:r>
          </a:p>
          <a:p>
            <a:pPr algn="l">
              <a:lnSpc>
                <a:spcPts val="2340"/>
              </a:lnSpc>
            </a:pPr>
            <a:r>
              <a:rPr lang="en-US" sz="1950">
                <a:solidFill>
                  <a:srgbClr val="12233B"/>
                </a:solidFill>
                <a:latin typeface="Aptos"/>
                <a:ea typeface="Aptos"/>
                <a:cs typeface="Aptos"/>
                <a:sym typeface="Aptos"/>
              </a:rPr>
              <a:t>Published EEG subject-level count agreement unresolved.</a:t>
            </a:r>
          </a:p>
          <a:p>
            <a:pPr algn="l">
              <a:lnSpc>
                <a:spcPts val="2340"/>
              </a:lnSpc>
            </a:pPr>
            <a:r>
              <a:rPr lang="en-US" sz="1950">
                <a:solidFill>
                  <a:srgbClr val="12233B"/>
                </a:solidFill>
                <a:latin typeface="Aptos"/>
                <a:ea typeface="Aptos"/>
                <a:cs typeface="Aptos"/>
                <a:sym typeface="Aptos"/>
              </a:rPr>
              <a:t>No validated energy or continual-learning retention result.</a:t>
            </a:r>
          </a:p>
        </p:txBody>
      </p:sp>
      <p:sp>
        <p:nvSpPr>
          <p:cNvPr id="14" name="TextBox 14"/>
          <p:cNvSpPr txBox="1"/>
          <p:nvPr/>
        </p:nvSpPr>
        <p:spPr>
          <a:xfrm>
            <a:off x="1261872" y="8535924"/>
            <a:ext cx="16340328" cy="512064"/>
          </a:xfrm>
          <a:prstGeom prst="rect">
            <a:avLst/>
          </a:prstGeom>
        </p:spPr>
        <p:txBody>
          <a:bodyPr lIns="0" tIns="0" rIns="0" bIns="0" rtlCol="0" anchor="t">
            <a:spAutoFit/>
          </a:bodyPr>
          <a:lstStyle/>
          <a:p>
            <a:pPr algn="l">
              <a:lnSpc>
                <a:spcPts val="2160"/>
              </a:lnSpc>
            </a:pPr>
            <a:r>
              <a:rPr lang="en-US" sz="1800" b="1">
                <a:solidFill>
                  <a:srgbClr val="12233B"/>
                </a:solidFill>
                <a:latin typeface="Aptos Bold"/>
                <a:ea typeface="Aptos Bold"/>
                <a:cs typeface="Aptos Bold"/>
                <a:sym typeface="Aptos Bold"/>
              </a:rPr>
              <a:t>Next: report matched configurations, validation statuses, seeds, provenance and numerical outcomes before upgrading claims.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TotalTime>
  <Words>9197</Words>
  <Application>Microsoft Office PowerPoint</Application>
  <PresentationFormat>Custom</PresentationFormat>
  <Paragraphs>1075</Paragraphs>
  <Slides>44</Slides>
  <Notes>34</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44</vt:i4>
      </vt:variant>
    </vt:vector>
  </HeadingPairs>
  <TitlesOfParts>
    <vt:vector size="63" baseType="lpstr">
      <vt:lpstr>Aptos Bold</vt:lpstr>
      <vt:lpstr>Roboto</vt:lpstr>
      <vt:lpstr>Calibri</vt:lpstr>
      <vt:lpstr>Inter Bold</vt:lpstr>
      <vt:lpstr>DejaVu Sans Light</vt:lpstr>
      <vt:lpstr>Calibri (MS) Italics</vt:lpstr>
      <vt:lpstr>Consolas</vt:lpstr>
      <vt:lpstr>Arial</vt:lpstr>
      <vt:lpstr>Inter Medium</vt:lpstr>
      <vt:lpstr>Aptos</vt:lpstr>
      <vt:lpstr>DejaVu Sans Bold</vt:lpstr>
      <vt:lpstr>Inter Italics</vt:lpstr>
      <vt:lpstr>Cambria Math</vt:lpstr>
      <vt:lpstr>Inter Semi-Bold</vt:lpstr>
      <vt:lpstr>Calibri (MS) Bold</vt:lpstr>
      <vt:lpstr>Calibri (MS)</vt:lpstr>
      <vt:lpstr>Roboto Bold</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EWMA latest slides layout review</dc:title>
  <cp:lastModifiedBy>Haocheng Lin</cp:lastModifiedBy>
  <cp:revision>34</cp:revision>
  <dcterms:created xsi:type="dcterms:W3CDTF">2006-08-16T00:00:00Z</dcterms:created>
  <dcterms:modified xsi:type="dcterms:W3CDTF">2026-10-15T13:39:37Z</dcterms:modified>
  <dc:identifier>DAHYBaR-K0c</dc:identifier>
</cp:coreProperties>
</file>