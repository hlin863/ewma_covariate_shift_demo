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panose="020B0004020202020204" pitchFamily="34" charset="0"/>
      <p:regular r:id="rId47"/>
    </p:embeddedFont>
    <p:embeddedFont>
      <p:font typeface="Aptos Bold" panose="020B0604020202020204" charset="0"/>
      <p:regular r:id="rId48"/>
    </p:embeddedFont>
    <p:embeddedFont>
      <p:font typeface="Calibri" panose="020F0502020204030204" pitchFamily="34" charset="0"/>
      <p:regular r:id="rId49"/>
      <p:bold r:id="rId50"/>
      <p:italic r:id="rId51"/>
      <p:boldItalic r:id="rId52"/>
    </p:embeddedFont>
    <p:embeddedFont>
      <p:font typeface="Calibri (MS)" panose="020B0604020202020204" charset="0"/>
      <p:regular r:id="rId53"/>
    </p:embeddedFont>
    <p:embeddedFont>
      <p:font typeface="Calibri (MS) Bold" panose="020B0604020202020204" charset="0"/>
      <p:regular r:id="rId54"/>
    </p:embeddedFont>
    <p:embeddedFont>
      <p:font typeface="Calibri (MS) Italics" panose="020B0604020202020204" charset="0"/>
      <p:regular r:id="rId55"/>
    </p:embeddedFont>
    <p:embeddedFont>
      <p:font typeface="Cambria Math" panose="02040503050406030204" pitchFamily="18" charset="0"/>
      <p:regular r:id="rId56"/>
    </p:embeddedFont>
    <p:embeddedFont>
      <p:font typeface="Consolas" panose="020B0609020204030204" pitchFamily="49" charset="0"/>
      <p:regular r:id="rId57"/>
      <p:bold r:id="rId58"/>
      <p:italic r:id="rId59"/>
      <p:boldItalic r:id="rId60"/>
    </p:embeddedFont>
    <p:embeddedFont>
      <p:font typeface="DejaVu Sans Bold" panose="020B0604020202020204" charset="0"/>
      <p:regular r:id="rId61"/>
    </p:embeddedFont>
    <p:embeddedFont>
      <p:font typeface="DejaVu Sans Light" panose="020B0604020202020204" charset="0"/>
      <p:regular r:id="rId62"/>
    </p:embeddedFont>
    <p:embeddedFont>
      <p:font typeface="Inter" panose="020B0604020202020204" charset="0"/>
      <p:regular r:id="rId63"/>
    </p:embeddedFont>
    <p:embeddedFont>
      <p:font typeface="Inter Bold" panose="020B0604020202020204" charset="0"/>
      <p:regular r:id="rId64"/>
    </p:embeddedFont>
    <p:embeddedFont>
      <p:font typeface="Inter Italics" panose="020B0604020202020204" charset="0"/>
      <p:regular r:id="rId65"/>
    </p:embeddedFont>
    <p:embeddedFont>
      <p:font typeface="Inter Medium" panose="020B0604020202020204" charset="0"/>
      <p:regular r:id="rId66"/>
    </p:embeddedFont>
    <p:embeddedFont>
      <p:font typeface="Inter Semi-Bold" panose="020B0604020202020204" charset="0"/>
      <p:regular r:id="rId67"/>
    </p:embeddedFont>
    <p:embeddedFont>
      <p:font typeface="Roboto" panose="02000000000000000000" pitchFamily="2" charset="0"/>
      <p:regular r:id="rId68"/>
      <p:bold r:id="rId69"/>
      <p:italic r:id="rId70"/>
      <p:boldItalic r:id="rId71"/>
    </p:embeddedFont>
    <p:embeddedFont>
      <p:font typeface="Roboto Bold" panose="02000000000000000000" charset="0"/>
      <p:regular r:id="rId7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 dt="2026-10-14T22:05:59.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2" d="100"/>
          <a:sy n="72" d="100"/>
        </p:scale>
        <p:origin x="654"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1.fntdata"/><Relationship Id="rId63" Type="http://schemas.openxmlformats.org/officeDocument/2006/relationships/font" Target="fonts/font17.fntdata"/><Relationship Id="rId68" Type="http://schemas.openxmlformats.org/officeDocument/2006/relationships/font" Target="fonts/font22.fntdata"/><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font" Target="fonts/font20.fntdata"/><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font" Target="fonts/font18.fntdata"/><Relationship Id="rId69" Type="http://schemas.openxmlformats.org/officeDocument/2006/relationships/font" Target="fonts/font23.fntdata"/><Relationship Id="rId77"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font" Target="fonts/font5.fntdata"/><Relationship Id="rId72" Type="http://schemas.openxmlformats.org/officeDocument/2006/relationships/font" Target="fonts/font2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openxmlformats.org/officeDocument/2006/relationships/font" Target="fonts/font13.fntdata"/><Relationship Id="rId67"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font" Target="fonts/font16.fntdata"/><Relationship Id="rId70" Type="http://schemas.openxmlformats.org/officeDocument/2006/relationships/font" Target="fonts/font24.fntdata"/><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font" Target="fonts/font19.fntdata"/><Relationship Id="rId73" Type="http://schemas.openxmlformats.org/officeDocument/2006/relationships/presProps" Target="presProps.xml"/><Relationship Id="rId78"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4.fntdata"/><Relationship Id="rId55" Type="http://schemas.openxmlformats.org/officeDocument/2006/relationships/font" Target="fonts/font9.fntdata"/><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font" Target="fonts/font25.fntdata"/><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addSld delSld modSld">
      <pc:chgData name="Haocheng Lin" userId="3c9af17cd41df8cf" providerId="LiveId" clId="{E85DCD58-ED75-4D29-A2F4-F018EE94DF03}" dt="2026-10-14T22:05:59.512" v="28"/>
      <pc:docMkLst>
        <pc:docMk/>
      </pc:docMkLst>
      <pc:sldChg chg="modSp mod">
        <pc:chgData name="Haocheng Lin" userId="3c9af17cd41df8cf" providerId="LiveId" clId="{E85DCD58-ED75-4D29-A2F4-F018EE94DF03}" dt="2026-10-14T22:01:23.443" v="19" actId="1076"/>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del">
        <pc:chgData name="Haocheng Lin" userId="3c9af17cd41df8cf" providerId="LiveId" clId="{E85DCD58-ED75-4D29-A2F4-F018EE94DF03}" dt="2026-10-14T21:54:22.215" v="6" actId="2696"/>
        <pc:sldMkLst>
          <pc:docMk/>
          <pc:sldMk cId="0" sldId="294"/>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image" Target="../media/image42.png"/><Relationship Id="rId13" Type="http://schemas.openxmlformats.org/officeDocument/2006/relationships/image" Target="../media/image47.png"/><Relationship Id="rId3" Type="http://schemas.openxmlformats.org/officeDocument/2006/relationships/image" Target="../media/image37.png"/><Relationship Id="rId7" Type="http://schemas.openxmlformats.org/officeDocument/2006/relationships/image" Target="../media/image41.png"/><Relationship Id="rId12" Type="http://schemas.openxmlformats.org/officeDocument/2006/relationships/image" Target="../media/image46.png"/><Relationship Id="rId2" Type="http://schemas.openxmlformats.org/officeDocument/2006/relationships/image" Target="../media/image36.png"/><Relationship Id="rId1" Type="http://schemas.openxmlformats.org/officeDocument/2006/relationships/slideLayout" Target="../slideLayouts/slideLayout7.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png"/><Relationship Id="rId4" Type="http://schemas.openxmlformats.org/officeDocument/2006/relationships/image" Target="../media/image38.png"/><Relationship Id="rId9" Type="http://schemas.openxmlformats.org/officeDocument/2006/relationships/image" Target="../media/image43.png"/></Relationships>
</file>

<file path=ppt/slides/_rels/slide41.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12" Type="http://schemas.openxmlformats.org/officeDocument/2006/relationships/image" Target="../media/image58.png"/><Relationship Id="rId2" Type="http://schemas.openxmlformats.org/officeDocument/2006/relationships/image" Target="../media/image48.png"/><Relationship Id="rId1" Type="http://schemas.openxmlformats.org/officeDocument/2006/relationships/slideLayout" Target="../slideLayouts/slideLayout7.xml"/><Relationship Id="rId6" Type="http://schemas.openxmlformats.org/officeDocument/2006/relationships/image" Target="../media/image52.png"/><Relationship Id="rId11" Type="http://schemas.openxmlformats.org/officeDocument/2006/relationships/image" Target="../media/image57.png"/><Relationship Id="rId5" Type="http://schemas.openxmlformats.org/officeDocument/2006/relationships/image" Target="../media/image51.png"/><Relationship Id="rId10" Type="http://schemas.openxmlformats.org/officeDocument/2006/relationships/image" Target="../media/image56.png"/><Relationship Id="rId4" Type="http://schemas.openxmlformats.org/officeDocument/2006/relationships/image" Target="../media/image50.png"/><Relationship Id="rId9" Type="http://schemas.openxmlformats.org/officeDocument/2006/relationships/image" Target="../media/image55.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038725"/>
            <a:ext cx="10858500" cy="1190625"/>
          </a:xfrm>
          <a:prstGeom prst="rect">
            <a:avLst/>
          </a:prstGeom>
        </p:spPr>
        <p:txBody>
          <a:bodyPr lIns="0" tIns="0" rIns="0" bIns="0" rtlCol="0" anchor="t">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EEG non-stationarity; research lineage; clinical evidence</a:t>
            </a: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FBCSP features; frozen PCA coordinates; EWMA and Stage II</a:t>
            </a: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15" dirty="0">
                <a:solidFill>
                  <a:srgbClr val="5E6E84"/>
                </a:solidFill>
              </a:rPr>
              <a:t>Source: github.com/hlin863/ewma_covariate_shift_demo  ·  main at 15 Oct 2026</a:t>
            </a: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006602"/>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a:solidFill>
                  <a:srgbClr val="A56AFF"/>
                </a:solidFill>
                <a:latin typeface="Aptos Bold"/>
                <a:ea typeface="Aptos Bold"/>
                <a:cs typeface="Aptos Bold"/>
                <a:sym typeface="Aptos Bold"/>
              </a:rPr>
              <a:t>Heyden et al. (2024): reconstruction loss basis</a:t>
            </a:r>
          </a:p>
        </p:txBody>
      </p:sp>
      <mc:AlternateContent xmlns:mc="http://schemas.openxmlformats.org/markup-compatibility/2006">
        <mc:Choice xmlns:a14="http://schemas.microsoft.com/office/drawing/2010/main" Requires="a14">
          <p:sp>
            <p:nvSpPr>
              <p:cNvPr id="35" name="EDITABLE OfficeMath | MSE over d dimensions"/>
              <p:cNvSpPr txBox="1"/>
              <p:nvPr/>
            </p:nvSpPr>
            <p:spPr>
              <a:xfrm>
                <a:off x="11891962" y="6803136"/>
                <a:ext cx="4333875" cy="543931"/>
              </a:xfrm>
              <a:prstGeom prst="rect">
                <a:avLst/>
              </a:prstGeom>
              <a:noFill/>
              <a:ln>
                <a:noFill/>
              </a:ln>
            </p:spPr>
            <p:txBody>
              <a:bodyPr wrap="square" lIns="0" tIns="0" rIns="0" bIns="0">
                <a:spAutoFit/>
              </a:bodyPr>
              <a:lstStyle/>
              <a:p>
                <a:pPr algn="ctr"/>
                <a14:m>
                  <m:oMathPara xmlns:m="http://schemas.openxmlformats.org/officeDocument/2006/math">
                    <m:oMathParaPr>
                      <m:jc m:val="centerGroup"/>
                    </m:oMathParaPr>
                    <m:oMath xmlns:m="http://schemas.openxmlformats.org/officeDocument/2006/math">
                      <m:sSub>
                        <m:sSubPr>
                          <m:ctrlPr>
                            <a:rPr lang="ar-AE" sz="1200" smtClean="0">
                              <a:solidFill>
                                <a:schemeClr val="bg1"/>
                              </a:solidFill>
                              <a:latin typeface="Cambria Math" panose="02040503050406030204" pitchFamily="18" charset="0"/>
                            </a:rPr>
                          </m:ctrlPr>
                        </m:sSubPr>
                        <m:e>
                          <m:r>
                            <a:rPr lang="ar-AE" sz="1200">
                              <a:solidFill>
                                <a:schemeClr val="bg1"/>
                              </a:solidFill>
                              <a:latin typeface="Cambria Math" panose="02040503050406030204" pitchFamily="18" charset="0"/>
                            </a:rPr>
                            <m:t>𝐿</m:t>
                          </m:r>
                        </m:e>
                        <m:sub>
                          <m:r>
                            <a:rPr lang="ar-AE" sz="1200">
                              <a:solidFill>
                                <a:schemeClr val="bg1"/>
                              </a:solidFill>
                              <a:latin typeface="Cambria Math" panose="02040503050406030204" pitchFamily="18" charset="0"/>
                            </a:rPr>
                            <m:t>𝑡</m:t>
                          </m:r>
                        </m:sub>
                      </m:sSub>
                      <m:r>
                        <a:rPr lang="ar-AE" sz="1200">
                          <a:solidFill>
                            <a:schemeClr val="bg1"/>
                          </a:solidFill>
                          <a:latin typeface="Cambria Math" panose="02040503050406030204" pitchFamily="18" charset="0"/>
                        </a:rPr>
                        <m:t> = </m:t>
                      </m:r>
                      <m:r>
                        <a:rPr lang="ar-AE" sz="1200">
                          <a:solidFill>
                            <a:schemeClr val="bg1"/>
                          </a:solidFill>
                          <a:latin typeface="Cambria Math" panose="02040503050406030204" pitchFamily="18" charset="0"/>
                        </a:rPr>
                        <m:t>𝑀𝑆𝐸</m:t>
                      </m:r>
                      <m:r>
                        <a:rPr lang="ar-AE" sz="1200">
                          <a:solidFill>
                            <a:schemeClr val="bg1"/>
                          </a:solidFill>
                          <a:latin typeface="Cambria Math" panose="02040503050406030204" pitchFamily="18" charset="0"/>
                        </a:rPr>
                        <m:t>(</m:t>
                      </m:r>
                      <m:sSub>
                        <m:sSubPr>
                          <m:ctrlPr>
                            <a:rPr lang="ar-AE" sz="1200" i="1">
                              <a:solidFill>
                                <a:schemeClr val="bg1"/>
                              </a:solidFill>
                              <a:latin typeface="Cambria Math" panose="02040503050406030204" pitchFamily="18" charset="0"/>
                            </a:rPr>
                          </m:ctrlPr>
                        </m:sSubPr>
                        <m:e>
                          <m:r>
                            <a:rPr lang="ar-AE" sz="1200">
                              <a:solidFill>
                                <a:schemeClr val="bg1"/>
                              </a:solidFill>
                              <a:latin typeface="Cambria Math" panose="02040503050406030204" pitchFamily="18" charset="0"/>
                            </a:rPr>
                            <m:t>𝑋</m:t>
                          </m:r>
                        </m:e>
                        <m:sub>
                          <m:r>
                            <a:rPr lang="ar-AE" sz="1200">
                              <a:solidFill>
                                <a:schemeClr val="bg1"/>
                              </a:solidFill>
                              <a:latin typeface="Cambria Math" panose="02040503050406030204" pitchFamily="18" charset="0"/>
                            </a:rPr>
                            <m:t>𝑡</m:t>
                          </m:r>
                        </m:sub>
                      </m:sSub>
                      <m:r>
                        <a:rPr lang="ar-AE" sz="1200">
                          <a:solidFill>
                            <a:schemeClr val="bg1"/>
                          </a:solidFill>
                          <a:latin typeface="Cambria Math" panose="02040503050406030204" pitchFamily="18" charset="0"/>
                        </a:rPr>
                        <m:t>, </m:t>
                      </m:r>
                      <m:acc>
                        <m:accPr>
                          <m:chr m:val="̂"/>
                          <m:ctrlPr>
                            <a:rPr lang="ar-AE" sz="1200" i="1">
                              <a:solidFill>
                                <a:schemeClr val="bg1"/>
                              </a:solidFill>
                              <a:latin typeface="Cambria Math" panose="02040503050406030204" pitchFamily="18" charset="0"/>
                            </a:rPr>
                          </m:ctrlPr>
                        </m:accPr>
                        <m:e>
                          <m:sSub>
                            <m:sSubPr>
                              <m:ctrlPr>
                                <a:rPr lang="ar-AE" sz="1200" i="1">
                                  <a:solidFill>
                                    <a:schemeClr val="bg1"/>
                                  </a:solidFill>
                                  <a:latin typeface="Cambria Math" panose="02040503050406030204" pitchFamily="18" charset="0"/>
                                </a:rPr>
                              </m:ctrlPr>
                            </m:sSubPr>
                            <m:e>
                              <m:r>
                                <a:rPr lang="ar-AE" sz="1200">
                                  <a:solidFill>
                                    <a:schemeClr val="bg1"/>
                                  </a:solidFill>
                                  <a:latin typeface="Cambria Math" panose="02040503050406030204" pitchFamily="18" charset="0"/>
                                </a:rPr>
                                <m:t>𝑋</m:t>
                              </m:r>
                            </m:e>
                            <m:sub>
                              <m:r>
                                <a:rPr lang="ar-AE" sz="1200">
                                  <a:solidFill>
                                    <a:schemeClr val="bg1"/>
                                  </a:solidFill>
                                  <a:latin typeface="Cambria Math" panose="02040503050406030204" pitchFamily="18" charset="0"/>
                                </a:rPr>
                                <m:t>𝑡</m:t>
                              </m:r>
                            </m:sub>
                          </m:sSub>
                        </m:e>
                      </m:acc>
                      <m:r>
                        <a:rPr lang="ar-AE" sz="1200">
                          <a:solidFill>
                            <a:schemeClr val="bg1"/>
                          </a:solidFill>
                          <a:latin typeface="Cambria Math" panose="02040503050406030204" pitchFamily="18" charset="0"/>
                        </a:rPr>
                        <m:t>) = </m:t>
                      </m:r>
                      <m:f>
                        <m:fPr>
                          <m:ctrlPr>
                            <a:rPr lang="ar-AE" sz="1200" i="1">
                              <a:solidFill>
                                <a:schemeClr val="bg1"/>
                              </a:solidFill>
                              <a:latin typeface="Cambria Math" panose="02040503050406030204" pitchFamily="18" charset="0"/>
                            </a:rPr>
                          </m:ctrlPr>
                        </m:fPr>
                        <m:num>
                          <m:r>
                            <a:rPr lang="ar-AE" sz="1200">
                              <a:solidFill>
                                <a:schemeClr val="bg1"/>
                              </a:solidFill>
                              <a:latin typeface="Cambria Math" panose="02040503050406030204" pitchFamily="18" charset="0"/>
                            </a:rPr>
                            <m:t>1</m:t>
                          </m:r>
                        </m:num>
                        <m:den>
                          <m:r>
                            <a:rPr lang="ar-AE" sz="1200">
                              <a:solidFill>
                                <a:schemeClr val="bg1"/>
                              </a:solidFill>
                              <a:latin typeface="Cambria Math" panose="02040503050406030204" pitchFamily="18" charset="0"/>
                            </a:rPr>
                            <m:t>𝑑</m:t>
                          </m:r>
                        </m:den>
                      </m:f>
                      <m:nary>
                        <m:naryPr>
                          <m:chr m:val="∑"/>
                          <m:ctrlPr>
                            <a:rPr lang="ar-AE" sz="1200" i="1">
                              <a:solidFill>
                                <a:schemeClr val="bg1"/>
                              </a:solidFill>
                              <a:latin typeface="Cambria Math" panose="02040503050406030204" pitchFamily="18" charset="0"/>
                            </a:rPr>
                          </m:ctrlPr>
                        </m:naryPr>
                        <m:sub>
                          <m:r>
                            <a:rPr lang="ar-AE" sz="1200">
                              <a:solidFill>
                                <a:schemeClr val="bg1"/>
                              </a:solidFill>
                              <a:latin typeface="Cambria Math" panose="02040503050406030204" pitchFamily="18" charset="0"/>
                            </a:rPr>
                            <m:t>𝑗</m:t>
                          </m:r>
                          <m:r>
                            <a:rPr lang="ar-AE" sz="1200">
                              <a:solidFill>
                                <a:schemeClr val="bg1"/>
                              </a:solidFill>
                              <a:latin typeface="Cambria Math" panose="02040503050406030204" pitchFamily="18" charset="0"/>
                            </a:rPr>
                            <m:t>=</m:t>
                          </m:r>
                          <m:r>
                            <a:rPr lang="ar-AE" sz="1200">
                              <a:solidFill>
                                <a:schemeClr val="bg1"/>
                              </a:solidFill>
                              <a:latin typeface="Cambria Math" panose="02040503050406030204" pitchFamily="18" charset="0"/>
                            </a:rPr>
                            <m:t>1</m:t>
                          </m:r>
                        </m:sub>
                        <m:sup>
                          <m:r>
                            <a:rPr lang="ar-AE" sz="1200">
                              <a:solidFill>
                                <a:schemeClr val="bg1"/>
                              </a:solidFill>
                              <a:latin typeface="Cambria Math" panose="02040503050406030204" pitchFamily="18" charset="0"/>
                            </a:rPr>
                            <m:t>𝑑</m:t>
                          </m:r>
                        </m:sup>
                        <m:e>
                          <m:r>
                            <a:rPr lang="ar-AE" sz="1200">
                              <a:solidFill>
                                <a:schemeClr val="bg1"/>
                              </a:solidFill>
                              <a:latin typeface="Cambria Math" panose="02040503050406030204" pitchFamily="18" charset="0"/>
                            </a:rPr>
                            <m:t>(</m:t>
                          </m:r>
                          <m:sSub>
                            <m:sSubPr>
                              <m:ctrlPr>
                                <a:rPr lang="ar-AE" sz="1200" i="1">
                                  <a:solidFill>
                                    <a:schemeClr val="bg1"/>
                                  </a:solidFill>
                                  <a:latin typeface="Cambria Math" panose="02040503050406030204" pitchFamily="18" charset="0"/>
                                </a:rPr>
                              </m:ctrlPr>
                            </m:sSubPr>
                            <m:e>
                              <m:r>
                                <a:rPr lang="ar-AE" sz="1200">
                                  <a:solidFill>
                                    <a:schemeClr val="bg1"/>
                                  </a:solidFill>
                                  <a:latin typeface="Cambria Math" panose="02040503050406030204" pitchFamily="18" charset="0"/>
                                </a:rPr>
                                <m:t>𝑋</m:t>
                              </m:r>
                            </m:e>
                            <m:sub>
                              <m:r>
                                <a:rPr lang="ar-AE" sz="1200">
                                  <a:solidFill>
                                    <a:schemeClr val="bg1"/>
                                  </a:solidFill>
                                  <a:latin typeface="Cambria Math" panose="02040503050406030204" pitchFamily="18" charset="0"/>
                                </a:rPr>
                                <m:t>𝑡</m:t>
                              </m:r>
                              <m:r>
                                <a:rPr lang="ar-AE" sz="1200">
                                  <a:solidFill>
                                    <a:schemeClr val="bg1"/>
                                  </a:solidFill>
                                  <a:latin typeface="Cambria Math" panose="02040503050406030204" pitchFamily="18" charset="0"/>
                                </a:rPr>
                                <m:t>,</m:t>
                              </m:r>
                              <m:r>
                                <a:rPr lang="ar-AE" sz="1200">
                                  <a:solidFill>
                                    <a:schemeClr val="bg1"/>
                                  </a:solidFill>
                                  <a:latin typeface="Cambria Math" panose="02040503050406030204" pitchFamily="18" charset="0"/>
                                </a:rPr>
                                <m:t>𝑗</m:t>
                              </m:r>
                            </m:sub>
                          </m:sSub>
                          <m:r>
                            <a:rPr lang="ar-AE" sz="1200">
                              <a:solidFill>
                                <a:schemeClr val="bg1"/>
                              </a:solidFill>
                              <a:latin typeface="Cambria Math" panose="02040503050406030204" pitchFamily="18" charset="0"/>
                            </a:rPr>
                            <m:t> − </m:t>
                          </m:r>
                          <m:acc>
                            <m:accPr>
                              <m:chr m:val="̂"/>
                              <m:ctrlPr>
                                <a:rPr lang="ar-AE" sz="1200" i="1">
                                  <a:solidFill>
                                    <a:schemeClr val="bg1"/>
                                  </a:solidFill>
                                  <a:latin typeface="Cambria Math" panose="02040503050406030204" pitchFamily="18" charset="0"/>
                                </a:rPr>
                              </m:ctrlPr>
                            </m:accPr>
                            <m:e>
                              <m:sSub>
                                <m:sSubPr>
                                  <m:ctrlPr>
                                    <a:rPr lang="ar-AE" sz="1200" i="1">
                                      <a:solidFill>
                                        <a:schemeClr val="bg1"/>
                                      </a:solidFill>
                                      <a:latin typeface="Cambria Math" panose="02040503050406030204" pitchFamily="18" charset="0"/>
                                    </a:rPr>
                                  </m:ctrlPr>
                                </m:sSubPr>
                                <m:e>
                                  <m:r>
                                    <a:rPr lang="ar-AE" sz="1200">
                                      <a:solidFill>
                                        <a:schemeClr val="bg1"/>
                                      </a:solidFill>
                                      <a:latin typeface="Cambria Math" panose="02040503050406030204" pitchFamily="18" charset="0"/>
                                    </a:rPr>
                                    <m:t>𝑋</m:t>
                                  </m:r>
                                </m:e>
                                <m:sub>
                                  <m:r>
                                    <a:rPr lang="ar-AE" sz="1200">
                                      <a:solidFill>
                                        <a:schemeClr val="bg1"/>
                                      </a:solidFill>
                                      <a:latin typeface="Cambria Math" panose="02040503050406030204" pitchFamily="18" charset="0"/>
                                    </a:rPr>
                                    <m:t>𝑡</m:t>
                                  </m:r>
                                  <m:r>
                                    <a:rPr lang="ar-AE" sz="1200">
                                      <a:solidFill>
                                        <a:schemeClr val="bg1"/>
                                      </a:solidFill>
                                      <a:latin typeface="Cambria Math" panose="02040503050406030204" pitchFamily="18" charset="0"/>
                                    </a:rPr>
                                    <m:t>,</m:t>
                                  </m:r>
                                  <m:r>
                                    <a:rPr lang="ar-AE" sz="1200">
                                      <a:solidFill>
                                        <a:schemeClr val="bg1"/>
                                      </a:solidFill>
                                      <a:latin typeface="Cambria Math" panose="02040503050406030204" pitchFamily="18" charset="0"/>
                                    </a:rPr>
                                    <m:t>𝑗</m:t>
                                  </m:r>
                                </m:sub>
                              </m:sSub>
                            </m:e>
                          </m:acc>
                          <m:sSup>
                            <m:sSupPr>
                              <m:ctrlPr>
                                <a:rPr lang="ar-AE" sz="1200" i="1">
                                  <a:solidFill>
                                    <a:schemeClr val="bg1"/>
                                  </a:solidFill>
                                  <a:latin typeface="Cambria Math" panose="02040503050406030204" pitchFamily="18" charset="0"/>
                                </a:rPr>
                              </m:ctrlPr>
                            </m:sSupPr>
                            <m:e>
                              <m:r>
                                <a:rPr lang="ar-AE" sz="1200">
                                  <a:solidFill>
                                    <a:schemeClr val="bg1"/>
                                  </a:solidFill>
                                  <a:latin typeface="Cambria Math" panose="02040503050406030204" pitchFamily="18" charset="0"/>
                                </a:rPr>
                                <m:t>)</m:t>
                              </m:r>
                            </m:e>
                            <m:sup>
                              <m:r>
                                <a:rPr lang="ar-AE" sz="1200">
                                  <a:solidFill>
                                    <a:schemeClr val="bg1"/>
                                  </a:solidFill>
                                  <a:latin typeface="Cambria Math" panose="02040503050406030204" pitchFamily="18" charset="0"/>
                                </a:rPr>
                                <m:t>2</m:t>
                              </m:r>
                            </m:sup>
                          </m:sSup>
                        </m:e>
                      </m:nary>
                    </m:oMath>
                  </m:oMathPara>
                </a14:m>
                <a:endParaRPr lang="ar-AE" sz="1200" dirty="0">
                  <a:solidFill>
                    <a:schemeClr val="bg1"/>
                  </a:solidFill>
                </a:endParaRPr>
              </a:p>
            </p:txBody>
          </p:sp>
        </mc:Choice>
        <mc:Fallback>
          <p:sp>
            <p:nvSpPr>
              <p:cNvPr id="35" name="EDITABLE OfficeMath | MSE over d dimensions"/>
              <p:cNvSpPr txBox="1">
                <a:spLocks noRot="1" noChangeAspect="1" noMove="1" noResize="1" noEditPoints="1" noAdjustHandles="1" noChangeArrowheads="1" noChangeShapeType="1" noTextEdit="1"/>
              </p:cNvSpPr>
              <p:nvPr/>
            </p:nvSpPr>
            <p:spPr>
              <a:xfrm>
                <a:off x="11891962" y="6803136"/>
                <a:ext cx="4333875" cy="543931"/>
              </a:xfrm>
              <a:prstGeom prst="rect">
                <a:avLst/>
              </a:prstGeom>
              <a:blipFill>
                <a:blip r:embed="rId3"/>
                <a:stretch>
                  <a:fillRect/>
                </a:stretch>
              </a:blipFill>
              <a:ln>
                <a:noFill/>
              </a:ln>
            </p:spPr>
            <p:txBody>
              <a:bodyPr/>
              <a:lstStyle/>
              <a:p>
                <a:r>
                  <a:rPr lang="en-GB">
                    <a:noFill/>
                  </a:rPr>
                  <a:t> </a:t>
                </a:r>
              </a:p>
            </p:txBody>
          </p:sp>
        </mc:Fallback>
      </mc:AlternateContent>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2072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58748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p:sp>
        <p:nvSpPr>
          <p:cNvPr id="9" name="TextBox 9"/>
          <p:cNvSpPr txBox="1"/>
          <p:nvPr/>
        </p:nvSpPr>
        <p:spPr>
          <a:xfrm>
            <a:off x="1220724" y="3845052"/>
            <a:ext cx="7438644" cy="1971932"/>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587484" y="3845052"/>
            <a:ext cx="7438644" cy="4133088"/>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72030" y="3634709"/>
            <a:ext cx="7438644" cy="1487186"/>
          </a:xfrm>
          <a:prstGeom prst="rect">
            <a:avLst/>
          </a:prstGeom>
        </p:spPr>
        <p:txBody>
          <a:bodyPr lIns="0" tIns="0" rIns="0" bIns="0" rtlCol="0" anchor="t">
            <a:spAutoFit/>
          </a:bodyPr>
          <a:lstStyle/>
          <a:p>
            <a:pPr algn="l">
              <a:lnSpc>
                <a:spcPts val="2160"/>
              </a:lnSpc>
            </a:pPr>
            <a:r>
              <a:rPr lang="en-US" sz="1800" dirty="0">
                <a:solidFill>
                  <a:srgbClr val="12233B"/>
                </a:solidFill>
                <a:latin typeface="Aptos"/>
                <a:ea typeface="Aptos"/>
                <a:cs typeface="Aptos"/>
                <a:sym typeface="Aptos"/>
              </a:rPr>
              <a:t>Positive-mean input validation and channelwise normalised mean-CUSUM </a:t>
            </a:r>
          </a:p>
          <a:p>
            <a:pPr algn="l">
              <a:lnSpc>
                <a:spcPts val="2160"/>
              </a:lnSpc>
            </a:pPr>
            <a:r>
              <a:rPr lang="en-US" sz="1800" dirty="0">
                <a:solidFill>
                  <a:srgbClr val="12233B"/>
                </a:solidFill>
                <a:latin typeface="Aptos"/>
                <a:ea typeface="Aptos"/>
                <a:cs typeface="Aptos"/>
                <a:sym typeface="Aptos"/>
              </a:rPr>
              <a:t>Maximum and average aggregation across channels </a:t>
            </a:r>
          </a:p>
          <a:p>
            <a:pPr algn="l">
              <a:lnSpc>
                <a:spcPts val="2160"/>
              </a:lnSpc>
            </a:pPr>
            <a:r>
              <a:rPr lang="en-US" sz="1800" dirty="0">
                <a:solidFill>
                  <a:srgbClr val="12233B"/>
                </a:solidFill>
                <a:latin typeface="Aptos"/>
                <a:ea typeface="Aptos"/>
                <a:cs typeface="Aptos"/>
                <a:sym typeface="Aptos"/>
              </a:rPr>
              <a:t>Raw and LOESS-style smoothed peak estimates (span=0.1) </a:t>
            </a:r>
          </a:p>
          <a:p>
            <a:pPr algn="l">
              <a:lnSpc>
                <a:spcPts val="2160"/>
              </a:lnSpc>
            </a:pPr>
            <a:r>
              <a:rPr lang="en-US" sz="1800" dirty="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88" y="7737307"/>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1272030" y="4866547"/>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mc:Choice xmlns:a14="http://schemas.microsoft.com/office/drawing/2010/main" Requires="a14">
          <p:sp>
            <p:nvSpPr>
              <p:cNvPr id="6070" name="EDITABLE MATH | Park 2023 Eq 2.2 normalized CUSUM | ROW 1"/>
              <p:cNvSpPr txBox="1"/>
              <p:nvPr/>
            </p:nvSpPr>
            <p:spPr>
              <a:xfrm>
                <a:off x="1529014" y="5280484"/>
                <a:ext cx="6886070" cy="310896"/>
              </a:xfrm>
              <a:prstGeom prst="rect">
                <a:avLst/>
              </a:prstGeom>
              <a:noFill/>
            </p:spPr>
            <p:txBody>
              <a:bodyPr wrap="none" lIns="45720" tIns="36576" rIns="45720" bIns="36576">
                <a:spAutoFit/>
              </a:bodyPr>
              <a:lstStyle/>
              <a:p>
                <a:pPr algn="ctr">
                  <a:spcAft>
                    <a:spcPts val="400"/>
                  </a:spcAft>
                </a:pPr>
                <a14:m>
                  <m:oMathPara xmlns:m="http://schemas.openxmlformats.org/officeDocument/2006/math">
                    <m:oMathParaPr>
                      <m:jc m:val="centerGroup"/>
                    </m:oMathParaPr>
                    <m:oMath xmlns:m="http://schemas.openxmlformats.org/officeDocument/2006/math">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r>
                        <a:rPr>
                          <a:latin typeface="Cambria Math" panose="02040503050406030204" pitchFamily="18" charset="0"/>
                        </a:rPr>
                        <m:t> = </m:t>
                      </m:r>
                      <m:f>
                        <m:fPr>
                          <m:ctrlPr>
                            <a:rPr i="1">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𝐴</m:t>
                          </m:r>
                          <m:r>
                            <a:rPr>
                              <a:latin typeface="Cambria Math" panose="02040503050406030204" pitchFamily="18" charset="0"/>
                            </a:rPr>
                            <m:t>ₜ</m:t>
                          </m:r>
                          <m:r>
                            <a:rPr>
                              <a:latin typeface="Cambria Math" panose="02040503050406030204" pitchFamily="18" charset="0"/>
                            </a:rPr>
                            <m:t>⁽</m:t>
                          </m:r>
                          <m:r>
                            <a:rPr>
                              <a:latin typeface="Cambria Math" panose="02040503050406030204" pitchFamily="18" charset="0"/>
                            </a:rPr>
                            <m:t>ᵈ</m:t>
                          </m:r>
                          <m:r>
                            <a:rPr>
                              <a:latin typeface="Cambria Math" panose="02040503050406030204" pitchFamily="18" charset="0"/>
                            </a:rPr>
                            <m:t>⁾</m:t>
                          </m:r>
                          <m:r>
                            <a:rPr>
                              <a:latin typeface="Cambria Math" panose="02040503050406030204" pitchFamily="18" charset="0"/>
                            </a:rPr>
                            <m:t> − </m:t>
                          </m:r>
                          <m:r>
                            <a:rPr>
                              <a:latin typeface="Cambria Math" panose="02040503050406030204" pitchFamily="18" charset="0"/>
                            </a:rPr>
                            <m:t>𝐵</m:t>
                          </m:r>
                          <m:r>
                            <a:rPr>
                              <a:latin typeface="Cambria Math" panose="02040503050406030204" pitchFamily="18" charset="0"/>
                            </a:rPr>
                            <m:t>ₜ</m:t>
                          </m:r>
                          <m:r>
                            <a:rPr>
                              <a:latin typeface="Cambria Math" panose="02040503050406030204" pitchFamily="18" charset="0"/>
                            </a:rPr>
                            <m:t>⁽</m:t>
                          </m:r>
                          <m:r>
                            <a:rPr>
                              <a:latin typeface="Cambria Math" panose="02040503050406030204" pitchFamily="18" charset="0"/>
                            </a:rPr>
                            <m:t>ᵈ</m:t>
                          </m:r>
                          <m:r>
                            <a:rPr>
                              <a:latin typeface="Cambria Math" panose="02040503050406030204" pitchFamily="18" charset="0"/>
                            </a:rPr>
                            <m:t>⁾</m:t>
                          </m:r>
                          <m:r>
                            <a:rPr>
                              <a:latin typeface="Cambria Math" panose="02040503050406030204" pitchFamily="18" charset="0"/>
                            </a:rPr>
                            <m:t>|</m:t>
                          </m:r>
                        </m:num>
                        <m:den>
                          <m:r>
                            <a:rPr>
                              <a:latin typeface="Cambria Math" panose="02040503050406030204" pitchFamily="18" charset="0"/>
                            </a:rPr>
                            <m:t>𝑋</m:t>
                          </m:r>
                          <m:r>
                            <a:rPr>
                              <a:latin typeface="Cambria Math" panose="02040503050406030204" pitchFamily="18" charset="0"/>
                            </a:rPr>
                            <m:t>̄</m:t>
                          </m:r>
                          <m:r>
                            <a:rPr>
                              <a:latin typeface="Cambria Math" panose="02040503050406030204" pitchFamily="18" charset="0"/>
                            </a:rPr>
                            <m:t>⁽</m:t>
                          </m:r>
                          <m:r>
                            <a:rPr>
                              <a:latin typeface="Cambria Math" panose="02040503050406030204" pitchFamily="18" charset="0"/>
                            </a:rPr>
                            <m:t>ᵈ</m:t>
                          </m:r>
                          <m:r>
                            <a:rPr>
                              <a:latin typeface="Cambria Math" panose="02040503050406030204" pitchFamily="18" charset="0"/>
                            </a:rPr>
                            <m:t>⁾</m:t>
                          </m:r>
                        </m:den>
                      </m:f>
                    </m:oMath>
                  </m:oMathPara>
                </a14:m>
                <a:endParaRPr sz="1300" dirty="0"/>
              </a:p>
            </p:txBody>
          </p:sp>
        </mc:Choice>
        <mc:Fallback>
          <p:sp>
            <p:nvSpPr>
              <p:cNvPr id="6070" name="EDITABLE MATH | Park 2023 Eq 2.2 normalized CUSUM | ROW 1"/>
              <p:cNvSpPr txBox="1">
                <a:spLocks noRot="1" noChangeAspect="1" noMove="1" noResize="1" noEditPoints="1" noAdjustHandles="1" noChangeArrowheads="1" noChangeShapeType="1" noTextEdit="1"/>
              </p:cNvSpPr>
              <p:nvPr/>
            </p:nvSpPr>
            <p:spPr>
              <a:xfrm>
                <a:off x="1529014" y="5280484"/>
                <a:ext cx="6886070" cy="310896"/>
              </a:xfrm>
              <a:prstGeom prst="rect">
                <a:avLst/>
              </a:prstGeom>
              <a:blipFill>
                <a:blip r:embed="rId2"/>
                <a:stretch>
                  <a:fillRect b="-94118"/>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71" name="EDITABLE MATH | Park 2023 Eq 2.2 normalized CUSUM | ROW 2"/>
              <p:cNvSpPr txBox="1"/>
              <p:nvPr/>
            </p:nvSpPr>
            <p:spPr>
              <a:xfrm>
                <a:off x="1585846" y="5989210"/>
                <a:ext cx="6886070" cy="310896"/>
              </a:xfrm>
              <a:prstGeom prst="rect">
                <a:avLst/>
              </a:prstGeom>
              <a:noFill/>
            </p:spPr>
            <p:txBody>
              <a:bodyPr wrap="none" lIns="45720" tIns="36576" rIns="45720" bIns="36576">
                <a:spAutoFit/>
              </a:bodyPr>
              <a:lstStyle/>
              <a:p>
                <a:pPr algn="ctr">
                  <a:spcAft>
                    <a:spcPts val="400"/>
                  </a:spcAft>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𝐴</m:t>
                      </m:r>
                      <m:r>
                        <a:rPr>
                          <a:latin typeface="Cambria Math" panose="02040503050406030204" pitchFamily="18" charset="0"/>
                        </a:rPr>
                        <m:t>ₜ</m:t>
                      </m:r>
                      <m:r>
                        <a:rPr>
                          <a:latin typeface="Cambria Math" panose="02040503050406030204" pitchFamily="18" charset="0"/>
                        </a:rPr>
                        <m:t>⁽</m:t>
                      </m:r>
                      <m:r>
                        <a:rPr>
                          <a:latin typeface="Cambria Math" panose="02040503050406030204" pitchFamily="18" charset="0"/>
                        </a:rPr>
                        <m:t>ᵈ</m:t>
                      </m:r>
                      <m:r>
                        <a:rPr>
                          <a:latin typeface="Cambria Math" panose="02040503050406030204" pitchFamily="18" charset="0"/>
                        </a:rPr>
                        <m:t>⁾</m:t>
                      </m:r>
                      <m:r>
                        <a:rPr>
                          <a:latin typeface="Cambria Math" panose="02040503050406030204" pitchFamily="18" charset="0"/>
                        </a:rPr>
                        <m:t> = √((</m:t>
                      </m:r>
                      <m:r>
                        <a:rPr>
                          <a:latin typeface="Cambria Math" panose="02040503050406030204" pitchFamily="18" charset="0"/>
                        </a:rPr>
                        <m:t>𝑇</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𝑇𝑡</m:t>
                      </m:r>
                      <m:r>
                        <a:rPr>
                          <a:latin typeface="Cambria Math" panose="02040503050406030204" pitchFamily="18" charset="0"/>
                        </a:rPr>
                        <m:t>)) ∑ᵤ</m:t>
                      </m:r>
                      <m:r>
                        <a:rPr>
                          <a:latin typeface="Cambria Math" panose="02040503050406030204" pitchFamily="18" charset="0"/>
                        </a:rPr>
                        <m:t>₌</m:t>
                      </m:r>
                      <m:r>
                        <a:rPr>
                          <a:latin typeface="Cambria Math" panose="02040503050406030204" pitchFamily="18" charset="0"/>
                        </a:rPr>
                        <m:t>₀</m:t>
                      </m:r>
                      <m:r>
                        <a:rPr>
                          <a:latin typeface="Cambria Math" panose="02040503050406030204" pitchFamily="18" charset="0"/>
                        </a:rPr>
                        <m:t>ᵗ</m:t>
                      </m:r>
                      <m:r>
                        <a:rPr>
                          <a:latin typeface="Cambria Math" panose="02040503050406030204" pitchFamily="18" charset="0"/>
                        </a:rPr>
                        <m:t>⁻</m:t>
                      </m:r>
                      <m:r>
                        <a:rPr>
                          <a:latin typeface="Cambria Math" panose="02040503050406030204" pitchFamily="18" charset="0"/>
                        </a:rPr>
                        <m:t>¹</m:t>
                      </m:r>
                      <m:r>
                        <a:rPr>
                          <a:latin typeface="Cambria Math" panose="02040503050406030204" pitchFamily="18" charset="0"/>
                        </a:rPr>
                        <m:t> </m:t>
                      </m:r>
                      <m:sSubSup>
                        <m:sSubSupPr>
                          <m:ctrlPr>
                            <a:rPr i="1">
                              <a:latin typeface="Cambria Math" panose="02040503050406030204" pitchFamily="18" charset="0"/>
                            </a:rPr>
                          </m:ctrlPr>
                        </m:sSubSupPr>
                        <m:e>
                          <m:r>
                            <a:rPr>
                              <a:latin typeface="Cambria Math" panose="02040503050406030204" pitchFamily="18" charset="0"/>
                            </a:rPr>
                            <m:t>𝑋</m:t>
                          </m:r>
                        </m:e>
                        <m:sub>
                          <m:r>
                            <a:rPr>
                              <a:latin typeface="Cambria Math" panose="02040503050406030204" pitchFamily="18" charset="0"/>
                            </a:rPr>
                            <m:t>𝑢</m:t>
                          </m:r>
                          <m:r>
                            <a:rPr>
                              <a:latin typeface="Cambria Math" panose="02040503050406030204" pitchFamily="18" charset="0"/>
                            </a:rPr>
                            <m:t>,</m:t>
                          </m:r>
                          <m:r>
                            <a:rPr>
                              <a:latin typeface="Cambria Math" panose="02040503050406030204" pitchFamily="18" charset="0"/>
                            </a:rPr>
                            <m:t>𝑇</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oMath>
                  </m:oMathPara>
                </a14:m>
                <a:endParaRPr sz="1300" dirty="0"/>
              </a:p>
            </p:txBody>
          </p:sp>
        </mc:Choice>
        <mc:Fallback>
          <p:sp>
            <p:nvSpPr>
              <p:cNvPr id="6071" name="EDITABLE MATH | Park 2023 Eq 2.2 normalized CUSUM | ROW 2"/>
              <p:cNvSpPr txBox="1">
                <a:spLocks noRot="1" noChangeAspect="1" noMove="1" noResize="1" noEditPoints="1" noAdjustHandles="1" noChangeArrowheads="1" noChangeShapeType="1" noTextEdit="1"/>
              </p:cNvSpPr>
              <p:nvPr/>
            </p:nvSpPr>
            <p:spPr>
              <a:xfrm>
                <a:off x="1585846" y="5989210"/>
                <a:ext cx="6886070" cy="310896"/>
              </a:xfrm>
              <a:prstGeom prst="rect">
                <a:avLst/>
              </a:prstGeom>
              <a:blipFill>
                <a:blip r:embed="rId3"/>
                <a:stretch>
                  <a:fillRect b="-33333"/>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72" name="EDITABLE MATH | Park 2023 Eq 2.2 normalized CUSUM | ROW 3"/>
              <p:cNvSpPr txBox="1"/>
              <p:nvPr/>
            </p:nvSpPr>
            <p:spPr>
              <a:xfrm>
                <a:off x="1529014" y="6579053"/>
                <a:ext cx="6886070" cy="310896"/>
              </a:xfrm>
              <a:prstGeom prst="rect">
                <a:avLst/>
              </a:prstGeom>
              <a:noFill/>
            </p:spPr>
            <p:txBody>
              <a:bodyPr wrap="none" lIns="45720" tIns="36576" rIns="45720" bIns="36576">
                <a:spAutoFit/>
              </a:bodyPr>
              <a:lstStyle/>
              <a:p>
                <a:pPr algn="ctr">
                  <a:spcAft>
                    <a:spcPts val="400"/>
                  </a:spcAft>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𝐵</m:t>
                      </m:r>
                      <m:r>
                        <a:rPr>
                          <a:latin typeface="Cambria Math" panose="02040503050406030204" pitchFamily="18" charset="0"/>
                        </a:rPr>
                        <m:t>ₜ</m:t>
                      </m:r>
                      <m:r>
                        <a:rPr>
                          <a:latin typeface="Cambria Math" panose="02040503050406030204" pitchFamily="18" charset="0"/>
                        </a:rPr>
                        <m:t>⁽</m:t>
                      </m:r>
                      <m:r>
                        <a:rPr>
                          <a:latin typeface="Cambria Math" panose="02040503050406030204" pitchFamily="18" charset="0"/>
                        </a:rPr>
                        <m:t>ᵈ</m:t>
                      </m:r>
                      <m:r>
                        <a:rPr>
                          <a:latin typeface="Cambria Math" panose="02040503050406030204" pitchFamily="18" charset="0"/>
                        </a:rPr>
                        <m:t>⁾</m:t>
                      </m:r>
                      <m:r>
                        <a:rPr>
                          <a:latin typeface="Cambria Math" panose="02040503050406030204" pitchFamily="18" charset="0"/>
                        </a:rPr>
                        <m:t> = √(</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𝑇</m:t>
                      </m:r>
                      <m:r>
                        <a:rPr>
                          <a:latin typeface="Cambria Math" panose="02040503050406030204" pitchFamily="18" charset="0"/>
                        </a:rPr>
                        <m:t>(</m:t>
                      </m:r>
                      <m:r>
                        <a:rPr>
                          <a:latin typeface="Cambria Math" panose="02040503050406030204" pitchFamily="18" charset="0"/>
                        </a:rPr>
                        <m:t>𝑇</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∑ᵤ</m:t>
                      </m:r>
                      <m:r>
                        <a:rPr>
                          <a:latin typeface="Cambria Math" panose="02040503050406030204" pitchFamily="18" charset="0"/>
                        </a:rPr>
                        <m:t>₌</m:t>
                      </m:r>
                      <m:r>
                        <a:rPr>
                          <a:latin typeface="Cambria Math" panose="02040503050406030204" pitchFamily="18" charset="0"/>
                        </a:rPr>
                        <m:t>ₜᵀ</m:t>
                      </m:r>
                      <m:r>
                        <a:rPr>
                          <a:latin typeface="Cambria Math" panose="02040503050406030204" pitchFamily="18" charset="0"/>
                        </a:rPr>
                        <m:t>⁻</m:t>
                      </m:r>
                      <m:r>
                        <a:rPr>
                          <a:latin typeface="Cambria Math" panose="02040503050406030204" pitchFamily="18" charset="0"/>
                        </a:rPr>
                        <m:t>¹</m:t>
                      </m:r>
                      <m:r>
                        <a:rPr>
                          <a:latin typeface="Cambria Math" panose="02040503050406030204" pitchFamily="18" charset="0"/>
                        </a:rPr>
                        <m:t> </m:t>
                      </m:r>
                      <m:sSubSup>
                        <m:sSubSupPr>
                          <m:ctrlPr>
                            <a:rPr i="1">
                              <a:latin typeface="Cambria Math" panose="02040503050406030204" pitchFamily="18" charset="0"/>
                            </a:rPr>
                          </m:ctrlPr>
                        </m:sSubSupPr>
                        <m:e>
                          <m:r>
                            <a:rPr>
                              <a:latin typeface="Cambria Math" panose="02040503050406030204" pitchFamily="18" charset="0"/>
                            </a:rPr>
                            <m:t>𝑋</m:t>
                          </m:r>
                        </m:e>
                        <m:sub>
                          <m:r>
                            <a:rPr>
                              <a:latin typeface="Cambria Math" panose="02040503050406030204" pitchFamily="18" charset="0"/>
                            </a:rPr>
                            <m:t>𝑢</m:t>
                          </m:r>
                          <m:r>
                            <a:rPr>
                              <a:latin typeface="Cambria Math" panose="02040503050406030204" pitchFamily="18" charset="0"/>
                            </a:rPr>
                            <m:t>,</m:t>
                          </m:r>
                          <m:r>
                            <a:rPr>
                              <a:latin typeface="Cambria Math" panose="02040503050406030204" pitchFamily="18" charset="0"/>
                            </a:rPr>
                            <m:t>𝑇</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oMath>
                  </m:oMathPara>
                </a14:m>
                <a:endParaRPr sz="1300" dirty="0"/>
              </a:p>
            </p:txBody>
          </p:sp>
        </mc:Choice>
        <mc:Fallback>
          <p:sp>
            <p:nvSpPr>
              <p:cNvPr id="6072" name="EDITABLE MATH | Park 2023 Eq 2.2 normalized CUSUM | ROW 3"/>
              <p:cNvSpPr txBox="1">
                <a:spLocks noRot="1" noChangeAspect="1" noMove="1" noResize="1" noEditPoints="1" noAdjustHandles="1" noChangeArrowheads="1" noChangeShapeType="1" noTextEdit="1"/>
              </p:cNvSpPr>
              <p:nvPr/>
            </p:nvSpPr>
            <p:spPr>
              <a:xfrm>
                <a:off x="1529014" y="6579053"/>
                <a:ext cx="6886070" cy="310896"/>
              </a:xfrm>
              <a:prstGeom prst="rect">
                <a:avLst/>
              </a:prstGeom>
              <a:blipFill>
                <a:blip r:embed="rId4"/>
                <a:stretch>
                  <a:fillRect b="-33333"/>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73" name="EDITABLE MATH | Park 2023 Eq 2.2 normalized CUSUM | ROW 4"/>
              <p:cNvSpPr txBox="1"/>
              <p:nvPr/>
            </p:nvSpPr>
            <p:spPr>
              <a:xfrm>
                <a:off x="1548317" y="7168896"/>
                <a:ext cx="6886070" cy="310896"/>
              </a:xfrm>
              <a:prstGeom prst="rect">
                <a:avLst/>
              </a:prstGeom>
              <a:noFill/>
            </p:spPr>
            <p:txBody>
              <a:bodyPr wrap="none" lIns="45720" tIns="36576" rIns="45720" bIns="36576">
                <a:spAutoFit/>
              </a:bodyPr>
              <a:lstStyle/>
              <a:p>
                <a:pPr algn="ctr">
                  <a:spcAft>
                    <a:spcPts val="400"/>
                  </a:spcAft>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𝑋</m:t>
                      </m:r>
                      <m:r>
                        <a:rPr>
                          <a:latin typeface="Cambria Math" panose="02040503050406030204" pitchFamily="18" charset="0"/>
                        </a:rPr>
                        <m:t>̄</m:t>
                      </m:r>
                      <m:r>
                        <a:rPr>
                          <a:latin typeface="Cambria Math" panose="02040503050406030204" pitchFamily="18" charset="0"/>
                        </a:rPr>
                        <m:t>⁽</m:t>
                      </m:r>
                      <m:r>
                        <a:rPr>
                          <a:latin typeface="Cambria Math" panose="02040503050406030204" pitchFamily="18" charset="0"/>
                        </a:rPr>
                        <m:t>ᵈ</m:t>
                      </m:r>
                      <m:r>
                        <a:rPr>
                          <a:latin typeface="Cambria Math" panose="02040503050406030204" pitchFamily="18" charset="0"/>
                        </a:rPr>
                        <m:t>⁾</m:t>
                      </m:r>
                      <m:r>
                        <a:rPr>
                          <a:latin typeface="Cambria Math" panose="02040503050406030204" pitchFamily="18" charset="0"/>
                        </a:rPr>
                        <m:t> = (</m:t>
                      </m:r>
                      <m:r>
                        <a:rPr>
                          <a:latin typeface="Cambria Math" panose="02040503050406030204" pitchFamily="18" charset="0"/>
                        </a:rPr>
                        <m:t>1</m:t>
                      </m:r>
                      <m:r>
                        <a:rPr>
                          <a:latin typeface="Cambria Math" panose="02040503050406030204" pitchFamily="18" charset="0"/>
                        </a:rPr>
                        <m:t>/</m:t>
                      </m:r>
                      <m:r>
                        <a:rPr>
                          <a:latin typeface="Cambria Math" panose="02040503050406030204" pitchFamily="18" charset="0"/>
                        </a:rPr>
                        <m:t>𝑇</m:t>
                      </m:r>
                      <m:r>
                        <a:rPr>
                          <a:latin typeface="Cambria Math" panose="02040503050406030204" pitchFamily="18" charset="0"/>
                        </a:rPr>
                        <m:t>) ∑ᵤ</m:t>
                      </m:r>
                      <m:r>
                        <a:rPr>
                          <a:latin typeface="Cambria Math" panose="02040503050406030204" pitchFamily="18" charset="0"/>
                        </a:rPr>
                        <m:t>₌</m:t>
                      </m:r>
                      <m:r>
                        <a:rPr>
                          <a:latin typeface="Cambria Math" panose="02040503050406030204" pitchFamily="18" charset="0"/>
                        </a:rPr>
                        <m:t>₀</m:t>
                      </m:r>
                      <m:r>
                        <a:rPr>
                          <a:latin typeface="Cambria Math" panose="02040503050406030204" pitchFamily="18" charset="0"/>
                        </a:rPr>
                        <m:t>ᵀ</m:t>
                      </m:r>
                      <m:r>
                        <a:rPr>
                          <a:latin typeface="Cambria Math" panose="02040503050406030204" pitchFamily="18" charset="0"/>
                        </a:rPr>
                        <m:t>⁻</m:t>
                      </m:r>
                      <m:r>
                        <a:rPr>
                          <a:latin typeface="Cambria Math" panose="02040503050406030204" pitchFamily="18" charset="0"/>
                        </a:rPr>
                        <m:t>¹</m:t>
                      </m:r>
                      <m:r>
                        <a:rPr>
                          <a:latin typeface="Cambria Math" panose="02040503050406030204" pitchFamily="18" charset="0"/>
                        </a:rPr>
                        <m:t> </m:t>
                      </m:r>
                      <m:sSubSup>
                        <m:sSubSupPr>
                          <m:ctrlPr>
                            <a:rPr i="1">
                              <a:latin typeface="Cambria Math" panose="02040503050406030204" pitchFamily="18" charset="0"/>
                            </a:rPr>
                          </m:ctrlPr>
                        </m:sSubSupPr>
                        <m:e>
                          <m:r>
                            <a:rPr>
                              <a:latin typeface="Cambria Math" panose="02040503050406030204" pitchFamily="18" charset="0"/>
                            </a:rPr>
                            <m:t>𝑋</m:t>
                          </m:r>
                        </m:e>
                        <m:sub>
                          <m:r>
                            <a:rPr>
                              <a:latin typeface="Cambria Math" panose="02040503050406030204" pitchFamily="18" charset="0"/>
                            </a:rPr>
                            <m:t>𝑢</m:t>
                          </m:r>
                          <m:r>
                            <a:rPr>
                              <a:latin typeface="Cambria Math" panose="02040503050406030204" pitchFamily="18" charset="0"/>
                            </a:rPr>
                            <m:t>,</m:t>
                          </m:r>
                          <m:r>
                            <a:rPr>
                              <a:latin typeface="Cambria Math" panose="02040503050406030204" pitchFamily="18" charset="0"/>
                            </a:rPr>
                            <m:t>𝑇</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oMath>
                  </m:oMathPara>
                </a14:m>
                <a:endParaRPr sz="1300" dirty="0"/>
              </a:p>
            </p:txBody>
          </p:sp>
        </mc:Choice>
        <mc:Fallback>
          <p:sp>
            <p:nvSpPr>
              <p:cNvPr id="6073" name="EDITABLE MATH | Park 2023 Eq 2.2 normalized CUSUM | ROW 4"/>
              <p:cNvSpPr txBox="1">
                <a:spLocks noRot="1" noChangeAspect="1" noMove="1" noResize="1" noEditPoints="1" noAdjustHandles="1" noChangeArrowheads="1" noChangeShapeType="1" noTextEdit="1"/>
              </p:cNvSpPr>
              <p:nvPr/>
            </p:nvSpPr>
            <p:spPr>
              <a:xfrm>
                <a:off x="1548317" y="7168896"/>
                <a:ext cx="6886070" cy="310896"/>
              </a:xfrm>
              <a:prstGeom prst="rect">
                <a:avLst/>
              </a:prstGeom>
              <a:blipFill>
                <a:blip r:embed="rId5"/>
                <a:stretch>
                  <a:fillRect b="-31373"/>
                </a:stretch>
              </a:blipFill>
            </p:spPr>
            <p:txBody>
              <a:bodyPr/>
              <a:lstStyle/>
              <a:p>
                <a:r>
                  <a:rPr lang="en-GB">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mc:AlternateContent xmlns:mc="http://schemas.openxmlformats.org/markup-compatibility/2006">
        <mc:Choice xmlns:a14="http://schemas.microsoft.com/office/drawing/2010/main" Requires="a14">
          <p:sp>
            <p:nvSpPr>
              <p:cNvPr id="6080" name="EDITABLE MATH | Park 2023 pointwise aggregation | ROW 1"/>
              <p:cNvSpPr txBox="1"/>
              <p:nvPr/>
            </p:nvSpPr>
            <p:spPr>
              <a:xfrm>
                <a:off x="1279779" y="4425315"/>
                <a:ext cx="7384542" cy="1463040"/>
              </a:xfrm>
              <a:prstGeom prst="rect">
                <a:avLst/>
              </a:prstGeom>
              <a:noFill/>
            </p:spPr>
            <p:txBody>
              <a:bodyPr wrap="none" lIns="45720" tIns="36576" rIns="45720" bIns="36576">
                <a:spAutoFit/>
              </a:bodyPr>
              <a:lstStyle/>
              <a:p>
                <a:pPr algn="ctr">
                  <a:spcAft>
                    <a:spcPts val="800"/>
                  </a:spcAft>
                </a:pPr>
                <a14:m>
                  <m:oMathPara xmlns:m="http://schemas.openxmlformats.org/officeDocument/2006/math">
                    <m:oMathParaPr>
                      <m:jc m:val="centerGroup"/>
                    </m:oMathParaPr>
                    <m:oMath xmlns:m="http://schemas.openxmlformats.org/officeDocument/2006/math">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𝑚𝑎𝑥</m:t>
                          </m:r>
                        </m:sup>
                      </m:sSubSup>
                      <m:r>
                        <a:rPr>
                          <a:latin typeface="Cambria Math" panose="02040503050406030204" pitchFamily="18" charset="0"/>
                        </a:rPr>
                        <m:t> = </m:t>
                      </m:r>
                      <m:r>
                        <a:rPr>
                          <a:latin typeface="Cambria Math" panose="02040503050406030204" pitchFamily="18" charset="0"/>
                        </a:rPr>
                        <m:t>𝑚𝑎𝑥</m:t>
                      </m:r>
                      <m:r>
                        <a:rPr>
                          <a:latin typeface="Cambria Math" panose="02040503050406030204" pitchFamily="18" charset="0"/>
                        </a:rPr>
                        <m:t>₍</m:t>
                      </m:r>
                      <m:r>
                        <a:rPr>
                          <a:latin typeface="Cambria Math" panose="02040503050406030204" pitchFamily="18" charset="0"/>
                        </a:rPr>
                        <m:t>₁</m:t>
                      </m:r>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r>
                        <a:rPr>
                          <a:latin typeface="Cambria Math" panose="02040503050406030204" pitchFamily="18" charset="0"/>
                        </a:rPr>
                        <m:t>𝑝</m:t>
                      </m:r>
                      <m:r>
                        <a:rPr>
                          <a:latin typeface="Cambria Math" panose="02040503050406030204" pitchFamily="18" charset="0"/>
                        </a:rPr>
                        <m:t>₎</m:t>
                      </m:r>
                      <m:r>
                        <a:rPr>
                          <a:latin typeface="Cambria Math" panose="02040503050406030204" pitchFamily="18" charset="0"/>
                        </a:rPr>
                        <m:t> </m:t>
                      </m:r>
                      <m:sSubSup>
                        <m:sSubSupPr>
                          <m:ctrlPr>
                            <a:rPr i="1">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oMath>
                  </m:oMathPara>
                </a14:m>
                <a:endParaRPr sz="2400"/>
              </a:p>
            </p:txBody>
          </p:sp>
        </mc:Choice>
        <mc:Fallback>
          <p:sp>
            <p:nvSpPr>
              <p:cNvPr id="6080" name="EDITABLE MATH | Park 2023 pointwise aggregation | ROW 1"/>
              <p:cNvSpPr txBox="1">
                <a:spLocks noRot="1" noChangeAspect="1" noMove="1" noResize="1" noEditPoints="1" noAdjustHandles="1" noChangeArrowheads="1" noChangeShapeType="1" noTextEdit="1"/>
              </p:cNvSpPr>
              <p:nvPr/>
            </p:nvSpPr>
            <p:spPr>
              <a:xfrm>
                <a:off x="1279779" y="4425315"/>
                <a:ext cx="7384542" cy="1463040"/>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81" name="EDITABLE MATH | Park 2023 pointwise aggregation | ROW 2"/>
              <p:cNvSpPr txBox="1"/>
              <p:nvPr/>
            </p:nvSpPr>
            <p:spPr>
              <a:xfrm>
                <a:off x="1279779" y="5888355"/>
                <a:ext cx="7384542" cy="1463040"/>
              </a:xfrm>
              <a:prstGeom prst="rect">
                <a:avLst/>
              </a:prstGeom>
              <a:noFill/>
            </p:spPr>
            <p:txBody>
              <a:bodyPr wrap="none" lIns="45720" tIns="36576" rIns="45720" bIns="36576">
                <a:spAutoFit/>
              </a:bodyPr>
              <a:lstStyle/>
              <a:p>
                <a:pPr algn="ctr">
                  <a:spcAft>
                    <a:spcPts val="800"/>
                  </a:spcAft>
                </a:pPr>
                <a14:m>
                  <m:oMathPara xmlns:m="http://schemas.openxmlformats.org/officeDocument/2006/math">
                    <m:oMathParaPr>
                      <m:jc m:val="centerGroup"/>
                    </m:oMathParaPr>
                    <m:oMath xmlns:m="http://schemas.openxmlformats.org/officeDocument/2006/math">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𝑎𝑣𝑔</m:t>
                          </m:r>
                        </m:sup>
                      </m:sSubSup>
                      <m:r>
                        <a:rPr>
                          <a:latin typeface="Cambria Math" panose="02040503050406030204" pitchFamily="18" charset="0"/>
                        </a:rPr>
                        <m:t> = </m:t>
                      </m:r>
                      <m:f>
                        <m:fPr>
                          <m:ctrlPr>
                            <a:rPr i="1">
                              <a:latin typeface="Cambria Math" panose="02040503050406030204" pitchFamily="18" charset="0"/>
                            </a:rPr>
                          </m:ctrlPr>
                        </m:fPr>
                        <m:num>
                          <m:r>
                            <a:rPr>
                              <a:latin typeface="Cambria Math" panose="02040503050406030204" pitchFamily="18" charset="0"/>
                            </a:rPr>
                            <m:t>1</m:t>
                          </m:r>
                        </m:num>
                        <m:den>
                          <m:r>
                            <a:rPr>
                              <a:latin typeface="Cambria Math" panose="02040503050406030204" pitchFamily="18" charset="0"/>
                            </a:rPr>
                            <m:t>𝑝</m:t>
                          </m:r>
                        </m:den>
                      </m:f>
                      <m:r>
                        <a:rPr>
                          <a:latin typeface="Cambria Math" panose="02040503050406030204" pitchFamily="18" charset="0"/>
                        </a:rPr>
                        <m:t> ∑ᵈ</m:t>
                      </m:r>
                      <m:r>
                        <a:rPr>
                          <a:latin typeface="Cambria Math" panose="02040503050406030204" pitchFamily="18" charset="0"/>
                        </a:rPr>
                        <m:t>₌</m:t>
                      </m:r>
                      <m:r>
                        <a:rPr>
                          <a:latin typeface="Cambria Math" panose="02040503050406030204" pitchFamily="18" charset="0"/>
                        </a:rPr>
                        <m:t>₁</m:t>
                      </m:r>
                      <m:r>
                        <a:rPr>
                          <a:latin typeface="Cambria Math" panose="02040503050406030204" pitchFamily="18" charset="0"/>
                        </a:rPr>
                        <m:t>ᵖ </m:t>
                      </m:r>
                      <m:sSubSup>
                        <m:sSubSupPr>
                          <m:ctrlPr>
                            <a:rPr i="1">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oMath>
                  </m:oMathPara>
                </a14:m>
                <a:endParaRPr sz="2400"/>
              </a:p>
            </p:txBody>
          </p:sp>
        </mc:Choice>
        <mc:Fallback>
          <p:sp>
            <p:nvSpPr>
              <p:cNvPr id="6081" name="EDITABLE MATH | Park 2023 pointwise aggregation | ROW 2"/>
              <p:cNvSpPr txBox="1">
                <a:spLocks noRot="1" noChangeAspect="1" noMove="1" noResize="1" noEditPoints="1" noAdjustHandles="1" noChangeArrowheads="1" noChangeShapeType="1" noTextEdit="1"/>
              </p:cNvSpPr>
              <p:nvPr/>
            </p:nvSpPr>
            <p:spPr>
              <a:xfrm>
                <a:off x="1279779" y="5888355"/>
                <a:ext cx="7384542" cy="146304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2" name="EDITABLE MATH | Code-grounded LOESS and peak estimates | ROW 1"/>
              <p:cNvSpPr txBox="1"/>
              <p:nvPr/>
            </p:nvSpPr>
            <p:spPr>
              <a:xfrm>
                <a:off x="9646539" y="4425315"/>
                <a:ext cx="7384542" cy="731520"/>
              </a:xfrm>
              <a:prstGeom prst="rect">
                <a:avLst/>
              </a:prstGeom>
              <a:noFill/>
            </p:spPr>
            <p:txBody>
              <a:bodyPr wrap="none" lIns="45720" tIns="36576" rIns="45720" bIns="36576">
                <a:spAutoFit/>
              </a:bodyPr>
              <a:lstStyle/>
              <a:p>
                <a:pPr algn="ctr">
                  <a:spcAft>
                    <a:spcPts val="400"/>
                  </a:spcAft>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𝜈</m:t>
                      </m:r>
                      <m:r>
                        <a:rPr>
                          <a:latin typeface="Cambria Math" panose="02040503050406030204" pitchFamily="18" charset="0"/>
                        </a:rPr>
                        <m:t>̃</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m:t>
                      </m:r>
                      <m:r>
                        <a:rPr>
                          <a:latin typeface="Cambria Math" panose="02040503050406030204" pitchFamily="18" charset="0"/>
                        </a:rPr>
                        <m:t>.</m:t>
                      </m:r>
                      <m:r>
                        <a:rPr>
                          <a:latin typeface="Cambria Math" panose="02040503050406030204" pitchFamily="18" charset="0"/>
                        </a:rPr>
                        <m:t>₁</m:t>
                      </m:r>
                      <m:r>
                        <a:rPr>
                          <a:latin typeface="Cambria Math" panose="02040503050406030204" pitchFamily="18" charset="0"/>
                        </a:rPr>
                        <m:t>(</m:t>
                      </m:r>
                      <m:r>
                        <a:rPr>
                          <a:latin typeface="Cambria Math" panose="02040503050406030204" pitchFamily="18" charset="0"/>
                        </a:rPr>
                        <m:t>𝜈</m:t>
                      </m:r>
                      <m:r>
                        <a:rPr>
                          <a:latin typeface="Cambria Math" panose="02040503050406030204" pitchFamily="18" charset="0"/>
                        </a:rPr>
                        <m:t>ₜᵐᵃˣ)</m:t>
                      </m:r>
                    </m:oMath>
                  </m:oMathPara>
                </a14:m>
                <a:endParaRPr sz="1900"/>
              </a:p>
            </p:txBody>
          </p:sp>
        </mc:Choice>
        <mc:Fallback>
          <p:sp>
            <p:nvSpPr>
              <p:cNvPr id="12" name="EDITABLE MATH | Code-grounded LOESS and peak estimates | ROW 1"/>
              <p:cNvSpPr txBox="1">
                <a:spLocks noRot="1" noChangeAspect="1" noMove="1" noResize="1" noEditPoints="1" noAdjustHandles="1" noChangeArrowheads="1" noChangeShapeType="1" noTextEdit="1"/>
              </p:cNvSpPr>
              <p:nvPr/>
            </p:nvSpPr>
            <p:spPr>
              <a:xfrm>
                <a:off x="9646539" y="4425315"/>
                <a:ext cx="7384542" cy="731520"/>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3" name="EDITABLE MATH | Code-grounded LOESS and peak estimates | ROW 2"/>
              <p:cNvSpPr txBox="1"/>
              <p:nvPr/>
            </p:nvSpPr>
            <p:spPr>
              <a:xfrm>
                <a:off x="9646539" y="5156835"/>
                <a:ext cx="7384542" cy="731520"/>
              </a:xfrm>
              <a:prstGeom prst="rect">
                <a:avLst/>
              </a:prstGeom>
              <a:noFill/>
            </p:spPr>
            <p:txBody>
              <a:bodyPr wrap="none" lIns="45720" tIns="36576" rIns="45720" bIns="36576">
                <a:spAutoFit/>
              </a:bodyPr>
              <a:lstStyle/>
              <a:p>
                <a:pPr algn="ctr">
                  <a:spcAft>
                    <a:spcPts val="400"/>
                  </a:spcAft>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𝜈</m:t>
                      </m:r>
                      <m:r>
                        <a:rPr>
                          <a:latin typeface="Cambria Math" panose="02040503050406030204" pitchFamily="18" charset="0"/>
                        </a:rPr>
                        <m:t>̃</m:t>
                      </m:r>
                      <m:r>
                        <a:rPr>
                          <a:latin typeface="Cambria Math" panose="02040503050406030204" pitchFamily="18" charset="0"/>
                        </a:rPr>
                        <m:t>ₜᵃᵛᵍ = </m:t>
                      </m:r>
                      <m:r>
                        <a:rPr>
                          <a:latin typeface="Cambria Math" panose="02040503050406030204" pitchFamily="18" charset="0"/>
                        </a:rPr>
                        <m:t>𝐿𝑂𝐸𝑆𝑆</m:t>
                      </m:r>
                      <m:r>
                        <a:rPr>
                          <a:latin typeface="Cambria Math" panose="02040503050406030204" pitchFamily="18" charset="0"/>
                        </a:rPr>
                        <m:t>₀</m:t>
                      </m:r>
                      <m:r>
                        <a:rPr>
                          <a:latin typeface="Cambria Math" panose="02040503050406030204" pitchFamily="18" charset="0"/>
                        </a:rPr>
                        <m:t>.</m:t>
                      </m:r>
                      <m:r>
                        <a:rPr>
                          <a:latin typeface="Cambria Math" panose="02040503050406030204" pitchFamily="18" charset="0"/>
                        </a:rPr>
                        <m:t>₁</m:t>
                      </m:r>
                      <m:r>
                        <a:rPr>
                          <a:latin typeface="Cambria Math" panose="02040503050406030204" pitchFamily="18" charset="0"/>
                        </a:rPr>
                        <m:t>(</m:t>
                      </m:r>
                      <m:r>
                        <a:rPr>
                          <a:latin typeface="Cambria Math" panose="02040503050406030204" pitchFamily="18" charset="0"/>
                        </a:rPr>
                        <m:t>𝜈</m:t>
                      </m:r>
                      <m:r>
                        <a:rPr>
                          <a:latin typeface="Cambria Math" panose="02040503050406030204" pitchFamily="18" charset="0"/>
                        </a:rPr>
                        <m:t>ₜᵃᵛᵍ)</m:t>
                      </m:r>
                    </m:oMath>
                  </m:oMathPara>
                </a14:m>
                <a:endParaRPr sz="1900"/>
              </a:p>
            </p:txBody>
          </p:sp>
        </mc:Choice>
        <mc:Fallback>
          <p:sp>
            <p:nvSpPr>
              <p:cNvPr id="13" name="EDITABLE MATH | Code-grounded LOESS and peak estimates | ROW 2"/>
              <p:cNvSpPr txBox="1">
                <a:spLocks noRot="1" noChangeAspect="1" noMove="1" noResize="1" noEditPoints="1" noAdjustHandles="1" noChangeArrowheads="1" noChangeShapeType="1" noTextEdit="1"/>
              </p:cNvSpPr>
              <p:nvPr/>
            </p:nvSpPr>
            <p:spPr>
              <a:xfrm>
                <a:off x="9646539" y="5156835"/>
                <a:ext cx="7384542" cy="731520"/>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82" name="EDITABLE MATH | Code-grounded LOESS and peak estimates | ROW 3"/>
              <p:cNvSpPr txBox="1"/>
              <p:nvPr/>
            </p:nvSpPr>
            <p:spPr>
              <a:xfrm>
                <a:off x="9646539" y="5888355"/>
                <a:ext cx="7384542" cy="731520"/>
              </a:xfrm>
              <a:prstGeom prst="rect">
                <a:avLst/>
              </a:prstGeom>
              <a:noFill/>
            </p:spPr>
            <p:txBody>
              <a:bodyPr wrap="none" lIns="45720" tIns="36576" rIns="45720" bIns="36576">
                <a:spAutoFit/>
              </a:bodyPr>
              <a:lstStyle/>
              <a:p>
                <a:pPr algn="ctr">
                  <a:spcAft>
                    <a:spcPts val="400"/>
                  </a:spcAft>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𝑏</m:t>
                      </m:r>
                      <m:r>
                        <a:rPr>
                          <a:latin typeface="Cambria Math" panose="02040503050406030204" pitchFamily="18" charset="0"/>
                        </a:rPr>
                        <m:t>ₘₐₓ = </m:t>
                      </m:r>
                      <m:r>
                        <a:rPr>
                          <a:latin typeface="Cambria Math" panose="02040503050406030204" pitchFamily="18" charset="0"/>
                        </a:rPr>
                        <m:t>𝑎𝑟𝑔𝑚𝑎𝑥</m:t>
                      </m:r>
                      <m:r>
                        <a:rPr>
                          <a:latin typeface="Cambria Math" panose="02040503050406030204" pitchFamily="18" charset="0"/>
                        </a:rPr>
                        <m:t>ₜ </m:t>
                      </m:r>
                      <m:r>
                        <a:rPr>
                          <a:latin typeface="Cambria Math" panose="02040503050406030204" pitchFamily="18" charset="0"/>
                        </a:rPr>
                        <m:t>𝜈</m:t>
                      </m:r>
                      <m:r>
                        <a:rPr>
                          <a:latin typeface="Cambria Math" panose="02040503050406030204" pitchFamily="18" charset="0"/>
                        </a:rPr>
                        <m:t>̃</m:t>
                      </m:r>
                      <m:r>
                        <a:rPr>
                          <a:latin typeface="Cambria Math" panose="02040503050406030204" pitchFamily="18" charset="0"/>
                        </a:rPr>
                        <m:t>ₜᵐᵃˣ</m:t>
                      </m:r>
                    </m:oMath>
                  </m:oMathPara>
                </a14:m>
                <a:endParaRPr sz="1900"/>
              </a:p>
            </p:txBody>
          </p:sp>
        </mc:Choice>
        <mc:Fallback>
          <p:sp>
            <p:nvSpPr>
              <p:cNvPr id="6082" name="EDITABLE MATH | Code-grounded LOESS and peak estimates | ROW 3"/>
              <p:cNvSpPr txBox="1">
                <a:spLocks noRot="1" noChangeAspect="1" noMove="1" noResize="1" noEditPoints="1" noAdjustHandles="1" noChangeArrowheads="1" noChangeShapeType="1" noTextEdit="1"/>
              </p:cNvSpPr>
              <p:nvPr/>
            </p:nvSpPr>
            <p:spPr>
              <a:xfrm>
                <a:off x="9646539" y="5888355"/>
                <a:ext cx="7384542" cy="7315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83" name="EDITABLE MATH | Code-grounded LOESS and peak estimates | ROW 4"/>
              <p:cNvSpPr txBox="1"/>
              <p:nvPr/>
            </p:nvSpPr>
            <p:spPr>
              <a:xfrm>
                <a:off x="9646539" y="6619875"/>
                <a:ext cx="7384542" cy="731520"/>
              </a:xfrm>
              <a:prstGeom prst="rect">
                <a:avLst/>
              </a:prstGeom>
              <a:noFill/>
            </p:spPr>
            <p:txBody>
              <a:bodyPr wrap="none" lIns="45720" tIns="36576" rIns="45720" bIns="36576">
                <a:spAutoFit/>
              </a:bodyPr>
              <a:lstStyle/>
              <a:p>
                <a:pPr algn="ctr">
                  <a:spcAft>
                    <a:spcPts val="400"/>
                  </a:spcAft>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𝑏</m:t>
                      </m:r>
                      <m:r>
                        <a:rPr>
                          <a:latin typeface="Cambria Math" panose="02040503050406030204" pitchFamily="18" charset="0"/>
                        </a:rPr>
                        <m:t>ₐᵥ</m:t>
                      </m:r>
                      <m:r>
                        <a:rPr>
                          <a:latin typeface="Cambria Math" panose="02040503050406030204" pitchFamily="18" charset="0"/>
                        </a:rPr>
                        <m:t>𝑔</m:t>
                      </m:r>
                      <m:r>
                        <a:rPr>
                          <a:latin typeface="Cambria Math" panose="02040503050406030204" pitchFamily="18" charset="0"/>
                        </a:rPr>
                        <m:t> = </m:t>
                      </m:r>
                      <m:r>
                        <a:rPr>
                          <a:latin typeface="Cambria Math" panose="02040503050406030204" pitchFamily="18" charset="0"/>
                        </a:rPr>
                        <m:t>𝑎𝑟𝑔𝑚𝑎𝑥</m:t>
                      </m:r>
                      <m:r>
                        <a:rPr>
                          <a:latin typeface="Cambria Math" panose="02040503050406030204" pitchFamily="18" charset="0"/>
                        </a:rPr>
                        <m:t>ₜ </m:t>
                      </m:r>
                      <m:r>
                        <a:rPr>
                          <a:latin typeface="Cambria Math" panose="02040503050406030204" pitchFamily="18" charset="0"/>
                        </a:rPr>
                        <m:t>𝜈</m:t>
                      </m:r>
                      <m:r>
                        <a:rPr>
                          <a:latin typeface="Cambria Math" panose="02040503050406030204" pitchFamily="18" charset="0"/>
                        </a:rPr>
                        <m:t>̃</m:t>
                      </m:r>
                      <m:r>
                        <a:rPr>
                          <a:latin typeface="Cambria Math" panose="02040503050406030204" pitchFamily="18" charset="0"/>
                        </a:rPr>
                        <m:t>ₜᵃᵛᵍ</m:t>
                      </m:r>
                    </m:oMath>
                  </m:oMathPara>
                </a14:m>
                <a:endParaRPr sz="1900"/>
              </a:p>
            </p:txBody>
          </p:sp>
        </mc:Choice>
        <mc:Fallback>
          <p:sp>
            <p:nvSpPr>
              <p:cNvPr id="6083" name="EDITABLE MATH | Code-grounded LOESS and peak estimates | ROW 4"/>
              <p:cNvSpPr txBox="1">
                <a:spLocks noRot="1" noChangeAspect="1" noMove="1" noResize="1" noEditPoints="1" noAdjustHandles="1" noChangeArrowheads="1" noChangeShapeType="1" noTextEdit="1"/>
              </p:cNvSpPr>
              <p:nvPr/>
            </p:nvSpPr>
            <p:spPr>
              <a:xfrm>
                <a:off x="9646539" y="6619875"/>
                <a:ext cx="7384542" cy="731520"/>
              </a:xfrm>
              <a:prstGeom prst="rect">
                <a:avLst/>
              </a:prstGeom>
              <a:blipFill>
                <a:blip r:embed="rId7"/>
                <a:stretch>
                  <a:fillRect/>
                </a:stretch>
              </a:blipFill>
            </p:spPr>
            <p:txBody>
              <a:bodyPr/>
              <a:lstStyle/>
              <a:p>
                <a:r>
                  <a:rPr lang="en-GB">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mc:AlternateContent xmlns:mc="http://schemas.openxmlformats.org/markup-compatibility/2006">
        <mc:Choice xmlns:a14="http://schemas.microsoft.com/office/drawing/2010/main" Requires="a14">
          <p:sp>
            <p:nvSpPr>
              <p:cNvPr id="10" name="EDITABLE OfficeMath | Kronecker delta"/>
              <p:cNvSpPr txBox="1"/>
              <p:nvPr/>
            </p:nvSpPr>
            <p:spPr>
              <a:xfrm>
                <a:off x="1234440" y="3566160"/>
                <a:ext cx="7263184" cy="822960"/>
              </a:xfrm>
              <a:prstGeom prst="rect">
                <a:avLst/>
              </a:prstGeom>
              <a:no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r>
                        <a:rPr>
                          <a:latin typeface="Cambria Math" panose="02040503050406030204" pitchFamily="18" charset="0"/>
                        </a:rPr>
                        <m:t> = </m:t>
                      </m:r>
                      <m:r>
                        <a:rPr>
                          <a:latin typeface="Cambria Math" panose="02040503050406030204" pitchFamily="18" charset="0"/>
                        </a:rPr>
                        <m:t>1</m:t>
                      </m:r>
                      <m:r>
                        <a:rPr>
                          <a:latin typeface="Cambria Math" panose="02040503050406030204" pitchFamily="18" charset="0"/>
                        </a:rPr>
                        <m:t> (</m:t>
                      </m:r>
                      <m:r>
                        <a:rPr>
                          <a:latin typeface="Cambria Math" panose="02040503050406030204" pitchFamily="18" charset="0"/>
                        </a:rPr>
                        <m:t>𝑖</m:t>
                      </m:r>
                      <m:r>
                        <a:rPr>
                          <a:latin typeface="Cambria Math" panose="02040503050406030204" pitchFamily="18" charset="0"/>
                        </a:rPr>
                        <m:t> = </m:t>
                      </m:r>
                      <m:r>
                        <a:rPr>
                          <a:latin typeface="Cambria Math" panose="02040503050406030204" pitchFamily="18" charset="0"/>
                        </a:rPr>
                        <m:t>𝑗</m:t>
                      </m:r>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r>
                        <a:rPr>
                          <a:latin typeface="Cambria Math" panose="02040503050406030204" pitchFamily="18" charset="0"/>
                        </a:rPr>
                        <m:t> = </m:t>
                      </m:r>
                      <m:r>
                        <a:rPr>
                          <a:latin typeface="Cambria Math" panose="02040503050406030204" pitchFamily="18" charset="0"/>
                        </a:rPr>
                        <m:t>0</m:t>
                      </m:r>
                      <m:r>
                        <a:rPr>
                          <a:latin typeface="Cambria Math" panose="02040503050406030204" pitchFamily="18" charset="0"/>
                        </a:rPr>
                        <m:t> (</m:t>
                      </m:r>
                      <m:r>
                        <a:rPr>
                          <a:latin typeface="Cambria Math" panose="02040503050406030204" pitchFamily="18" charset="0"/>
                        </a:rPr>
                        <m:t>𝑖</m:t>
                      </m:r>
                      <m:r>
                        <a:rPr>
                          <a:latin typeface="Cambria Math" panose="02040503050406030204" pitchFamily="18" charset="0"/>
                        </a:rPr>
                        <m:t> ≠ </m:t>
                      </m:r>
                      <m:r>
                        <a:rPr>
                          <a:latin typeface="Cambria Math" panose="02040503050406030204" pitchFamily="18" charset="0"/>
                        </a:rPr>
                        <m:t>𝑗</m:t>
                      </m:r>
                      <m:r>
                        <a:rPr>
                          <a:latin typeface="Cambria Math" panose="02040503050406030204" pitchFamily="18" charset="0"/>
                        </a:rPr>
                        <m:t>)</m:t>
                      </m:r>
                    </m:oMath>
                  </m:oMathPara>
                </a14:m>
                <a:endParaRPr lang="en-GB" sz="2400">
                  <a:solidFill>
                    <a:srgbClr val="14233B"/>
                  </a:solidFill>
                </a:endParaRPr>
              </a:p>
            </p:txBody>
          </p:sp>
        </mc:Choice>
        <mc:Fallback>
          <p:sp>
            <p:nvSpPr>
              <p:cNvPr id="10" name="EDITABLE OfficeMath | Kronecker delta"/>
              <p:cNvSpPr txBox="1">
                <a:spLocks noRot="1" noChangeAspect="1" noMove="1" noResize="1" noEditPoints="1" noAdjustHandles="1" noChangeArrowheads="1" noChangeShapeType="1" noTextEdit="1"/>
              </p:cNvSpPr>
              <p:nvPr/>
            </p:nvSpPr>
            <p:spPr>
              <a:xfrm>
                <a:off x="1234440" y="3566160"/>
                <a:ext cx="7263184"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mc:Choice xmlns:a14="http://schemas.microsoft.com/office/drawing/2010/main" Requires="a14">
          <p:sp>
            <p:nvSpPr>
              <p:cNvPr id="10" name="EDITABLE OfficeMath | Covariance and Kronecker identity"/>
              <p:cNvSpPr txBox="1"/>
              <p:nvPr/>
            </p:nvSpPr>
            <p:spPr>
              <a:xfrm>
                <a:off x="1234440" y="3429000"/>
                <a:ext cx="7152456" cy="960120"/>
              </a:xfrm>
              <a:prstGeom prst="rect">
                <a:avLst/>
              </a:prstGeom>
              <a:no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𝐶𝑜𝑣</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p:sp>
            <p:nvSpPr>
              <p:cNvPr id="10" name="EDITABLE OfficeMath | Covariance and Kronecker identity"/>
              <p:cNvSpPr txBox="1">
                <a:spLocks noRot="1" noChangeAspect="1" noMove="1" noResize="1" noEditPoints="1" noAdjustHandles="1" noChangeArrowheads="1" noChangeShapeType="1" noTextEdit="1"/>
              </p:cNvSpPr>
              <p:nvPr/>
            </p:nvSpPr>
            <p:spPr>
              <a:xfrm>
                <a:off x="1234440" y="3429000"/>
                <a:ext cx="7152456" cy="960120"/>
              </a:xfrm>
              <a:prstGeom prst="rect">
                <a:avLst/>
              </a:prstGeom>
              <a:blipFill>
                <a:blip r:embed="rId3"/>
                <a:stretch>
                  <a:fillRect t="-637"/>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mc:Choice xmlns:a14="http://schemas.microsoft.com/office/drawing/2010/main" Requires="a14">
          <p:sp>
            <p:nvSpPr>
              <p:cNvPr id="15" name="EDITABLE OfficeMath | Partial derivative identity"/>
              <p:cNvSpPr txBox="1"/>
              <p:nvPr/>
            </p:nvSpPr>
            <p:spPr>
              <a:xfrm>
                <a:off x="1234440" y="3429000"/>
                <a:ext cx="1778251" cy="960120"/>
              </a:xfrm>
              <a:prstGeom prst="rect">
                <a:avLst/>
              </a:prstGeom>
              <a:no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f>
                        <m:fPr>
                          <m:ctrlPr>
                            <a:rPr>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p:sp>
            <p:nvSpPr>
              <p:cNvPr id="15" name="EDITABLE OfficeMath | Partial derivative identity"/>
              <p:cNvSpPr txBox="1">
                <a:spLocks noRot="1" noChangeAspect="1" noMove="1" noResize="1" noEditPoints="1" noAdjustHandles="1" noChangeArrowheads="1" noChangeShapeType="1" noTextEdit="1"/>
              </p:cNvSpPr>
              <p:nvPr/>
            </p:nvSpPr>
            <p:spPr>
              <a:xfrm>
                <a:off x="1234440" y="3429000"/>
                <a:ext cx="1778251"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6" name="EDITABLE OfficeMath | Variance identity"/>
              <p:cNvSpPr txBox="1"/>
              <p:nvPr/>
            </p:nvSpPr>
            <p:spPr>
              <a:xfrm>
                <a:off x="9326880" y="3429000"/>
                <a:ext cx="7209787" cy="960120"/>
              </a:xfrm>
              <a:prstGeom prst="rect">
                <a:avLst/>
              </a:prstGeom>
              <a:no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𝑉𝑎𝑟</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p:sp>
            <p:nvSpPr>
              <p:cNvPr id="16" name="EDITABLE OfficeMath | Variance identity"/>
              <p:cNvSpPr txBox="1">
                <a:spLocks noRot="1" noChangeAspect="1" noMove="1" noResize="1" noEditPoints="1" noAdjustHandles="1" noChangeArrowheads="1" noChangeShapeType="1" noTextEdit="1"/>
              </p:cNvSpPr>
              <p:nvPr/>
            </p:nvSpPr>
            <p:spPr>
              <a:xfrm>
                <a:off x="9326880" y="3429000"/>
                <a:ext cx="7209787" cy="960120"/>
              </a:xfrm>
              <a:prstGeom prst="rect">
                <a:avLst/>
              </a:prstGeom>
              <a:blipFill>
                <a:blip r:embed="rId4"/>
                <a:stretch>
                  <a:fillRect t="-1274"/>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mc:Choice xmlns:a14="http://schemas.microsoft.com/office/drawing/2010/main" Requires="a14">
          <p:sp>
            <p:nvSpPr>
              <p:cNvPr id="17" name="EDITABLE OfficeMath | Online update"/>
              <p:cNvSpPr txBox="1"/>
              <p:nvPr/>
            </p:nvSpPr>
            <p:spPr>
              <a:xfrm>
                <a:off x="1234440" y="7269480"/>
                <a:ext cx="6078074" cy="685800"/>
              </a:xfrm>
              <a:prstGeom prst="rect">
                <a:avLst/>
              </a:prstGeom>
              <a:no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1</m:t>
                      </m:r>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p:sp>
            <p:nvSpPr>
              <p:cNvPr id="17" name="EDITABLE OfficeMath | Online update"/>
              <p:cNvSpPr txBox="1">
                <a:spLocks noRot="1" noChangeAspect="1" noMove="1" noResize="1" noEditPoints="1" noAdjustHandles="1" noChangeArrowheads="1" noChangeShapeType="1" noTextEdit="1"/>
              </p:cNvSpPr>
              <p:nvPr/>
            </p:nvSpPr>
            <p:spPr>
              <a:xfrm>
                <a:off x="1234440" y="7269480"/>
                <a:ext cx="6078074" cy="685800"/>
              </a:xfrm>
              <a:prstGeom prst="rect">
                <a:avLst/>
              </a:prstGeom>
              <a:blipFill>
                <a:blip r:embed="rId5"/>
                <a:stretch>
                  <a:fillRect t="-1786"/>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mc:Choice xmlns:a14="http://schemas.microsoft.com/office/drawing/2010/main" Requires="a14">
          <p:sp>
            <p:nvSpPr>
              <p:cNvPr id="10" name="EDITABLE OfficeMath | Vanishing wavelet moments"/>
              <p:cNvSpPr txBox="1"/>
              <p:nvPr/>
            </p:nvSpPr>
            <p:spPr>
              <a:xfrm>
                <a:off x="1234440" y="3497580"/>
                <a:ext cx="7342346" cy="822960"/>
              </a:xfrm>
              <a:prstGeom prst="rect">
                <a:avLst/>
              </a:prstGeom>
              <a:no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 </m:t>
                      </m:r>
                      <m:sSup>
                        <m:sSupPr>
                          <m:ctrlPr>
                            <a:rPr i="1">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m:t>
                      </m:r>
                      <m:r>
                        <a:rPr>
                          <a:latin typeface="Cambria Math" panose="02040503050406030204" pitchFamily="18" charset="0"/>
                        </a:rPr>
                        <m:t>0</m:t>
                      </m:r>
                      <m:r>
                        <a:rPr>
                          <a:latin typeface="Cambria Math" panose="02040503050406030204" pitchFamily="18" charset="0"/>
                        </a:rPr>
                        <m:t>,     </m:t>
                      </m:r>
                      <m:r>
                        <a:rPr>
                          <a:latin typeface="Cambria Math" panose="02040503050406030204" pitchFamily="18" charset="0"/>
                        </a:rPr>
                        <m:t>𝑚</m:t>
                      </m:r>
                      <m:r>
                        <a:rPr>
                          <a:latin typeface="Cambria Math" panose="02040503050406030204" pitchFamily="18" charset="0"/>
                        </a:rPr>
                        <m:t> = </m:t>
                      </m:r>
                      <m:r>
                        <a:rPr>
                          <a:latin typeface="Cambria Math" panose="02040503050406030204" pitchFamily="18" charset="0"/>
                        </a:rPr>
                        <m:t>0</m:t>
                      </m:r>
                      <m:r>
                        <a:rPr>
                          <a:latin typeface="Cambria Math" panose="02040503050406030204" pitchFamily="18" charset="0"/>
                        </a:rPr>
                        <m:t>,…,</m:t>
                      </m:r>
                      <m:r>
                        <a:rPr>
                          <a:latin typeface="Cambria Math" panose="02040503050406030204" pitchFamily="18" charset="0"/>
                        </a:rPr>
                        <m:t>𝑁</m:t>
                      </m:r>
                      <m:r>
                        <a:rPr>
                          <a:latin typeface="Cambria Math" panose="02040503050406030204" pitchFamily="18" charset="0"/>
                        </a:rPr>
                        <m:t> − </m:t>
                      </m:r>
                      <m:r>
                        <a:rPr>
                          <a:latin typeface="Cambria Math" panose="02040503050406030204" pitchFamily="18" charset="0"/>
                        </a:rPr>
                        <m:t>1</m:t>
                      </m:r>
                    </m:oMath>
                  </m:oMathPara>
                </a14:m>
                <a:endParaRPr lang="en-GB" sz="2400">
                  <a:solidFill>
                    <a:srgbClr val="14233B"/>
                  </a:solidFill>
                </a:endParaRPr>
              </a:p>
            </p:txBody>
          </p:sp>
        </mc:Choice>
        <mc:Fallback>
          <p:sp>
            <p:nvSpPr>
              <p:cNvPr id="10" name="EDITABLE OfficeMath | Vanishing wavelet moments"/>
              <p:cNvSpPr txBox="1">
                <a:spLocks noRot="1" noChangeAspect="1" noMove="1" noResize="1" noEditPoints="1" noAdjustHandles="1" noChangeArrowheads="1" noChangeShapeType="1" noTextEdit="1"/>
              </p:cNvSpPr>
              <p:nvPr/>
            </p:nvSpPr>
            <p:spPr>
              <a:xfrm>
                <a:off x="1234440" y="3497580"/>
                <a:ext cx="7342346" cy="822960"/>
              </a:xfrm>
              <a:prstGeom prst="rect">
                <a:avLst/>
              </a:prstGeom>
              <a:blipFill>
                <a:blip r:embed="rId3"/>
                <a:stretch>
                  <a:fillRect t="-5185"/>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mc:Choice xmlns:a14="http://schemas.microsoft.com/office/drawing/2010/main" Requires="a14">
          <p:sp>
            <p:nvSpPr>
              <p:cNvPr id="11" name="EDITABLE OfficeMath | Linear transformation and covariance"/>
              <p:cNvSpPr txBox="1"/>
              <p:nvPr/>
            </p:nvSpPr>
            <p:spPr>
              <a:xfrm>
                <a:off x="1234440" y="3360420"/>
                <a:ext cx="12084587" cy="960120"/>
              </a:xfrm>
              <a:prstGeom prst="rect">
                <a:avLst/>
              </a:prstGeom>
              <a:no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i="1">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p:sp>
            <p:nvSpPr>
              <p:cNvPr id="11" name="EDITABLE OfficeMath | Linear transformation and covariance"/>
              <p:cNvSpPr txBox="1">
                <a:spLocks noRot="1" noChangeAspect="1" noMove="1" noResize="1" noEditPoints="1" noAdjustHandles="1" noChangeArrowheads="1" noChangeShapeType="1" noTextEdit="1"/>
              </p:cNvSpPr>
              <p:nvPr/>
            </p:nvSpPr>
            <p:spPr>
              <a:xfrm>
                <a:off x="1234440" y="3360420"/>
                <a:ext cx="12084587" cy="960120"/>
              </a:xfrm>
              <a:prstGeom prst="rect">
                <a:avLst/>
              </a:prstGeom>
              <a:blipFill>
                <a:blip r:embed="rId3"/>
                <a:stretch>
                  <a:fillRect t="-1266"/>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2" name="EDITABLE OfficeMath | Correlation construction"/>
              <p:cNvSpPr txBox="1"/>
              <p:nvPr/>
            </p:nvSpPr>
            <p:spPr>
              <a:xfrm>
                <a:off x="1234440" y="4869180"/>
                <a:ext cx="13716000" cy="991876"/>
              </a:xfrm>
              <a:prstGeom prst="rect">
                <a:avLst/>
              </a:prstGeom>
              <a:no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p:sp>
            <p:nvSpPr>
              <p:cNvPr id="12" name="EDITABLE OfficeMath | Correlation construction"/>
              <p:cNvSpPr txBox="1">
                <a:spLocks noRot="1" noChangeAspect="1" noMove="1" noResize="1" noEditPoints="1" noAdjustHandles="1" noChangeArrowheads="1" noChangeShapeType="1" noTextEdit="1"/>
              </p:cNvSpPr>
              <p:nvPr/>
            </p:nvSpPr>
            <p:spPr>
              <a:xfrm>
                <a:off x="1234440" y="4869180"/>
                <a:ext cx="13716000" cy="991876"/>
              </a:xfrm>
              <a:prstGeom prst="rect">
                <a:avLst/>
              </a:prstGeom>
              <a:blipFill>
                <a:blip r:embed="rId4"/>
                <a:stretch>
                  <a:fillRect t="-617"/>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0"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mc:AlternateContent xmlns:mc="http://schemas.openxmlformats.org/markup-compatibility/2006">
        <mc:Choice xmlns:a14="http://schemas.microsoft.com/office/drawing/2010/main" Requires="a14">
          <p:sp>
            <p:nvSpPr>
              <p:cNvPr id="23" name="EDITABLE OfficeMath | CSP spatial filter"/>
              <p:cNvSpPr txBox="1"/>
              <p:nvPr/>
            </p:nvSpPr>
            <p:spPr>
              <a:xfrm>
                <a:off x="1028700" y="3700462"/>
                <a:ext cx="1583055" cy="485775"/>
              </a:xfrm>
              <a:prstGeom prst="rect">
                <a:avLst/>
              </a:prstGeom>
              <a:solidFill>
                <a:srgbClr val="DDEBF3"/>
              </a:solid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p:sp>
            <p:nvSpPr>
              <p:cNvPr id="23" name="EDITABLE OfficeMath | CSP spatial filter"/>
              <p:cNvSpPr txBox="1">
                <a:spLocks noRot="1" noChangeAspect="1" noMove="1" noResize="1" noEditPoints="1" noAdjustHandles="1" noChangeArrowheads="1" noChangeShapeType="1" noTextEdit="1"/>
              </p:cNvSpPr>
              <p:nvPr/>
            </p:nvSpPr>
            <p:spPr>
              <a:xfrm>
                <a:off x="1028700" y="3700462"/>
                <a:ext cx="1583055" cy="485775"/>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mc:AlternateContent xmlns:mc="http://schemas.openxmlformats.org/markup-compatibility/2006">
        <mc:Choice xmlns:a14="http://schemas.microsoft.com/office/drawing/2010/main" Requires="a14">
          <p:sp>
            <p:nvSpPr>
              <p:cNvPr id="24" name="EDITABLE OfficeMath | Normalised CSP log-variance feature"/>
              <p:cNvSpPr txBox="1"/>
              <p:nvPr/>
            </p:nvSpPr>
            <p:spPr>
              <a:xfrm>
                <a:off x="1028700" y="5226368"/>
                <a:ext cx="3697605" cy="1343025"/>
              </a:xfrm>
              <a:prstGeom prst="rect">
                <a:avLst/>
              </a:prstGeom>
              <a:solidFill>
                <a:srgbClr val="DDEBF3"/>
              </a:solid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i="1">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i="1">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p:sp>
            <p:nvSpPr>
              <p:cNvPr id="24" name="EDITABLE OfficeMath | Normalised CSP log-variance feature"/>
              <p:cNvSpPr txBox="1">
                <a:spLocks noRot="1" noChangeAspect="1" noMove="1" noResize="1" noEditPoints="1" noAdjustHandles="1" noChangeArrowheads="1" noChangeShapeType="1" noTextEdit="1"/>
              </p:cNvSpPr>
              <p:nvPr/>
            </p:nvSpPr>
            <p:spPr>
              <a:xfrm>
                <a:off x="1028700" y="5226368"/>
                <a:ext cx="3697605" cy="1343025"/>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mc:AlternateContent xmlns:mc="http://schemas.openxmlformats.org/markup-compatibility/2006">
        <mc:Choice xmlns:a14="http://schemas.microsoft.com/office/drawing/2010/main" Requires="a14">
          <p:sp>
            <p:nvSpPr>
              <p:cNvPr id="25" name="EDITABLE OfficeMath | PCA projection and first component"/>
              <p:cNvSpPr txBox="1"/>
              <p:nvPr/>
            </p:nvSpPr>
            <p:spPr>
              <a:xfrm>
                <a:off x="1028700" y="7420928"/>
                <a:ext cx="5383530" cy="588645"/>
              </a:xfrm>
              <a:prstGeom prst="rect">
                <a:avLst/>
              </a:prstGeom>
              <a:solidFill>
                <a:srgbClr val="DDEBF3"/>
              </a:solid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i="1">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oMath>
                  </m:oMathPara>
                </a14:m>
                <a:endParaRPr lang="en-GB" sz="1800">
                  <a:solidFill>
                    <a:srgbClr val="14233B"/>
                  </a:solidFill>
                </a:endParaRPr>
              </a:p>
            </p:txBody>
          </p:sp>
        </mc:Choice>
        <mc:Fallback>
          <p:sp>
            <p:nvSpPr>
              <p:cNvPr id="25" name="EDITABLE OfficeMath | PCA projection and first component"/>
              <p:cNvSpPr txBox="1">
                <a:spLocks noRot="1" noChangeAspect="1" noMove="1" noResize="1" noEditPoints="1" noAdjustHandles="1" noChangeArrowheads="1" noChangeShapeType="1" noTextEdit="1"/>
              </p:cNvSpPr>
              <p:nvPr/>
            </p:nvSpPr>
            <p:spPr>
              <a:xfrm>
                <a:off x="1028700" y="7420928"/>
                <a:ext cx="5383530" cy="588645"/>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mc:Choice xmlns:a14="http://schemas.microsoft.com/office/drawing/2010/main" Requires="a14">
          <p:sp>
            <p:nvSpPr>
              <p:cNvPr id="22" name="EDITABLE OfficeMath | Representation and adaptation"/>
              <p:cNvSpPr txBox="1"/>
              <p:nvPr/>
            </p:nvSpPr>
            <p:spPr>
              <a:xfrm>
                <a:off x="1097280" y="2798064"/>
                <a:ext cx="16116300" cy="1342063"/>
              </a:xfrm>
              <a:prstGeom prst="rect">
                <a:avLst/>
              </a:prstGeom>
              <a:no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𝑔</m:t>
                          </m:r>
                        </m:e>
                        <m:sub>
                          <m:sSub>
                            <m:sSubPr>
                              <m:ctrlPr>
                                <a:rPr i="1">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p:sp>
            <p:nvSpPr>
              <p:cNvPr id="22" name="EDITABLE OfficeMath | Representation and adaptation"/>
              <p:cNvSpPr txBox="1">
                <a:spLocks noRot="1" noChangeAspect="1" noMove="1" noResize="1" noEditPoints="1" noAdjustHandles="1" noChangeArrowheads="1" noChangeShapeType="1" noTextEdit="1"/>
              </p:cNvSpPr>
              <p:nvPr/>
            </p:nvSpPr>
            <p:spPr>
              <a:xfrm>
                <a:off x="1097280" y="2798064"/>
                <a:ext cx="16116300" cy="1342063"/>
              </a:xfrm>
              <a:prstGeom prst="rect">
                <a:avLst/>
              </a:prstGeom>
              <a:blipFill>
                <a:blip r:embed="rId3"/>
                <a:stretch>
                  <a:fillRect t="-455"/>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mc:AlternateContent xmlns:mc="http://schemas.openxmlformats.org/markup-compatibility/2006">
        <mc:Choice xmlns:a14="http://schemas.microsoft.com/office/drawing/2010/main" Requires="a14">
          <p:sp>
            <p:nvSpPr>
              <p:cNvPr id="26" name="EDITABLE OfficeMath | EWMA statistic and innovation"/>
              <p:cNvSpPr txBox="1"/>
              <p:nvPr/>
            </p:nvSpPr>
            <p:spPr>
              <a:xfrm>
                <a:off x="1028700" y="3745611"/>
                <a:ext cx="7406640" cy="491490"/>
              </a:xfrm>
              <a:prstGeom prst="rect">
                <a:avLst/>
              </a:prstGeom>
              <a:solidFill>
                <a:srgbClr val="DDEBF3"/>
              </a:solid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1</m:t>
                      </m:r>
                      <m:r>
                        <a:rPr>
                          <a:latin typeface="Cambria Math" panose="02040503050406030204" pitchFamily="18" charset="0"/>
                        </a:rPr>
                        <m:t>−</m:t>
                      </m:r>
                      <m:r>
                        <a:rPr>
                          <a:latin typeface="Cambria Math" panose="02040503050406030204" pitchFamily="18" charset="0"/>
                        </a:rPr>
                        <m:t>𝜆</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oMath>
                  </m:oMathPara>
                </a14:m>
                <a:endParaRPr lang="en-GB" sz="1800">
                  <a:solidFill>
                    <a:srgbClr val="14233B"/>
                  </a:solidFill>
                </a:endParaRPr>
              </a:p>
            </p:txBody>
          </p:sp>
        </mc:Choice>
        <mc:Fallback>
          <p:sp>
            <p:nvSpPr>
              <p:cNvPr id="26" name="EDITABLE OfficeMath | EWMA statistic and innovation"/>
              <p:cNvSpPr txBox="1">
                <a:spLocks noRot="1" noChangeAspect="1" noMove="1" noResize="1" noEditPoints="1" noAdjustHandles="1" noChangeArrowheads="1" noChangeShapeType="1" noTextEdit="1"/>
              </p:cNvSpPr>
              <p:nvPr/>
            </p:nvSpPr>
            <p:spPr>
              <a:xfrm>
                <a:off x="1028700" y="3745611"/>
                <a:ext cx="7406640" cy="491490"/>
              </a:xfrm>
              <a:prstGeom prst="rect">
                <a:avLst/>
              </a:prstGeom>
              <a:blipFill>
                <a:blip r:embed="rId3"/>
                <a:stretch>
                  <a:fillRect t="-1235"/>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mc:AlternateContent xmlns:mc="http://schemas.openxmlformats.org/markup-compatibility/2006">
        <mc:Choice xmlns:a14="http://schemas.microsoft.com/office/drawing/2010/main" Requires="a14">
          <p:sp>
            <p:nvSpPr>
              <p:cNvPr id="27" name="EDITABLE OfficeMath | EWMA upper and lower control limits"/>
              <p:cNvSpPr txBox="1"/>
              <p:nvPr/>
            </p:nvSpPr>
            <p:spPr>
              <a:xfrm>
                <a:off x="1028700" y="5189563"/>
                <a:ext cx="8641080" cy="483946"/>
              </a:xfrm>
              <a:prstGeom prst="rect">
                <a:avLst/>
              </a:prstGeom>
              <a:solidFill>
                <a:srgbClr val="DDEBF3"/>
              </a:solid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i="1">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i="1">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oMath>
                  </m:oMathPara>
                </a14:m>
                <a:endParaRPr lang="en-GB" sz="1800">
                  <a:solidFill>
                    <a:srgbClr val="14233B"/>
                  </a:solidFill>
                </a:endParaRPr>
              </a:p>
            </p:txBody>
          </p:sp>
        </mc:Choice>
        <mc:Fallback>
          <p:sp>
            <p:nvSpPr>
              <p:cNvPr id="27" name="EDITABLE OfficeMath | EWMA upper and lower control limits"/>
              <p:cNvSpPr txBox="1">
                <a:spLocks noRot="1" noChangeAspect="1" noMove="1" noResize="1" noEditPoints="1" noAdjustHandles="1" noChangeArrowheads="1" noChangeShapeType="1" noTextEdit="1"/>
              </p:cNvSpPr>
              <p:nvPr/>
            </p:nvSpPr>
            <p:spPr>
              <a:xfrm>
                <a:off x="1028700" y="5189563"/>
                <a:ext cx="8641080" cy="483946"/>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mc:AlternateContent xmlns:mc="http://schemas.openxmlformats.org/markup-compatibility/2006">
        <mc:Choice xmlns:a14="http://schemas.microsoft.com/office/drawing/2010/main" Requires="a14">
          <p:sp>
            <p:nvSpPr>
              <p:cNvPr id="28" name="EDITABLE OfficeMath | Variance EWMA recurrence"/>
              <p:cNvSpPr txBox="1"/>
              <p:nvPr/>
            </p:nvSpPr>
            <p:spPr>
              <a:xfrm>
                <a:off x="1028700" y="6551676"/>
                <a:ext cx="5514975" cy="640080"/>
              </a:xfrm>
              <a:prstGeom prst="rect">
                <a:avLst/>
              </a:prstGeom>
              <a:solidFill>
                <a:srgbClr val="DDEBF3"/>
              </a:solid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m:t>
                      </m:r>
                      <m:r>
                        <a:rPr>
                          <a:latin typeface="Cambria Math" panose="02040503050406030204" pitchFamily="18" charset="0"/>
                        </a:rPr>
                        <m:t>1</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i="1">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p:sp>
            <p:nvSpPr>
              <p:cNvPr id="28" name="EDITABLE OfficeMath | Variance EWMA recurrence"/>
              <p:cNvSpPr txBox="1">
                <a:spLocks noRot="1" noChangeAspect="1" noMove="1" noResize="1" noEditPoints="1" noAdjustHandles="1" noChangeArrowheads="1" noChangeShapeType="1" noTextEdit="1"/>
              </p:cNvSpPr>
              <p:nvPr/>
            </p:nvSpPr>
            <p:spPr>
              <a:xfrm>
                <a:off x="1028700" y="6551676"/>
                <a:ext cx="5514975"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mc:AlternateContent xmlns:mc="http://schemas.openxmlformats.org/markup-compatibility/2006">
        <mc:Choice xmlns:a14="http://schemas.microsoft.com/office/drawing/2010/main" Requires="a14">
          <p:sp>
            <p:nvSpPr>
              <p:cNvPr id="29" name="EDITABLE OfficeMath | Two-sample Hotelling T squared"/>
              <p:cNvSpPr txBox="1"/>
              <p:nvPr/>
            </p:nvSpPr>
            <p:spPr>
              <a:xfrm>
                <a:off x="10081260" y="3980497"/>
                <a:ext cx="6623685" cy="680085"/>
              </a:xfrm>
              <a:prstGeom prst="rect">
                <a:avLst/>
              </a:prstGeom>
              <a:solidFill>
                <a:srgbClr val="DDEBF3"/>
              </a:solid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m:t>
                          </m:r>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p:sp>
            <p:nvSpPr>
              <p:cNvPr id="29" name="EDITABLE OfficeMath | Two-sample Hotelling T squared"/>
              <p:cNvSpPr txBox="1">
                <a:spLocks noRot="1" noChangeAspect="1" noMove="1" noResize="1" noEditPoints="1" noAdjustHandles="1" noChangeArrowheads="1" noChangeShapeType="1" noTextEdit="1"/>
              </p:cNvSpPr>
              <p:nvPr/>
            </p:nvSpPr>
            <p:spPr>
              <a:xfrm>
                <a:off x="10081260" y="3980497"/>
                <a:ext cx="6623685" cy="680085"/>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mc:AlternateContent xmlns:mc="http://schemas.openxmlformats.org/markup-compatibility/2006">
        <mc:Choice xmlns:a14="http://schemas.microsoft.com/office/drawing/2010/main" Requires="a14">
          <p:sp>
            <p:nvSpPr>
              <p:cNvPr id="30" name="EDITABLE OfficeMath | Detection threshold and degrees of freedom"/>
              <p:cNvSpPr txBox="1"/>
              <p:nvPr/>
            </p:nvSpPr>
            <p:spPr>
              <a:xfrm>
                <a:off x="10149840" y="5842444"/>
                <a:ext cx="5657850" cy="508635"/>
              </a:xfrm>
              <a:prstGeom prst="rect">
                <a:avLst/>
              </a:prstGeom>
              <a:solidFill>
                <a:srgbClr val="DDEBF3"/>
              </a:solid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𝑝</m:t>
                      </m:r>
                      <m:r>
                        <a:rPr>
                          <a:latin typeface="Cambria Math" panose="02040503050406030204" pitchFamily="18" charset="0"/>
                        </a:rPr>
                        <m:t> &lt; </m:t>
                      </m:r>
                      <m:sSub>
                        <m:sSubPr>
                          <m:ctrlPr>
                            <a:rPr i="1">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m:t>
                      </m:r>
                      <m:r>
                        <a:rPr>
                          <a:latin typeface="Cambria Math" panose="02040503050406030204" pitchFamily="18" charset="0"/>
                        </a:rPr>
                        <m:t>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m:t>
                      </m:r>
                      <m:r>
                        <a:rPr>
                          <a:latin typeface="Cambria Math" panose="02040503050406030204" pitchFamily="18" charset="0"/>
                        </a:rPr>
                        <m:t>1</m:t>
                      </m:r>
                      <m:r>
                        <a:rPr>
                          <a:latin typeface="Cambria Math" panose="02040503050406030204" pitchFamily="18" charset="0"/>
                        </a:rPr>
                        <m:t> &gt; </m:t>
                      </m:r>
                      <m:r>
                        <a:rPr>
                          <a:latin typeface="Cambria Math" panose="02040503050406030204" pitchFamily="18" charset="0"/>
                        </a:rPr>
                        <m:t>0</m:t>
                      </m:r>
                    </m:oMath>
                  </m:oMathPara>
                </a14:m>
                <a:endParaRPr lang="en-GB" sz="1800">
                  <a:solidFill>
                    <a:srgbClr val="14233B"/>
                  </a:solidFill>
                </a:endParaRPr>
              </a:p>
            </p:txBody>
          </p:sp>
        </mc:Choice>
        <mc:Fallback>
          <p:sp>
            <p:nvSpPr>
              <p:cNvPr id="30" name="EDITABLE OfficeMath | Detection threshold and degrees of freedom"/>
              <p:cNvSpPr txBox="1">
                <a:spLocks noRot="1" noChangeAspect="1" noMove="1" noResize="1" noEditPoints="1" noAdjustHandles="1" noChangeArrowheads="1" noChangeShapeType="1" noTextEdit="1"/>
              </p:cNvSpPr>
              <p:nvPr/>
            </p:nvSpPr>
            <p:spPr>
              <a:xfrm>
                <a:off x="10149840" y="5842444"/>
                <a:ext cx="5657850" cy="508635"/>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mc:Choice xmlns:a14="http://schemas.microsoft.com/office/drawing/2010/main" Requires="a14">
          <p:sp>
            <p:nvSpPr>
              <p:cNvPr id="12" name="EDITABLE OfficeMath | One-sample online T squared"/>
              <p:cNvSpPr txBox="1"/>
              <p:nvPr/>
            </p:nvSpPr>
            <p:spPr>
              <a:xfrm>
                <a:off x="1234440" y="3497580"/>
                <a:ext cx="6359652" cy="891540"/>
              </a:xfrm>
              <a:prstGeom prst="rect">
                <a:avLst/>
              </a:prstGeom>
              <a:no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sSubSup>
                        <m:sSubSupPr>
                          <m:ctrlPr>
                            <a:rPr>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m:t>
                          </m:r>
                          <m:r>
                            <a:rPr>
                              <a:latin typeface="Cambria Math" panose="02040503050406030204" pitchFamily="18" charset="0"/>
                            </a:rPr>
                            <m:t>1</m:t>
                          </m:r>
                        </m:sup>
                      </m:sSup>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p:sp>
            <p:nvSpPr>
              <p:cNvPr id="12" name="EDITABLE OfficeMath | One-sample online T squared"/>
              <p:cNvSpPr txBox="1">
                <a:spLocks noRot="1" noChangeAspect="1" noMove="1" noResize="1" noEditPoints="1" noAdjustHandles="1" noChangeArrowheads="1" noChangeShapeType="1" noTextEdit="1"/>
              </p:cNvSpPr>
              <p:nvPr/>
            </p:nvSpPr>
            <p:spPr>
              <a:xfrm>
                <a:off x="1234440" y="3497580"/>
                <a:ext cx="6359652" cy="891540"/>
              </a:xfrm>
              <a:prstGeom prst="rect">
                <a:avLst/>
              </a:prstGeom>
              <a:blipFill>
                <a:blip r:embed="rId3"/>
                <a:stretch>
                  <a:fillRect t="-685"/>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mc:Choice xmlns:a14="http://schemas.microsoft.com/office/drawing/2010/main" Requires="a14">
          <p:sp>
            <p:nvSpPr>
              <p:cNvPr id="13" name="EDITABLE OfficeMath | Pooled two-sample Hotelling"/>
              <p:cNvSpPr txBox="1"/>
              <p:nvPr/>
            </p:nvSpPr>
            <p:spPr>
              <a:xfrm>
                <a:off x="1234440" y="6035040"/>
                <a:ext cx="7874470" cy="960120"/>
              </a:xfrm>
              <a:prstGeom prst="rect">
                <a:avLst/>
              </a:prstGeom>
              <a:no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m:t>
                          </m:r>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p:sp>
            <p:nvSpPr>
              <p:cNvPr id="13" name="EDITABLE OfficeMath | Pooled two-sample Hotelling"/>
              <p:cNvSpPr txBox="1">
                <a:spLocks noRot="1" noChangeAspect="1" noMove="1" noResize="1" noEditPoints="1" noAdjustHandles="1" noChangeArrowheads="1" noChangeShapeType="1" noTextEdit="1"/>
              </p:cNvSpPr>
              <p:nvPr/>
            </p:nvSpPr>
            <p:spPr>
              <a:xfrm>
                <a:off x="1234440" y="6035040"/>
                <a:ext cx="7874470"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mc:Choice xmlns:a14="http://schemas.microsoft.com/office/drawing/2010/main" Requires="a14">
          <p:sp>
            <p:nvSpPr>
              <p:cNvPr id="10" name="EDITABLE OfficeMath | Unpooled covariance weighted mean difference"/>
              <p:cNvSpPr txBox="1"/>
              <p:nvPr/>
            </p:nvSpPr>
            <p:spPr>
              <a:xfrm>
                <a:off x="1234440" y="3429000"/>
                <a:ext cx="8260080" cy="1028700"/>
              </a:xfrm>
              <a:prstGeom prst="rect">
                <a:avLst/>
              </a:prstGeom>
              <a:no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i="1">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i="1">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m:t>
                          </m:r>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a:solidFill>
                    <a:srgbClr val="14233B"/>
                  </a:solidFill>
                </a:endParaRPr>
              </a:p>
            </p:txBody>
          </p:sp>
        </mc:Choice>
        <mc:Fallback>
          <p:sp>
            <p:nvSpPr>
              <p:cNvPr id="10" name="EDITABLE OfficeMath | Unpooled covariance weighted mean difference"/>
              <p:cNvSpPr txBox="1">
                <a:spLocks noRot="1" noChangeAspect="1" noMove="1" noResize="1" noEditPoints="1" noAdjustHandles="1" noChangeArrowheads="1" noChangeShapeType="1" noTextEdit="1"/>
              </p:cNvSpPr>
              <p:nvPr/>
            </p:nvSpPr>
            <p:spPr>
              <a:xfrm>
                <a:off x="1234440" y="3429000"/>
                <a:ext cx="8260080" cy="102870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mc:Choice xmlns:a14="http://schemas.microsoft.com/office/drawing/2010/main" Requires="a14">
          <p:sp>
            <p:nvSpPr>
              <p:cNvPr id="22" name="EDITABLE OfficeMath | CUSUM auxiliary quantity"/>
              <p:cNvSpPr txBox="1"/>
              <p:nvPr/>
            </p:nvSpPr>
            <p:spPr>
              <a:xfrm>
                <a:off x="14785848" y="8738902"/>
                <a:ext cx="914962" cy="250288"/>
              </a:xfrm>
              <a:prstGeom prst="rect">
                <a:avLst/>
              </a:prstGeom>
              <a:solidFill>
                <a:srgbClr val="D5F6F1"/>
              </a:solidFill>
            </p:spPr>
            <p:txBody>
              <a:bodyPr wrap="none" lIns="0" tIns="0" rIns="0" bIns="0">
                <a:spAutoFit/>
              </a:bodyPr>
              <a:lstStyle/>
              <a:p>
                <a:pPr algn="ctr"/>
                <a14:m>
                  <m:oMathPara xmlns:m="http://schemas.openxmlformats.org/officeDocument/2006/math">
                    <m:oMathParaPr>
                      <m:jc m:val="centerGroup"/>
                    </m:oMathParaPr>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i="1">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p:sp>
            <p:nvSpPr>
              <p:cNvPr id="22" name="EDITABLE OfficeMath | CUSUM auxiliary quantity"/>
              <p:cNvSpPr txBox="1">
                <a:spLocks noRot="1" noChangeAspect="1" noMove="1" noResize="1" noEditPoints="1" noAdjustHandles="1" noChangeArrowheads="1" noChangeShapeType="1" noTextEdit="1"/>
              </p:cNvSpPr>
              <p:nvPr/>
            </p:nvSpPr>
            <p:spPr>
              <a:xfrm>
                <a:off x="14785848" y="8738902"/>
                <a:ext cx="914962" cy="250288"/>
              </a:xfrm>
              <a:prstGeom prst="rect">
                <a:avLst/>
              </a:prstGeom>
              <a:blipFill>
                <a:blip r:embed="rId3"/>
                <a:stretch>
                  <a:fillRect l="-18000" r="-5333" b="-43902"/>
                </a:stretch>
              </a:blipFill>
            </p:spPr>
            <p:txBody>
              <a:bodyPr/>
              <a:lstStyle/>
              <a:p>
                <a:r>
                  <a:rPr lang="en-GB">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TotalTime>
  <Words>9235</Words>
  <Application>Microsoft Office PowerPoint</Application>
  <PresentationFormat>Custom</PresentationFormat>
  <Paragraphs>1075</Paragraphs>
  <Slides>44</Slides>
  <Notes>34</Notes>
  <HiddenSlides>0</HiddenSlides>
  <MMClips>0</MMClips>
  <ScaleCrop>false</ScaleCrop>
  <HeadingPairs>
    <vt:vector size="6" baseType="variant">
      <vt:variant>
        <vt:lpstr>Fonts Used</vt:lpstr>
      </vt:variant>
      <vt:variant>
        <vt:i4>18</vt:i4>
      </vt:variant>
      <vt:variant>
        <vt:lpstr>Theme</vt:lpstr>
      </vt:variant>
      <vt:variant>
        <vt:i4>1</vt:i4>
      </vt:variant>
      <vt:variant>
        <vt:lpstr>Slide Titles</vt:lpstr>
      </vt:variant>
      <vt:variant>
        <vt:i4>44</vt:i4>
      </vt:variant>
    </vt:vector>
  </HeadingPairs>
  <TitlesOfParts>
    <vt:vector size="63" baseType="lpstr">
      <vt:lpstr>Cambria Math</vt:lpstr>
      <vt:lpstr>Aptos Bold</vt:lpstr>
      <vt:lpstr>Inter Semi-Bold</vt:lpstr>
      <vt:lpstr>Roboto Bold</vt:lpstr>
      <vt:lpstr>Arial</vt:lpstr>
      <vt:lpstr>Calibri (MS)</vt:lpstr>
      <vt:lpstr>Consolas</vt:lpstr>
      <vt:lpstr>Calibri (MS) Bold</vt:lpstr>
      <vt:lpstr>DejaVu Sans Light</vt:lpstr>
      <vt:lpstr>Inter Bold</vt:lpstr>
      <vt:lpstr>Roboto</vt:lpstr>
      <vt:lpstr>Aptos</vt:lpstr>
      <vt:lpstr>Inter Italics</vt:lpstr>
      <vt:lpstr>DejaVu Sans Bold</vt:lpstr>
      <vt:lpstr>Calibri (MS) Italics</vt:lpstr>
      <vt:lpstr>Inter</vt:lpstr>
      <vt:lpstr>Inter Medium</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22</cp:revision>
  <dcterms:created xsi:type="dcterms:W3CDTF">2006-08-16T00:00:00Z</dcterms:created>
  <dcterms:modified xsi:type="dcterms:W3CDTF">2026-10-15T12:10:26Z</dcterms:modified>
  <dc:identifier>DAHYBaR-K0c</dc:identifier>
</cp:coreProperties>
</file>