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onsolas" panose="020B0609020204030204" pitchFamily="49" charset="0"/>
      <p:regular r:id="rId56"/>
      <p:bold r:id="rId57"/>
      <p:italic r:id="rId58"/>
      <p:boldItalic r:id="rId59"/>
    </p:embeddedFont>
    <p:embeddedFont>
      <p:font typeface="DejaVu Sans Bold" panose="020B0604020202020204" charset="0"/>
      <p:regular r:id="rId60"/>
    </p:embeddedFont>
    <p:embeddedFont>
      <p:font typeface="DejaVu Sans Light" panose="020B0604020202020204" charset="0"/>
      <p:regular r:id="rId61"/>
    </p:embeddedFont>
    <p:embeddedFont>
      <p:font typeface="Inter" panose="020B0604020202020204" charset="0"/>
      <p:regular r:id="rId62"/>
    </p:embeddedFont>
    <p:embeddedFont>
      <p:font typeface="Inter Bold" panose="020B0604020202020204" charset="0"/>
      <p:regular r:id="rId63"/>
    </p:embeddedFont>
    <p:embeddedFont>
      <p:font typeface="Inter Italics" panose="020B0604020202020204" charset="0"/>
      <p:regular r:id="rId64"/>
    </p:embeddedFont>
    <p:embeddedFont>
      <p:font typeface="Inter Medium" panose="020B0604020202020204" charset="0"/>
      <p:regular r:id="rId65"/>
    </p:embeddedFont>
    <p:embeddedFont>
      <p:font typeface="Inter Semi-Bold" panose="020B0604020202020204" charset="0"/>
      <p:regular r:id="rId66"/>
    </p:embeddedFont>
    <p:embeddedFont>
      <p:font typeface="Roboto" panose="02000000000000000000" pitchFamily="2" charset="0"/>
      <p:regular r:id="rId67"/>
      <p:bold r:id="rId68"/>
      <p:italic r:id="rId69"/>
      <p:boldItalic r:id="rId70"/>
    </p:embeddedFont>
    <p:embeddedFont>
      <p:font typeface="Roboto Bold" panose="02000000000000000000" charset="0"/>
      <p:regular r:id="rId7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sp>
        <p:nvSpPr>
          <p:cNvPr id="35" name="EDITABLE OfficeMath | MSE over d dimensions"/>
          <p:cNvSpPr txBox="1"/>
          <p:nvPr/>
        </p:nvSpPr>
        <p:spPr>
          <a:xfrm>
            <a:off x="12365584" y="6815252"/>
            <a:ext cx="3386642" cy="626383"/>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L</m:t>
                      </m:r>
                    </m:e>
                    <m:sub>
                      <m:r>
                        <m:rPr>
                          <m:sty m:val="p"/>
                        </m:rPr>
                        <m:t>t</m:t>
                      </m:r>
                    </m:sub>
                  </m:sSub>
                  <m:r>
                    <m:rPr>
                      <m:sty m:val="p"/>
                    </m:rPr>
                    <m:t> = MSE(</m:t>
                  </m:r>
                  <m:sSub>
                    <m:e>
                      <m:r>
                        <m:rPr>
                          <m:sty m:val="p"/>
                        </m:rPr>
                        <m:t>X</m:t>
                      </m:r>
                    </m:e>
                    <m:sub>
                      <m:r>
                        <m:rPr>
                          <m:sty m:val="p"/>
                        </m:rPr>
                        <m:t>t</m:t>
                      </m:r>
                    </m:sub>
                  </m:sSub>
                  <m:r>
                    <m:rPr>
                      <m:sty m:val="p"/>
                    </m:rPr>
                    <m:t>, </m:t>
                  </m:r>
                  <m:sSub>
                    <m:e>
                      <m:r>
                        <m:rPr>
                          <m:sty m:val="p"/>
                        </m:rPr>
                        <m:t>X̂</m:t>
                      </m:r>
                    </m:e>
                    <m:sub>
                      <m:r>
                        <m:rPr>
                          <m:sty m:val="p"/>
                        </m:rPr>
                        <m:t>t</m:t>
                      </m:r>
                    </m:sub>
                  </m:sSub>
                  <m:r>
                    <m:rPr>
                      <m:sty m:val="p"/>
                    </m:rPr>
                    <m:t>) = </m:t>
                  </m:r>
                  <m:f>
                    <m:num>
                      <m:r>
                        <m:rPr>
                          <m:sty m:val="p"/>
                        </m:rPr>
                        <m:t>1</m:t>
                      </m:r>
                    </m:num>
                    <m:den>
                      <m:r>
                        <m:rPr>
                          <m:sty m:val="p"/>
                        </m:rPr>
                        <m:t>d</m:t>
                      </m:r>
                    </m:den>
                  </m:f>
                  <m:nary>
                    <m:naryPr>
                      <m:chr m:val="∑"/>
                    </m:naryPr>
                    <m:sub>
                      <m:r>
                        <m:rPr>
                          <m:sty m:val="p"/>
                        </m:rPr>
                        <m:t>j=1</m:t>
                      </m:r>
                    </m:sub>
                    <m:sup>
                      <m:r>
                        <m:rPr>
                          <m:sty m:val="p"/>
                        </m:rPr>
                        <m:t>d</m:t>
                      </m:r>
                    </m:sup>
                    <m:e>
                      <m:r>
                        <m:rPr>
                          <m:sty m:val="p"/>
                        </m:rPr>
                        <m:t>(</m:t>
                      </m:r>
                      <m:sSubSup>
                        <m:e>
                          <m:r>
                            <m:rPr>
                              <m:sty m:val="p"/>
                            </m:rPr>
                            <m:t>X</m:t>
                          </m:r>
                        </m:e>
                        <m:sub>
                          <m:r>
                            <m:rPr>
                              <m:sty m:val="p"/>
                            </m:rPr>
                            <m:t>t,j</m:t>
                          </m:r>
                        </m:sub>
                        <m:sup>
                          <m:r>
                            <m:rPr>
                              <m:sty m:val="p"/>
                            </m:rPr>
                            <m:t/>
                          </m:r>
                        </m:sup>
                      </m:sSubSup>
                      <m:r>
                        <m:rPr>
                          <m:sty m:val="p"/>
                        </m:rPr>
                        <m:t> − </m:t>
                      </m:r>
                      <m:sSubSup>
                        <m:e>
                          <m:r>
                            <m:rPr>
                              <m:sty m:val="p"/>
                            </m:rPr>
                            <m:t>X̂</m:t>
                          </m:r>
                        </m:e>
                        <m:sub>
                          <m:r>
                            <m:rPr>
                              <m:sty m:val="p"/>
                            </m:rPr>
                            <m:t>t,j</m:t>
                          </m:r>
                        </m:sub>
                        <m:sup>
                          <m:r>
                            <m:rPr>
                              <m:sty m:val="p"/>
                            </m:rPr>
                            <m:t/>
                          </m:r>
                        </m:sup>
                      </m:sSubSup>
                      <m:sSup>
                        <m:e>
                          <m:r>
                            <m:rPr>
                              <m:sty m:val="p"/>
                            </m:rPr>
                            <m:t>)</m:t>
                          </m:r>
                        </m:e>
                        <m:sup>
                          <m:r>
                            <m:rPr>
                              <m:sty m:val="p"/>
                            </m:rPr>
                            <m:t>2</m:t>
                          </m:r>
                        </m:sup>
                      </m:sSup>
                    </m:e>
                  </m:nary>
                </m:oMath>
              </m:oMathPara>
            </a14:m>
            <a:endParaRPr sz="1800" lang="en-GB">
              <a:solidFill>
                <a:srgbClr val="EFF8FF"/>
              </a:solidFill>
            </a:endParaRP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sp>
        <p:nvSpPr>
          <p:cNvPr id="17" name="EDITABLE MATH | Park 2023 Eq 2.2 normalized CUSUM"/>
          <p:cNvSpPr txBox="1"/>
          <p:nvPr/>
        </p:nvSpPr>
        <p:spPr>
          <a:xfrm>
            <a:off x="1548317" y="5753290"/>
            <a:ext cx="6886070" cy="1727854"/>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sSubSup>
                    <m:e>
                      <m:r>
                        <m:t>ν</m:t>
                      </m:r>
                    </m:e>
                    <m:sub>
                      <m:r>
                        <m:t>t</m:t>
                      </m:r>
                    </m:sub>
                    <m:sup>
                      <m:r>
                        <m:t>(d)</m:t>
                      </m:r>
                    </m:sup>
                  </m:sSubSup>
                  <m:r>
                    <m:t> = </m:t>
                  </m:r>
                  <m:f>
                    <m:num>
                      <m:r>
                        <m:t>|Aₜ⁽ᵈ⁾ − Bₜ⁽ᵈ⁾|</m:t>
                      </m:r>
                    </m:num>
                    <m:den>
                      <m:r>
                        <m:t>X̄⁽ᵈ⁾</m:t>
                      </m:r>
                    </m:den>
                  </m:f>
                </m:oMath>
              </m:oMathPara>
            </a14:m>
            <a:endParaRPr sz="1600"/>
          </a:p>
          <a:p>
            <a:pPr algn="ctr">
              <a:spcAft>
                <a:spcPts val="400"/>
              </a:spcAft>
            </a:pPr>
            <a14:m xmlns:a14="http://schemas.microsoft.com/office/drawing/2010/main" xmlns:m="http://schemas.openxmlformats.org/officeDocument/2006/math">
              <m:oMathPara>
                <m:oMath>
                  <m:r>
                    <m:t>Aₜ⁽ᵈ⁾ = √((T−t)/(Tt)) ∑ᵤ₌₀ᵗ⁻¹ </m:t>
                  </m:r>
                  <m:sSubSup>
                    <m:e>
                      <m:r>
                        <m:t>X</m:t>
                      </m:r>
                    </m:e>
                    <m:sub>
                      <m:r>
                        <m:t>u,T</m:t>
                      </m:r>
                    </m:sub>
                    <m:sup>
                      <m:r>
                        <m:t>(d)</m:t>
                      </m:r>
                    </m:sup>
                  </m:sSubSup>
                </m:oMath>
              </m:oMathPara>
            </a14:m>
            <a:endParaRPr sz="1600"/>
          </a:p>
          <a:p>
            <a:pPr algn="ctr">
              <a:spcAft>
                <a:spcPts val="400"/>
              </a:spcAft>
            </a:pPr>
            <a14:m xmlns:a14="http://schemas.microsoft.com/office/drawing/2010/main" xmlns:m="http://schemas.openxmlformats.org/officeDocument/2006/math">
              <m:oMathPara>
                <m:oMath>
                  <m:r>
                    <m:t>Bₜ⁽ᵈ⁾ = √(t/[T(T−t)]) ∑ᵤ₌ₜᵀ⁻¹ </m:t>
                  </m:r>
                  <m:sSubSup>
                    <m:e>
                      <m:r>
                        <m:t>X</m:t>
                      </m:r>
                    </m:e>
                    <m:sub>
                      <m:r>
                        <m:t>u,T</m:t>
                      </m:r>
                    </m:sub>
                    <m:sup>
                      <m:r>
                        <m:t>(d)</m:t>
                      </m:r>
                    </m:sup>
                  </m:sSubSup>
                </m:oMath>
              </m:oMathPara>
            </a14:m>
            <a:endParaRPr sz="1600"/>
          </a:p>
          <a:p>
            <a:pPr algn="ctr">
              <a:spcAft>
                <a:spcPts val="400"/>
              </a:spcAft>
            </a:pPr>
            <a14:m xmlns:a14="http://schemas.microsoft.com/office/drawing/2010/main" xmlns:m="http://schemas.openxmlformats.org/officeDocument/2006/math">
              <m:oMathPara>
                <m:oMath>
                  <m:r>
                    <m:t>X̄⁽ᵈ⁾ = (1/T) ∑ᵤ₌₀ᵀ⁻¹ </m:t>
                  </m:r>
                  <m:sSubSup>
                    <m:e>
                      <m:r>
                        <m:t>X</m:t>
                      </m:r>
                    </m:e>
                    <m:sub>
                      <m:r>
                        <m:t>u,T</m:t>
                      </m:r>
                    </m:sub>
                    <m:sup>
                      <m:r>
                        <m:t>(d)</m:t>
                      </m:r>
                    </m:sup>
                  </m:sSubSup>
                </m:oMath>
              </m:oMathPara>
            </a14:m>
            <a:endParaRPr sz="16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
        <p:nvSpPr>
          <p:cNvPr id="12" name="EDITABLE MATH | Park 2023 pointwise aggregation"/>
          <p:cNvSpPr txBox="1"/>
          <p:nvPr/>
        </p:nvSpPr>
        <p:spPr>
          <a:xfrm>
            <a:off x="1279779" y="4425315"/>
            <a:ext cx="7384542" cy="320040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max</m:t>
                      </m:r>
                    </m:sup>
                  </m:sSubSup>
                  <m:r>
                    <m:t> = max₍₁≤d≤p₎ </m:t>
                  </m:r>
                  <m:sSubSup>
                    <m:e>
                      <m:r>
                        <m:t>ν</m:t>
                      </m:r>
                    </m:e>
                    <m:sub>
                      <m:r>
                        <m:t>t</m:t>
                      </m:r>
                    </m:sub>
                    <m:sup>
                      <m:r>
                        <m:t>(d)</m:t>
                      </m:r>
                    </m:sup>
                  </m:sSubSup>
                </m:oMath>
              </m:oMathPara>
            </a14:m>
            <a:endParaRPr sz="2400"/>
          </a:p>
          <a:p>
            <a:pPr algn="ctr">
              <a:spcAft>
                <a:spcPts val="800"/>
              </a:spcAft>
            </a:pP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∑ᵈ₌₁ᵖ </m:t>
                  </m:r>
                  <m:sSubSup>
                    <m:e>
                      <m:r>
                        <m:t>ν</m:t>
                      </m:r>
                    </m:e>
                    <m:sub>
                      <m:r>
                        <m:t>t</m:t>
                      </m:r>
                    </m:sub>
                    <m:sup>
                      <m:r>
                        <m:t>(d)</m:t>
                      </m:r>
                    </m:sup>
                  </m:sSubSup>
                </m:oMath>
              </m:oMathPara>
            </a14:m>
            <a:endParaRPr sz="2400"/>
          </a:p>
        </p:txBody>
      </p:sp>
      <p:sp>
        <p:nvSpPr>
          <p:cNvPr id="13" name="EDITABLE MATH | Code-grounded LOESS and peak estimates"/>
          <p:cNvSpPr txBox="1"/>
          <p:nvPr/>
        </p:nvSpPr>
        <p:spPr>
          <a:xfrm>
            <a:off x="9646539" y="4425315"/>
            <a:ext cx="7384542" cy="320040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ν̃ₜᵐᵃˣ = LOESS₀.₁(νₜᵐᵃˣ)</m:t>
                  </m:r>
                </m:oMath>
              </m:oMathPara>
            </a14:m>
            <a:endParaRPr sz="1900"/>
          </a:p>
          <a:p>
            <a:pPr algn="ctr">
              <a:spcAft>
                <a:spcPts val="400"/>
              </a:spcAft>
            </a:pPr>
            <a14:m xmlns:a14="http://schemas.microsoft.com/office/drawing/2010/main" xmlns:m="http://schemas.openxmlformats.org/officeDocument/2006/math">
              <m:oMathPara>
                <m:oMath>
                  <m:r>
                    <m:t>ν̃ₜᵃᵛᵍ = LOESS₀.₁(νₜᵃᵛᵍ)</m:t>
                  </m:r>
                </m:oMath>
              </m:oMathPara>
            </a14:m>
            <a:endParaRPr sz="1900"/>
          </a:p>
          <a:p>
            <a:pPr algn="ctr">
              <a:spcAft>
                <a:spcPts val="400"/>
              </a:spcAft>
            </a:pPr>
            <a14:m xmlns:a14="http://schemas.microsoft.com/office/drawing/2010/main" xmlns:m="http://schemas.openxmlformats.org/officeDocument/2006/math">
              <m:oMathPara>
                <m:oMath>
                  <m:r>
                    <m:t>bₘₐₓ = argmaxₜ ν̃ₜᵐᵃˣ</m:t>
                  </m:r>
                </m:oMath>
              </m:oMathPara>
            </a14:m>
            <a:endParaRPr sz="1900"/>
          </a:p>
          <a:p>
            <a:pPr algn="ctr">
              <a:spcAft>
                <a:spcPts val="400"/>
              </a:spcAft>
            </a:pPr>
            <a14:m xmlns:a14="http://schemas.microsoft.com/office/drawing/2010/main" xmlns:m="http://schemas.openxmlformats.org/officeDocument/2006/math">
              <m:oMathPara>
                <m:oMath>
                  <m:r>
                    <m:t>bₐᵥg = argmaxₜ ν̃ₜᵃᵛᵍ</m:t>
                  </m:r>
                </m:oMath>
              </m:oMathPara>
            </a14:m>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sp>
        <p:nvSpPr>
          <p:cNvPr id="10" name="EDITABLE OfficeMath | Kronecker delta"/>
          <p:cNvSpPr txBox="1"/>
          <p:nvPr/>
        </p:nvSpPr>
        <p:spPr>
          <a:xfrm>
            <a:off x="1234440" y="3566160"/>
            <a:ext cx="7263184"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δ</m:t>
                      </m:r>
                    </m:e>
                    <m:sub>
                      <m:r>
                        <m:rPr>
                          <m:sty m:val="p"/>
                        </m:rPr>
                        <m:t>ij</m:t>
                      </m:r>
                    </m:sub>
                  </m:sSub>
                  <m:r>
                    <m:rPr>
                      <m:sty m:val="p"/>
                    </m:rPr>
                    <m:t> = 1 (i = j),     </m:t>
                  </m:r>
                  <m:sSub>
                    <m:e>
                      <m:r>
                        <m:rPr>
                          <m:sty m:val="p"/>
                        </m:rPr>
                        <m:t>δ</m:t>
                      </m:r>
                    </m:e>
                    <m:sub>
                      <m:r>
                        <m:rPr>
                          <m:sty m:val="p"/>
                        </m:rPr>
                        <m:t>ij</m:t>
                      </m:r>
                    </m:sub>
                  </m:sSub>
                  <m:r>
                    <m:rPr>
                      <m:sty m:val="p"/>
                    </m:rPr>
                    <m:t> = 0 (i ≠ j)</m:t>
                  </m:r>
                </m:oMath>
              </m:oMathPara>
            </a14:m>
            <a:endParaRPr sz="2400" lang="en-GB">
              <a:solidFill>
                <a:srgbClr val="14233B"/>
              </a:solidFill>
            </a:endParaRPr>
          </a:p>
        </p:txBody>
      </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sp>
        <p:nvSpPr>
          <p:cNvPr id="10" name="EDITABLE OfficeMath | Covariance and Kronecker identity"/>
          <p:cNvSpPr txBox="1"/>
          <p:nvPr/>
        </p:nvSpPr>
        <p:spPr>
          <a:xfrm>
            <a:off x="1234440" y="3429000"/>
            <a:ext cx="7152456"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Cov(</m:t>
                  </m:r>
                  <m:sSub>
                    <m:e>
                      <m:r>
                        <m:rPr>
                          <m:sty m:val="p"/>
                        </m:rPr>
                        <m:t>Z</m:t>
                      </m:r>
                    </m:e>
                    <m:sub>
                      <m:r>
                        <m:rPr>
                          <m:sty m:val="p"/>
                        </m:rPr>
                        <m:t>i</m:t>
                      </m:r>
                    </m:sub>
                  </m:sSub>
                  <m:r>
                    <m:rPr>
                      <m:sty m:val="p"/>
                    </m:rPr>
                    <m:t>,</m:t>
                  </m:r>
                  <m:sSub>
                    <m:e>
                      <m:r>
                        <m:rPr>
                          <m:sty m:val="p"/>
                        </m:rPr>
                        <m:t>Z</m:t>
                      </m:r>
                    </m:e>
                    <m:sub>
                      <m:r>
                        <m:rPr>
                          <m:sty m:val="p"/>
                        </m:rPr>
                        <m:t>j</m:t>
                      </m:r>
                    </m:sub>
                  </m:sSub>
                  <m:r>
                    <m:rPr>
                      <m:sty m:val="p"/>
                    </m:rPr>
                    <m:t>) = E[</m:t>
                  </m:r>
                  <m:sSub>
                    <m:e>
                      <m:r>
                        <m:rPr>
                          <m:sty m:val="p"/>
                        </m:rPr>
                        <m:t>Z</m:t>
                      </m:r>
                    </m:e>
                    <m:sub>
                      <m:r>
                        <m:rPr>
                          <m:sty m:val="p"/>
                        </m:rPr>
                        <m:t>i</m:t>
                      </m:r>
                    </m:sub>
                  </m:sSub>
                  <m:sSub>
                    <m:e>
                      <m:r>
                        <m:rPr>
                          <m:sty m:val="p"/>
                        </m:rPr>
                        <m:t>Z</m:t>
                      </m:r>
                    </m:e>
                    <m:sub>
                      <m:r>
                        <m:rPr>
                          <m:sty m:val="p"/>
                        </m:rPr>
                        <m:t>j</m:t>
                      </m:r>
                    </m:sub>
                  </m:sSub>
                  <m:r>
                    <m:rPr>
                      <m:sty m:val="p"/>
                    </m:rPr>
                    <m:t>] = </m:t>
                  </m:r>
                  <m:sSub>
                    <m:e>
                      <m:r>
                        <m:rPr>
                          <m:sty m:val="p"/>
                        </m:rPr>
                        <m:t>δ</m:t>
                      </m:r>
                    </m:e>
                    <m:sub>
                      <m:r>
                        <m:rPr>
                          <m:sty m:val="p"/>
                        </m:rPr>
                        <m:t>ij</m:t>
                      </m:r>
                    </m:sub>
                  </m:sSub>
                </m:oMath>
              </m:oMathPara>
            </a14:m>
            <a:endParaRPr sz="2800" lang="en-GB">
              <a:solidFill>
                <a:srgbClr val="14233B"/>
              </a:solidFill>
            </a:endParaRPr>
          </a:p>
        </p:txBody>
      </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sp>
        <p:nvSpPr>
          <p:cNvPr id="15" name="EDITABLE OfficeMath | Partial derivative identity"/>
          <p:cNvSpPr txBox="1"/>
          <p:nvPr/>
        </p:nvSpPr>
        <p:spPr>
          <a:xfrm>
            <a:off x="1234440" y="3429000"/>
            <a:ext cx="1778251"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f>
                    <m:num>
                      <m:r>
                        <m:rPr>
                          <m:sty m:val="p"/>
                        </m:rPr>
                        <m:t>∂wᵢ</m:t>
                      </m:r>
                    </m:num>
                    <m:den>
                      <m:r>
                        <m:rPr>
                          <m:sty m:val="p"/>
                        </m:rPr>
                        <m:t>∂wⱼ</m:t>
                      </m:r>
                    </m:den>
                  </m:f>
                  <m:r>
                    <m:rPr>
                      <m:sty m:val="p"/>
                    </m:rPr>
                    <m:t> = </m:t>
                  </m:r>
                  <m:sSub>
                    <m:e>
                      <m:r>
                        <m:rPr>
                          <m:sty m:val="p"/>
                        </m:rPr>
                        <m:t>δ</m:t>
                      </m:r>
                    </m:e>
                    <m:sub>
                      <m:r>
                        <m:rPr>
                          <m:sty m:val="p"/>
                        </m:rPr>
                        <m:t>ij</m:t>
                      </m:r>
                    </m:sub>
                  </m:sSub>
                </m:oMath>
              </m:oMathPara>
            </a14:m>
            <a:endParaRPr sz="2800" lang="en-GB">
              <a:solidFill>
                <a:srgbClr val="14233B"/>
              </a:solidFill>
            </a:endParaRPr>
          </a:p>
        </p:txBody>
      </p:sp>
      <p:sp>
        <p:nvSpPr>
          <p:cNvPr id="16" name="EDITABLE OfficeMath | Variance identity"/>
          <p:cNvSpPr txBox="1"/>
          <p:nvPr/>
        </p:nvSpPr>
        <p:spPr>
          <a:xfrm>
            <a:off x="9326880" y="3429000"/>
            <a:ext cx="72097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Var(</m:t>
                  </m:r>
                  <m:sSub>
                    <m:e>
                      <m:r>
                        <m:rPr>
                          <m:sty m:val="p"/>
                        </m:rPr>
                        <m:t>Z</m:t>
                      </m:r>
                    </m:e>
                    <m:sub>
                      <m:r>
                        <m:rPr>
                          <m:sty m:val="p"/>
                        </m:rPr>
                        <m:t>i</m:t>
                      </m:r>
                    </m:sub>
                  </m:sSub>
                  <m:r>
                    <m:rPr>
                      <m:sty m:val="p"/>
                    </m:rPr>
                    <m:t>) = E[(</m:t>
                  </m:r>
                  <m:sSub>
                    <m:e>
                      <m:r>
                        <m:rPr>
                          <m:sty m:val="p"/>
                        </m:rPr>
                        <m:t>Z</m:t>
                      </m:r>
                    </m:e>
                    <m:sub>
                      <m:r>
                        <m:rPr>
                          <m:sty m:val="p"/>
                        </m:rPr>
                        <m:t>i</m:t>
                      </m:r>
                    </m:sub>
                  </m:sSub>
                  <m:r>
                    <m:rPr>
                      <m:sty m:val="p"/>
                    </m:rPr>
                    <m:t> − E[</m:t>
                  </m:r>
                  <m:sSub>
                    <m:e>
                      <m:r>
                        <m:rPr>
                          <m:sty m:val="p"/>
                        </m:rPr>
                        <m:t>Z</m:t>
                      </m:r>
                    </m:e>
                    <m:sub>
                      <m:r>
                        <m:rPr>
                          <m:sty m:val="p"/>
                        </m:rPr>
                        <m:t>i</m:t>
                      </m:r>
                    </m:sub>
                  </m:sSub>
                  <m:sSup>
                    <m:e>
                      <m:r>
                        <m:rPr>
                          <m:sty m:val="p"/>
                        </m:rPr>
                        <m:t>])</m:t>
                      </m:r>
                    </m:e>
                    <m:sup>
                      <m:r>
                        <m:rPr>
                          <m:sty m:val="p"/>
                        </m:rPr>
                        <m:t>2</m:t>
                      </m:r>
                    </m:sup>
                  </m:sSup>
                  <m:r>
                    <m:rPr>
                      <m:sty m:val="p"/>
                    </m:rPr>
                    <m:t>]</m:t>
                  </m:r>
                </m:oMath>
              </m:oMathPara>
            </a14:m>
            <a:endParaRPr sz="2800" lang="en-GB">
              <a:solidFill>
                <a:srgbClr val="14233B"/>
              </a:solidFill>
            </a:endParaRPr>
          </a:p>
        </p:txBody>
      </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sp>
        <p:nvSpPr>
          <p:cNvPr id="17" name="EDITABLE OfficeMath | Online update"/>
          <p:cNvSpPr txBox="1"/>
          <p:nvPr/>
        </p:nvSpPr>
        <p:spPr>
          <a:xfrm>
            <a:off x="1234440" y="7269480"/>
            <a:ext cx="6078074" cy="6858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w</m:t>
                      </m:r>
                    </m:e>
                    <m:sub>
                      <m:r>
                        <m:rPr>
                          <m:sty m:val="p"/>
                        </m:rPr>
                        <m:t>i</m:t>
                      </m:r>
                    </m:sub>
                  </m:sSub>
                  <m:r>
                    <m:rPr>
                      <m:sty m:val="p"/>
                    </m:rPr>
                    <m:t>(t+1) = </m:t>
                  </m:r>
                  <m:sSub>
                    <m:e>
                      <m:r>
                        <m:rPr>
                          <m:sty m:val="p"/>
                        </m:rPr>
                        <m:t>w</m:t>
                      </m:r>
                    </m:e>
                    <m:sub>
                      <m:r>
                        <m:rPr>
                          <m:sty m:val="p"/>
                        </m:rPr>
                        <m:t>i</m:t>
                      </m:r>
                    </m:sub>
                  </m:sSub>
                  <m:r>
                    <m:rPr>
                      <m:sty m:val="p"/>
                    </m:rPr>
                    <m:t>(t) + ηe(t)</m:t>
                  </m:r>
                  <m:sSub>
                    <m:e>
                      <m:r>
                        <m:rPr>
                          <m:sty m:val="p"/>
                        </m:rPr>
                        <m:t>x</m:t>
                      </m:r>
                    </m:e>
                    <m:sub>
                      <m:r>
                        <m:rPr>
                          <m:sty m:val="p"/>
                        </m:rPr>
                        <m:t>i</m:t>
                      </m:r>
                    </m:sub>
                  </m:sSub>
                  <m:r>
                    <m:rPr>
                      <m:sty m:val="p"/>
                    </m:rPr>
                    <m:t>(t)</m:t>
                  </m:r>
                </m:oMath>
              </m:oMathPara>
            </a14:m>
            <a:endParaRPr sz="2000" lang="en-GB">
              <a:solidFill>
                <a:srgbClr val="14233B"/>
              </a:solidFill>
            </a:endParaRPr>
          </a:p>
        </p:txBody>
      </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sp>
        <p:nvSpPr>
          <p:cNvPr id="10" name="EDITABLE OfficeMath | Vanishing wavelet moments"/>
          <p:cNvSpPr txBox="1"/>
          <p:nvPr/>
        </p:nvSpPr>
        <p:spPr>
          <a:xfrm>
            <a:off x="1234440" y="3497580"/>
            <a:ext cx="7342346"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 </m:t>
                  </m:r>
                  <m:sSup>
                    <m:e>
                      <m:r>
                        <m:rPr>
                          <m:sty m:val="p"/>
                        </m:rPr>
                        <m:t>t</m:t>
                      </m:r>
                    </m:e>
                    <m:sup>
                      <m:r>
                        <m:rPr>
                          <m:sty m:val="p"/>
                        </m:rPr>
                        <m:t>m</m:t>
                      </m:r>
                    </m:sup>
                  </m:sSup>
                  <m:r>
                    <m:rPr>
                      <m:sty m:val="p"/>
                    </m:rPr>
                    <m:t>ψ(t)dt = 0,     m = 0,…,N − 1</m:t>
                  </m:r>
                </m:oMath>
              </m:oMathPara>
            </a14:m>
            <a:endParaRPr sz="2400" lang="en-GB">
              <a:solidFill>
                <a:srgbClr val="14233B"/>
              </a:solidFill>
            </a:endParaRPr>
          </a:p>
        </p:txBody>
      </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sp>
        <p:nvSpPr>
          <p:cNvPr id="11" name="EDITABLE OfficeMath | Linear transformation and covariance"/>
          <p:cNvSpPr txBox="1"/>
          <p:nvPr/>
        </p:nvSpPr>
        <p:spPr>
          <a:xfrm>
            <a:off x="1234440" y="3360420"/>
            <a:ext cx="120845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Y = AZ,    Cov(Z) = I    ⇒    Cov(Y) = A</m:t>
                  </m:r>
                  <m:sSup>
                    <m:e>
                      <m:r>
                        <m:rPr>
                          <m:sty m:val="p"/>
                        </m:rPr>
                        <m:t>A</m:t>
                      </m:r>
                    </m:e>
                    <m:sup>
                      <m:r>
                        <m:rPr>
                          <m:sty m:val="p"/>
                        </m:rPr>
                        <m:t>T</m:t>
                      </m:r>
                    </m:sup>
                  </m:sSup>
                </m:oMath>
              </m:oMathPara>
            </a14:m>
            <a:endParaRPr sz="2300" lang="en-GB">
              <a:solidFill>
                <a:srgbClr val="14233B"/>
              </a:solidFill>
            </a:endParaRPr>
          </a:p>
        </p:txBody>
      </p:sp>
      <p:sp>
        <p:nvSpPr>
          <p:cNvPr id="12" name="EDITABLE OfficeMath | Correlation construction"/>
          <p:cNvSpPr txBox="1"/>
          <p:nvPr/>
        </p:nvSpPr>
        <p:spPr>
          <a:xfrm>
            <a:off x="1234440" y="4869180"/>
            <a:ext cx="13716000" cy="991876"/>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Y</m:t>
                      </m:r>
                    </m:e>
                    <m:sub>
                      <m:r>
                        <m:rPr>
                          <m:sty m:val="p"/>
                        </m:rPr>
                        <m:t>1</m:t>
                      </m:r>
                    </m:sub>
                  </m:sSub>
                  <m:r>
                    <m:rPr>
                      <m:sty m:val="p"/>
                    </m:rPr>
                    <m:t> = </m:t>
                  </m:r>
                  <m:sSub>
                    <m:e>
                      <m:r>
                        <m:rPr>
                          <m:sty m:val="p"/>
                        </m:rPr>
                        <m:t>Z</m:t>
                      </m:r>
                    </m:e>
                    <m:sub>
                      <m:r>
                        <m:rPr>
                          <m:sty m:val="p"/>
                        </m:rPr>
                        <m:t>1</m:t>
                      </m:r>
                    </m:sub>
                  </m:sSub>
                  <m:r>
                    <m:rPr>
                      <m:sty m:val="p"/>
                    </m:rPr>
                    <m:t>,    </m:t>
                  </m:r>
                  <m:sSub>
                    <m:e>
                      <m:r>
                        <m:rPr>
                          <m:sty m:val="p"/>
                        </m:rPr>
                        <m:t>Y</m:t>
                      </m:r>
                    </m:e>
                    <m:sub>
                      <m:r>
                        <m:rPr>
                          <m:sty m:val="p"/>
                        </m:rPr>
                        <m:t>2</m:t>
                      </m:r>
                    </m:sub>
                  </m:sSub>
                  <m:r>
                    <m:rPr>
                      <m:sty m:val="p"/>
                    </m:rPr>
                    <m:t> = a</m:t>
                  </m:r>
                  <m:sSub>
                    <m:e>
                      <m:r>
                        <m:rPr>
                          <m:sty m:val="p"/>
                        </m:rPr>
                        <m:t>Z</m:t>
                      </m:r>
                    </m:e>
                    <m:sub>
                      <m:r>
                        <m:rPr>
                          <m:sty m:val="p"/>
                        </m:rPr>
                        <m:t>1</m:t>
                      </m:r>
                    </m:sub>
                  </m:sSub>
                  <m:r>
                    <m:rPr>
                      <m:sty m:val="p"/>
                    </m:rPr>
                    <m:t> + </m:t>
                  </m:r>
                  <m:sSub>
                    <m:e>
                      <m:r>
                        <m:rPr>
                          <m:sty m:val="p"/>
                        </m:rPr>
                        <m:t>Z</m:t>
                      </m:r>
                    </m:e>
                    <m:sub>
                      <m:r>
                        <m:rPr>
                          <m:sty m:val="p"/>
                        </m:rPr>
                        <m:t>2</m:t>
                      </m:r>
                    </m:sub>
                  </m:sSub>
                  <m:r>
                    <m:rPr>
                      <m:sty m:val="p"/>
                    </m:rPr>
                    <m:t>,    Cov(</m:t>
                  </m:r>
                  <m:sSub>
                    <m:e>
                      <m:r>
                        <m:rPr>
                          <m:sty m:val="p"/>
                        </m:rPr>
                        <m:t>Y</m:t>
                      </m:r>
                    </m:e>
                    <m:sub>
                      <m:r>
                        <m:rPr>
                          <m:sty m:val="p"/>
                        </m:rPr>
                        <m:t>1</m:t>
                      </m:r>
                    </m:sub>
                  </m:sSub>
                  <m:r>
                    <m:rPr>
                      <m:sty m:val="p"/>
                    </m:rPr>
                    <m:t>,</m:t>
                  </m:r>
                  <m:sSub>
                    <m:e>
                      <m:r>
                        <m:rPr>
                          <m:sty m:val="p"/>
                        </m:rPr>
                        <m:t>Y</m:t>
                      </m:r>
                    </m:e>
                    <m:sub>
                      <m:r>
                        <m:rPr>
                          <m:sty m:val="p"/>
                        </m:rPr>
                        <m:t>2</m:t>
                      </m:r>
                    </m:sub>
                  </m:sSub>
                  <m:r>
                    <m:rPr>
                      <m:sty m:val="p"/>
                    </m:rPr>
                    <m:t>) = a</m:t>
                  </m:r>
                </m:oMath>
              </m:oMathPara>
            </a14:m>
            <a:endParaRPr sz="2300" lang="en-GB">
              <a:solidFill>
                <a:srgbClr val="14233B"/>
              </a:solidFill>
            </a:endParaRPr>
          </a:p>
        </p:txBody>
      </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3" name="EDITABLE OfficeMath | CSP spatial filter"/>
          <p:cNvSpPr txBox="1"/>
          <p:nvPr/>
        </p:nvSpPr>
        <p:spPr>
          <a:xfrm>
            <a:off x="1028700" y="3700462"/>
            <a:ext cx="1583055" cy="485775"/>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Z = WE</m:t>
                  </m:r>
                </m:oMath>
              </m:oMathPara>
            </a14:m>
            <a:endParaRPr sz="1800" lang="en-GB">
              <a:solidFill>
                <a:srgbClr val="EFF8FF"/>
              </a:solidFill>
            </a:endParaRPr>
          </a:p>
        </p:txBody>
      </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24" name="EDITABLE OfficeMath | Normalised CSP log-variance feature"/>
          <p:cNvSpPr txBox="1"/>
          <p:nvPr/>
        </p:nvSpPr>
        <p:spPr>
          <a:xfrm>
            <a:off x="1028700" y="5226368"/>
            <a:ext cx="3697605" cy="1343025"/>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f</m:t>
                      </m:r>
                    </m:e>
                    <m:sub>
                      <m:r>
                        <m:rPr>
                          <m:sty m:val="p"/>
                        </m:rPr>
                        <m:t>j</m:t>
                      </m:r>
                    </m:sub>
                  </m:sSub>
                  <m:r>
                    <m:rPr>
                      <m:sty m:val="p"/>
                    </m:rPr>
                    <m:t> = log</m:t>
                  </m:r>
                  <m:r>
                    <m:rPr>
                      <m:sty m:val="p"/>
                    </m:rPr>
                    <m:t>(</m:t>
                  </m:r>
                  <m:f>
                    <m:num>
                      <m:r>
                        <m:rPr>
                          <m:sty m:val="p"/>
                        </m:rPr>
                        <m:t>Var(</m:t>
                      </m:r>
                      <m:sSub>
                        <m:e>
                          <m:r>
                            <m:rPr>
                              <m:sty m:val="p"/>
                            </m:rPr>
                            <m:t>Z</m:t>
                          </m:r>
                        </m:e>
                        <m:sub>
                          <m:r>
                            <m:rPr>
                              <m:sty m:val="p"/>
                            </m:rPr>
                            <m:t>j</m:t>
                          </m:r>
                        </m:sub>
                      </m:sSub>
                      <m:r>
                        <m:rPr>
                          <m:sty m:val="p"/>
                        </m:rPr>
                        <m:t>)</m:t>
                      </m:r>
                    </m:num>
                    <m:den>
                      <m:nary>
                        <m:naryPr>
                          <m:chr m:val="∑"/>
                        </m:naryPr>
                        <m:sub>
                          <m:r>
                            <m:rPr>
                              <m:sty m:val="p"/>
                            </m:rPr>
                            <m:t>k=1</m:t>
                          </m:r>
                        </m:sub>
                        <m:sup>
                          <m:r>
                            <m:rPr>
                              <m:sty m:val="p"/>
                            </m:rPr>
                            <m:t>2m</m:t>
                          </m:r>
                        </m:sup>
                        <m:e>
                          <m:r>
                            <m:rPr>
                              <m:sty m:val="p"/>
                            </m:rPr>
                            <m:t>Var(</m:t>
                          </m:r>
                          <m:sSub>
                            <m:e>
                              <m:r>
                                <m:rPr>
                                  <m:sty m:val="p"/>
                                </m:rPr>
                                <m:t>Z</m:t>
                              </m:r>
                            </m:e>
                            <m:sub>
                              <m:r>
                                <m:rPr>
                                  <m:sty m:val="p"/>
                                </m:rPr>
                                <m:t>k</m:t>
                              </m:r>
                            </m:sub>
                          </m:sSub>
                          <m:r>
                            <m:rPr>
                              <m:sty m:val="p"/>
                            </m:rPr>
                            <m:t>)</m:t>
                          </m:r>
                        </m:e>
                      </m:nary>
                    </m:den>
                  </m:f>
                  <m:r>
                    <m:rPr>
                      <m:sty m:val="p"/>
                    </m:rPr>
                    <m:t>)</m:t>
                  </m:r>
                </m:oMath>
              </m:oMathPara>
            </a14:m>
            <a:endParaRPr sz="2600" lang="en-GB">
              <a:solidFill>
                <a:srgbClr val="EFF8FF"/>
              </a:solidFill>
            </a:endParaRPr>
          </a:p>
        </p:txBody>
      </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25" name="EDITABLE OfficeMath | PCA projection and first component"/>
          <p:cNvSpPr txBox="1"/>
          <p:nvPr/>
        </p:nvSpPr>
        <p:spPr>
          <a:xfrm>
            <a:off x="1028700" y="7420928"/>
            <a:ext cx="5383530" cy="588645"/>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s</m:t>
                      </m:r>
                    </m:e>
                    <m:sub>
                      <m:r>
                        <m:rPr>
                          <m:sty m:val="p"/>
                        </m:rPr>
                        <m:t>i</m:t>
                      </m:r>
                    </m:sub>
                  </m:sSub>
                  <m:r>
                    <m:rPr>
                      <m:sty m:val="p"/>
                    </m:rPr>
                    <m:t> = </m:t>
                  </m:r>
                  <m:sSup>
                    <m:e>
                      <m:r>
                        <m:rPr>
                          <m:sty m:val="p"/>
                        </m:rPr>
                        <m:t>P</m:t>
                      </m:r>
                    </m:e>
                    <m:sup>
                      <m:r>
                        <m:rPr>
                          <m:sty m:val="p"/>
                        </m:rPr>
                        <m:t>T</m:t>
                      </m:r>
                    </m:sup>
                  </m:sSup>
                  <m:r>
                    <m:rPr>
                      <m:sty m:val="p"/>
                    </m:rPr>
                    <m:t>(</m:t>
                  </m:r>
                  <m:sSub>
                    <m:e>
                      <m:r>
                        <m:rPr>
                          <m:sty m:val="p"/>
                        </m:rPr>
                        <m:t>f</m:t>
                      </m:r>
                    </m:e>
                    <m:sub>
                      <m:r>
                        <m:rPr>
                          <m:sty m:val="p"/>
                        </m:rPr>
                        <m:t>i</m:t>
                      </m:r>
                    </m:sub>
                  </m:sSub>
                  <m:r>
                    <m:rPr>
                      <m:sty m:val="p"/>
                    </m:rPr>
                    <m:t> − </m:t>
                  </m:r>
                  <m:sSub>
                    <m:e>
                      <m:r>
                        <m:rPr>
                          <m:sty m:val="p"/>
                        </m:rPr>
                        <m:t>μ</m:t>
                      </m:r>
                    </m:e>
                    <m:sub>
                      <m:r>
                        <m:rPr>
                          <m:sty m:val="p"/>
                        </m:rPr>
                        <m:t>cal</m:t>
                      </m:r>
                    </m:sub>
                  </m:sSub>
                  <m:r>
                    <m:rPr>
                      <m:sty m:val="p"/>
                    </m:rPr>
                    <m:t>),     </m:t>
                  </m:r>
                  <m:sSub>
                    <m:e>
                      <m:r>
                        <m:rPr>
                          <m:sty m:val="p"/>
                        </m:rPr>
                        <m:t>X</m:t>
                      </m:r>
                    </m:e>
                    <m:sub>
                      <m:r>
                        <m:rPr>
                          <m:sty m:val="p"/>
                        </m:rPr>
                        <m:t>i</m:t>
                      </m:r>
                    </m:sub>
                  </m:sSub>
                  <m:r>
                    <m:rPr>
                      <m:sty m:val="p"/>
                    </m:rPr>
                    <m:t> = </m:t>
                  </m:r>
                  <m:sSub>
                    <m:e>
                      <m:r>
                        <m:rPr>
                          <m:sty m:val="p"/>
                        </m:rPr>
                        <m:t>s</m:t>
                      </m:r>
                    </m:e>
                    <m:sub>
                      <m:r>
                        <m:rPr>
                          <m:sty m:val="p"/>
                        </m:rPr>
                        <m:t>i,1</m:t>
                      </m:r>
                    </m:sub>
                  </m:sSub>
                </m:oMath>
              </m:oMathPara>
            </a14:m>
            <a:endParaRPr sz="1800" lang="en-GB">
              <a:solidFill>
                <a:srgbClr val="EFF8FF"/>
              </a:solidFill>
            </a:endParaRPr>
          </a:p>
        </p:txBody>
      </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sp>
        <p:nvSpPr>
          <p:cNvPr id="22" name="EDITABLE OfficeMath | Representation and adaptation"/>
          <p:cNvSpPr txBox="1"/>
          <p:nvPr/>
        </p:nvSpPr>
        <p:spPr>
          <a:xfrm>
            <a:off x="1097280" y="2798064"/>
            <a:ext cx="16116300" cy="1342063"/>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f</m:t>
                      </m:r>
                    </m:e>
                    <m:sub>
                      <m:r>
                        <m:rPr>
                          <m:sty m:val="p"/>
                        </m:rPr>
                        <m:t>t</m:t>
                      </m:r>
                    </m:sub>
                  </m:sSub>
                  <m:r>
                    <m:rPr>
                      <m:sty m:val="p"/>
                    </m:rPr>
                    <m:t> = </m:t>
                  </m:r>
                  <m:sSub>
                    <m:e>
                      <m:r>
                        <m:rPr>
                          <m:sty m:val="p"/>
                        </m:rPr>
                        <m:t>ϕ</m:t>
                      </m:r>
                    </m:e>
                    <m:sub>
                      <m:r>
                        <m:rPr>
                          <m:sty m:val="p"/>
                        </m:rPr>
                        <m:t>0</m:t>
                      </m:r>
                    </m:sub>
                  </m:sSub>
                  <m:r>
                    <m:rPr>
                      <m:sty m:val="p"/>
                    </m:rPr>
                    <m:t>(</m:t>
                  </m:r>
                  <m:sSub>
                    <m:e>
                      <m:r>
                        <m:rPr>
                          <m:sty m:val="p"/>
                        </m:rPr>
                        <m:t>E</m:t>
                      </m:r>
                    </m:e>
                    <m:sub>
                      <m:r>
                        <m:rPr>
                          <m:sty m:val="p"/>
                        </m:rPr>
                        <m:t>t</m:t>
                      </m:r>
                    </m:sub>
                  </m:sSub>
                  <m:r>
                    <m:rPr>
                      <m:sty m:val="p"/>
                    </m:rPr>
                    <m:t>),    </m:t>
                  </m:r>
                  <m:sSub>
                    <m:e>
                      <m:r>
                        <m:rPr>
                          <m:sty m:val="p"/>
                        </m:rPr>
                        <m:t>q</m:t>
                      </m:r>
                    </m:e>
                    <m:sub>
                      <m:r>
                        <m:rPr>
                          <m:sty m:val="p"/>
                        </m:rPr>
                        <m:t>t</m:t>
                      </m:r>
                    </m:sub>
                  </m:sSub>
                  <m:r>
                    <m:rPr>
                      <m:sty m:val="p"/>
                    </m:rPr>
                    <m:t> = </m:t>
                  </m:r>
                  <m:sSup>
                    <m:e>
                      <m:sSub>
                        <m:e>
                          <m:r>
                            <m:rPr>
                              <m:sty m:val="p"/>
                            </m:rPr>
                            <m:t>P</m:t>
                          </m:r>
                        </m:e>
                        <m:sub>
                          <m:r>
                            <m:rPr>
                              <m:sty m:val="p"/>
                            </m:rPr>
                            <m:t>0</m:t>
                          </m:r>
                        </m:sub>
                      </m:sSub>
                    </m:e>
                    <m:sup>
                      <m:r>
                        <m:rPr>
                          <m:sty m:val="p"/>
                        </m:rPr>
                        <m:t>T</m:t>
                      </m:r>
                    </m:sup>
                  </m:sSup>
                  <m:r>
                    <m:rPr>
                      <m:sty m:val="p"/>
                    </m:rPr>
                    <m:t>(</m:t>
                  </m:r>
                  <m:sSub>
                    <m:e>
                      <m:r>
                        <m:rPr>
                          <m:sty m:val="p"/>
                        </m:rPr>
                        <m:t>f</m:t>
                      </m:r>
                    </m:e>
                    <m:sub>
                      <m:r>
                        <m:rPr>
                          <m:sty m:val="p"/>
                        </m:rPr>
                        <m:t>t</m:t>
                      </m:r>
                    </m:sub>
                  </m:sSub>
                  <m:r>
                    <m:rPr>
                      <m:sty m:val="p"/>
                    </m:rPr>
                    <m:t> − </m:t>
                  </m:r>
                  <m:sSub>
                    <m:e>
                      <m:r>
                        <m:rPr>
                          <m:sty m:val="p"/>
                        </m:rPr>
                        <m:t>u</m:t>
                      </m:r>
                    </m:e>
                    <m:sub>
                      <m:r>
                        <m:rPr>
                          <m:sty m:val="p"/>
                        </m:rPr>
                        <m:t>0</m:t>
                      </m:r>
                    </m:sub>
                  </m:sSub>
                  <m:r>
                    <m:rPr>
                      <m:sty m:val="p"/>
                    </m:rPr>
                    <m:t>),    </m:t>
                  </m:r>
                  <m:sSub>
                    <m:e>
                      <m:r>
                        <m:rPr>
                          <m:sty m:val="p"/>
                        </m:rPr>
                        <m:t>ŷ</m:t>
                      </m:r>
                    </m:e>
                    <m:sub>
                      <m:r>
                        <m:rPr>
                          <m:sty m:val="p"/>
                        </m:rPr>
                        <m:t>t</m:t>
                      </m:r>
                    </m:sub>
                  </m:sSub>
                  <m:r>
                    <m:rPr>
                      <m:sty m:val="p"/>
                    </m:rPr>
                    <m:t> = </m:t>
                  </m:r>
                  <m:sSub>
                    <m:e>
                      <m:r>
                        <m:rPr>
                          <m:sty m:val="p"/>
                        </m:rPr>
                        <m:t>g</m:t>
                      </m:r>
                    </m:e>
                    <m:sub>
                      <m:sSub>
                        <m:e>
                          <m:r>
                            <m:rPr>
                              <m:sty m:val="p"/>
                            </m:rPr>
                            <m:t>θ</m:t>
                          </m:r>
                        </m:e>
                        <m:sub>
                          <m:r>
                            <m:rPr>
                              <m:sty m:val="p"/>
                            </m:rPr>
                            <m:t>t</m:t>
                          </m:r>
                        </m:sub>
                      </m:sSub>
                    </m:sub>
                  </m:sSub>
                  <m:r>
                    <m:rPr>
                      <m:sty m:val="p"/>
                    </m:rPr>
                    <m:t>(</m:t>
                  </m:r>
                  <m:sSub>
                    <m:e>
                      <m:r>
                        <m:rPr>
                          <m:sty m:val="p"/>
                        </m:rPr>
                        <m:t>f</m:t>
                      </m:r>
                    </m:e>
                    <m:sub>
                      <m:r>
                        <m:rPr>
                          <m:sty m:val="p"/>
                        </m:rPr>
                        <m:t>t</m:t>
                      </m:r>
                    </m:sub>
                  </m:sSub>
                  <m:r>
                    <m:rPr>
                      <m:sty m:val="p"/>
                    </m:rPr>
                    <m:t>)</m:t>
                  </m:r>
                </m:oMath>
              </m:oMathPara>
            </a14:m>
            <a:endParaRPr sz="2300" lang="en-GB">
              <a:solidFill>
                <a:srgbClr val="14233B"/>
              </a:solidFill>
            </a:endParaRPr>
          </a:p>
        </p:txBody>
      </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26" name="EDITABLE OfficeMath | EWMA statistic and innovation"/>
          <p:cNvSpPr txBox="1"/>
          <p:nvPr/>
        </p:nvSpPr>
        <p:spPr>
          <a:xfrm>
            <a:off x="1028700" y="3745611"/>
            <a:ext cx="7406640" cy="49149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z</m:t>
                      </m:r>
                    </m:e>
                    <m:sub>
                      <m:r>
                        <m:rPr>
                          <m:sty m:val="p"/>
                        </m:rPr>
                        <m:t>i</m:t>
                      </m:r>
                    </m:sub>
                  </m:sSub>
                  <m:r>
                    <m:rPr>
                      <m:sty m:val="p"/>
                    </m:rPr>
                    <m:t> = λ</m:t>
                  </m:r>
                  <m:sSub>
                    <m:e>
                      <m:r>
                        <m:rPr>
                          <m:sty m:val="p"/>
                        </m:rPr>
                        <m:t>x</m:t>
                      </m:r>
                    </m:e>
                    <m:sub>
                      <m:r>
                        <m:rPr>
                          <m:sty m:val="p"/>
                        </m:rPr>
                        <m:t>i</m:t>
                      </m:r>
                    </m:sub>
                  </m:sSub>
                  <m:r>
                    <m:rPr>
                      <m:sty m:val="p"/>
                    </m:rPr>
                    <m:t> + (1−λ)</m:t>
                  </m:r>
                  <m:sSub>
                    <m:e>
                      <m:r>
                        <m:rPr>
                          <m:sty m:val="p"/>
                        </m:rPr>
                        <m:t>z</m:t>
                      </m:r>
                    </m:e>
                    <m:sub>
                      <m:r>
                        <m:rPr>
                          <m:sty m:val="p"/>
                        </m:rPr>
                        <m:t>i−1</m:t>
                      </m:r>
                    </m:sub>
                  </m:sSub>
                  <m:r>
                    <m:rPr>
                      <m:sty m:val="p"/>
                    </m:rPr>
                    <m:t>,    </m:t>
                  </m:r>
                  <m:sSub>
                    <m:e>
                      <m:r>
                        <m:rPr>
                          <m:sty m:val="p"/>
                        </m:rPr>
                        <m:t>e</m:t>
                      </m:r>
                    </m:e>
                    <m:sub>
                      <m:r>
                        <m:rPr>
                          <m:sty m:val="p"/>
                        </m:rPr>
                        <m:t>i</m:t>
                      </m:r>
                    </m:sub>
                  </m:sSub>
                  <m:r>
                    <m:rPr>
                      <m:sty m:val="p"/>
                    </m:rPr>
                    <m:t> = </m:t>
                  </m:r>
                  <m:sSub>
                    <m:e>
                      <m:r>
                        <m:rPr>
                          <m:sty m:val="p"/>
                        </m:rPr>
                        <m:t>x</m:t>
                      </m:r>
                    </m:e>
                    <m:sub>
                      <m:r>
                        <m:rPr>
                          <m:sty m:val="p"/>
                        </m:rPr>
                        <m:t>i</m:t>
                      </m:r>
                    </m:sub>
                  </m:sSub>
                  <m:r>
                    <m:rPr>
                      <m:sty m:val="p"/>
                    </m:rPr>
                    <m:t> − </m:t>
                  </m:r>
                  <m:sSub>
                    <m:e>
                      <m:r>
                        <m:rPr>
                          <m:sty m:val="p"/>
                        </m:rPr>
                        <m:t>z</m:t>
                      </m:r>
                    </m:e>
                    <m:sub>
                      <m:r>
                        <m:rPr>
                          <m:sty m:val="p"/>
                        </m:rPr>
                        <m:t>i−1</m:t>
                      </m:r>
                    </m:sub>
                  </m:sSub>
                </m:oMath>
              </m:oMathPara>
            </a14:m>
            <a:endParaRPr sz="1800" lang="en-GB">
              <a:solidFill>
                <a:srgbClr val="EFF8FF"/>
              </a:solidFill>
            </a:endParaRPr>
          </a:p>
        </p:txBody>
      </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27" name="EDITABLE OfficeMath | EWMA upper and lower control limits"/>
          <p:cNvSpPr txBox="1"/>
          <p:nvPr/>
        </p:nvSpPr>
        <p:spPr>
          <a:xfrm>
            <a:off x="1028700" y="5189563"/>
            <a:ext cx="8641080" cy="483946"/>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UCL</m:t>
                      </m:r>
                    </m:e>
                    <m:sub>
                      <m:r>
                        <m:rPr>
                          <m:sty m:val="p"/>
                        </m:rPr>
                        <m:t>i</m:t>
                      </m:r>
                    </m:sub>
                  </m:sSub>
                  <m:r>
                    <m:rPr>
                      <m:sty m:val="p"/>
                    </m:rPr>
                    <m:t> = </m:t>
                  </m:r>
                  <m:sSub>
                    <m:e>
                      <m:r>
                        <m:rPr>
                          <m:sty m:val="p"/>
                        </m:rPr>
                        <m:t>z</m:t>
                      </m:r>
                    </m:e>
                    <m:sub>
                      <m:r>
                        <m:rPr>
                          <m:sty m:val="p"/>
                        </m:rPr>
                        <m:t>i−1</m:t>
                      </m:r>
                    </m:sub>
                  </m:sSub>
                  <m:r>
                    <m:rPr>
                      <m:sty m:val="p"/>
                    </m:rPr>
                    <m:t> + L</m:t>
                  </m:r>
                  <m:sSub>
                    <m:e>
                      <m:r>
                        <m:rPr>
                          <m:sty m:val="p"/>
                        </m:rPr>
                        <m:t>σ</m:t>
                      </m:r>
                    </m:e>
                    <m:sub>
                      <m:r>
                        <m:rPr>
                          <m:sty m:val="p"/>
                        </m:rPr>
                        <m:t>e,i−1</m:t>
                      </m:r>
                    </m:sub>
                  </m:sSub>
                  <m:r>
                    <m:rPr>
                      <m:sty m:val="p"/>
                    </m:rPr>
                    <m:t>,    </m:t>
                  </m:r>
                  <m:sSub>
                    <m:e>
                      <m:r>
                        <m:rPr>
                          <m:sty m:val="p"/>
                        </m:rPr>
                        <m:t>LCL</m:t>
                      </m:r>
                    </m:e>
                    <m:sub>
                      <m:r>
                        <m:rPr>
                          <m:sty m:val="p"/>
                        </m:rPr>
                        <m:t>i</m:t>
                      </m:r>
                    </m:sub>
                  </m:sSub>
                  <m:r>
                    <m:rPr>
                      <m:sty m:val="p"/>
                    </m:rPr>
                    <m:t> = </m:t>
                  </m:r>
                  <m:sSub>
                    <m:e>
                      <m:r>
                        <m:rPr>
                          <m:sty m:val="p"/>
                        </m:rPr>
                        <m:t>z</m:t>
                      </m:r>
                    </m:e>
                    <m:sub>
                      <m:r>
                        <m:rPr>
                          <m:sty m:val="p"/>
                        </m:rPr>
                        <m:t>i−1</m:t>
                      </m:r>
                    </m:sub>
                  </m:sSub>
                  <m:r>
                    <m:rPr>
                      <m:sty m:val="p"/>
                    </m:rPr>
                    <m:t> − L</m:t>
                  </m:r>
                  <m:sSub>
                    <m:e>
                      <m:r>
                        <m:rPr>
                          <m:sty m:val="p"/>
                        </m:rPr>
                        <m:t>σ</m:t>
                      </m:r>
                    </m:e>
                    <m:sub>
                      <m:r>
                        <m:rPr>
                          <m:sty m:val="p"/>
                        </m:rPr>
                        <m:t>e,i−1</m:t>
                      </m:r>
                    </m:sub>
                  </m:sSub>
                </m:oMath>
              </m:oMathPara>
            </a14:m>
            <a:endParaRPr sz="1800" lang="en-GB">
              <a:solidFill>
                <a:srgbClr val="EFF8FF"/>
              </a:solidFill>
            </a:endParaRPr>
          </a:p>
        </p:txBody>
      </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28" name="EDITABLE OfficeMath | Variance EWMA recurrence"/>
          <p:cNvSpPr txBox="1"/>
          <p:nvPr/>
        </p:nvSpPr>
        <p:spPr>
          <a:xfrm>
            <a:off x="1028700" y="6551676"/>
            <a:ext cx="5514975" cy="64008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rPr>
                          <m:sty m:val="p"/>
                        </m:rPr>
                        <m:t>σ</m:t>
                      </m:r>
                    </m:e>
                    <m:sub>
                      <m:r>
                        <m:rPr>
                          <m:sty m:val="p"/>
                        </m:rPr>
                        <m:t>e,i</m:t>
                      </m:r>
                    </m:sub>
                    <m:sup>
                      <m:r>
                        <m:rPr>
                          <m:sty m:val="p"/>
                        </m:rPr>
                        <m:t>2</m:t>
                      </m:r>
                    </m:sup>
                  </m:sSubSup>
                  <m:r>
                    <m:rPr>
                      <m:sty m:val="p"/>
                    </m:rPr>
                    <m:t> = </m:t>
                  </m:r>
                  <m:sSub>
                    <m:e>
                      <m:r>
                        <m:rPr>
                          <m:sty m:val="p"/>
                        </m:rPr>
                        <m:t>α</m:t>
                      </m:r>
                    </m:e>
                    <m:sub>
                      <m:r>
                        <m:rPr>
                          <m:sty m:val="p"/>
                        </m:rPr>
                        <m:t>v</m:t>
                      </m:r>
                    </m:sub>
                  </m:sSub>
                  <m:sSup>
                    <m:e>
                      <m:sSub>
                        <m:e>
                          <m:r>
                            <m:rPr>
                              <m:sty m:val="p"/>
                            </m:rPr>
                            <m:t>e</m:t>
                          </m:r>
                        </m:e>
                        <m:sub>
                          <m:r>
                            <m:rPr>
                              <m:sty m:val="p"/>
                            </m:rPr>
                            <m:t>i</m:t>
                          </m:r>
                        </m:sub>
                      </m:sSub>
                    </m:e>
                    <m:sup>
                      <m:r>
                        <m:rPr>
                          <m:sty m:val="p"/>
                        </m:rPr>
                        <m:t>2</m:t>
                      </m:r>
                    </m:sup>
                  </m:sSup>
                  <m:r>
                    <m:rPr>
                      <m:sty m:val="p"/>
                    </m:rPr>
                    <m:t> + (1−</m:t>
                  </m:r>
                  <m:sSub>
                    <m:e>
                      <m:r>
                        <m:rPr>
                          <m:sty m:val="p"/>
                        </m:rPr>
                        <m:t>α</m:t>
                      </m:r>
                    </m:e>
                    <m:sub>
                      <m:r>
                        <m:rPr>
                          <m:sty m:val="p"/>
                        </m:rPr>
                        <m:t>v</m:t>
                      </m:r>
                    </m:sub>
                  </m:sSub>
                  <m:r>
                    <m:rPr>
                      <m:sty m:val="p"/>
                    </m:rPr>
                    <m:t>)</m:t>
                  </m:r>
                  <m:sSubSup>
                    <m:e>
                      <m:r>
                        <m:rPr>
                          <m:sty m:val="p"/>
                        </m:rPr>
                        <m:t>σ</m:t>
                      </m:r>
                    </m:e>
                    <m:sub>
                      <m:r>
                        <m:rPr>
                          <m:sty m:val="p"/>
                        </m:rPr>
                        <m:t>e,i−1</m:t>
                      </m:r>
                    </m:sub>
                    <m:sup>
                      <m:r>
                        <m:rPr>
                          <m:sty m:val="p"/>
                        </m:rPr>
                        <m:t>2</m:t>
                      </m:r>
                    </m:sup>
                  </m:sSubSup>
                </m:oMath>
              </m:oMathPara>
            </a14:m>
            <a:endParaRPr sz="1800" lang="en-GB">
              <a:solidFill>
                <a:srgbClr val="EFF8FF"/>
              </a:solidFill>
            </a:endParaRPr>
          </a:p>
        </p:txBody>
      </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29" name="EDITABLE OfficeMath | Two-sample Hotelling T squared"/>
          <p:cNvSpPr txBox="1"/>
          <p:nvPr/>
        </p:nvSpPr>
        <p:spPr>
          <a:xfrm>
            <a:off x="10081260" y="3980497"/>
            <a:ext cx="6623685" cy="680085"/>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p>
                    <m:e>
                      <m:r>
                        <m:rPr>
                          <m:sty m:val="p"/>
                        </m:rPr>
                        <m:t>T</m:t>
                      </m:r>
                    </m:e>
                    <m:sup>
                      <m:r>
                        <m:rPr>
                          <m:sty m:val="p"/>
                        </m:rPr>
                        <m:t>2</m:t>
                      </m:r>
                    </m:sup>
                  </m:sSup>
                  <m:r>
                    <m:rPr>
                      <m:sty m:val="p"/>
                    </m:rPr>
                    <m:t> = </m:t>
                  </m:r>
                  <m:f>
                    <m:num>
                      <m:sSub>
                        <m:e>
                          <m:r>
                            <m:rPr>
                              <m:sty m:val="p"/>
                            </m:rPr>
                            <m:t>n</m:t>
                          </m:r>
                        </m:e>
                        <m:sub>
                          <m:r>
                            <m:rPr>
                              <m:sty m:val="p"/>
                            </m:rPr>
                            <m:t>1</m:t>
                          </m:r>
                        </m:sub>
                      </m:sSub>
                      <m:sSub>
                        <m:e>
                          <m:r>
                            <m:rPr>
                              <m:sty m:val="p"/>
                            </m:rPr>
                            <m:t>n</m:t>
                          </m:r>
                        </m:e>
                        <m:sub>
                          <m:r>
                            <m:rPr>
                              <m:sty m:val="p"/>
                            </m:rPr>
                            <m:t>2</m:t>
                          </m:r>
                        </m:sub>
                      </m:sSub>
                    </m:num>
                    <m:den>
                      <m:sSub>
                        <m:e>
                          <m:r>
                            <m:rPr>
                              <m:sty m:val="p"/>
                            </m:rPr>
                            <m:t>n</m:t>
                          </m:r>
                        </m:e>
                        <m:sub>
                          <m:r>
                            <m:rPr>
                              <m:sty m:val="p"/>
                            </m:rPr>
                            <m:t>1</m:t>
                          </m:r>
                        </m:sub>
                      </m:sSub>
                      <m:r>
                        <m:rPr>
                          <m:sty m:val="p"/>
                        </m:rPr>
                        <m:t>+</m:t>
                      </m:r>
                      <m:sSub>
                        <m:e>
                          <m:r>
                            <m:rPr>
                              <m:sty m:val="p"/>
                            </m:rPr>
                            <m:t>n</m:t>
                          </m:r>
                        </m:e>
                        <m:sub>
                          <m:r>
                            <m:rPr>
                              <m:sty m:val="p"/>
                            </m:rPr>
                            <m:t>2</m:t>
                          </m:r>
                        </m:sub>
                      </m:sSub>
                    </m:den>
                  </m:f>
                  <m:r>
                    <m:rPr>
                      <m:sty m:val="p"/>
                    </m:rPr>
                    <m:t>(</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sSup>
                    <m:e>
                      <m:r>
                        <m:rPr>
                          <m:sty m:val="p"/>
                        </m:rPr>
                        <m:t>)</m:t>
                      </m:r>
                    </m:e>
                    <m:sup>
                      <m:r>
                        <m:rPr>
                          <m:sty m:val="p"/>
                        </m:rPr>
                        <m:t>T</m:t>
                      </m:r>
                    </m:sup>
                  </m:sSup>
                  <m:sSup>
                    <m:e>
                      <m:sSub>
                        <m:e>
                          <m:r>
                            <m:rPr>
                              <m:sty m:val="p"/>
                            </m:rPr>
                            <m:t>S</m:t>
                          </m:r>
                        </m:e>
                        <m:sub>
                          <m:r>
                            <m:rPr>
                              <m:sty m:val="p"/>
                            </m:rPr>
                            <m:t>p</m:t>
                          </m:r>
                        </m:sub>
                      </m:sSub>
                    </m:e>
                    <m:sup>
                      <m:r>
                        <m:rPr>
                          <m:sty m:val="p"/>
                        </m:rPr>
                        <m:t>−1</m:t>
                      </m:r>
                    </m:sup>
                  </m:sSup>
                  <m:r>
                    <m:rPr>
                      <m:sty m:val="p"/>
                    </m:rPr>
                    <m:t>(</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r>
                    <m:rPr>
                      <m:sty m:val="p"/>
                    </m:rPr>
                    <m:t>)</m:t>
                  </m:r>
                </m:oMath>
              </m:oMathPara>
            </a14:m>
            <a:endParaRPr sz="2000" lang="en-GB">
              <a:solidFill>
                <a:srgbClr val="EFF8FF"/>
              </a:solidFill>
            </a:endParaRPr>
          </a:p>
        </p:txBody>
      </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30" name="EDITABLE OfficeMath | Detection threshold and degrees of freedom"/>
          <p:cNvSpPr txBox="1"/>
          <p:nvPr/>
        </p:nvSpPr>
        <p:spPr>
          <a:xfrm>
            <a:off x="10149840" y="5842444"/>
            <a:ext cx="5657850" cy="508635"/>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p &lt; </m:t>
                  </m:r>
                  <m:sSub>
                    <m:e>
                      <m:r>
                        <m:rPr>
                          <m:sty m:val="p"/>
                        </m:rPr>
                        <m:t>α</m:t>
                      </m:r>
                    </m:e>
                    <m:sub>
                      <m:r>
                        <m:rPr>
                          <m:sty m:val="p"/>
                        </m:rPr>
                        <m:t>test</m:t>
                      </m:r>
                    </m:sub>
                  </m:sSub>
                  <m:r>
                    <m:rPr>
                      <m:sty m:val="p"/>
                    </m:rPr>
                    <m:t>,     2H − d − 1 &gt; 0</m:t>
                  </m:r>
                </m:oMath>
              </m:oMathPara>
            </a14:m>
            <a:endParaRPr sz="1800" lang="en-GB">
              <a:solidFill>
                <a:srgbClr val="EFF8FF"/>
              </a:solidFill>
            </a:endParaRPr>
          </a:p>
        </p:txBody>
      </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sp>
        <p:nvSpPr>
          <p:cNvPr id="12" name="EDITABLE OfficeMath | One-sample online T squared"/>
          <p:cNvSpPr txBox="1"/>
          <p:nvPr/>
        </p:nvSpPr>
        <p:spPr>
          <a:xfrm>
            <a:off x="1234440" y="3497580"/>
            <a:ext cx="6359652" cy="8915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rPr>
                          <m:sty m:val="p"/>
                        </m:rPr>
                        <m:t>T</m:t>
                      </m:r>
                    </m:e>
                    <m:sub>
                      <m:r>
                        <m:rPr>
                          <m:sty m:val="p"/>
                        </m:rPr>
                        <m:t>t</m:t>
                      </m:r>
                    </m:sub>
                    <m:sup>
                      <m:r>
                        <m:rPr>
                          <m:sty m:val="p"/>
                        </m:rPr>
                        <m:t>2</m:t>
                      </m:r>
                    </m:sup>
                  </m:sSubSup>
                  <m:r>
                    <m:rPr>
                      <m:sty m:val="p"/>
                    </m:rPr>
                    <m:t> = (</m:t>
                  </m:r>
                  <m:sSub>
                    <m:e>
                      <m:r>
                        <m:rPr>
                          <m:sty m:val="p"/>
                        </m:rPr>
                        <m:t>z</m:t>
                      </m:r>
                    </m:e>
                    <m:sub>
                      <m:r>
                        <m:rPr>
                          <m:sty m:val="p"/>
                        </m:rPr>
                        <m:t>t</m:t>
                      </m:r>
                    </m:sub>
                  </m:sSub>
                  <m:r>
                    <m:rPr>
                      <m:sty m:val="p"/>
                    </m:rPr>
                    <m:t> − </m:t>
                  </m:r>
                  <m:sSub>
                    <m:e>
                      <m:r>
                        <m:rPr>
                          <m:sty m:val="p"/>
                        </m:rPr>
                        <m:t>μ</m:t>
                      </m:r>
                    </m:e>
                    <m:sub>
                      <m:r>
                        <m:rPr>
                          <m:sty m:val="p"/>
                        </m:rPr>
                        <m:t>0</m:t>
                      </m:r>
                    </m:sub>
                  </m:sSub>
                  <m:sSup>
                    <m:e>
                      <m:r>
                        <m:rPr>
                          <m:sty m:val="p"/>
                        </m:rPr>
                        <m:t>)</m:t>
                      </m:r>
                    </m:e>
                    <m:sup>
                      <m:r>
                        <m:rPr>
                          <m:sty m:val="p"/>
                        </m:rPr>
                        <m:t>T</m:t>
                      </m:r>
                    </m:sup>
                  </m:sSup>
                  <m:sSup>
                    <m:e>
                      <m:sSub>
                        <m:e>
                          <m:r>
                            <m:rPr>
                              <m:sty m:val="p"/>
                            </m:rPr>
                            <m:t>Σ</m:t>
                          </m:r>
                        </m:e>
                        <m:sub>
                          <m:r>
                            <m:rPr>
                              <m:sty m:val="p"/>
                            </m:rPr>
                            <m:t>z,t</m:t>
                          </m:r>
                        </m:sub>
                      </m:sSub>
                    </m:e>
                    <m:sup>
                      <m:r>
                        <m:rPr>
                          <m:sty m:val="p"/>
                        </m:rPr>
                        <m:t>−1</m:t>
                      </m:r>
                    </m:sup>
                  </m:sSup>
                  <m:r>
                    <m:rPr>
                      <m:sty m:val="p"/>
                    </m:rPr>
                    <m:t>(</m:t>
                  </m:r>
                  <m:sSub>
                    <m:e>
                      <m:r>
                        <m:rPr>
                          <m:sty m:val="p"/>
                        </m:rPr>
                        <m:t>z</m:t>
                      </m:r>
                    </m:e>
                    <m:sub>
                      <m:r>
                        <m:rPr>
                          <m:sty m:val="p"/>
                        </m:rPr>
                        <m:t>t</m:t>
                      </m:r>
                    </m:sub>
                  </m:sSub>
                  <m:r>
                    <m:rPr>
                      <m:sty m:val="p"/>
                    </m:rPr>
                    <m:t> − </m:t>
                  </m:r>
                  <m:sSub>
                    <m:e>
                      <m:r>
                        <m:rPr>
                          <m:sty m:val="p"/>
                        </m:rPr>
                        <m:t>μ</m:t>
                      </m:r>
                    </m:e>
                    <m:sub>
                      <m:r>
                        <m:rPr>
                          <m:sty m:val="p"/>
                        </m:rPr>
                        <m:t>0</m:t>
                      </m:r>
                    </m:sub>
                  </m:sSub>
                  <m:r>
                    <m:rPr>
                      <m:sty m:val="p"/>
                    </m:rPr>
                    <m:t>)</m:t>
                  </m:r>
                </m:oMath>
              </m:oMathPara>
            </a14:m>
            <a:endParaRPr sz="2600" lang="en-GB">
              <a:solidFill>
                <a:srgbClr val="14233B"/>
              </a:solidFill>
            </a:endParaRPr>
          </a:p>
        </p:txBody>
      </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sp>
        <p:nvSpPr>
          <p:cNvPr id="13" name="EDITABLE OfficeMath | Pooled two-sample Hotelling"/>
          <p:cNvSpPr txBox="1"/>
          <p:nvPr/>
        </p:nvSpPr>
        <p:spPr>
          <a:xfrm>
            <a:off x="1234440" y="6035040"/>
            <a:ext cx="7874470"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p>
                    <m:e>
                      <m:r>
                        <m:rPr>
                          <m:sty m:val="p"/>
                        </m:rPr>
                        <m:t>T</m:t>
                      </m:r>
                    </m:e>
                    <m:sup>
                      <m:r>
                        <m:rPr>
                          <m:sty m:val="p"/>
                        </m:rPr>
                        <m:t>2</m:t>
                      </m:r>
                    </m:sup>
                  </m:sSup>
                  <m:r>
                    <m:rPr>
                      <m:sty m:val="p"/>
                    </m:rPr>
                    <m:t> = </m:t>
                  </m:r>
                  <m:f>
                    <m:num>
                      <m:sSub>
                        <m:e>
                          <m:r>
                            <m:rPr>
                              <m:sty m:val="p"/>
                            </m:rPr>
                            <m:t>n</m:t>
                          </m:r>
                        </m:e>
                        <m:sub>
                          <m:r>
                            <m:rPr>
                              <m:sty m:val="p"/>
                            </m:rPr>
                            <m:t>1</m:t>
                          </m:r>
                        </m:sub>
                      </m:sSub>
                      <m:sSub>
                        <m:e>
                          <m:r>
                            <m:rPr>
                              <m:sty m:val="p"/>
                            </m:rPr>
                            <m:t>n</m:t>
                          </m:r>
                        </m:e>
                        <m:sub>
                          <m:r>
                            <m:rPr>
                              <m:sty m:val="p"/>
                            </m:rPr>
                            <m:t>2</m:t>
                          </m:r>
                        </m:sub>
                      </m:sSub>
                    </m:num>
                    <m:den>
                      <m:sSub>
                        <m:e>
                          <m:r>
                            <m:rPr>
                              <m:sty m:val="p"/>
                            </m:rPr>
                            <m:t>n</m:t>
                          </m:r>
                        </m:e>
                        <m:sub>
                          <m:r>
                            <m:rPr>
                              <m:sty m:val="p"/>
                            </m:rPr>
                            <m:t>1</m:t>
                          </m:r>
                        </m:sub>
                      </m:sSub>
                      <m:r>
                        <m:rPr>
                          <m:sty m:val="p"/>
                        </m:rPr>
                        <m:t> + </m:t>
                      </m:r>
                      <m:sSub>
                        <m:e>
                          <m:r>
                            <m:rPr>
                              <m:sty m:val="p"/>
                            </m:rPr>
                            <m:t>n</m:t>
                          </m:r>
                        </m:e>
                        <m:sub>
                          <m:r>
                            <m:rPr>
                              <m:sty m:val="p"/>
                            </m:rPr>
                            <m:t>2</m:t>
                          </m:r>
                        </m:sub>
                      </m:sSub>
                    </m:den>
                  </m:f>
                  <m:r>
                    <m:rPr>
                      <m:sty m:val="p"/>
                    </m:rPr>
                    <m:t>(</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sSup>
                    <m:e>
                      <m:r>
                        <m:rPr>
                          <m:sty m:val="p"/>
                        </m:rPr>
                        <m:t>)</m:t>
                      </m:r>
                    </m:e>
                    <m:sup>
                      <m:r>
                        <m:rPr>
                          <m:sty m:val="p"/>
                        </m:rPr>
                        <m:t>T</m:t>
                      </m:r>
                    </m:sup>
                  </m:sSup>
                  <m:sSup>
                    <m:e>
                      <m:sSub>
                        <m:e>
                          <m:r>
                            <m:rPr>
                              <m:sty m:val="p"/>
                            </m:rPr>
                            <m:t>S</m:t>
                          </m:r>
                        </m:e>
                        <m:sub>
                          <m:r>
                            <m:rPr>
                              <m:sty m:val="p"/>
                            </m:rPr>
                            <m:t>p</m:t>
                          </m:r>
                        </m:sub>
                      </m:sSub>
                    </m:e>
                    <m:sup>
                      <m:r>
                        <m:rPr>
                          <m:sty m:val="p"/>
                        </m:rPr>
                        <m:t>−1</m:t>
                      </m:r>
                    </m:sup>
                  </m:sSup>
                  <m:r>
                    <m:rPr>
                      <m:sty m:val="p"/>
                    </m:rPr>
                    <m:t>(</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r>
                    <m:rPr>
                      <m:sty m:val="p"/>
                    </m:rPr>
                    <m:t>)</m:t>
                  </m:r>
                </m:oMath>
              </m:oMathPara>
            </a14:m>
            <a:endParaRPr sz="2800" lang="en-GB">
              <a:solidFill>
                <a:srgbClr val="14233B"/>
              </a:solidFill>
            </a:endParaRPr>
          </a:p>
        </p:txBody>
      </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sp>
        <p:nvSpPr>
          <p:cNvPr id="10" name="EDITABLE OfficeMath | Unpooled covariance weighted mean difference"/>
          <p:cNvSpPr txBox="1"/>
          <p:nvPr/>
        </p:nvSpPr>
        <p:spPr>
          <a:xfrm>
            <a:off x="1234440" y="3429000"/>
            <a:ext cx="8260080" cy="10287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rPr>
                      <m:sty m:val="p"/>
                    </m:rPr>
                    <m:t>Q = (</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sSup>
                    <m:e>
                      <m:r>
                        <m:rPr>
                          <m:sty m:val="p"/>
                        </m:rPr>
                        <m:t>)</m:t>
                      </m:r>
                    </m:e>
                    <m:sup>
                      <m:r>
                        <m:rPr>
                          <m:sty m:val="p"/>
                        </m:rPr>
                        <m:t>T</m:t>
                      </m:r>
                    </m:sup>
                  </m:sSup>
                  <m:sSup>
                    <m:e>
                      <m:r>
                        <m:rPr>
                          <m:sty m:val="p"/>
                        </m:rPr>
                        <m:t>(</m:t>
                      </m:r>
                      <m:f>
                        <m:num>
                          <m:sSub>
                            <m:e>
                              <m:r>
                                <m:rPr>
                                  <m:sty m:val="p"/>
                                </m:rPr>
                                <m:t>S</m:t>
                              </m:r>
                            </m:e>
                            <m:sub>
                              <m:r>
                                <m:rPr>
                                  <m:sty m:val="p"/>
                                </m:rPr>
                                <m:t>1</m:t>
                              </m:r>
                            </m:sub>
                          </m:sSub>
                        </m:num>
                        <m:den>
                          <m:sSub>
                            <m:e>
                              <m:r>
                                <m:rPr>
                                  <m:sty m:val="p"/>
                                </m:rPr>
                                <m:t>n</m:t>
                              </m:r>
                            </m:e>
                            <m:sub>
                              <m:r>
                                <m:rPr>
                                  <m:sty m:val="p"/>
                                </m:rPr>
                                <m:t>1</m:t>
                              </m:r>
                            </m:sub>
                          </m:sSub>
                        </m:den>
                      </m:f>
                      <m:r>
                        <m:rPr>
                          <m:sty m:val="p"/>
                        </m:rPr>
                        <m:t> + </m:t>
                      </m:r>
                      <m:f>
                        <m:num>
                          <m:sSub>
                            <m:e>
                              <m:r>
                                <m:rPr>
                                  <m:sty m:val="p"/>
                                </m:rPr>
                                <m:t>S</m:t>
                              </m:r>
                            </m:e>
                            <m:sub>
                              <m:r>
                                <m:rPr>
                                  <m:sty m:val="p"/>
                                </m:rPr>
                                <m:t>2</m:t>
                              </m:r>
                            </m:sub>
                          </m:sSub>
                        </m:num>
                        <m:den>
                          <m:sSub>
                            <m:e>
                              <m:r>
                                <m:rPr>
                                  <m:sty m:val="p"/>
                                </m:rPr>
                                <m:t>n</m:t>
                              </m:r>
                            </m:e>
                            <m:sub>
                              <m:r>
                                <m:rPr>
                                  <m:sty m:val="p"/>
                                </m:rPr>
                                <m:t>2</m:t>
                              </m:r>
                            </m:sub>
                          </m:sSub>
                        </m:den>
                      </m:f>
                      <m:r>
                        <m:rPr>
                          <m:sty m:val="p"/>
                        </m:rPr>
                        <m:t>)</m:t>
                      </m:r>
                    </m:e>
                    <m:sup>
                      <m:r>
                        <m:rPr>
                          <m:sty m:val="p"/>
                        </m:rPr>
                        <m:t>−1</m:t>
                      </m:r>
                    </m:sup>
                  </m:sSup>
                  <m:r>
                    <m:rPr>
                      <m:sty m:val="p"/>
                    </m:rPr>
                    <m:t>(</m:t>
                  </m:r>
                  <m:acc>
                    <m:accPr>
                      <m:chr m:val="̄"/>
                    </m:accPr>
                    <m:e>
                      <m:sSub>
                        <m:e>
                          <m:r>
                            <m:rPr>
                              <m:sty m:val="p"/>
                            </m:rPr>
                            <m:t>x</m:t>
                          </m:r>
                        </m:e>
                        <m:sub>
                          <m:r>
                            <m:rPr>
                              <m:sty m:val="p"/>
                            </m:rPr>
                            <m:t>1</m:t>
                          </m:r>
                        </m:sub>
                      </m:sSub>
                    </m:e>
                  </m:acc>
                  <m:r>
                    <m:rPr>
                      <m:sty m:val="p"/>
                    </m:rPr>
                    <m:t> − </m:t>
                  </m:r>
                  <m:acc>
                    <m:accPr>
                      <m:chr m:val="̄"/>
                    </m:accPr>
                    <m:e>
                      <m:sSub>
                        <m:e>
                          <m:r>
                            <m:rPr>
                              <m:sty m:val="p"/>
                            </m:rPr>
                            <m:t>x</m:t>
                          </m:r>
                        </m:e>
                        <m:sub>
                          <m:r>
                            <m:rPr>
                              <m:sty m:val="p"/>
                            </m:rPr>
                            <m:t>2</m:t>
                          </m:r>
                        </m:sub>
                      </m:sSub>
                    </m:e>
                  </m:acc>
                  <m:r>
                    <m:rPr>
                      <m:sty m:val="p"/>
                    </m:rPr>
                    <m:t>)</m:t>
                  </m:r>
                </m:oMath>
              </m:oMathPara>
            </a14:m>
            <a:endParaRPr sz="3000" lang="en-GB">
              <a:solidFill>
                <a:srgbClr val="14233B"/>
              </a:solidFill>
            </a:endParaRPr>
          </a:p>
        </p:txBody>
      </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sp>
        <p:nvSpPr>
          <p:cNvPr id="22" name="EDITABLE OfficeMath | CUSUM auxiliary quantity"/>
          <p:cNvSpPr txBox="1"/>
          <p:nvPr/>
        </p:nvSpPr>
        <p:spPr>
          <a:xfrm>
            <a:off x="14785848" y="8738902"/>
            <a:ext cx="914962" cy="250288"/>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rPr>
                          <m:sty m:val="p"/>
                        </m:rPr>
                        <m:t>Q</m:t>
                      </m:r>
                    </m:e>
                    <m:sub>
                      <m:r>
                        <m:rPr>
                          <m:sty m:val="p"/>
                        </m:rPr>
                        <m:t>t</m:t>
                      </m:r>
                    </m:sub>
                  </m:sSub>
                  <m:r>
                    <m:rPr>
                      <m:sty m:val="p"/>
                    </m:rPr>
                    <m:t> = d</m:t>
                  </m:r>
                  <m:sSub>
                    <m:e>
                      <m:r>
                        <m:rPr>
                          <m:sty m:val="p"/>
                        </m:rPr>
                        <m:t>L</m:t>
                      </m:r>
                    </m:e>
                    <m:sub>
                      <m:r>
                        <m:rPr>
                          <m:sty m:val="p"/>
                        </m:rPr>
                        <m:t>t</m:t>
                      </m:r>
                    </m:sub>
                  </m:sSub>
                </m:oMath>
              </m:oMathPara>
            </a14:m>
            <a:endParaRPr sz="1800" lang="en-GB">
              <a:solidFill>
                <a:srgbClr val="00DDC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8820</Words>
  <Application>Microsoft Office PowerPoint</Application>
  <PresentationFormat>Custom</PresentationFormat>
  <Paragraphs>1043</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Calibri (MS) Bold</vt:lpstr>
      <vt:lpstr>Calibri (MS)</vt:lpstr>
      <vt:lpstr>Roboto Bold</vt:lpstr>
      <vt:lpstr>Calibri (MS) Italics</vt:lpstr>
      <vt:lpstr>Calibri</vt:lpstr>
      <vt:lpstr>Inter Bold</vt:lpstr>
      <vt:lpstr>Inter Italics</vt:lpstr>
      <vt:lpstr>Consolas</vt:lpstr>
      <vt:lpstr>Arial</vt:lpstr>
      <vt:lpstr>Inter Semi-Bold</vt:lpstr>
      <vt:lpstr>DejaVu Sans Bold</vt:lpstr>
      <vt:lpstr>Aptos</vt:lpstr>
      <vt:lpstr>Inter Medium</vt:lpstr>
      <vt:lpstr>DejaVu Sans Light</vt:lpstr>
      <vt:lpstr>Aptos Bold</vt:lpstr>
      <vt:lpstr>Inter</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2026-10-15T10:38:23Z</dcterms:modified>
  <dc:identifier>DAHYBaR-K0c</dc:identifier>
</cp:coreProperties>
</file>