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6"/>
  </p:notesMasterIdLst>
  <p:sldIdLst>
    <p:sldId id="256" r:id="rId2"/>
    <p:sldId id="257" r:id="rId3"/>
    <p:sldId id="300" r:id="rId4"/>
    <p:sldId id="302" r:id="rId5"/>
    <p:sldId id="303" r:id="rId6"/>
    <p:sldId id="258" r:id="rId7"/>
    <p:sldId id="304" r:id="rId8"/>
    <p:sldId id="305" r:id="rId9"/>
    <p:sldId id="306" r:id="rId10"/>
    <p:sldId id="307" r:id="rId11"/>
    <p:sldId id="308" r:id="rId12"/>
    <p:sldId id="309" r:id="rId13"/>
    <p:sldId id="310" r:id="rId14"/>
    <p:sldId id="311"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301" r:id="rId50"/>
    <p:sldId id="293" r:id="rId51"/>
    <p:sldId id="299" r:id="rId52"/>
    <p:sldId id="298" r:id="rId53"/>
    <p:sldId id="295" r:id="rId54"/>
    <p:sldId id="296" r:id="rId55"/>
  </p:sldIdLst>
  <p:sldSz cx="18288000" cy="10287000"/>
  <p:notesSz cx="6858000" cy="9144000"/>
  <p:embeddedFontLst>
    <p:embeddedFont>
      <p:font typeface="Aptos" panose="020B0004020202020204" pitchFamily="34" charset="0"/>
      <p:regular r:id="rId57"/>
    </p:embeddedFont>
    <p:embeddedFont>
      <p:font typeface="Aptos Bold" panose="020B0604020202020204" charset="0"/>
      <p:regular r:id="rId58"/>
      <p:bold r:id="rId59"/>
    </p:embeddedFont>
    <p:embeddedFont>
      <p:font typeface="Calibri" panose="020F0502020204030204" pitchFamily="34" charset="0"/>
      <p:regular r:id="rId60"/>
      <p:bold r:id="rId61"/>
      <p:italic r:id="rId62"/>
      <p:boldItalic r:id="rId63"/>
    </p:embeddedFont>
    <p:embeddedFont>
      <p:font typeface="Calibri (MS)" panose="020B0604020202020204" charset="0"/>
      <p:regular r:id="rId64"/>
    </p:embeddedFont>
    <p:embeddedFont>
      <p:font typeface="Calibri (MS) Bold" panose="020B0604020202020204" charset="0"/>
      <p:regular r:id="rId65"/>
    </p:embeddedFont>
    <p:embeddedFont>
      <p:font typeface="Cambria Math" panose="02040503050406030204" pitchFamily="18" charset="0"/>
      <p:regular r:id="rId66"/>
    </p:embeddedFont>
    <p:embeddedFont>
      <p:font typeface="Consolas" panose="020B0609020204030204" pitchFamily="49" charset="0"/>
      <p:regular r:id="rId67"/>
      <p:bold r:id="rId68"/>
      <p:italic r:id="rId69"/>
      <p:boldItalic r:id="rId70"/>
    </p:embeddedFont>
    <p:embeddedFont>
      <p:font typeface="DejaVu Sans Bold" panose="020B0604020202020204" charset="0"/>
      <p:regular r:id="rId71"/>
    </p:embeddedFont>
    <p:embeddedFont>
      <p:font typeface="DejaVu Sans Light" panose="020B0604020202020204" charset="0"/>
      <p:regular r:id="rId72"/>
    </p:embeddedFont>
    <p:embeddedFont>
      <p:font typeface="Inter" panose="020B0604020202020204" charset="0"/>
      <p:regular r:id="rId73"/>
    </p:embeddedFont>
    <p:embeddedFont>
      <p:font typeface="Inter Bold" panose="020B0604020202020204" charset="0"/>
      <p:regular r:id="rId74"/>
    </p:embeddedFont>
    <p:embeddedFont>
      <p:font typeface="Inter Italics" panose="020B0604020202020204" charset="0"/>
      <p:regular r:id="rId75"/>
    </p:embeddedFont>
    <p:embeddedFont>
      <p:font typeface="Inter Medium" panose="020B0604020202020204" charset="0"/>
      <p:regular r:id="rId76"/>
    </p:embeddedFont>
    <p:embeddedFont>
      <p:font typeface="Inter Semi-Bold" panose="020B0604020202020204" charset="0"/>
      <p:regular r:id="rId77"/>
    </p:embeddedFont>
    <p:embeddedFont>
      <p:font typeface="Roboto" panose="02000000000000000000" pitchFamily="2" charset="0"/>
      <p:regular r:id="rId78"/>
      <p:bold r:id="rId79"/>
      <p:italic r:id="rId80"/>
      <p:boldItalic r:id="rId81"/>
    </p:embeddedFont>
    <p:embeddedFont>
      <p:font typeface="Roboto Bold" panose="02000000000000000000" charset="0"/>
      <p:regular r:id="rId82"/>
      <p:bold r:id="rId83"/>
    </p:embeddedFont>
    <p:embeddedFont>
      <p:font typeface="Segoe UI" panose="020B0502040204020203" pitchFamily="34" charset="0"/>
      <p:regular r:id="rId84"/>
      <p:bold r:id="rId85"/>
      <p:italic r:id="rId86"/>
      <p:boldItalic r:id="rId8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aocheng Lin" initials="HL" lastIdx="1" clrIdx="0">
    <p:extLst>
      <p:ext uri="{19B8F6BF-5375-455C-9EA6-DF929625EA0E}">
        <p15:presenceInfo xmlns:p15="http://schemas.microsoft.com/office/powerpoint/2012/main" userId="S::Lin-H4@ulster.ac.uk::767fb433-d2fc-427c-8bc7-41e4ac3fef6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13" dt="2026-10-19T22:06:16.23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66" d="100"/>
          <a:sy n="66" d="100"/>
        </p:scale>
        <p:origin x="101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7.fntdata"/><Relationship Id="rId68" Type="http://schemas.openxmlformats.org/officeDocument/2006/relationships/font" Target="fonts/font12.fntdata"/><Relationship Id="rId84" Type="http://schemas.openxmlformats.org/officeDocument/2006/relationships/font" Target="fonts/font28.fntdata"/><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font" Target="fonts/font2.fntdata"/><Relationship Id="rId74" Type="http://schemas.openxmlformats.org/officeDocument/2006/relationships/font" Target="fonts/font18.fntdata"/><Relationship Id="rId79" Type="http://schemas.openxmlformats.org/officeDocument/2006/relationships/font" Target="fonts/font23.fntdata"/><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font" Target="fonts/font8.fntdata"/><Relationship Id="rId69"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6.fntdata"/><Relationship Id="rId80" Type="http://schemas.openxmlformats.org/officeDocument/2006/relationships/font" Target="fonts/font24.fntdata"/><Relationship Id="rId85" Type="http://schemas.openxmlformats.org/officeDocument/2006/relationships/font" Target="fonts/font29.fntdata"/><Relationship Id="rId93"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6.fntdata"/><Relationship Id="rId70" Type="http://schemas.openxmlformats.org/officeDocument/2006/relationships/font" Target="fonts/font14.fntdata"/><Relationship Id="rId75" Type="http://schemas.openxmlformats.org/officeDocument/2006/relationships/font" Target="fonts/font19.fntdata"/><Relationship Id="rId83" Type="http://schemas.openxmlformats.org/officeDocument/2006/relationships/font" Target="fonts/font27.fntdata"/><Relationship Id="rId88" Type="http://schemas.openxmlformats.org/officeDocument/2006/relationships/commentAuthors" Target="commentAuthors.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font" Target="fonts/font17.fntdata"/><Relationship Id="rId78" Type="http://schemas.openxmlformats.org/officeDocument/2006/relationships/font" Target="fonts/font22.fntdata"/><Relationship Id="rId81" Type="http://schemas.openxmlformats.org/officeDocument/2006/relationships/font" Target="fonts/font25.fntdata"/><Relationship Id="rId86" Type="http://schemas.openxmlformats.org/officeDocument/2006/relationships/font" Target="fonts/font30.fntdata"/><Relationship Id="rId9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20.fntdata"/><Relationship Id="rId7" Type="http://schemas.openxmlformats.org/officeDocument/2006/relationships/slide" Target="slides/slide6.xml"/><Relationship Id="rId71" Type="http://schemas.openxmlformats.org/officeDocument/2006/relationships/font" Target="fonts/font15.fntdata"/><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0.fntdata"/><Relationship Id="rId87" Type="http://schemas.openxmlformats.org/officeDocument/2006/relationships/font" Target="fonts/font31.fntdata"/><Relationship Id="rId61" Type="http://schemas.openxmlformats.org/officeDocument/2006/relationships/font" Target="fonts/font5.fntdata"/><Relationship Id="rId82" Type="http://schemas.openxmlformats.org/officeDocument/2006/relationships/font" Target="fonts/font26.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notesMaster" Target="notesMasters/notesMaster1.xml"/><Relationship Id="rId77" Type="http://schemas.openxmlformats.org/officeDocument/2006/relationships/font" Target="fonts/font2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redo custSel addSld delSld modSld">
      <pc:chgData name="Haocheng Lin" userId="3c9af17cd41df8cf" providerId="LiveId" clId="{E85DCD58-ED75-4D29-A2F4-F018EE94DF03}" dt="2026-10-19T22:10:52.510" v="1280" actId="20577"/>
      <pc:docMkLst>
        <pc:docMk/>
      </pc:docMkLst>
      <pc:sldChg chg="modSp mod">
        <pc:chgData name="Haocheng Lin" userId="3c9af17cd41df8cf" providerId="LiveId" clId="{E85DCD58-ED75-4D29-A2F4-F018EE94DF03}" dt="2026-10-19T22:10:52.510" v="1280" actId="20577"/>
        <pc:sldMkLst>
          <pc:docMk/>
          <pc:sldMk cId="0" sldId="256"/>
        </pc:sldMkLst>
        <pc:spChg chg="mod">
          <ac:chgData name="Haocheng Lin" userId="3c9af17cd41df8cf" providerId="LiveId" clId="{E85DCD58-ED75-4D29-A2F4-F018EE94DF03}" dt="2026-10-19T22:10:52.510" v="1280" actId="20577"/>
          <ac:spMkLst>
            <pc:docMk/>
            <pc:sldMk cId="0" sldId="256"/>
            <ac:spMk id="7" creationId="{00000000-0000-0000-0000-000000000000}"/>
          </ac:spMkLst>
        </pc:spChg>
      </pc:sldChg>
      <pc:sldChg chg="delSp modSp mod">
        <pc:chgData name="Haocheng Lin" userId="3c9af17cd41df8cf" providerId="LiveId" clId="{E85DCD58-ED75-4D29-A2F4-F018EE94DF03}" dt="2026-10-17T11:23:37.501" v="29" actId="21"/>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 modNotesTx">
        <pc:chgData name="Haocheng Lin" userId="3c9af17cd41df8cf" providerId="LiveId" clId="{E85DCD58-ED75-4D29-A2F4-F018EE94DF03}" dt="2026-10-19T21:58:12.041" v="1253" actId="20577"/>
        <pc:sldMkLst>
          <pc:docMk/>
          <pc:sldMk cId="2123576139" sldId="258"/>
        </pc:sldMkLst>
      </pc:sldChg>
      <pc:sldChg chg="del">
        <pc:chgData name="Haocheng Lin" userId="3c9af17cd41df8cf" providerId="LiveId" clId="{E85DCD58-ED75-4D29-A2F4-F018EE94DF03}" dt="2026-10-19T21:05:09.390" v="996" actId="2696"/>
        <pc:sldMkLst>
          <pc:docMk/>
          <pc:sldMk cId="2123576139" sldId="258"/>
        </pc:sldMkLst>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del">
          <ac:chgData name="Haocheng Lin" userId="3c9af17cd41df8cf" providerId="LiveId" clId="{E85DCD58-ED75-4D29-A2F4-F018EE94DF03}" dt="2026-10-18T13:29:51.318" v="738" actId="21"/>
          <ac:spMkLst>
            <pc:docMk/>
            <pc:sldMk cId="0" sldId="262"/>
            <ac:spMk id="13"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picChg chg="del mod">
          <ac:chgData name="Haocheng Lin" userId="3c9af17cd41df8cf" providerId="LiveId" clId="{E85DCD58-ED75-4D29-A2F4-F018EE94DF03}" dt="2026-10-18T11:56:24.290" v="511" actId="21"/>
          <ac:picMkLst>
            <pc:docMk/>
            <pc:sldMk cId="0" sldId="262"/>
            <ac:picMk id="18" creationId="{00000000-0000-0000-0000-000000000000}"/>
          </ac:picMkLst>
        </pc:picChg>
        <pc:picChg chg="del mod">
          <ac:chgData name="Haocheng Lin" userId="3c9af17cd41df8cf" providerId="LiveId" clId="{E85DCD58-ED75-4D29-A2F4-F018EE94DF03}" dt="2026-10-18T12:00:38.094" v="574" actId="21"/>
          <ac:picMkLst>
            <pc:docMk/>
            <pc:sldMk cId="0" sldId="262"/>
            <ac:picMk id="19" creationId="{00000000-0000-0000-0000-000000000000}"/>
          </ac:picMkLst>
        </pc:picChg>
        <pc:picChg chg="del mod">
          <ac:chgData name="Haocheng Lin" userId="3c9af17cd41df8cf" providerId="LiveId" clId="{E85DCD58-ED75-4D29-A2F4-F018EE94DF03}" dt="2026-10-18T13:21:09.646" v="608" actId="21"/>
          <ac:picMkLst>
            <pc:docMk/>
            <pc:sldMk cId="0" sldId="262"/>
            <ac:picMk id="23" creationId="{00000000-0000-0000-0000-000000000000}"/>
          </ac:picMkLst>
        </pc:picChg>
        <pc:picChg chg="del mod">
          <ac:chgData name="Haocheng Lin" userId="3c9af17cd41df8cf" providerId="LiveId" clId="{E85DCD58-ED75-4D29-A2F4-F018EE94DF03}" dt="2026-10-18T13:23:25.749" v="649" actId="21"/>
          <ac:picMkLst>
            <pc:docMk/>
            <pc:sldMk cId="0" sldId="262"/>
            <ac:picMk id="24" creationId="{00000000-0000-0000-0000-000000000000}"/>
          </ac:picMkLst>
        </pc:picChg>
        <pc:picChg chg="del">
          <ac:chgData name="Haocheng Lin" userId="3c9af17cd41df8cf" providerId="LiveId" clId="{E85DCD58-ED75-4D29-A2F4-F018EE94DF03}" dt="2026-10-18T13:27:02.887" v="671" actId="21"/>
          <ac:picMkLst>
            <pc:docMk/>
            <pc:sldMk cId="0" sldId="262"/>
            <ac:picMk id="28" creationId="{00000000-0000-0000-0000-000000000000}"/>
          </ac:picMkLst>
        </pc:picChg>
        <pc:picChg chg="del mod">
          <ac:chgData name="Haocheng Lin" userId="3c9af17cd41df8cf" providerId="LiveId" clId="{E85DCD58-ED75-4D29-A2F4-F018EE94DF03}" dt="2026-10-18T13:28:35.631" v="708" actId="21"/>
          <ac:picMkLst>
            <pc:docMk/>
            <pc:sldMk cId="0" sldId="262"/>
            <ac:picMk id="32" creationId="{00000000-0000-0000-0000-000000000000}"/>
          </ac:picMkLst>
        </pc:picChg>
        <pc:picChg chg="del mod">
          <ac:chgData name="Haocheng Lin" userId="3c9af17cd41df8cf" providerId="LiveId" clId="{E85DCD58-ED75-4D29-A2F4-F018EE94DF03}" dt="2026-10-18T13:29:53.081" v="739" actId="21"/>
          <ac:picMkLst>
            <pc:docMk/>
            <pc:sldMk cId="0" sldId="262"/>
            <ac:picMk id="33" creationId="{00000000-0000-0000-0000-000000000000}"/>
          </ac:picMkLst>
        </pc:pic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addSp delSp modSp mod">
        <pc:chgData name="Haocheng Lin" userId="3c9af17cd41df8cf" providerId="LiveId" clId="{E85DCD58-ED75-4D29-A2F4-F018EE94DF03}" dt="2026-10-19T22:06:34.951" v="1260" actId="20577"/>
        <pc:sldMkLst>
          <pc:docMk/>
          <pc:sldMk cId="0" sldId="296"/>
        </pc:sldMkLst>
        <pc:spChg chg="del">
          <ac:chgData name="Haocheng Lin" userId="3c9af17cd41df8cf" providerId="LiveId" clId="{E85DCD58-ED75-4D29-A2F4-F018EE94DF03}" dt="2026-10-19T22:06:04.844" v="1255" actId="21"/>
          <ac:spMkLst>
            <pc:docMk/>
            <pc:sldMk cId="0" sldId="296"/>
            <ac:spMk id="4" creationId="{00000000-0000-0000-0000-000000000000}"/>
          </ac:spMkLst>
        </pc:spChg>
        <pc:spChg chg="mod">
          <ac:chgData name="Haocheng Lin" userId="3c9af17cd41df8cf" providerId="LiveId" clId="{E85DCD58-ED75-4D29-A2F4-F018EE94DF03}" dt="2026-10-19T22:06:16.235" v="1256" actId="164"/>
          <ac:spMkLst>
            <pc:docMk/>
            <pc:sldMk cId="0" sldId="296"/>
            <ac:spMk id="6" creationId="{00000000-0000-0000-0000-000000000000}"/>
          </ac:spMkLst>
        </pc:spChg>
        <pc:spChg chg="mod">
          <ac:chgData name="Haocheng Lin" userId="3c9af17cd41df8cf" providerId="LiveId" clId="{E85DCD58-ED75-4D29-A2F4-F018EE94DF03}" dt="2026-10-19T22:06:32.538" v="1259" actId="20577"/>
          <ac:spMkLst>
            <pc:docMk/>
            <pc:sldMk cId="0" sldId="296"/>
            <ac:spMk id="7" creationId="{00000000-0000-0000-0000-000000000000}"/>
          </ac:spMkLst>
        </pc:spChg>
        <pc:spChg chg="mod">
          <ac:chgData name="Haocheng Lin" userId="3c9af17cd41df8cf" providerId="LiveId" clId="{E85DCD58-ED75-4D29-A2F4-F018EE94DF03}" dt="2026-10-19T22:06:16.235" v="1256" actId="164"/>
          <ac:spMkLst>
            <pc:docMk/>
            <pc:sldMk cId="0" sldId="296"/>
            <ac:spMk id="8" creationId="{00000000-0000-0000-0000-000000000000}"/>
          </ac:spMkLst>
        </pc:spChg>
        <pc:spChg chg="mod">
          <ac:chgData name="Haocheng Lin" userId="3c9af17cd41df8cf" providerId="LiveId" clId="{E85DCD58-ED75-4D29-A2F4-F018EE94DF03}" dt="2026-10-19T22:06:29.395" v="1258" actId="20577"/>
          <ac:spMkLst>
            <pc:docMk/>
            <pc:sldMk cId="0" sldId="296"/>
            <ac:spMk id="9" creationId="{00000000-0000-0000-0000-000000000000}"/>
          </ac:spMkLst>
        </pc:spChg>
        <pc:spChg chg="mod">
          <ac:chgData name="Haocheng Lin" userId="3c9af17cd41df8cf" providerId="LiveId" clId="{E85DCD58-ED75-4D29-A2F4-F018EE94DF03}" dt="2026-10-19T22:06:16.235" v="1256" actId="164"/>
          <ac:spMkLst>
            <pc:docMk/>
            <pc:sldMk cId="0" sldId="296"/>
            <ac:spMk id="10" creationId="{00000000-0000-0000-0000-000000000000}"/>
          </ac:spMkLst>
        </pc:spChg>
        <pc:spChg chg="mod">
          <ac:chgData name="Haocheng Lin" userId="3c9af17cd41df8cf" providerId="LiveId" clId="{E85DCD58-ED75-4D29-A2F4-F018EE94DF03}" dt="2026-10-19T22:06:34.951" v="1260" actId="20577"/>
          <ac:spMkLst>
            <pc:docMk/>
            <pc:sldMk cId="0" sldId="296"/>
            <ac:spMk id="11" creationId="{00000000-0000-0000-0000-000000000000}"/>
          </ac:spMkLst>
        </pc:spChg>
        <pc:grpChg chg="add mod">
          <ac:chgData name="Haocheng Lin" userId="3c9af17cd41df8cf" providerId="LiveId" clId="{E85DCD58-ED75-4D29-A2F4-F018EE94DF03}" dt="2026-10-19T22:06:20.709" v="1257" actId="1076"/>
          <ac:grpSpMkLst>
            <pc:docMk/>
            <pc:sldMk cId="0" sldId="296"/>
            <ac:grpSpMk id="12" creationId="{48E8EF99-F310-66E3-459B-B42ACE723AA4}"/>
          </ac:grpSpMkLst>
        </pc:grpChg>
      </pc:sldChg>
      <pc:sldChg chg="del">
        <pc:chgData name="Haocheng Lin" userId="3c9af17cd41df8cf" providerId="LiveId" clId="{E85DCD58-ED75-4D29-A2F4-F018EE94DF03}" dt="2026-10-19T22:05:42.327" v="1254" actId="2696"/>
        <pc:sldMkLst>
          <pc:docMk/>
          <pc:sldMk cId="0" sldId="297"/>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Sp delSp modSp add mod">
        <pc:chgData name="Haocheng Lin" userId="3c9af17cd41df8cf" providerId="LiveId" clId="{E85DCD58-ED75-4D29-A2F4-F018EE94DF03}" dt="2026-10-18T15:07:22.066" v="995" actId="6549"/>
        <pc:sldMkLst>
          <pc:docMk/>
          <pc:sldMk cId="2362586608" sldId="301"/>
        </pc:sldMkLst>
        <pc:spChg chg="mod">
          <ac:chgData name="Haocheng Lin" userId="3c9af17cd41df8cf" providerId="LiveId" clId="{E85DCD58-ED75-4D29-A2F4-F018EE94DF03}" dt="2026-10-18T14:57:04.931" v="938" actId="1076"/>
          <ac:spMkLst>
            <pc:docMk/>
            <pc:sldMk cId="2362586608" sldId="301"/>
            <ac:spMk id="2" creationId="{90B6BF9D-50B6-F534-8130-8B2D5EBAF546}"/>
          </ac:spMkLst>
        </pc:spChg>
        <pc:spChg chg="mod">
          <ac:chgData name="Haocheng Lin" userId="3c9af17cd41df8cf" providerId="LiveId" clId="{E85DCD58-ED75-4D29-A2F4-F018EE94DF03}" dt="2026-10-18T14:57:21.583" v="939" actId="1076"/>
          <ac:spMkLst>
            <pc:docMk/>
            <pc:sldMk cId="2362586608" sldId="301"/>
            <ac:spMk id="3" creationId="{031A46FA-5644-B21B-51EC-B65E5B8669F4}"/>
          </ac:spMkLst>
        </pc:spChg>
        <pc:spChg chg="del">
          <ac:chgData name="Haocheng Lin" userId="3c9af17cd41df8cf" providerId="LiveId" clId="{E85DCD58-ED75-4D29-A2F4-F018EE94DF03}" dt="2026-10-18T14:14:55.197" v="741" actId="478"/>
          <ac:spMkLst>
            <pc:docMk/>
            <pc:sldMk cId="2362586608" sldId="301"/>
            <ac:spMk id="4" creationId="{24007430-2BD1-18E5-24CD-2606149163AA}"/>
          </ac:spMkLst>
        </pc:spChg>
        <pc:spChg chg="del">
          <ac:chgData name="Haocheng Lin" userId="3c9af17cd41df8cf" providerId="LiveId" clId="{E85DCD58-ED75-4D29-A2F4-F018EE94DF03}" dt="2026-10-18T14:14:55.197" v="741" actId="478"/>
          <ac:spMkLst>
            <pc:docMk/>
            <pc:sldMk cId="2362586608" sldId="301"/>
            <ac:spMk id="7" creationId="{1E8451D4-DE3D-84B1-2D2E-5297580A64F8}"/>
          </ac:spMkLst>
        </pc:spChg>
        <pc:spChg chg="del">
          <ac:chgData name="Haocheng Lin" userId="3c9af17cd41df8cf" providerId="LiveId" clId="{E85DCD58-ED75-4D29-A2F4-F018EE94DF03}" dt="2026-10-18T14:14:55.197" v="741" actId="478"/>
          <ac:spMkLst>
            <pc:docMk/>
            <pc:sldMk cId="2362586608" sldId="301"/>
            <ac:spMk id="8" creationId="{E34D0A64-9C43-0A3E-65C9-C3EDBE2923A8}"/>
          </ac:spMkLst>
        </pc:spChg>
        <pc:spChg chg="del">
          <ac:chgData name="Haocheng Lin" userId="3c9af17cd41df8cf" providerId="LiveId" clId="{E85DCD58-ED75-4D29-A2F4-F018EE94DF03}" dt="2026-10-18T14:14:55.197" v="741" actId="478"/>
          <ac:spMkLst>
            <pc:docMk/>
            <pc:sldMk cId="2362586608" sldId="301"/>
            <ac:spMk id="9" creationId="{735A56C3-FECF-A788-FC64-D9EECFF5B1E2}"/>
          </ac:spMkLst>
        </pc:spChg>
        <pc:spChg chg="del">
          <ac:chgData name="Haocheng Lin" userId="3c9af17cd41df8cf" providerId="LiveId" clId="{E85DCD58-ED75-4D29-A2F4-F018EE94DF03}" dt="2026-10-18T14:14:55.197" v="741" actId="478"/>
          <ac:spMkLst>
            <pc:docMk/>
            <pc:sldMk cId="2362586608" sldId="301"/>
            <ac:spMk id="10" creationId="{F7529124-ED24-6D81-D26C-FAB7524EF86E}"/>
          </ac:spMkLst>
        </pc:spChg>
        <pc:spChg chg="add mod">
          <ac:chgData name="Haocheng Lin" userId="3c9af17cd41df8cf" providerId="LiveId" clId="{E85DCD58-ED75-4D29-A2F4-F018EE94DF03}" dt="2026-10-18T14:59:27.217" v="950" actId="207"/>
          <ac:spMkLst>
            <pc:docMk/>
            <pc:sldMk cId="2362586608" sldId="301"/>
            <ac:spMk id="15" creationId="{E82A2E68-0111-80EF-6BBD-8868517D96E1}"/>
          </ac:spMkLst>
        </pc:spChg>
        <pc:spChg chg="add mod">
          <ac:chgData name="Haocheng Lin" userId="3c9af17cd41df8cf" providerId="LiveId" clId="{E85DCD58-ED75-4D29-A2F4-F018EE94DF03}" dt="2026-10-18T15:05:18.518" v="957" actId="20577"/>
          <ac:spMkLst>
            <pc:docMk/>
            <pc:sldMk cId="2362586608" sldId="301"/>
            <ac:spMk id="17" creationId="{9A79190E-7FED-6E83-F30E-9248D0FAC75C}"/>
          </ac:spMkLst>
        </pc:spChg>
        <pc:spChg chg="add mod">
          <ac:chgData name="Haocheng Lin" userId="3c9af17cd41df8cf" providerId="LiveId" clId="{E85DCD58-ED75-4D29-A2F4-F018EE94DF03}" dt="2026-10-18T15:07:22.066" v="995" actId="6549"/>
          <ac:spMkLst>
            <pc:docMk/>
            <pc:sldMk cId="2362586608" sldId="301"/>
            <ac:spMk id="19" creationId="{95F7D17C-2A9A-DEB0-1F29-BD97DE53FE1A}"/>
          </ac:spMkLst>
        </pc:spChg>
        <pc:graphicFrameChg chg="del">
          <ac:chgData name="Haocheng Lin" userId="3c9af17cd41df8cf" providerId="LiveId" clId="{E85DCD58-ED75-4D29-A2F4-F018EE94DF03}" dt="2026-10-18T14:14:55.197" v="741" actId="478"/>
          <ac:graphicFrameMkLst>
            <pc:docMk/>
            <pc:sldMk cId="2362586608" sldId="301"/>
            <ac:graphicFrameMk id="6" creationId="{F1967E22-C593-6F00-FC25-B9C8D4C05EE2}"/>
          </ac:graphicFrameMkLst>
        </pc:graphicFrameChg>
        <pc:graphicFrameChg chg="add mod modGraphic">
          <ac:chgData name="Haocheng Lin" userId="3c9af17cd41df8cf" providerId="LiveId" clId="{E85DCD58-ED75-4D29-A2F4-F018EE94DF03}" dt="2026-10-18T14:58:02.032" v="941" actId="1076"/>
          <ac:graphicFrameMkLst>
            <pc:docMk/>
            <pc:sldMk cId="2362586608" sldId="301"/>
            <ac:graphicFrameMk id="14" creationId="{818B685D-994C-ADA3-FF7E-F97592350F7C}"/>
          </ac:graphicFrameMkLst>
        </pc:graphicFrameChg>
        <pc:picChg chg="add mod">
          <ac:chgData name="Haocheng Lin" userId="3c9af17cd41df8cf" providerId="LiveId" clId="{E85DCD58-ED75-4D29-A2F4-F018EE94DF03}" dt="2026-10-18T14:57:46.160" v="940" actId="1076"/>
          <ac:picMkLst>
            <pc:docMk/>
            <pc:sldMk cId="2362586608" sldId="301"/>
            <ac:picMk id="13" creationId="{8A733F1E-7B60-290E-C004-3B666A75EEDB}"/>
          </ac:picMkLst>
        </pc:picChg>
      </pc:sldChg>
      <pc:sldChg chg="modSp add mod">
        <pc:chgData name="Haocheng Lin" userId="3c9af17cd41df8cf" providerId="LiveId" clId="{E85DCD58-ED75-4D29-A2F4-F018EE94DF03}" dt="2026-10-19T21:23:22.791" v="1001" actId="27636"/>
        <pc:sldMkLst>
          <pc:docMk/>
          <pc:sldMk cId="3007442168" sldId="302"/>
        </pc:sldMkLst>
        <pc:spChg chg="mod">
          <ac:chgData name="Haocheng Lin" userId="3c9af17cd41df8cf" providerId="LiveId" clId="{E85DCD58-ED75-4D29-A2F4-F018EE94DF03}" dt="2026-10-19T21:23:22.791" v="1001" actId="27636"/>
          <ac:spMkLst>
            <pc:docMk/>
            <pc:sldMk cId="3007442168" sldId="302"/>
            <ac:spMk id="253" creationId="{00000000-0000-0000-0000-000000000000}"/>
          </ac:spMkLst>
        </pc:spChg>
        <pc:spChg chg="mod">
          <ac:chgData name="Haocheng Lin" userId="3c9af17cd41df8cf" providerId="LiveId" clId="{E85DCD58-ED75-4D29-A2F4-F018EE94DF03}" dt="2026-10-19T21:23:22.789" v="998" actId="27636"/>
          <ac:spMkLst>
            <pc:docMk/>
            <pc:sldMk cId="3007442168" sldId="302"/>
            <ac:spMk id="256" creationId="{00000000-0000-0000-0000-000000000000}"/>
          </ac:spMkLst>
        </pc:spChg>
        <pc:spChg chg="mod">
          <ac:chgData name="Haocheng Lin" userId="3c9af17cd41df8cf" providerId="LiveId" clId="{E85DCD58-ED75-4D29-A2F4-F018EE94DF03}" dt="2026-10-19T21:23:22.790" v="1000" actId="27636"/>
          <ac:spMkLst>
            <pc:docMk/>
            <pc:sldMk cId="3007442168" sldId="302"/>
            <ac:spMk id="259" creationId="{00000000-0000-0000-0000-000000000000}"/>
          </ac:spMkLst>
        </pc:spChg>
        <pc:spChg chg="mod">
          <ac:chgData name="Haocheng Lin" userId="3c9af17cd41df8cf" providerId="LiveId" clId="{E85DCD58-ED75-4D29-A2F4-F018EE94DF03}" dt="2026-10-19T21:23:22.790" v="999" actId="27636"/>
          <ac:spMkLst>
            <pc:docMk/>
            <pc:sldMk cId="3007442168" sldId="302"/>
            <ac:spMk id="262" creationId="{00000000-0000-0000-0000-000000000000}"/>
          </ac:spMkLst>
        </pc:spChg>
      </pc:sldChg>
      <pc:sldChg chg="delSp modSp add mod">
        <pc:chgData name="Haocheng Lin" userId="3c9af17cd41df8cf" providerId="LiveId" clId="{E85DCD58-ED75-4D29-A2F4-F018EE94DF03}" dt="2026-10-19T21:31:55.335" v="1023" actId="21"/>
        <pc:sldMkLst>
          <pc:docMk/>
          <pc:sldMk cId="1267809421" sldId="303"/>
        </pc:sldMkLst>
        <pc:spChg chg="del mod">
          <ac:chgData name="Haocheng Lin" userId="3c9af17cd41df8cf" providerId="LiveId" clId="{E85DCD58-ED75-4D29-A2F4-F018EE94DF03}" dt="2026-10-19T21:31:55.335" v="1023" actId="21"/>
          <ac:spMkLst>
            <pc:docMk/>
            <pc:sldMk cId="1267809421" sldId="303"/>
            <ac:spMk id="267" creationId="{00000000-0000-0000-0000-000000000000}"/>
          </ac:spMkLst>
        </pc:spChg>
        <pc:spChg chg="del">
          <ac:chgData name="Haocheng Lin" userId="3c9af17cd41df8cf" providerId="LiveId" clId="{E85DCD58-ED75-4D29-A2F4-F018EE94DF03}" dt="2026-10-19T21:24:17.845" v="1021" actId="21"/>
          <ac:spMkLst>
            <pc:docMk/>
            <pc:sldMk cId="1267809421" sldId="303"/>
            <ac:spMk id="308" creationId="{00000000-0000-0000-0000-000000000000}"/>
          </ac:spMkLst>
        </pc:spChg>
      </pc:sldChg>
      <pc:sldChg chg="modSp add mod">
        <pc:chgData name="Haocheng Lin" userId="3c9af17cd41df8cf" providerId="LiveId" clId="{E85DCD58-ED75-4D29-A2F4-F018EE94DF03}" dt="2026-10-19T21:23:31.559" v="1008" actId="27636"/>
        <pc:sldMkLst>
          <pc:docMk/>
          <pc:sldMk cId="1503053728" sldId="304"/>
        </pc:sldMkLst>
        <pc:spChg chg="mod">
          <ac:chgData name="Haocheng Lin" userId="3c9af17cd41df8cf" providerId="LiveId" clId="{E85DCD58-ED75-4D29-A2F4-F018EE94DF03}" dt="2026-10-19T21:23:31.559" v="1008" actId="27636"/>
          <ac:spMkLst>
            <pc:docMk/>
            <pc:sldMk cId="1503053728" sldId="304"/>
            <ac:spMk id="355" creationId="{00000000-0000-0000-0000-000000000000}"/>
          </ac:spMkLst>
        </pc:spChg>
        <pc:spChg chg="mod">
          <ac:chgData name="Haocheng Lin" userId="3c9af17cd41df8cf" providerId="LiveId" clId="{E85DCD58-ED75-4D29-A2F4-F018EE94DF03}" dt="2026-10-19T21:23:31.548" v="1005" actId="27636"/>
          <ac:spMkLst>
            <pc:docMk/>
            <pc:sldMk cId="1503053728" sldId="304"/>
            <ac:spMk id="362" creationId="{00000000-0000-0000-0000-000000000000}"/>
          </ac:spMkLst>
        </pc:spChg>
        <pc:spChg chg="mod">
          <ac:chgData name="Haocheng Lin" userId="3c9af17cd41df8cf" providerId="LiveId" clId="{E85DCD58-ED75-4D29-A2F4-F018EE94DF03}" dt="2026-10-19T21:23:31.551" v="1006" actId="27636"/>
          <ac:spMkLst>
            <pc:docMk/>
            <pc:sldMk cId="1503053728" sldId="304"/>
            <ac:spMk id="369" creationId="{00000000-0000-0000-0000-000000000000}"/>
          </ac:spMkLst>
        </pc:spChg>
        <pc:spChg chg="mod">
          <ac:chgData name="Haocheng Lin" userId="3c9af17cd41df8cf" providerId="LiveId" clId="{E85DCD58-ED75-4D29-A2F4-F018EE94DF03}" dt="2026-10-19T21:23:31.554" v="1007" actId="27636"/>
          <ac:spMkLst>
            <pc:docMk/>
            <pc:sldMk cId="1503053728" sldId="304"/>
            <ac:spMk id="376" creationId="{00000000-0000-0000-0000-000000000000}"/>
          </ac:spMkLst>
        </pc:spChg>
      </pc:sldChg>
      <pc:sldChg chg="modSp add mod">
        <pc:chgData name="Haocheng Lin" userId="3c9af17cd41df8cf" providerId="LiveId" clId="{E85DCD58-ED75-4D29-A2F4-F018EE94DF03}" dt="2026-10-19T21:23:33.044" v="1012" actId="27636"/>
        <pc:sldMkLst>
          <pc:docMk/>
          <pc:sldMk cId="2541129372" sldId="305"/>
        </pc:sldMkLst>
        <pc:spChg chg="mod">
          <ac:chgData name="Haocheng Lin" userId="3c9af17cd41df8cf" providerId="LiveId" clId="{E85DCD58-ED75-4D29-A2F4-F018EE94DF03}" dt="2026-10-19T21:23:33.044" v="1012" actId="27636"/>
          <ac:spMkLst>
            <pc:docMk/>
            <pc:sldMk cId="2541129372" sldId="305"/>
            <ac:spMk id="400" creationId="{00000000-0000-0000-0000-000000000000}"/>
          </ac:spMkLst>
        </pc:spChg>
        <pc:spChg chg="mod">
          <ac:chgData name="Haocheng Lin" userId="3c9af17cd41df8cf" providerId="LiveId" clId="{E85DCD58-ED75-4D29-A2F4-F018EE94DF03}" dt="2026-10-19T21:23:33.034" v="1010" actId="27636"/>
          <ac:spMkLst>
            <pc:docMk/>
            <pc:sldMk cId="2541129372" sldId="305"/>
            <ac:spMk id="412" creationId="{00000000-0000-0000-0000-000000000000}"/>
          </ac:spMkLst>
        </pc:spChg>
        <pc:spChg chg="mod">
          <ac:chgData name="Haocheng Lin" userId="3c9af17cd41df8cf" providerId="LiveId" clId="{E85DCD58-ED75-4D29-A2F4-F018EE94DF03}" dt="2026-10-19T21:23:33.038" v="1011" actId="27636"/>
          <ac:spMkLst>
            <pc:docMk/>
            <pc:sldMk cId="2541129372" sldId="305"/>
            <ac:spMk id="439" creationId="{00000000-0000-0000-0000-000000000000}"/>
          </ac:spMkLst>
        </pc:spChg>
      </pc:sldChg>
      <pc:sldChg chg="modSp add mod">
        <pc:chgData name="Haocheng Lin" userId="3c9af17cd41df8cf" providerId="LiveId" clId="{E85DCD58-ED75-4D29-A2F4-F018EE94DF03}" dt="2026-10-19T21:33:15.101" v="1025" actId="20577"/>
        <pc:sldMkLst>
          <pc:docMk/>
          <pc:sldMk cId="846086885" sldId="306"/>
        </pc:sldMkLst>
        <pc:spChg chg="mod">
          <ac:chgData name="Haocheng Lin" userId="3c9af17cd41df8cf" providerId="LiveId" clId="{E85DCD58-ED75-4D29-A2F4-F018EE94DF03}" dt="2026-10-19T21:33:15.101" v="1025" actId="20577"/>
          <ac:spMkLst>
            <pc:docMk/>
            <pc:sldMk cId="846086885" sldId="306"/>
            <ac:spMk id="500" creationId="{00000000-0000-0000-0000-000000000000}"/>
          </ac:spMkLst>
        </pc:spChg>
      </pc:sldChg>
      <pc:sldChg chg="add">
        <pc:chgData name="Haocheng Lin" userId="3c9af17cd41df8cf" providerId="LiveId" clId="{E85DCD58-ED75-4D29-A2F4-F018EE94DF03}" dt="2026-10-19T21:23:35.273" v="1014"/>
        <pc:sldMkLst>
          <pc:docMk/>
          <pc:sldMk cId="1715068608" sldId="307"/>
        </pc:sldMkLst>
      </pc:sldChg>
      <pc:sldChg chg="delSp add mod">
        <pc:chgData name="Haocheng Lin" userId="3c9af17cd41df8cf" providerId="LiveId" clId="{E85DCD58-ED75-4D29-A2F4-F018EE94DF03}" dt="2026-10-19T21:52:15.168" v="1026" actId="21"/>
        <pc:sldMkLst>
          <pc:docMk/>
          <pc:sldMk cId="3905643270" sldId="308"/>
        </pc:sldMkLst>
        <pc:spChg chg="del">
          <ac:chgData name="Haocheng Lin" userId="3c9af17cd41df8cf" providerId="LiveId" clId="{E85DCD58-ED75-4D29-A2F4-F018EE94DF03}" dt="2026-10-19T21:52:15.168" v="1026" actId="21"/>
          <ac:spMkLst>
            <pc:docMk/>
            <pc:sldMk cId="3905643270" sldId="308"/>
            <ac:spMk id="590" creationId="{00000000-0000-0000-0000-000000000000}"/>
          </ac:spMkLst>
        </pc:spChg>
      </pc:sldChg>
      <pc:sldChg chg="modSp add mod">
        <pc:chgData name="Haocheng Lin" userId="3c9af17cd41df8cf" providerId="LiveId" clId="{E85DCD58-ED75-4D29-A2F4-F018EE94DF03}" dt="2026-10-19T21:23:41.098" v="1017" actId="27636"/>
        <pc:sldMkLst>
          <pc:docMk/>
          <pc:sldMk cId="3489999299" sldId="309"/>
        </pc:sldMkLst>
        <pc:spChg chg="mod">
          <ac:chgData name="Haocheng Lin" userId="3c9af17cd41df8cf" providerId="LiveId" clId="{E85DCD58-ED75-4D29-A2F4-F018EE94DF03}" dt="2026-10-19T21:23:41.098" v="1017" actId="27636"/>
          <ac:spMkLst>
            <pc:docMk/>
            <pc:sldMk cId="3489999299" sldId="309"/>
            <ac:spMk id="621" creationId="{00000000-0000-0000-0000-000000000000}"/>
          </ac:spMkLst>
        </pc:spChg>
      </pc:sldChg>
      <pc:sldChg chg="add">
        <pc:chgData name="Haocheng Lin" userId="3c9af17cd41df8cf" providerId="LiveId" clId="{E85DCD58-ED75-4D29-A2F4-F018EE94DF03}" dt="2026-10-19T21:23:42.918" v="1018"/>
        <pc:sldMkLst>
          <pc:docMk/>
          <pc:sldMk cId="3595759491" sldId="310"/>
        </pc:sldMkLst>
      </pc:sldChg>
      <pc:sldChg chg="modSp add mod">
        <pc:chgData name="Haocheng Lin" userId="3c9af17cd41df8cf" providerId="LiveId" clId="{E85DCD58-ED75-4D29-A2F4-F018EE94DF03}" dt="2026-10-19T21:23:44.176" v="1020" actId="27636"/>
        <pc:sldMkLst>
          <pc:docMk/>
          <pc:sldMk cId="4077256788" sldId="311"/>
        </pc:sldMkLst>
        <pc:spChg chg="mod">
          <ac:chgData name="Haocheng Lin" userId="3c9af17cd41df8cf" providerId="LiveId" clId="{E85DCD58-ED75-4D29-A2F4-F018EE94DF03}" dt="2026-10-19T21:23:44.176" v="1020" actId="27636"/>
          <ac:spMkLst>
            <pc:docMk/>
            <pc:sldMk cId="4077256788" sldId="311"/>
            <ac:spMk id="706" creationId="{00000000-0000-0000-0000-000000000000}"/>
          </ac:spMkLst>
        </pc:spChg>
      </pc:sldChg>
    </pc:docChg>
  </pc:docChgLst>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21.10.2026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3"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707D4F-840E-4FD0-83E6-867363175DB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81098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6"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7523A3B-FDD6-4009-B3C3-FBB194AAE164}"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7854487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Understand the trajectory of development in this field from the initial data processing to understanding the shifts, how the shifts are being validated, and how to make improvements from the set of feedback.</a:t>
            </a:r>
          </a:p>
        </p:txBody>
      </p:sp>
      <p:sp>
        <p:nvSpPr>
          <p:cNvPr id="729"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841E62-D1AC-4A98-B090-AD0E47A79EB2}"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904836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2"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12539-FE5A-4CE5-92DF-DA9CC0716876}"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245542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rgbClr val="000000"/>
                </a:solidFill>
                <a:effectLst/>
                <a:uFillTx/>
                <a:latin typeface="Arial"/>
              </a:rPr>
              <a:t>ABCD - </a:t>
            </a:r>
            <a:r>
              <a:rPr lang="en-GB" sz="2800" b="0" i="0" dirty="0">
                <a:effectLst/>
                <a:latin typeface="Segoe UI" panose="020B0502040204020203" pitchFamily="34" charset="0"/>
              </a:rPr>
              <a:t>Adaptive Bernstein Change Detector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2800" b="0" i="0" dirty="0">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2800" b="0" i="0" dirty="0">
                <a:effectLst/>
                <a:latin typeface="Segoe UI" panose="020B0502040204020203" pitchFamily="34" charset="0"/>
              </a:rPr>
              <a:t>Change detection, which dimensions are changing, how large the changes are.</a:t>
            </a:r>
          </a:p>
          <a:p>
            <a:pPr indent="0">
              <a:buNone/>
            </a:pPr>
            <a:endParaRPr lang="en-US" sz="1800" b="0" u="none" strike="noStrike" dirty="0">
              <a:solidFill>
                <a:srgbClr val="000000"/>
              </a:solidFill>
              <a:effectLst/>
              <a:uFillTx/>
              <a:latin typeface="Arial"/>
            </a:endParaRPr>
          </a:p>
        </p:txBody>
      </p:sp>
      <p:sp>
        <p:nvSpPr>
          <p:cNvPr id="735"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90D786-699B-4F64-8952-AC67E19E5A7E}"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108436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8"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45FFB6-8216-48C9-9E59-EFDD18DC74A3}"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328081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1"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50BDC50-7A43-4DA8-9970-9AA029416A71}"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3085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4"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E4BA4D-1650-47D2-A333-870D9BDFCDE1}"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4721776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7"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C7489B-45A4-4128-8ED5-1DC627110C2A}"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417256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0"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7AD470-8A07-4F64-8511-4D1AFDCE516B}"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79691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3"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D1F7B8-EF4B-43A4-AEE5-468050B32A65}"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053715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DA28E-9C44-665C-4589-AE1BB573253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5D566C8-94BF-E2CE-71CA-AD006A93ACC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9B8EEFF-9FE5-A303-237A-9BA8E37311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C9FBAC-01FD-4ABC-EB0E-E149C528486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6BCBD85-34F5-7C1B-CA36-7ECA63D44E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a:extLst>
              <a:ext uri="{FF2B5EF4-FFF2-40B4-BE49-F238E27FC236}">
                <a16:creationId xmlns:a16="http://schemas.microsoft.com/office/drawing/2014/main" id="{B300BAB6-0BED-8771-4E8E-0BD066827FE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4F164B2-1069-6B5E-05B1-27514FE7482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786568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DARK">
    <p:bg>
      <p:bgPr>
        <a:solidFill>
          <a:srgbClr val="07132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914220" y="410400"/>
            <a:ext cx="16458660" cy="1717200"/>
          </a:xfrm>
          <a:prstGeom prst="rect">
            <a:avLst/>
          </a:prstGeom>
          <a:noFill/>
          <a:ln w="0">
            <a:noFill/>
          </a:ln>
        </p:spPr>
        <p:txBody>
          <a:bodyPr lIns="0" tIns="0" rIns="0" bIns="0" anchor="ctr">
            <a:noAutofit/>
          </a:bodyPr>
          <a:lstStyle>
            <a:lvl1pPr indent="0">
              <a:buNone/>
              <a:defRPr/>
            </a:lvl1pPr>
          </a:lstStyle>
          <a:p>
            <a:pPr indent="0">
              <a:buNone/>
            </a:pPr>
            <a:r>
              <a:rPr lang="en-US" sz="27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914220" y="2406780"/>
            <a:ext cx="16458660" cy="5965920"/>
          </a:xfrm>
          <a:prstGeom prst="rect">
            <a:avLst/>
          </a:prstGeom>
          <a:noFill/>
          <a:ln w="0">
            <a:noFill/>
          </a:ln>
        </p:spPr>
        <p:txBody>
          <a:bodyPr lIns="0" tIns="0" rIns="0" bIns="0" anchor="t">
            <a:normAutofit/>
          </a:bodyPr>
          <a:lstStyle>
            <a:lvl1pPr marL="648000" indent="-486000">
              <a:spcBef>
                <a:spcPts val="2126"/>
              </a:spcBef>
              <a:buClr>
                <a:srgbClr val="FFFFFF"/>
              </a:buClr>
              <a:buSzPct val="45000"/>
              <a:buFont typeface="Wingdings" charset="2"/>
              <a:buChar char=""/>
              <a:defRPr/>
            </a:lvl1pPr>
          </a:lstStyle>
          <a:p>
            <a:pPr marL="432000" indent="-324000">
              <a:spcBef>
                <a:spcPts val="1417"/>
              </a:spcBef>
              <a:buClr>
                <a:srgbClr val="FFFFFF"/>
              </a:buClr>
              <a:buSzPct val="45000"/>
              <a:buFont typeface="Wingdings" charset="2"/>
              <a:buChar char=""/>
            </a:pPr>
            <a:r>
              <a:rPr lang="en-US" sz="4800" b="0" u="none" strike="noStrike">
                <a:solidFill>
                  <a:schemeClr val="dk1"/>
                </a:solidFill>
                <a:effectLst/>
                <a:uFillTx/>
                <a:latin typeface="Aptos"/>
              </a:rPr>
              <a:t>Click to edit the outline text format</a:t>
            </a:r>
          </a:p>
          <a:p>
            <a:pPr marL="1296000" lvl="1" indent="-486000">
              <a:spcBef>
                <a:spcPts val="1701"/>
              </a:spcBef>
              <a:buClr>
                <a:srgbClr val="FFFFFF"/>
              </a:buClr>
              <a:buSzPct val="75000"/>
              <a:buFont typeface="Symbol" charset="2"/>
              <a:buChar char=""/>
            </a:pPr>
            <a:r>
              <a:rPr lang="en-US" sz="3600" b="0" u="none" strike="noStrike">
                <a:solidFill>
                  <a:schemeClr val="dk1"/>
                </a:solidFill>
                <a:effectLst/>
                <a:uFillTx/>
                <a:latin typeface="Aptos"/>
              </a:rPr>
              <a:t>Second Outline Level</a:t>
            </a:r>
          </a:p>
          <a:p>
            <a:pPr marL="1944000" lvl="2" indent="-432000">
              <a:spcBef>
                <a:spcPts val="1275"/>
              </a:spcBef>
              <a:buClr>
                <a:srgbClr val="FFFFFF"/>
              </a:buClr>
              <a:buSzPct val="45000"/>
              <a:buFont typeface="Wingdings" charset="2"/>
              <a:buChar char=""/>
            </a:pPr>
            <a:r>
              <a:rPr lang="en-US" sz="3000" b="0" u="none" strike="noStrike">
                <a:solidFill>
                  <a:schemeClr val="dk1"/>
                </a:solidFill>
                <a:effectLst/>
                <a:uFillTx/>
                <a:latin typeface="Aptos"/>
              </a:rPr>
              <a:t>Third Outline Level</a:t>
            </a:r>
          </a:p>
          <a:p>
            <a:pPr marL="2592000" lvl="3" indent="-324000">
              <a:spcBef>
                <a:spcPts val="851"/>
              </a:spcBef>
              <a:buClr>
                <a:srgbClr val="FFFFFF"/>
              </a:buClr>
              <a:buSzPct val="75000"/>
              <a:buFont typeface="Symbol" charset="2"/>
              <a:buChar char=""/>
            </a:pPr>
            <a:r>
              <a:rPr lang="en-US" sz="3000" b="0" u="none" strike="noStrike">
                <a:solidFill>
                  <a:schemeClr val="dk1"/>
                </a:solidFill>
                <a:effectLst/>
                <a:uFillTx/>
                <a:latin typeface="Aptos"/>
              </a:rPr>
              <a:t>Fourth Outline Level</a:t>
            </a:r>
          </a:p>
          <a:p>
            <a:pPr marL="3240000" lvl="4"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Fifth Outline Level</a:t>
            </a:r>
          </a:p>
          <a:p>
            <a:pPr marL="3888000" lvl="5"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Sixth Outline Level</a:t>
            </a:r>
          </a:p>
          <a:p>
            <a:pPr marL="4536000" lvl="6"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Seventh Outline Level</a:t>
            </a:r>
          </a:p>
        </p:txBody>
      </p:sp>
    </p:spTree>
    <p:extLst>
      <p:ext uri="{BB962C8B-B14F-4D97-AF65-F5344CB8AC3E}">
        <p14:creationId xmlns:p14="http://schemas.microsoft.com/office/powerpoint/2010/main" val="3119311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doi.org/10.1109/86.895946"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hyperlink" Target="https://doi.org/10.1016/j.neucom.2018.04.087" TargetMode="External"/><Relationship Id="rId5" Type="http://schemas.openxmlformats.org/officeDocument/2006/relationships/hyperlink" Target="https://doi.org/10.1109/TCDS.2017.2787040" TargetMode="External"/><Relationship Id="rId4" Type="http://schemas.openxmlformats.org/officeDocument/2006/relationships/hyperlink" Target="https://doi.org/10.1016/j.patcog.2014.07.028"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arxiv.org/abs/1903.05202"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hyperlink" Target="https://doi.org/10.3390/fi16070239" TargetMode="External"/><Relationship Id="rId5" Type="http://schemas.openxmlformats.org/officeDocument/2006/relationships/hyperlink" Target="https://doi.org/10.1016/j.iswa.2023.200251" TargetMode="External"/><Relationship Id="rId4" Type="http://schemas.openxmlformats.org/officeDocument/2006/relationships/hyperlink" Target="https://arxiv.org/abs/2112.08654"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hlin863/ewma_covariate_shift_demo/blob/main/docs/park_cpss_benchmark.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hyperlink" Target="https://doi.org/10.1016/j.neucom.2018.04.087" TargetMode="External"/><Relationship Id="rId13" Type="http://schemas.openxmlformats.org/officeDocument/2006/relationships/hyperlink" Target="https://doi.org/10.29220/CSAM.2023.30.4.369" TargetMode="External"/><Relationship Id="rId18" Type="http://schemas.openxmlformats.org/officeDocument/2006/relationships/hyperlink" Target="https://github.com/hlin863/ewma_covariate_shift_demo" TargetMode="External"/><Relationship Id="rId3" Type="http://schemas.openxmlformats.org/officeDocument/2006/relationships/hyperlink" Target="https://doi.org/10.1109/86.895946" TargetMode="External"/><Relationship Id="rId7" Type="http://schemas.openxmlformats.org/officeDocument/2006/relationships/hyperlink" Target="https://doi.org/10.1109/TCDS.2017.2787040" TargetMode="External"/><Relationship Id="rId12" Type="http://schemas.openxmlformats.org/officeDocument/2006/relationships/hyperlink" Target="https://doi.org/10.1038/s42256-022-00452-0" TargetMode="External"/><Relationship Id="rId17" Type="http://schemas.openxmlformats.org/officeDocument/2006/relationships/hyperlink" Target="https://app.notion.com/p/3fe410db31c881ef8bb5dd64aa5f00d0" TargetMode="External"/><Relationship Id="rId2" Type="http://schemas.openxmlformats.org/officeDocument/2006/relationships/notesSlide" Target="../notesSlides/notesSlide13.xml"/><Relationship Id="rId16" Type="http://schemas.openxmlformats.org/officeDocument/2006/relationships/hyperlink" Target="https://doi.org/10.3390/fi16070239" TargetMode="External"/><Relationship Id="rId1" Type="http://schemas.openxmlformats.org/officeDocument/2006/relationships/slideLayout" Target="../slideLayouts/slideLayout12.xml"/><Relationship Id="rId6" Type="http://schemas.openxmlformats.org/officeDocument/2006/relationships/hyperlink" Target="https://doi.org/10.1109/TNNLS.2015.2512714" TargetMode="External"/><Relationship Id="rId11" Type="http://schemas.openxmlformats.org/officeDocument/2006/relationships/hyperlink" Target="https://arxiv.org/abs/2112.08654" TargetMode="External"/><Relationship Id="rId5" Type="http://schemas.openxmlformats.org/officeDocument/2006/relationships/hyperlink" Target="https://doi.org/10.1007/s00500-015-1937-5" TargetMode="External"/><Relationship Id="rId15" Type="http://schemas.openxmlformats.org/officeDocument/2006/relationships/hyperlink" Target="https://doi.org/10.1007/s10618-023-00999-5" TargetMode="External"/><Relationship Id="rId10" Type="http://schemas.openxmlformats.org/officeDocument/2006/relationships/hyperlink" Target="https://arxiv.org/abs/1903.05202" TargetMode="External"/><Relationship Id="rId4" Type="http://schemas.openxmlformats.org/officeDocument/2006/relationships/hyperlink" Target="https://doi.org/10.1016/j.patcog.2014.07.028" TargetMode="External"/><Relationship Id="rId9" Type="http://schemas.openxmlformats.org/officeDocument/2006/relationships/hyperlink" Target="https://doi.org/10.1142/S0129065719500254" TargetMode="External"/><Relationship Id="rId14" Type="http://schemas.openxmlformats.org/officeDocument/2006/relationships/hyperlink" Target="https://doi.org/10.1016/j.iswa.2023.200251"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2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3" Type="http://schemas.openxmlformats.org/officeDocument/2006/relationships/image" Target="../media/image36.png"/><Relationship Id="rId7" Type="http://schemas.openxmlformats.org/officeDocument/2006/relationships/image" Target="../media/image40.png"/><Relationship Id="rId12" Type="http://schemas.openxmlformats.org/officeDocument/2006/relationships/image" Target="../media/image45.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37.png"/><Relationship Id="rId9" Type="http://schemas.openxmlformats.org/officeDocument/2006/relationships/image" Target="../media/image42.png"/></Relationships>
</file>

<file path=ppt/slides/_rels/slide52.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12" Type="http://schemas.openxmlformats.org/officeDocument/2006/relationships/image" Target="../media/image57.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51.png"/><Relationship Id="rId11" Type="http://schemas.openxmlformats.org/officeDocument/2006/relationships/image" Target="../media/image56.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dirty="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dirty="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831959"/>
          </a:xfrm>
          <a:prstGeom prst="rect">
            <a:avLst/>
          </a:prstGeom>
        </p:spPr>
        <p:txBody>
          <a:bodyPr lIns="0" tIns="0" rIns="0" bIns="0" rtlCol="0" anchor="t">
            <a:spAutoFit/>
          </a:bodyPr>
          <a:lstStyle/>
          <a:p>
            <a:pPr algn="l">
              <a:lnSpc>
                <a:spcPts val="2160"/>
              </a:lnSpc>
            </a:pPr>
            <a:r>
              <a:rPr lang="en-US" sz="1800" b="1" dirty="0">
                <a:solidFill>
                  <a:srgbClr val="EAF2F8"/>
                </a:solidFill>
                <a:latin typeface="DejaVu Sans Bold"/>
                <a:ea typeface="DejaVu Sans Bold"/>
                <a:cs typeface="DejaVu Sans Bold"/>
                <a:sym typeface="DejaVu Sans Bold"/>
              </a:rPr>
              <a:t>Haocheng Lin</a:t>
            </a:r>
          </a:p>
          <a:p>
            <a:pPr algn="l">
              <a:lnSpc>
                <a:spcPts val="2160"/>
              </a:lnSpc>
            </a:pPr>
            <a:endParaRPr lang="en-US" b="1" dirty="0">
              <a:solidFill>
                <a:srgbClr val="EAF2F8"/>
              </a:solidFill>
              <a:latin typeface="DejaVu Sans Bold"/>
              <a:ea typeface="DejaVu Sans Bold"/>
              <a:cs typeface="DejaVu Sans Bold"/>
              <a:sym typeface="DejaVu Sans Bold"/>
            </a:endParaRPr>
          </a:p>
          <a:p>
            <a:pPr algn="l">
              <a:lnSpc>
                <a:spcPts val="2160"/>
              </a:lnSpc>
            </a:pPr>
            <a:r>
              <a:rPr lang="en-US" sz="1800" b="1" dirty="0">
                <a:solidFill>
                  <a:srgbClr val="EAF2F8"/>
                </a:solidFill>
                <a:latin typeface="DejaVu Sans Bold"/>
                <a:ea typeface="DejaVu Sans Bold"/>
                <a:cs typeface="DejaVu Sans Bold"/>
                <a:sym typeface="DejaVu Sans Bold"/>
              </a:rPr>
              <a:t>20</a:t>
            </a:r>
            <a:r>
              <a:rPr lang="en-US" sz="1800" b="1" baseline="30000" dirty="0">
                <a:solidFill>
                  <a:srgbClr val="EAF2F8"/>
                </a:solidFill>
                <a:latin typeface="DejaVu Sans Bold"/>
                <a:ea typeface="DejaVu Sans Bold"/>
                <a:cs typeface="DejaVu Sans Bold"/>
                <a:sym typeface="DejaVu Sans Bold"/>
              </a:rPr>
              <a:t>th</a:t>
            </a:r>
            <a:r>
              <a:rPr lang="en-US" sz="1800" b="1" dirty="0">
                <a:solidFill>
                  <a:srgbClr val="EAF2F8"/>
                </a:solidFill>
                <a:latin typeface="DejaVu Sans Bold"/>
                <a:ea typeface="DejaVu Sans Bold"/>
                <a:cs typeface="DejaVu Sans Bold"/>
                <a:sym typeface="DejaVu Sans Bold"/>
              </a:rPr>
              <a:t> October 2026</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p:cNvSpPr/>
          <p:nvPr/>
        </p:nvSpPr>
        <p:spPr>
          <a:xfrm>
            <a:off x="1097280" y="781920"/>
            <a:ext cx="1097226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25" b="1" spc="209">
                <a:solidFill>
                  <a:srgbClr val="39D2C3"/>
                </a:solidFill>
                <a:latin typeface="Aptos"/>
                <a:ea typeface="Aptos"/>
              </a:rPr>
              <a:t>LITERATURE REVIEW  ·  OCTOBER 2026</a:t>
            </a:r>
            <a:endParaRPr lang="en-US" sz="2025">
              <a:solidFill>
                <a:srgbClr val="FFFFFF"/>
              </a:solidFill>
              <a:latin typeface="Arial"/>
            </a:endParaRPr>
          </a:p>
        </p:txBody>
      </p:sp>
      <p:sp>
        <p:nvSpPr>
          <p:cNvPr id="9" name="Text 1"/>
          <p:cNvSpPr/>
          <p:nvPr/>
        </p:nvSpPr>
        <p:spPr>
          <a:xfrm>
            <a:off x="1097280" y="1604880"/>
            <a:ext cx="15841440" cy="23722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5475" b="1">
                <a:solidFill>
                  <a:srgbClr val="F0F6FF"/>
                </a:solidFill>
                <a:latin typeface="Aptos"/>
                <a:ea typeface="Aptos"/>
              </a:rPr>
              <a:t>From detecting shift to</a:t>
            </a:r>
            <a:endParaRPr lang="en-US" sz="5475">
              <a:solidFill>
                <a:srgbClr val="FFFFFF"/>
              </a:solidFill>
              <a:latin typeface="Arial"/>
            </a:endParaRPr>
          </a:p>
          <a:p>
            <a:pPr defTabSz="1371600">
              <a:tabLst>
                <a:tab pos="0" algn="l"/>
              </a:tabLst>
            </a:pPr>
            <a:r>
              <a:rPr lang="en-US" sz="5475" b="1">
                <a:solidFill>
                  <a:srgbClr val="F0F6FF"/>
                </a:solidFill>
                <a:latin typeface="Aptos"/>
                <a:ea typeface="Aptos"/>
              </a:rPr>
              <a:t>self-maintaining learning</a:t>
            </a:r>
            <a:endParaRPr lang="en-US" sz="5475">
              <a:solidFill>
                <a:srgbClr val="FFFFFF"/>
              </a:solidFill>
              <a:latin typeface="Arial"/>
            </a:endParaRPr>
          </a:p>
        </p:txBody>
      </p:sp>
      <p:sp>
        <p:nvSpPr>
          <p:cNvPr id="10" name="Text 2"/>
          <p:cNvSpPr/>
          <p:nvPr/>
        </p:nvSpPr>
        <p:spPr>
          <a:xfrm>
            <a:off x="1138320" y="4334040"/>
            <a:ext cx="1426410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a:solidFill>
                  <a:srgbClr val="D5E4F1"/>
                </a:solidFill>
                <a:latin typeface="Aptos"/>
                <a:ea typeface="Aptos"/>
              </a:rPr>
              <a:t>A source-grounded map of methods, code and open research questions</a:t>
            </a:r>
            <a:endParaRPr lang="en-US" sz="2625">
              <a:solidFill>
                <a:srgbClr val="FFFFFF"/>
              </a:solidFill>
              <a:latin typeface="Arial"/>
            </a:endParaRPr>
          </a:p>
        </p:txBody>
      </p:sp>
      <p:sp>
        <p:nvSpPr>
          <p:cNvPr id="11" name="Shape 3"/>
          <p:cNvSpPr/>
          <p:nvPr/>
        </p:nvSpPr>
        <p:spPr>
          <a:xfrm>
            <a:off x="1110780" y="5266620"/>
            <a:ext cx="16020180" cy="540"/>
          </a:xfrm>
          <a:prstGeom prst="line">
            <a:avLst/>
          </a:prstGeom>
          <a:ln w="1905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12" name="Shape 4"/>
          <p:cNvSpPr/>
          <p:nvPr/>
        </p:nvSpPr>
        <p:spPr>
          <a:xfrm flipV="1">
            <a:off x="1261440" y="5947020"/>
            <a:ext cx="198180" cy="191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13" name="Shape 5"/>
          <p:cNvSpPr/>
          <p:nvPr/>
        </p:nvSpPr>
        <p:spPr>
          <a:xfrm flipV="1">
            <a:off x="1459620" y="583470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4" name="Shape 6"/>
          <p:cNvSpPr/>
          <p:nvPr/>
        </p:nvSpPr>
        <p:spPr>
          <a:xfrm flipV="1">
            <a:off x="1657800" y="5823360"/>
            <a:ext cx="197640" cy="11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5" name="Shape 7"/>
          <p:cNvSpPr/>
          <p:nvPr/>
        </p:nvSpPr>
        <p:spPr>
          <a:xfrm>
            <a:off x="1855440" y="5823360"/>
            <a:ext cx="198180" cy="64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 rIns="135000" bIns="-2700" anchor="t" anchorCtr="1">
            <a:noAutofit/>
          </a:bodyPr>
          <a:lstStyle/>
          <a:p>
            <a:endParaRPr lang="en-US" sz="2700">
              <a:solidFill>
                <a:srgbClr val="FFFFFF"/>
              </a:solidFill>
              <a:latin typeface="Arial"/>
            </a:endParaRPr>
          </a:p>
        </p:txBody>
      </p:sp>
      <p:sp>
        <p:nvSpPr>
          <p:cNvPr id="16" name="Shape 8"/>
          <p:cNvSpPr/>
          <p:nvPr/>
        </p:nvSpPr>
        <p:spPr>
          <a:xfrm>
            <a:off x="2053620" y="588816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7" name="Shape 9"/>
          <p:cNvSpPr/>
          <p:nvPr/>
        </p:nvSpPr>
        <p:spPr>
          <a:xfrm>
            <a:off x="2251800" y="5978340"/>
            <a:ext cx="198180" cy="80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2960" rIns="135000" bIns="12960" anchor="t" anchorCtr="1">
            <a:noAutofit/>
          </a:bodyPr>
          <a:lstStyle/>
          <a:p>
            <a:endParaRPr lang="en-US" sz="2700">
              <a:solidFill>
                <a:srgbClr val="FFFFFF"/>
              </a:solidFill>
              <a:latin typeface="Arial"/>
            </a:endParaRPr>
          </a:p>
        </p:txBody>
      </p:sp>
      <p:sp>
        <p:nvSpPr>
          <p:cNvPr id="18" name="Shape 10"/>
          <p:cNvSpPr/>
          <p:nvPr/>
        </p:nvSpPr>
        <p:spPr>
          <a:xfrm>
            <a:off x="2449980" y="6058800"/>
            <a:ext cx="19764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19" name="Shape 11"/>
          <p:cNvSpPr/>
          <p:nvPr/>
        </p:nvSpPr>
        <p:spPr>
          <a:xfrm>
            <a:off x="2647620" y="6126300"/>
            <a:ext cx="198180" cy="76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 name="Shape 12"/>
          <p:cNvSpPr/>
          <p:nvPr/>
        </p:nvSpPr>
        <p:spPr>
          <a:xfrm>
            <a:off x="2845800" y="6202440"/>
            <a:ext cx="198180" cy="1015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21" name="Shape 13"/>
          <p:cNvSpPr/>
          <p:nvPr/>
        </p:nvSpPr>
        <p:spPr>
          <a:xfrm>
            <a:off x="3043980" y="630396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2" name="Shape 14"/>
          <p:cNvSpPr/>
          <p:nvPr/>
        </p:nvSpPr>
        <p:spPr>
          <a:xfrm>
            <a:off x="3241620" y="6415200"/>
            <a:ext cx="19818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 name="Shape 15"/>
          <p:cNvSpPr/>
          <p:nvPr/>
        </p:nvSpPr>
        <p:spPr>
          <a:xfrm flipV="1">
            <a:off x="3439800" y="6481080"/>
            <a:ext cx="198180" cy="9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4" name="Shape 16"/>
          <p:cNvSpPr/>
          <p:nvPr/>
        </p:nvSpPr>
        <p:spPr>
          <a:xfrm flipV="1">
            <a:off x="3637980" y="636930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5" name="Shape 17"/>
          <p:cNvSpPr/>
          <p:nvPr/>
        </p:nvSpPr>
        <p:spPr>
          <a:xfrm flipV="1">
            <a:off x="3836160" y="6190560"/>
            <a:ext cx="19764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6" name="Shape 18"/>
          <p:cNvSpPr/>
          <p:nvPr/>
        </p:nvSpPr>
        <p:spPr>
          <a:xfrm flipV="1">
            <a:off x="4033800" y="6017760"/>
            <a:ext cx="198180" cy="172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7" name="Shape 19"/>
          <p:cNvSpPr/>
          <p:nvPr/>
        </p:nvSpPr>
        <p:spPr>
          <a:xfrm flipV="1">
            <a:off x="4231980" y="5919480"/>
            <a:ext cx="198180" cy="98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28" name="Shape 20"/>
          <p:cNvSpPr/>
          <p:nvPr/>
        </p:nvSpPr>
        <p:spPr>
          <a:xfrm>
            <a:off x="4430160" y="5919480"/>
            <a:ext cx="197640" cy="5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2100" rIns="135000" bIns="-62100" anchor="t" anchorCtr="1">
            <a:noAutofit/>
          </a:bodyPr>
          <a:lstStyle/>
          <a:p>
            <a:endParaRPr lang="en-US" sz="2700">
              <a:solidFill>
                <a:srgbClr val="FFFFFF"/>
              </a:solidFill>
              <a:latin typeface="Arial"/>
            </a:endParaRPr>
          </a:p>
        </p:txBody>
      </p:sp>
      <p:sp>
        <p:nvSpPr>
          <p:cNvPr id="29" name="Shape 21"/>
          <p:cNvSpPr/>
          <p:nvPr/>
        </p:nvSpPr>
        <p:spPr>
          <a:xfrm>
            <a:off x="4627800" y="5924880"/>
            <a:ext cx="198180" cy="87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30" name="Shape 22"/>
          <p:cNvSpPr/>
          <p:nvPr/>
        </p:nvSpPr>
        <p:spPr>
          <a:xfrm>
            <a:off x="4825980" y="6012360"/>
            <a:ext cx="198180" cy="1182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0760" rIns="135000" bIns="50760" anchor="t" anchorCtr="1">
            <a:noAutofit/>
          </a:bodyPr>
          <a:lstStyle/>
          <a:p>
            <a:endParaRPr lang="en-US" sz="2700">
              <a:solidFill>
                <a:srgbClr val="FFFFFF"/>
              </a:solidFill>
              <a:latin typeface="Arial"/>
            </a:endParaRPr>
          </a:p>
        </p:txBody>
      </p:sp>
      <p:sp>
        <p:nvSpPr>
          <p:cNvPr id="31" name="Shape 23"/>
          <p:cNvSpPr/>
          <p:nvPr/>
        </p:nvSpPr>
        <p:spPr>
          <a:xfrm>
            <a:off x="5024160" y="6130620"/>
            <a:ext cx="198180" cy="107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32" name="Shape 24"/>
          <p:cNvSpPr/>
          <p:nvPr/>
        </p:nvSpPr>
        <p:spPr>
          <a:xfrm>
            <a:off x="5222340" y="6237540"/>
            <a:ext cx="197640" cy="858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33" name="Shape 25"/>
          <p:cNvSpPr/>
          <p:nvPr/>
        </p:nvSpPr>
        <p:spPr>
          <a:xfrm>
            <a:off x="5419980" y="6323400"/>
            <a:ext cx="198180" cy="82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34" name="Shape 26"/>
          <p:cNvSpPr/>
          <p:nvPr/>
        </p:nvSpPr>
        <p:spPr>
          <a:xfrm>
            <a:off x="5618160" y="640602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35" name="Shape 27"/>
          <p:cNvSpPr/>
          <p:nvPr/>
        </p:nvSpPr>
        <p:spPr>
          <a:xfrm>
            <a:off x="5816340" y="6505920"/>
            <a:ext cx="197640" cy="1090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36" name="Shape 28"/>
          <p:cNvSpPr/>
          <p:nvPr/>
        </p:nvSpPr>
        <p:spPr>
          <a:xfrm>
            <a:off x="6013980" y="6615000"/>
            <a:ext cx="198180" cy="77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37" name="Shape 29"/>
          <p:cNvSpPr/>
          <p:nvPr/>
        </p:nvSpPr>
        <p:spPr>
          <a:xfrm flipV="1">
            <a:off x="6212160" y="6690060"/>
            <a:ext cx="198180" cy="2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0" rIns="135000" bIns="-64800" anchor="t" anchorCtr="1">
            <a:noAutofit/>
          </a:bodyPr>
          <a:lstStyle/>
          <a:p>
            <a:endParaRPr lang="en-US" sz="2700">
              <a:solidFill>
                <a:srgbClr val="FFFFFF"/>
              </a:solidFill>
              <a:latin typeface="Arial"/>
            </a:endParaRPr>
          </a:p>
        </p:txBody>
      </p:sp>
      <p:sp>
        <p:nvSpPr>
          <p:cNvPr id="38" name="Shape 30"/>
          <p:cNvSpPr/>
          <p:nvPr/>
        </p:nvSpPr>
        <p:spPr>
          <a:xfrm flipV="1">
            <a:off x="6410340" y="6584760"/>
            <a:ext cx="198180" cy="1053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39" name="Shape 31"/>
          <p:cNvSpPr/>
          <p:nvPr/>
        </p:nvSpPr>
        <p:spPr>
          <a:xfrm flipV="1">
            <a:off x="6608520" y="6406560"/>
            <a:ext cx="197640" cy="178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0" name="Shape 32"/>
          <p:cNvSpPr/>
          <p:nvPr/>
        </p:nvSpPr>
        <p:spPr>
          <a:xfrm flipV="1">
            <a:off x="6806160" y="6223500"/>
            <a:ext cx="198180" cy="183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1" name="Shape 33"/>
          <p:cNvSpPr/>
          <p:nvPr/>
        </p:nvSpPr>
        <p:spPr>
          <a:xfrm flipV="1">
            <a:off x="7004340" y="6107940"/>
            <a:ext cx="198180" cy="115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8060" rIns="135000" bIns="48060" anchor="t" anchorCtr="1">
            <a:noAutofit/>
          </a:bodyPr>
          <a:lstStyle/>
          <a:p>
            <a:endParaRPr lang="en-US" sz="2700">
              <a:solidFill>
                <a:srgbClr val="FFFFFF"/>
              </a:solidFill>
              <a:latin typeface="Arial"/>
            </a:endParaRPr>
          </a:p>
        </p:txBody>
      </p:sp>
      <p:sp>
        <p:nvSpPr>
          <p:cNvPr id="42" name="Shape 34"/>
          <p:cNvSpPr/>
          <p:nvPr/>
        </p:nvSpPr>
        <p:spPr>
          <a:xfrm flipV="1">
            <a:off x="7202520" y="6096060"/>
            <a:ext cx="197640" cy="118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43" name="Shape 35"/>
          <p:cNvSpPr/>
          <p:nvPr/>
        </p:nvSpPr>
        <p:spPr>
          <a:xfrm>
            <a:off x="7400160" y="60960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44" name="Shape 36"/>
          <p:cNvSpPr/>
          <p:nvPr/>
        </p:nvSpPr>
        <p:spPr>
          <a:xfrm>
            <a:off x="7598340" y="617112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45" name="Shape 37"/>
          <p:cNvSpPr/>
          <p:nvPr/>
        </p:nvSpPr>
        <p:spPr>
          <a:xfrm>
            <a:off x="7796520" y="628290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46" name="Shape 38"/>
          <p:cNvSpPr/>
          <p:nvPr/>
        </p:nvSpPr>
        <p:spPr>
          <a:xfrm>
            <a:off x="7994700" y="638280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47" name="Shape 39"/>
          <p:cNvSpPr/>
          <p:nvPr/>
        </p:nvSpPr>
        <p:spPr>
          <a:xfrm>
            <a:off x="8192340" y="6453540"/>
            <a:ext cx="198180" cy="57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720" rIns="135000" bIns="-9720" anchor="t" anchorCtr="1">
            <a:noAutofit/>
          </a:bodyPr>
          <a:lstStyle/>
          <a:p>
            <a:endParaRPr lang="en-US" sz="2700">
              <a:solidFill>
                <a:srgbClr val="FFFFFF"/>
              </a:solidFill>
              <a:latin typeface="Arial"/>
            </a:endParaRPr>
          </a:p>
        </p:txBody>
      </p:sp>
      <p:sp>
        <p:nvSpPr>
          <p:cNvPr id="48" name="Shape 40"/>
          <p:cNvSpPr/>
          <p:nvPr/>
        </p:nvSpPr>
        <p:spPr>
          <a:xfrm>
            <a:off x="8390520" y="6511320"/>
            <a:ext cx="19818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49" name="Shape 41"/>
          <p:cNvSpPr/>
          <p:nvPr/>
        </p:nvSpPr>
        <p:spPr>
          <a:xfrm>
            <a:off x="8588700" y="6578820"/>
            <a:ext cx="19764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50" name="Shape 42"/>
          <p:cNvSpPr/>
          <p:nvPr/>
        </p:nvSpPr>
        <p:spPr>
          <a:xfrm>
            <a:off x="8786340" y="6654420"/>
            <a:ext cx="198180" cy="50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51" name="Shape 43"/>
          <p:cNvSpPr/>
          <p:nvPr/>
        </p:nvSpPr>
        <p:spPr>
          <a:xfrm flipV="1">
            <a:off x="8984520" y="6683040"/>
            <a:ext cx="198180" cy="22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5360" rIns="135000" bIns="-45360" anchor="t" anchorCtr="1">
            <a:noAutofit/>
          </a:bodyPr>
          <a:lstStyle/>
          <a:p>
            <a:endParaRPr lang="en-US" sz="2700">
              <a:solidFill>
                <a:srgbClr val="FFFFFF"/>
              </a:solidFill>
              <a:latin typeface="Arial"/>
            </a:endParaRPr>
          </a:p>
        </p:txBody>
      </p:sp>
      <p:sp>
        <p:nvSpPr>
          <p:cNvPr id="52" name="Shape 44"/>
          <p:cNvSpPr/>
          <p:nvPr/>
        </p:nvSpPr>
        <p:spPr>
          <a:xfrm flipV="1">
            <a:off x="9182700" y="6562080"/>
            <a:ext cx="198180" cy="1209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3460" rIns="135000" bIns="53460" anchor="t" anchorCtr="1">
            <a:noAutofit/>
          </a:bodyPr>
          <a:lstStyle/>
          <a:p>
            <a:endParaRPr lang="en-US" sz="2700">
              <a:solidFill>
                <a:srgbClr val="FFFFFF"/>
              </a:solidFill>
              <a:latin typeface="Arial"/>
            </a:endParaRPr>
          </a:p>
        </p:txBody>
      </p:sp>
      <p:sp>
        <p:nvSpPr>
          <p:cNvPr id="53" name="Shape 45"/>
          <p:cNvSpPr/>
          <p:nvPr/>
        </p:nvSpPr>
        <p:spPr>
          <a:xfrm flipV="1">
            <a:off x="9380880" y="6364440"/>
            <a:ext cx="197640" cy="1976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4" name="Shape 46"/>
          <p:cNvSpPr/>
          <p:nvPr/>
        </p:nvSpPr>
        <p:spPr>
          <a:xfrm flipV="1">
            <a:off x="9578520" y="6156000"/>
            <a:ext cx="198180" cy="2084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5" name="Shape 47"/>
          <p:cNvSpPr/>
          <p:nvPr/>
        </p:nvSpPr>
        <p:spPr>
          <a:xfrm flipV="1">
            <a:off x="9776700" y="6011280"/>
            <a:ext cx="198180" cy="144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6" name="Shape 48"/>
          <p:cNvSpPr/>
          <p:nvPr/>
        </p:nvSpPr>
        <p:spPr>
          <a:xfrm flipV="1">
            <a:off x="9974880" y="5971860"/>
            <a:ext cx="197640" cy="394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57" name="Shape 49"/>
          <p:cNvSpPr/>
          <p:nvPr/>
        </p:nvSpPr>
        <p:spPr>
          <a:xfrm>
            <a:off x="10172520" y="5971860"/>
            <a:ext cx="198180" cy="55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58" name="Shape 50"/>
          <p:cNvSpPr/>
          <p:nvPr/>
        </p:nvSpPr>
        <p:spPr>
          <a:xfrm>
            <a:off x="10370700" y="6027480"/>
            <a:ext cx="198180" cy="102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59" name="Shape 51"/>
          <p:cNvSpPr/>
          <p:nvPr/>
        </p:nvSpPr>
        <p:spPr>
          <a:xfrm>
            <a:off x="10568880" y="6129540"/>
            <a:ext cx="198180" cy="94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60" name="Shape 52"/>
          <p:cNvSpPr/>
          <p:nvPr/>
        </p:nvSpPr>
        <p:spPr>
          <a:xfrm>
            <a:off x="10767060" y="6224040"/>
            <a:ext cx="197640" cy="63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61" name="Shape 53"/>
          <p:cNvSpPr/>
          <p:nvPr/>
        </p:nvSpPr>
        <p:spPr>
          <a:xfrm>
            <a:off x="10964700" y="6287760"/>
            <a:ext cx="198180" cy="43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4300" rIns="135000" bIns="-24300" anchor="t" anchorCtr="1">
            <a:noAutofit/>
          </a:bodyPr>
          <a:lstStyle/>
          <a:p>
            <a:endParaRPr lang="en-US" sz="2700">
              <a:solidFill>
                <a:srgbClr val="FFFFFF"/>
              </a:solidFill>
              <a:latin typeface="Arial"/>
            </a:endParaRPr>
          </a:p>
        </p:txBody>
      </p:sp>
      <p:sp>
        <p:nvSpPr>
          <p:cNvPr id="62" name="Shape 54"/>
          <p:cNvSpPr/>
          <p:nvPr/>
        </p:nvSpPr>
        <p:spPr>
          <a:xfrm>
            <a:off x="11162880" y="6330960"/>
            <a:ext cx="198180" cy="48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63" name="Shape 55"/>
          <p:cNvSpPr/>
          <p:nvPr/>
        </p:nvSpPr>
        <p:spPr>
          <a:xfrm>
            <a:off x="11361060" y="6379020"/>
            <a:ext cx="197640" cy="58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64" name="Shape 56"/>
          <p:cNvSpPr/>
          <p:nvPr/>
        </p:nvSpPr>
        <p:spPr>
          <a:xfrm>
            <a:off x="11558700" y="6437340"/>
            <a:ext cx="198180" cy="42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65" name="Shape 57"/>
          <p:cNvSpPr/>
          <p:nvPr/>
        </p:nvSpPr>
        <p:spPr>
          <a:xfrm flipV="1">
            <a:off x="11756880" y="6459480"/>
            <a:ext cx="198180" cy="199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66" name="Shape 58"/>
          <p:cNvSpPr/>
          <p:nvPr/>
        </p:nvSpPr>
        <p:spPr>
          <a:xfrm flipV="1">
            <a:off x="11955060" y="634824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67" name="Shape 59"/>
          <p:cNvSpPr/>
          <p:nvPr/>
        </p:nvSpPr>
        <p:spPr>
          <a:xfrm flipV="1">
            <a:off x="12152700" y="6161400"/>
            <a:ext cx="198180" cy="186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8" name="Shape 60"/>
          <p:cNvSpPr/>
          <p:nvPr/>
        </p:nvSpPr>
        <p:spPr>
          <a:xfrm flipV="1">
            <a:off x="12350880" y="5958900"/>
            <a:ext cx="198180" cy="202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9" name="Shape 61"/>
          <p:cNvSpPr/>
          <p:nvPr/>
        </p:nvSpPr>
        <p:spPr>
          <a:xfrm flipV="1">
            <a:off x="12549060" y="5816340"/>
            <a:ext cx="198180" cy="142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70" name="Shape 62"/>
          <p:cNvSpPr/>
          <p:nvPr/>
        </p:nvSpPr>
        <p:spPr>
          <a:xfrm flipV="1">
            <a:off x="12747240" y="5781780"/>
            <a:ext cx="197640" cy="34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71" name="Shape 63"/>
          <p:cNvSpPr/>
          <p:nvPr/>
        </p:nvSpPr>
        <p:spPr>
          <a:xfrm>
            <a:off x="12944880" y="5781780"/>
            <a:ext cx="198180" cy="69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72" name="Shape 64"/>
          <p:cNvSpPr/>
          <p:nvPr/>
        </p:nvSpPr>
        <p:spPr>
          <a:xfrm>
            <a:off x="13143060" y="5850900"/>
            <a:ext cx="198180" cy="125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73" name="Shape 65"/>
          <p:cNvSpPr/>
          <p:nvPr/>
        </p:nvSpPr>
        <p:spPr>
          <a:xfrm>
            <a:off x="13341240" y="5976180"/>
            <a:ext cx="197640" cy="1236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74" name="Shape 66"/>
          <p:cNvSpPr/>
          <p:nvPr/>
        </p:nvSpPr>
        <p:spPr>
          <a:xfrm>
            <a:off x="13538880" y="609984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75" name="Shape 67"/>
          <p:cNvSpPr/>
          <p:nvPr/>
        </p:nvSpPr>
        <p:spPr>
          <a:xfrm>
            <a:off x="13737060" y="6190020"/>
            <a:ext cx="198180" cy="63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20" rIns="135000" bIns="-4320" anchor="t" anchorCtr="1">
            <a:noAutofit/>
          </a:bodyPr>
          <a:lstStyle/>
          <a:p>
            <a:endParaRPr lang="en-US" sz="2700">
              <a:solidFill>
                <a:srgbClr val="FFFFFF"/>
              </a:solidFill>
              <a:latin typeface="Arial"/>
            </a:endParaRPr>
          </a:p>
        </p:txBody>
      </p:sp>
      <p:sp>
        <p:nvSpPr>
          <p:cNvPr id="76" name="Shape 68"/>
          <p:cNvSpPr/>
          <p:nvPr/>
        </p:nvSpPr>
        <p:spPr>
          <a:xfrm>
            <a:off x="13935240" y="625320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77" name="Shape 69"/>
          <p:cNvSpPr/>
          <p:nvPr/>
        </p:nvSpPr>
        <p:spPr>
          <a:xfrm>
            <a:off x="14133420" y="631422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78" name="Shape 70"/>
          <p:cNvSpPr/>
          <p:nvPr/>
        </p:nvSpPr>
        <p:spPr>
          <a:xfrm>
            <a:off x="14331060" y="6384960"/>
            <a:ext cx="198180" cy="599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79" name="Shape 71"/>
          <p:cNvSpPr/>
          <p:nvPr/>
        </p:nvSpPr>
        <p:spPr>
          <a:xfrm>
            <a:off x="14529240" y="6444900"/>
            <a:ext cx="198180" cy="6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80" name="Shape 72"/>
          <p:cNvSpPr/>
          <p:nvPr/>
        </p:nvSpPr>
        <p:spPr>
          <a:xfrm flipV="1">
            <a:off x="14727420" y="6372540"/>
            <a:ext cx="197640" cy="78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340" rIns="135000" bIns="11340" anchor="t" anchorCtr="1">
            <a:noAutofit/>
          </a:bodyPr>
          <a:lstStyle/>
          <a:p>
            <a:endParaRPr lang="en-US" sz="2700">
              <a:solidFill>
                <a:srgbClr val="FFFFFF"/>
              </a:solidFill>
              <a:latin typeface="Arial"/>
            </a:endParaRPr>
          </a:p>
        </p:txBody>
      </p:sp>
      <p:sp>
        <p:nvSpPr>
          <p:cNvPr id="81" name="Shape 73"/>
          <p:cNvSpPr/>
          <p:nvPr/>
        </p:nvSpPr>
        <p:spPr>
          <a:xfrm flipV="1">
            <a:off x="14925060" y="6215940"/>
            <a:ext cx="198180" cy="156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2" name="Shape 74"/>
          <p:cNvSpPr/>
          <p:nvPr/>
        </p:nvSpPr>
        <p:spPr>
          <a:xfrm flipV="1">
            <a:off x="15123240" y="6037200"/>
            <a:ext cx="19818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3" name="Shape 75"/>
          <p:cNvSpPr/>
          <p:nvPr/>
        </p:nvSpPr>
        <p:spPr>
          <a:xfrm flipV="1">
            <a:off x="15321420" y="5911380"/>
            <a:ext cx="198180" cy="1258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8320" rIns="135000" bIns="58320" anchor="t" anchorCtr="1">
            <a:noAutofit/>
          </a:bodyPr>
          <a:lstStyle/>
          <a:p>
            <a:endParaRPr lang="en-US" sz="2700">
              <a:solidFill>
                <a:srgbClr val="FFFFFF"/>
              </a:solidFill>
              <a:latin typeface="Arial"/>
            </a:endParaRPr>
          </a:p>
        </p:txBody>
      </p:sp>
      <p:sp>
        <p:nvSpPr>
          <p:cNvPr id="84" name="Shape 76"/>
          <p:cNvSpPr/>
          <p:nvPr/>
        </p:nvSpPr>
        <p:spPr>
          <a:xfrm flipV="1">
            <a:off x="15519600" y="5890320"/>
            <a:ext cx="197640" cy="21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6440" rIns="135000" bIns="-46440" anchor="t" anchorCtr="1">
            <a:noAutofit/>
          </a:bodyPr>
          <a:lstStyle/>
          <a:p>
            <a:endParaRPr lang="en-US" sz="2700">
              <a:solidFill>
                <a:srgbClr val="FFFFFF"/>
              </a:solidFill>
              <a:latin typeface="Arial"/>
            </a:endParaRPr>
          </a:p>
        </p:txBody>
      </p:sp>
      <p:sp>
        <p:nvSpPr>
          <p:cNvPr id="85" name="Shape 77"/>
          <p:cNvSpPr/>
          <p:nvPr/>
        </p:nvSpPr>
        <p:spPr>
          <a:xfrm>
            <a:off x="15717240" y="5890320"/>
            <a:ext cx="198180" cy="86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86" name="Shape 78"/>
          <p:cNvSpPr/>
          <p:nvPr/>
        </p:nvSpPr>
        <p:spPr>
          <a:xfrm>
            <a:off x="15915420" y="5976720"/>
            <a:ext cx="198180" cy="1490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7" name="Shape 79"/>
          <p:cNvSpPr/>
          <p:nvPr/>
        </p:nvSpPr>
        <p:spPr>
          <a:xfrm>
            <a:off x="16113600" y="6125760"/>
            <a:ext cx="197640" cy="1495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8" name="Shape 80"/>
          <p:cNvSpPr/>
          <p:nvPr/>
        </p:nvSpPr>
        <p:spPr>
          <a:xfrm>
            <a:off x="16311240" y="627534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89" name="Shape 81"/>
          <p:cNvSpPr/>
          <p:nvPr/>
        </p:nvSpPr>
        <p:spPr>
          <a:xfrm>
            <a:off x="16509420" y="63876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90" name="Shape 82"/>
          <p:cNvSpPr/>
          <p:nvPr/>
        </p:nvSpPr>
        <p:spPr>
          <a:xfrm>
            <a:off x="16707600" y="646272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91" name="Shape 83"/>
          <p:cNvSpPr/>
          <p:nvPr/>
        </p:nvSpPr>
        <p:spPr>
          <a:xfrm>
            <a:off x="16905780" y="6523740"/>
            <a:ext cx="197640" cy="65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92" name="Shape 84"/>
          <p:cNvSpPr/>
          <p:nvPr/>
        </p:nvSpPr>
        <p:spPr>
          <a:xfrm flipV="1">
            <a:off x="1261440" y="6895800"/>
            <a:ext cx="198180" cy="111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93" name="Shape 85"/>
          <p:cNvSpPr/>
          <p:nvPr/>
        </p:nvSpPr>
        <p:spPr>
          <a:xfrm flipV="1">
            <a:off x="1459620" y="6829920"/>
            <a:ext cx="198180" cy="65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94" name="Shape 86"/>
          <p:cNvSpPr/>
          <p:nvPr/>
        </p:nvSpPr>
        <p:spPr>
          <a:xfrm flipV="1">
            <a:off x="1657800" y="6823440"/>
            <a:ext cx="197640" cy="6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95" name="Shape 87"/>
          <p:cNvSpPr/>
          <p:nvPr/>
        </p:nvSpPr>
        <p:spPr>
          <a:xfrm>
            <a:off x="1855440" y="6823440"/>
            <a:ext cx="19818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96" name="Shape 88"/>
          <p:cNvSpPr/>
          <p:nvPr/>
        </p:nvSpPr>
        <p:spPr>
          <a:xfrm>
            <a:off x="2053620" y="6861240"/>
            <a:ext cx="198180" cy="52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97" name="Shape 89"/>
          <p:cNvSpPr/>
          <p:nvPr/>
        </p:nvSpPr>
        <p:spPr>
          <a:xfrm>
            <a:off x="2251800" y="6914160"/>
            <a:ext cx="198180" cy="46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98" name="Shape 90"/>
          <p:cNvSpPr/>
          <p:nvPr/>
        </p:nvSpPr>
        <p:spPr>
          <a:xfrm>
            <a:off x="2449980" y="6961140"/>
            <a:ext cx="19764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99" name="Shape 91"/>
          <p:cNvSpPr/>
          <p:nvPr/>
        </p:nvSpPr>
        <p:spPr>
          <a:xfrm>
            <a:off x="2647620" y="7000020"/>
            <a:ext cx="198180" cy="448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00" name="Shape 92"/>
          <p:cNvSpPr/>
          <p:nvPr/>
        </p:nvSpPr>
        <p:spPr>
          <a:xfrm>
            <a:off x="2845800" y="7044840"/>
            <a:ext cx="198180" cy="588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101" name="Shape 93"/>
          <p:cNvSpPr/>
          <p:nvPr/>
        </p:nvSpPr>
        <p:spPr>
          <a:xfrm>
            <a:off x="3043980" y="710370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2" name="Shape 94"/>
          <p:cNvSpPr/>
          <p:nvPr/>
        </p:nvSpPr>
        <p:spPr>
          <a:xfrm>
            <a:off x="3241620" y="7169040"/>
            <a:ext cx="19818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03" name="Shape 95"/>
          <p:cNvSpPr/>
          <p:nvPr/>
        </p:nvSpPr>
        <p:spPr>
          <a:xfrm flipV="1">
            <a:off x="3439800" y="7207380"/>
            <a:ext cx="198180" cy="5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560" rIns="135000" bIns="-61560" anchor="t" anchorCtr="1">
            <a:noAutofit/>
          </a:bodyPr>
          <a:lstStyle/>
          <a:p>
            <a:endParaRPr lang="en-US" sz="2700">
              <a:solidFill>
                <a:srgbClr val="FFFFFF"/>
              </a:solidFill>
              <a:latin typeface="Arial"/>
            </a:endParaRPr>
          </a:p>
        </p:txBody>
      </p:sp>
      <p:sp>
        <p:nvSpPr>
          <p:cNvPr id="104" name="Shape 96"/>
          <p:cNvSpPr/>
          <p:nvPr/>
        </p:nvSpPr>
        <p:spPr>
          <a:xfrm flipV="1">
            <a:off x="3637980" y="714204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5" name="Shape 97"/>
          <p:cNvSpPr/>
          <p:nvPr/>
        </p:nvSpPr>
        <p:spPr>
          <a:xfrm flipV="1">
            <a:off x="3836160" y="703782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06" name="Shape 98"/>
          <p:cNvSpPr/>
          <p:nvPr/>
        </p:nvSpPr>
        <p:spPr>
          <a:xfrm flipV="1">
            <a:off x="4033800" y="6936840"/>
            <a:ext cx="198180" cy="100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07" name="Shape 99"/>
          <p:cNvSpPr/>
          <p:nvPr/>
        </p:nvSpPr>
        <p:spPr>
          <a:xfrm flipV="1">
            <a:off x="4231980" y="6879600"/>
            <a:ext cx="198180" cy="57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108" name="Shape 100"/>
          <p:cNvSpPr/>
          <p:nvPr/>
        </p:nvSpPr>
        <p:spPr>
          <a:xfrm>
            <a:off x="4430160" y="6879600"/>
            <a:ext cx="197640" cy="3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109" name="Shape 101"/>
          <p:cNvSpPr/>
          <p:nvPr/>
        </p:nvSpPr>
        <p:spPr>
          <a:xfrm>
            <a:off x="4627800" y="6882840"/>
            <a:ext cx="198180" cy="507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110" name="Shape 102"/>
          <p:cNvSpPr/>
          <p:nvPr/>
        </p:nvSpPr>
        <p:spPr>
          <a:xfrm>
            <a:off x="4825980" y="6933600"/>
            <a:ext cx="198180" cy="691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111" name="Shape 103"/>
          <p:cNvSpPr/>
          <p:nvPr/>
        </p:nvSpPr>
        <p:spPr>
          <a:xfrm>
            <a:off x="5024160" y="7002720"/>
            <a:ext cx="198180" cy="62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12" name="Shape 104"/>
          <p:cNvSpPr/>
          <p:nvPr/>
        </p:nvSpPr>
        <p:spPr>
          <a:xfrm>
            <a:off x="5222340" y="7065360"/>
            <a:ext cx="197640" cy="49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820" rIns="135000" bIns="-17820" anchor="t" anchorCtr="1">
            <a:noAutofit/>
          </a:bodyPr>
          <a:lstStyle/>
          <a:p>
            <a:endParaRPr lang="en-US" sz="2700">
              <a:solidFill>
                <a:srgbClr val="FFFFFF"/>
              </a:solidFill>
              <a:latin typeface="Arial"/>
            </a:endParaRPr>
          </a:p>
        </p:txBody>
      </p:sp>
      <p:sp>
        <p:nvSpPr>
          <p:cNvPr id="113" name="Shape 105"/>
          <p:cNvSpPr/>
          <p:nvPr/>
        </p:nvSpPr>
        <p:spPr>
          <a:xfrm>
            <a:off x="5419980" y="7115040"/>
            <a:ext cx="198180" cy="486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114" name="Shape 106"/>
          <p:cNvSpPr/>
          <p:nvPr/>
        </p:nvSpPr>
        <p:spPr>
          <a:xfrm>
            <a:off x="5618160" y="716364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15" name="Shape 107"/>
          <p:cNvSpPr/>
          <p:nvPr/>
        </p:nvSpPr>
        <p:spPr>
          <a:xfrm>
            <a:off x="5816340" y="7221960"/>
            <a:ext cx="197640" cy="63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116" name="Shape 108"/>
          <p:cNvSpPr/>
          <p:nvPr/>
        </p:nvSpPr>
        <p:spPr>
          <a:xfrm>
            <a:off x="6013980" y="7285680"/>
            <a:ext cx="198180" cy="45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17" name="Shape 109"/>
          <p:cNvSpPr/>
          <p:nvPr/>
        </p:nvSpPr>
        <p:spPr>
          <a:xfrm flipV="1">
            <a:off x="6212160" y="7328880"/>
            <a:ext cx="198180" cy="2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18" name="Shape 110"/>
          <p:cNvSpPr/>
          <p:nvPr/>
        </p:nvSpPr>
        <p:spPr>
          <a:xfrm flipV="1">
            <a:off x="6410340" y="7267860"/>
            <a:ext cx="198180" cy="61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19" name="Shape 111"/>
          <p:cNvSpPr/>
          <p:nvPr/>
        </p:nvSpPr>
        <p:spPr>
          <a:xfrm flipV="1">
            <a:off x="6608520" y="716364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20" name="Shape 112"/>
          <p:cNvSpPr/>
          <p:nvPr/>
        </p:nvSpPr>
        <p:spPr>
          <a:xfrm flipV="1">
            <a:off x="6806160" y="7056720"/>
            <a:ext cx="198180" cy="106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21" name="Shape 113"/>
          <p:cNvSpPr/>
          <p:nvPr/>
        </p:nvSpPr>
        <p:spPr>
          <a:xfrm flipV="1">
            <a:off x="7004340" y="6989760"/>
            <a:ext cx="198180" cy="66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 rIns="135000" bIns="-540" anchor="t" anchorCtr="1">
            <a:noAutofit/>
          </a:bodyPr>
          <a:lstStyle/>
          <a:p>
            <a:endParaRPr lang="en-US" sz="2700">
              <a:solidFill>
                <a:srgbClr val="FFFFFF"/>
              </a:solidFill>
              <a:latin typeface="Arial"/>
            </a:endParaRPr>
          </a:p>
        </p:txBody>
      </p:sp>
      <p:sp>
        <p:nvSpPr>
          <p:cNvPr id="122" name="Shape 114"/>
          <p:cNvSpPr/>
          <p:nvPr/>
        </p:nvSpPr>
        <p:spPr>
          <a:xfrm flipV="1">
            <a:off x="7202520" y="6982740"/>
            <a:ext cx="197640" cy="7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0480" rIns="135000" bIns="-60480" anchor="t" anchorCtr="1">
            <a:noAutofit/>
          </a:bodyPr>
          <a:lstStyle/>
          <a:p>
            <a:endParaRPr lang="en-US" sz="2700">
              <a:solidFill>
                <a:srgbClr val="FFFFFF"/>
              </a:solidFill>
              <a:latin typeface="Arial"/>
            </a:endParaRPr>
          </a:p>
        </p:txBody>
      </p:sp>
      <p:sp>
        <p:nvSpPr>
          <p:cNvPr id="123" name="Shape 115"/>
          <p:cNvSpPr/>
          <p:nvPr/>
        </p:nvSpPr>
        <p:spPr>
          <a:xfrm>
            <a:off x="7400160" y="69827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24" name="Shape 116"/>
          <p:cNvSpPr/>
          <p:nvPr/>
        </p:nvSpPr>
        <p:spPr>
          <a:xfrm>
            <a:off x="7598340" y="702648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25" name="Shape 117"/>
          <p:cNvSpPr/>
          <p:nvPr/>
        </p:nvSpPr>
        <p:spPr>
          <a:xfrm>
            <a:off x="7796520" y="709182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26" name="Shape 118"/>
          <p:cNvSpPr/>
          <p:nvPr/>
        </p:nvSpPr>
        <p:spPr>
          <a:xfrm>
            <a:off x="7994700" y="715014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27" name="Shape 119"/>
          <p:cNvSpPr/>
          <p:nvPr/>
        </p:nvSpPr>
        <p:spPr>
          <a:xfrm>
            <a:off x="8192340" y="7191180"/>
            <a:ext cx="198180" cy="34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28" name="Shape 120"/>
          <p:cNvSpPr/>
          <p:nvPr/>
        </p:nvSpPr>
        <p:spPr>
          <a:xfrm>
            <a:off x="8390520" y="7225200"/>
            <a:ext cx="19818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129" name="Shape 121"/>
          <p:cNvSpPr/>
          <p:nvPr/>
        </p:nvSpPr>
        <p:spPr>
          <a:xfrm>
            <a:off x="8588700" y="7264080"/>
            <a:ext cx="19764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30" name="Shape 122"/>
          <p:cNvSpPr/>
          <p:nvPr/>
        </p:nvSpPr>
        <p:spPr>
          <a:xfrm>
            <a:off x="8786340" y="7308360"/>
            <a:ext cx="198180" cy="297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131" name="Shape 123"/>
          <p:cNvSpPr/>
          <p:nvPr/>
        </p:nvSpPr>
        <p:spPr>
          <a:xfrm flipV="1">
            <a:off x="8984520" y="7325100"/>
            <a:ext cx="198180" cy="12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540" rIns="135000" bIns="-54540" anchor="t" anchorCtr="1">
            <a:noAutofit/>
          </a:bodyPr>
          <a:lstStyle/>
          <a:p>
            <a:endParaRPr lang="en-US" sz="2700">
              <a:solidFill>
                <a:srgbClr val="FFFFFF"/>
              </a:solidFill>
              <a:latin typeface="Arial"/>
            </a:endParaRPr>
          </a:p>
        </p:txBody>
      </p:sp>
      <p:sp>
        <p:nvSpPr>
          <p:cNvPr id="132" name="Shape 124"/>
          <p:cNvSpPr/>
          <p:nvPr/>
        </p:nvSpPr>
        <p:spPr>
          <a:xfrm flipV="1">
            <a:off x="9182700" y="7254360"/>
            <a:ext cx="198180" cy="70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133" name="Shape 125"/>
          <p:cNvSpPr/>
          <p:nvPr/>
        </p:nvSpPr>
        <p:spPr>
          <a:xfrm flipV="1">
            <a:off x="9380880" y="7139340"/>
            <a:ext cx="197640" cy="115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134" name="Shape 126"/>
          <p:cNvSpPr/>
          <p:nvPr/>
        </p:nvSpPr>
        <p:spPr>
          <a:xfrm flipV="1">
            <a:off x="9578520" y="7017840"/>
            <a:ext cx="198180" cy="121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0" rIns="135000" bIns="54000" anchor="t" anchorCtr="1">
            <a:noAutofit/>
          </a:bodyPr>
          <a:lstStyle/>
          <a:p>
            <a:endParaRPr lang="en-US" sz="2700">
              <a:solidFill>
                <a:srgbClr val="FFFFFF"/>
              </a:solidFill>
              <a:latin typeface="Arial"/>
            </a:endParaRPr>
          </a:p>
        </p:txBody>
      </p:sp>
      <p:sp>
        <p:nvSpPr>
          <p:cNvPr id="135" name="Shape 127"/>
          <p:cNvSpPr/>
          <p:nvPr/>
        </p:nvSpPr>
        <p:spPr>
          <a:xfrm flipV="1">
            <a:off x="9776700" y="6933060"/>
            <a:ext cx="198180" cy="84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36" name="Shape 128"/>
          <p:cNvSpPr/>
          <p:nvPr/>
        </p:nvSpPr>
        <p:spPr>
          <a:xfrm flipV="1">
            <a:off x="9974880" y="6910380"/>
            <a:ext cx="197640" cy="22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37" name="Shape 129"/>
          <p:cNvSpPr/>
          <p:nvPr/>
        </p:nvSpPr>
        <p:spPr>
          <a:xfrm>
            <a:off x="10172520" y="6910380"/>
            <a:ext cx="198180" cy="32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38" name="Shape 130"/>
          <p:cNvSpPr/>
          <p:nvPr/>
        </p:nvSpPr>
        <p:spPr>
          <a:xfrm>
            <a:off x="10370700" y="6942780"/>
            <a:ext cx="198180" cy="59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139" name="Shape 131"/>
          <p:cNvSpPr/>
          <p:nvPr/>
        </p:nvSpPr>
        <p:spPr>
          <a:xfrm>
            <a:off x="10568880" y="7002180"/>
            <a:ext cx="198180" cy="55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2420" rIns="135000" bIns="-12420" anchor="t" anchorCtr="1">
            <a:noAutofit/>
          </a:bodyPr>
          <a:lstStyle/>
          <a:p>
            <a:endParaRPr lang="en-US" sz="2700">
              <a:solidFill>
                <a:srgbClr val="FFFFFF"/>
              </a:solidFill>
              <a:latin typeface="Arial"/>
            </a:endParaRPr>
          </a:p>
        </p:txBody>
      </p:sp>
      <p:sp>
        <p:nvSpPr>
          <p:cNvPr id="140" name="Shape 132"/>
          <p:cNvSpPr/>
          <p:nvPr/>
        </p:nvSpPr>
        <p:spPr>
          <a:xfrm>
            <a:off x="10767060" y="7057260"/>
            <a:ext cx="19764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41" name="Shape 133"/>
          <p:cNvSpPr/>
          <p:nvPr/>
        </p:nvSpPr>
        <p:spPr>
          <a:xfrm>
            <a:off x="10964700" y="7094520"/>
            <a:ext cx="198180" cy="25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142" name="Shape 134"/>
          <p:cNvSpPr/>
          <p:nvPr/>
        </p:nvSpPr>
        <p:spPr>
          <a:xfrm>
            <a:off x="11162880" y="7119900"/>
            <a:ext cx="198180" cy="275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143" name="Shape 135"/>
          <p:cNvSpPr/>
          <p:nvPr/>
        </p:nvSpPr>
        <p:spPr>
          <a:xfrm>
            <a:off x="11361060" y="7147440"/>
            <a:ext cx="19764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44" name="Shape 136"/>
          <p:cNvSpPr/>
          <p:nvPr/>
        </p:nvSpPr>
        <p:spPr>
          <a:xfrm>
            <a:off x="11558700" y="7182000"/>
            <a:ext cx="198180" cy="243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145" name="Shape 137"/>
          <p:cNvSpPr/>
          <p:nvPr/>
        </p:nvSpPr>
        <p:spPr>
          <a:xfrm flipV="1">
            <a:off x="11756880" y="7194960"/>
            <a:ext cx="198180" cy="11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46" name="Shape 138"/>
          <p:cNvSpPr/>
          <p:nvPr/>
        </p:nvSpPr>
        <p:spPr>
          <a:xfrm flipV="1">
            <a:off x="11955060" y="712962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47" name="Shape 139"/>
          <p:cNvSpPr/>
          <p:nvPr/>
        </p:nvSpPr>
        <p:spPr>
          <a:xfrm flipV="1">
            <a:off x="12152700" y="7020540"/>
            <a:ext cx="198180" cy="109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148" name="Shape 140"/>
          <p:cNvSpPr/>
          <p:nvPr/>
        </p:nvSpPr>
        <p:spPr>
          <a:xfrm flipV="1">
            <a:off x="12350880" y="6902820"/>
            <a:ext cx="198180" cy="117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149" name="Shape 141"/>
          <p:cNvSpPr/>
          <p:nvPr/>
        </p:nvSpPr>
        <p:spPr>
          <a:xfrm flipV="1">
            <a:off x="12549060" y="6819660"/>
            <a:ext cx="198180" cy="83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660" rIns="135000" bIns="15660" anchor="t" anchorCtr="1">
            <a:noAutofit/>
          </a:bodyPr>
          <a:lstStyle/>
          <a:p>
            <a:endParaRPr lang="en-US" sz="2700">
              <a:solidFill>
                <a:srgbClr val="FFFFFF"/>
              </a:solidFill>
              <a:latin typeface="Arial"/>
            </a:endParaRPr>
          </a:p>
        </p:txBody>
      </p:sp>
      <p:sp>
        <p:nvSpPr>
          <p:cNvPr id="150" name="Shape 142"/>
          <p:cNvSpPr/>
          <p:nvPr/>
        </p:nvSpPr>
        <p:spPr>
          <a:xfrm flipV="1">
            <a:off x="12747240" y="6799140"/>
            <a:ext cx="197640" cy="205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6980" rIns="135000" bIns="-46980" anchor="t" anchorCtr="1">
            <a:noAutofit/>
          </a:bodyPr>
          <a:lstStyle/>
          <a:p>
            <a:endParaRPr lang="en-US" sz="2700">
              <a:solidFill>
                <a:srgbClr val="FFFFFF"/>
              </a:solidFill>
              <a:latin typeface="Arial"/>
            </a:endParaRPr>
          </a:p>
        </p:txBody>
      </p:sp>
      <p:sp>
        <p:nvSpPr>
          <p:cNvPr id="151" name="Shape 143"/>
          <p:cNvSpPr/>
          <p:nvPr/>
        </p:nvSpPr>
        <p:spPr>
          <a:xfrm>
            <a:off x="12944880" y="6799140"/>
            <a:ext cx="198180" cy="40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152" name="Shape 144"/>
          <p:cNvSpPr/>
          <p:nvPr/>
        </p:nvSpPr>
        <p:spPr>
          <a:xfrm>
            <a:off x="13143060" y="6839640"/>
            <a:ext cx="198180" cy="729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 rIns="135000" bIns="5400" anchor="t" anchorCtr="1">
            <a:noAutofit/>
          </a:bodyPr>
          <a:lstStyle/>
          <a:p>
            <a:endParaRPr lang="en-US" sz="2700">
              <a:solidFill>
                <a:srgbClr val="FFFFFF"/>
              </a:solidFill>
              <a:latin typeface="Arial"/>
            </a:endParaRPr>
          </a:p>
        </p:txBody>
      </p:sp>
      <p:sp>
        <p:nvSpPr>
          <p:cNvPr id="153" name="Shape 145"/>
          <p:cNvSpPr/>
          <p:nvPr/>
        </p:nvSpPr>
        <p:spPr>
          <a:xfrm>
            <a:off x="13341240" y="6912540"/>
            <a:ext cx="197640" cy="72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54" name="Shape 146"/>
          <p:cNvSpPr/>
          <p:nvPr/>
        </p:nvSpPr>
        <p:spPr>
          <a:xfrm>
            <a:off x="13538880" y="6984900"/>
            <a:ext cx="198180" cy="52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155" name="Shape 147"/>
          <p:cNvSpPr/>
          <p:nvPr/>
        </p:nvSpPr>
        <p:spPr>
          <a:xfrm>
            <a:off x="13737060" y="7037280"/>
            <a:ext cx="19818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56" name="Shape 148"/>
          <p:cNvSpPr/>
          <p:nvPr/>
        </p:nvSpPr>
        <p:spPr>
          <a:xfrm>
            <a:off x="13935240" y="707454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57" name="Shape 149"/>
          <p:cNvSpPr/>
          <p:nvPr/>
        </p:nvSpPr>
        <p:spPr>
          <a:xfrm>
            <a:off x="14133420" y="711018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58" name="Shape 150"/>
          <p:cNvSpPr/>
          <p:nvPr/>
        </p:nvSpPr>
        <p:spPr>
          <a:xfrm>
            <a:off x="14331060" y="7151220"/>
            <a:ext cx="19818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59" name="Shape 151"/>
          <p:cNvSpPr/>
          <p:nvPr/>
        </p:nvSpPr>
        <p:spPr>
          <a:xfrm>
            <a:off x="14529240" y="7185780"/>
            <a:ext cx="198180" cy="4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3180" rIns="135000" bIns="-63180" anchor="t" anchorCtr="1">
            <a:noAutofit/>
          </a:bodyPr>
          <a:lstStyle/>
          <a:p>
            <a:endParaRPr lang="en-US" sz="2700">
              <a:solidFill>
                <a:srgbClr val="FFFFFF"/>
              </a:solidFill>
              <a:latin typeface="Arial"/>
            </a:endParaRPr>
          </a:p>
        </p:txBody>
      </p:sp>
      <p:sp>
        <p:nvSpPr>
          <p:cNvPr id="160" name="Shape 152"/>
          <p:cNvSpPr/>
          <p:nvPr/>
        </p:nvSpPr>
        <p:spPr>
          <a:xfrm flipV="1">
            <a:off x="14727420" y="7143660"/>
            <a:ext cx="197640" cy="46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61" name="Shape 153"/>
          <p:cNvSpPr/>
          <p:nvPr/>
        </p:nvSpPr>
        <p:spPr>
          <a:xfrm flipV="1">
            <a:off x="14925060" y="7052400"/>
            <a:ext cx="198180" cy="91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62" name="Shape 154"/>
          <p:cNvSpPr/>
          <p:nvPr/>
        </p:nvSpPr>
        <p:spPr>
          <a:xfrm flipV="1">
            <a:off x="15123240" y="6948180"/>
            <a:ext cx="19818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63" name="Shape 155"/>
          <p:cNvSpPr/>
          <p:nvPr/>
        </p:nvSpPr>
        <p:spPr>
          <a:xfrm flipV="1">
            <a:off x="15321420" y="6874740"/>
            <a:ext cx="198180" cy="73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164" name="Shape 156"/>
          <p:cNvSpPr/>
          <p:nvPr/>
        </p:nvSpPr>
        <p:spPr>
          <a:xfrm flipV="1">
            <a:off x="15519600" y="6862860"/>
            <a:ext cx="197640" cy="11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165" name="Shape 157"/>
          <p:cNvSpPr/>
          <p:nvPr/>
        </p:nvSpPr>
        <p:spPr>
          <a:xfrm>
            <a:off x="15717240" y="6862860"/>
            <a:ext cx="198180" cy="50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66" name="Shape 158"/>
          <p:cNvSpPr/>
          <p:nvPr/>
        </p:nvSpPr>
        <p:spPr>
          <a:xfrm>
            <a:off x="15915420" y="6913080"/>
            <a:ext cx="198180" cy="86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167" name="Shape 159"/>
          <p:cNvSpPr/>
          <p:nvPr/>
        </p:nvSpPr>
        <p:spPr>
          <a:xfrm>
            <a:off x="16113600" y="7000020"/>
            <a:ext cx="197640" cy="87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168" name="Shape 160"/>
          <p:cNvSpPr/>
          <p:nvPr/>
        </p:nvSpPr>
        <p:spPr>
          <a:xfrm>
            <a:off x="16311240" y="708750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69" name="Shape 161"/>
          <p:cNvSpPr/>
          <p:nvPr/>
        </p:nvSpPr>
        <p:spPr>
          <a:xfrm>
            <a:off x="16509420" y="71528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70" name="Shape 162"/>
          <p:cNvSpPr/>
          <p:nvPr/>
        </p:nvSpPr>
        <p:spPr>
          <a:xfrm>
            <a:off x="16707600" y="719658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71" name="Shape 163"/>
          <p:cNvSpPr/>
          <p:nvPr/>
        </p:nvSpPr>
        <p:spPr>
          <a:xfrm>
            <a:off x="16905780" y="7232220"/>
            <a:ext cx="19764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2" name="Shape 164"/>
          <p:cNvSpPr/>
          <p:nvPr/>
        </p:nvSpPr>
        <p:spPr>
          <a:xfrm flipV="1">
            <a:off x="1261440" y="7651260"/>
            <a:ext cx="198180" cy="79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173" name="Shape 165"/>
          <p:cNvSpPr/>
          <p:nvPr/>
        </p:nvSpPr>
        <p:spPr>
          <a:xfrm flipV="1">
            <a:off x="1459620" y="76042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74" name="Shape 166"/>
          <p:cNvSpPr/>
          <p:nvPr/>
        </p:nvSpPr>
        <p:spPr>
          <a:xfrm flipV="1">
            <a:off x="1657800" y="759942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175" name="Shape 167"/>
          <p:cNvSpPr/>
          <p:nvPr/>
        </p:nvSpPr>
        <p:spPr>
          <a:xfrm>
            <a:off x="1855440" y="7599420"/>
            <a:ext cx="19818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176" name="Shape 168"/>
          <p:cNvSpPr/>
          <p:nvPr/>
        </p:nvSpPr>
        <p:spPr>
          <a:xfrm>
            <a:off x="2053620" y="762642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7" name="Shape 169"/>
          <p:cNvSpPr/>
          <p:nvPr/>
        </p:nvSpPr>
        <p:spPr>
          <a:xfrm>
            <a:off x="2251800" y="7664220"/>
            <a:ext cx="198180" cy="33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178" name="Shape 170"/>
          <p:cNvSpPr/>
          <p:nvPr/>
        </p:nvSpPr>
        <p:spPr>
          <a:xfrm>
            <a:off x="2449980" y="7697700"/>
            <a:ext cx="19764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79" name="Shape 171"/>
          <p:cNvSpPr/>
          <p:nvPr/>
        </p:nvSpPr>
        <p:spPr>
          <a:xfrm>
            <a:off x="2647620" y="772578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0" name="Shape 172"/>
          <p:cNvSpPr/>
          <p:nvPr/>
        </p:nvSpPr>
        <p:spPr>
          <a:xfrm>
            <a:off x="2845800" y="7757100"/>
            <a:ext cx="198180" cy="426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4840" rIns="135000" bIns="-24840" anchor="t" anchorCtr="1">
            <a:noAutofit/>
          </a:bodyPr>
          <a:lstStyle/>
          <a:p>
            <a:endParaRPr lang="en-US" sz="2700">
              <a:solidFill>
                <a:srgbClr val="FFFFFF"/>
              </a:solidFill>
              <a:latin typeface="Arial"/>
            </a:endParaRPr>
          </a:p>
        </p:txBody>
      </p:sp>
      <p:sp>
        <p:nvSpPr>
          <p:cNvPr id="181" name="Shape 173"/>
          <p:cNvSpPr/>
          <p:nvPr/>
        </p:nvSpPr>
        <p:spPr>
          <a:xfrm>
            <a:off x="3043980" y="779976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82" name="Shape 174"/>
          <p:cNvSpPr/>
          <p:nvPr/>
        </p:nvSpPr>
        <p:spPr>
          <a:xfrm>
            <a:off x="3241620" y="784620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3" name="Shape 175"/>
          <p:cNvSpPr/>
          <p:nvPr/>
        </p:nvSpPr>
        <p:spPr>
          <a:xfrm flipV="1">
            <a:off x="3439800" y="7873740"/>
            <a:ext cx="198180" cy="3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3720" rIns="135000" bIns="-63720" anchor="t" anchorCtr="1">
            <a:noAutofit/>
          </a:bodyPr>
          <a:lstStyle/>
          <a:p>
            <a:endParaRPr lang="en-US" sz="2700">
              <a:solidFill>
                <a:srgbClr val="FFFFFF"/>
              </a:solidFill>
              <a:latin typeface="Arial"/>
            </a:endParaRPr>
          </a:p>
        </p:txBody>
      </p:sp>
      <p:sp>
        <p:nvSpPr>
          <p:cNvPr id="184" name="Shape 176"/>
          <p:cNvSpPr/>
          <p:nvPr/>
        </p:nvSpPr>
        <p:spPr>
          <a:xfrm flipV="1">
            <a:off x="3637980" y="782676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85" name="Shape 177"/>
          <p:cNvSpPr/>
          <p:nvPr/>
        </p:nvSpPr>
        <p:spPr>
          <a:xfrm flipV="1">
            <a:off x="3836160" y="7752780"/>
            <a:ext cx="197640" cy="73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86" name="Shape 178"/>
          <p:cNvSpPr/>
          <p:nvPr/>
        </p:nvSpPr>
        <p:spPr>
          <a:xfrm flipV="1">
            <a:off x="4033800" y="7680420"/>
            <a:ext cx="198180" cy="72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87" name="Shape 179"/>
          <p:cNvSpPr/>
          <p:nvPr/>
        </p:nvSpPr>
        <p:spPr>
          <a:xfrm flipV="1">
            <a:off x="4231980" y="7639380"/>
            <a:ext cx="198180" cy="410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88" name="Shape 180"/>
          <p:cNvSpPr/>
          <p:nvPr/>
        </p:nvSpPr>
        <p:spPr>
          <a:xfrm>
            <a:off x="4430160" y="7639380"/>
            <a:ext cx="197640" cy="2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89" name="Shape 181"/>
          <p:cNvSpPr/>
          <p:nvPr/>
        </p:nvSpPr>
        <p:spPr>
          <a:xfrm>
            <a:off x="4627800" y="7641540"/>
            <a:ext cx="198180" cy="36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190" name="Shape 182"/>
          <p:cNvSpPr/>
          <p:nvPr/>
        </p:nvSpPr>
        <p:spPr>
          <a:xfrm>
            <a:off x="4825980" y="7678260"/>
            <a:ext cx="198180" cy="49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191" name="Shape 183"/>
          <p:cNvSpPr/>
          <p:nvPr/>
        </p:nvSpPr>
        <p:spPr>
          <a:xfrm>
            <a:off x="5024160" y="7727400"/>
            <a:ext cx="198180" cy="448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92" name="Shape 184"/>
          <p:cNvSpPr/>
          <p:nvPr/>
        </p:nvSpPr>
        <p:spPr>
          <a:xfrm>
            <a:off x="5222340" y="7772220"/>
            <a:ext cx="197640" cy="35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93" name="Shape 185"/>
          <p:cNvSpPr/>
          <p:nvPr/>
        </p:nvSpPr>
        <p:spPr>
          <a:xfrm>
            <a:off x="5419980" y="7807860"/>
            <a:ext cx="198180" cy="34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94" name="Shape 186"/>
          <p:cNvSpPr/>
          <p:nvPr/>
        </p:nvSpPr>
        <p:spPr>
          <a:xfrm>
            <a:off x="5618160" y="78424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195" name="Shape 187"/>
          <p:cNvSpPr/>
          <p:nvPr/>
        </p:nvSpPr>
        <p:spPr>
          <a:xfrm>
            <a:off x="5816340" y="7884000"/>
            <a:ext cx="197640" cy="45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96" name="Shape 188"/>
          <p:cNvSpPr/>
          <p:nvPr/>
        </p:nvSpPr>
        <p:spPr>
          <a:xfrm>
            <a:off x="6013980" y="7929360"/>
            <a:ext cx="198180" cy="32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97" name="Shape 189"/>
          <p:cNvSpPr/>
          <p:nvPr/>
        </p:nvSpPr>
        <p:spPr>
          <a:xfrm flipV="1">
            <a:off x="6212160" y="7960680"/>
            <a:ext cx="198180" cy="1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6420" rIns="135000" bIns="-66420" anchor="t" anchorCtr="1">
            <a:noAutofit/>
          </a:bodyPr>
          <a:lstStyle/>
          <a:p>
            <a:endParaRPr lang="en-US" sz="2700">
              <a:solidFill>
                <a:srgbClr val="FFFFFF"/>
              </a:solidFill>
              <a:latin typeface="Arial"/>
            </a:endParaRPr>
          </a:p>
        </p:txBody>
      </p:sp>
      <p:sp>
        <p:nvSpPr>
          <p:cNvPr id="198" name="Shape 190"/>
          <p:cNvSpPr/>
          <p:nvPr/>
        </p:nvSpPr>
        <p:spPr>
          <a:xfrm flipV="1">
            <a:off x="6410340" y="7916940"/>
            <a:ext cx="198180" cy="437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99" name="Shape 191"/>
          <p:cNvSpPr/>
          <p:nvPr/>
        </p:nvSpPr>
        <p:spPr>
          <a:xfrm flipV="1">
            <a:off x="6608520" y="7842420"/>
            <a:ext cx="19764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00" name="Shape 192"/>
          <p:cNvSpPr/>
          <p:nvPr/>
        </p:nvSpPr>
        <p:spPr>
          <a:xfrm flipV="1">
            <a:off x="6806160" y="7766280"/>
            <a:ext cx="198180" cy="76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1" name="Shape 193"/>
          <p:cNvSpPr/>
          <p:nvPr/>
        </p:nvSpPr>
        <p:spPr>
          <a:xfrm flipV="1">
            <a:off x="7004340" y="7718220"/>
            <a:ext cx="198180" cy="480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02" name="Shape 194"/>
          <p:cNvSpPr/>
          <p:nvPr/>
        </p:nvSpPr>
        <p:spPr>
          <a:xfrm flipV="1">
            <a:off x="7202520" y="771336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203" name="Shape 195"/>
          <p:cNvSpPr/>
          <p:nvPr/>
        </p:nvSpPr>
        <p:spPr>
          <a:xfrm>
            <a:off x="7400160" y="771336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04" name="Shape 196"/>
          <p:cNvSpPr/>
          <p:nvPr/>
        </p:nvSpPr>
        <p:spPr>
          <a:xfrm>
            <a:off x="7598340" y="7744680"/>
            <a:ext cx="19818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05" name="Shape 197"/>
          <p:cNvSpPr/>
          <p:nvPr/>
        </p:nvSpPr>
        <p:spPr>
          <a:xfrm>
            <a:off x="7796520" y="77911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206" name="Shape 198"/>
          <p:cNvSpPr/>
          <p:nvPr/>
        </p:nvSpPr>
        <p:spPr>
          <a:xfrm>
            <a:off x="7994700" y="7832700"/>
            <a:ext cx="197640" cy="297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207" name="Shape 199"/>
          <p:cNvSpPr/>
          <p:nvPr/>
        </p:nvSpPr>
        <p:spPr>
          <a:xfrm>
            <a:off x="8192340" y="7862400"/>
            <a:ext cx="198180" cy="23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08" name="Shape 200"/>
          <p:cNvSpPr/>
          <p:nvPr/>
        </p:nvSpPr>
        <p:spPr>
          <a:xfrm>
            <a:off x="8390520" y="7886160"/>
            <a:ext cx="19818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209" name="Shape 201"/>
          <p:cNvSpPr/>
          <p:nvPr/>
        </p:nvSpPr>
        <p:spPr>
          <a:xfrm>
            <a:off x="8588700" y="7914240"/>
            <a:ext cx="19764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10" name="Shape 202"/>
          <p:cNvSpPr/>
          <p:nvPr/>
        </p:nvSpPr>
        <p:spPr>
          <a:xfrm>
            <a:off x="8786340" y="7945560"/>
            <a:ext cx="198180" cy="216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5900" rIns="135000" bIns="-45900" anchor="t" anchorCtr="1">
            <a:noAutofit/>
          </a:bodyPr>
          <a:lstStyle/>
          <a:p>
            <a:endParaRPr lang="en-US" sz="2700">
              <a:solidFill>
                <a:srgbClr val="FFFFFF"/>
              </a:solidFill>
              <a:latin typeface="Arial"/>
            </a:endParaRPr>
          </a:p>
        </p:txBody>
      </p:sp>
      <p:sp>
        <p:nvSpPr>
          <p:cNvPr id="211" name="Shape 203"/>
          <p:cNvSpPr/>
          <p:nvPr/>
        </p:nvSpPr>
        <p:spPr>
          <a:xfrm flipV="1">
            <a:off x="8984520" y="7957440"/>
            <a:ext cx="198180" cy="9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12" name="Shape 204"/>
          <p:cNvSpPr/>
          <p:nvPr/>
        </p:nvSpPr>
        <p:spPr>
          <a:xfrm flipV="1">
            <a:off x="9182700" y="7907220"/>
            <a:ext cx="198180" cy="50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213" name="Shape 205"/>
          <p:cNvSpPr/>
          <p:nvPr/>
        </p:nvSpPr>
        <p:spPr>
          <a:xfrm flipV="1">
            <a:off x="9380880" y="7825140"/>
            <a:ext cx="197640" cy="82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214" name="Shape 206"/>
          <p:cNvSpPr/>
          <p:nvPr/>
        </p:nvSpPr>
        <p:spPr>
          <a:xfrm flipV="1">
            <a:off x="9578520" y="7738200"/>
            <a:ext cx="198180" cy="86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15" name="Shape 207"/>
          <p:cNvSpPr/>
          <p:nvPr/>
        </p:nvSpPr>
        <p:spPr>
          <a:xfrm flipV="1">
            <a:off x="9776700" y="7677720"/>
            <a:ext cx="198180" cy="60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16" name="Shape 208"/>
          <p:cNvSpPr/>
          <p:nvPr/>
        </p:nvSpPr>
        <p:spPr>
          <a:xfrm flipV="1">
            <a:off x="9974880" y="7661520"/>
            <a:ext cx="197640" cy="162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1300" rIns="135000" bIns="-51300" anchor="t" anchorCtr="1">
            <a:noAutofit/>
          </a:bodyPr>
          <a:lstStyle/>
          <a:p>
            <a:endParaRPr lang="en-US" sz="2700">
              <a:solidFill>
                <a:srgbClr val="FFFFFF"/>
              </a:solidFill>
              <a:latin typeface="Arial"/>
            </a:endParaRPr>
          </a:p>
        </p:txBody>
      </p:sp>
      <p:sp>
        <p:nvSpPr>
          <p:cNvPr id="217" name="Shape 209"/>
          <p:cNvSpPr/>
          <p:nvPr/>
        </p:nvSpPr>
        <p:spPr>
          <a:xfrm>
            <a:off x="10172520" y="7661520"/>
            <a:ext cx="198180" cy="23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18" name="Shape 210"/>
          <p:cNvSpPr/>
          <p:nvPr/>
        </p:nvSpPr>
        <p:spPr>
          <a:xfrm>
            <a:off x="10370700" y="7684740"/>
            <a:ext cx="198180" cy="421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219" name="Shape 211"/>
          <p:cNvSpPr/>
          <p:nvPr/>
        </p:nvSpPr>
        <p:spPr>
          <a:xfrm>
            <a:off x="10568880" y="7726860"/>
            <a:ext cx="198180" cy="394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220" name="Shape 212"/>
          <p:cNvSpPr/>
          <p:nvPr/>
        </p:nvSpPr>
        <p:spPr>
          <a:xfrm>
            <a:off x="10767060" y="7766280"/>
            <a:ext cx="19764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21" name="Shape 213"/>
          <p:cNvSpPr/>
          <p:nvPr/>
        </p:nvSpPr>
        <p:spPr>
          <a:xfrm>
            <a:off x="10964700" y="7792740"/>
            <a:ext cx="198180" cy="18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9140" rIns="135000" bIns="-49140" anchor="t" anchorCtr="1">
            <a:noAutofit/>
          </a:bodyPr>
          <a:lstStyle/>
          <a:p>
            <a:endParaRPr lang="en-US" sz="2700">
              <a:solidFill>
                <a:srgbClr val="FFFFFF"/>
              </a:solidFill>
              <a:latin typeface="Arial"/>
            </a:endParaRPr>
          </a:p>
        </p:txBody>
      </p:sp>
      <p:sp>
        <p:nvSpPr>
          <p:cNvPr id="222" name="Shape 214"/>
          <p:cNvSpPr/>
          <p:nvPr/>
        </p:nvSpPr>
        <p:spPr>
          <a:xfrm>
            <a:off x="11162880" y="7811100"/>
            <a:ext cx="198180" cy="19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223" name="Shape 215"/>
          <p:cNvSpPr/>
          <p:nvPr/>
        </p:nvSpPr>
        <p:spPr>
          <a:xfrm>
            <a:off x="11361060" y="7831080"/>
            <a:ext cx="197640" cy="24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224" name="Shape 216"/>
          <p:cNvSpPr/>
          <p:nvPr/>
        </p:nvSpPr>
        <p:spPr>
          <a:xfrm>
            <a:off x="11558700" y="7855380"/>
            <a:ext cx="198180" cy="172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225" name="Shape 217"/>
          <p:cNvSpPr/>
          <p:nvPr/>
        </p:nvSpPr>
        <p:spPr>
          <a:xfrm flipV="1">
            <a:off x="11756880" y="7864560"/>
            <a:ext cx="198180" cy="81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0" rIns="135000" bIns="-59400" anchor="t" anchorCtr="1">
            <a:noAutofit/>
          </a:bodyPr>
          <a:lstStyle/>
          <a:p>
            <a:endParaRPr lang="en-US" sz="2700">
              <a:solidFill>
                <a:srgbClr val="FFFFFF"/>
              </a:solidFill>
              <a:latin typeface="Arial"/>
            </a:endParaRPr>
          </a:p>
        </p:txBody>
      </p:sp>
      <p:sp>
        <p:nvSpPr>
          <p:cNvPr id="226" name="Shape 218"/>
          <p:cNvSpPr/>
          <p:nvPr/>
        </p:nvSpPr>
        <p:spPr>
          <a:xfrm flipV="1">
            <a:off x="11955060" y="781812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27" name="Shape 219"/>
          <p:cNvSpPr/>
          <p:nvPr/>
        </p:nvSpPr>
        <p:spPr>
          <a:xfrm flipV="1">
            <a:off x="12152700" y="7740360"/>
            <a:ext cx="198180" cy="77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228" name="Shape 220"/>
          <p:cNvSpPr/>
          <p:nvPr/>
        </p:nvSpPr>
        <p:spPr>
          <a:xfrm flipV="1">
            <a:off x="12350880" y="7656120"/>
            <a:ext cx="198180" cy="84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229" name="Shape 221"/>
          <p:cNvSpPr/>
          <p:nvPr/>
        </p:nvSpPr>
        <p:spPr>
          <a:xfrm flipV="1">
            <a:off x="12549060" y="7596720"/>
            <a:ext cx="198180" cy="59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0" name="Shape 222"/>
          <p:cNvSpPr/>
          <p:nvPr/>
        </p:nvSpPr>
        <p:spPr>
          <a:xfrm flipV="1">
            <a:off x="12747240" y="7582140"/>
            <a:ext cx="197640" cy="14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2920" rIns="135000" bIns="-52920" anchor="t" anchorCtr="1">
            <a:noAutofit/>
          </a:bodyPr>
          <a:lstStyle/>
          <a:p>
            <a:endParaRPr lang="en-US" sz="2700">
              <a:solidFill>
                <a:srgbClr val="FFFFFF"/>
              </a:solidFill>
              <a:latin typeface="Arial"/>
            </a:endParaRPr>
          </a:p>
        </p:txBody>
      </p:sp>
      <p:sp>
        <p:nvSpPr>
          <p:cNvPr id="231" name="Shape 223"/>
          <p:cNvSpPr/>
          <p:nvPr/>
        </p:nvSpPr>
        <p:spPr>
          <a:xfrm>
            <a:off x="12944880" y="7582140"/>
            <a:ext cx="198180" cy="286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880" rIns="135000" bIns="-38880" anchor="t" anchorCtr="1">
            <a:noAutofit/>
          </a:bodyPr>
          <a:lstStyle/>
          <a:p>
            <a:endParaRPr lang="en-US" sz="2700">
              <a:solidFill>
                <a:srgbClr val="FFFFFF"/>
              </a:solidFill>
              <a:latin typeface="Arial"/>
            </a:endParaRPr>
          </a:p>
        </p:txBody>
      </p:sp>
      <p:sp>
        <p:nvSpPr>
          <p:cNvPr id="232" name="Shape 224"/>
          <p:cNvSpPr/>
          <p:nvPr/>
        </p:nvSpPr>
        <p:spPr>
          <a:xfrm>
            <a:off x="13143060" y="761076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33" name="Shape 225"/>
          <p:cNvSpPr/>
          <p:nvPr/>
        </p:nvSpPr>
        <p:spPr>
          <a:xfrm>
            <a:off x="13341240" y="7663140"/>
            <a:ext cx="197640" cy="51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200" rIns="135000" bIns="-16200" anchor="t" anchorCtr="1">
            <a:noAutofit/>
          </a:bodyPr>
          <a:lstStyle/>
          <a:p>
            <a:endParaRPr lang="en-US" sz="2700">
              <a:solidFill>
                <a:srgbClr val="FFFFFF"/>
              </a:solidFill>
              <a:latin typeface="Arial"/>
            </a:endParaRPr>
          </a:p>
        </p:txBody>
      </p:sp>
      <p:sp>
        <p:nvSpPr>
          <p:cNvPr id="234" name="Shape 226"/>
          <p:cNvSpPr/>
          <p:nvPr/>
        </p:nvSpPr>
        <p:spPr>
          <a:xfrm>
            <a:off x="13538880" y="771444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235" name="Shape 227"/>
          <p:cNvSpPr/>
          <p:nvPr/>
        </p:nvSpPr>
        <p:spPr>
          <a:xfrm>
            <a:off x="13737060" y="7752240"/>
            <a:ext cx="19818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36" name="Shape 228"/>
          <p:cNvSpPr/>
          <p:nvPr/>
        </p:nvSpPr>
        <p:spPr>
          <a:xfrm>
            <a:off x="13935240" y="7778700"/>
            <a:ext cx="198180" cy="25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237" name="Shape 229"/>
          <p:cNvSpPr/>
          <p:nvPr/>
        </p:nvSpPr>
        <p:spPr>
          <a:xfrm>
            <a:off x="14133420" y="7804080"/>
            <a:ext cx="197640" cy="29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340" rIns="135000" bIns="-38340" anchor="t" anchorCtr="1">
            <a:noAutofit/>
          </a:bodyPr>
          <a:lstStyle/>
          <a:p>
            <a:endParaRPr lang="en-US" sz="2700">
              <a:solidFill>
                <a:srgbClr val="FFFFFF"/>
              </a:solidFill>
              <a:latin typeface="Arial"/>
            </a:endParaRPr>
          </a:p>
        </p:txBody>
      </p:sp>
      <p:sp>
        <p:nvSpPr>
          <p:cNvPr id="238" name="Shape 230"/>
          <p:cNvSpPr/>
          <p:nvPr/>
        </p:nvSpPr>
        <p:spPr>
          <a:xfrm>
            <a:off x="14331060" y="7833240"/>
            <a:ext cx="198180" cy="248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660" rIns="135000" bIns="-42660" anchor="t" anchorCtr="1">
            <a:noAutofit/>
          </a:bodyPr>
          <a:lstStyle/>
          <a:p>
            <a:endParaRPr lang="en-US" sz="2700">
              <a:solidFill>
                <a:srgbClr val="FFFFFF"/>
              </a:solidFill>
              <a:latin typeface="Arial"/>
            </a:endParaRPr>
          </a:p>
        </p:txBody>
      </p:sp>
      <p:sp>
        <p:nvSpPr>
          <p:cNvPr id="239" name="Shape 231"/>
          <p:cNvSpPr/>
          <p:nvPr/>
        </p:nvSpPr>
        <p:spPr>
          <a:xfrm>
            <a:off x="14529240" y="7858080"/>
            <a:ext cx="198180" cy="3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240" name="Shape 232"/>
          <p:cNvSpPr/>
          <p:nvPr/>
        </p:nvSpPr>
        <p:spPr>
          <a:xfrm flipV="1">
            <a:off x="14727420" y="7828380"/>
            <a:ext cx="197640" cy="32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241" name="Shape 233"/>
          <p:cNvSpPr/>
          <p:nvPr/>
        </p:nvSpPr>
        <p:spPr>
          <a:xfrm flipV="1">
            <a:off x="14925060" y="7763040"/>
            <a:ext cx="198180" cy="653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242" name="Shape 234"/>
          <p:cNvSpPr/>
          <p:nvPr/>
        </p:nvSpPr>
        <p:spPr>
          <a:xfrm flipV="1">
            <a:off x="15123240" y="7688520"/>
            <a:ext cx="19818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43" name="Shape 235"/>
          <p:cNvSpPr/>
          <p:nvPr/>
        </p:nvSpPr>
        <p:spPr>
          <a:xfrm flipV="1">
            <a:off x="15321420" y="763614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44" name="Shape 236"/>
          <p:cNvSpPr/>
          <p:nvPr/>
        </p:nvSpPr>
        <p:spPr>
          <a:xfrm flipV="1">
            <a:off x="15519600" y="7627500"/>
            <a:ext cx="197640" cy="8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8860" rIns="135000" bIns="-58860" anchor="t" anchorCtr="1">
            <a:noAutofit/>
          </a:bodyPr>
          <a:lstStyle/>
          <a:p>
            <a:endParaRPr lang="en-US" sz="2700">
              <a:solidFill>
                <a:srgbClr val="FFFFFF"/>
              </a:solidFill>
              <a:latin typeface="Arial"/>
            </a:endParaRPr>
          </a:p>
        </p:txBody>
      </p:sp>
      <p:sp>
        <p:nvSpPr>
          <p:cNvPr id="245" name="Shape 237"/>
          <p:cNvSpPr/>
          <p:nvPr/>
        </p:nvSpPr>
        <p:spPr>
          <a:xfrm>
            <a:off x="15717240" y="7627500"/>
            <a:ext cx="198180" cy="361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320" rIns="135000" bIns="-31320" anchor="t" anchorCtr="1">
            <a:noAutofit/>
          </a:bodyPr>
          <a:lstStyle/>
          <a:p>
            <a:endParaRPr lang="en-US" sz="2700">
              <a:solidFill>
                <a:srgbClr val="FFFFFF"/>
              </a:solidFill>
              <a:latin typeface="Arial"/>
            </a:endParaRPr>
          </a:p>
        </p:txBody>
      </p:sp>
      <p:sp>
        <p:nvSpPr>
          <p:cNvPr id="246" name="Shape 238"/>
          <p:cNvSpPr/>
          <p:nvPr/>
        </p:nvSpPr>
        <p:spPr>
          <a:xfrm>
            <a:off x="15915420" y="7663680"/>
            <a:ext cx="198180" cy="61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247" name="Shape 239"/>
          <p:cNvSpPr/>
          <p:nvPr/>
        </p:nvSpPr>
        <p:spPr>
          <a:xfrm>
            <a:off x="16113600" y="7725240"/>
            <a:ext cx="197640" cy="62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248" name="Shape 240"/>
          <p:cNvSpPr/>
          <p:nvPr/>
        </p:nvSpPr>
        <p:spPr>
          <a:xfrm>
            <a:off x="16311240" y="77878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249" name="Shape 241"/>
          <p:cNvSpPr/>
          <p:nvPr/>
        </p:nvSpPr>
        <p:spPr>
          <a:xfrm>
            <a:off x="16509420" y="7834860"/>
            <a:ext cx="198180" cy="30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250" name="Shape 242"/>
          <p:cNvSpPr/>
          <p:nvPr/>
        </p:nvSpPr>
        <p:spPr>
          <a:xfrm>
            <a:off x="16707600" y="7865640"/>
            <a:ext cx="198180" cy="259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251" name="Shape 243"/>
          <p:cNvSpPr/>
          <p:nvPr/>
        </p:nvSpPr>
        <p:spPr>
          <a:xfrm>
            <a:off x="16905780" y="7891560"/>
            <a:ext cx="19764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252" name="Shape 244"/>
          <p:cNvSpPr/>
          <p:nvPr/>
        </p:nvSpPr>
        <p:spPr>
          <a:xfrm>
            <a:off x="116586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3" name="Text 245"/>
          <p:cNvSpPr/>
          <p:nvPr/>
        </p:nvSpPr>
        <p:spPr>
          <a:xfrm>
            <a:off x="137160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65A7FF"/>
                </a:solidFill>
                <a:latin typeface="Aptos"/>
                <a:ea typeface="Aptos"/>
              </a:rPr>
              <a:t>01  REPRESENT</a:t>
            </a:r>
            <a:endParaRPr lang="en-US" sz="1350">
              <a:solidFill>
                <a:srgbClr val="FFFFFF"/>
              </a:solidFill>
              <a:latin typeface="Arial"/>
            </a:endParaRPr>
          </a:p>
        </p:txBody>
      </p:sp>
      <p:sp>
        <p:nvSpPr>
          <p:cNvPr id="254" name="Text 246"/>
          <p:cNvSpPr/>
          <p:nvPr/>
        </p:nvSpPr>
        <p:spPr>
          <a:xfrm>
            <a:off x="137160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CSP · FBCSP</a:t>
            </a:r>
            <a:endParaRPr lang="en-US" sz="1515">
              <a:solidFill>
                <a:srgbClr val="FFFFFF"/>
              </a:solidFill>
              <a:latin typeface="Arial"/>
            </a:endParaRPr>
          </a:p>
        </p:txBody>
      </p:sp>
      <p:sp>
        <p:nvSpPr>
          <p:cNvPr id="255" name="Shape 247"/>
          <p:cNvSpPr/>
          <p:nvPr/>
        </p:nvSpPr>
        <p:spPr>
          <a:xfrm>
            <a:off x="54729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6" name="Text 248"/>
          <p:cNvSpPr/>
          <p:nvPr/>
        </p:nvSpPr>
        <p:spPr>
          <a:xfrm>
            <a:off x="56786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39D2C3"/>
                </a:solidFill>
                <a:latin typeface="Aptos"/>
                <a:ea typeface="Aptos"/>
              </a:rPr>
              <a:t>02  MONITOR</a:t>
            </a:r>
            <a:endParaRPr lang="en-US" sz="1350">
              <a:solidFill>
                <a:srgbClr val="FFFFFF"/>
              </a:solidFill>
              <a:latin typeface="Arial"/>
            </a:endParaRPr>
          </a:p>
        </p:txBody>
      </p:sp>
      <p:sp>
        <p:nvSpPr>
          <p:cNvPr id="257" name="Text 249"/>
          <p:cNvSpPr/>
          <p:nvPr/>
        </p:nvSpPr>
        <p:spPr>
          <a:xfrm>
            <a:off x="56786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dirty="0">
                <a:solidFill>
                  <a:srgbClr val="D5E4F1"/>
                </a:solidFill>
                <a:latin typeface="Aptos"/>
                <a:ea typeface="Aptos"/>
              </a:rPr>
              <a:t>EWMA · CUSUM · ABCD</a:t>
            </a:r>
            <a:endParaRPr lang="en-US" sz="1515" dirty="0">
              <a:solidFill>
                <a:srgbClr val="FFFFFF"/>
              </a:solidFill>
              <a:latin typeface="Arial"/>
            </a:endParaRPr>
          </a:p>
        </p:txBody>
      </p:sp>
      <p:sp>
        <p:nvSpPr>
          <p:cNvPr id="258" name="Shape 250"/>
          <p:cNvSpPr/>
          <p:nvPr/>
        </p:nvSpPr>
        <p:spPr>
          <a:xfrm>
            <a:off x="97794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9" name="Text 251"/>
          <p:cNvSpPr/>
          <p:nvPr/>
        </p:nvSpPr>
        <p:spPr>
          <a:xfrm>
            <a:off x="99851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F9BE4A"/>
                </a:solidFill>
                <a:latin typeface="Aptos"/>
                <a:ea typeface="Aptos"/>
              </a:rPr>
              <a:t>03  DECIDE</a:t>
            </a:r>
            <a:endParaRPr lang="en-US" sz="1350">
              <a:solidFill>
                <a:srgbClr val="FFFFFF"/>
              </a:solidFill>
              <a:latin typeface="Arial"/>
            </a:endParaRPr>
          </a:p>
        </p:txBody>
      </p:sp>
      <p:sp>
        <p:nvSpPr>
          <p:cNvPr id="260" name="Text 252"/>
          <p:cNvSpPr/>
          <p:nvPr/>
        </p:nvSpPr>
        <p:spPr>
          <a:xfrm>
            <a:off x="99851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Validation · selective update</a:t>
            </a:r>
            <a:endParaRPr lang="en-US" sz="1515">
              <a:solidFill>
                <a:srgbClr val="FFFFFF"/>
              </a:solidFill>
              <a:latin typeface="Arial"/>
            </a:endParaRPr>
          </a:p>
        </p:txBody>
      </p:sp>
      <p:sp>
        <p:nvSpPr>
          <p:cNvPr id="261" name="Shape 253"/>
          <p:cNvSpPr/>
          <p:nvPr/>
        </p:nvSpPr>
        <p:spPr>
          <a:xfrm>
            <a:off x="1408644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62" name="Text 254"/>
          <p:cNvSpPr/>
          <p:nvPr/>
        </p:nvSpPr>
        <p:spPr>
          <a:xfrm>
            <a:off x="1429218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BC8BFF"/>
                </a:solidFill>
                <a:latin typeface="Aptos"/>
                <a:ea typeface="Aptos"/>
              </a:rPr>
              <a:t>04  RETAIN</a:t>
            </a:r>
            <a:endParaRPr lang="en-US" sz="1350">
              <a:solidFill>
                <a:srgbClr val="FFFFFF"/>
              </a:solidFill>
              <a:latin typeface="Arial"/>
            </a:endParaRPr>
          </a:p>
        </p:txBody>
      </p:sp>
      <p:sp>
        <p:nvSpPr>
          <p:cNvPr id="263" name="Text 255"/>
          <p:cNvSpPr/>
          <p:nvPr/>
        </p:nvSpPr>
        <p:spPr>
          <a:xfrm>
            <a:off x="1429218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Continual learning</a:t>
            </a:r>
            <a:endParaRPr lang="en-US" sz="1515">
              <a:solidFill>
                <a:srgbClr val="FFFFFF"/>
              </a:solidFill>
              <a:latin typeface="Arial"/>
            </a:endParaRPr>
          </a:p>
        </p:txBody>
      </p:sp>
      <p:sp>
        <p:nvSpPr>
          <p:cNvPr id="264" name="Text 256"/>
          <p:cNvSpPr/>
          <p:nvPr/>
        </p:nvSpPr>
        <p:spPr>
          <a:xfrm>
            <a:off x="1138320" y="9820440"/>
            <a:ext cx="1618434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305">
                <a:solidFill>
                  <a:srgbClr val="7192AA"/>
                </a:solidFill>
                <a:latin typeface="Aptos"/>
                <a:ea typeface="Aptos"/>
              </a:rPr>
              <a:t>Based on the WP1 literature library, the 19 Oct diary audit, and hlin863/ewma_covariate_shift_demo</a:t>
            </a:r>
            <a:endParaRPr lang="en-US" sz="1305">
              <a:solidFill>
                <a:srgbClr val="FFFFFF"/>
              </a:solidFill>
              <a:latin typeface="Arial"/>
            </a:endParaRPr>
          </a:p>
        </p:txBody>
      </p:sp>
    </p:spTree>
    <p:extLst>
      <p:ext uri="{BB962C8B-B14F-4D97-AF65-F5344CB8AC3E}">
        <p14:creationId xmlns:p14="http://schemas.microsoft.com/office/powerpoint/2010/main" val="30074421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RESEARCH MAP</a:t>
            </a:r>
            <a:endParaRPr lang="en-US">
              <a:solidFill>
                <a:srgbClr val="FFFFFF"/>
              </a:solidFill>
              <a:latin typeface="Arial"/>
            </a:endParaRPr>
          </a:p>
        </p:txBody>
      </p:sp>
      <p:sp>
        <p:nvSpPr>
          <p:cNvPr id="26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Six functional layers, one system question</a:t>
            </a:r>
            <a:endParaRPr lang="en-US" sz="4125">
              <a:solidFill>
                <a:srgbClr val="FFFFFF"/>
              </a:solidFill>
              <a:latin typeface="Arial"/>
            </a:endParaRPr>
          </a:p>
        </p:txBody>
      </p:sp>
      <p:sp>
        <p:nvSpPr>
          <p:cNvPr id="26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6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27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02</a:t>
            </a:r>
            <a:endParaRPr lang="en-US" sz="1350">
              <a:solidFill>
                <a:srgbClr val="FFFFFF"/>
              </a:solidFill>
              <a:latin typeface="Arial"/>
            </a:endParaRPr>
          </a:p>
        </p:txBody>
      </p:sp>
      <p:sp>
        <p:nvSpPr>
          <p:cNvPr id="272" name="Shape 7"/>
          <p:cNvSpPr/>
          <p:nvPr/>
        </p:nvSpPr>
        <p:spPr>
          <a:xfrm>
            <a:off x="100116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3" name="Shape 8"/>
          <p:cNvSpPr/>
          <p:nvPr/>
        </p:nvSpPr>
        <p:spPr>
          <a:xfrm>
            <a:off x="1261980" y="3360420"/>
            <a:ext cx="301320" cy="30132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74" name="Text 9"/>
          <p:cNvSpPr/>
          <p:nvPr/>
        </p:nvSpPr>
        <p:spPr>
          <a:xfrm>
            <a:off x="168696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65A7FF"/>
                </a:solidFill>
                <a:latin typeface="Aptos"/>
                <a:ea typeface="Aptos"/>
              </a:rPr>
              <a:t>01  REPRESENT</a:t>
            </a:r>
            <a:endParaRPr lang="en-US" sz="1905">
              <a:solidFill>
                <a:srgbClr val="FFFFFF"/>
              </a:solidFill>
              <a:latin typeface="Arial"/>
            </a:endParaRPr>
          </a:p>
        </p:txBody>
      </p:sp>
      <p:sp>
        <p:nvSpPr>
          <p:cNvPr id="275" name="Shape 10"/>
          <p:cNvSpPr/>
          <p:nvPr/>
        </p:nvSpPr>
        <p:spPr>
          <a:xfrm>
            <a:off x="130302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6" name="Text 11"/>
          <p:cNvSpPr/>
          <p:nvPr/>
        </p:nvSpPr>
        <p:spPr>
          <a:xfrm>
            <a:off x="133056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Motor imagery EEG / CSP / tangent space</a:t>
            </a:r>
            <a:endParaRPr lang="en-US" sz="2145">
              <a:solidFill>
                <a:srgbClr val="FFFFFF"/>
              </a:solidFill>
              <a:latin typeface="Arial"/>
            </a:endParaRPr>
          </a:p>
        </p:txBody>
      </p:sp>
      <p:sp>
        <p:nvSpPr>
          <p:cNvPr id="277" name="Text 12"/>
          <p:cNvSpPr/>
          <p:nvPr/>
        </p:nvSpPr>
        <p:spPr>
          <a:xfrm>
            <a:off x="133056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Ramoser 2000 · Gaur 2019</a:t>
            </a:r>
            <a:endParaRPr lang="en-US" sz="1590">
              <a:solidFill>
                <a:srgbClr val="FFFFFF"/>
              </a:solidFill>
              <a:latin typeface="Arial"/>
            </a:endParaRPr>
          </a:p>
        </p:txBody>
      </p:sp>
      <p:sp>
        <p:nvSpPr>
          <p:cNvPr id="278" name="Shape 13"/>
          <p:cNvSpPr/>
          <p:nvPr/>
        </p:nvSpPr>
        <p:spPr>
          <a:xfrm>
            <a:off x="672084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9" name="Shape 14"/>
          <p:cNvSpPr/>
          <p:nvPr/>
        </p:nvSpPr>
        <p:spPr>
          <a:xfrm>
            <a:off x="6981660" y="336042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0" name="Text 15"/>
          <p:cNvSpPr/>
          <p:nvPr/>
        </p:nvSpPr>
        <p:spPr>
          <a:xfrm>
            <a:off x="740664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39D2C3"/>
                </a:solidFill>
                <a:latin typeface="Aptos"/>
                <a:ea typeface="Aptos"/>
              </a:rPr>
              <a:t>02  DETECT</a:t>
            </a:r>
            <a:endParaRPr lang="en-US" sz="1905">
              <a:solidFill>
                <a:srgbClr val="FFFFFF"/>
              </a:solidFill>
              <a:latin typeface="Arial"/>
            </a:endParaRPr>
          </a:p>
        </p:txBody>
      </p:sp>
      <p:sp>
        <p:nvSpPr>
          <p:cNvPr id="281" name="Shape 16"/>
          <p:cNvSpPr/>
          <p:nvPr/>
        </p:nvSpPr>
        <p:spPr>
          <a:xfrm>
            <a:off x="7022160" y="397764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2" name="Text 17"/>
          <p:cNvSpPr/>
          <p:nvPr/>
        </p:nvSpPr>
        <p:spPr>
          <a:xfrm>
            <a:off x="705024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Online EWMA warning, CUSUM, subspace change</a:t>
            </a:r>
            <a:endParaRPr lang="en-US" sz="2145">
              <a:solidFill>
                <a:srgbClr val="FFFFFF"/>
              </a:solidFill>
              <a:latin typeface="Arial"/>
            </a:endParaRPr>
          </a:p>
        </p:txBody>
      </p:sp>
      <p:sp>
        <p:nvSpPr>
          <p:cNvPr id="283" name="Text 18"/>
          <p:cNvSpPr/>
          <p:nvPr/>
        </p:nvSpPr>
        <p:spPr>
          <a:xfrm>
            <a:off x="705024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Park 2023 · Heyden 2024</a:t>
            </a:r>
            <a:endParaRPr lang="en-US" sz="1590">
              <a:solidFill>
                <a:srgbClr val="FFFFFF"/>
              </a:solidFill>
              <a:latin typeface="Arial"/>
            </a:endParaRPr>
          </a:p>
        </p:txBody>
      </p:sp>
      <p:sp>
        <p:nvSpPr>
          <p:cNvPr id="284" name="Shape 19"/>
          <p:cNvSpPr/>
          <p:nvPr/>
        </p:nvSpPr>
        <p:spPr>
          <a:xfrm>
            <a:off x="1244052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85" name="Shape 20"/>
          <p:cNvSpPr/>
          <p:nvPr/>
        </p:nvSpPr>
        <p:spPr>
          <a:xfrm>
            <a:off x="12700800" y="336042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6" name="Text 21"/>
          <p:cNvSpPr/>
          <p:nvPr/>
        </p:nvSpPr>
        <p:spPr>
          <a:xfrm>
            <a:off x="1312632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9BE4A"/>
                </a:solidFill>
                <a:latin typeface="Aptos"/>
                <a:ea typeface="Aptos"/>
              </a:rPr>
              <a:t>03  VALIDATE</a:t>
            </a:r>
            <a:endParaRPr lang="en-US" sz="1905">
              <a:solidFill>
                <a:srgbClr val="FFFFFF"/>
              </a:solidFill>
              <a:latin typeface="Arial"/>
            </a:endParaRPr>
          </a:p>
        </p:txBody>
      </p:sp>
      <p:sp>
        <p:nvSpPr>
          <p:cNvPr id="287" name="Shape 22"/>
          <p:cNvSpPr/>
          <p:nvPr/>
        </p:nvSpPr>
        <p:spPr>
          <a:xfrm>
            <a:off x="1274184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8" name="Text 23"/>
          <p:cNvSpPr/>
          <p:nvPr/>
        </p:nvSpPr>
        <p:spPr>
          <a:xfrm>
            <a:off x="1276938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KS / Hotelling T²; false alarm vs delay</a:t>
            </a:r>
            <a:endParaRPr lang="en-US" sz="2145">
              <a:solidFill>
                <a:srgbClr val="FFFFFF"/>
              </a:solidFill>
              <a:latin typeface="Arial"/>
            </a:endParaRPr>
          </a:p>
        </p:txBody>
      </p:sp>
      <p:sp>
        <p:nvSpPr>
          <p:cNvPr id="289" name="Text 24"/>
          <p:cNvSpPr/>
          <p:nvPr/>
        </p:nvSpPr>
        <p:spPr>
          <a:xfrm>
            <a:off x="1276938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Alippi 2017</a:t>
            </a:r>
            <a:endParaRPr lang="en-US" sz="1590">
              <a:solidFill>
                <a:srgbClr val="FFFFFF"/>
              </a:solidFill>
              <a:latin typeface="Arial"/>
            </a:endParaRPr>
          </a:p>
        </p:txBody>
      </p:sp>
      <p:sp>
        <p:nvSpPr>
          <p:cNvPr id="290" name="Shape 25"/>
          <p:cNvSpPr/>
          <p:nvPr/>
        </p:nvSpPr>
        <p:spPr>
          <a:xfrm>
            <a:off x="100116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1" name="Shape 26"/>
          <p:cNvSpPr/>
          <p:nvPr/>
        </p:nvSpPr>
        <p:spPr>
          <a:xfrm>
            <a:off x="1261980" y="632286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2" name="Text 27"/>
          <p:cNvSpPr/>
          <p:nvPr/>
        </p:nvSpPr>
        <p:spPr>
          <a:xfrm>
            <a:off x="168696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75D69A"/>
                </a:solidFill>
                <a:latin typeface="Aptos"/>
                <a:ea typeface="Aptos"/>
              </a:rPr>
              <a:t>04  ADAPT</a:t>
            </a:r>
            <a:endParaRPr lang="en-US" sz="1905">
              <a:solidFill>
                <a:srgbClr val="FFFFFF"/>
              </a:solidFill>
              <a:latin typeface="Arial"/>
            </a:endParaRPr>
          </a:p>
        </p:txBody>
      </p:sp>
      <p:sp>
        <p:nvSpPr>
          <p:cNvPr id="293" name="Shape 28"/>
          <p:cNvSpPr/>
          <p:nvPr/>
        </p:nvSpPr>
        <p:spPr>
          <a:xfrm>
            <a:off x="130302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94" name="Text 29"/>
          <p:cNvSpPr/>
          <p:nvPr/>
        </p:nvSpPr>
        <p:spPr>
          <a:xfrm>
            <a:off x="133056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CSD-triggered updates and ensembles</a:t>
            </a:r>
            <a:endParaRPr lang="en-US" sz="2145">
              <a:solidFill>
                <a:srgbClr val="FFFFFF"/>
              </a:solidFill>
              <a:latin typeface="Arial"/>
            </a:endParaRPr>
          </a:p>
        </p:txBody>
      </p:sp>
      <p:sp>
        <p:nvSpPr>
          <p:cNvPr id="295" name="Text 30"/>
          <p:cNvSpPr/>
          <p:nvPr/>
        </p:nvSpPr>
        <p:spPr>
          <a:xfrm>
            <a:off x="133056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2016 · Chowdhury 2018 · Raza 2019</a:t>
            </a:r>
            <a:endParaRPr lang="en-US" sz="1590">
              <a:solidFill>
                <a:srgbClr val="FFFFFF"/>
              </a:solidFill>
              <a:latin typeface="Arial"/>
            </a:endParaRPr>
          </a:p>
        </p:txBody>
      </p:sp>
      <p:sp>
        <p:nvSpPr>
          <p:cNvPr id="296" name="Shape 31"/>
          <p:cNvSpPr/>
          <p:nvPr/>
        </p:nvSpPr>
        <p:spPr>
          <a:xfrm>
            <a:off x="672084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7" name="Shape 32"/>
          <p:cNvSpPr/>
          <p:nvPr/>
        </p:nvSpPr>
        <p:spPr>
          <a:xfrm>
            <a:off x="6981660" y="632286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8" name="Text 33"/>
          <p:cNvSpPr/>
          <p:nvPr/>
        </p:nvSpPr>
        <p:spPr>
          <a:xfrm>
            <a:off x="740664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BC8BFF"/>
                </a:solidFill>
                <a:latin typeface="Aptos"/>
                <a:ea typeface="Aptos"/>
              </a:rPr>
              <a:t>05  RETAIN</a:t>
            </a:r>
            <a:endParaRPr lang="en-US" sz="1905">
              <a:solidFill>
                <a:srgbClr val="FFFFFF"/>
              </a:solidFill>
              <a:latin typeface="Arial"/>
            </a:endParaRPr>
          </a:p>
        </p:txBody>
      </p:sp>
      <p:sp>
        <p:nvSpPr>
          <p:cNvPr id="299" name="Shape 34"/>
          <p:cNvSpPr/>
          <p:nvPr/>
        </p:nvSpPr>
        <p:spPr>
          <a:xfrm>
            <a:off x="7022160" y="694008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0" name="Text 35"/>
          <p:cNvSpPr/>
          <p:nvPr/>
        </p:nvSpPr>
        <p:spPr>
          <a:xfrm>
            <a:off x="705024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Continual learning and stability–plasticity</a:t>
            </a:r>
            <a:endParaRPr lang="en-US" sz="2145">
              <a:solidFill>
                <a:srgbClr val="FFFFFF"/>
              </a:solidFill>
              <a:latin typeface="Arial"/>
            </a:endParaRPr>
          </a:p>
        </p:txBody>
      </p:sp>
      <p:sp>
        <p:nvSpPr>
          <p:cNvPr id="301" name="Text 36"/>
          <p:cNvSpPr/>
          <p:nvPr/>
        </p:nvSpPr>
        <p:spPr>
          <a:xfrm>
            <a:off x="705024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Wang 2022 · Kudithipudi 2022</a:t>
            </a:r>
            <a:endParaRPr lang="en-US" sz="1590">
              <a:solidFill>
                <a:srgbClr val="FFFFFF"/>
              </a:solidFill>
              <a:latin typeface="Arial"/>
            </a:endParaRPr>
          </a:p>
        </p:txBody>
      </p:sp>
      <p:sp>
        <p:nvSpPr>
          <p:cNvPr id="302" name="Shape 37"/>
          <p:cNvSpPr/>
          <p:nvPr/>
        </p:nvSpPr>
        <p:spPr>
          <a:xfrm>
            <a:off x="1244052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03" name="Shape 38"/>
          <p:cNvSpPr/>
          <p:nvPr/>
        </p:nvSpPr>
        <p:spPr>
          <a:xfrm>
            <a:off x="12700800" y="6322860"/>
            <a:ext cx="301320" cy="3013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04" name="Text 39"/>
          <p:cNvSpPr/>
          <p:nvPr/>
        </p:nvSpPr>
        <p:spPr>
          <a:xfrm>
            <a:off x="1312632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F858C"/>
                </a:solidFill>
                <a:latin typeface="Aptos"/>
                <a:ea typeface="Aptos"/>
              </a:rPr>
              <a:t>06  OPERATE</a:t>
            </a:r>
            <a:endParaRPr lang="en-US" sz="1905">
              <a:solidFill>
                <a:srgbClr val="FFFFFF"/>
              </a:solidFill>
              <a:latin typeface="Arial"/>
            </a:endParaRPr>
          </a:p>
        </p:txBody>
      </p:sp>
      <p:sp>
        <p:nvSpPr>
          <p:cNvPr id="305" name="Shape 40"/>
          <p:cNvSpPr/>
          <p:nvPr/>
        </p:nvSpPr>
        <p:spPr>
          <a:xfrm>
            <a:off x="1274184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6" name="Text 41"/>
          <p:cNvSpPr/>
          <p:nvPr/>
        </p:nvSpPr>
        <p:spPr>
          <a:xfrm>
            <a:off x="1276938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Policy engine, PdM, digital twins</a:t>
            </a:r>
            <a:endParaRPr lang="en-US" sz="2145">
              <a:solidFill>
                <a:srgbClr val="FFFFFF"/>
              </a:solidFill>
              <a:latin typeface="Arial"/>
            </a:endParaRPr>
          </a:p>
        </p:txBody>
      </p:sp>
      <p:sp>
        <p:nvSpPr>
          <p:cNvPr id="307" name="Text 42"/>
          <p:cNvSpPr/>
          <p:nvPr/>
        </p:nvSpPr>
        <p:spPr>
          <a:xfrm>
            <a:off x="1276938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Diethe 2019 · Hurtado 2023 · Gupta 2024</a:t>
            </a:r>
            <a:endParaRPr lang="en-US" sz="1590">
              <a:solidFill>
                <a:srgbClr val="FFFFFF"/>
              </a:solidFill>
              <a:latin typeface="Arial"/>
            </a:endParaRPr>
          </a:p>
        </p:txBody>
      </p:sp>
    </p:spTree>
    <p:extLst>
      <p:ext uri="{BB962C8B-B14F-4D97-AF65-F5344CB8AC3E}">
        <p14:creationId xmlns:p14="http://schemas.microsoft.com/office/powerpoint/2010/main" val="1267809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CANONICAL LINEAGE</a:t>
            </a:r>
            <a:endParaRPr lang="en-US">
              <a:solidFill>
                <a:srgbClr val="FFFFFF"/>
              </a:solidFill>
              <a:latin typeface="Arial"/>
            </a:endParaRPr>
          </a:p>
        </p:txBody>
      </p:sp>
      <p:sp>
        <p:nvSpPr>
          <p:cNvPr id="310"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papers that shaped the BCI detector</a:t>
            </a:r>
            <a:endParaRPr lang="en-US" sz="4125">
              <a:solidFill>
                <a:srgbClr val="FFFFFF"/>
              </a:solidFill>
              <a:latin typeface="Arial"/>
            </a:endParaRPr>
          </a:p>
        </p:txBody>
      </p:sp>
      <p:sp>
        <p:nvSpPr>
          <p:cNvPr id="311"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selective source-to-method lineage; later literature extends rather than supersedes it.</a:t>
            </a:r>
            <a:endParaRPr lang="en-US" sz="1980">
              <a:solidFill>
                <a:srgbClr val="FFFFFF"/>
              </a:solidFill>
              <a:latin typeface="Arial"/>
            </a:endParaRPr>
          </a:p>
        </p:txBody>
      </p:sp>
      <p:sp>
        <p:nvSpPr>
          <p:cNvPr id="312"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3"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4"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15"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03</a:t>
            </a:r>
            <a:endParaRPr lang="en-US" sz="1350">
              <a:solidFill>
                <a:srgbClr val="FFFFFF"/>
              </a:solidFill>
              <a:latin typeface="Arial"/>
            </a:endParaRPr>
          </a:p>
        </p:txBody>
      </p:sp>
      <p:sp>
        <p:nvSpPr>
          <p:cNvPr id="316" name="Shape 7"/>
          <p:cNvSpPr/>
          <p:nvPr/>
        </p:nvSpPr>
        <p:spPr>
          <a:xfrm>
            <a:off x="1604340" y="5554980"/>
            <a:ext cx="15087600" cy="540"/>
          </a:xfrm>
          <a:prstGeom prst="line">
            <a:avLst/>
          </a:prstGeom>
          <a:ln w="3810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7" name="Shape 8"/>
          <p:cNvSpPr/>
          <p:nvPr/>
        </p:nvSpPr>
        <p:spPr>
          <a:xfrm>
            <a:off x="195480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18" name="Text 9"/>
          <p:cNvSpPr/>
          <p:nvPr/>
        </p:nvSpPr>
        <p:spPr>
          <a:xfrm>
            <a:off x="11658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2000</a:t>
            </a:r>
            <a:endParaRPr lang="en-US" sz="3570">
              <a:solidFill>
                <a:srgbClr val="FFFFFF"/>
              </a:solidFill>
              <a:latin typeface="Arial"/>
            </a:endParaRPr>
          </a:p>
        </p:txBody>
      </p:sp>
      <p:sp>
        <p:nvSpPr>
          <p:cNvPr id="319" name="Text 10"/>
          <p:cNvSpPr/>
          <p:nvPr/>
        </p:nvSpPr>
        <p:spPr>
          <a:xfrm>
            <a:off x="10287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CSP spatial filters</a:t>
            </a:r>
            <a:endParaRPr lang="en-US" sz="1890">
              <a:solidFill>
                <a:srgbClr val="FFFFFF"/>
              </a:solidFill>
              <a:latin typeface="Arial"/>
            </a:endParaRPr>
          </a:p>
        </p:txBody>
      </p:sp>
      <p:sp>
        <p:nvSpPr>
          <p:cNvPr id="320" name="Text 11"/>
          <p:cNvSpPr/>
          <p:nvPr/>
        </p:nvSpPr>
        <p:spPr>
          <a:xfrm>
            <a:off x="11383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Ramoser et al.</a:t>
            </a:r>
            <a:endParaRPr lang="en-US" sz="1680">
              <a:solidFill>
                <a:srgbClr val="FFFFFF"/>
              </a:solidFill>
              <a:latin typeface="Arial"/>
            </a:endParaRPr>
          </a:p>
        </p:txBody>
      </p:sp>
      <p:sp>
        <p:nvSpPr>
          <p:cNvPr id="321" name="Shape 12"/>
          <p:cNvSpPr/>
          <p:nvPr/>
        </p:nvSpPr>
        <p:spPr>
          <a:xfrm>
            <a:off x="4862160" y="5369760"/>
            <a:ext cx="369900" cy="36990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2" name="Text 13"/>
          <p:cNvSpPr/>
          <p:nvPr/>
        </p:nvSpPr>
        <p:spPr>
          <a:xfrm>
            <a:off x="40737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39D2C3"/>
                </a:solidFill>
                <a:latin typeface="Aptos"/>
                <a:ea typeface="Aptos"/>
              </a:rPr>
              <a:t>2015</a:t>
            </a:r>
            <a:endParaRPr lang="en-US" sz="3570">
              <a:solidFill>
                <a:srgbClr val="FFFFFF"/>
              </a:solidFill>
              <a:latin typeface="Arial"/>
            </a:endParaRPr>
          </a:p>
        </p:txBody>
      </p:sp>
      <p:sp>
        <p:nvSpPr>
          <p:cNvPr id="323" name="Text 14"/>
          <p:cNvSpPr/>
          <p:nvPr/>
        </p:nvSpPr>
        <p:spPr>
          <a:xfrm>
            <a:off x="39366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EWMA + validation</a:t>
            </a:r>
            <a:endParaRPr lang="en-US" sz="1890">
              <a:solidFill>
                <a:srgbClr val="FFFFFF"/>
              </a:solidFill>
              <a:latin typeface="Arial"/>
            </a:endParaRPr>
          </a:p>
        </p:txBody>
      </p:sp>
      <p:sp>
        <p:nvSpPr>
          <p:cNvPr id="324" name="Text 15"/>
          <p:cNvSpPr/>
          <p:nvPr/>
        </p:nvSpPr>
        <p:spPr>
          <a:xfrm>
            <a:off x="40462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5" name="Shape 16"/>
          <p:cNvSpPr/>
          <p:nvPr/>
        </p:nvSpPr>
        <p:spPr>
          <a:xfrm>
            <a:off x="7770060" y="5369760"/>
            <a:ext cx="369900" cy="36990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6" name="Text 17"/>
          <p:cNvSpPr/>
          <p:nvPr/>
        </p:nvSpPr>
        <p:spPr>
          <a:xfrm>
            <a:off x="69816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75D69A"/>
                </a:solidFill>
                <a:latin typeface="Aptos"/>
                <a:ea typeface="Aptos"/>
              </a:rPr>
              <a:t>2016</a:t>
            </a:r>
            <a:endParaRPr lang="en-US" sz="3570">
              <a:solidFill>
                <a:srgbClr val="FFFFFF"/>
              </a:solidFill>
              <a:latin typeface="Arial"/>
            </a:endParaRPr>
          </a:p>
        </p:txBody>
      </p:sp>
      <p:sp>
        <p:nvSpPr>
          <p:cNvPr id="327" name="Text 18"/>
          <p:cNvSpPr/>
          <p:nvPr/>
        </p:nvSpPr>
        <p:spPr>
          <a:xfrm>
            <a:off x="68445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Shift-triggered learning</a:t>
            </a:r>
            <a:endParaRPr lang="en-US" sz="1890">
              <a:solidFill>
                <a:srgbClr val="FFFFFF"/>
              </a:solidFill>
              <a:latin typeface="Arial"/>
            </a:endParaRPr>
          </a:p>
        </p:txBody>
      </p:sp>
      <p:sp>
        <p:nvSpPr>
          <p:cNvPr id="328" name="Text 19"/>
          <p:cNvSpPr/>
          <p:nvPr/>
        </p:nvSpPr>
        <p:spPr>
          <a:xfrm>
            <a:off x="69541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9" name="Shape 20"/>
          <p:cNvSpPr/>
          <p:nvPr/>
        </p:nvSpPr>
        <p:spPr>
          <a:xfrm>
            <a:off x="10677960" y="5369760"/>
            <a:ext cx="369900" cy="36990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0" name="Text 21"/>
          <p:cNvSpPr/>
          <p:nvPr/>
        </p:nvSpPr>
        <p:spPr>
          <a:xfrm>
            <a:off x="98890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F9BE4A"/>
                </a:solidFill>
                <a:latin typeface="Aptos"/>
                <a:ea typeface="Aptos"/>
              </a:rPr>
              <a:t>2017</a:t>
            </a:r>
            <a:endParaRPr lang="en-US" sz="3570">
              <a:solidFill>
                <a:srgbClr val="FFFFFF"/>
              </a:solidFill>
              <a:latin typeface="Arial"/>
            </a:endParaRPr>
          </a:p>
        </p:txBody>
      </p:sp>
      <p:sp>
        <p:nvSpPr>
          <p:cNvPr id="331" name="Text 22"/>
          <p:cNvSpPr/>
          <p:nvPr/>
        </p:nvSpPr>
        <p:spPr>
          <a:xfrm>
            <a:off x="97518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Hierarchical tests</a:t>
            </a:r>
            <a:endParaRPr lang="en-US" sz="1890">
              <a:solidFill>
                <a:srgbClr val="FFFFFF"/>
              </a:solidFill>
              <a:latin typeface="Arial"/>
            </a:endParaRPr>
          </a:p>
        </p:txBody>
      </p:sp>
      <p:sp>
        <p:nvSpPr>
          <p:cNvPr id="332" name="Text 23"/>
          <p:cNvSpPr/>
          <p:nvPr/>
        </p:nvSpPr>
        <p:spPr>
          <a:xfrm>
            <a:off x="98620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Alippi et al.</a:t>
            </a:r>
            <a:endParaRPr lang="en-US" sz="1680">
              <a:solidFill>
                <a:srgbClr val="FFFFFF"/>
              </a:solidFill>
              <a:latin typeface="Arial"/>
            </a:endParaRPr>
          </a:p>
        </p:txBody>
      </p:sp>
      <p:sp>
        <p:nvSpPr>
          <p:cNvPr id="333" name="Shape 24"/>
          <p:cNvSpPr/>
          <p:nvPr/>
        </p:nvSpPr>
        <p:spPr>
          <a:xfrm>
            <a:off x="13585860" y="5369760"/>
            <a:ext cx="369900" cy="36990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4" name="Text 25"/>
          <p:cNvSpPr/>
          <p:nvPr/>
        </p:nvSpPr>
        <p:spPr>
          <a:xfrm>
            <a:off x="127969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BC8BFF"/>
                </a:solidFill>
                <a:latin typeface="Aptos"/>
                <a:ea typeface="Aptos"/>
              </a:rPr>
              <a:t>2018</a:t>
            </a:r>
            <a:endParaRPr lang="en-US" sz="3570">
              <a:solidFill>
                <a:srgbClr val="FFFFFF"/>
              </a:solidFill>
              <a:latin typeface="Arial"/>
            </a:endParaRPr>
          </a:p>
        </p:txBody>
      </p:sp>
      <p:sp>
        <p:nvSpPr>
          <p:cNvPr id="335" name="Text 26"/>
          <p:cNvSpPr/>
          <p:nvPr/>
        </p:nvSpPr>
        <p:spPr>
          <a:xfrm>
            <a:off x="126597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Online BCI + feedback</a:t>
            </a:r>
            <a:endParaRPr lang="en-US" sz="1890">
              <a:solidFill>
                <a:srgbClr val="FFFFFF"/>
              </a:solidFill>
              <a:latin typeface="Arial"/>
            </a:endParaRPr>
          </a:p>
        </p:txBody>
      </p:sp>
      <p:sp>
        <p:nvSpPr>
          <p:cNvPr id="336" name="Text 27"/>
          <p:cNvSpPr/>
          <p:nvPr/>
        </p:nvSpPr>
        <p:spPr>
          <a:xfrm>
            <a:off x="127693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Chowdhury et al.</a:t>
            </a:r>
            <a:endParaRPr lang="en-US" sz="1680">
              <a:solidFill>
                <a:srgbClr val="FFFFFF"/>
              </a:solidFill>
              <a:latin typeface="Arial"/>
            </a:endParaRPr>
          </a:p>
        </p:txBody>
      </p:sp>
      <p:sp>
        <p:nvSpPr>
          <p:cNvPr id="337" name="Shape 28"/>
          <p:cNvSpPr/>
          <p:nvPr/>
        </p:nvSpPr>
        <p:spPr>
          <a:xfrm>
            <a:off x="1649376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8" name="Text 29"/>
          <p:cNvSpPr/>
          <p:nvPr/>
        </p:nvSpPr>
        <p:spPr>
          <a:xfrm>
            <a:off x="157048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2019</a:t>
            </a:r>
            <a:endParaRPr lang="en-US" sz="3570">
              <a:solidFill>
                <a:srgbClr val="FFFFFF"/>
              </a:solidFill>
              <a:latin typeface="Arial"/>
            </a:endParaRPr>
          </a:p>
        </p:txBody>
      </p:sp>
      <p:sp>
        <p:nvSpPr>
          <p:cNvPr id="339" name="Text 30"/>
          <p:cNvSpPr/>
          <p:nvPr/>
        </p:nvSpPr>
        <p:spPr>
          <a:xfrm>
            <a:off x="155676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CSE–UAEL ensemble</a:t>
            </a:r>
            <a:endParaRPr lang="en-US" sz="1890">
              <a:solidFill>
                <a:srgbClr val="FFFFFF"/>
              </a:solidFill>
              <a:latin typeface="Arial"/>
            </a:endParaRPr>
          </a:p>
        </p:txBody>
      </p:sp>
      <p:sp>
        <p:nvSpPr>
          <p:cNvPr id="340" name="Text 31"/>
          <p:cNvSpPr/>
          <p:nvPr/>
        </p:nvSpPr>
        <p:spPr>
          <a:xfrm>
            <a:off x="156772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41" name="Shape 32"/>
          <p:cNvSpPr/>
          <p:nvPr/>
        </p:nvSpPr>
        <p:spPr>
          <a:xfrm>
            <a:off x="1275480" y="7338060"/>
            <a:ext cx="15704280" cy="1220400"/>
          </a:xfrm>
          <a:prstGeom prst="roundRect">
            <a:avLst>
              <a:gd name="adj" fmla="val 14607"/>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42" name="Text 33"/>
          <p:cNvSpPr/>
          <p:nvPr/>
        </p:nvSpPr>
        <p:spPr>
          <a:xfrm>
            <a:off x="1577340" y="7557300"/>
            <a:ext cx="425142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50" b="1">
                <a:solidFill>
                  <a:srgbClr val="39D2C3"/>
                </a:solidFill>
                <a:latin typeface="Aptos"/>
                <a:ea typeface="Aptos"/>
              </a:rPr>
              <a:t>PhD reconstruction point</a:t>
            </a:r>
            <a:endParaRPr lang="en-US" sz="2550">
              <a:solidFill>
                <a:srgbClr val="FFFFFF"/>
              </a:solidFill>
              <a:latin typeface="Arial"/>
            </a:endParaRPr>
          </a:p>
        </p:txBody>
      </p:sp>
      <p:sp>
        <p:nvSpPr>
          <p:cNvPr id="343" name="Text 34"/>
          <p:cNvSpPr/>
          <p:nvPr/>
        </p:nvSpPr>
        <p:spPr>
          <a:xfrm>
            <a:off x="5829300" y="7612380"/>
            <a:ext cx="105607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30">
                <a:solidFill>
                  <a:srgbClr val="D5E4F1"/>
                </a:solidFill>
                <a:latin typeface="Aptos"/>
                <a:ea typeface="Aptos"/>
              </a:rPr>
              <a:t>trial-aligned EEG → FBCSP/PCA → warning → validation → adaptation policy</a:t>
            </a:r>
            <a:endParaRPr lang="en-US" sz="2130">
              <a:solidFill>
                <a:srgbClr val="FFFFFF"/>
              </a:solidFill>
              <a:latin typeface="Arial"/>
            </a:endParaRPr>
          </a:p>
        </p:txBody>
      </p:sp>
    </p:spTree>
    <p:extLst>
      <p:ext uri="{BB962C8B-B14F-4D97-AF65-F5344CB8AC3E}">
        <p14:creationId xmlns:p14="http://schemas.microsoft.com/office/powerpoint/2010/main" val="2123576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DIRECT PREDECESSORS</a:t>
            </a:r>
            <a:endParaRPr lang="en-US">
              <a:solidFill>
                <a:srgbClr val="FFFFFF"/>
              </a:solidFill>
              <a:latin typeface="Arial"/>
            </a:endParaRPr>
          </a:p>
        </p:txBody>
      </p:sp>
      <p:sp>
        <p:nvSpPr>
          <p:cNvPr id="34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Four cornerstone papers &amp; what each contributes</a:t>
            </a:r>
            <a:endParaRPr lang="en-US" sz="4125">
              <a:solidFill>
                <a:srgbClr val="FFFFFF"/>
              </a:solidFill>
              <a:latin typeface="Arial"/>
            </a:endParaRPr>
          </a:p>
        </p:txBody>
      </p:sp>
      <p:sp>
        <p:nvSpPr>
          <p:cNvPr id="347"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Prioritise the paper’s functional role, the reusable method, and its remaining evidential boundary.</a:t>
            </a:r>
            <a:endParaRPr lang="en-US" sz="1980">
              <a:solidFill>
                <a:srgbClr val="FFFFFF"/>
              </a:solidFill>
              <a:latin typeface="Arial"/>
            </a:endParaRPr>
          </a:p>
        </p:txBody>
      </p:sp>
      <p:sp>
        <p:nvSpPr>
          <p:cNvPr id="34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4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5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5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04</a:t>
            </a:r>
            <a:endParaRPr lang="en-US" sz="1350">
              <a:solidFill>
                <a:srgbClr val="FFFFFF"/>
              </a:solidFill>
              <a:latin typeface="Arial"/>
            </a:endParaRPr>
          </a:p>
        </p:txBody>
      </p:sp>
      <p:sp>
        <p:nvSpPr>
          <p:cNvPr id="352" name="Shape 7"/>
          <p:cNvSpPr/>
          <p:nvPr/>
        </p:nvSpPr>
        <p:spPr>
          <a:xfrm>
            <a:off x="104220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53" name="Shape 8"/>
          <p:cNvSpPr/>
          <p:nvPr/>
        </p:nvSpPr>
        <p:spPr>
          <a:xfrm>
            <a:off x="1042200" y="3058560"/>
            <a:ext cx="540" cy="2647080"/>
          </a:xfrm>
          <a:prstGeom prst="line">
            <a:avLst/>
          </a:prstGeom>
          <a:ln w="635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54" name="Text 9">
            <a:hlinkClick r:id="rId3"/>
          </p:cNvPr>
          <p:cNvSpPr/>
          <p:nvPr/>
        </p:nvSpPr>
        <p:spPr>
          <a:xfrm>
            <a:off x="135810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65A7FF"/>
                </a:solidFill>
                <a:latin typeface="Aptos"/>
                <a:ea typeface="Aptos"/>
                <a:hlinkClick r:id="rId3"/>
              </a:rPr>
              <a:t>Ramoser et al. (2000)</a:t>
            </a:r>
            <a:endParaRPr lang="en-US" sz="2505">
              <a:solidFill>
                <a:srgbClr val="FFFFFF"/>
              </a:solidFill>
              <a:latin typeface="Arial"/>
            </a:endParaRPr>
          </a:p>
        </p:txBody>
      </p:sp>
      <p:sp>
        <p:nvSpPr>
          <p:cNvPr id="355" name="Text 10"/>
          <p:cNvSpPr/>
          <p:nvPr/>
        </p:nvSpPr>
        <p:spPr>
          <a:xfrm>
            <a:off x="736560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EEG SIGNAL REPRESENTATION</a:t>
            </a:r>
            <a:endParaRPr lang="en-US" sz="1245">
              <a:solidFill>
                <a:srgbClr val="FFFFFF"/>
              </a:solidFill>
              <a:latin typeface="Arial"/>
            </a:endParaRPr>
          </a:p>
        </p:txBody>
      </p:sp>
      <p:sp>
        <p:nvSpPr>
          <p:cNvPr id="356" name="Text 11"/>
          <p:cNvSpPr/>
          <p:nvPr/>
        </p:nvSpPr>
        <p:spPr>
          <a:xfrm>
            <a:off x="135810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Common spatial patterns for discriminatory single-trial hand imagery.</a:t>
            </a:r>
            <a:endParaRPr lang="en-US" sz="1890">
              <a:solidFill>
                <a:srgbClr val="FFFFFF"/>
              </a:solidFill>
              <a:latin typeface="Arial"/>
            </a:endParaRPr>
          </a:p>
        </p:txBody>
      </p:sp>
      <p:sp>
        <p:nvSpPr>
          <p:cNvPr id="357" name="Text 12"/>
          <p:cNvSpPr/>
          <p:nvPr/>
        </p:nvSpPr>
        <p:spPr>
          <a:xfrm>
            <a:off x="135810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upstream CSP/FBCSP features.</a:t>
            </a:r>
            <a:endParaRPr lang="en-US" sz="1605">
              <a:solidFill>
                <a:srgbClr val="FFFFFF"/>
              </a:solidFill>
              <a:latin typeface="Arial"/>
            </a:endParaRPr>
          </a:p>
        </p:txBody>
      </p:sp>
      <p:sp>
        <p:nvSpPr>
          <p:cNvPr id="358" name="Text 13"/>
          <p:cNvSpPr/>
          <p:nvPr/>
        </p:nvSpPr>
        <p:spPr>
          <a:xfrm>
            <a:off x="135810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CSP accuracy is not drift-detection accuracy.</a:t>
            </a:r>
            <a:endParaRPr lang="en-US" sz="1530">
              <a:solidFill>
                <a:srgbClr val="FFFFFF"/>
              </a:solidFill>
              <a:latin typeface="Arial"/>
            </a:endParaRPr>
          </a:p>
        </p:txBody>
      </p:sp>
      <p:sp>
        <p:nvSpPr>
          <p:cNvPr id="359" name="Shape 14"/>
          <p:cNvSpPr/>
          <p:nvPr/>
        </p:nvSpPr>
        <p:spPr>
          <a:xfrm>
            <a:off x="968328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0" name="Shape 15"/>
          <p:cNvSpPr/>
          <p:nvPr/>
        </p:nvSpPr>
        <p:spPr>
          <a:xfrm>
            <a:off x="9683280" y="3058560"/>
            <a:ext cx="540" cy="2647080"/>
          </a:xfrm>
          <a:prstGeom prst="line">
            <a:avLst/>
          </a:prstGeom>
          <a:ln w="635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1" name="Text 16">
            <a:hlinkClick r:id="rId4"/>
          </p:cNvPr>
          <p:cNvSpPr/>
          <p:nvPr/>
        </p:nvSpPr>
        <p:spPr>
          <a:xfrm>
            <a:off x="999918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39D2C3"/>
                </a:solidFill>
                <a:latin typeface="Aptos"/>
                <a:ea typeface="Aptos"/>
                <a:hlinkClick r:id="rId4"/>
              </a:rPr>
              <a:t>Raza et al. (2015)</a:t>
            </a:r>
            <a:endParaRPr lang="en-US" sz="2505">
              <a:solidFill>
                <a:srgbClr val="FFFFFF"/>
              </a:solidFill>
              <a:latin typeface="Arial"/>
            </a:endParaRPr>
          </a:p>
        </p:txBody>
      </p:sp>
      <p:sp>
        <p:nvSpPr>
          <p:cNvPr id="362" name="Text 17"/>
          <p:cNvSpPr/>
          <p:nvPr/>
        </p:nvSpPr>
        <p:spPr>
          <a:xfrm>
            <a:off x="1600668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SEQUENTIAL CHANGE TEST</a:t>
            </a:r>
            <a:endParaRPr lang="en-US" sz="1245">
              <a:solidFill>
                <a:srgbClr val="FFFFFF"/>
              </a:solidFill>
              <a:latin typeface="Arial"/>
            </a:endParaRPr>
          </a:p>
        </p:txBody>
      </p:sp>
      <p:sp>
        <p:nvSpPr>
          <p:cNvPr id="363" name="Text 18"/>
          <p:cNvSpPr/>
          <p:nvPr/>
        </p:nvSpPr>
        <p:spPr>
          <a:xfrm>
            <a:off x="999918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Stage I EWMA; Stage II K–S (univariate) or Hotelling T² (multivariate).</a:t>
            </a:r>
            <a:endParaRPr lang="en-US" sz="1890">
              <a:solidFill>
                <a:srgbClr val="FFFFFF"/>
              </a:solidFill>
              <a:latin typeface="Arial"/>
            </a:endParaRPr>
          </a:p>
        </p:txBody>
      </p:sp>
      <p:sp>
        <p:nvSpPr>
          <p:cNvPr id="364" name="Text 19"/>
          <p:cNvSpPr/>
          <p:nvPr/>
        </p:nvSpPr>
        <p:spPr>
          <a:xfrm>
            <a:off x="999918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CSE warning and validation.</a:t>
            </a:r>
            <a:endParaRPr lang="en-US" sz="1605">
              <a:solidFill>
                <a:srgbClr val="FFFFFF"/>
              </a:solidFill>
              <a:latin typeface="Arial"/>
            </a:endParaRPr>
          </a:p>
        </p:txBody>
      </p:sp>
      <p:sp>
        <p:nvSpPr>
          <p:cNvPr id="365" name="Text 20"/>
          <p:cNvSpPr/>
          <p:nvPr/>
        </p:nvSpPr>
        <p:spPr>
          <a:xfrm>
            <a:off x="999918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Two-stage alarms require calibration and chronology audit.</a:t>
            </a:r>
            <a:endParaRPr lang="en-US" sz="1530">
              <a:solidFill>
                <a:srgbClr val="FFFFFF"/>
              </a:solidFill>
              <a:latin typeface="Arial"/>
            </a:endParaRPr>
          </a:p>
        </p:txBody>
      </p:sp>
      <p:sp>
        <p:nvSpPr>
          <p:cNvPr id="366" name="Shape 21"/>
          <p:cNvSpPr/>
          <p:nvPr/>
        </p:nvSpPr>
        <p:spPr>
          <a:xfrm>
            <a:off x="104220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7" name="Shape 22"/>
          <p:cNvSpPr/>
          <p:nvPr/>
        </p:nvSpPr>
        <p:spPr>
          <a:xfrm>
            <a:off x="1042200" y="6007500"/>
            <a:ext cx="540" cy="2647080"/>
          </a:xfrm>
          <a:prstGeom prst="line">
            <a:avLst/>
          </a:prstGeom>
          <a:ln w="635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8" name="Text 23">
            <a:hlinkClick r:id="rId5"/>
          </p:cNvPr>
          <p:cNvSpPr/>
          <p:nvPr/>
        </p:nvSpPr>
        <p:spPr>
          <a:xfrm>
            <a:off x="135810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75D69A"/>
                </a:solidFill>
                <a:latin typeface="Aptos"/>
                <a:ea typeface="Aptos"/>
                <a:hlinkClick r:id="rId5"/>
              </a:rPr>
              <a:t>Chowdhury et al. (2018)</a:t>
            </a:r>
            <a:endParaRPr lang="en-US" sz="2505">
              <a:solidFill>
                <a:srgbClr val="FFFFFF"/>
              </a:solidFill>
              <a:latin typeface="Arial"/>
            </a:endParaRPr>
          </a:p>
        </p:txBody>
      </p:sp>
      <p:sp>
        <p:nvSpPr>
          <p:cNvPr id="369" name="Text 24"/>
          <p:cNvSpPr/>
          <p:nvPr/>
        </p:nvSpPr>
        <p:spPr>
          <a:xfrm>
            <a:off x="736560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ONLINE CLOSED-LOOP APPLICATION</a:t>
            </a:r>
            <a:endParaRPr lang="en-US" sz="1245">
              <a:solidFill>
                <a:srgbClr val="FFFFFF"/>
              </a:solidFill>
              <a:latin typeface="Arial"/>
            </a:endParaRPr>
          </a:p>
        </p:txBody>
      </p:sp>
      <p:sp>
        <p:nvSpPr>
          <p:cNvPr id="370" name="Text 25"/>
          <p:cNvSpPr/>
          <p:nvPr/>
        </p:nvSpPr>
        <p:spPr>
          <a:xfrm>
            <a:off x="135810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CSD-based adaptation linked to visual / hand-exoskeleton feedback.</a:t>
            </a:r>
            <a:endParaRPr lang="en-US" sz="1890">
              <a:solidFill>
                <a:srgbClr val="FFFFFF"/>
              </a:solidFill>
              <a:latin typeface="Arial"/>
            </a:endParaRPr>
          </a:p>
        </p:txBody>
      </p:sp>
      <p:sp>
        <p:nvSpPr>
          <p:cNvPr id="371" name="Text 26"/>
          <p:cNvSpPr/>
          <p:nvPr/>
        </p:nvSpPr>
        <p:spPr>
          <a:xfrm>
            <a:off x="135810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BCI translational architecture.</a:t>
            </a:r>
            <a:endParaRPr lang="en-US" sz="1605">
              <a:solidFill>
                <a:srgbClr val="FFFFFF"/>
              </a:solidFill>
              <a:latin typeface="Arial"/>
            </a:endParaRPr>
          </a:p>
        </p:txBody>
      </p:sp>
      <p:sp>
        <p:nvSpPr>
          <p:cNvPr id="372" name="Text 27"/>
          <p:cNvSpPr/>
          <p:nvPr/>
        </p:nvSpPr>
        <p:spPr>
          <a:xfrm>
            <a:off x="135810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Clinical findings do not validate this repo’s online deployment.</a:t>
            </a:r>
            <a:endParaRPr lang="en-US" sz="1530">
              <a:solidFill>
                <a:srgbClr val="FFFFFF"/>
              </a:solidFill>
              <a:latin typeface="Arial"/>
            </a:endParaRPr>
          </a:p>
        </p:txBody>
      </p:sp>
      <p:sp>
        <p:nvSpPr>
          <p:cNvPr id="373" name="Shape 28"/>
          <p:cNvSpPr/>
          <p:nvPr/>
        </p:nvSpPr>
        <p:spPr>
          <a:xfrm>
            <a:off x="968328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74" name="Shape 29"/>
          <p:cNvSpPr/>
          <p:nvPr/>
        </p:nvSpPr>
        <p:spPr>
          <a:xfrm>
            <a:off x="9683280" y="6007500"/>
            <a:ext cx="540" cy="2647080"/>
          </a:xfrm>
          <a:prstGeom prst="line">
            <a:avLst/>
          </a:prstGeom>
          <a:ln w="635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75" name="Text 30">
            <a:hlinkClick r:id="rId6"/>
          </p:cNvPr>
          <p:cNvSpPr/>
          <p:nvPr/>
        </p:nvSpPr>
        <p:spPr>
          <a:xfrm>
            <a:off x="999918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F9BE4A"/>
                </a:solidFill>
                <a:latin typeface="Aptos"/>
                <a:ea typeface="Aptos"/>
                <a:hlinkClick r:id="rId6"/>
              </a:rPr>
              <a:t>Raza et al. (2019)</a:t>
            </a:r>
            <a:endParaRPr lang="en-US" sz="2505">
              <a:solidFill>
                <a:srgbClr val="FFFFFF"/>
              </a:solidFill>
              <a:latin typeface="Arial"/>
            </a:endParaRPr>
          </a:p>
        </p:txBody>
      </p:sp>
      <p:sp>
        <p:nvSpPr>
          <p:cNvPr id="376" name="Text 31"/>
          <p:cNvSpPr/>
          <p:nvPr/>
        </p:nvSpPr>
        <p:spPr>
          <a:xfrm>
            <a:off x="1600668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ADAPTIVE ENSEMBLE FRAMEWORK</a:t>
            </a:r>
            <a:endParaRPr lang="en-US" sz="1245">
              <a:solidFill>
                <a:srgbClr val="FFFFFF"/>
              </a:solidFill>
              <a:latin typeface="Arial"/>
            </a:endParaRPr>
          </a:p>
        </p:txBody>
      </p:sp>
      <p:sp>
        <p:nvSpPr>
          <p:cNvPr id="377" name="Text 32"/>
          <p:cNvSpPr/>
          <p:nvPr/>
        </p:nvSpPr>
        <p:spPr>
          <a:xfrm>
            <a:off x="999918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CSE-UAEL: conditional ensemble expansion after estimated shifts.</a:t>
            </a:r>
            <a:endParaRPr lang="en-US" sz="1890">
              <a:solidFill>
                <a:srgbClr val="FFFFFF"/>
              </a:solidFill>
              <a:latin typeface="Arial"/>
            </a:endParaRPr>
          </a:p>
        </p:txBody>
      </p:sp>
      <p:sp>
        <p:nvSpPr>
          <p:cNvPr id="378" name="Text 33"/>
          <p:cNvSpPr/>
          <p:nvPr/>
        </p:nvSpPr>
        <p:spPr>
          <a:xfrm>
            <a:off x="999918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Table 1 reconstruction / adaptation pathway.</a:t>
            </a:r>
            <a:endParaRPr lang="en-US" sz="1605">
              <a:solidFill>
                <a:srgbClr val="FFFFFF"/>
              </a:solidFill>
              <a:latin typeface="Arial"/>
            </a:endParaRPr>
          </a:p>
        </p:txBody>
      </p:sp>
      <p:sp>
        <p:nvSpPr>
          <p:cNvPr id="379" name="Text 34"/>
          <p:cNvSpPr/>
          <p:nvPr/>
        </p:nvSpPr>
        <p:spPr>
          <a:xfrm>
            <a:off x="999918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Published EEG counts remain unreconciled.</a:t>
            </a:r>
            <a:endParaRPr lang="en-US" sz="1530">
              <a:solidFill>
                <a:srgbClr val="FFFFFF"/>
              </a:solidFill>
              <a:latin typeface="Arial"/>
            </a:endParaRPr>
          </a:p>
        </p:txBody>
      </p:sp>
    </p:spTree>
    <p:extLst>
      <p:ext uri="{BB962C8B-B14F-4D97-AF65-F5344CB8AC3E}">
        <p14:creationId xmlns:p14="http://schemas.microsoft.com/office/powerpoint/2010/main" val="1503053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NEW STATISTICAL DIRECTIONS</a:t>
            </a:r>
            <a:endParaRPr lang="en-US">
              <a:solidFill>
                <a:srgbClr val="FFFFFF"/>
              </a:solidFill>
              <a:latin typeface="Arial"/>
            </a:endParaRPr>
          </a:p>
        </p:txBody>
      </p:sp>
      <p:sp>
        <p:nvSpPr>
          <p:cNvPr id="381" name="Text 1"/>
          <p:cNvSpPr/>
          <p:nvPr/>
        </p:nvSpPr>
        <p:spPr>
          <a:xfrm>
            <a:off x="960120" y="1083780"/>
            <a:ext cx="1128762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Different tests answer different change questions</a:t>
            </a:r>
            <a:endParaRPr lang="en-US" sz="4125">
              <a:solidFill>
                <a:srgbClr val="FFFFFF"/>
              </a:solidFill>
              <a:latin typeface="Arial"/>
            </a:endParaRPr>
          </a:p>
        </p:txBody>
      </p:sp>
      <p:sp>
        <p:nvSpPr>
          <p:cNvPr id="382"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useful comparison is statistical target, not simply whether a method raises an alarm.</a:t>
            </a:r>
            <a:endParaRPr lang="en-US" sz="1980">
              <a:solidFill>
                <a:srgbClr val="FFFFFF"/>
              </a:solidFill>
              <a:latin typeface="Arial"/>
            </a:endParaRPr>
          </a:p>
        </p:txBody>
      </p:sp>
      <p:sp>
        <p:nvSpPr>
          <p:cNvPr id="383"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4"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5"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86"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05</a:t>
            </a:r>
            <a:endParaRPr lang="en-US" sz="1350">
              <a:solidFill>
                <a:srgbClr val="FFFFFF"/>
              </a:solidFill>
              <a:latin typeface="Arial"/>
            </a:endParaRPr>
          </a:p>
        </p:txBody>
      </p:sp>
      <p:sp>
        <p:nvSpPr>
          <p:cNvPr id="387" name="Shape 7"/>
          <p:cNvSpPr/>
          <p:nvPr/>
        </p:nvSpPr>
        <p:spPr>
          <a:xfrm>
            <a:off x="102870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88" name="Shape 8"/>
          <p:cNvSpPr/>
          <p:nvPr/>
        </p:nvSpPr>
        <p:spPr>
          <a:xfrm>
            <a:off x="1330020" y="3744360"/>
            <a:ext cx="4842180" cy="540"/>
          </a:xfrm>
          <a:prstGeom prst="line">
            <a:avLst/>
          </a:prstGeom>
          <a:ln w="25400">
            <a:solidFill>
              <a:srgbClr val="39D2C3"/>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9" name="Text 9"/>
          <p:cNvSpPr/>
          <p:nvPr/>
        </p:nvSpPr>
        <p:spPr>
          <a:xfrm>
            <a:off x="133056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39D2C3"/>
                </a:solidFill>
                <a:latin typeface="Aptos"/>
                <a:ea typeface="Aptos"/>
              </a:rPr>
              <a:t>Raza et al. (2015)</a:t>
            </a:r>
            <a:endParaRPr lang="en-US" sz="2400">
              <a:solidFill>
                <a:srgbClr val="FFFFFF"/>
              </a:solidFill>
              <a:latin typeface="Arial"/>
            </a:endParaRPr>
          </a:p>
        </p:txBody>
      </p:sp>
      <p:sp>
        <p:nvSpPr>
          <p:cNvPr id="390" name="Text 10"/>
          <p:cNvSpPr/>
          <p:nvPr/>
        </p:nvSpPr>
        <p:spPr>
          <a:xfrm>
            <a:off x="133056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TWO-STAGE EWMA / T²</a:t>
            </a:r>
            <a:endParaRPr lang="en-US" sz="1635">
              <a:solidFill>
                <a:srgbClr val="FFFFFF"/>
              </a:solidFill>
              <a:latin typeface="Arial"/>
            </a:endParaRPr>
          </a:p>
        </p:txBody>
      </p:sp>
      <p:sp>
        <p:nvSpPr>
          <p:cNvPr id="391" name="Text 11"/>
          <p:cNvSpPr/>
          <p:nvPr/>
        </p:nvSpPr>
        <p:spPr>
          <a:xfrm>
            <a:off x="133056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SIGNALS</a:t>
            </a:r>
            <a:endParaRPr lang="en-US" sz="1409">
              <a:solidFill>
                <a:srgbClr val="FFFFFF"/>
              </a:solidFill>
              <a:latin typeface="Arial"/>
            </a:endParaRPr>
          </a:p>
        </p:txBody>
      </p:sp>
      <p:sp>
        <p:nvSpPr>
          <p:cNvPr id="392" name="Text 12"/>
          <p:cNvSpPr/>
          <p:nvPr/>
        </p:nvSpPr>
        <p:spPr>
          <a:xfrm>
            <a:off x="266112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CSP/PCA feature stream</a:t>
            </a:r>
            <a:endParaRPr lang="en-US" sz="1695">
              <a:solidFill>
                <a:srgbClr val="FFFFFF"/>
              </a:solidFill>
              <a:latin typeface="Arial"/>
            </a:endParaRPr>
          </a:p>
        </p:txBody>
      </p:sp>
      <p:sp>
        <p:nvSpPr>
          <p:cNvPr id="393" name="Shape 13"/>
          <p:cNvSpPr/>
          <p:nvPr/>
        </p:nvSpPr>
        <p:spPr>
          <a:xfrm>
            <a:off x="134406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4" name="Text 14"/>
          <p:cNvSpPr/>
          <p:nvPr/>
        </p:nvSpPr>
        <p:spPr>
          <a:xfrm>
            <a:off x="133056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a:t>
            </a:r>
            <a:endParaRPr lang="en-US" sz="1409">
              <a:solidFill>
                <a:srgbClr val="FFFFFF"/>
              </a:solidFill>
              <a:latin typeface="Arial"/>
            </a:endParaRPr>
          </a:p>
        </p:txBody>
      </p:sp>
      <p:sp>
        <p:nvSpPr>
          <p:cNvPr id="395" name="Text 15"/>
          <p:cNvSpPr/>
          <p:nvPr/>
        </p:nvSpPr>
        <p:spPr>
          <a:xfrm>
            <a:off x="266112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Online EWMA warning</a:t>
            </a:r>
            <a:endParaRPr lang="en-US" sz="1695">
              <a:solidFill>
                <a:srgbClr val="FFFFFF"/>
              </a:solidFill>
              <a:latin typeface="Arial"/>
            </a:endParaRPr>
          </a:p>
        </p:txBody>
      </p:sp>
      <p:sp>
        <p:nvSpPr>
          <p:cNvPr id="396" name="Shape 16"/>
          <p:cNvSpPr/>
          <p:nvPr/>
        </p:nvSpPr>
        <p:spPr>
          <a:xfrm>
            <a:off x="134406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7" name="Text 17"/>
          <p:cNvSpPr/>
          <p:nvPr/>
        </p:nvSpPr>
        <p:spPr>
          <a:xfrm>
            <a:off x="133056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II</a:t>
            </a:r>
            <a:endParaRPr lang="en-US" sz="1409">
              <a:solidFill>
                <a:srgbClr val="FFFFFF"/>
              </a:solidFill>
              <a:latin typeface="Arial"/>
            </a:endParaRPr>
          </a:p>
        </p:txBody>
      </p:sp>
      <p:sp>
        <p:nvSpPr>
          <p:cNvPr id="398" name="Text 18"/>
          <p:cNvSpPr/>
          <p:nvPr/>
        </p:nvSpPr>
        <p:spPr>
          <a:xfrm>
            <a:off x="266112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K–S or two-window Hotelling T²</a:t>
            </a:r>
            <a:endParaRPr lang="en-US" sz="1695">
              <a:solidFill>
                <a:srgbClr val="FFFFFF"/>
              </a:solidFill>
              <a:latin typeface="Arial"/>
            </a:endParaRPr>
          </a:p>
        </p:txBody>
      </p:sp>
      <p:sp>
        <p:nvSpPr>
          <p:cNvPr id="399" name="Shape 19"/>
          <p:cNvSpPr/>
          <p:nvPr/>
        </p:nvSpPr>
        <p:spPr>
          <a:xfrm>
            <a:off x="134406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0" name="Text 20"/>
          <p:cNvSpPr/>
          <p:nvPr/>
        </p:nvSpPr>
        <p:spPr>
          <a:xfrm>
            <a:off x="133056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WHAT IT SUPPORTS</a:t>
            </a:r>
            <a:endParaRPr lang="en-US" sz="1409">
              <a:solidFill>
                <a:srgbClr val="FFFFFF"/>
              </a:solidFill>
              <a:latin typeface="Arial"/>
            </a:endParaRPr>
          </a:p>
        </p:txBody>
      </p:sp>
      <p:sp>
        <p:nvSpPr>
          <p:cNvPr id="401" name="Text 21"/>
          <p:cNvSpPr/>
          <p:nvPr/>
        </p:nvSpPr>
        <p:spPr>
          <a:xfrm>
            <a:off x="266112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Mean-sensitive multivariate validation</a:t>
            </a:r>
            <a:endParaRPr lang="en-US" sz="1695">
              <a:solidFill>
                <a:srgbClr val="FFFFFF"/>
              </a:solidFill>
              <a:latin typeface="Arial"/>
            </a:endParaRPr>
          </a:p>
        </p:txBody>
      </p:sp>
      <p:sp>
        <p:nvSpPr>
          <p:cNvPr id="402" name="Shape 22"/>
          <p:cNvSpPr/>
          <p:nvPr/>
        </p:nvSpPr>
        <p:spPr>
          <a:xfrm>
            <a:off x="134406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3" name="Text 23"/>
          <p:cNvSpPr/>
          <p:nvPr/>
        </p:nvSpPr>
        <p:spPr>
          <a:xfrm>
            <a:off x="133056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OPEN IN PHD</a:t>
            </a:r>
            <a:endParaRPr lang="en-US" sz="1409">
              <a:solidFill>
                <a:srgbClr val="FFFFFF"/>
              </a:solidFill>
              <a:latin typeface="Arial"/>
            </a:endParaRPr>
          </a:p>
        </p:txBody>
      </p:sp>
      <p:sp>
        <p:nvSpPr>
          <p:cNvPr id="404" name="Text 24"/>
          <p:cNvSpPr/>
          <p:nvPr/>
        </p:nvSpPr>
        <p:spPr>
          <a:xfrm>
            <a:off x="266112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Repeated testing, covariance assumptions</a:t>
            </a:r>
            <a:endParaRPr lang="en-US" sz="1695">
              <a:solidFill>
                <a:srgbClr val="FFFFFF"/>
              </a:solidFill>
              <a:latin typeface="Arial"/>
            </a:endParaRPr>
          </a:p>
        </p:txBody>
      </p:sp>
      <p:sp>
        <p:nvSpPr>
          <p:cNvPr id="405" name="Shape 25"/>
          <p:cNvSpPr/>
          <p:nvPr/>
        </p:nvSpPr>
        <p:spPr>
          <a:xfrm>
            <a:off x="678942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06" name="Shape 26"/>
          <p:cNvSpPr/>
          <p:nvPr/>
        </p:nvSpPr>
        <p:spPr>
          <a:xfrm>
            <a:off x="7090740" y="3744360"/>
            <a:ext cx="4842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7" name="Text 27"/>
          <p:cNvSpPr/>
          <p:nvPr/>
        </p:nvSpPr>
        <p:spPr>
          <a:xfrm>
            <a:off x="709128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F9BE4A"/>
                </a:solidFill>
                <a:latin typeface="Aptos"/>
                <a:ea typeface="Aptos"/>
              </a:rPr>
              <a:t>Park et al. (2023)</a:t>
            </a:r>
            <a:endParaRPr lang="en-US" sz="2400">
              <a:solidFill>
                <a:srgbClr val="FFFFFF"/>
              </a:solidFill>
              <a:latin typeface="Arial"/>
            </a:endParaRPr>
          </a:p>
        </p:txBody>
      </p:sp>
      <p:sp>
        <p:nvSpPr>
          <p:cNvPr id="408" name="Text 28"/>
          <p:cNvSpPr/>
          <p:nvPr/>
        </p:nvSpPr>
        <p:spPr>
          <a:xfrm>
            <a:off x="709128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STRUCTURAL CHANGE</a:t>
            </a:r>
            <a:endParaRPr lang="en-US" sz="1635">
              <a:solidFill>
                <a:srgbClr val="FFFFFF"/>
              </a:solidFill>
              <a:latin typeface="Arial"/>
            </a:endParaRPr>
          </a:p>
        </p:txBody>
      </p:sp>
      <p:sp>
        <p:nvSpPr>
          <p:cNvPr id="409" name="Text 29"/>
          <p:cNvSpPr/>
          <p:nvPr/>
        </p:nvSpPr>
        <p:spPr>
          <a:xfrm>
            <a:off x="709128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FIRST-ORDER</a:t>
            </a:r>
            <a:endParaRPr lang="en-US" sz="1409">
              <a:solidFill>
                <a:srgbClr val="FFFFFF"/>
              </a:solidFill>
              <a:latin typeface="Arial"/>
            </a:endParaRPr>
          </a:p>
        </p:txBody>
      </p:sp>
      <p:sp>
        <p:nvSpPr>
          <p:cNvPr id="410" name="Text 30"/>
          <p:cNvSpPr/>
          <p:nvPr/>
        </p:nvSpPr>
        <p:spPr>
          <a:xfrm>
            <a:off x="842184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 CUSUM / peak agreement</a:t>
            </a:r>
            <a:endParaRPr lang="en-US" sz="1695">
              <a:solidFill>
                <a:srgbClr val="FFFFFF"/>
              </a:solidFill>
              <a:latin typeface="Arial"/>
            </a:endParaRPr>
          </a:p>
        </p:txBody>
      </p:sp>
      <p:sp>
        <p:nvSpPr>
          <p:cNvPr id="411" name="Shape 31"/>
          <p:cNvSpPr/>
          <p:nvPr/>
        </p:nvSpPr>
        <p:spPr>
          <a:xfrm>
            <a:off x="710478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2" name="Text 32"/>
          <p:cNvSpPr/>
          <p:nvPr/>
        </p:nvSpPr>
        <p:spPr>
          <a:xfrm>
            <a:off x="709128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SECOND-ORDER</a:t>
            </a:r>
            <a:endParaRPr lang="en-US" sz="1409">
              <a:solidFill>
                <a:srgbClr val="FFFFFF"/>
              </a:solidFill>
              <a:latin typeface="Arial"/>
            </a:endParaRPr>
          </a:p>
        </p:txBody>
      </p:sp>
      <p:sp>
        <p:nvSpPr>
          <p:cNvPr id="413" name="Text 33"/>
          <p:cNvSpPr/>
          <p:nvPr/>
        </p:nvSpPr>
        <p:spPr>
          <a:xfrm>
            <a:off x="842184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Wavelet spectral matrices / dynamic PCA</a:t>
            </a:r>
            <a:endParaRPr lang="en-US" sz="1695">
              <a:solidFill>
                <a:srgbClr val="FFFFFF"/>
              </a:solidFill>
              <a:latin typeface="Arial"/>
            </a:endParaRPr>
          </a:p>
        </p:txBody>
      </p:sp>
      <p:sp>
        <p:nvSpPr>
          <p:cNvPr id="414" name="Shape 34"/>
          <p:cNvSpPr/>
          <p:nvPr/>
        </p:nvSpPr>
        <p:spPr>
          <a:xfrm>
            <a:off x="710478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5" name="Text 35"/>
          <p:cNvSpPr/>
          <p:nvPr/>
        </p:nvSpPr>
        <p:spPr>
          <a:xfrm>
            <a:off x="709128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DISTINCTION</a:t>
            </a:r>
            <a:endParaRPr lang="en-US" sz="1409">
              <a:solidFill>
                <a:srgbClr val="FFFFFF"/>
              </a:solidFill>
              <a:latin typeface="Arial"/>
            </a:endParaRPr>
          </a:p>
        </p:txBody>
      </p:sp>
      <p:sp>
        <p:nvSpPr>
          <p:cNvPr id="416" name="Text 36"/>
          <p:cNvSpPr/>
          <p:nvPr/>
        </p:nvSpPr>
        <p:spPr>
          <a:xfrm>
            <a:off x="842184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Covariance + temporal dependence changes</a:t>
            </a:r>
            <a:endParaRPr lang="en-US" sz="1695">
              <a:solidFill>
                <a:srgbClr val="FFFFFF"/>
              </a:solidFill>
              <a:latin typeface="Arial"/>
            </a:endParaRPr>
          </a:p>
        </p:txBody>
      </p:sp>
      <p:sp>
        <p:nvSpPr>
          <p:cNvPr id="417" name="Shape 37"/>
          <p:cNvSpPr/>
          <p:nvPr/>
        </p:nvSpPr>
        <p:spPr>
          <a:xfrm>
            <a:off x="710478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8" name="Text 38"/>
          <p:cNvSpPr/>
          <p:nvPr/>
        </p:nvSpPr>
        <p:spPr>
          <a:xfrm>
            <a:off x="709128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IN REPO</a:t>
            </a:r>
            <a:endParaRPr lang="en-US" sz="1409">
              <a:solidFill>
                <a:srgbClr val="FFFFFF"/>
              </a:solidFill>
              <a:latin typeface="Arial"/>
            </a:endParaRPr>
          </a:p>
        </p:txBody>
      </p:sp>
      <p:sp>
        <p:nvSpPr>
          <p:cNvPr id="419" name="Text 39"/>
          <p:cNvSpPr/>
          <p:nvPr/>
        </p:nvSpPr>
        <p:spPr>
          <a:xfrm>
            <a:off x="842184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Mean-CUSUM and proposed CPSS</a:t>
            </a:r>
            <a:endParaRPr lang="en-US" sz="1695">
              <a:solidFill>
                <a:srgbClr val="FFFFFF"/>
              </a:solidFill>
              <a:latin typeface="Arial"/>
            </a:endParaRPr>
          </a:p>
        </p:txBody>
      </p:sp>
      <p:sp>
        <p:nvSpPr>
          <p:cNvPr id="420" name="Shape 40"/>
          <p:cNvSpPr/>
          <p:nvPr/>
        </p:nvSpPr>
        <p:spPr>
          <a:xfrm>
            <a:off x="710478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1" name="Text 41"/>
          <p:cNvSpPr/>
          <p:nvPr/>
        </p:nvSpPr>
        <p:spPr>
          <a:xfrm>
            <a:off x="709128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NOT YET</a:t>
            </a:r>
            <a:endParaRPr lang="en-US" sz="1409">
              <a:solidFill>
                <a:srgbClr val="FFFFFF"/>
              </a:solidFill>
              <a:latin typeface="Arial"/>
            </a:endParaRPr>
          </a:p>
        </p:txBody>
      </p:sp>
      <p:sp>
        <p:nvSpPr>
          <p:cNvPr id="422" name="Text 42"/>
          <p:cNvSpPr/>
          <p:nvPr/>
        </p:nvSpPr>
        <p:spPr>
          <a:xfrm>
            <a:off x="842184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Second-order method / paper reproduction</a:t>
            </a:r>
            <a:endParaRPr lang="en-US" sz="1695">
              <a:solidFill>
                <a:srgbClr val="FFFFFF"/>
              </a:solidFill>
              <a:latin typeface="Arial"/>
            </a:endParaRPr>
          </a:p>
        </p:txBody>
      </p:sp>
      <p:sp>
        <p:nvSpPr>
          <p:cNvPr id="423" name="Shape 43"/>
          <p:cNvSpPr/>
          <p:nvPr/>
        </p:nvSpPr>
        <p:spPr>
          <a:xfrm>
            <a:off x="1255014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24" name="Shape 44"/>
          <p:cNvSpPr/>
          <p:nvPr/>
        </p:nvSpPr>
        <p:spPr>
          <a:xfrm>
            <a:off x="12851460" y="3744360"/>
            <a:ext cx="4842180" cy="540"/>
          </a:xfrm>
          <a:prstGeom prst="line">
            <a:avLst/>
          </a:prstGeom>
          <a:ln w="25400">
            <a:solidFill>
              <a:srgbClr val="BC8BFF"/>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5" name="Text 45"/>
          <p:cNvSpPr/>
          <p:nvPr/>
        </p:nvSpPr>
        <p:spPr>
          <a:xfrm>
            <a:off x="1285200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BC8BFF"/>
                </a:solidFill>
                <a:latin typeface="Aptos"/>
                <a:ea typeface="Aptos"/>
              </a:rPr>
              <a:t>Heyden et al. (2024)</a:t>
            </a:r>
            <a:endParaRPr lang="en-US" sz="2400">
              <a:solidFill>
                <a:srgbClr val="FFFFFF"/>
              </a:solidFill>
              <a:latin typeface="Arial"/>
            </a:endParaRPr>
          </a:p>
        </p:txBody>
      </p:sp>
      <p:sp>
        <p:nvSpPr>
          <p:cNvPr id="426" name="Text 46"/>
          <p:cNvSpPr/>
          <p:nvPr/>
        </p:nvSpPr>
        <p:spPr>
          <a:xfrm>
            <a:off x="1285200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HIGH-DIMENSIONAL STREAMS</a:t>
            </a:r>
            <a:endParaRPr lang="en-US" sz="1635">
              <a:solidFill>
                <a:srgbClr val="FFFFFF"/>
              </a:solidFill>
              <a:latin typeface="Arial"/>
            </a:endParaRPr>
          </a:p>
        </p:txBody>
      </p:sp>
      <p:sp>
        <p:nvSpPr>
          <p:cNvPr id="427" name="Text 47"/>
          <p:cNvSpPr/>
          <p:nvPr/>
        </p:nvSpPr>
        <p:spPr>
          <a:xfrm>
            <a:off x="1285200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DETECTOR</a:t>
            </a:r>
            <a:endParaRPr lang="en-US" sz="1409">
              <a:solidFill>
                <a:srgbClr val="FFFFFF"/>
              </a:solidFill>
              <a:latin typeface="Arial"/>
            </a:endParaRPr>
          </a:p>
        </p:txBody>
      </p:sp>
      <p:sp>
        <p:nvSpPr>
          <p:cNvPr id="428" name="Text 48"/>
          <p:cNvSpPr/>
          <p:nvPr/>
        </p:nvSpPr>
        <p:spPr>
          <a:xfrm>
            <a:off x="1418256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dirty="0">
                <a:solidFill>
                  <a:srgbClr val="D5E4F1"/>
                </a:solidFill>
                <a:latin typeface="Aptos"/>
                <a:ea typeface="Aptos"/>
              </a:rPr>
              <a:t>ABCD/ adaptive window</a:t>
            </a:r>
            <a:endParaRPr lang="en-US" sz="1695" dirty="0">
              <a:solidFill>
                <a:srgbClr val="FFFFFF"/>
              </a:solidFill>
              <a:latin typeface="Arial"/>
            </a:endParaRPr>
          </a:p>
        </p:txBody>
      </p:sp>
      <p:sp>
        <p:nvSpPr>
          <p:cNvPr id="429" name="Shape 49"/>
          <p:cNvSpPr/>
          <p:nvPr/>
        </p:nvSpPr>
        <p:spPr>
          <a:xfrm>
            <a:off x="1286550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0" name="Text 50"/>
          <p:cNvSpPr/>
          <p:nvPr/>
        </p:nvSpPr>
        <p:spPr>
          <a:xfrm>
            <a:off x="1285200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a:t>
            </a:r>
            <a:endParaRPr lang="en-US" sz="1409">
              <a:solidFill>
                <a:srgbClr val="FFFFFF"/>
              </a:solidFill>
              <a:latin typeface="Arial"/>
            </a:endParaRPr>
          </a:p>
        </p:txBody>
      </p:sp>
      <p:sp>
        <p:nvSpPr>
          <p:cNvPr id="431" name="Text 51"/>
          <p:cNvSpPr/>
          <p:nvPr/>
        </p:nvSpPr>
        <p:spPr>
          <a:xfrm>
            <a:off x="1418256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Encoder–decoder reconstruction loss</a:t>
            </a:r>
            <a:endParaRPr lang="en-US" sz="1695">
              <a:solidFill>
                <a:srgbClr val="FFFFFF"/>
              </a:solidFill>
              <a:latin typeface="Arial"/>
            </a:endParaRPr>
          </a:p>
        </p:txBody>
      </p:sp>
      <p:sp>
        <p:nvSpPr>
          <p:cNvPr id="432" name="Shape 52"/>
          <p:cNvSpPr/>
          <p:nvPr/>
        </p:nvSpPr>
        <p:spPr>
          <a:xfrm>
            <a:off x="1286550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3" name="Text 53"/>
          <p:cNvSpPr/>
          <p:nvPr/>
        </p:nvSpPr>
        <p:spPr>
          <a:xfrm>
            <a:off x="1285200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TARGETS</a:t>
            </a:r>
            <a:endParaRPr lang="en-US" sz="1409">
              <a:solidFill>
                <a:srgbClr val="FFFFFF"/>
              </a:solidFill>
              <a:latin typeface="Arial"/>
            </a:endParaRPr>
          </a:p>
        </p:txBody>
      </p:sp>
      <p:sp>
        <p:nvSpPr>
          <p:cNvPr id="434" name="Text 54"/>
          <p:cNvSpPr/>
          <p:nvPr/>
        </p:nvSpPr>
        <p:spPr>
          <a:xfrm>
            <a:off x="1418256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Change time, subspace, severity</a:t>
            </a:r>
            <a:endParaRPr lang="en-US" sz="1695">
              <a:solidFill>
                <a:srgbClr val="FFFFFF"/>
              </a:solidFill>
              <a:latin typeface="Arial"/>
            </a:endParaRPr>
          </a:p>
        </p:txBody>
      </p:sp>
      <p:sp>
        <p:nvSpPr>
          <p:cNvPr id="435" name="Shape 55"/>
          <p:cNvSpPr/>
          <p:nvPr/>
        </p:nvSpPr>
        <p:spPr>
          <a:xfrm>
            <a:off x="1286550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6" name="Text 56"/>
          <p:cNvSpPr/>
          <p:nvPr/>
        </p:nvSpPr>
        <p:spPr>
          <a:xfrm>
            <a:off x="1285200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VALUE</a:t>
            </a:r>
            <a:endParaRPr lang="en-US" sz="1409">
              <a:solidFill>
                <a:srgbClr val="FFFFFF"/>
              </a:solidFill>
              <a:latin typeface="Arial"/>
            </a:endParaRPr>
          </a:p>
        </p:txBody>
      </p:sp>
      <p:sp>
        <p:nvSpPr>
          <p:cNvPr id="437" name="Text 57"/>
          <p:cNvSpPr/>
          <p:nvPr/>
        </p:nvSpPr>
        <p:spPr>
          <a:xfrm>
            <a:off x="1418256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Complementary comparison candidate</a:t>
            </a:r>
            <a:endParaRPr lang="en-US" sz="1695">
              <a:solidFill>
                <a:srgbClr val="FFFFFF"/>
              </a:solidFill>
              <a:latin typeface="Arial"/>
            </a:endParaRPr>
          </a:p>
        </p:txBody>
      </p:sp>
      <p:sp>
        <p:nvSpPr>
          <p:cNvPr id="438" name="Shape 58"/>
          <p:cNvSpPr/>
          <p:nvPr/>
        </p:nvSpPr>
        <p:spPr>
          <a:xfrm>
            <a:off x="1286550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9" name="Text 59"/>
          <p:cNvSpPr/>
          <p:nvPr/>
        </p:nvSpPr>
        <p:spPr>
          <a:xfrm>
            <a:off x="1285200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NOT ESTABLISHED</a:t>
            </a:r>
            <a:endParaRPr lang="en-US" sz="1409">
              <a:solidFill>
                <a:srgbClr val="FFFFFF"/>
              </a:solidFill>
              <a:latin typeface="Arial"/>
            </a:endParaRPr>
          </a:p>
        </p:txBody>
      </p:sp>
      <p:sp>
        <p:nvSpPr>
          <p:cNvPr id="440" name="Text 60"/>
          <p:cNvSpPr/>
          <p:nvPr/>
        </p:nvSpPr>
        <p:spPr>
          <a:xfrm>
            <a:off x="1418256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EEG benchmark in this repo</a:t>
            </a:r>
            <a:endParaRPr lang="en-US" sz="1695">
              <a:solidFill>
                <a:srgbClr val="FFFFFF"/>
              </a:solidFill>
              <a:latin typeface="Arial"/>
            </a:endParaRPr>
          </a:p>
        </p:txBody>
      </p:sp>
      <p:sp>
        <p:nvSpPr>
          <p:cNvPr id="441" name="Text 61"/>
          <p:cNvSpPr/>
          <p:nvPr/>
        </p:nvSpPr>
        <p:spPr>
          <a:xfrm>
            <a:off x="1056240" y="9230760"/>
            <a:ext cx="161843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a:solidFill>
                  <a:srgbClr val="F9BE4A"/>
                </a:solidFill>
                <a:latin typeface="Aptos"/>
                <a:ea typeface="Aptos"/>
              </a:rPr>
              <a:t>Caution: Hotelling mean-vector evidence does not establish general second-order or concept-change detection.</a:t>
            </a:r>
            <a:endParaRPr lang="en-US" sz="1725">
              <a:solidFill>
                <a:srgbClr val="FFFFFF"/>
              </a:solidFill>
              <a:latin typeface="Arial"/>
            </a:endParaRPr>
          </a:p>
        </p:txBody>
      </p:sp>
      <p:pic>
        <p:nvPicPr>
          <p:cNvPr id="2" name="Picture 1">
            <a:extLst>
              <a:ext uri="{FF2B5EF4-FFF2-40B4-BE49-F238E27FC236}">
                <a16:creationId xmlns:a16="http://schemas.microsoft.com/office/drawing/2014/main" id="{55F2BEE3-89B4-487C-9C95-784FC6419167}"/>
              </a:ext>
            </a:extLst>
          </p:cNvPr>
          <p:cNvPicPr>
            <a:picLocks noChangeAspect="1"/>
          </p:cNvPicPr>
          <p:nvPr/>
        </p:nvPicPr>
        <p:blipFill>
          <a:blip r:embed="rId3"/>
          <a:stretch>
            <a:fillRect/>
          </a:stretch>
        </p:blipFill>
        <p:spPr>
          <a:xfrm>
            <a:off x="12516119" y="773807"/>
            <a:ext cx="5458321" cy="1230489"/>
          </a:xfrm>
          <a:prstGeom prst="rect">
            <a:avLst/>
          </a:prstGeom>
        </p:spPr>
      </p:pic>
    </p:spTree>
    <p:extLst>
      <p:ext uri="{BB962C8B-B14F-4D97-AF65-F5344CB8AC3E}">
        <p14:creationId xmlns:p14="http://schemas.microsoft.com/office/powerpoint/2010/main" val="2541129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PAPER-TO-SYSTEM SYNTHESIS</a:t>
            </a:r>
            <a:endParaRPr lang="en-US">
              <a:solidFill>
                <a:srgbClr val="FFFFFF"/>
              </a:solidFill>
              <a:latin typeface="Arial"/>
            </a:endParaRPr>
          </a:p>
        </p:txBody>
      </p:sp>
      <p:sp>
        <p:nvSpPr>
          <p:cNvPr id="443"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Where the literature enters the algorithm</a:t>
            </a:r>
            <a:endParaRPr lang="en-US" sz="4125">
              <a:solidFill>
                <a:srgbClr val="FFFFFF"/>
              </a:solidFill>
              <a:latin typeface="Arial"/>
            </a:endParaRPr>
          </a:p>
        </p:txBody>
      </p:sp>
      <p:sp>
        <p:nvSpPr>
          <p:cNvPr id="444"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proposed integration schematic—not a claim that every downstream component is deployed.</a:t>
            </a:r>
            <a:endParaRPr lang="en-US" sz="1980">
              <a:solidFill>
                <a:srgbClr val="FFFFFF"/>
              </a:solidFill>
              <a:latin typeface="Arial"/>
            </a:endParaRPr>
          </a:p>
        </p:txBody>
      </p:sp>
      <p:sp>
        <p:nvSpPr>
          <p:cNvPr id="445"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6"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7"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448"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06</a:t>
            </a:r>
            <a:endParaRPr lang="en-US" sz="1350">
              <a:solidFill>
                <a:srgbClr val="FFFFFF"/>
              </a:solidFill>
              <a:latin typeface="Arial"/>
            </a:endParaRPr>
          </a:p>
        </p:txBody>
      </p:sp>
      <p:sp>
        <p:nvSpPr>
          <p:cNvPr id="449" name="Shape 7"/>
          <p:cNvSpPr/>
          <p:nvPr/>
        </p:nvSpPr>
        <p:spPr>
          <a:xfrm>
            <a:off x="9876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0" name="Shape 8"/>
          <p:cNvSpPr/>
          <p:nvPr/>
        </p:nvSpPr>
        <p:spPr>
          <a:xfrm>
            <a:off x="117936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1" name="Text 9"/>
          <p:cNvSpPr/>
          <p:nvPr/>
        </p:nvSpPr>
        <p:spPr>
          <a:xfrm>
            <a:off x="13305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01</a:t>
            </a:r>
            <a:endParaRPr lang="en-US" sz="1380">
              <a:solidFill>
                <a:srgbClr val="FFFFFF"/>
              </a:solidFill>
              <a:latin typeface="Arial"/>
            </a:endParaRPr>
          </a:p>
        </p:txBody>
      </p:sp>
      <p:sp>
        <p:nvSpPr>
          <p:cNvPr id="452" name="Text 10"/>
          <p:cNvSpPr/>
          <p:nvPr/>
        </p:nvSpPr>
        <p:spPr>
          <a:xfrm>
            <a:off x="11934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MI-EEG</a:t>
            </a:r>
            <a:endParaRPr lang="en-US" sz="2160">
              <a:solidFill>
                <a:srgbClr val="FFFFFF"/>
              </a:solidFill>
              <a:latin typeface="Arial"/>
            </a:endParaRPr>
          </a:p>
        </p:txBody>
      </p:sp>
      <p:sp>
        <p:nvSpPr>
          <p:cNvPr id="453" name="Text 11"/>
          <p:cNvSpPr/>
          <p:nvPr/>
        </p:nvSpPr>
        <p:spPr>
          <a:xfrm>
            <a:off x="11523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temporal + CSP</a:t>
            </a:r>
            <a:endParaRPr lang="en-US" sz="1695">
              <a:solidFill>
                <a:srgbClr val="FFFFFF"/>
              </a:solidFill>
              <a:latin typeface="Arial"/>
            </a:endParaRPr>
          </a:p>
        </p:txBody>
      </p:sp>
      <p:sp>
        <p:nvSpPr>
          <p:cNvPr id="454" name="Text 12"/>
          <p:cNvSpPr/>
          <p:nvPr/>
        </p:nvSpPr>
        <p:spPr>
          <a:xfrm>
            <a:off x="11383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Ramoser 2000</a:t>
            </a:r>
            <a:endParaRPr lang="en-US" sz="1380">
              <a:solidFill>
                <a:srgbClr val="FFFFFF"/>
              </a:solidFill>
              <a:latin typeface="Arial"/>
            </a:endParaRPr>
          </a:p>
        </p:txBody>
      </p:sp>
      <p:sp>
        <p:nvSpPr>
          <p:cNvPr id="455" name="Shape 13"/>
          <p:cNvSpPr/>
          <p:nvPr/>
        </p:nvSpPr>
        <p:spPr>
          <a:xfrm>
            <a:off x="368928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56" name="Shape 14"/>
          <p:cNvSpPr/>
          <p:nvPr/>
        </p:nvSpPr>
        <p:spPr>
          <a:xfrm>
            <a:off x="378540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57" name="Shape 15"/>
          <p:cNvSpPr/>
          <p:nvPr/>
        </p:nvSpPr>
        <p:spPr>
          <a:xfrm>
            <a:off x="386802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8" name="Shape 16"/>
          <p:cNvSpPr/>
          <p:nvPr/>
        </p:nvSpPr>
        <p:spPr>
          <a:xfrm>
            <a:off x="405972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9" name="Text 17"/>
          <p:cNvSpPr/>
          <p:nvPr/>
        </p:nvSpPr>
        <p:spPr>
          <a:xfrm>
            <a:off x="421092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02</a:t>
            </a:r>
            <a:endParaRPr lang="en-US" sz="1380">
              <a:solidFill>
                <a:srgbClr val="FFFFFF"/>
              </a:solidFill>
              <a:latin typeface="Arial"/>
            </a:endParaRPr>
          </a:p>
        </p:txBody>
      </p:sp>
      <p:sp>
        <p:nvSpPr>
          <p:cNvPr id="460" name="Text 18"/>
          <p:cNvSpPr/>
          <p:nvPr/>
        </p:nvSpPr>
        <p:spPr>
          <a:xfrm>
            <a:off x="407376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FEATURES</a:t>
            </a:r>
            <a:endParaRPr lang="en-US" sz="2160">
              <a:solidFill>
                <a:srgbClr val="FFFFFF"/>
              </a:solidFill>
              <a:latin typeface="Arial"/>
            </a:endParaRPr>
          </a:p>
        </p:txBody>
      </p:sp>
      <p:sp>
        <p:nvSpPr>
          <p:cNvPr id="461" name="Text 19"/>
          <p:cNvSpPr/>
          <p:nvPr/>
        </p:nvSpPr>
        <p:spPr>
          <a:xfrm>
            <a:off x="403272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FBCSP · PCA</a:t>
            </a:r>
            <a:endParaRPr lang="en-US" sz="1695">
              <a:solidFill>
                <a:srgbClr val="FFFFFF"/>
              </a:solidFill>
              <a:latin typeface="Arial"/>
            </a:endParaRPr>
          </a:p>
        </p:txBody>
      </p:sp>
      <p:sp>
        <p:nvSpPr>
          <p:cNvPr id="462" name="Text 20"/>
          <p:cNvSpPr/>
          <p:nvPr/>
        </p:nvSpPr>
        <p:spPr>
          <a:xfrm>
            <a:off x="401868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2019</a:t>
            </a:r>
            <a:endParaRPr lang="en-US" sz="1380">
              <a:solidFill>
                <a:srgbClr val="FFFFFF"/>
              </a:solidFill>
              <a:latin typeface="Arial"/>
            </a:endParaRPr>
          </a:p>
        </p:txBody>
      </p:sp>
      <p:sp>
        <p:nvSpPr>
          <p:cNvPr id="463" name="Shape 21"/>
          <p:cNvSpPr/>
          <p:nvPr/>
        </p:nvSpPr>
        <p:spPr>
          <a:xfrm>
            <a:off x="656964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64" name="Shape 22"/>
          <p:cNvSpPr/>
          <p:nvPr/>
        </p:nvSpPr>
        <p:spPr>
          <a:xfrm>
            <a:off x="666576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65" name="Shape 23"/>
          <p:cNvSpPr/>
          <p:nvPr/>
        </p:nvSpPr>
        <p:spPr>
          <a:xfrm>
            <a:off x="674838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6" name="Shape 24"/>
          <p:cNvSpPr/>
          <p:nvPr/>
        </p:nvSpPr>
        <p:spPr>
          <a:xfrm>
            <a:off x="6940080" y="4142340"/>
            <a:ext cx="68526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7" name="Text 25"/>
          <p:cNvSpPr/>
          <p:nvPr/>
        </p:nvSpPr>
        <p:spPr>
          <a:xfrm>
            <a:off x="709128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39D2C3"/>
                </a:solidFill>
                <a:latin typeface="Aptos"/>
                <a:ea typeface="Aptos"/>
              </a:rPr>
              <a:t>03</a:t>
            </a:r>
            <a:endParaRPr lang="en-US" sz="1380">
              <a:solidFill>
                <a:srgbClr val="FFFFFF"/>
              </a:solidFill>
              <a:latin typeface="Arial"/>
            </a:endParaRPr>
          </a:p>
        </p:txBody>
      </p:sp>
      <p:sp>
        <p:nvSpPr>
          <p:cNvPr id="468" name="Text 26"/>
          <p:cNvSpPr/>
          <p:nvPr/>
        </p:nvSpPr>
        <p:spPr>
          <a:xfrm>
            <a:off x="695412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39D2C3"/>
                </a:solidFill>
                <a:latin typeface="Aptos"/>
                <a:ea typeface="Aptos"/>
              </a:rPr>
              <a:t>WARNING</a:t>
            </a:r>
            <a:endParaRPr lang="en-US" sz="2160">
              <a:solidFill>
                <a:srgbClr val="FFFFFF"/>
              </a:solidFill>
              <a:latin typeface="Arial"/>
            </a:endParaRPr>
          </a:p>
        </p:txBody>
      </p:sp>
      <p:sp>
        <p:nvSpPr>
          <p:cNvPr id="469" name="Text 27"/>
          <p:cNvSpPr/>
          <p:nvPr/>
        </p:nvSpPr>
        <p:spPr>
          <a:xfrm>
            <a:off x="691308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EWMA Stage I</a:t>
            </a:r>
            <a:endParaRPr lang="en-US" sz="1695">
              <a:solidFill>
                <a:srgbClr val="FFFFFF"/>
              </a:solidFill>
              <a:latin typeface="Arial"/>
            </a:endParaRPr>
          </a:p>
        </p:txBody>
      </p:sp>
      <p:sp>
        <p:nvSpPr>
          <p:cNvPr id="470" name="Text 28"/>
          <p:cNvSpPr/>
          <p:nvPr/>
        </p:nvSpPr>
        <p:spPr>
          <a:xfrm>
            <a:off x="689904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a:t>
            </a:r>
            <a:endParaRPr lang="en-US" sz="1380">
              <a:solidFill>
                <a:srgbClr val="FFFFFF"/>
              </a:solidFill>
              <a:latin typeface="Arial"/>
            </a:endParaRPr>
          </a:p>
        </p:txBody>
      </p:sp>
      <p:sp>
        <p:nvSpPr>
          <p:cNvPr id="471" name="Shape 29"/>
          <p:cNvSpPr/>
          <p:nvPr/>
        </p:nvSpPr>
        <p:spPr>
          <a:xfrm>
            <a:off x="945000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72" name="Shape 30"/>
          <p:cNvSpPr/>
          <p:nvPr/>
        </p:nvSpPr>
        <p:spPr>
          <a:xfrm>
            <a:off x="954612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73" name="Shape 31"/>
          <p:cNvSpPr/>
          <p:nvPr/>
        </p:nvSpPr>
        <p:spPr>
          <a:xfrm>
            <a:off x="962874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4" name="Shape 32"/>
          <p:cNvSpPr/>
          <p:nvPr/>
        </p:nvSpPr>
        <p:spPr>
          <a:xfrm>
            <a:off x="9820440" y="4142340"/>
            <a:ext cx="68526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5" name="Text 33"/>
          <p:cNvSpPr/>
          <p:nvPr/>
        </p:nvSpPr>
        <p:spPr>
          <a:xfrm>
            <a:off x="997164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F9BE4A"/>
                </a:solidFill>
                <a:latin typeface="Aptos"/>
                <a:ea typeface="Aptos"/>
              </a:rPr>
              <a:t>04</a:t>
            </a:r>
            <a:endParaRPr lang="en-US" sz="1380">
              <a:solidFill>
                <a:srgbClr val="FFFFFF"/>
              </a:solidFill>
              <a:latin typeface="Arial"/>
            </a:endParaRPr>
          </a:p>
        </p:txBody>
      </p:sp>
      <p:sp>
        <p:nvSpPr>
          <p:cNvPr id="476" name="Text 34"/>
          <p:cNvSpPr/>
          <p:nvPr/>
        </p:nvSpPr>
        <p:spPr>
          <a:xfrm>
            <a:off x="983448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F9BE4A"/>
                </a:solidFill>
                <a:latin typeface="Aptos"/>
                <a:ea typeface="Aptos"/>
              </a:rPr>
              <a:t>VALIDATE</a:t>
            </a:r>
            <a:endParaRPr lang="en-US" sz="2160">
              <a:solidFill>
                <a:srgbClr val="FFFFFF"/>
              </a:solidFill>
              <a:latin typeface="Arial"/>
            </a:endParaRPr>
          </a:p>
        </p:txBody>
      </p:sp>
      <p:sp>
        <p:nvSpPr>
          <p:cNvPr id="477" name="Text 35"/>
          <p:cNvSpPr/>
          <p:nvPr/>
        </p:nvSpPr>
        <p:spPr>
          <a:xfrm>
            <a:off x="979344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K–S / Hotelling T²</a:t>
            </a:r>
            <a:endParaRPr lang="en-US" sz="1695">
              <a:solidFill>
                <a:srgbClr val="FFFFFF"/>
              </a:solidFill>
              <a:latin typeface="Arial"/>
            </a:endParaRPr>
          </a:p>
        </p:txBody>
      </p:sp>
      <p:sp>
        <p:nvSpPr>
          <p:cNvPr id="478" name="Text 36"/>
          <p:cNvSpPr/>
          <p:nvPr/>
        </p:nvSpPr>
        <p:spPr>
          <a:xfrm>
            <a:off x="977940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 · Alippi 2017</a:t>
            </a:r>
            <a:endParaRPr lang="en-US" sz="1380">
              <a:solidFill>
                <a:srgbClr val="FFFFFF"/>
              </a:solidFill>
              <a:latin typeface="Arial"/>
            </a:endParaRPr>
          </a:p>
        </p:txBody>
      </p:sp>
      <p:sp>
        <p:nvSpPr>
          <p:cNvPr id="479" name="Shape 37"/>
          <p:cNvSpPr/>
          <p:nvPr/>
        </p:nvSpPr>
        <p:spPr>
          <a:xfrm>
            <a:off x="1233036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0" name="Shape 38"/>
          <p:cNvSpPr/>
          <p:nvPr/>
        </p:nvSpPr>
        <p:spPr>
          <a:xfrm>
            <a:off x="1242648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1" name="Shape 39"/>
          <p:cNvSpPr/>
          <p:nvPr/>
        </p:nvSpPr>
        <p:spPr>
          <a:xfrm>
            <a:off x="1250910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2" name="Shape 40"/>
          <p:cNvSpPr/>
          <p:nvPr/>
        </p:nvSpPr>
        <p:spPr>
          <a:xfrm>
            <a:off x="12700800" y="4142340"/>
            <a:ext cx="68526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3" name="Text 41"/>
          <p:cNvSpPr/>
          <p:nvPr/>
        </p:nvSpPr>
        <p:spPr>
          <a:xfrm>
            <a:off x="1285200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BC8BFF"/>
                </a:solidFill>
                <a:latin typeface="Aptos"/>
                <a:ea typeface="Aptos"/>
              </a:rPr>
              <a:t>05</a:t>
            </a:r>
            <a:endParaRPr lang="en-US" sz="1380">
              <a:solidFill>
                <a:srgbClr val="FFFFFF"/>
              </a:solidFill>
              <a:latin typeface="Arial"/>
            </a:endParaRPr>
          </a:p>
        </p:txBody>
      </p:sp>
      <p:sp>
        <p:nvSpPr>
          <p:cNvPr id="484" name="Text 42"/>
          <p:cNvSpPr/>
          <p:nvPr/>
        </p:nvSpPr>
        <p:spPr>
          <a:xfrm>
            <a:off x="1271484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BC8BFF"/>
                </a:solidFill>
                <a:latin typeface="Aptos"/>
                <a:ea typeface="Aptos"/>
              </a:rPr>
              <a:t>POLICY GATE</a:t>
            </a:r>
            <a:endParaRPr lang="en-US" sz="2160">
              <a:solidFill>
                <a:srgbClr val="FFFFFF"/>
              </a:solidFill>
              <a:latin typeface="Arial"/>
            </a:endParaRPr>
          </a:p>
        </p:txBody>
      </p:sp>
      <p:sp>
        <p:nvSpPr>
          <p:cNvPr id="485" name="Text 43"/>
          <p:cNvSpPr/>
          <p:nvPr/>
        </p:nvSpPr>
        <p:spPr>
          <a:xfrm>
            <a:off x="1267380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is update justified?</a:t>
            </a:r>
            <a:endParaRPr lang="en-US" sz="1695">
              <a:solidFill>
                <a:srgbClr val="FFFFFF"/>
              </a:solidFill>
              <a:latin typeface="Arial"/>
            </a:endParaRPr>
          </a:p>
        </p:txBody>
      </p:sp>
      <p:sp>
        <p:nvSpPr>
          <p:cNvPr id="486" name="Text 44"/>
          <p:cNvSpPr/>
          <p:nvPr/>
        </p:nvSpPr>
        <p:spPr>
          <a:xfrm>
            <a:off x="1265976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Diethe 2019</a:t>
            </a:r>
            <a:endParaRPr lang="en-US" sz="1380">
              <a:solidFill>
                <a:srgbClr val="FFFFFF"/>
              </a:solidFill>
              <a:latin typeface="Arial"/>
            </a:endParaRPr>
          </a:p>
        </p:txBody>
      </p:sp>
      <p:sp>
        <p:nvSpPr>
          <p:cNvPr id="487" name="Shape 45"/>
          <p:cNvSpPr/>
          <p:nvPr/>
        </p:nvSpPr>
        <p:spPr>
          <a:xfrm>
            <a:off x="1521072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8" name="Shape 46"/>
          <p:cNvSpPr/>
          <p:nvPr/>
        </p:nvSpPr>
        <p:spPr>
          <a:xfrm>
            <a:off x="1530684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9" name="Shape 47"/>
          <p:cNvSpPr/>
          <p:nvPr/>
        </p:nvSpPr>
        <p:spPr>
          <a:xfrm>
            <a:off x="153894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0" name="Shape 48"/>
          <p:cNvSpPr/>
          <p:nvPr/>
        </p:nvSpPr>
        <p:spPr>
          <a:xfrm>
            <a:off x="15581160" y="4142340"/>
            <a:ext cx="685260" cy="397440"/>
          </a:xfrm>
          <a:prstGeom prst="roundRect">
            <a:avLst>
              <a:gd name="adj" fmla="val 44828"/>
            </a:avLst>
          </a:prstGeom>
          <a:solidFill>
            <a:srgbClr val="0C2032"/>
          </a:solidFill>
          <a:ln w="762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1" name="Text 49"/>
          <p:cNvSpPr/>
          <p:nvPr/>
        </p:nvSpPr>
        <p:spPr>
          <a:xfrm>
            <a:off x="157323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75D69A"/>
                </a:solidFill>
                <a:latin typeface="Aptos"/>
                <a:ea typeface="Aptos"/>
              </a:rPr>
              <a:t>06</a:t>
            </a:r>
            <a:endParaRPr lang="en-US" sz="1380">
              <a:solidFill>
                <a:srgbClr val="FFFFFF"/>
              </a:solidFill>
              <a:latin typeface="Arial"/>
            </a:endParaRPr>
          </a:p>
        </p:txBody>
      </p:sp>
      <p:sp>
        <p:nvSpPr>
          <p:cNvPr id="492" name="Text 50"/>
          <p:cNvSpPr/>
          <p:nvPr/>
        </p:nvSpPr>
        <p:spPr>
          <a:xfrm>
            <a:off x="155952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75D69A"/>
                </a:solidFill>
                <a:latin typeface="Aptos"/>
                <a:ea typeface="Aptos"/>
              </a:rPr>
              <a:t>ADAPT</a:t>
            </a:r>
            <a:endParaRPr lang="en-US" sz="2160">
              <a:solidFill>
                <a:srgbClr val="FFFFFF"/>
              </a:solidFill>
              <a:latin typeface="Arial"/>
            </a:endParaRPr>
          </a:p>
        </p:txBody>
      </p:sp>
      <p:sp>
        <p:nvSpPr>
          <p:cNvPr id="493" name="Text 51"/>
          <p:cNvSpPr/>
          <p:nvPr/>
        </p:nvSpPr>
        <p:spPr>
          <a:xfrm>
            <a:off x="155541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selective classifier</a:t>
            </a:r>
            <a:endParaRPr lang="en-US" sz="1695">
              <a:solidFill>
                <a:srgbClr val="FFFFFF"/>
              </a:solidFill>
              <a:latin typeface="Arial"/>
            </a:endParaRPr>
          </a:p>
        </p:txBody>
      </p:sp>
      <p:sp>
        <p:nvSpPr>
          <p:cNvPr id="494" name="Text 52"/>
          <p:cNvSpPr/>
          <p:nvPr/>
        </p:nvSpPr>
        <p:spPr>
          <a:xfrm>
            <a:off x="155401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2016/2019</a:t>
            </a:r>
            <a:endParaRPr lang="en-US" sz="1380">
              <a:solidFill>
                <a:srgbClr val="FFFFFF"/>
              </a:solidFill>
              <a:latin typeface="Arial"/>
            </a:endParaRPr>
          </a:p>
        </p:txBody>
      </p:sp>
      <p:sp>
        <p:nvSpPr>
          <p:cNvPr id="495" name="Shape 53"/>
          <p:cNvSpPr/>
          <p:nvPr/>
        </p:nvSpPr>
        <p:spPr>
          <a:xfrm>
            <a:off x="2839320" y="7722000"/>
            <a:ext cx="12618180" cy="1069200"/>
          </a:xfrm>
          <a:prstGeom prst="roundRect">
            <a:avLst>
              <a:gd name="adj" fmla="val 16667"/>
            </a:avLst>
          </a:prstGeom>
          <a:solidFill>
            <a:srgbClr val="10293C"/>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6" name="Text 54"/>
          <p:cNvSpPr/>
          <p:nvPr/>
        </p:nvSpPr>
        <p:spPr>
          <a:xfrm>
            <a:off x="3168180" y="8064900"/>
            <a:ext cx="290736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55" b="1">
                <a:solidFill>
                  <a:srgbClr val="39D2C3"/>
                </a:solidFill>
                <a:latin typeface="Aptos"/>
                <a:ea typeface="Aptos"/>
              </a:rPr>
              <a:t>MONITOR CONTINUES</a:t>
            </a:r>
            <a:endParaRPr lang="en-US" sz="1755">
              <a:solidFill>
                <a:srgbClr val="FFFFFF"/>
              </a:solidFill>
              <a:latin typeface="Arial"/>
            </a:endParaRPr>
          </a:p>
        </p:txBody>
      </p:sp>
      <p:sp>
        <p:nvSpPr>
          <p:cNvPr id="497" name="Text 55"/>
          <p:cNvSpPr/>
          <p:nvPr/>
        </p:nvSpPr>
        <p:spPr>
          <a:xfrm>
            <a:off x="6117120" y="7900200"/>
            <a:ext cx="880524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45">
                <a:solidFill>
                  <a:srgbClr val="D5E4F1"/>
                </a:solidFill>
                <a:latin typeface="Aptos"/>
                <a:ea typeface="Aptos"/>
              </a:rPr>
              <a:t>No validated need for update → retain model  |  Updated model → re-evaluate performance and forgetting</a:t>
            </a:r>
            <a:endParaRPr lang="en-US" sz="1845">
              <a:solidFill>
                <a:srgbClr val="FFFFFF"/>
              </a:solidFill>
              <a:latin typeface="Arial"/>
            </a:endParaRPr>
          </a:p>
        </p:txBody>
      </p:sp>
      <p:sp>
        <p:nvSpPr>
          <p:cNvPr id="498" name="Shape 56"/>
          <p:cNvSpPr/>
          <p:nvPr/>
        </p:nvSpPr>
        <p:spPr>
          <a:xfrm>
            <a:off x="14044860" y="6899040"/>
            <a:ext cx="540" cy="740340"/>
          </a:xfrm>
          <a:prstGeom prst="line">
            <a:avLst/>
          </a:prstGeom>
          <a:ln w="1778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99" name="Shape 57"/>
          <p:cNvSpPr/>
          <p:nvPr/>
        </p:nvSpPr>
        <p:spPr>
          <a:xfrm>
            <a:off x="4183380" y="6899040"/>
            <a:ext cx="540" cy="740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00" name="Text 58"/>
          <p:cNvSpPr/>
          <p:nvPr/>
        </p:nvSpPr>
        <p:spPr>
          <a:xfrm>
            <a:off x="1083780" y="9230760"/>
            <a:ext cx="16115760" cy="28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dirty="0">
                <a:solidFill>
                  <a:srgbClr val="9BB3C9"/>
                </a:solidFill>
                <a:latin typeface="Aptos"/>
                <a:ea typeface="Aptos"/>
              </a:rPr>
              <a:t>Online exoskeleton feedback: demonstrated by Chowdhury et al. (2018).</a:t>
            </a:r>
            <a:endParaRPr lang="en-US" sz="1575" dirty="0">
              <a:solidFill>
                <a:srgbClr val="FFFFFF"/>
              </a:solidFill>
              <a:latin typeface="Arial"/>
            </a:endParaRPr>
          </a:p>
        </p:txBody>
      </p:sp>
    </p:spTree>
    <p:extLst>
      <p:ext uri="{BB962C8B-B14F-4D97-AF65-F5344CB8AC3E}">
        <p14:creationId xmlns:p14="http://schemas.microsoft.com/office/powerpoint/2010/main" val="8460868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BEYOND CSE</a:t>
            </a:r>
            <a:endParaRPr lang="en-US">
              <a:solidFill>
                <a:srgbClr val="FFFFFF"/>
              </a:solidFill>
              <a:latin typeface="Arial"/>
            </a:endParaRPr>
          </a:p>
        </p:txBody>
      </p:sp>
      <p:sp>
        <p:nvSpPr>
          <p:cNvPr id="50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Why drift detection alone is not the PhD end-point</a:t>
            </a:r>
            <a:endParaRPr lang="en-US" sz="4125">
              <a:solidFill>
                <a:srgbClr val="FFFFFF"/>
              </a:solidFill>
              <a:latin typeface="Arial"/>
            </a:endParaRPr>
          </a:p>
        </p:txBody>
      </p:sp>
      <p:sp>
        <p:nvSpPr>
          <p:cNvPr id="50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Separate monitoring evidence, adaptation policy, knowledge retention and deployment outcomes.</a:t>
            </a:r>
            <a:endParaRPr lang="en-US" sz="1980">
              <a:solidFill>
                <a:srgbClr val="FFFFFF"/>
              </a:solidFill>
              <a:latin typeface="Arial"/>
            </a:endParaRPr>
          </a:p>
        </p:txBody>
      </p:sp>
      <p:sp>
        <p:nvSpPr>
          <p:cNvPr id="50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0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07</a:t>
            </a:r>
            <a:endParaRPr lang="en-US" sz="1350">
              <a:solidFill>
                <a:srgbClr val="FFFFFF"/>
              </a:solidFill>
              <a:latin typeface="Arial"/>
            </a:endParaRPr>
          </a:p>
        </p:txBody>
      </p:sp>
      <p:sp>
        <p:nvSpPr>
          <p:cNvPr id="508" name="Shape 7"/>
          <p:cNvSpPr/>
          <p:nvPr/>
        </p:nvSpPr>
        <p:spPr>
          <a:xfrm>
            <a:off x="104220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09" name="Shape 8"/>
          <p:cNvSpPr/>
          <p:nvPr/>
        </p:nvSpPr>
        <p:spPr>
          <a:xfrm>
            <a:off x="1261980" y="381294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0" name="Text 9"/>
          <p:cNvSpPr/>
          <p:nvPr/>
        </p:nvSpPr>
        <p:spPr>
          <a:xfrm>
            <a:off x="17010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39D2C3"/>
                </a:solidFill>
                <a:latin typeface="Aptos"/>
                <a:ea typeface="Aptos"/>
              </a:rPr>
              <a:t>MONITOR</a:t>
            </a:r>
            <a:endParaRPr lang="en-US" sz="2055">
              <a:solidFill>
                <a:srgbClr val="FFFFFF"/>
              </a:solidFill>
              <a:latin typeface="Arial"/>
            </a:endParaRPr>
          </a:p>
        </p:txBody>
      </p:sp>
      <p:sp>
        <p:nvSpPr>
          <p:cNvPr id="511" name="Text 10">
            <a:hlinkClick r:id="rId3"/>
          </p:cNvPr>
          <p:cNvSpPr/>
          <p:nvPr/>
        </p:nvSpPr>
        <p:spPr>
          <a:xfrm>
            <a:off x="137160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3"/>
              </a:rPr>
              <a:t>Diethe et al. (2019)</a:t>
            </a:r>
            <a:endParaRPr lang="en-US" sz="2280">
              <a:solidFill>
                <a:srgbClr val="FFFFFF"/>
              </a:solidFill>
              <a:latin typeface="Arial"/>
            </a:endParaRPr>
          </a:p>
        </p:txBody>
      </p:sp>
      <p:sp>
        <p:nvSpPr>
          <p:cNvPr id="512" name="Shape 11"/>
          <p:cNvSpPr/>
          <p:nvPr/>
        </p:nvSpPr>
        <p:spPr>
          <a:xfrm>
            <a:off x="1371600" y="5115960"/>
            <a:ext cx="331884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13" name="Text 12"/>
          <p:cNvSpPr/>
          <p:nvPr/>
        </p:nvSpPr>
        <p:spPr>
          <a:xfrm>
            <a:off x="138510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Data + prediction monitoring; model-policy engine; validate and roll back.</a:t>
            </a:r>
            <a:endParaRPr lang="en-US" sz="1950">
              <a:solidFill>
                <a:srgbClr val="FFFFFF"/>
              </a:solidFill>
              <a:latin typeface="Arial"/>
            </a:endParaRPr>
          </a:p>
        </p:txBody>
      </p:sp>
      <p:sp>
        <p:nvSpPr>
          <p:cNvPr id="514" name="Text 13"/>
          <p:cNvSpPr/>
          <p:nvPr/>
        </p:nvSpPr>
        <p:spPr>
          <a:xfrm>
            <a:off x="138510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Repo: six-policy laboratory</a:t>
            </a:r>
            <a:endParaRPr lang="en-US" sz="1560">
              <a:solidFill>
                <a:srgbClr val="FFFFFF"/>
              </a:solidFill>
              <a:latin typeface="Arial"/>
            </a:endParaRPr>
          </a:p>
        </p:txBody>
      </p:sp>
      <p:sp>
        <p:nvSpPr>
          <p:cNvPr id="515" name="Shape 14"/>
          <p:cNvSpPr/>
          <p:nvPr/>
        </p:nvSpPr>
        <p:spPr>
          <a:xfrm>
            <a:off x="534924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16" name="Shape 15"/>
          <p:cNvSpPr/>
          <p:nvPr/>
        </p:nvSpPr>
        <p:spPr>
          <a:xfrm>
            <a:off x="5568480" y="381294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7" name="Text 16"/>
          <p:cNvSpPr/>
          <p:nvPr/>
        </p:nvSpPr>
        <p:spPr>
          <a:xfrm>
            <a:off x="60075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BC8BFF"/>
                </a:solidFill>
                <a:latin typeface="Aptos"/>
                <a:ea typeface="Aptos"/>
              </a:rPr>
              <a:t>RETAIN</a:t>
            </a:r>
            <a:endParaRPr lang="en-US" sz="2055">
              <a:solidFill>
                <a:srgbClr val="FFFFFF"/>
              </a:solidFill>
              <a:latin typeface="Arial"/>
            </a:endParaRPr>
          </a:p>
        </p:txBody>
      </p:sp>
      <p:sp>
        <p:nvSpPr>
          <p:cNvPr id="518" name="Text 17">
            <a:hlinkClick r:id="rId4"/>
          </p:cNvPr>
          <p:cNvSpPr/>
          <p:nvPr/>
        </p:nvSpPr>
        <p:spPr>
          <a:xfrm>
            <a:off x="56786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4"/>
              </a:rPr>
              <a:t>Wang et al. (2022)</a:t>
            </a:r>
            <a:endParaRPr lang="en-US" sz="2280">
              <a:solidFill>
                <a:srgbClr val="FFFFFF"/>
              </a:solidFill>
              <a:latin typeface="Arial"/>
            </a:endParaRPr>
          </a:p>
        </p:txBody>
      </p:sp>
      <p:sp>
        <p:nvSpPr>
          <p:cNvPr id="519" name="Shape 18"/>
          <p:cNvSpPr/>
          <p:nvPr/>
        </p:nvSpPr>
        <p:spPr>
          <a:xfrm>
            <a:off x="567810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0" name="Text 19"/>
          <p:cNvSpPr/>
          <p:nvPr/>
        </p:nvSpPr>
        <p:spPr>
          <a:xfrm>
            <a:off x="569214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L2P / DualPrompt use lightweight prompts to address rehearsal-free CL.</a:t>
            </a:r>
            <a:endParaRPr lang="en-US" sz="1950">
              <a:solidFill>
                <a:srgbClr val="FFFFFF"/>
              </a:solidFill>
              <a:latin typeface="Arial"/>
            </a:endParaRPr>
          </a:p>
        </p:txBody>
      </p:sp>
      <p:sp>
        <p:nvSpPr>
          <p:cNvPr id="521" name="Text 20"/>
          <p:cNvSpPr/>
          <p:nvPr/>
        </p:nvSpPr>
        <p:spPr>
          <a:xfrm>
            <a:off x="569214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Conceptual comparator; not EEG result</a:t>
            </a:r>
            <a:endParaRPr lang="en-US" sz="1560">
              <a:solidFill>
                <a:srgbClr val="FFFFFF"/>
              </a:solidFill>
              <a:latin typeface="Arial"/>
            </a:endParaRPr>
          </a:p>
        </p:txBody>
      </p:sp>
      <p:sp>
        <p:nvSpPr>
          <p:cNvPr id="522" name="Shape 21"/>
          <p:cNvSpPr/>
          <p:nvPr/>
        </p:nvSpPr>
        <p:spPr>
          <a:xfrm>
            <a:off x="96562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23" name="Shape 22"/>
          <p:cNvSpPr/>
          <p:nvPr/>
        </p:nvSpPr>
        <p:spPr>
          <a:xfrm>
            <a:off x="9875520" y="381294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24" name="Text 23"/>
          <p:cNvSpPr/>
          <p:nvPr/>
        </p:nvSpPr>
        <p:spPr>
          <a:xfrm>
            <a:off x="103145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F9BE4A"/>
                </a:solidFill>
                <a:latin typeface="Aptos"/>
                <a:ea typeface="Aptos"/>
              </a:rPr>
              <a:t>EVALUATE</a:t>
            </a:r>
            <a:endParaRPr lang="en-US" sz="2055">
              <a:solidFill>
                <a:srgbClr val="FFFFFF"/>
              </a:solidFill>
              <a:latin typeface="Arial"/>
            </a:endParaRPr>
          </a:p>
        </p:txBody>
      </p:sp>
      <p:sp>
        <p:nvSpPr>
          <p:cNvPr id="525" name="Text 24">
            <a:hlinkClick r:id="rId5"/>
          </p:cNvPr>
          <p:cNvSpPr/>
          <p:nvPr/>
        </p:nvSpPr>
        <p:spPr>
          <a:xfrm>
            <a:off x="99851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5"/>
              </a:rPr>
              <a:t>Hurtado et al. (2023)</a:t>
            </a:r>
            <a:endParaRPr lang="en-US" sz="2280">
              <a:solidFill>
                <a:srgbClr val="FFFFFF"/>
              </a:solidFill>
              <a:latin typeface="Arial"/>
            </a:endParaRPr>
          </a:p>
        </p:txBody>
      </p:sp>
      <p:sp>
        <p:nvSpPr>
          <p:cNvPr id="526" name="Shape 25"/>
          <p:cNvSpPr/>
          <p:nvPr/>
        </p:nvSpPr>
        <p:spPr>
          <a:xfrm>
            <a:off x="99851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7" name="Text 26"/>
          <p:cNvSpPr/>
          <p:nvPr/>
        </p:nvSpPr>
        <p:spPr>
          <a:xfrm>
            <a:off x="99991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Realistic PdM CL benchmarks and the cost of static-distribution assumptions.</a:t>
            </a:r>
            <a:endParaRPr lang="en-US" sz="1950">
              <a:solidFill>
                <a:srgbClr val="FFFFFF"/>
              </a:solidFill>
              <a:latin typeface="Arial"/>
            </a:endParaRPr>
          </a:p>
        </p:txBody>
      </p:sp>
      <p:sp>
        <p:nvSpPr>
          <p:cNvPr id="528" name="Text 27"/>
          <p:cNvSpPr/>
          <p:nvPr/>
        </p:nvSpPr>
        <p:spPr>
          <a:xfrm>
            <a:off x="99991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Cross-domain research motivation</a:t>
            </a:r>
            <a:endParaRPr lang="en-US" sz="1560">
              <a:solidFill>
                <a:srgbClr val="FFFFFF"/>
              </a:solidFill>
              <a:latin typeface="Arial"/>
            </a:endParaRPr>
          </a:p>
        </p:txBody>
      </p:sp>
      <p:sp>
        <p:nvSpPr>
          <p:cNvPr id="529" name="Shape 28"/>
          <p:cNvSpPr/>
          <p:nvPr/>
        </p:nvSpPr>
        <p:spPr>
          <a:xfrm>
            <a:off x="139627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0" name="Shape 29"/>
          <p:cNvSpPr/>
          <p:nvPr/>
        </p:nvSpPr>
        <p:spPr>
          <a:xfrm>
            <a:off x="14182560" y="381294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31" name="Text 30"/>
          <p:cNvSpPr/>
          <p:nvPr/>
        </p:nvSpPr>
        <p:spPr>
          <a:xfrm>
            <a:off x="146210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75D69A"/>
                </a:solidFill>
                <a:latin typeface="Aptos"/>
                <a:ea typeface="Aptos"/>
              </a:rPr>
              <a:t>DEPLOY</a:t>
            </a:r>
            <a:endParaRPr lang="en-US" sz="2055">
              <a:solidFill>
                <a:srgbClr val="FFFFFF"/>
              </a:solidFill>
              <a:latin typeface="Arial"/>
            </a:endParaRPr>
          </a:p>
        </p:txBody>
      </p:sp>
      <p:sp>
        <p:nvSpPr>
          <p:cNvPr id="532" name="Text 31">
            <a:hlinkClick r:id="rId6"/>
          </p:cNvPr>
          <p:cNvSpPr/>
          <p:nvPr/>
        </p:nvSpPr>
        <p:spPr>
          <a:xfrm>
            <a:off x="1429218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6"/>
              </a:rPr>
              <a:t>Gupta et al. (2024)</a:t>
            </a:r>
            <a:endParaRPr lang="en-US" sz="2280">
              <a:solidFill>
                <a:srgbClr val="FFFFFF"/>
              </a:solidFill>
              <a:latin typeface="Arial"/>
            </a:endParaRPr>
          </a:p>
        </p:txBody>
      </p:sp>
      <p:sp>
        <p:nvSpPr>
          <p:cNvPr id="533" name="Shape 32"/>
          <p:cNvSpPr/>
          <p:nvPr/>
        </p:nvSpPr>
        <p:spPr>
          <a:xfrm>
            <a:off x="142916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34" name="Text 33"/>
          <p:cNvSpPr/>
          <p:nvPr/>
        </p:nvSpPr>
        <p:spPr>
          <a:xfrm>
            <a:off x="143056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TWIN-ADAPT: continual anomaly-classifier updates in smart-lab digital twins.</a:t>
            </a:r>
            <a:endParaRPr lang="en-US" sz="1950">
              <a:solidFill>
                <a:srgbClr val="FFFFFF"/>
              </a:solidFill>
              <a:latin typeface="Arial"/>
            </a:endParaRPr>
          </a:p>
        </p:txBody>
      </p:sp>
      <p:sp>
        <p:nvSpPr>
          <p:cNvPr id="535" name="Text 34"/>
          <p:cNvSpPr/>
          <p:nvPr/>
        </p:nvSpPr>
        <p:spPr>
          <a:xfrm>
            <a:off x="143056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Industrial application direction</a:t>
            </a:r>
            <a:endParaRPr lang="en-US" sz="1560">
              <a:solidFill>
                <a:srgbClr val="FFFFFF"/>
              </a:solidFill>
              <a:latin typeface="Arial"/>
            </a:endParaRPr>
          </a:p>
        </p:txBody>
      </p:sp>
      <p:sp>
        <p:nvSpPr>
          <p:cNvPr id="536" name="Shape 35"/>
          <p:cNvSpPr/>
          <p:nvPr/>
        </p:nvSpPr>
        <p:spPr>
          <a:xfrm>
            <a:off x="1124820" y="8572500"/>
            <a:ext cx="16074720" cy="644220"/>
          </a:xfrm>
          <a:prstGeom prst="roundRect">
            <a:avLst>
              <a:gd name="adj" fmla="val 27660"/>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7" name="Text 36"/>
          <p:cNvSpPr/>
          <p:nvPr/>
        </p:nvSpPr>
        <p:spPr>
          <a:xfrm>
            <a:off x="1385100" y="8737200"/>
            <a:ext cx="1540242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b="1">
                <a:solidFill>
                  <a:srgbClr val="D5E4F1"/>
                </a:solidFill>
                <a:latin typeface="Aptos"/>
                <a:ea typeface="Aptos"/>
              </a:rPr>
              <a:t>PROPOSED NOVELTY TEST: Does an evidence- and cost-aware gate beat established update baselines at matched alarm budgets?</a:t>
            </a:r>
            <a:endParaRPr lang="en-US" sz="1695">
              <a:solidFill>
                <a:srgbClr val="FFFFFF"/>
              </a:solidFill>
              <a:latin typeface="Arial"/>
            </a:endParaRPr>
          </a:p>
        </p:txBody>
      </p:sp>
    </p:spTree>
    <p:extLst>
      <p:ext uri="{BB962C8B-B14F-4D97-AF65-F5344CB8AC3E}">
        <p14:creationId xmlns:p14="http://schemas.microsoft.com/office/powerpoint/2010/main" val="1715068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EVIDENCE LEDGER</a:t>
            </a:r>
            <a:endParaRPr lang="en-US">
              <a:solidFill>
                <a:srgbClr val="FFFFFF"/>
              </a:solidFill>
              <a:latin typeface="Arial"/>
            </a:endParaRPr>
          </a:p>
        </p:txBody>
      </p:sp>
      <p:sp>
        <p:nvSpPr>
          <p:cNvPr id="539"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A visible boundary between work done and work proposed</a:t>
            </a:r>
            <a:endParaRPr lang="en-US" sz="4125">
              <a:solidFill>
                <a:srgbClr val="FFFFFF"/>
              </a:solidFill>
              <a:latin typeface="Arial"/>
            </a:endParaRPr>
          </a:p>
        </p:txBody>
      </p:sp>
      <p:sp>
        <p:nvSpPr>
          <p:cNvPr id="540"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Evidence status from the 19 October Notion audit and latest connected GitHub commit history.</a:t>
            </a:r>
            <a:endParaRPr lang="en-US" sz="1980">
              <a:solidFill>
                <a:srgbClr val="FFFFFF"/>
              </a:solidFill>
              <a:latin typeface="Arial"/>
            </a:endParaRPr>
          </a:p>
        </p:txBody>
      </p:sp>
      <p:sp>
        <p:nvSpPr>
          <p:cNvPr id="541"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2"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3"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44"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08</a:t>
            </a:r>
            <a:endParaRPr lang="en-US" sz="1350">
              <a:solidFill>
                <a:srgbClr val="FFFFFF"/>
              </a:solidFill>
              <a:latin typeface="Arial"/>
            </a:endParaRPr>
          </a:p>
        </p:txBody>
      </p:sp>
      <p:sp>
        <p:nvSpPr>
          <p:cNvPr id="545" name="Shape 7"/>
          <p:cNvSpPr/>
          <p:nvPr/>
        </p:nvSpPr>
        <p:spPr>
          <a:xfrm>
            <a:off x="102870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46" name="Shape 8"/>
          <p:cNvSpPr/>
          <p:nvPr/>
        </p:nvSpPr>
        <p:spPr>
          <a:xfrm>
            <a:off x="1303020" y="3895020"/>
            <a:ext cx="4869180" cy="540"/>
          </a:xfrm>
          <a:prstGeom prst="line">
            <a:avLst/>
          </a:prstGeom>
          <a:ln w="25400">
            <a:solidFill>
              <a:srgbClr val="75D69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7" name="Text 9"/>
          <p:cNvSpPr/>
          <p:nvPr/>
        </p:nvSpPr>
        <p:spPr>
          <a:xfrm>
            <a:off x="131652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75D69A"/>
                </a:solidFill>
                <a:latin typeface="Aptos"/>
                <a:ea typeface="Aptos"/>
              </a:rPr>
              <a:t>IMPLEMENTED / AUDITABLE</a:t>
            </a:r>
            <a:endParaRPr lang="en-US" sz="1950">
              <a:solidFill>
                <a:srgbClr val="FFFFFF"/>
              </a:solidFill>
              <a:latin typeface="Arial"/>
            </a:endParaRPr>
          </a:p>
        </p:txBody>
      </p:sp>
      <p:sp>
        <p:nvSpPr>
          <p:cNvPr id="548" name="Shape 10"/>
          <p:cNvSpPr/>
          <p:nvPr/>
        </p:nvSpPr>
        <p:spPr>
          <a:xfrm>
            <a:off x="1442880" y="42957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49" name="Text 11"/>
          <p:cNvSpPr/>
          <p:nvPr/>
        </p:nvSpPr>
        <p:spPr>
          <a:xfrm>
            <a:off x="172800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EEG representation</a:t>
            </a:r>
            <a:endParaRPr lang="en-US" sz="1710">
              <a:solidFill>
                <a:srgbClr val="FFFFFF"/>
              </a:solidFill>
              <a:latin typeface="Arial"/>
            </a:endParaRPr>
          </a:p>
        </p:txBody>
      </p:sp>
      <p:sp>
        <p:nvSpPr>
          <p:cNvPr id="550" name="Text 12"/>
          <p:cNvSpPr/>
          <p:nvPr/>
        </p:nvSpPr>
        <p:spPr>
          <a:xfrm>
            <a:off x="172800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Trial-aligned 2A/2B, FBCSP / PCA</a:t>
            </a:r>
            <a:endParaRPr lang="en-US" sz="1575">
              <a:solidFill>
                <a:srgbClr val="FFFFFF"/>
              </a:solidFill>
              <a:latin typeface="Arial"/>
            </a:endParaRPr>
          </a:p>
        </p:txBody>
      </p:sp>
      <p:sp>
        <p:nvSpPr>
          <p:cNvPr id="551" name="Shape 13"/>
          <p:cNvSpPr/>
          <p:nvPr/>
        </p:nvSpPr>
        <p:spPr>
          <a:xfrm>
            <a:off x="1442880" y="54756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2" name="Text 14"/>
          <p:cNvSpPr/>
          <p:nvPr/>
        </p:nvSpPr>
        <p:spPr>
          <a:xfrm>
            <a:off x="172800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CSE baseline</a:t>
            </a:r>
            <a:endParaRPr lang="en-US" sz="1710">
              <a:solidFill>
                <a:srgbClr val="FFFFFF"/>
              </a:solidFill>
              <a:latin typeface="Arial"/>
            </a:endParaRPr>
          </a:p>
        </p:txBody>
      </p:sp>
      <p:sp>
        <p:nvSpPr>
          <p:cNvPr id="553" name="Text 15"/>
          <p:cNvSpPr/>
          <p:nvPr/>
        </p:nvSpPr>
        <p:spPr>
          <a:xfrm>
            <a:off x="172800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EWMA warnings + Hotelling variants</a:t>
            </a:r>
            <a:endParaRPr lang="en-US" sz="1575">
              <a:solidFill>
                <a:srgbClr val="FFFFFF"/>
              </a:solidFill>
              <a:latin typeface="Arial"/>
            </a:endParaRPr>
          </a:p>
        </p:txBody>
      </p:sp>
      <p:sp>
        <p:nvSpPr>
          <p:cNvPr id="554" name="Shape 16"/>
          <p:cNvSpPr/>
          <p:nvPr/>
        </p:nvSpPr>
        <p:spPr>
          <a:xfrm>
            <a:off x="1442880" y="665496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5" name="Text 17"/>
          <p:cNvSpPr/>
          <p:nvPr/>
        </p:nvSpPr>
        <p:spPr>
          <a:xfrm>
            <a:off x="172800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Monitoring extensions</a:t>
            </a:r>
            <a:endParaRPr lang="en-US" sz="1710">
              <a:solidFill>
                <a:srgbClr val="FFFFFF"/>
              </a:solidFill>
              <a:latin typeface="Arial"/>
            </a:endParaRPr>
          </a:p>
        </p:txBody>
      </p:sp>
      <p:sp>
        <p:nvSpPr>
          <p:cNvPr id="556" name="Text 18"/>
          <p:cNvSpPr/>
          <p:nvPr/>
        </p:nvSpPr>
        <p:spPr>
          <a:xfrm>
            <a:off x="172800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PCA score/residual; Park mean CUSUM</a:t>
            </a:r>
            <a:endParaRPr lang="en-US" sz="1575">
              <a:solidFill>
                <a:srgbClr val="FFFFFF"/>
              </a:solidFill>
              <a:latin typeface="Arial"/>
            </a:endParaRPr>
          </a:p>
        </p:txBody>
      </p:sp>
      <p:sp>
        <p:nvSpPr>
          <p:cNvPr id="557" name="Shape 19"/>
          <p:cNvSpPr/>
          <p:nvPr/>
        </p:nvSpPr>
        <p:spPr>
          <a:xfrm>
            <a:off x="1442880" y="783432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8" name="Text 20"/>
          <p:cNvSpPr/>
          <p:nvPr/>
        </p:nvSpPr>
        <p:spPr>
          <a:xfrm>
            <a:off x="172800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Research infrastructure</a:t>
            </a:r>
            <a:endParaRPr lang="en-US" sz="1710">
              <a:solidFill>
                <a:srgbClr val="FFFFFF"/>
              </a:solidFill>
              <a:latin typeface="Arial"/>
            </a:endParaRPr>
          </a:p>
        </p:txBody>
      </p:sp>
      <p:sp>
        <p:nvSpPr>
          <p:cNvPr id="559" name="Text 21"/>
          <p:cNvSpPr/>
          <p:nvPr/>
        </p:nvSpPr>
        <p:spPr>
          <a:xfrm>
            <a:off x="172800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CLI, tests, saved outputs, pages</a:t>
            </a:r>
            <a:endParaRPr lang="en-US" sz="1575">
              <a:solidFill>
                <a:srgbClr val="FFFFFF"/>
              </a:solidFill>
              <a:latin typeface="Arial"/>
            </a:endParaRPr>
          </a:p>
        </p:txBody>
      </p:sp>
      <p:sp>
        <p:nvSpPr>
          <p:cNvPr id="560" name="Shape 22"/>
          <p:cNvSpPr/>
          <p:nvPr/>
        </p:nvSpPr>
        <p:spPr>
          <a:xfrm>
            <a:off x="678942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61" name="Shape 23"/>
          <p:cNvSpPr/>
          <p:nvPr/>
        </p:nvSpPr>
        <p:spPr>
          <a:xfrm>
            <a:off x="7063740" y="3895020"/>
            <a:ext cx="4869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62" name="Text 24"/>
          <p:cNvSpPr/>
          <p:nvPr/>
        </p:nvSpPr>
        <p:spPr>
          <a:xfrm>
            <a:off x="707724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9BE4A"/>
                </a:solidFill>
                <a:latin typeface="Aptos"/>
                <a:ea typeface="Aptos"/>
              </a:rPr>
              <a:t>EXPLORATORY EVIDENCE</a:t>
            </a:r>
            <a:endParaRPr lang="en-US" sz="1950">
              <a:solidFill>
                <a:srgbClr val="FFFFFF"/>
              </a:solidFill>
              <a:latin typeface="Arial"/>
            </a:endParaRPr>
          </a:p>
        </p:txBody>
      </p:sp>
      <p:sp>
        <p:nvSpPr>
          <p:cNvPr id="563" name="Shape 25"/>
          <p:cNvSpPr/>
          <p:nvPr/>
        </p:nvSpPr>
        <p:spPr>
          <a:xfrm>
            <a:off x="7203600" y="42957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4" name="Text 26"/>
          <p:cNvSpPr/>
          <p:nvPr/>
        </p:nvSpPr>
        <p:spPr>
          <a:xfrm>
            <a:off x="748872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CPSS paired pilot</a:t>
            </a:r>
            <a:endParaRPr lang="en-US" sz="1710">
              <a:solidFill>
                <a:srgbClr val="FFFFFF"/>
              </a:solidFill>
              <a:latin typeface="Arial"/>
            </a:endParaRPr>
          </a:p>
        </p:txBody>
      </p:sp>
      <p:sp>
        <p:nvSpPr>
          <p:cNvPr id="565" name="Text 27"/>
          <p:cNvSpPr/>
          <p:nvPr/>
        </p:nvSpPr>
        <p:spPr>
          <a:xfrm>
            <a:off x="748872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24 seeds per stationary/shift case</a:t>
            </a:r>
            <a:endParaRPr lang="en-US" sz="1575">
              <a:solidFill>
                <a:srgbClr val="FFFFFF"/>
              </a:solidFill>
              <a:latin typeface="Arial"/>
            </a:endParaRPr>
          </a:p>
        </p:txBody>
      </p:sp>
      <p:sp>
        <p:nvSpPr>
          <p:cNvPr id="566" name="Shape 28"/>
          <p:cNvSpPr/>
          <p:nvPr/>
        </p:nvSpPr>
        <p:spPr>
          <a:xfrm>
            <a:off x="7203600" y="54756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7" name="Text 29"/>
          <p:cNvSpPr/>
          <p:nvPr/>
        </p:nvSpPr>
        <p:spPr>
          <a:xfrm>
            <a:off x="748872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Weak mean shift</a:t>
            </a:r>
            <a:endParaRPr lang="en-US" sz="1710">
              <a:solidFill>
                <a:srgbClr val="FFFFFF"/>
              </a:solidFill>
              <a:latin typeface="Arial"/>
            </a:endParaRPr>
          </a:p>
        </p:txBody>
      </p:sp>
      <p:sp>
        <p:nvSpPr>
          <p:cNvPr id="568" name="Text 30"/>
          <p:cNvSpPr/>
          <p:nvPr/>
        </p:nvSpPr>
        <p:spPr>
          <a:xfrm>
            <a:off x="748872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6/24 Park vs 11/24 CPSS alarms</a:t>
            </a:r>
            <a:endParaRPr lang="en-US" sz="1575">
              <a:solidFill>
                <a:srgbClr val="FFFFFF"/>
              </a:solidFill>
              <a:latin typeface="Arial"/>
            </a:endParaRPr>
          </a:p>
        </p:txBody>
      </p:sp>
      <p:sp>
        <p:nvSpPr>
          <p:cNvPr id="569" name="Shape 31"/>
          <p:cNvSpPr/>
          <p:nvPr/>
        </p:nvSpPr>
        <p:spPr>
          <a:xfrm>
            <a:off x="7203600" y="665496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0" name="Text 32"/>
          <p:cNvSpPr/>
          <p:nvPr/>
        </p:nvSpPr>
        <p:spPr>
          <a:xfrm>
            <a:off x="748872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False alarms</a:t>
            </a:r>
            <a:endParaRPr lang="en-US" sz="1710">
              <a:solidFill>
                <a:srgbClr val="FFFFFF"/>
              </a:solidFill>
              <a:latin typeface="Arial"/>
            </a:endParaRPr>
          </a:p>
        </p:txBody>
      </p:sp>
      <p:sp>
        <p:nvSpPr>
          <p:cNvPr id="571" name="Text 33"/>
          <p:cNvSpPr/>
          <p:nvPr/>
        </p:nvSpPr>
        <p:spPr>
          <a:xfrm>
            <a:off x="748872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0/24 Park vs 1/24 CPSS stationary</a:t>
            </a:r>
            <a:endParaRPr lang="en-US" sz="1575">
              <a:solidFill>
                <a:srgbClr val="FFFFFF"/>
              </a:solidFill>
              <a:latin typeface="Arial"/>
            </a:endParaRPr>
          </a:p>
        </p:txBody>
      </p:sp>
      <p:sp>
        <p:nvSpPr>
          <p:cNvPr id="572" name="Shape 34"/>
          <p:cNvSpPr/>
          <p:nvPr/>
        </p:nvSpPr>
        <p:spPr>
          <a:xfrm>
            <a:off x="7203600" y="783432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3" name="Text 35"/>
          <p:cNvSpPr/>
          <p:nvPr/>
        </p:nvSpPr>
        <p:spPr>
          <a:xfrm>
            <a:off x="748872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Not inferential</a:t>
            </a:r>
            <a:endParaRPr lang="en-US" sz="1710">
              <a:solidFill>
                <a:srgbClr val="FFFFFF"/>
              </a:solidFill>
              <a:latin typeface="Arial"/>
            </a:endParaRPr>
          </a:p>
        </p:txBody>
      </p:sp>
      <p:sp>
        <p:nvSpPr>
          <p:cNvPr id="574" name="Text 36"/>
          <p:cNvSpPr/>
          <p:nvPr/>
        </p:nvSpPr>
        <p:spPr>
          <a:xfrm>
            <a:off x="748872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Null calibration threshold = 0</a:t>
            </a:r>
            <a:endParaRPr lang="en-US" sz="1575">
              <a:solidFill>
                <a:srgbClr val="FFFFFF"/>
              </a:solidFill>
              <a:latin typeface="Arial"/>
            </a:endParaRPr>
          </a:p>
        </p:txBody>
      </p:sp>
      <p:sp>
        <p:nvSpPr>
          <p:cNvPr id="575" name="Shape 37"/>
          <p:cNvSpPr/>
          <p:nvPr/>
        </p:nvSpPr>
        <p:spPr>
          <a:xfrm>
            <a:off x="1255014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76" name="Shape 38"/>
          <p:cNvSpPr/>
          <p:nvPr/>
        </p:nvSpPr>
        <p:spPr>
          <a:xfrm>
            <a:off x="12824460" y="3895020"/>
            <a:ext cx="4869180" cy="540"/>
          </a:xfrm>
          <a:prstGeom prst="line">
            <a:avLst/>
          </a:prstGeom>
          <a:ln w="25400">
            <a:solidFill>
              <a:srgbClr val="FF858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77" name="Text 39"/>
          <p:cNvSpPr/>
          <p:nvPr/>
        </p:nvSpPr>
        <p:spPr>
          <a:xfrm>
            <a:off x="1283796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F858C"/>
                </a:solidFill>
                <a:latin typeface="Aptos"/>
                <a:ea typeface="Aptos"/>
              </a:rPr>
              <a:t>NOT YET ESTABLISHED</a:t>
            </a:r>
            <a:endParaRPr lang="en-US" sz="1950">
              <a:solidFill>
                <a:srgbClr val="FFFFFF"/>
              </a:solidFill>
              <a:latin typeface="Arial"/>
            </a:endParaRPr>
          </a:p>
        </p:txBody>
      </p:sp>
      <p:sp>
        <p:nvSpPr>
          <p:cNvPr id="578" name="Shape 40"/>
          <p:cNvSpPr/>
          <p:nvPr/>
        </p:nvSpPr>
        <p:spPr>
          <a:xfrm>
            <a:off x="12964320" y="42957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9" name="Text 41"/>
          <p:cNvSpPr/>
          <p:nvPr/>
        </p:nvSpPr>
        <p:spPr>
          <a:xfrm>
            <a:off x="1324944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Published Raza counts</a:t>
            </a:r>
            <a:endParaRPr lang="en-US" sz="1710">
              <a:solidFill>
                <a:srgbClr val="FFFFFF"/>
              </a:solidFill>
              <a:latin typeface="Arial"/>
            </a:endParaRPr>
          </a:p>
        </p:txBody>
      </p:sp>
      <p:sp>
        <p:nvSpPr>
          <p:cNvPr id="580" name="Text 42"/>
          <p:cNvSpPr/>
          <p:nvPr/>
        </p:nvSpPr>
        <p:spPr>
          <a:xfrm>
            <a:off x="1324944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2A/2B discrepancies unreconciled</a:t>
            </a:r>
            <a:endParaRPr lang="en-US" sz="1575">
              <a:solidFill>
                <a:srgbClr val="FFFFFF"/>
              </a:solidFill>
              <a:latin typeface="Arial"/>
            </a:endParaRPr>
          </a:p>
        </p:txBody>
      </p:sp>
      <p:sp>
        <p:nvSpPr>
          <p:cNvPr id="581" name="Shape 43"/>
          <p:cNvSpPr/>
          <p:nvPr/>
        </p:nvSpPr>
        <p:spPr>
          <a:xfrm>
            <a:off x="12964320" y="54756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2" name="Text 44"/>
          <p:cNvSpPr/>
          <p:nvPr/>
        </p:nvSpPr>
        <p:spPr>
          <a:xfrm>
            <a:off x="1324944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Park second order</a:t>
            </a:r>
            <a:endParaRPr lang="en-US" sz="1710">
              <a:solidFill>
                <a:srgbClr val="FFFFFF"/>
              </a:solidFill>
              <a:latin typeface="Arial"/>
            </a:endParaRPr>
          </a:p>
        </p:txBody>
      </p:sp>
      <p:sp>
        <p:nvSpPr>
          <p:cNvPr id="583" name="Text 45"/>
          <p:cNvSpPr/>
          <p:nvPr/>
        </p:nvSpPr>
        <p:spPr>
          <a:xfrm>
            <a:off x="1324944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Wavelet spectral / dynamic PCA future</a:t>
            </a:r>
            <a:endParaRPr lang="en-US" sz="1575">
              <a:solidFill>
                <a:srgbClr val="FFFFFF"/>
              </a:solidFill>
              <a:latin typeface="Arial"/>
            </a:endParaRPr>
          </a:p>
        </p:txBody>
      </p:sp>
      <p:sp>
        <p:nvSpPr>
          <p:cNvPr id="584" name="Shape 46"/>
          <p:cNvSpPr/>
          <p:nvPr/>
        </p:nvSpPr>
        <p:spPr>
          <a:xfrm>
            <a:off x="12964320" y="665496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5" name="Text 47"/>
          <p:cNvSpPr/>
          <p:nvPr/>
        </p:nvSpPr>
        <p:spPr>
          <a:xfrm>
            <a:off x="1324944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Full CSE–UAEL</a:t>
            </a:r>
            <a:endParaRPr lang="en-US" sz="1710">
              <a:solidFill>
                <a:srgbClr val="FFFFFF"/>
              </a:solidFill>
              <a:latin typeface="Arial"/>
            </a:endParaRPr>
          </a:p>
        </p:txBody>
      </p:sp>
      <p:sp>
        <p:nvSpPr>
          <p:cNvPr id="586" name="Text 48"/>
          <p:cNvSpPr/>
          <p:nvPr/>
        </p:nvSpPr>
        <p:spPr>
          <a:xfrm>
            <a:off x="1324944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Original adaptive ensemble not reproduced</a:t>
            </a:r>
            <a:endParaRPr lang="en-US" sz="1575">
              <a:solidFill>
                <a:srgbClr val="FFFFFF"/>
              </a:solidFill>
              <a:latin typeface="Arial"/>
            </a:endParaRPr>
          </a:p>
        </p:txBody>
      </p:sp>
      <p:sp>
        <p:nvSpPr>
          <p:cNvPr id="587" name="Shape 49"/>
          <p:cNvSpPr/>
          <p:nvPr/>
        </p:nvSpPr>
        <p:spPr>
          <a:xfrm>
            <a:off x="12964320" y="783432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8" name="Text 50"/>
          <p:cNvSpPr/>
          <p:nvPr/>
        </p:nvSpPr>
        <p:spPr>
          <a:xfrm>
            <a:off x="1324944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CL/industrial claims</a:t>
            </a:r>
            <a:endParaRPr lang="en-US" sz="1710">
              <a:solidFill>
                <a:srgbClr val="FFFFFF"/>
              </a:solidFill>
              <a:latin typeface="Arial"/>
            </a:endParaRPr>
          </a:p>
        </p:txBody>
      </p:sp>
      <p:sp>
        <p:nvSpPr>
          <p:cNvPr id="589" name="Text 51"/>
          <p:cNvSpPr/>
          <p:nvPr/>
        </p:nvSpPr>
        <p:spPr>
          <a:xfrm>
            <a:off x="1324944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No demonstrated forgetting/cost benefit</a:t>
            </a:r>
            <a:endParaRPr lang="en-US" sz="1575">
              <a:solidFill>
                <a:srgbClr val="FFFFFF"/>
              </a:solidFill>
              <a:latin typeface="Arial"/>
            </a:endParaRPr>
          </a:p>
        </p:txBody>
      </p:sp>
    </p:spTree>
    <p:extLst>
      <p:ext uri="{BB962C8B-B14F-4D97-AF65-F5344CB8AC3E}">
        <p14:creationId xmlns:p14="http://schemas.microsoft.com/office/powerpoint/2010/main" val="3905643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PILOT EVIDENCE</a:t>
            </a:r>
            <a:endParaRPr lang="en-US">
              <a:solidFill>
                <a:srgbClr val="FFFFFF"/>
              </a:solidFill>
              <a:latin typeface="Arial"/>
            </a:endParaRPr>
          </a:p>
        </p:txBody>
      </p:sp>
      <p:sp>
        <p:nvSpPr>
          <p:cNvPr id="59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Park binary rule versus proposed CPSS</a:t>
            </a:r>
            <a:endParaRPr lang="en-US" sz="4125">
              <a:solidFill>
                <a:srgbClr val="FFFFFF"/>
              </a:solidFill>
              <a:latin typeface="Arial"/>
            </a:endParaRPr>
          </a:p>
        </p:txBody>
      </p:sp>
      <p:sp>
        <p:nvSpPr>
          <p:cNvPr id="59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Archived exploratory synthetic AR(1) benchmark · 18 Oct 2026 · 24 held-out evaluation seeds per scenario.</a:t>
            </a:r>
            <a:endParaRPr lang="en-US" sz="1980">
              <a:solidFill>
                <a:srgbClr val="FFFFFF"/>
              </a:solidFill>
              <a:latin typeface="Arial"/>
            </a:endParaRPr>
          </a:p>
        </p:txBody>
      </p:sp>
      <p:sp>
        <p:nvSpPr>
          <p:cNvPr id="59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9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09</a:t>
            </a:r>
            <a:endParaRPr lang="en-US" sz="1350">
              <a:solidFill>
                <a:srgbClr val="FFFFFF"/>
              </a:solidFill>
              <a:latin typeface="Arial"/>
            </a:endParaRPr>
          </a:p>
        </p:txBody>
      </p:sp>
      <p:sp>
        <p:nvSpPr>
          <p:cNvPr id="598" name="Shape 7"/>
          <p:cNvSpPr/>
          <p:nvPr/>
        </p:nvSpPr>
        <p:spPr>
          <a:xfrm>
            <a:off x="10837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99" name="Text 8"/>
          <p:cNvSpPr/>
          <p:nvPr/>
        </p:nvSpPr>
        <p:spPr>
          <a:xfrm>
            <a:off x="14266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Standard mean shift 2.0</a:t>
            </a:r>
            <a:endParaRPr lang="en-US" sz="2625">
              <a:solidFill>
                <a:srgbClr val="FFFFFF"/>
              </a:solidFill>
              <a:latin typeface="Arial"/>
            </a:endParaRPr>
          </a:p>
        </p:txBody>
      </p:sp>
      <p:sp>
        <p:nvSpPr>
          <p:cNvPr id="600" name="Text 9"/>
          <p:cNvSpPr/>
          <p:nvPr/>
        </p:nvSpPr>
        <p:spPr>
          <a:xfrm>
            <a:off x="14401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01" name="Text 10"/>
          <p:cNvSpPr/>
          <p:nvPr/>
        </p:nvSpPr>
        <p:spPr>
          <a:xfrm>
            <a:off x="13991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02" name="Shape 11"/>
          <p:cNvSpPr/>
          <p:nvPr/>
        </p:nvSpPr>
        <p:spPr>
          <a:xfrm>
            <a:off x="29079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3" name="Shape 12"/>
          <p:cNvSpPr/>
          <p:nvPr/>
        </p:nvSpPr>
        <p:spPr>
          <a:xfrm>
            <a:off x="2907900" y="4828140"/>
            <a:ext cx="492372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4" name="Text 13"/>
          <p:cNvSpPr/>
          <p:nvPr/>
        </p:nvSpPr>
        <p:spPr>
          <a:xfrm>
            <a:off x="80373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24/24</a:t>
            </a:r>
            <a:endParaRPr lang="en-US" sz="1965">
              <a:solidFill>
                <a:srgbClr val="FFFFFF"/>
              </a:solidFill>
              <a:latin typeface="Arial"/>
            </a:endParaRPr>
          </a:p>
        </p:txBody>
      </p:sp>
      <p:sp>
        <p:nvSpPr>
          <p:cNvPr id="605" name="Text 14"/>
          <p:cNvSpPr/>
          <p:nvPr/>
        </p:nvSpPr>
        <p:spPr>
          <a:xfrm>
            <a:off x="13991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06" name="Shape 15"/>
          <p:cNvSpPr/>
          <p:nvPr/>
        </p:nvSpPr>
        <p:spPr>
          <a:xfrm>
            <a:off x="29079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7" name="Shape 16"/>
          <p:cNvSpPr/>
          <p:nvPr/>
        </p:nvSpPr>
        <p:spPr>
          <a:xfrm>
            <a:off x="2907900" y="6103620"/>
            <a:ext cx="49237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8" name="Text 17"/>
          <p:cNvSpPr/>
          <p:nvPr/>
        </p:nvSpPr>
        <p:spPr>
          <a:xfrm>
            <a:off x="80373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24/24</a:t>
            </a:r>
            <a:endParaRPr lang="en-US" sz="1965">
              <a:solidFill>
                <a:srgbClr val="FFFFFF"/>
              </a:solidFill>
              <a:latin typeface="Arial"/>
            </a:endParaRPr>
          </a:p>
        </p:txBody>
      </p:sp>
      <p:sp>
        <p:nvSpPr>
          <p:cNvPr id="609" name="Shape 18"/>
          <p:cNvSpPr/>
          <p:nvPr/>
        </p:nvSpPr>
        <p:spPr>
          <a:xfrm>
            <a:off x="96562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0" name="Text 19"/>
          <p:cNvSpPr/>
          <p:nvPr/>
        </p:nvSpPr>
        <p:spPr>
          <a:xfrm>
            <a:off x="99991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Weak mean shift 0.65</a:t>
            </a:r>
            <a:endParaRPr lang="en-US" sz="2625">
              <a:solidFill>
                <a:srgbClr val="FFFFFF"/>
              </a:solidFill>
              <a:latin typeface="Arial"/>
            </a:endParaRPr>
          </a:p>
        </p:txBody>
      </p:sp>
      <p:sp>
        <p:nvSpPr>
          <p:cNvPr id="611" name="Text 20"/>
          <p:cNvSpPr/>
          <p:nvPr/>
        </p:nvSpPr>
        <p:spPr>
          <a:xfrm>
            <a:off x="100126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12" name="Text 21"/>
          <p:cNvSpPr/>
          <p:nvPr/>
        </p:nvSpPr>
        <p:spPr>
          <a:xfrm>
            <a:off x="99716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13" name="Shape 22"/>
          <p:cNvSpPr/>
          <p:nvPr/>
        </p:nvSpPr>
        <p:spPr>
          <a:xfrm>
            <a:off x="114804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4" name="Shape 23"/>
          <p:cNvSpPr/>
          <p:nvPr/>
        </p:nvSpPr>
        <p:spPr>
          <a:xfrm>
            <a:off x="11480400" y="4828140"/>
            <a:ext cx="123066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5" name="Text 24"/>
          <p:cNvSpPr/>
          <p:nvPr/>
        </p:nvSpPr>
        <p:spPr>
          <a:xfrm>
            <a:off x="166098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6/24</a:t>
            </a:r>
            <a:endParaRPr lang="en-US" sz="1965">
              <a:solidFill>
                <a:srgbClr val="FFFFFF"/>
              </a:solidFill>
              <a:latin typeface="Arial"/>
            </a:endParaRPr>
          </a:p>
        </p:txBody>
      </p:sp>
      <p:sp>
        <p:nvSpPr>
          <p:cNvPr id="616" name="Text 25"/>
          <p:cNvSpPr/>
          <p:nvPr/>
        </p:nvSpPr>
        <p:spPr>
          <a:xfrm>
            <a:off x="99716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17" name="Shape 26"/>
          <p:cNvSpPr/>
          <p:nvPr/>
        </p:nvSpPr>
        <p:spPr>
          <a:xfrm>
            <a:off x="114804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8" name="Shape 27"/>
          <p:cNvSpPr/>
          <p:nvPr/>
        </p:nvSpPr>
        <p:spPr>
          <a:xfrm>
            <a:off x="11480400" y="6103620"/>
            <a:ext cx="22561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9" name="Text 28"/>
          <p:cNvSpPr/>
          <p:nvPr/>
        </p:nvSpPr>
        <p:spPr>
          <a:xfrm>
            <a:off x="166098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11/24</a:t>
            </a:r>
            <a:endParaRPr lang="en-US" sz="1965">
              <a:solidFill>
                <a:srgbClr val="FFFFFF"/>
              </a:solidFill>
              <a:latin typeface="Arial"/>
            </a:endParaRPr>
          </a:p>
        </p:txBody>
      </p:sp>
      <p:sp>
        <p:nvSpPr>
          <p:cNvPr id="620" name="Shape 29"/>
          <p:cNvSpPr/>
          <p:nvPr/>
        </p:nvSpPr>
        <p:spPr>
          <a:xfrm>
            <a:off x="1138320" y="8119980"/>
            <a:ext cx="16033680" cy="959580"/>
          </a:xfrm>
          <a:prstGeom prst="roundRect">
            <a:avLst>
              <a:gd name="adj" fmla="val 18571"/>
            </a:avLst>
          </a:prstGeom>
          <a:solidFill>
            <a:srgbClr val="10293C"/>
          </a:solidFill>
          <a:ln w="1397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21" name="Text 30"/>
          <p:cNvSpPr/>
          <p:nvPr/>
        </p:nvSpPr>
        <p:spPr>
          <a:xfrm>
            <a:off x="1399140" y="8298180"/>
            <a:ext cx="17004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b="1">
                <a:solidFill>
                  <a:srgbClr val="F9BE4A"/>
                </a:solidFill>
                <a:latin typeface="Aptos"/>
                <a:ea typeface="Aptos"/>
              </a:rPr>
              <a:t>KEY LIMITATION</a:t>
            </a:r>
            <a:endParaRPr lang="en-US" sz="1725">
              <a:solidFill>
                <a:srgbClr val="FFFFFF"/>
              </a:solidFill>
              <a:latin typeface="Arial"/>
            </a:endParaRPr>
          </a:p>
        </p:txBody>
      </p:sp>
      <p:sp>
        <p:nvSpPr>
          <p:cNvPr id="622" name="Text 31"/>
          <p:cNvSpPr/>
          <p:nvPr/>
        </p:nvSpPr>
        <p:spPr>
          <a:xfrm>
            <a:off x="3278340" y="8257140"/>
            <a:ext cx="13276440" cy="6031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40">
                <a:solidFill>
                  <a:srgbClr val="D5E4F1"/>
                </a:solidFill>
                <a:latin typeface="Aptos"/>
                <a:ea typeface="Aptos"/>
              </a:rPr>
              <a:t>CPSS stationary alarms 1/24 vs 0/24; 12/12 null calibration scores were zero. The weak-shift gain is not proof of improved discrimination at matched FPR.</a:t>
            </a:r>
            <a:endParaRPr lang="en-US" sz="1740">
              <a:solidFill>
                <a:srgbClr val="FFFFFF"/>
              </a:solidFill>
              <a:latin typeface="Arial"/>
            </a:endParaRPr>
          </a:p>
        </p:txBody>
      </p:sp>
      <p:sp>
        <p:nvSpPr>
          <p:cNvPr id="623" name="Text 32">
            <a:hlinkClick r:id="rId3"/>
          </p:cNvPr>
          <p:cNvSpPr/>
          <p:nvPr/>
        </p:nvSpPr>
        <p:spPr>
          <a:xfrm>
            <a:off x="1138320" y="9299340"/>
            <a:ext cx="161843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25" u="sng">
                <a:solidFill>
                  <a:srgbClr val="7192AA"/>
                </a:solidFill>
                <a:latin typeface="Aptos"/>
                <a:ea typeface="Aptos"/>
                <a:hlinkClick r:id="rId3"/>
              </a:rPr>
              <a:t>Source: docs/park_cpss_benchmark.md  ·  outputs/park_cpss/local_standard_01 &amp; local_weak_01</a:t>
            </a:r>
            <a:endParaRPr lang="en-US" sz="1425">
              <a:solidFill>
                <a:srgbClr val="FFFFFF"/>
              </a:solidFill>
              <a:latin typeface="Arial"/>
            </a:endParaRPr>
          </a:p>
        </p:txBody>
      </p:sp>
    </p:spTree>
    <p:extLst>
      <p:ext uri="{BB962C8B-B14F-4D97-AF65-F5344CB8AC3E}">
        <p14:creationId xmlns:p14="http://schemas.microsoft.com/office/powerpoint/2010/main" val="3489999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NEXT FALSIFIABLE WORK</a:t>
            </a:r>
            <a:endParaRPr lang="en-US">
              <a:solidFill>
                <a:srgbClr val="FFFFFF"/>
              </a:solidFill>
              <a:latin typeface="Arial"/>
            </a:endParaRPr>
          </a:p>
        </p:txBody>
      </p:sp>
      <p:sp>
        <p:nvSpPr>
          <p:cNvPr id="625"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research gaps point to testable experiments</a:t>
            </a:r>
            <a:endParaRPr lang="en-US" sz="4125">
              <a:solidFill>
                <a:srgbClr val="FFFFFF"/>
              </a:solidFill>
              <a:latin typeface="Arial"/>
            </a:endParaRPr>
          </a:p>
        </p:txBody>
      </p:sp>
      <p:sp>
        <p:nvSpPr>
          <p:cNvPr id="626"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The sequence respects chronological evidence, matched operating points and separate statistical targets.</a:t>
            </a:r>
            <a:endParaRPr lang="en-US" sz="1980">
              <a:solidFill>
                <a:srgbClr val="FFFFFF"/>
              </a:solidFill>
              <a:latin typeface="Arial"/>
            </a:endParaRPr>
          </a:p>
        </p:txBody>
      </p:sp>
      <p:sp>
        <p:nvSpPr>
          <p:cNvPr id="627"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8"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9"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30"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10</a:t>
            </a:r>
            <a:endParaRPr lang="en-US" sz="1350">
              <a:solidFill>
                <a:srgbClr val="FFFFFF"/>
              </a:solidFill>
              <a:latin typeface="Arial"/>
            </a:endParaRPr>
          </a:p>
        </p:txBody>
      </p:sp>
      <p:sp>
        <p:nvSpPr>
          <p:cNvPr id="631" name="Shape 7"/>
          <p:cNvSpPr/>
          <p:nvPr/>
        </p:nvSpPr>
        <p:spPr>
          <a:xfrm>
            <a:off x="111078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2" name="Shape 8"/>
          <p:cNvSpPr/>
          <p:nvPr/>
        </p:nvSpPr>
        <p:spPr>
          <a:xfrm>
            <a:off x="1385100" y="3373920"/>
            <a:ext cx="79488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3" name="Text 9"/>
          <p:cNvSpPr/>
          <p:nvPr/>
        </p:nvSpPr>
        <p:spPr>
          <a:xfrm>
            <a:off x="153630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65A7FF"/>
                </a:solidFill>
                <a:latin typeface="Aptos"/>
                <a:ea typeface="Aptos"/>
              </a:rPr>
              <a:t>01</a:t>
            </a:r>
            <a:endParaRPr lang="en-US" sz="1500">
              <a:solidFill>
                <a:srgbClr val="FFFFFF"/>
              </a:solidFill>
              <a:latin typeface="Arial"/>
            </a:endParaRPr>
          </a:p>
        </p:txBody>
      </p:sp>
      <p:sp>
        <p:nvSpPr>
          <p:cNvPr id="634" name="Text 10"/>
          <p:cNvSpPr/>
          <p:nvPr/>
        </p:nvSpPr>
        <p:spPr>
          <a:xfrm>
            <a:off x="242784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Reconcile Raza’s EEG reproduction</a:t>
            </a:r>
            <a:endParaRPr lang="en-US" sz="2565">
              <a:solidFill>
                <a:srgbClr val="FFFFFF"/>
              </a:solidFill>
              <a:latin typeface="Arial"/>
            </a:endParaRPr>
          </a:p>
        </p:txBody>
      </p:sp>
      <p:sp>
        <p:nvSpPr>
          <p:cNvPr id="635" name="Text 11"/>
          <p:cNvSpPr/>
          <p:nvPr/>
        </p:nvSpPr>
        <p:spPr>
          <a:xfrm>
            <a:off x="142668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Lock source/configuration/trial ordering; resolve B01 validation and 2A/2B counts.</a:t>
            </a:r>
            <a:endParaRPr lang="en-US" sz="1890">
              <a:solidFill>
                <a:srgbClr val="FFFFFF"/>
              </a:solidFill>
              <a:latin typeface="Arial"/>
            </a:endParaRPr>
          </a:p>
        </p:txBody>
      </p:sp>
      <p:sp>
        <p:nvSpPr>
          <p:cNvPr id="636" name="Text 12"/>
          <p:cNvSpPr/>
          <p:nvPr/>
        </p:nvSpPr>
        <p:spPr>
          <a:xfrm>
            <a:off x="142668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65A7FF"/>
                </a:solidFill>
                <a:latin typeface="Aptos"/>
                <a:ea typeface="Aptos"/>
              </a:rPr>
              <a:t>EVENT TRACE · MANIFEST · EXACT COUNTS</a:t>
            </a:r>
            <a:endParaRPr lang="en-US" sz="1515">
              <a:solidFill>
                <a:srgbClr val="FFFFFF"/>
              </a:solidFill>
              <a:latin typeface="Arial"/>
            </a:endParaRPr>
          </a:p>
        </p:txBody>
      </p:sp>
      <p:sp>
        <p:nvSpPr>
          <p:cNvPr id="637" name="Shape 13"/>
          <p:cNvSpPr/>
          <p:nvPr/>
        </p:nvSpPr>
        <p:spPr>
          <a:xfrm>
            <a:off x="972486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8" name="Shape 14"/>
          <p:cNvSpPr/>
          <p:nvPr/>
        </p:nvSpPr>
        <p:spPr>
          <a:xfrm>
            <a:off x="9999180" y="3373920"/>
            <a:ext cx="79488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9" name="Text 15"/>
          <p:cNvSpPr/>
          <p:nvPr/>
        </p:nvSpPr>
        <p:spPr>
          <a:xfrm>
            <a:off x="1014984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39D2C3"/>
                </a:solidFill>
                <a:latin typeface="Aptos"/>
                <a:ea typeface="Aptos"/>
              </a:rPr>
              <a:t>02</a:t>
            </a:r>
            <a:endParaRPr lang="en-US" sz="1500">
              <a:solidFill>
                <a:srgbClr val="FFFFFF"/>
              </a:solidFill>
              <a:latin typeface="Arial"/>
            </a:endParaRPr>
          </a:p>
        </p:txBody>
      </p:sp>
      <p:sp>
        <p:nvSpPr>
          <p:cNvPr id="640" name="Text 16"/>
          <p:cNvSpPr/>
          <p:nvPr/>
        </p:nvSpPr>
        <p:spPr>
          <a:xfrm>
            <a:off x="1104138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Calibrate detection reliability</a:t>
            </a:r>
            <a:endParaRPr lang="en-US" sz="2565">
              <a:solidFill>
                <a:srgbClr val="FFFFFF"/>
              </a:solidFill>
              <a:latin typeface="Arial"/>
            </a:endParaRPr>
          </a:p>
        </p:txBody>
      </p:sp>
      <p:sp>
        <p:nvSpPr>
          <p:cNvPr id="641" name="Text 17"/>
          <p:cNvSpPr/>
          <p:nvPr/>
        </p:nvSpPr>
        <p:spPr>
          <a:xfrm>
            <a:off x="1004022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Independent null streams, alert burden, delay, Hotelling assumptions and matched false-alarm budgets.</a:t>
            </a:r>
            <a:endParaRPr lang="en-US" sz="1890">
              <a:solidFill>
                <a:srgbClr val="FFFFFF"/>
              </a:solidFill>
              <a:latin typeface="Arial"/>
            </a:endParaRPr>
          </a:p>
        </p:txBody>
      </p:sp>
      <p:sp>
        <p:nvSpPr>
          <p:cNvPr id="642" name="Text 18"/>
          <p:cNvSpPr/>
          <p:nvPr/>
        </p:nvSpPr>
        <p:spPr>
          <a:xfrm>
            <a:off x="1004022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39D2C3"/>
                </a:solidFill>
                <a:latin typeface="Aptos"/>
                <a:ea typeface="Aptos"/>
              </a:rPr>
              <a:t>FPR · DELAY · COVERAGE · INTERVALS</a:t>
            </a:r>
            <a:endParaRPr lang="en-US" sz="1515">
              <a:solidFill>
                <a:srgbClr val="FFFFFF"/>
              </a:solidFill>
              <a:latin typeface="Arial"/>
            </a:endParaRPr>
          </a:p>
        </p:txBody>
      </p:sp>
      <p:sp>
        <p:nvSpPr>
          <p:cNvPr id="643" name="Shape 19"/>
          <p:cNvSpPr/>
          <p:nvPr/>
        </p:nvSpPr>
        <p:spPr>
          <a:xfrm>
            <a:off x="111078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4" name="Shape 20"/>
          <p:cNvSpPr/>
          <p:nvPr/>
        </p:nvSpPr>
        <p:spPr>
          <a:xfrm>
            <a:off x="1385100" y="6254280"/>
            <a:ext cx="79488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5" name="Text 21"/>
          <p:cNvSpPr/>
          <p:nvPr/>
        </p:nvSpPr>
        <p:spPr>
          <a:xfrm>
            <a:off x="153630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F9BE4A"/>
                </a:solidFill>
                <a:latin typeface="Aptos"/>
                <a:ea typeface="Aptos"/>
              </a:rPr>
              <a:t>03</a:t>
            </a:r>
            <a:endParaRPr lang="en-US" sz="1500">
              <a:solidFill>
                <a:srgbClr val="FFFFFF"/>
              </a:solidFill>
              <a:latin typeface="Arial"/>
            </a:endParaRPr>
          </a:p>
        </p:txBody>
      </p:sp>
      <p:sp>
        <p:nvSpPr>
          <p:cNvPr id="646" name="Text 22"/>
          <p:cNvSpPr/>
          <p:nvPr/>
        </p:nvSpPr>
        <p:spPr>
          <a:xfrm>
            <a:off x="242784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Test first- vs second-order changes</a:t>
            </a:r>
            <a:endParaRPr lang="en-US" sz="2565">
              <a:solidFill>
                <a:srgbClr val="FFFFFF"/>
              </a:solidFill>
              <a:latin typeface="Arial"/>
            </a:endParaRPr>
          </a:p>
        </p:txBody>
      </p:sp>
      <p:sp>
        <p:nvSpPr>
          <p:cNvPr id="647" name="Text 23"/>
          <p:cNvSpPr/>
          <p:nvPr/>
        </p:nvSpPr>
        <p:spPr>
          <a:xfrm>
            <a:off x="142668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Separate mean, covariance and dependence regimes; compare Park, EWMA and high-dimensional alternatives.</a:t>
            </a:r>
            <a:endParaRPr lang="en-US" sz="1890">
              <a:solidFill>
                <a:srgbClr val="FFFFFF"/>
              </a:solidFill>
              <a:latin typeface="Arial"/>
            </a:endParaRPr>
          </a:p>
        </p:txBody>
      </p:sp>
      <p:sp>
        <p:nvSpPr>
          <p:cNvPr id="648" name="Text 24"/>
          <p:cNvSpPr/>
          <p:nvPr/>
        </p:nvSpPr>
        <p:spPr>
          <a:xfrm>
            <a:off x="142668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F9BE4A"/>
                </a:solidFill>
                <a:latin typeface="Aptos"/>
                <a:ea typeface="Aptos"/>
              </a:rPr>
              <a:t>POWER · CHANGE TYPE · LOCALISATION</a:t>
            </a:r>
            <a:endParaRPr lang="en-US" sz="1515">
              <a:solidFill>
                <a:srgbClr val="FFFFFF"/>
              </a:solidFill>
              <a:latin typeface="Arial"/>
            </a:endParaRPr>
          </a:p>
        </p:txBody>
      </p:sp>
      <p:sp>
        <p:nvSpPr>
          <p:cNvPr id="649" name="Shape 25"/>
          <p:cNvSpPr/>
          <p:nvPr/>
        </p:nvSpPr>
        <p:spPr>
          <a:xfrm>
            <a:off x="972486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0" name="Shape 26"/>
          <p:cNvSpPr/>
          <p:nvPr/>
        </p:nvSpPr>
        <p:spPr>
          <a:xfrm>
            <a:off x="9999180" y="6254280"/>
            <a:ext cx="79488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1" name="Text 27"/>
          <p:cNvSpPr/>
          <p:nvPr/>
        </p:nvSpPr>
        <p:spPr>
          <a:xfrm>
            <a:off x="1014984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BC8BFF"/>
                </a:solidFill>
                <a:latin typeface="Aptos"/>
                <a:ea typeface="Aptos"/>
              </a:rPr>
              <a:t>04</a:t>
            </a:r>
            <a:endParaRPr lang="en-US" sz="1500">
              <a:solidFill>
                <a:srgbClr val="FFFFFF"/>
              </a:solidFill>
              <a:latin typeface="Arial"/>
            </a:endParaRPr>
          </a:p>
        </p:txBody>
      </p:sp>
      <p:sp>
        <p:nvSpPr>
          <p:cNvPr id="652" name="Text 28"/>
          <p:cNvSpPr/>
          <p:nvPr/>
        </p:nvSpPr>
        <p:spPr>
          <a:xfrm>
            <a:off x="1104138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Measure whether adaptation pays</a:t>
            </a:r>
            <a:endParaRPr lang="en-US" sz="2565">
              <a:solidFill>
                <a:srgbClr val="FFFFFF"/>
              </a:solidFill>
              <a:latin typeface="Arial"/>
            </a:endParaRPr>
          </a:p>
        </p:txBody>
      </p:sp>
      <p:sp>
        <p:nvSpPr>
          <p:cNvPr id="653" name="Text 29"/>
          <p:cNvSpPr/>
          <p:nvPr/>
        </p:nvSpPr>
        <p:spPr>
          <a:xfrm>
            <a:off x="1004022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Compare never, periodic, warning, validated, performance and evidence-value policies over time.</a:t>
            </a:r>
            <a:endParaRPr lang="en-US" sz="1890">
              <a:solidFill>
                <a:srgbClr val="FFFFFF"/>
              </a:solidFill>
              <a:latin typeface="Arial"/>
            </a:endParaRPr>
          </a:p>
        </p:txBody>
      </p:sp>
      <p:sp>
        <p:nvSpPr>
          <p:cNvPr id="654" name="Text 30"/>
          <p:cNvSpPr/>
          <p:nvPr/>
        </p:nvSpPr>
        <p:spPr>
          <a:xfrm>
            <a:off x="1004022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BC8BFF"/>
                </a:solidFill>
                <a:latin typeface="Aptos"/>
                <a:ea typeface="Aptos"/>
              </a:rPr>
              <a:t>ACCURACY · RETRAINS · FORGETTING · COST</a:t>
            </a:r>
            <a:endParaRPr lang="en-US" sz="1515">
              <a:solidFill>
                <a:srgbClr val="FFFFFF"/>
              </a:solidFill>
              <a:latin typeface="Arial"/>
            </a:endParaRPr>
          </a:p>
        </p:txBody>
      </p:sp>
      <p:sp>
        <p:nvSpPr>
          <p:cNvPr id="655" name="Text 31"/>
          <p:cNvSpPr/>
          <p:nvPr/>
        </p:nvSpPr>
        <p:spPr>
          <a:xfrm>
            <a:off x="1138320" y="9148680"/>
            <a:ext cx="1591002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a:solidFill>
                  <a:srgbClr val="F9BE4A"/>
                </a:solidFill>
                <a:latin typeface="Aptos"/>
                <a:ea typeface="Aptos"/>
              </a:rPr>
              <a:t>Status: proposed study design, not a report that these follow-up experiments have been executed.</a:t>
            </a:r>
            <a:endParaRPr lang="en-US" sz="1710">
              <a:solidFill>
                <a:srgbClr val="FFFFFF"/>
              </a:solidFill>
              <a:latin typeface="Arial"/>
            </a:endParaRPr>
          </a:p>
        </p:txBody>
      </p:sp>
    </p:spTree>
    <p:extLst>
      <p:ext uri="{BB962C8B-B14F-4D97-AF65-F5344CB8AC3E}">
        <p14:creationId xmlns:p14="http://schemas.microsoft.com/office/powerpoint/2010/main" val="3595759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SOURCE REGISTER</a:t>
            </a:r>
            <a:endParaRPr lang="en-US">
              <a:solidFill>
                <a:srgbClr val="FFFFFF"/>
              </a:solidFill>
              <a:latin typeface="Arial"/>
            </a:endParaRPr>
          </a:p>
        </p:txBody>
      </p:sp>
      <p:sp>
        <p:nvSpPr>
          <p:cNvPr id="657"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Representative publications &amp; evidence locations</a:t>
            </a:r>
            <a:endParaRPr lang="en-US" sz="4125">
              <a:solidFill>
                <a:srgbClr val="FFFFFF"/>
              </a:solidFill>
              <a:latin typeface="Arial"/>
            </a:endParaRPr>
          </a:p>
        </p:txBody>
      </p:sp>
      <p:sp>
        <p:nvSpPr>
          <p:cNvPr id="658"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Clickable DOI / manuscript links; detailed annotations live in the Notion WP1 library.</a:t>
            </a:r>
            <a:endParaRPr lang="en-US" sz="1980">
              <a:solidFill>
                <a:srgbClr val="FFFFFF"/>
              </a:solidFill>
              <a:latin typeface="Arial"/>
            </a:endParaRPr>
          </a:p>
        </p:txBody>
      </p:sp>
      <p:sp>
        <p:nvSpPr>
          <p:cNvPr id="659"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0"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1"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62"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11</a:t>
            </a:r>
            <a:endParaRPr lang="en-US" sz="1350">
              <a:solidFill>
                <a:srgbClr val="FFFFFF"/>
              </a:solidFill>
              <a:latin typeface="Arial"/>
            </a:endParaRPr>
          </a:p>
        </p:txBody>
      </p:sp>
      <p:sp>
        <p:nvSpPr>
          <p:cNvPr id="663" name="Shape 7"/>
          <p:cNvSpPr/>
          <p:nvPr/>
        </p:nvSpPr>
        <p:spPr>
          <a:xfrm>
            <a:off x="112482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64" name="Shape 8"/>
          <p:cNvSpPr/>
          <p:nvPr/>
        </p:nvSpPr>
        <p:spPr>
          <a:xfrm>
            <a:off x="146232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5" name="Text 9">
            <a:hlinkClick r:id="rId3"/>
          </p:cNvPr>
          <p:cNvSpPr/>
          <p:nvPr/>
        </p:nvSpPr>
        <p:spPr>
          <a:xfrm>
            <a:off x="171450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3"/>
              </a:rPr>
              <a:t>Ramoser et al. (2000)</a:t>
            </a:r>
            <a:endParaRPr lang="en-US">
              <a:solidFill>
                <a:srgbClr val="FFFFFF"/>
              </a:solidFill>
              <a:latin typeface="Arial"/>
            </a:endParaRPr>
          </a:p>
        </p:txBody>
      </p:sp>
      <p:sp>
        <p:nvSpPr>
          <p:cNvPr id="666" name="Text 10"/>
          <p:cNvSpPr/>
          <p:nvPr/>
        </p:nvSpPr>
        <p:spPr>
          <a:xfrm>
            <a:off x="665226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EEG / CSP</a:t>
            </a:r>
            <a:endParaRPr lang="en-US" sz="1560">
              <a:solidFill>
                <a:srgbClr val="FFFFFF"/>
              </a:solidFill>
              <a:latin typeface="Arial"/>
            </a:endParaRPr>
          </a:p>
        </p:txBody>
      </p:sp>
      <p:sp>
        <p:nvSpPr>
          <p:cNvPr id="667" name="Shape 11"/>
          <p:cNvSpPr/>
          <p:nvPr/>
        </p:nvSpPr>
        <p:spPr>
          <a:xfrm>
            <a:off x="1467180" y="401868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8" name="Shape 12"/>
          <p:cNvSpPr/>
          <p:nvPr/>
        </p:nvSpPr>
        <p:spPr>
          <a:xfrm>
            <a:off x="146232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9" name="Text 13">
            <a:hlinkClick r:id="rId4"/>
          </p:cNvPr>
          <p:cNvSpPr/>
          <p:nvPr/>
        </p:nvSpPr>
        <p:spPr>
          <a:xfrm>
            <a:off x="171450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4"/>
              </a:rPr>
              <a:t>Raza, Prasad &amp; Li (2015)</a:t>
            </a:r>
            <a:endParaRPr lang="en-US">
              <a:solidFill>
                <a:srgbClr val="FFFFFF"/>
              </a:solidFill>
              <a:latin typeface="Arial"/>
            </a:endParaRPr>
          </a:p>
        </p:txBody>
      </p:sp>
      <p:sp>
        <p:nvSpPr>
          <p:cNvPr id="670" name="Text 14"/>
          <p:cNvSpPr/>
          <p:nvPr/>
        </p:nvSpPr>
        <p:spPr>
          <a:xfrm>
            <a:off x="665226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EWMA / CSD</a:t>
            </a:r>
            <a:endParaRPr lang="en-US" sz="1560">
              <a:solidFill>
                <a:srgbClr val="FFFFFF"/>
              </a:solidFill>
              <a:latin typeface="Arial"/>
            </a:endParaRPr>
          </a:p>
        </p:txBody>
      </p:sp>
      <p:sp>
        <p:nvSpPr>
          <p:cNvPr id="671" name="Shape 15"/>
          <p:cNvSpPr/>
          <p:nvPr/>
        </p:nvSpPr>
        <p:spPr>
          <a:xfrm>
            <a:off x="1467180" y="47320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2" name="Shape 16"/>
          <p:cNvSpPr/>
          <p:nvPr/>
        </p:nvSpPr>
        <p:spPr>
          <a:xfrm>
            <a:off x="146232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3" name="Text 17">
            <a:hlinkClick r:id="rId5"/>
          </p:cNvPr>
          <p:cNvSpPr/>
          <p:nvPr/>
        </p:nvSpPr>
        <p:spPr>
          <a:xfrm>
            <a:off x="171450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5"/>
              </a:rPr>
              <a:t>Raza et al. (2016)</a:t>
            </a:r>
            <a:endParaRPr lang="en-US">
              <a:solidFill>
                <a:srgbClr val="FFFFFF"/>
              </a:solidFill>
              <a:latin typeface="Arial"/>
            </a:endParaRPr>
          </a:p>
        </p:txBody>
      </p:sp>
      <p:sp>
        <p:nvSpPr>
          <p:cNvPr id="674" name="Text 18"/>
          <p:cNvSpPr/>
          <p:nvPr/>
        </p:nvSpPr>
        <p:spPr>
          <a:xfrm>
            <a:off x="665226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CSD adaptive BCI</a:t>
            </a:r>
            <a:endParaRPr lang="en-US" sz="1560">
              <a:solidFill>
                <a:srgbClr val="FFFFFF"/>
              </a:solidFill>
              <a:latin typeface="Arial"/>
            </a:endParaRPr>
          </a:p>
        </p:txBody>
      </p:sp>
      <p:sp>
        <p:nvSpPr>
          <p:cNvPr id="675" name="Shape 19"/>
          <p:cNvSpPr/>
          <p:nvPr/>
        </p:nvSpPr>
        <p:spPr>
          <a:xfrm>
            <a:off x="1467180" y="54448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6" name="Shape 20"/>
          <p:cNvSpPr/>
          <p:nvPr/>
        </p:nvSpPr>
        <p:spPr>
          <a:xfrm>
            <a:off x="146232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7" name="Text 21">
            <a:hlinkClick r:id="rId6"/>
          </p:cNvPr>
          <p:cNvSpPr/>
          <p:nvPr/>
        </p:nvSpPr>
        <p:spPr>
          <a:xfrm>
            <a:off x="171450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6"/>
              </a:rPr>
              <a:t>Alippi et al. (2017)</a:t>
            </a:r>
            <a:endParaRPr lang="en-US">
              <a:solidFill>
                <a:srgbClr val="FFFFFF"/>
              </a:solidFill>
              <a:latin typeface="Arial"/>
            </a:endParaRPr>
          </a:p>
        </p:txBody>
      </p:sp>
      <p:sp>
        <p:nvSpPr>
          <p:cNvPr id="678" name="Text 22"/>
          <p:cNvSpPr/>
          <p:nvPr/>
        </p:nvSpPr>
        <p:spPr>
          <a:xfrm>
            <a:off x="665226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Hierarchical CDT</a:t>
            </a:r>
            <a:endParaRPr lang="en-US" sz="1560">
              <a:solidFill>
                <a:srgbClr val="FFFFFF"/>
              </a:solidFill>
              <a:latin typeface="Arial"/>
            </a:endParaRPr>
          </a:p>
        </p:txBody>
      </p:sp>
      <p:sp>
        <p:nvSpPr>
          <p:cNvPr id="679" name="Shape 23"/>
          <p:cNvSpPr/>
          <p:nvPr/>
        </p:nvSpPr>
        <p:spPr>
          <a:xfrm>
            <a:off x="1467180" y="615816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0" name="Shape 24"/>
          <p:cNvSpPr/>
          <p:nvPr/>
        </p:nvSpPr>
        <p:spPr>
          <a:xfrm>
            <a:off x="146232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1" name="Text 25">
            <a:hlinkClick r:id="rId7"/>
          </p:cNvPr>
          <p:cNvSpPr/>
          <p:nvPr/>
        </p:nvSpPr>
        <p:spPr>
          <a:xfrm>
            <a:off x="171450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7"/>
              </a:rPr>
              <a:t>Chowdhury et al. (2018)</a:t>
            </a:r>
            <a:endParaRPr lang="en-US">
              <a:solidFill>
                <a:srgbClr val="FFFFFF"/>
              </a:solidFill>
              <a:latin typeface="Arial"/>
            </a:endParaRPr>
          </a:p>
        </p:txBody>
      </p:sp>
      <p:sp>
        <p:nvSpPr>
          <p:cNvPr id="682" name="Text 26"/>
          <p:cNvSpPr/>
          <p:nvPr/>
        </p:nvSpPr>
        <p:spPr>
          <a:xfrm>
            <a:off x="665226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Online neurorehab BCI</a:t>
            </a:r>
            <a:endParaRPr lang="en-US" sz="1560">
              <a:solidFill>
                <a:srgbClr val="FFFFFF"/>
              </a:solidFill>
              <a:latin typeface="Arial"/>
            </a:endParaRPr>
          </a:p>
        </p:txBody>
      </p:sp>
      <p:sp>
        <p:nvSpPr>
          <p:cNvPr id="683" name="Shape 27"/>
          <p:cNvSpPr/>
          <p:nvPr/>
        </p:nvSpPr>
        <p:spPr>
          <a:xfrm>
            <a:off x="1467180" y="687150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4" name="Shape 28"/>
          <p:cNvSpPr/>
          <p:nvPr/>
        </p:nvSpPr>
        <p:spPr>
          <a:xfrm>
            <a:off x="146232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5" name="Text 29">
            <a:hlinkClick r:id="rId8"/>
          </p:cNvPr>
          <p:cNvSpPr/>
          <p:nvPr/>
        </p:nvSpPr>
        <p:spPr>
          <a:xfrm>
            <a:off x="171450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8"/>
              </a:rPr>
              <a:t>Raza et al. (2019)</a:t>
            </a:r>
            <a:endParaRPr lang="en-US">
              <a:solidFill>
                <a:srgbClr val="FFFFFF"/>
              </a:solidFill>
              <a:latin typeface="Arial"/>
            </a:endParaRPr>
          </a:p>
        </p:txBody>
      </p:sp>
      <p:sp>
        <p:nvSpPr>
          <p:cNvPr id="686" name="Text 30"/>
          <p:cNvSpPr/>
          <p:nvPr/>
        </p:nvSpPr>
        <p:spPr>
          <a:xfrm>
            <a:off x="665226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CSE–UAEL</a:t>
            </a:r>
            <a:endParaRPr lang="en-US" sz="1560">
              <a:solidFill>
                <a:srgbClr val="FFFFFF"/>
              </a:solidFill>
              <a:latin typeface="Arial"/>
            </a:endParaRPr>
          </a:p>
        </p:txBody>
      </p:sp>
      <p:sp>
        <p:nvSpPr>
          <p:cNvPr id="687" name="Shape 31"/>
          <p:cNvSpPr/>
          <p:nvPr/>
        </p:nvSpPr>
        <p:spPr>
          <a:xfrm>
            <a:off x="1467180" y="758484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8" name="Shape 32"/>
          <p:cNvSpPr/>
          <p:nvPr/>
        </p:nvSpPr>
        <p:spPr>
          <a:xfrm>
            <a:off x="146232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9" name="Text 33">
            <a:hlinkClick r:id="rId9"/>
          </p:cNvPr>
          <p:cNvSpPr/>
          <p:nvPr/>
        </p:nvSpPr>
        <p:spPr>
          <a:xfrm>
            <a:off x="171450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9"/>
              </a:rPr>
              <a:t>Gaur et al. (2019)</a:t>
            </a:r>
            <a:endParaRPr lang="en-US">
              <a:solidFill>
                <a:srgbClr val="FFFFFF"/>
              </a:solidFill>
              <a:latin typeface="Arial"/>
            </a:endParaRPr>
          </a:p>
        </p:txBody>
      </p:sp>
      <p:sp>
        <p:nvSpPr>
          <p:cNvPr id="690" name="Text 34"/>
          <p:cNvSpPr/>
          <p:nvPr/>
        </p:nvSpPr>
        <p:spPr>
          <a:xfrm>
            <a:off x="665226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Tangent space / transfer</a:t>
            </a:r>
            <a:endParaRPr lang="en-US" sz="1560">
              <a:solidFill>
                <a:srgbClr val="FFFFFF"/>
              </a:solidFill>
              <a:latin typeface="Arial"/>
            </a:endParaRPr>
          </a:p>
        </p:txBody>
      </p:sp>
      <p:sp>
        <p:nvSpPr>
          <p:cNvPr id="691" name="Shape 35"/>
          <p:cNvSpPr/>
          <p:nvPr/>
        </p:nvSpPr>
        <p:spPr>
          <a:xfrm>
            <a:off x="980694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92" name="Shape 36"/>
          <p:cNvSpPr/>
          <p:nvPr/>
        </p:nvSpPr>
        <p:spPr>
          <a:xfrm>
            <a:off x="1014444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3" name="Text 37">
            <a:hlinkClick r:id="rId10"/>
          </p:cNvPr>
          <p:cNvSpPr/>
          <p:nvPr/>
        </p:nvSpPr>
        <p:spPr>
          <a:xfrm>
            <a:off x="1039662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0"/>
              </a:rPr>
              <a:t>Diethe et al. (2019)</a:t>
            </a:r>
            <a:endParaRPr lang="en-US">
              <a:solidFill>
                <a:srgbClr val="FFFFFF"/>
              </a:solidFill>
              <a:latin typeface="Arial"/>
            </a:endParaRPr>
          </a:p>
        </p:txBody>
      </p:sp>
      <p:sp>
        <p:nvSpPr>
          <p:cNvPr id="694" name="Text 38"/>
          <p:cNvSpPr/>
          <p:nvPr/>
        </p:nvSpPr>
        <p:spPr>
          <a:xfrm>
            <a:off x="1533438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Self-maintaining ML</a:t>
            </a:r>
            <a:endParaRPr lang="en-US" sz="1560">
              <a:solidFill>
                <a:srgbClr val="FFFFFF"/>
              </a:solidFill>
              <a:latin typeface="Arial"/>
            </a:endParaRPr>
          </a:p>
        </p:txBody>
      </p:sp>
      <p:sp>
        <p:nvSpPr>
          <p:cNvPr id="695" name="Shape 39"/>
          <p:cNvSpPr/>
          <p:nvPr/>
        </p:nvSpPr>
        <p:spPr>
          <a:xfrm>
            <a:off x="10149840" y="401868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96" name="Shape 40"/>
          <p:cNvSpPr/>
          <p:nvPr/>
        </p:nvSpPr>
        <p:spPr>
          <a:xfrm>
            <a:off x="1014444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7" name="Text 41">
            <a:hlinkClick r:id="rId11"/>
          </p:cNvPr>
          <p:cNvSpPr/>
          <p:nvPr/>
        </p:nvSpPr>
        <p:spPr>
          <a:xfrm>
            <a:off x="1039662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1"/>
              </a:rPr>
              <a:t>Wang et al. (2022)</a:t>
            </a:r>
            <a:endParaRPr lang="en-US">
              <a:solidFill>
                <a:srgbClr val="FFFFFF"/>
              </a:solidFill>
              <a:latin typeface="Arial"/>
            </a:endParaRPr>
          </a:p>
        </p:txBody>
      </p:sp>
      <p:sp>
        <p:nvSpPr>
          <p:cNvPr id="698" name="Text 42"/>
          <p:cNvSpPr/>
          <p:nvPr/>
        </p:nvSpPr>
        <p:spPr>
          <a:xfrm>
            <a:off x="1533438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L2P / DualPrompt</a:t>
            </a:r>
            <a:endParaRPr lang="en-US" sz="1560">
              <a:solidFill>
                <a:srgbClr val="FFFFFF"/>
              </a:solidFill>
              <a:latin typeface="Arial"/>
            </a:endParaRPr>
          </a:p>
        </p:txBody>
      </p:sp>
      <p:sp>
        <p:nvSpPr>
          <p:cNvPr id="699" name="Shape 43"/>
          <p:cNvSpPr/>
          <p:nvPr/>
        </p:nvSpPr>
        <p:spPr>
          <a:xfrm>
            <a:off x="10149840" y="47320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0" name="Shape 44"/>
          <p:cNvSpPr/>
          <p:nvPr/>
        </p:nvSpPr>
        <p:spPr>
          <a:xfrm>
            <a:off x="1014444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1" name="Text 45">
            <a:hlinkClick r:id="rId12"/>
          </p:cNvPr>
          <p:cNvSpPr/>
          <p:nvPr/>
        </p:nvSpPr>
        <p:spPr>
          <a:xfrm>
            <a:off x="1039662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2"/>
              </a:rPr>
              <a:t>Kudithipudi et al. (2022)</a:t>
            </a:r>
            <a:endParaRPr lang="en-US">
              <a:solidFill>
                <a:srgbClr val="FFFFFF"/>
              </a:solidFill>
              <a:latin typeface="Arial"/>
            </a:endParaRPr>
          </a:p>
        </p:txBody>
      </p:sp>
      <p:sp>
        <p:nvSpPr>
          <p:cNvPr id="702" name="Text 46"/>
          <p:cNvSpPr/>
          <p:nvPr/>
        </p:nvSpPr>
        <p:spPr>
          <a:xfrm>
            <a:off x="1533438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Lifelong learning</a:t>
            </a:r>
            <a:endParaRPr lang="en-US" sz="1560">
              <a:solidFill>
                <a:srgbClr val="FFFFFF"/>
              </a:solidFill>
              <a:latin typeface="Arial"/>
            </a:endParaRPr>
          </a:p>
        </p:txBody>
      </p:sp>
      <p:sp>
        <p:nvSpPr>
          <p:cNvPr id="703" name="Shape 47"/>
          <p:cNvSpPr/>
          <p:nvPr/>
        </p:nvSpPr>
        <p:spPr>
          <a:xfrm>
            <a:off x="10149840" y="54448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4" name="Shape 48"/>
          <p:cNvSpPr/>
          <p:nvPr/>
        </p:nvSpPr>
        <p:spPr>
          <a:xfrm>
            <a:off x="1014444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5" name="Text 49">
            <a:hlinkClick r:id="rId13"/>
          </p:cNvPr>
          <p:cNvSpPr/>
          <p:nvPr/>
        </p:nvSpPr>
        <p:spPr>
          <a:xfrm>
            <a:off x="1039662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3"/>
              </a:rPr>
              <a:t>Park et al. (2023)</a:t>
            </a:r>
            <a:endParaRPr lang="en-US">
              <a:solidFill>
                <a:srgbClr val="FFFFFF"/>
              </a:solidFill>
              <a:latin typeface="Arial"/>
            </a:endParaRPr>
          </a:p>
        </p:txBody>
      </p:sp>
      <p:sp>
        <p:nvSpPr>
          <p:cNvPr id="706" name="Text 50"/>
          <p:cNvSpPr/>
          <p:nvPr/>
        </p:nvSpPr>
        <p:spPr>
          <a:xfrm>
            <a:off x="1533438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algn="r" defTabSz="1371600">
              <a:tabLst>
                <a:tab pos="0" algn="l"/>
              </a:tabLst>
            </a:pPr>
            <a:r>
              <a:rPr lang="en-US" sz="1560">
                <a:solidFill>
                  <a:srgbClr val="9BB3C9"/>
                </a:solidFill>
                <a:latin typeface="Aptos"/>
                <a:ea typeface="Aptos"/>
              </a:rPr>
              <a:t>Mean / second-order change</a:t>
            </a:r>
            <a:endParaRPr lang="en-US" sz="1560">
              <a:solidFill>
                <a:srgbClr val="FFFFFF"/>
              </a:solidFill>
              <a:latin typeface="Arial"/>
            </a:endParaRPr>
          </a:p>
        </p:txBody>
      </p:sp>
      <p:sp>
        <p:nvSpPr>
          <p:cNvPr id="707" name="Shape 51"/>
          <p:cNvSpPr/>
          <p:nvPr/>
        </p:nvSpPr>
        <p:spPr>
          <a:xfrm>
            <a:off x="10149840" y="615816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8" name="Shape 52"/>
          <p:cNvSpPr/>
          <p:nvPr/>
        </p:nvSpPr>
        <p:spPr>
          <a:xfrm>
            <a:off x="1014444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9" name="Text 53">
            <a:hlinkClick r:id="rId14"/>
          </p:cNvPr>
          <p:cNvSpPr/>
          <p:nvPr/>
        </p:nvSpPr>
        <p:spPr>
          <a:xfrm>
            <a:off x="1039662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4"/>
              </a:rPr>
              <a:t>Hurtado et al. (2023)</a:t>
            </a:r>
            <a:endParaRPr lang="en-US">
              <a:solidFill>
                <a:srgbClr val="FFFFFF"/>
              </a:solidFill>
              <a:latin typeface="Arial"/>
            </a:endParaRPr>
          </a:p>
        </p:txBody>
      </p:sp>
      <p:sp>
        <p:nvSpPr>
          <p:cNvPr id="710" name="Text 54"/>
          <p:cNvSpPr/>
          <p:nvPr/>
        </p:nvSpPr>
        <p:spPr>
          <a:xfrm>
            <a:off x="1533438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CL / maintenance</a:t>
            </a:r>
            <a:endParaRPr lang="en-US" sz="1560">
              <a:solidFill>
                <a:srgbClr val="FFFFFF"/>
              </a:solidFill>
              <a:latin typeface="Arial"/>
            </a:endParaRPr>
          </a:p>
        </p:txBody>
      </p:sp>
      <p:sp>
        <p:nvSpPr>
          <p:cNvPr id="711" name="Shape 55"/>
          <p:cNvSpPr/>
          <p:nvPr/>
        </p:nvSpPr>
        <p:spPr>
          <a:xfrm>
            <a:off x="10149840" y="687150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2" name="Shape 56"/>
          <p:cNvSpPr/>
          <p:nvPr/>
        </p:nvSpPr>
        <p:spPr>
          <a:xfrm>
            <a:off x="1014444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3" name="Text 57">
            <a:hlinkClick r:id="rId15"/>
          </p:cNvPr>
          <p:cNvSpPr/>
          <p:nvPr/>
        </p:nvSpPr>
        <p:spPr>
          <a:xfrm>
            <a:off x="1039662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5"/>
              </a:rPr>
              <a:t>Heyden et al. (2024)</a:t>
            </a:r>
            <a:endParaRPr lang="en-US">
              <a:solidFill>
                <a:srgbClr val="FFFFFF"/>
              </a:solidFill>
              <a:latin typeface="Arial"/>
            </a:endParaRPr>
          </a:p>
        </p:txBody>
      </p:sp>
      <p:sp>
        <p:nvSpPr>
          <p:cNvPr id="714" name="Text 58"/>
          <p:cNvSpPr/>
          <p:nvPr/>
        </p:nvSpPr>
        <p:spPr>
          <a:xfrm>
            <a:off x="1533438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ABCD / subspace</a:t>
            </a:r>
            <a:endParaRPr lang="en-US" sz="1560">
              <a:solidFill>
                <a:srgbClr val="FFFFFF"/>
              </a:solidFill>
              <a:latin typeface="Arial"/>
            </a:endParaRPr>
          </a:p>
        </p:txBody>
      </p:sp>
      <p:sp>
        <p:nvSpPr>
          <p:cNvPr id="715" name="Shape 59"/>
          <p:cNvSpPr/>
          <p:nvPr/>
        </p:nvSpPr>
        <p:spPr>
          <a:xfrm>
            <a:off x="10149840" y="758484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6" name="Shape 60"/>
          <p:cNvSpPr/>
          <p:nvPr/>
        </p:nvSpPr>
        <p:spPr>
          <a:xfrm>
            <a:off x="1014444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7" name="Text 61">
            <a:hlinkClick r:id="rId16"/>
          </p:cNvPr>
          <p:cNvSpPr/>
          <p:nvPr/>
        </p:nvSpPr>
        <p:spPr>
          <a:xfrm>
            <a:off x="1039662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6"/>
              </a:rPr>
              <a:t>Gupta et al. (2024)</a:t>
            </a:r>
            <a:endParaRPr lang="en-US">
              <a:solidFill>
                <a:srgbClr val="FFFFFF"/>
              </a:solidFill>
              <a:latin typeface="Arial"/>
            </a:endParaRPr>
          </a:p>
        </p:txBody>
      </p:sp>
      <p:sp>
        <p:nvSpPr>
          <p:cNvPr id="718" name="Text 62"/>
          <p:cNvSpPr/>
          <p:nvPr/>
        </p:nvSpPr>
        <p:spPr>
          <a:xfrm>
            <a:off x="1533438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TWIN–ADAPT</a:t>
            </a:r>
            <a:endParaRPr lang="en-US" sz="1560">
              <a:solidFill>
                <a:srgbClr val="FFFFFF"/>
              </a:solidFill>
              <a:latin typeface="Arial"/>
            </a:endParaRPr>
          </a:p>
        </p:txBody>
      </p:sp>
      <p:sp>
        <p:nvSpPr>
          <p:cNvPr id="719" name="Text 63">
            <a:hlinkClick r:id="rId17"/>
          </p:cNvPr>
          <p:cNvSpPr/>
          <p:nvPr/>
        </p:nvSpPr>
        <p:spPr>
          <a:xfrm>
            <a:off x="1152360" y="8874360"/>
            <a:ext cx="770796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39D2C3"/>
                </a:solidFill>
                <a:latin typeface="Aptos"/>
                <a:ea typeface="Aptos"/>
                <a:hlinkClick r:id="rId17"/>
              </a:rPr>
              <a:t>Notion: Literature Topic Guide + 36-record library</a:t>
            </a:r>
            <a:endParaRPr lang="en-US" sz="1710">
              <a:solidFill>
                <a:srgbClr val="FFFFFF"/>
              </a:solidFill>
              <a:latin typeface="Arial"/>
            </a:endParaRPr>
          </a:p>
        </p:txBody>
      </p:sp>
      <p:sp>
        <p:nvSpPr>
          <p:cNvPr id="720" name="Text 64">
            <a:hlinkClick r:id="rId18"/>
          </p:cNvPr>
          <p:cNvSpPr/>
          <p:nvPr/>
        </p:nvSpPr>
        <p:spPr>
          <a:xfrm>
            <a:off x="9573660" y="8874360"/>
            <a:ext cx="763938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65A7FF"/>
                </a:solidFill>
                <a:latin typeface="Aptos"/>
                <a:ea typeface="Aptos"/>
                <a:hlinkClick r:id="rId18"/>
              </a:rPr>
              <a:t>GitHub: code, docs and archived output provenance</a:t>
            </a:r>
            <a:endParaRPr lang="en-US" sz="1710">
              <a:solidFill>
                <a:srgbClr val="FFFFFF"/>
              </a:solidFill>
              <a:latin typeface="Arial"/>
            </a:endParaRPr>
          </a:p>
        </p:txBody>
      </p:sp>
    </p:spTree>
    <p:extLst>
      <p:ext uri="{BB962C8B-B14F-4D97-AF65-F5344CB8AC3E}">
        <p14:creationId xmlns:p14="http://schemas.microsoft.com/office/powerpoint/2010/main" val="4077256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1"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lang="en-GB" smtClean="0">
                          <a:latin typeface="Cambria Math" panose="02040503050406030204" pitchFamily="18" charset="0"/>
                        </a:rPr>
                        <m:t>𝜈</m:t>
                      </m:r>
                      <m:r>
                        <a:rPr lang="en-GB" smtClean="0">
                          <a:latin typeface="Cambria Math" panose="02040503050406030204" pitchFamily="18" charset="0"/>
                        </a:rPr>
                        <m:t>ₜ</m:t>
                      </m:r>
                      <m:r>
                        <a:rPr lang="en-GB" smtClean="0">
                          <a:latin typeface="Cambria Math" panose="02040503050406030204" pitchFamily="18" charset="0"/>
                        </a:rPr>
                        <m:t>⁽</m:t>
                      </m:r>
                      <m:r>
                        <a:rPr lang="en-GB" smtClean="0">
                          <a:latin typeface="Cambria Math" panose="02040503050406030204" pitchFamily="18" charset="0"/>
                        </a:rPr>
                        <m:t>ᵈ</m:t>
                      </m:r>
                      <m:r>
                        <a:rPr lang="en-GB" smtClean="0">
                          <a:latin typeface="Cambria Math" panose="02040503050406030204" pitchFamily="18" charset="0"/>
                        </a:rPr>
                        <m:t>⁾</m:t>
                      </m:r>
                      <m:r>
                        <a:rPr lang="en-GB" smtClean="0">
                          <a:latin typeface="Cambria Math" panose="02040503050406030204" pitchFamily="18" charset="0"/>
                        </a:rPr>
                        <m:t>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xmlns:a14="http://schemas.microsoft.com/office/drawing/2010/main">
        <mc:Choice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xmlns="">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1"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xmlns="">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xmlns="">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m:t>
                          </m:r>
                          <m:r>
                            <a:rPr lang="en-GB" b="0" i="1" smtClean="0">
                              <a:latin typeface="Cambria Math" panose="02040503050406030204" pitchFamily="18" charset="0"/>
                            </a:rPr>
                            <m:t>.</m:t>
                          </m:r>
                          <m:r>
                            <a:rPr lang="en-GB" b="0" i="1" smtClean="0">
                              <a:latin typeface="Cambria Math" panose="02040503050406030204" pitchFamily="18" charset="0"/>
                            </a:rPr>
                            <m:t>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xmlns="">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i="1">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xmlns="">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m:t>
                      </m:r>
                      <m:r>
                        <a:rPr lang="en-GB" b="0" i="1" smtClean="0">
                          <a:latin typeface="Cambria Math" panose="02040503050406030204" pitchFamily="18" charset="0"/>
                        </a:rPr>
                        <m:t>0</m:t>
                      </m:r>
                    </m:oMath>
                  </m:oMathPara>
                </a14:m>
                <a:endParaRPr lang="en-GB" dirty="0"/>
              </a:p>
            </p:txBody>
          </p:sp>
        </mc:Choice>
        <mc:Fallback xmlns="">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xmlns="">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xmlns="">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sz="3200" i="1">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f>
                        <m:fPr>
                          <m:ctrlPr>
                            <a:rPr i="1">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1</m:t>
                      </m:r>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 </m:t>
                      </m:r>
                      <m:sSup>
                        <m:sSupPr>
                          <m:ctrlPr>
                            <a:rPr i="1">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     </m:t>
                      </m:r>
                      <m:r>
                        <a:rPr>
                          <a:latin typeface="Cambria Math" panose="02040503050406030204" pitchFamily="18" charset="0"/>
                        </a:rPr>
                        <m:t>𝑚</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m:t>
                      </m:r>
                      <m:r>
                        <a:rPr>
                          <a:latin typeface="Cambria Math" panose="02040503050406030204" pitchFamily="18" charset="0"/>
                        </a:rPr>
                        <m:t>𝑁</m:t>
                      </m:r>
                      <m:r>
                        <a:rPr>
                          <a:latin typeface="Cambria Math" panose="02040503050406030204" pitchFamily="18" charset="0"/>
                        </a:rPr>
                        <m:t> − </m:t>
                      </m:r>
                      <m:r>
                        <a:rPr>
                          <a:latin typeface="Cambria Math" panose="02040503050406030204" pitchFamily="18" charset="0"/>
                        </a:rPr>
                        <m:t>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i="1">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i="1">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i="1">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𝑔</m:t>
                          </m:r>
                        </m:e>
                        <m:sub>
                          <m:sSub>
                            <m:sSubPr>
                              <m:ctrlPr>
                                <a:rPr i="1">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i="1">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𝑝</m:t>
                      </m:r>
                      <m:r>
                        <a:rPr>
                          <a:latin typeface="Cambria Math" panose="02040503050406030204" pitchFamily="18" charset="0"/>
                        </a:rPr>
                        <m:t> &lt;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dirty="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i="1">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a:extLst>
            <a:ext uri="{FF2B5EF4-FFF2-40B4-BE49-F238E27FC236}">
              <a16:creationId xmlns:a16="http://schemas.microsoft.com/office/drawing/2014/main" id="{7D05AFB8-BFD5-C9B5-A793-5FD89D2ACF9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0B6BF9D-50B6-F534-8130-8B2D5EBAF546}"/>
              </a:ext>
            </a:extLst>
          </p:cNvPr>
          <p:cNvSpPr txBox="1"/>
          <p:nvPr/>
        </p:nvSpPr>
        <p:spPr>
          <a:xfrm>
            <a:off x="838200" y="485013"/>
            <a:ext cx="16459200" cy="307777"/>
          </a:xfrm>
          <a:prstGeom prst="rect">
            <a:avLst/>
          </a:prstGeom>
        </p:spPr>
        <p:txBody>
          <a:bodyPr lIns="0" tIns="0" rIns="0" bIns="0" rtlCol="0" anchor="t">
            <a:spAutoFit/>
          </a:bodyPr>
          <a:lstStyle>
            <a:defPPr>
              <a:defRPr lang="en-US"/>
            </a:defPPr>
            <a:lvl1pPr>
              <a:defRPr sz="1950" b="1">
                <a:solidFill>
                  <a:srgbClr val="78D8CC"/>
                </a:solidFill>
                <a:latin typeface="DejaVu Sans Bold"/>
                <a:ea typeface="DejaVu Sans Bold"/>
                <a:cs typeface="DejaVu Sans Bold"/>
              </a:defRPr>
            </a:lvl1pPr>
          </a:lstStyle>
          <a:p>
            <a:r>
              <a:rPr lang="en-US" dirty="0">
                <a:sym typeface="DejaVu Sans Bold"/>
              </a:rPr>
              <a:t>MANUSCRIPT EVIDENCE · </a:t>
            </a:r>
            <a:r>
              <a:rPr lang="en-GB" dirty="0"/>
              <a:t>PARK ET AL. (2023) EXTENSION</a:t>
            </a:r>
            <a:endParaRPr lang="en-US" dirty="0">
              <a:sym typeface="DejaVu Sans Bold"/>
            </a:endParaRPr>
          </a:p>
        </p:txBody>
      </p:sp>
      <p:sp>
        <p:nvSpPr>
          <p:cNvPr id="3" name="TextBox 3">
            <a:extLst>
              <a:ext uri="{FF2B5EF4-FFF2-40B4-BE49-F238E27FC236}">
                <a16:creationId xmlns:a16="http://schemas.microsoft.com/office/drawing/2014/main" id="{031A46FA-5644-B21B-51EC-B65E5B8669F4}"/>
              </a:ext>
            </a:extLst>
          </p:cNvPr>
          <p:cNvSpPr txBox="1"/>
          <p:nvPr/>
        </p:nvSpPr>
        <p:spPr>
          <a:xfrm>
            <a:off x="838200" y="1190997"/>
            <a:ext cx="16459200" cy="597536"/>
          </a:xfrm>
          <a:prstGeom prst="rect">
            <a:avLst/>
          </a:prstGeom>
        </p:spPr>
        <p:txBody>
          <a:bodyPr lIns="0" tIns="0" rIns="0" bIns="0" rtlCol="0" anchor="t">
            <a:spAutoFit/>
          </a:bodyPr>
          <a:lstStyle/>
          <a:p>
            <a:pPr algn="l">
              <a:lnSpc>
                <a:spcPts val="4860"/>
              </a:lnSpc>
            </a:pPr>
            <a:r>
              <a:rPr lang="en-US" sz="4050" b="1" dirty="0">
                <a:solidFill>
                  <a:srgbClr val="EAF2F8"/>
                </a:solidFill>
                <a:latin typeface="DejaVu Sans Bold"/>
                <a:ea typeface="DejaVu Sans Bold"/>
                <a:cs typeface="DejaVu Sans Bold"/>
                <a:sym typeface="DejaVu Sans Bold"/>
              </a:rPr>
              <a:t>CPSS versus Park Binary</a:t>
            </a:r>
          </a:p>
        </p:txBody>
      </p:sp>
      <p:sp>
        <p:nvSpPr>
          <p:cNvPr id="5" name="TextBox 5">
            <a:extLst>
              <a:ext uri="{FF2B5EF4-FFF2-40B4-BE49-F238E27FC236}">
                <a16:creationId xmlns:a16="http://schemas.microsoft.com/office/drawing/2014/main" id="{8B8A68EA-FDA8-EBB7-1D24-4D3F5F64D048}"/>
              </a:ext>
            </a:extLst>
          </p:cNvPr>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1" name="TextBox 11">
            <a:extLst>
              <a:ext uri="{FF2B5EF4-FFF2-40B4-BE49-F238E27FC236}">
                <a16:creationId xmlns:a16="http://schemas.microsoft.com/office/drawing/2014/main" id="{8DE0801C-AF00-71C6-B0D5-6D8DB83AD197}"/>
              </a:ext>
            </a:extLst>
          </p:cNvPr>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pic>
        <p:nvPicPr>
          <p:cNvPr id="13" name="Picture 12">
            <a:extLst>
              <a:ext uri="{FF2B5EF4-FFF2-40B4-BE49-F238E27FC236}">
                <a16:creationId xmlns:a16="http://schemas.microsoft.com/office/drawing/2014/main" id="{8A733F1E-7B60-290E-C004-3B666A75E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81" y="2019300"/>
            <a:ext cx="9482666" cy="5334000"/>
          </a:xfrm>
          <a:prstGeom prst="rect">
            <a:avLst/>
          </a:prstGeom>
        </p:spPr>
      </p:pic>
      <p:graphicFrame>
        <p:nvGraphicFramePr>
          <p:cNvPr id="14" name="Table 13">
            <a:extLst>
              <a:ext uri="{FF2B5EF4-FFF2-40B4-BE49-F238E27FC236}">
                <a16:creationId xmlns:a16="http://schemas.microsoft.com/office/drawing/2014/main" id="{818B685D-994C-ADA3-FF7E-F97592350F7C}"/>
              </a:ext>
            </a:extLst>
          </p:cNvPr>
          <p:cNvGraphicFramePr>
            <a:graphicFrameLocks noGrp="1"/>
          </p:cNvGraphicFramePr>
          <p:nvPr>
            <p:extLst>
              <p:ext uri="{D42A27DB-BD31-4B8C-83A1-F6EECF244321}">
                <p14:modId xmlns:p14="http://schemas.microsoft.com/office/powerpoint/2010/main" val="1876118058"/>
              </p:ext>
            </p:extLst>
          </p:nvPr>
        </p:nvGraphicFramePr>
        <p:xfrm>
          <a:off x="11430000" y="3570220"/>
          <a:ext cx="5791200" cy="222504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00717233"/>
                    </a:ext>
                  </a:extLst>
                </a:gridCol>
                <a:gridCol w="1524000">
                  <a:extLst>
                    <a:ext uri="{9D8B030D-6E8A-4147-A177-3AD203B41FA5}">
                      <a16:colId xmlns:a16="http://schemas.microsoft.com/office/drawing/2014/main" val="123809736"/>
                    </a:ext>
                  </a:extLst>
                </a:gridCol>
                <a:gridCol w="1600200">
                  <a:extLst>
                    <a:ext uri="{9D8B030D-6E8A-4147-A177-3AD203B41FA5}">
                      <a16:colId xmlns:a16="http://schemas.microsoft.com/office/drawing/2014/main" val="121838568"/>
                    </a:ext>
                  </a:extLst>
                </a:gridCol>
              </a:tblGrid>
              <a:tr h="370840">
                <a:tc>
                  <a:txBody>
                    <a:bodyPr/>
                    <a:lstStyle/>
                    <a:p>
                      <a:r>
                        <a:rPr lang="en-GB" dirty="0"/>
                        <a:t>Weak-shift arithmetic</a:t>
                      </a:r>
                    </a:p>
                  </a:txBody>
                  <a:tcPr/>
                </a:tc>
                <a:tc>
                  <a:txBody>
                    <a:bodyPr/>
                    <a:lstStyle/>
                    <a:p>
                      <a:r>
                        <a:rPr lang="en-GB" dirty="0"/>
                        <a:t>Park binary</a:t>
                      </a:r>
                    </a:p>
                  </a:txBody>
                  <a:tcPr/>
                </a:tc>
                <a:tc>
                  <a:txBody>
                    <a:bodyPr/>
                    <a:lstStyle/>
                    <a:p>
                      <a:r>
                        <a:rPr lang="en-GB" dirty="0"/>
                        <a:t>CPSS</a:t>
                      </a:r>
                    </a:p>
                  </a:txBody>
                  <a:tcPr/>
                </a:tc>
                <a:extLst>
                  <a:ext uri="{0D108BD9-81ED-4DB2-BD59-A6C34878D82A}">
                    <a16:rowId xmlns:a16="http://schemas.microsoft.com/office/drawing/2014/main" val="493160738"/>
                  </a:ext>
                </a:extLst>
              </a:tr>
              <a:tr h="370840">
                <a:tc>
                  <a:txBody>
                    <a:bodyPr/>
                    <a:lstStyle/>
                    <a:p>
                      <a:r>
                        <a:rPr lang="en-GB" dirty="0"/>
                        <a:t>Accuracy</a:t>
                      </a:r>
                    </a:p>
                  </a:txBody>
                  <a:tcPr/>
                </a:tc>
                <a:tc>
                  <a:txBody>
                    <a:bodyPr/>
                    <a:lstStyle/>
                    <a:p>
                      <a:r>
                        <a:rPr lang="en-GB" dirty="0"/>
                        <a:t>62.5 %</a:t>
                      </a:r>
                    </a:p>
                  </a:txBody>
                  <a:tcPr/>
                </a:tc>
                <a:tc>
                  <a:txBody>
                    <a:bodyPr/>
                    <a:lstStyle/>
                    <a:p>
                      <a:r>
                        <a:rPr lang="en-GB" dirty="0"/>
                        <a:t>70.8 %</a:t>
                      </a:r>
                    </a:p>
                  </a:txBody>
                  <a:tcPr/>
                </a:tc>
                <a:extLst>
                  <a:ext uri="{0D108BD9-81ED-4DB2-BD59-A6C34878D82A}">
                    <a16:rowId xmlns:a16="http://schemas.microsoft.com/office/drawing/2014/main" val="3891208393"/>
                  </a:ext>
                </a:extLst>
              </a:tr>
              <a:tr h="370840">
                <a:tc>
                  <a:txBody>
                    <a:bodyPr/>
                    <a:lstStyle/>
                    <a:p>
                      <a:r>
                        <a:rPr lang="en-GB" dirty="0"/>
                        <a:t>Sensitivity</a:t>
                      </a:r>
                    </a:p>
                  </a:txBody>
                  <a:tcPr/>
                </a:tc>
                <a:tc>
                  <a:txBody>
                    <a:bodyPr/>
                    <a:lstStyle/>
                    <a:p>
                      <a:r>
                        <a:rPr lang="en-GB" dirty="0"/>
                        <a:t>25.0 %</a:t>
                      </a:r>
                    </a:p>
                  </a:txBody>
                  <a:tcPr/>
                </a:tc>
                <a:tc>
                  <a:txBody>
                    <a:bodyPr/>
                    <a:lstStyle/>
                    <a:p>
                      <a:r>
                        <a:rPr lang="en-GB" dirty="0"/>
                        <a:t>45.8 %</a:t>
                      </a:r>
                    </a:p>
                  </a:txBody>
                  <a:tcPr/>
                </a:tc>
                <a:extLst>
                  <a:ext uri="{0D108BD9-81ED-4DB2-BD59-A6C34878D82A}">
                    <a16:rowId xmlns:a16="http://schemas.microsoft.com/office/drawing/2014/main" val="581859968"/>
                  </a:ext>
                </a:extLst>
              </a:tr>
              <a:tr h="370840">
                <a:tc>
                  <a:txBody>
                    <a:bodyPr/>
                    <a:lstStyle/>
                    <a:p>
                      <a:r>
                        <a:rPr lang="en-GB" dirty="0"/>
                        <a:t>F1</a:t>
                      </a:r>
                    </a:p>
                  </a:txBody>
                  <a:tcPr/>
                </a:tc>
                <a:tc>
                  <a:txBody>
                    <a:bodyPr/>
                    <a:lstStyle/>
                    <a:p>
                      <a:r>
                        <a:rPr lang="en-GB" dirty="0"/>
                        <a:t>0.400</a:t>
                      </a:r>
                    </a:p>
                  </a:txBody>
                  <a:tcPr/>
                </a:tc>
                <a:tc>
                  <a:txBody>
                    <a:bodyPr/>
                    <a:lstStyle/>
                    <a:p>
                      <a:r>
                        <a:rPr lang="en-GB" dirty="0"/>
                        <a:t>0.611</a:t>
                      </a:r>
                    </a:p>
                  </a:txBody>
                  <a:tcPr/>
                </a:tc>
                <a:extLst>
                  <a:ext uri="{0D108BD9-81ED-4DB2-BD59-A6C34878D82A}">
                    <a16:rowId xmlns:a16="http://schemas.microsoft.com/office/drawing/2014/main" val="2286946598"/>
                  </a:ext>
                </a:extLst>
              </a:tr>
              <a:tr h="370840">
                <a:tc>
                  <a:txBody>
                    <a:bodyPr/>
                    <a:lstStyle/>
                    <a:p>
                      <a:r>
                        <a:rPr lang="en-GB" dirty="0"/>
                        <a:t>ROC AUC</a:t>
                      </a:r>
                    </a:p>
                  </a:txBody>
                  <a:tcPr/>
                </a:tc>
                <a:tc>
                  <a:txBody>
                    <a:bodyPr/>
                    <a:lstStyle/>
                    <a:p>
                      <a:r>
                        <a:rPr lang="en-GB" dirty="0"/>
                        <a:t>0.625</a:t>
                      </a:r>
                    </a:p>
                  </a:txBody>
                  <a:tcPr/>
                </a:tc>
                <a:tc>
                  <a:txBody>
                    <a:bodyPr/>
                    <a:lstStyle/>
                    <a:p>
                      <a:r>
                        <a:rPr lang="en-GB" dirty="0"/>
                        <a:t>0.709</a:t>
                      </a:r>
                    </a:p>
                  </a:txBody>
                  <a:tcPr/>
                </a:tc>
                <a:extLst>
                  <a:ext uri="{0D108BD9-81ED-4DB2-BD59-A6C34878D82A}">
                    <a16:rowId xmlns:a16="http://schemas.microsoft.com/office/drawing/2014/main" val="3424280875"/>
                  </a:ext>
                </a:extLst>
              </a:tr>
              <a:tr h="370840">
                <a:tc>
                  <a:txBody>
                    <a:bodyPr/>
                    <a:lstStyle/>
                    <a:p>
                      <a:r>
                        <a:rPr lang="en-GB" dirty="0"/>
                        <a:t>Stationary false alarms</a:t>
                      </a:r>
                    </a:p>
                  </a:txBody>
                  <a:tcPr/>
                </a:tc>
                <a:tc>
                  <a:txBody>
                    <a:bodyPr/>
                    <a:lstStyle/>
                    <a:p>
                      <a:r>
                        <a:rPr lang="en-GB" dirty="0"/>
                        <a:t>0/24</a:t>
                      </a:r>
                    </a:p>
                  </a:txBody>
                  <a:tcPr/>
                </a:tc>
                <a:tc>
                  <a:txBody>
                    <a:bodyPr/>
                    <a:lstStyle/>
                    <a:p>
                      <a:r>
                        <a:rPr lang="en-GB" dirty="0"/>
                        <a:t>1/24</a:t>
                      </a:r>
                    </a:p>
                  </a:txBody>
                  <a:tcPr/>
                </a:tc>
                <a:extLst>
                  <a:ext uri="{0D108BD9-81ED-4DB2-BD59-A6C34878D82A}">
                    <a16:rowId xmlns:a16="http://schemas.microsoft.com/office/drawing/2014/main" val="3781735764"/>
                  </a:ext>
                </a:extLst>
              </a:tr>
            </a:tbl>
          </a:graphicData>
        </a:graphic>
      </p:graphicFrame>
      <p:sp>
        <p:nvSpPr>
          <p:cNvPr id="15" name="TextBox 14">
            <a:extLst>
              <a:ext uri="{FF2B5EF4-FFF2-40B4-BE49-F238E27FC236}">
                <a16:creationId xmlns:a16="http://schemas.microsoft.com/office/drawing/2014/main" id="{E82A2E68-0111-80EF-6BBD-8868517D96E1}"/>
              </a:ext>
            </a:extLst>
          </p:cNvPr>
          <p:cNvSpPr txBox="1"/>
          <p:nvPr/>
        </p:nvSpPr>
        <p:spPr>
          <a:xfrm>
            <a:off x="811850" y="7810500"/>
            <a:ext cx="9482666" cy="369332"/>
          </a:xfrm>
          <a:prstGeom prst="rect">
            <a:avLst/>
          </a:prstGeom>
          <a:solidFill>
            <a:schemeClr val="bg1"/>
          </a:solidFill>
        </p:spPr>
        <p:txBody>
          <a:bodyPr wrap="square" rtlCol="0">
            <a:spAutoFit/>
          </a:bodyPr>
          <a:lstStyle/>
          <a:p>
            <a:r>
              <a:rPr lang="en-GB" b="1" dirty="0">
                <a:solidFill>
                  <a:schemeClr val="accent3">
                    <a:lumMod val="50000"/>
                  </a:schemeClr>
                </a:solidFill>
              </a:rPr>
              <a:t>Preliminary finding</a:t>
            </a:r>
          </a:p>
        </p:txBody>
      </p:sp>
      <p:sp>
        <p:nvSpPr>
          <p:cNvPr id="17" name="TextBox 16">
            <a:extLst>
              <a:ext uri="{FF2B5EF4-FFF2-40B4-BE49-F238E27FC236}">
                <a16:creationId xmlns:a16="http://schemas.microsoft.com/office/drawing/2014/main" id="{9A79190E-7FED-6E83-F30E-9248D0FAC75C}"/>
              </a:ext>
            </a:extLst>
          </p:cNvPr>
          <p:cNvSpPr txBox="1"/>
          <p:nvPr/>
        </p:nvSpPr>
        <p:spPr>
          <a:xfrm>
            <a:off x="685800" y="8452366"/>
            <a:ext cx="9144000" cy="369332"/>
          </a:xfrm>
          <a:prstGeom prst="rect">
            <a:avLst/>
          </a:prstGeom>
          <a:noFill/>
        </p:spPr>
        <p:txBody>
          <a:bodyPr wrap="square">
            <a:spAutoFit/>
          </a:bodyPr>
          <a:lstStyle/>
          <a:p>
            <a:r>
              <a:rPr lang="en-GB" dirty="0">
                <a:solidFill>
                  <a:schemeClr val="bg1"/>
                </a:solidFill>
              </a:rPr>
              <a:t>CPSS detects 11/24 weak shifts versus 6/24 for Park but introduces one stationary false alarm.</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5F7D17C-2A9A-DEB0-1F29-BD97DE53FE1A}"/>
                  </a:ext>
                </a:extLst>
              </p:cNvPr>
              <p:cNvSpPr txBox="1"/>
              <p:nvPr/>
            </p:nvSpPr>
            <p:spPr>
              <a:xfrm>
                <a:off x="685800" y="8975455"/>
                <a:ext cx="9608716" cy="646331"/>
              </a:xfrm>
              <a:prstGeom prst="rect">
                <a:avLst/>
              </a:prstGeom>
              <a:noFill/>
            </p:spPr>
            <p:txBody>
              <a:bodyPr wrap="square">
                <a:spAutoFit/>
              </a:bodyPr>
              <a:lstStyle/>
              <a:p>
                <a:r>
                  <a:rPr lang="en-GB" dirty="0">
                    <a:solidFill>
                      <a:schemeClr val="bg1"/>
                    </a:solidFill>
                  </a:rPr>
                  <a:t>Limitation: The null calibration produced </a:t>
                </a:r>
                <a14:m>
                  <m:oMath xmlns:m="http://schemas.openxmlformats.org/officeDocument/2006/math">
                    <m:r>
                      <a:rPr lang="en-GB" i="1" smtClean="0">
                        <a:solidFill>
                          <a:schemeClr val="bg1"/>
                        </a:solidFill>
                        <a:latin typeface="Cambria Math" panose="02040503050406030204" pitchFamily="18" charset="0"/>
                        <a:ea typeface="Cambria Math" panose="02040503050406030204" pitchFamily="18" charset="0"/>
                      </a:rPr>
                      <m:t>𝜏</m:t>
                    </m:r>
                    <m:r>
                      <a:rPr lang="en-GB" b="0" i="1" smtClean="0">
                        <a:solidFill>
                          <a:schemeClr val="bg1"/>
                        </a:solidFill>
                        <a:latin typeface="Cambria Math" panose="02040503050406030204" pitchFamily="18" charset="0"/>
                        <a:ea typeface="Cambria Math" panose="02040503050406030204" pitchFamily="18" charset="0"/>
                      </a:rPr>
                      <m:t>=</m:t>
                    </m:r>
                    <m:r>
                      <a:rPr lang="en-GB" b="0" i="1" smtClean="0">
                        <a:solidFill>
                          <a:schemeClr val="bg1"/>
                        </a:solidFill>
                        <a:latin typeface="Cambria Math" panose="02040503050406030204" pitchFamily="18" charset="0"/>
                        <a:ea typeface="Cambria Math" panose="02040503050406030204" pitchFamily="18" charset="0"/>
                      </a:rPr>
                      <m:t>0</m:t>
                    </m:r>
                  </m:oMath>
                </a14:m>
                <a:r>
                  <a:rPr lang="en-GB">
                    <a:solidFill>
                      <a:schemeClr val="bg1"/>
                    </a:solidFill>
                  </a:rPr>
                  <a:t>. The </a:t>
                </a:r>
                <a:r>
                  <a:rPr lang="en-GB" dirty="0">
                    <a:solidFill>
                      <a:schemeClr val="bg1"/>
                    </a:solidFill>
                  </a:rPr>
                  <a:t>apparent improvement may reflect a more permissive detection threshold rather than statistically validated superiority.</a:t>
                </a:r>
              </a:p>
            </p:txBody>
          </p:sp>
        </mc:Choice>
        <mc:Fallback xmlns="">
          <p:sp>
            <p:nvSpPr>
              <p:cNvPr id="19" name="TextBox 18">
                <a:extLst>
                  <a:ext uri="{FF2B5EF4-FFF2-40B4-BE49-F238E27FC236}">
                    <a16:creationId xmlns:a16="http://schemas.microsoft.com/office/drawing/2014/main" id="{95F7D17C-2A9A-DEB0-1F29-BD97DE53FE1A}"/>
                  </a:ext>
                </a:extLst>
              </p:cNvPr>
              <p:cNvSpPr txBox="1">
                <a:spLocks noRot="1" noChangeAspect="1" noMove="1" noResize="1" noEditPoints="1" noAdjustHandles="1" noChangeArrowheads="1" noChangeShapeType="1" noTextEdit="1"/>
              </p:cNvSpPr>
              <p:nvPr/>
            </p:nvSpPr>
            <p:spPr>
              <a:xfrm>
                <a:off x="685800" y="8975455"/>
                <a:ext cx="9608716" cy="646331"/>
              </a:xfrm>
              <a:prstGeom prst="rect">
                <a:avLst/>
              </a:prstGeom>
              <a:blipFill>
                <a:blip r:embed="rId4"/>
                <a:stretch>
                  <a:fillRect l="-571" t="-4717" b="-14151"/>
                </a:stretch>
              </a:blipFill>
            </p:spPr>
            <p:txBody>
              <a:bodyPr/>
              <a:lstStyle/>
              <a:p>
                <a:r>
                  <a:rPr lang="en-GB">
                    <a:noFill/>
                  </a:rPr>
                  <a:t> </a:t>
                </a:r>
              </a:p>
            </p:txBody>
          </p:sp>
        </mc:Fallback>
      </mc:AlternateContent>
    </p:spTree>
    <p:extLst>
      <p:ext uri="{BB962C8B-B14F-4D97-AF65-F5344CB8AC3E}">
        <p14:creationId xmlns:p14="http://schemas.microsoft.com/office/powerpoint/2010/main" val="23625866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grpSp>
        <p:nvGrpSpPr>
          <p:cNvPr id="12" name="Group 11">
            <a:extLst>
              <a:ext uri="{FF2B5EF4-FFF2-40B4-BE49-F238E27FC236}">
                <a16:creationId xmlns:a16="http://schemas.microsoft.com/office/drawing/2014/main" id="{48E8EF99-F310-66E3-459B-B42ACE723AA4}"/>
              </a:ext>
            </a:extLst>
          </p:cNvPr>
          <p:cNvGrpSpPr/>
          <p:nvPr/>
        </p:nvGrpSpPr>
        <p:grpSpPr>
          <a:xfrm>
            <a:off x="1280160" y="2823210"/>
            <a:ext cx="15727680" cy="4640580"/>
            <a:chOff x="1325880" y="3680460"/>
            <a:chExt cx="15727680" cy="4640580"/>
          </a:xfrm>
        </p:grpSpPr>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dirty="0">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interrogating symbols and connecting methods.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maintaining explicit evidence boundaries.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linking notes with code and a research diary.</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keep one dated claim ledger and define a falsifiable test for each open question.</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1367</TotalTime>
  <Words>10694</Words>
  <Application>Microsoft Office PowerPoint</Application>
  <PresentationFormat>Custom</PresentationFormat>
  <Paragraphs>1395</Paragraphs>
  <Slides>54</Slides>
  <Notes>45</Notes>
  <HiddenSlides>0</HiddenSlides>
  <MMClips>0</MMClips>
  <ScaleCrop>false</ScaleCrop>
  <HeadingPairs>
    <vt:vector size="6" baseType="variant">
      <vt:variant>
        <vt:lpstr>Fonts Used</vt:lpstr>
      </vt:variant>
      <vt:variant>
        <vt:i4>21</vt:i4>
      </vt:variant>
      <vt:variant>
        <vt:lpstr>Theme</vt:lpstr>
      </vt:variant>
      <vt:variant>
        <vt:i4>1</vt:i4>
      </vt:variant>
      <vt:variant>
        <vt:lpstr>Slide Titles</vt:lpstr>
      </vt:variant>
      <vt:variant>
        <vt:i4>54</vt:i4>
      </vt:variant>
    </vt:vector>
  </HeadingPairs>
  <TitlesOfParts>
    <vt:vector size="76" baseType="lpstr">
      <vt:lpstr>Arial</vt:lpstr>
      <vt:lpstr>DejaVu Sans Bold</vt:lpstr>
      <vt:lpstr>Aptos</vt:lpstr>
      <vt:lpstr>Calibri (MS) Bold</vt:lpstr>
      <vt:lpstr>Consolas</vt:lpstr>
      <vt:lpstr>Wingdings</vt:lpstr>
      <vt:lpstr>Segoe UI</vt:lpstr>
      <vt:lpstr>Inter Bold</vt:lpstr>
      <vt:lpstr>Roboto</vt:lpstr>
      <vt:lpstr>Symbol</vt:lpstr>
      <vt:lpstr>Calibri (MS)</vt:lpstr>
      <vt:lpstr>Inter Semi-Bold</vt:lpstr>
      <vt:lpstr>Inter Medium</vt:lpstr>
      <vt:lpstr>Aptos Bold</vt:lpstr>
      <vt:lpstr>Calibri</vt:lpstr>
      <vt:lpstr>Roboto Bold</vt:lpstr>
      <vt:lpstr>Cambria Math</vt:lpstr>
      <vt:lpstr>Inter</vt:lpstr>
      <vt:lpstr>Times New Roman</vt:lpstr>
      <vt:lpstr>DejaVu Sans Light</vt:lpstr>
      <vt:lpstr>Inter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96</cp:revision>
  <dcterms:created xsi:type="dcterms:W3CDTF">2006-08-16T00:00:00Z</dcterms:created>
  <dcterms:modified xsi:type="dcterms:W3CDTF">2026-10-21T15:36:21Z</dcterms:modified>
  <dc:identifier>DAHYBaR-K0c</dc:identifier>
</cp:coreProperties>
</file>