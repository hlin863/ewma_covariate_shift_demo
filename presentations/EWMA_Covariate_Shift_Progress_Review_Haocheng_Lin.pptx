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notesSlide+xml" PartName="/ppt/notesSlides/notesSlide3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4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Lst>
  <p:sldSz cx="18288000" cy="10287000"/>
  <p:notesSz cx="6858000" cy="9144000"/>
  <p:embeddedFontLst>
    <p:embeddedFont>
      <p:font typeface="DejaVu Sans Bold" charset="1" panose="020B0803030604020204"/>
      <p:regular r:id="rId51"/>
    </p:embeddedFont>
    <p:embeddedFont>
      <p:font typeface="DejaVu Sans Light" charset="1" panose="020B0603030804020204"/>
      <p:regular r:id="rId52"/>
    </p:embeddedFont>
    <p:embeddedFont>
      <p:font typeface="Aptos Bold" charset="1" panose="020B0004020202020204"/>
      <p:regular r:id="rId54"/>
    </p:embeddedFont>
    <p:embeddedFont>
      <p:font typeface="Aptos" charset="1" panose="020B0004020202020204"/>
      <p:regular r:id="rId55"/>
    </p:embeddedFont>
    <p:embeddedFont>
      <p:font typeface="Calibri (MS)" charset="1" panose="020F0502020204030204"/>
      <p:regular r:id="rId57"/>
    </p:embeddedFont>
    <p:embeddedFont>
      <p:font typeface="Calibri (MS) Italics" charset="1" panose="020F05020202040A0204"/>
      <p:regular r:id="rId58"/>
    </p:embeddedFont>
    <p:embeddedFont>
      <p:font typeface="Calibri (MS) Bold" charset="1" panose="020F0702030404030204"/>
      <p:regular r:id="rId76"/>
    </p:embeddedFont>
    <p:embeddedFont>
      <p:font typeface="Consolas" charset="1" panose="020B0609020204030204"/>
      <p:regular r:id="rId8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notesMasters/notesMaster1.xml" Type="http://schemas.openxmlformats.org/officeDocument/2006/relationships/notesMaster"/><Relationship Id="rId49" Target="theme/theme2.xml" Type="http://schemas.openxmlformats.org/officeDocument/2006/relationships/theme"/><Relationship Id="rId5" Target="tableStyles.xml" Type="http://schemas.openxmlformats.org/officeDocument/2006/relationships/tableStyles"/><Relationship Id="rId50" Target="notesSlides/notesSlide1.xml" Type="http://schemas.openxmlformats.org/officeDocument/2006/relationships/notesSlide"/><Relationship Id="rId51" Target="fonts/font51.fntdata" Type="http://schemas.openxmlformats.org/officeDocument/2006/relationships/font"/><Relationship Id="rId52" Target="fonts/font52.fntdata" Type="http://schemas.openxmlformats.org/officeDocument/2006/relationships/font"/><Relationship Id="rId53" Target="notesSlides/notesSlide2.xml" Type="http://schemas.openxmlformats.org/officeDocument/2006/relationships/notesSlide"/><Relationship Id="rId54" Target="fonts/font54.fntdata" Type="http://schemas.openxmlformats.org/officeDocument/2006/relationships/font"/><Relationship Id="rId55" Target="fonts/font55.fntdata" Type="http://schemas.openxmlformats.org/officeDocument/2006/relationships/font"/><Relationship Id="rId56" Target="notesSlides/notesSlide3.xml" Type="http://schemas.openxmlformats.org/officeDocument/2006/relationships/notesSlide"/><Relationship Id="rId57" Target="fonts/font57.fntdata" Type="http://schemas.openxmlformats.org/officeDocument/2006/relationships/font"/><Relationship Id="rId58" Target="fonts/font58.fntdata" Type="http://schemas.openxmlformats.org/officeDocument/2006/relationships/font"/><Relationship Id="rId59" Target="notesSlides/notesSlide4.xml" Type="http://schemas.openxmlformats.org/officeDocument/2006/relationships/notesSlide"/><Relationship Id="rId6" Target="slides/slide1.xml" Type="http://schemas.openxmlformats.org/officeDocument/2006/relationships/slide"/><Relationship Id="rId60" Target="notesSlides/notesSlide5.xml" Type="http://schemas.openxmlformats.org/officeDocument/2006/relationships/notesSlide"/><Relationship Id="rId61" Target="notesSlides/notesSlide6.xml" Type="http://schemas.openxmlformats.org/officeDocument/2006/relationships/notesSlide"/><Relationship Id="rId62" Target="notesSlides/notesSlide7.xml" Type="http://schemas.openxmlformats.org/officeDocument/2006/relationships/notesSlide"/><Relationship Id="rId63" Target="notesSlides/notesSlide8.xml" Type="http://schemas.openxmlformats.org/officeDocument/2006/relationships/notesSlide"/><Relationship Id="rId64" Target="notesSlides/notesSlide9.xml" Type="http://schemas.openxmlformats.org/officeDocument/2006/relationships/notesSlide"/><Relationship Id="rId65" Target="notesSlides/notesSlide10.xml" Type="http://schemas.openxmlformats.org/officeDocument/2006/relationships/notesSlide"/><Relationship Id="rId66" Target="notesSlides/notesSlide11.xml" Type="http://schemas.openxmlformats.org/officeDocument/2006/relationships/notesSlide"/><Relationship Id="rId67" Target="notesSlides/notesSlide12.xml" Type="http://schemas.openxmlformats.org/officeDocument/2006/relationships/notesSlide"/><Relationship Id="rId68" Target="notesSlides/notesSlide13.xml" Type="http://schemas.openxmlformats.org/officeDocument/2006/relationships/notesSlide"/><Relationship Id="rId69" Target="notesSlides/notesSlide14.xml" Type="http://schemas.openxmlformats.org/officeDocument/2006/relationships/notesSlide"/><Relationship Id="rId7" Target="slides/slide2.xml" Type="http://schemas.openxmlformats.org/officeDocument/2006/relationships/slide"/><Relationship Id="rId70" Target="notesSlides/notesSlide15.xml" Type="http://schemas.openxmlformats.org/officeDocument/2006/relationships/notesSlide"/><Relationship Id="rId71" Target="notesSlides/notesSlide16.xml" Type="http://schemas.openxmlformats.org/officeDocument/2006/relationships/notesSlide"/><Relationship Id="rId72" Target="notesSlides/notesSlide17.xml" Type="http://schemas.openxmlformats.org/officeDocument/2006/relationships/notesSlide"/><Relationship Id="rId73" Target="notesSlides/notesSlide18.xml" Type="http://schemas.openxmlformats.org/officeDocument/2006/relationships/notesSlide"/><Relationship Id="rId74" Target="notesSlides/notesSlide19.xml" Type="http://schemas.openxmlformats.org/officeDocument/2006/relationships/notesSlide"/><Relationship Id="rId75" Target="notesSlides/notesSlide20.xml" Type="http://schemas.openxmlformats.org/officeDocument/2006/relationships/notesSlide"/><Relationship Id="rId76" Target="fonts/font76.fntdata" Type="http://schemas.openxmlformats.org/officeDocument/2006/relationships/font"/><Relationship Id="rId77" Target="notesSlides/notesSlide21.xml" Type="http://schemas.openxmlformats.org/officeDocument/2006/relationships/notesSlide"/><Relationship Id="rId78" Target="notesSlides/notesSlide22.xml" Type="http://schemas.openxmlformats.org/officeDocument/2006/relationships/notesSlide"/><Relationship Id="rId79" Target="notesSlides/notesSlide23.xml" Type="http://schemas.openxmlformats.org/officeDocument/2006/relationships/notesSlide"/><Relationship Id="rId8" Target="slides/slide3.xml" Type="http://schemas.openxmlformats.org/officeDocument/2006/relationships/slide"/><Relationship Id="rId80" Target="notesSlides/notesSlide24.xml" Type="http://schemas.openxmlformats.org/officeDocument/2006/relationships/notesSlide"/><Relationship Id="rId81" Target="notesSlides/notesSlide25.xml" Type="http://schemas.openxmlformats.org/officeDocument/2006/relationships/notesSlide"/><Relationship Id="rId82" Target="notesSlides/notesSlide26.xml" Type="http://schemas.openxmlformats.org/officeDocument/2006/relationships/notesSlide"/><Relationship Id="rId83" Target="notesSlides/notesSlide27.xml" Type="http://schemas.openxmlformats.org/officeDocument/2006/relationships/notesSlide"/><Relationship Id="rId84" Target="fonts/font84.fntdata" Type="http://schemas.openxmlformats.org/officeDocument/2006/relationships/font"/><Relationship Id="rId85" Target="notesSlides/notesSlide28.xml" Type="http://schemas.openxmlformats.org/officeDocument/2006/relationships/notesSlide"/><Relationship Id="rId86" Target="notesSlides/notesSlide29.xml" Type="http://schemas.openxmlformats.org/officeDocument/2006/relationships/notesSlide"/><Relationship Id="rId87" Target="notesSlides/notesSlide30.xml" Type="http://schemas.openxmlformats.org/officeDocument/2006/relationships/notesSlide"/><Relationship Id="rId88" Target="notesSlides/notesSlide31.xml" Type="http://schemas.openxmlformats.org/officeDocument/2006/relationships/notesSlide"/><Relationship Id="rId89" Target="notesSlides/notesSlide32.xml" Type="http://schemas.openxmlformats.org/officeDocument/2006/relationships/notesSlide"/><Relationship Id="rId9" Target="slides/slide4.xml" Type="http://schemas.openxmlformats.org/officeDocument/2006/relationships/slide"/><Relationship Id="rId90" Target="notesSlides/notesSlide33.xml" Type="http://schemas.openxmlformats.org/officeDocument/2006/relationships/notesSlide"/><Relationship Id="rId91" Target="notesSlides/notesSlide34.xml" Type="http://schemas.openxmlformats.org/officeDocument/2006/relationships/notesSlide"/><Relationship Id="rId92" Target="notesSlides/notesSlide35.xml" Type="http://schemas.openxmlformats.org/officeDocument/2006/relationships/note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6.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8.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9.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0.xml" Type="http://schemas.openxmlformats.org/officeDocument/2006/relationships/slide"/></Relationships>
</file>

<file path=ppt/notesSlides/_rels/notesSlide3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1.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r>
              <a:rPr lang="en-US"/>
              <a:t/>
            </a:r>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r>
              <a:rPr lang="en-US"/>
              <a:t/>
            </a:r>
          </a:p>
          <a:p>
            <a:r>
              <a:rPr lang="en-US"/>
              <a:t>Likely question and answer:</a:t>
            </a:r>
          </a:p>
          <a:p>
            <a:r>
              <a:rPr lang="en-US"/>
              <a:t>What is the contribution? An auditable reconstruction and experimental framework; validated novelty and general adaptive gains are still research goals.</a:t>
            </a:r>
          </a:p>
          <a:p>
            <a:r>
              <a:rPr lang="en-US"/>
              <a:t/>
            </a:r>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r>
              <a:rPr lang="en-US"/>
              <a:t/>
            </a:r>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r>
              <a:rPr lang="en-US"/>
              <a:t/>
            </a:r>
          </a:p>
          <a:p>
            <a:r>
              <a:rPr lang="en-US"/>
              <a:t>Likely question and answer:</a:t>
            </a:r>
          </a:p>
          <a:p>
            <a:r>
              <a:rPr lang="en-US"/>
              <a:t>Why Diethe 2019 when Notion says 2018? The supplied PDF identifies a 2018 workshop and arXiv v2 dated March 2019. State the version being cited consistently.</a:t>
            </a:r>
          </a:p>
          <a:p>
            <a:r>
              <a:rPr lang="en-US"/>
              <a:t/>
            </a:r>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r>
              <a:rPr lang="en-US"/>
              <a:t/>
            </a:r>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r>
              <a:rPr lang="en-US"/>
              <a:t/>
            </a:r>
          </a:p>
          <a:p>
            <a:r>
              <a:rPr lang="en-US"/>
              <a:t>Likely question and answer:</a:t>
            </a:r>
          </a:p>
          <a:p>
            <a:r>
              <a:rPr lang="en-US"/>
              <a:t>Did your repository reproduce the clinical system? No. It uses BCI Competition data and a different feature pipeline; the paper provides methodological context.</a:t>
            </a:r>
          </a:p>
          <a:p>
            <a:r>
              <a:rPr lang="en-US"/>
              <a:t/>
            </a:r>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r>
              <a:rPr lang="en-US"/>
              <a:t/>
            </a:r>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r>
              <a:rPr lang="en-US"/>
              <a:t/>
            </a:r>
          </a:p>
          <a:p>
            <a:r>
              <a:rPr lang="en-US"/>
              <a:t>Likely question and answer:</a:t>
            </a:r>
          </a:p>
          <a:p>
            <a:r>
              <a:rPr lang="en-US"/>
              <a:t>Does this prove recovery? No. It demonstrates better decoding and online feasibility, without longitudinal motor-recovery outcomes.</a:t>
            </a:r>
          </a:p>
          <a:p>
            <a:r>
              <a:rPr lang="en-US"/>
              <a:t/>
            </a:r>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r>
              <a:rPr lang="en-US"/>
              <a:t/>
            </a:r>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r>
              <a:rPr lang="en-US"/>
              <a:t/>
            </a:r>
          </a:p>
          <a:p>
            <a:r>
              <a:rPr lang="en-US"/>
              <a:t>Likely question and answer:</a:t>
            </a:r>
          </a:p>
          <a:p>
            <a:r>
              <a:rPr lang="en-US"/>
              <a:t>Were rejected warnings false alarms? We cannot determine that without independent shift truth. Rejection is a statistical outcome, not a ground-truth label.</a:t>
            </a:r>
          </a:p>
          <a:p>
            <a:r>
              <a:rPr lang="en-US"/>
              <a:t/>
            </a:r>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r>
              <a:rPr lang="en-US"/>
              <a:t/>
            </a:r>
          </a:p>
          <a:p>
            <a:r>
              <a:rPr lang="en-US"/>
              <a:t>Suggested explanation (30–60 seconds):</a:t>
            </a:r>
          </a:p>
          <a:p>
            <a:r>
              <a:rPr lang="en-US"/>
              <a:t>Fixed bands, binary tasks and known cue labels constrain transfer to other settings. The authors also discuss continuous and asynchronous operation as extensions.</a:t>
            </a:r>
          </a:p>
          <a:p>
            <a:r>
              <a:rPr lang="en-US"/>
              <a:t/>
            </a:r>
          </a:p>
          <a:p>
            <a:r>
              <a:rPr lang="en-US"/>
              <a:t>Likely question and answer:</a:t>
            </a:r>
          </a:p>
          <a:p>
            <a:r>
              <a:rPr lang="en-US"/>
              <a:t>Why are cue labels imperfect? The intended task is known, but actual participant compliance is assumed.</a:t>
            </a:r>
          </a:p>
          <a:p>
            <a:r>
              <a:rPr lang="en-US"/>
              <a:t/>
            </a:r>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r>
              <a:rPr lang="en-US"/>
              <a:t/>
            </a:r>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r>
              <a:rPr lang="en-US"/>
              <a:t/>
            </a:r>
          </a:p>
          <a:p>
            <a:r>
              <a:rPr lang="en-US"/>
              <a:t>Likely question and answer:</a:t>
            </a:r>
          </a:p>
          <a:p>
            <a:r>
              <a:rPr lang="en-US"/>
              <a:t>Are these author admissions? These are inferences from the protocol and outcome measures, not all direct limitations stated by the authors.</a:t>
            </a:r>
          </a:p>
          <a:p>
            <a:r>
              <a:rPr lang="en-US"/>
              <a:t/>
            </a:r>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r>
              <a:rPr lang="en-US"/>
              <a:t/>
            </a:r>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r>
              <a:rPr lang="en-US"/>
              <a:t/>
            </a:r>
          </a:p>
          <a:p>
            <a:r>
              <a:rPr lang="en-US"/>
              <a:t>Likely question and answer:</a:t>
            </a:r>
          </a:p>
          <a:p>
            <a:r>
              <a:rPr lang="en-US"/>
              <a:t>Why not copy every paper detail? Some temporal sample and update-batch choices are underspecified; alternatives should be named and tested.</a:t>
            </a:r>
          </a:p>
          <a:p>
            <a:r>
              <a:rPr lang="en-US"/>
              <a:t/>
            </a:r>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r>
              <a:rPr lang="en-US"/>
              <a:t/>
            </a:r>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r>
              <a:rPr lang="en-US"/>
              <a:t/>
            </a:r>
          </a:p>
          <a:p>
            <a:r>
              <a:rPr lang="en-US"/>
              <a:t>Likely question and answer:</a:t>
            </a:r>
          </a:p>
          <a:p>
            <a:r>
              <a:rPr lang="en-US"/>
              <a:t>Is the whole model continuously learning? The current loop appends data and retrains; representation and detector stay fixed in Diethe.</a:t>
            </a:r>
          </a:p>
          <a:p>
            <a:r>
              <a:rPr lang="en-US"/>
              <a:t/>
            </a:r>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r>
              <a:rPr lang="en-US"/>
              <a:t/>
            </a:r>
          </a:p>
          <a:p>
            <a:r>
              <a:rPr lang="en-US"/>
              <a:t>Suggested explanation (30–60 seconds):</a:t>
            </a:r>
          </a:p>
          <a:p>
            <a:r>
              <a:rPr lang="en-US"/>
              <a:t>Fit preprocessing only on development training data and reuse it for held-out evaluation. CSE reproduction and classifier benchmarking have distinct split contracts.</a:t>
            </a:r>
          </a:p>
          <a:p>
            <a:r>
              <a:rPr lang="en-US"/>
              <a:t/>
            </a:r>
          </a:p>
          <a:p>
            <a:r>
              <a:rPr lang="en-US"/>
              <a:t>Likely question and answer:</a:t>
            </a:r>
          </a:p>
          <a:p>
            <a:r>
              <a:rPr lang="en-US"/>
              <a:t>Why does 2B use different sessions in different slides? Different experiments answer different questions. Use the protocol table on slide16 to keep them explicit.</a:t>
            </a:r>
          </a:p>
          <a:p>
            <a:r>
              <a:rPr lang="en-US"/>
              <a:t/>
            </a:r>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r>
              <a:rPr lang="en-US"/>
              <a:t/>
            </a:r>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r>
              <a:rPr lang="en-US"/>
              <a:t/>
            </a:r>
          </a:p>
          <a:p>
            <a:r>
              <a:rPr lang="en-US"/>
              <a:t>Likely question and answer:</a:t>
            </a:r>
          </a:p>
          <a:p>
            <a:r>
              <a:rPr lang="en-US"/>
              <a:t>Are real EEG warnings true detections? They are descriptive alarms unless independently annotated or experimentally injected shifts provide ground truth.</a:t>
            </a:r>
          </a:p>
          <a:p>
            <a:r>
              <a:rPr lang="en-US"/>
              <a:t/>
            </a:r>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r>
              <a:rPr lang="en-US"/>
              <a:t/>
            </a:r>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r>
              <a:rPr lang="en-US"/>
              <a:t/>
            </a:r>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r>
              <a:rPr lang="en-US"/>
              <a:t/>
            </a:r>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r>
              <a:rPr lang="en-US"/>
              <a:t/>
            </a:r>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r>
              <a:rPr lang="en-US"/>
              <a:t/>
            </a:r>
          </a:p>
          <a:p>
            <a:r>
              <a:rPr lang="en-US"/>
              <a:t>Likely question and answer:</a:t>
            </a:r>
          </a:p>
          <a:p>
            <a:r>
              <a:rPr lang="en-US"/>
              <a:t>When are labels available? Immediately after prediction, before any update. The validated policy waits for validation_time, not the earlier warning time.</a:t>
            </a:r>
          </a:p>
          <a:p>
            <a:r>
              <a:rPr lang="en-US"/>
              <a:t/>
            </a:r>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r>
              <a:rPr lang="en-US"/>
              <a:t/>
            </a:r>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r>
              <a:rPr lang="en-US"/>
              <a:t/>
            </a:r>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r>
              <a:rPr lang="en-US"/>
              <a:t/>
            </a:r>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r>
              <a:rPr lang="en-US"/>
              <a:t/>
            </a:r>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r>
              <a:rPr lang="en-US"/>
              <a:t/>
            </a:r>
          </a:p>
          <a:p>
            <a:r>
              <a:rPr lang="en-US"/>
              <a:t>Likely question and answer:</a:t>
            </a:r>
          </a:p>
          <a:p>
            <a:r>
              <a:rPr lang="en-US"/>
              <a:t>Does 100% PC2 detection establish superiority? Only for the specified synthetic conditions. The no-change window alarm rate and PC1 trade-off must also be reported.</a:t>
            </a:r>
          </a:p>
          <a:p>
            <a:r>
              <a:rPr lang="en-US"/>
              <a:t/>
            </a:r>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r>
              <a:rPr lang="en-US"/>
              <a:t/>
            </a:r>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r>
              <a:rPr lang="en-US"/>
              <a:t/>
            </a:r>
          </a:p>
          <a:p>
            <a:r>
              <a:rPr lang="en-US"/>
              <a:t>Likely question and answer:</a:t>
            </a:r>
          </a:p>
          <a:p>
            <a:r>
              <a:rPr lang="en-US"/>
              <a:t>What caused the difference? Not established by the saved CSVs. Check validation mode, windows, covariance, input representation and generating configuration.</a:t>
            </a:r>
          </a:p>
          <a:p>
            <a:r>
              <a:rPr lang="en-US"/>
              <a:t/>
            </a:r>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r>
              <a:rPr lang="en-US"/>
              <a:t/>
            </a:r>
          </a:p>
          <a:p>
            <a:r>
              <a:rPr lang="en-US"/>
              <a:t>Suggested explanation (30–60 seconds):</a:t>
            </a:r>
          </a:p>
          <a:p>
            <a:r>
              <a:rPr lang="en-US"/>
              <a:t>The combined results remain far below published validation counts. I can claim an executable reconstruction with measured discrepancies, but cannot claim numerical reproduction.</a:t>
            </a:r>
          </a:p>
          <a:p>
            <a:r>
              <a:rPr lang="en-US"/>
              <a:t/>
            </a:r>
          </a:p>
          <a:p>
            <a:r>
              <a:rPr lang="en-US"/>
              <a:t>Likely question and answer:</a:t>
            </a:r>
          </a:p>
          <a:p>
            <a:r>
              <a:rPr lang="en-US"/>
              <a:t>Should parameters be tuned to match published test counts? That would risk fitting to the evaluation target. Select on development data and report sensitivity separately.</a:t>
            </a:r>
          </a:p>
          <a:p>
            <a:r>
              <a:rPr lang="en-US"/>
              <a:t/>
            </a:r>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r>
              <a:rPr lang="en-US"/>
              <a:t/>
            </a:r>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r>
              <a:rPr lang="en-US"/>
              <a:t/>
            </a:r>
          </a:p>
          <a:p>
            <a:r>
              <a:rPr lang="en-US"/>
              <a:t>Likely question and answer:</a:t>
            </a:r>
          </a:p>
          <a:p>
            <a:r>
              <a:rPr lang="en-US"/>
              <a:t>Does implemented mean validated? No. Code and tests support behaviour; experiments must establish scientific benefit.</a:t>
            </a:r>
          </a:p>
          <a:p>
            <a:r>
              <a:rPr lang="en-US"/>
              <a:t/>
            </a:r>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Timeline</a:t>
            </a:r>
          </a:p>
          <a:p>
            <a:r>
              <a:rPr lang="en-US"/>
              <a:t/>
            </a:r>
          </a:p>
          <a:p>
            <a:r>
              <a:rPr lang="en-US"/>
              <a:t>Suggested explanation (30–60 seconds):</a:t>
            </a:r>
          </a:p>
          <a:p>
            <a:r>
              <a:rPr lang="en-US"/>
              <a:t>This is a proposed first-year plan. The current reconstruction and pilot experiments provide starting evidence for early work packages; the digital twin, sustainability and cross-domain work are future objectives.</a:t>
            </a:r>
          </a:p>
          <a:p>
            <a:r>
              <a:rPr lang="en-US"/>
              <a:t/>
            </a:r>
          </a:p>
          <a:p>
            <a:r>
              <a:rPr lang="en-US"/>
              <a:t>Likely question and answer:</a:t>
            </a:r>
          </a:p>
          <a:p>
            <a:r>
              <a:rPr lang="en-US"/>
              <a:t>Are these packages already completed? No. Distinguish the existing benchmark foundation from planned research outcomes.</a:t>
            </a:r>
          </a:p>
          <a:p>
            <a:r>
              <a:rPr lang="en-US"/>
              <a:t/>
            </a:r>
          </a:p>
          <a:p>
            <a:r>
              <a:rPr lang="en-US"/>
              <a:t>Evidence and cautions:</a:t>
            </a:r>
          </a:p>
          <a:p>
            <a:r>
              <a:rPr lang="en-US"/>
              <a:t>Proposed October2026–September2027 timeline retained from the source deck.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r>
              <a:rPr lang="en-US"/>
              <a:t/>
            </a:r>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r>
              <a:rPr lang="en-US"/>
              <a:t/>
            </a:r>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r>
              <a:rPr lang="en-US"/>
              <a:t/>
            </a:r>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5.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6.png" Type="http://schemas.openxmlformats.org/officeDocument/2006/relationships/image"/><Relationship Id="rId4" Target="../media/image7.png" Type="http://schemas.openxmlformats.org/officeDocument/2006/relationships/image"/><Relationship Id="rId5" Target="../media/image8.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9.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0.png" Type="http://schemas.openxmlformats.org/officeDocument/2006/relationships/image"/><Relationship Id="rId4" Target="../media/image11.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12.png" Type="http://schemas.openxmlformats.org/officeDocument/2006/relationships/image"/><Relationship Id="rId4" Target="../media/image13.png" Type="http://schemas.openxmlformats.org/officeDocument/2006/relationships/image"/><Relationship Id="rId5" Target="../media/image14.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15.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16.png" Type="http://schemas.openxmlformats.org/officeDocument/2006/relationships/image"/><Relationship Id="rId4" Target="../media/image17.png" Type="http://schemas.openxmlformats.org/officeDocument/2006/relationships/image"/><Relationship Id="rId5" Target="../media/image18.png" Type="http://schemas.openxmlformats.org/officeDocument/2006/relationships/image"/><Relationship Id="rId6" Target="../media/image19.png" Type="http://schemas.openxmlformats.org/officeDocument/2006/relationships/image"/><Relationship Id="rId7" Target="../media/image20.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21.png" Type="http://schemas.openxmlformats.org/officeDocument/2006/relationships/image"/><Relationship Id="rId4" Target="../media/image22.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23.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24.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25.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7.xml" Type="http://schemas.openxmlformats.org/officeDocument/2006/relationships/notesSlid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8.xml" Type="http://schemas.openxmlformats.org/officeDocument/2006/relationships/notesSlid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9.xml" Type="http://schemas.openxmlformats.org/officeDocument/2006/relationships/notesSlide"/><Relationship Id="rId3" Target="../media/image26.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0.xml" Type="http://schemas.openxmlformats.org/officeDocument/2006/relationships/notesSlid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1.xml" Type="http://schemas.openxmlformats.org/officeDocument/2006/relationships/notesSlid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2.xml" Type="http://schemas.openxmlformats.org/officeDocument/2006/relationships/notesSlid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3.xml" Type="http://schemas.openxmlformats.org/officeDocument/2006/relationships/notesSlid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4.xml" Type="http://schemas.openxmlformats.org/officeDocument/2006/relationships/notesSlid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5.xml" Type="http://schemas.openxmlformats.org/officeDocument/2006/relationships/notesSlid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9121F"/>
        </a:solidFill>
      </p:bgPr>
    </p:bg>
    <p:spTree>
      <p:nvGrpSpPr>
        <p:cNvPr id="1" name=""/>
        <p:cNvGrpSpPr/>
        <p:nvPr/>
      </p:nvGrpSpPr>
      <p:grpSpPr>
        <a:xfrm>
          <a:off x="0" y="0"/>
          <a:ext cx="0" cy="0"/>
          <a:chOff x="0" y="0"/>
          <a:chExt cx="0" cy="0"/>
        </a:xfrm>
      </p:grpSpPr>
      <p:grpSp>
        <p:nvGrpSpPr>
          <p:cNvPr name="Group 2" id="2"/>
          <p:cNvGrpSpPr/>
          <p:nvPr/>
        </p:nvGrpSpPr>
        <p:grpSpPr>
          <a:xfrm rot="0">
            <a:off x="914400" y="1000125"/>
            <a:ext cx="142875" cy="7429500"/>
            <a:chOff x="0" y="0"/>
            <a:chExt cx="190500" cy="9906000"/>
          </a:xfrm>
        </p:grpSpPr>
        <p:sp>
          <p:nvSpPr>
            <p:cNvPr name="Freeform 3" id="3"/>
            <p:cNvSpPr/>
            <p:nvPr/>
          </p:nvSpPr>
          <p:spPr>
            <a:xfrm flipH="false" flipV="false" rot="0">
              <a:off x="0" y="0"/>
              <a:ext cx="190500" cy="9906000"/>
            </a:xfrm>
            <a:custGeom>
              <a:avLst/>
              <a:gdLst/>
              <a:ahLst/>
              <a:cxnLst/>
              <a:rect r="r" b="b" t="t" l="l"/>
              <a:pathLst>
                <a:path h="9906000" w="190500">
                  <a:moveTo>
                    <a:pt x="0" y="0"/>
                  </a:moveTo>
                  <a:lnTo>
                    <a:pt x="190500" y="0"/>
                  </a:lnTo>
                  <a:lnTo>
                    <a:pt x="190500" y="9906000"/>
                  </a:lnTo>
                  <a:lnTo>
                    <a:pt x="0" y="9906000"/>
                  </a:lnTo>
                  <a:close/>
                </a:path>
              </a:pathLst>
            </a:custGeom>
            <a:solidFill>
              <a:srgbClr val="2DD4BF"/>
            </a:solidFill>
          </p:spPr>
        </p:sp>
      </p:grpSp>
      <p:sp>
        <p:nvSpPr>
          <p:cNvPr name="TextBox 4" id="4"/>
          <p:cNvSpPr txBox="true"/>
          <p:nvPr/>
        </p:nvSpPr>
        <p:spPr>
          <a:xfrm rot="0">
            <a:off x="1571625" y="1571625"/>
            <a:ext cx="10858500" cy="2286000"/>
          </a:xfrm>
          <a:prstGeom prst="rect">
            <a:avLst/>
          </a:prstGeom>
        </p:spPr>
        <p:txBody>
          <a:bodyPr anchor="t" rtlCol="false" tIns="0" lIns="0" bIns="0" rIns="0">
            <a:spAutoFit/>
          </a:bodyPr>
          <a:lstStyle/>
          <a:p>
            <a:pPr algn="l">
              <a:lnSpc>
                <a:spcPts val="7289"/>
              </a:lnSpc>
            </a:pPr>
            <a:r>
              <a:rPr lang="en-US" sz="6075" b="true">
                <a:solidFill>
                  <a:srgbClr val="EAF2F8"/>
                </a:solidFill>
                <a:latin typeface="DejaVu Sans Bold"/>
                <a:ea typeface="DejaVu Sans Bold"/>
                <a:cs typeface="DejaVu Sans Bold"/>
                <a:sym typeface="DejaVu Sans Bold"/>
              </a:rPr>
              <a:t>EWMA Covariate</a:t>
            </a:r>
          </a:p>
          <a:p>
            <a:pPr algn="l">
              <a:lnSpc>
                <a:spcPts val="7289"/>
              </a:lnSpc>
            </a:pPr>
            <a:r>
              <a:rPr lang="en-US" sz="6075" b="true">
                <a:solidFill>
                  <a:srgbClr val="EAF2F8"/>
                </a:solidFill>
                <a:latin typeface="DejaVu Sans Bold"/>
                <a:ea typeface="DejaVu Sans Bold"/>
                <a:cs typeface="DejaVu Sans Bold"/>
                <a:sym typeface="DejaVu Sans Bold"/>
              </a:rPr>
              <a:t>Shift Demo</a:t>
            </a:r>
          </a:p>
        </p:txBody>
      </p:sp>
      <p:sp>
        <p:nvSpPr>
          <p:cNvPr name="TextBox 5" id="5"/>
          <p:cNvSpPr txBox="true"/>
          <p:nvPr/>
        </p:nvSpPr>
        <p:spPr>
          <a:xfrm rot="0">
            <a:off x="1600200" y="4191000"/>
            <a:ext cx="11287125" cy="652463"/>
          </a:xfrm>
          <a:prstGeom prst="rect">
            <a:avLst/>
          </a:prstGeom>
        </p:spPr>
        <p:txBody>
          <a:bodyPr anchor="t" rtlCol="false" tIns="0" lIns="0" bIns="0" rIns="0">
            <a:spAutoFit/>
          </a:bodyPr>
          <a:lstStyle/>
          <a:p>
            <a:pPr algn="l">
              <a:lnSpc>
                <a:spcPts val="3240"/>
              </a:lnSpc>
            </a:pPr>
            <a:r>
              <a:rPr lang="en-US" sz="2700" b="true">
                <a:solidFill>
                  <a:srgbClr val="2DD4BF"/>
                </a:solidFill>
                <a:latin typeface="DejaVu Sans Bold"/>
                <a:ea typeface="DejaVu Sans Bold"/>
                <a:cs typeface="DejaVu Sans Bold"/>
                <a:sym typeface="DejaVu Sans Bold"/>
              </a:rPr>
              <a:t>Research progress review</a:t>
            </a:r>
          </a:p>
        </p:txBody>
      </p:sp>
      <p:sp>
        <p:nvSpPr>
          <p:cNvPr name="TextBox 6" id="6"/>
          <p:cNvSpPr txBox="true"/>
          <p:nvPr/>
        </p:nvSpPr>
        <p:spPr>
          <a:xfrm rot="0">
            <a:off x="1600200" y="5038725"/>
            <a:ext cx="10858500" cy="1190625"/>
          </a:xfrm>
          <a:prstGeom prst="rect">
            <a:avLst/>
          </a:prstGeom>
        </p:spPr>
        <p:txBody>
          <a:bodyPr anchor="t" rtlCol="false" tIns="0" lIns="0" bIns="0" rIns="0">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name="TextBox 7" id="7"/>
          <p:cNvSpPr txBox="true"/>
          <p:nvPr/>
        </p:nvSpPr>
        <p:spPr>
          <a:xfrm rot="0">
            <a:off x="1600200" y="7620000"/>
            <a:ext cx="4857750" cy="438150"/>
          </a:xfrm>
          <a:prstGeom prst="rect">
            <a:avLst/>
          </a:prstGeom>
        </p:spPr>
        <p:txBody>
          <a:bodyPr anchor="t" rtlCol="false" tIns="0" lIns="0" bIns="0" rIns="0">
            <a:spAutoFit/>
          </a:bodyPr>
          <a:lstStyle/>
          <a:p>
            <a:pPr algn="l">
              <a:lnSpc>
                <a:spcPts val="2160"/>
              </a:lnSpc>
            </a:pPr>
            <a:r>
              <a:rPr lang="en-US" sz="1800" b="true">
                <a:solidFill>
                  <a:srgbClr val="EAF2F8"/>
                </a:solidFill>
                <a:latin typeface="DejaVu Sans Bold"/>
                <a:ea typeface="DejaVu Sans Bold"/>
                <a:cs typeface="DejaVu Sans Bold"/>
                <a:sym typeface="DejaVu Sans Bold"/>
              </a:rPr>
              <a:t>Haocheng Lin</a:t>
            </a:r>
          </a:p>
        </p:txBody>
      </p:sp>
      <p:sp>
        <p:nvSpPr>
          <p:cNvPr name="AutoShape 8" id="8"/>
          <p:cNvSpPr/>
          <p:nvPr/>
        </p:nvSpPr>
        <p:spPr>
          <a:xfrm rot="-1942019">
            <a:off x="12744021" y="2119312"/>
            <a:ext cx="1200998" cy="0"/>
          </a:xfrm>
          <a:prstGeom prst="line">
            <a:avLst/>
          </a:prstGeom>
          <a:ln cap="rnd" w="19050">
            <a:solidFill>
              <a:srgbClr val="2DD4BF"/>
            </a:solidFill>
            <a:prstDash val="solid"/>
            <a:headEnd type="none" len="sm" w="sm"/>
            <a:tailEnd type="none" len="sm" w="sm"/>
          </a:ln>
        </p:spPr>
      </p:sp>
      <p:sp>
        <p:nvSpPr>
          <p:cNvPr name="AutoShape 9" id="9"/>
          <p:cNvSpPr/>
          <p:nvPr/>
        </p:nvSpPr>
        <p:spPr>
          <a:xfrm rot="3311520">
            <a:off x="13416801" y="2547938"/>
            <a:ext cx="1827124" cy="0"/>
          </a:xfrm>
          <a:prstGeom prst="line">
            <a:avLst/>
          </a:prstGeom>
          <a:ln cap="rnd" w="19050">
            <a:solidFill>
              <a:srgbClr val="4EA1FF"/>
            </a:solidFill>
            <a:prstDash val="solid"/>
            <a:headEnd type="none" len="sm" w="sm"/>
            <a:tailEnd type="none" len="sm" w="sm"/>
          </a:ln>
        </p:spPr>
      </p:sp>
      <p:sp>
        <p:nvSpPr>
          <p:cNvPr name="AutoShape 10" id="10"/>
          <p:cNvSpPr/>
          <p:nvPr/>
        </p:nvSpPr>
        <p:spPr>
          <a:xfrm rot="-2188140">
            <a:off x="14688960" y="2933700"/>
            <a:ext cx="1225896" cy="0"/>
          </a:xfrm>
          <a:prstGeom prst="line">
            <a:avLst/>
          </a:prstGeom>
          <a:ln cap="rnd" w="19050">
            <a:solidFill>
              <a:srgbClr val="2DD4BF"/>
            </a:solidFill>
            <a:prstDash val="solid"/>
            <a:headEnd type="none" len="sm" w="sm"/>
            <a:tailEnd type="none" len="sm" w="sm"/>
          </a:ln>
        </p:spPr>
      </p:sp>
      <p:sp>
        <p:nvSpPr>
          <p:cNvPr name="AutoShape 11" id="11"/>
          <p:cNvSpPr/>
          <p:nvPr/>
        </p:nvSpPr>
        <p:spPr>
          <a:xfrm rot="3325260">
            <a:off x="15365492" y="3305175"/>
            <a:ext cx="1787366" cy="0"/>
          </a:xfrm>
          <a:prstGeom prst="line">
            <a:avLst/>
          </a:prstGeom>
          <a:ln cap="rnd" w="19050">
            <a:solidFill>
              <a:srgbClr val="4EA1FF"/>
            </a:solidFill>
            <a:prstDash val="solid"/>
            <a:headEnd type="none" len="sm" w="sm"/>
            <a:tailEnd type="none" len="sm" w="sm"/>
          </a:ln>
        </p:spPr>
      </p:sp>
      <p:sp>
        <p:nvSpPr>
          <p:cNvPr name="AutoShape 12" id="12"/>
          <p:cNvSpPr/>
          <p:nvPr/>
        </p:nvSpPr>
        <p:spPr>
          <a:xfrm rot="8385840">
            <a:off x="15264727" y="4548188"/>
            <a:ext cx="1703156" cy="0"/>
          </a:xfrm>
          <a:prstGeom prst="line">
            <a:avLst/>
          </a:prstGeom>
          <a:ln cap="rnd" w="19050">
            <a:solidFill>
              <a:srgbClr val="2DD4BF"/>
            </a:solidFill>
            <a:prstDash val="solid"/>
            <a:headEnd type="none" len="sm" w="sm"/>
            <a:tailEnd type="none" len="sm" w="sm"/>
          </a:ln>
        </p:spPr>
      </p:sp>
      <p:sp>
        <p:nvSpPr>
          <p:cNvPr name="AutoShape 13" id="13"/>
          <p:cNvSpPr/>
          <p:nvPr/>
        </p:nvSpPr>
        <p:spPr>
          <a:xfrm rot="-9463800">
            <a:off x="13948429" y="4791075"/>
            <a:ext cx="1621107" cy="0"/>
          </a:xfrm>
          <a:prstGeom prst="line">
            <a:avLst/>
          </a:prstGeom>
          <a:ln cap="rnd" w="19050">
            <a:solidFill>
              <a:srgbClr val="4EA1FF"/>
            </a:solidFill>
            <a:prstDash val="solid"/>
            <a:headEnd type="none" len="sm" w="sm"/>
            <a:tailEnd type="none" len="sm" w="sm"/>
          </a:ln>
        </p:spPr>
      </p:sp>
      <p:sp>
        <p:nvSpPr>
          <p:cNvPr name="AutoShape 14" id="14"/>
          <p:cNvSpPr/>
          <p:nvPr/>
        </p:nvSpPr>
        <p:spPr>
          <a:xfrm rot="7617840">
            <a:off x="12663011" y="5176838"/>
            <a:ext cx="1734502" cy="0"/>
          </a:xfrm>
          <a:prstGeom prst="line">
            <a:avLst/>
          </a:prstGeom>
          <a:ln cap="rnd" w="19050">
            <a:solidFill>
              <a:srgbClr val="2DD4BF"/>
            </a:solidFill>
            <a:prstDash val="solid"/>
            <a:headEnd type="none" len="sm" w="sm"/>
            <a:tailEnd type="none" len="sm" w="sm"/>
          </a:ln>
        </p:spPr>
      </p:sp>
      <p:grpSp>
        <p:nvGrpSpPr>
          <p:cNvPr name="Group 15" id="15"/>
          <p:cNvGrpSpPr/>
          <p:nvPr/>
        </p:nvGrpSpPr>
        <p:grpSpPr>
          <a:xfrm rot="0">
            <a:off x="12773025" y="2343150"/>
            <a:ext cx="171450" cy="171450"/>
            <a:chOff x="0" y="0"/>
            <a:chExt cx="228600" cy="228600"/>
          </a:xfrm>
        </p:grpSpPr>
        <p:sp>
          <p:nvSpPr>
            <p:cNvPr name="Freeform 16" id="16"/>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17" id="17"/>
          <p:cNvGrpSpPr/>
          <p:nvPr/>
        </p:nvGrpSpPr>
        <p:grpSpPr>
          <a:xfrm rot="0">
            <a:off x="13744575" y="1743075"/>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19" id="19"/>
          <p:cNvGrpSpPr/>
          <p:nvPr/>
        </p:nvGrpSpPr>
        <p:grpSpPr>
          <a:xfrm rot="0">
            <a:off x="14744700" y="3200400"/>
            <a:ext cx="171450" cy="171450"/>
            <a:chOff x="0" y="0"/>
            <a:chExt cx="228600" cy="228600"/>
          </a:xfrm>
        </p:grpSpPr>
        <p:sp>
          <p:nvSpPr>
            <p:cNvPr name="Freeform 20" id="20"/>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21" id="21"/>
          <p:cNvGrpSpPr/>
          <p:nvPr/>
        </p:nvGrpSpPr>
        <p:grpSpPr>
          <a:xfrm rot="0">
            <a:off x="15687675" y="2514600"/>
            <a:ext cx="171450" cy="171450"/>
            <a:chOff x="0" y="0"/>
            <a:chExt cx="228600" cy="228600"/>
          </a:xfrm>
        </p:grpSpPr>
        <p:sp>
          <p:nvSpPr>
            <p:cNvPr name="Freeform 22" id="22"/>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23" id="23"/>
          <p:cNvGrpSpPr/>
          <p:nvPr/>
        </p:nvGrpSpPr>
        <p:grpSpPr>
          <a:xfrm rot="0">
            <a:off x="16659225" y="3943350"/>
            <a:ext cx="171450" cy="171450"/>
            <a:chOff x="0" y="0"/>
            <a:chExt cx="228600" cy="228600"/>
          </a:xfrm>
        </p:grpSpPr>
        <p:sp>
          <p:nvSpPr>
            <p:cNvPr name="Freeform 24" id="24"/>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sp>
      </p:grpSp>
      <p:grpSp>
        <p:nvGrpSpPr>
          <p:cNvPr name="Group 25" id="25"/>
          <p:cNvGrpSpPr/>
          <p:nvPr/>
        </p:nvGrpSpPr>
        <p:grpSpPr>
          <a:xfrm rot="0">
            <a:off x="15401925" y="5000625"/>
            <a:ext cx="171450" cy="171450"/>
            <a:chOff x="0" y="0"/>
            <a:chExt cx="228600" cy="228600"/>
          </a:xfrm>
        </p:grpSpPr>
        <p:sp>
          <p:nvSpPr>
            <p:cNvPr name="Freeform 26" id="26"/>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27" id="27"/>
          <p:cNvGrpSpPr/>
          <p:nvPr/>
        </p:nvGrpSpPr>
        <p:grpSpPr>
          <a:xfrm rot="0">
            <a:off x="13944600" y="4429125"/>
            <a:ext cx="171450" cy="171450"/>
            <a:chOff x="0" y="0"/>
            <a:chExt cx="228600" cy="228600"/>
          </a:xfrm>
        </p:grpSpPr>
        <p:sp>
          <p:nvSpPr>
            <p:cNvPr name="Freeform 28" id="28"/>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29" id="29"/>
          <p:cNvGrpSpPr/>
          <p:nvPr/>
        </p:nvGrpSpPr>
        <p:grpSpPr>
          <a:xfrm rot="0">
            <a:off x="12944475" y="5772150"/>
            <a:ext cx="171450" cy="171450"/>
            <a:chOff x="0" y="0"/>
            <a:chExt cx="228600" cy="228600"/>
          </a:xfrm>
        </p:grpSpPr>
        <p:sp>
          <p:nvSpPr>
            <p:cNvPr name="Freeform 30" id="30"/>
            <p:cNvSpPr/>
            <p:nvPr/>
          </p:nvSpPr>
          <p:spPr>
            <a:xfrm flipH="false" flipV="false" rot="0">
              <a:off x="0" y="0"/>
              <a:ext cx="228600" cy="228600"/>
            </a:xfrm>
            <a:custGeom>
              <a:avLst/>
              <a:gdLst/>
              <a:ahLst/>
              <a:cxnLst/>
              <a:rect r="r" b="b" t="t" l="l"/>
              <a:pathLst>
                <a:path h="228600" w="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sp>
      </p:grpSp>
      <p:grpSp>
        <p:nvGrpSpPr>
          <p:cNvPr name="Group 31" id="31"/>
          <p:cNvGrpSpPr/>
          <p:nvPr/>
        </p:nvGrpSpPr>
        <p:grpSpPr>
          <a:xfrm rot="0">
            <a:off x="14629886" y="7973730"/>
            <a:ext cx="3258579" cy="2160003"/>
            <a:chOff x="0" y="0"/>
            <a:chExt cx="4344772" cy="2880004"/>
          </a:xfrm>
        </p:grpSpPr>
        <p:sp>
          <p:nvSpPr>
            <p:cNvPr name="Freeform 32" id="32"/>
            <p:cNvSpPr/>
            <p:nvPr/>
          </p:nvSpPr>
          <p:spPr>
            <a:xfrm flipH="false" flipV="false" rot="0">
              <a:off x="0" y="0"/>
              <a:ext cx="4344797" cy="2879979"/>
            </a:xfrm>
            <a:custGeom>
              <a:avLst/>
              <a:gdLst/>
              <a:ahLst/>
              <a:cxnLst/>
              <a:rect r="r" b="b" t="t" l="l"/>
              <a:pathLst>
                <a:path h="2879979" w="4344797">
                  <a:moveTo>
                    <a:pt x="0" y="0"/>
                  </a:moveTo>
                  <a:lnTo>
                    <a:pt x="4344797" y="0"/>
                  </a:lnTo>
                  <a:lnTo>
                    <a:pt x="4344797" y="2879979"/>
                  </a:lnTo>
                  <a:lnTo>
                    <a:pt x="0" y="2879979"/>
                  </a:lnTo>
                  <a:lnTo>
                    <a:pt x="0" y="0"/>
                  </a:lnTo>
                  <a:close/>
                </a:path>
              </a:pathLst>
            </a:custGeom>
            <a:blipFill>
              <a:blip r:embed="rId3"/>
              <a:stretch>
                <a:fillRect l="0" t="0" r="0" b="0"/>
              </a:stretch>
            </a:blipFill>
          </p:spPr>
        </p:sp>
      </p:gr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10412" y="484632"/>
            <a:ext cx="16139160" cy="388620"/>
          </a:xfrm>
          <a:prstGeom prst="rect">
            <a:avLst/>
          </a:prstGeom>
        </p:spPr>
        <p:txBody>
          <a:bodyPr anchor="t" rtlCol="false" tIns="0" lIns="0" bIns="0" rIns="0">
            <a:spAutoFit/>
          </a:bodyPr>
          <a:lstStyle/>
          <a:p>
            <a:pPr algn="l">
              <a:lnSpc>
                <a:spcPts val="2340"/>
              </a:lnSpc>
            </a:pPr>
            <a:r>
              <a:rPr lang="en-US" sz="1950" b="true">
                <a:solidFill>
                  <a:srgbClr val="AE9251"/>
                </a:solidFill>
                <a:latin typeface="Aptos Bold"/>
                <a:ea typeface="Aptos Bold"/>
                <a:cs typeface="Aptos Bold"/>
                <a:sym typeface="Aptos Bold"/>
              </a:rPr>
              <a:t>PRESENTATION GUIDE</a:t>
            </a:r>
          </a:p>
        </p:txBody>
      </p:sp>
      <p:sp>
        <p:nvSpPr>
          <p:cNvPr name="TextBox 3" id="3"/>
          <p:cNvSpPr txBox="true"/>
          <p:nvPr/>
        </p:nvSpPr>
        <p:spPr>
          <a:xfrm rot="0">
            <a:off x="1010412" y="1179957"/>
            <a:ext cx="16276320" cy="859155"/>
          </a:xfrm>
          <a:prstGeom prst="rect">
            <a:avLst/>
          </a:prstGeom>
        </p:spPr>
        <p:txBody>
          <a:bodyPr anchor="t" rtlCol="false" tIns="0" lIns="0" bIns="0" rIns="0">
            <a:spAutoFit/>
          </a:bodyPr>
          <a:lstStyle/>
          <a:p>
            <a:pPr algn="l">
              <a:lnSpc>
                <a:spcPts val="4860"/>
              </a:lnSpc>
            </a:pPr>
            <a:r>
              <a:rPr lang="en-US" sz="4050" b="true">
                <a:solidFill>
                  <a:srgbClr val="13274B"/>
                </a:solidFill>
                <a:latin typeface="Aptos Bold"/>
                <a:ea typeface="Aptos Bold"/>
                <a:cs typeface="Aptos Bold"/>
                <a:sym typeface="Aptos Bold"/>
              </a:rPr>
              <a:t>Research narrative and evidence boundaries</a:t>
            </a:r>
          </a:p>
        </p:txBody>
      </p:sp>
      <p:sp>
        <p:nvSpPr>
          <p:cNvPr name="TextBox 4" id="4"/>
          <p:cNvSpPr txBox="true"/>
          <p:nvPr/>
        </p:nvSpPr>
        <p:spPr>
          <a:xfrm rot="0">
            <a:off x="1120140" y="2189607"/>
            <a:ext cx="16139160" cy="68618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From published methods to implementation, reproducibility and the PhD research agenda.</a:t>
            </a:r>
          </a:p>
        </p:txBody>
      </p:sp>
      <p:sp>
        <p:nvSpPr>
          <p:cNvPr name="TextBox 5" id="5"/>
          <p:cNvSpPr txBox="true"/>
          <p:nvPr/>
        </p:nvSpPr>
        <p:spPr>
          <a:xfrm rot="0">
            <a:off x="1010412" y="9801987"/>
            <a:ext cx="12161520" cy="233553"/>
          </a:xfrm>
          <a:prstGeom prst="rect">
            <a:avLst/>
          </a:prstGeom>
        </p:spPr>
        <p:txBody>
          <a:bodyPr anchor="t" rtlCol="false" tIns="0" lIns="0" bIns="0" rIns="0">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name="Group 6" id="6"/>
          <p:cNvGrpSpPr/>
          <p:nvPr/>
        </p:nvGrpSpPr>
        <p:grpSpPr>
          <a:xfrm rot="0">
            <a:off x="1165860" y="2948940"/>
            <a:ext cx="15979140" cy="1124712"/>
            <a:chOff x="0" y="0"/>
            <a:chExt cx="21305520" cy="1499616"/>
          </a:xfrm>
        </p:grpSpPr>
        <p:sp>
          <p:nvSpPr>
            <p:cNvPr name="Freeform 7" id="7"/>
            <p:cNvSpPr/>
            <p:nvPr/>
          </p:nvSpPr>
          <p:spPr>
            <a:xfrm flipH="false" flipV="false" rot="0">
              <a:off x="0" y="0"/>
              <a:ext cx="21305521" cy="1499616"/>
            </a:xfrm>
            <a:custGeom>
              <a:avLst/>
              <a:gdLst/>
              <a:ahLst/>
              <a:cxnLst/>
              <a:rect r="r" b="b" t="t" l="l"/>
              <a:pathLst>
                <a:path h="1499616" w="21305521">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sp>
      </p:grpSp>
      <p:sp>
        <p:nvSpPr>
          <p:cNvPr name="TextBox 8" id="8"/>
          <p:cNvSpPr txBox="true"/>
          <p:nvPr/>
        </p:nvSpPr>
        <p:spPr>
          <a:xfrm rot="0">
            <a:off x="1600200" y="3172968"/>
            <a:ext cx="640080" cy="388620"/>
          </a:xfrm>
          <a:prstGeom prst="rect">
            <a:avLst/>
          </a:prstGeom>
        </p:spPr>
        <p:txBody>
          <a:bodyPr anchor="t" rtlCol="false" tIns="0" lIns="0" bIns="0" rIns="0">
            <a:spAutoFit/>
          </a:bodyPr>
          <a:lstStyle/>
          <a:p>
            <a:pPr algn="l">
              <a:lnSpc>
                <a:spcPts val="2700"/>
              </a:lnSpc>
            </a:pPr>
            <a:r>
              <a:rPr lang="en-US" sz="2250" b="true">
                <a:solidFill>
                  <a:srgbClr val="AE9251"/>
                </a:solidFill>
                <a:latin typeface="Aptos Bold"/>
                <a:ea typeface="Aptos Bold"/>
                <a:cs typeface="Aptos Bold"/>
                <a:sym typeface="Aptos Bold"/>
              </a:rPr>
              <a:t>01</a:t>
            </a:r>
          </a:p>
        </p:txBody>
      </p:sp>
      <p:sp>
        <p:nvSpPr>
          <p:cNvPr name="TextBox 9" id="9"/>
          <p:cNvSpPr txBox="true"/>
          <p:nvPr/>
        </p:nvSpPr>
        <p:spPr>
          <a:xfrm rot="0">
            <a:off x="2628900" y="3159252"/>
            <a:ext cx="4686300" cy="457200"/>
          </a:xfrm>
          <a:prstGeom prst="rect">
            <a:avLst/>
          </a:prstGeom>
        </p:spPr>
        <p:txBody>
          <a:bodyPr anchor="t" rtlCol="false" tIns="0" lIns="0" bIns="0" rIns="0">
            <a:spAutoFit/>
          </a:bodyPr>
          <a:lstStyle/>
          <a:p>
            <a:pPr algn="l">
              <a:lnSpc>
                <a:spcPts val="3060"/>
              </a:lnSpc>
            </a:pPr>
            <a:r>
              <a:rPr lang="en-US" sz="2550" b="true">
                <a:solidFill>
                  <a:srgbClr val="13274B"/>
                </a:solidFill>
                <a:latin typeface="Aptos Bold"/>
                <a:ea typeface="Aptos Bold"/>
                <a:cs typeface="Aptos Bold"/>
                <a:sym typeface="Aptos Bold"/>
              </a:rPr>
              <a:t>Problem and literature</a:t>
            </a:r>
          </a:p>
        </p:txBody>
      </p:sp>
      <p:sp>
        <p:nvSpPr>
          <p:cNvPr name="TextBox 10" id="10"/>
          <p:cNvSpPr txBox="true"/>
          <p:nvPr/>
        </p:nvSpPr>
        <p:spPr>
          <a:xfrm rot="0">
            <a:off x="7223760" y="3204591"/>
            <a:ext cx="9281160" cy="48044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EEG non-stationarity; research lineage; clinical evidence</a:t>
            </a:r>
          </a:p>
        </p:txBody>
      </p:sp>
      <p:grpSp>
        <p:nvGrpSpPr>
          <p:cNvPr name="Group 11" id="11"/>
          <p:cNvGrpSpPr/>
          <p:nvPr/>
        </p:nvGrpSpPr>
        <p:grpSpPr>
          <a:xfrm rot="0">
            <a:off x="1165860" y="4320540"/>
            <a:ext cx="15979140" cy="1124712"/>
            <a:chOff x="0" y="0"/>
            <a:chExt cx="21305520" cy="1499616"/>
          </a:xfrm>
        </p:grpSpPr>
        <p:sp>
          <p:nvSpPr>
            <p:cNvPr name="Freeform 12" id="12"/>
            <p:cNvSpPr/>
            <p:nvPr/>
          </p:nvSpPr>
          <p:spPr>
            <a:xfrm flipH="false" flipV="false" rot="0">
              <a:off x="0" y="0"/>
              <a:ext cx="21305521" cy="1499616"/>
            </a:xfrm>
            <a:custGeom>
              <a:avLst/>
              <a:gdLst/>
              <a:ahLst/>
              <a:cxnLst/>
              <a:rect r="r" b="b" t="t" l="l"/>
              <a:pathLst>
                <a:path h="1499616" w="21305521">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sp>
      </p:grpSp>
      <p:sp>
        <p:nvSpPr>
          <p:cNvPr name="TextBox 13" id="13"/>
          <p:cNvSpPr txBox="true"/>
          <p:nvPr/>
        </p:nvSpPr>
        <p:spPr>
          <a:xfrm rot="0">
            <a:off x="1600200" y="4544568"/>
            <a:ext cx="640080" cy="388620"/>
          </a:xfrm>
          <a:prstGeom prst="rect">
            <a:avLst/>
          </a:prstGeom>
        </p:spPr>
        <p:txBody>
          <a:bodyPr anchor="t" rtlCol="false" tIns="0" lIns="0" bIns="0" rIns="0">
            <a:spAutoFit/>
          </a:bodyPr>
          <a:lstStyle/>
          <a:p>
            <a:pPr algn="l">
              <a:lnSpc>
                <a:spcPts val="2700"/>
              </a:lnSpc>
            </a:pPr>
            <a:r>
              <a:rPr lang="en-US" sz="2250" b="true">
                <a:solidFill>
                  <a:srgbClr val="AE9251"/>
                </a:solidFill>
                <a:latin typeface="Aptos Bold"/>
                <a:ea typeface="Aptos Bold"/>
                <a:cs typeface="Aptos Bold"/>
                <a:sym typeface="Aptos Bold"/>
              </a:rPr>
              <a:t>02</a:t>
            </a:r>
          </a:p>
        </p:txBody>
      </p:sp>
      <p:sp>
        <p:nvSpPr>
          <p:cNvPr name="TextBox 14" id="14"/>
          <p:cNvSpPr txBox="true"/>
          <p:nvPr/>
        </p:nvSpPr>
        <p:spPr>
          <a:xfrm rot="0">
            <a:off x="2628900" y="4530852"/>
            <a:ext cx="4686300" cy="457200"/>
          </a:xfrm>
          <a:prstGeom prst="rect">
            <a:avLst/>
          </a:prstGeom>
        </p:spPr>
        <p:txBody>
          <a:bodyPr anchor="t" rtlCol="false" tIns="0" lIns="0" bIns="0" rIns="0">
            <a:spAutoFit/>
          </a:bodyPr>
          <a:lstStyle/>
          <a:p>
            <a:pPr algn="l">
              <a:lnSpc>
                <a:spcPts val="3060"/>
              </a:lnSpc>
            </a:pPr>
            <a:r>
              <a:rPr lang="en-US" sz="2550" b="true">
                <a:solidFill>
                  <a:srgbClr val="13274B"/>
                </a:solidFill>
                <a:latin typeface="Aptos Bold"/>
                <a:ea typeface="Aptos Bold"/>
                <a:cs typeface="Aptos Bold"/>
                <a:sym typeface="Aptos Bold"/>
              </a:rPr>
              <a:t>Representation and detection</a:t>
            </a:r>
          </a:p>
        </p:txBody>
      </p:sp>
      <p:sp>
        <p:nvSpPr>
          <p:cNvPr name="TextBox 15" id="15"/>
          <p:cNvSpPr txBox="true"/>
          <p:nvPr/>
        </p:nvSpPr>
        <p:spPr>
          <a:xfrm rot="0">
            <a:off x="7223760" y="4576191"/>
            <a:ext cx="9281160" cy="48044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FBCSP features; frozen PCA coordinates; EWMA and Stage II</a:t>
            </a:r>
          </a:p>
        </p:txBody>
      </p:sp>
      <p:grpSp>
        <p:nvGrpSpPr>
          <p:cNvPr name="Group 16" id="16"/>
          <p:cNvGrpSpPr/>
          <p:nvPr/>
        </p:nvGrpSpPr>
        <p:grpSpPr>
          <a:xfrm rot="0">
            <a:off x="1165860" y="5692140"/>
            <a:ext cx="15979140" cy="1124712"/>
            <a:chOff x="0" y="0"/>
            <a:chExt cx="21305520" cy="1499616"/>
          </a:xfrm>
        </p:grpSpPr>
        <p:sp>
          <p:nvSpPr>
            <p:cNvPr name="Freeform 17" id="17"/>
            <p:cNvSpPr/>
            <p:nvPr/>
          </p:nvSpPr>
          <p:spPr>
            <a:xfrm flipH="false" flipV="false" rot="0">
              <a:off x="0" y="0"/>
              <a:ext cx="21305521" cy="1499616"/>
            </a:xfrm>
            <a:custGeom>
              <a:avLst/>
              <a:gdLst/>
              <a:ahLst/>
              <a:cxnLst/>
              <a:rect r="r" b="b" t="t" l="l"/>
              <a:pathLst>
                <a:path h="1499616" w="21305521">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sp>
      </p:grpSp>
      <p:sp>
        <p:nvSpPr>
          <p:cNvPr name="TextBox 18" id="18"/>
          <p:cNvSpPr txBox="true"/>
          <p:nvPr/>
        </p:nvSpPr>
        <p:spPr>
          <a:xfrm rot="0">
            <a:off x="1600200" y="5916168"/>
            <a:ext cx="640080" cy="388620"/>
          </a:xfrm>
          <a:prstGeom prst="rect">
            <a:avLst/>
          </a:prstGeom>
        </p:spPr>
        <p:txBody>
          <a:bodyPr anchor="t" rtlCol="false" tIns="0" lIns="0" bIns="0" rIns="0">
            <a:spAutoFit/>
          </a:bodyPr>
          <a:lstStyle/>
          <a:p>
            <a:pPr algn="l">
              <a:lnSpc>
                <a:spcPts val="2700"/>
              </a:lnSpc>
            </a:pPr>
            <a:r>
              <a:rPr lang="en-US" sz="2250" b="true">
                <a:solidFill>
                  <a:srgbClr val="AE9251"/>
                </a:solidFill>
                <a:latin typeface="Aptos Bold"/>
                <a:ea typeface="Aptos Bold"/>
                <a:cs typeface="Aptos Bold"/>
                <a:sym typeface="Aptos Bold"/>
              </a:rPr>
              <a:t>03</a:t>
            </a:r>
          </a:p>
        </p:txBody>
      </p:sp>
      <p:sp>
        <p:nvSpPr>
          <p:cNvPr name="TextBox 19" id="19"/>
          <p:cNvSpPr txBox="true"/>
          <p:nvPr/>
        </p:nvSpPr>
        <p:spPr>
          <a:xfrm rot="0">
            <a:off x="2628900" y="5902452"/>
            <a:ext cx="4686300" cy="457200"/>
          </a:xfrm>
          <a:prstGeom prst="rect">
            <a:avLst/>
          </a:prstGeom>
        </p:spPr>
        <p:txBody>
          <a:bodyPr anchor="t" rtlCol="false" tIns="0" lIns="0" bIns="0" rIns="0">
            <a:spAutoFit/>
          </a:bodyPr>
          <a:lstStyle/>
          <a:p>
            <a:pPr algn="l">
              <a:lnSpc>
                <a:spcPts val="3060"/>
              </a:lnSpc>
            </a:pPr>
            <a:r>
              <a:rPr lang="en-US" sz="2550" b="true">
                <a:solidFill>
                  <a:srgbClr val="13274B"/>
                </a:solidFill>
                <a:latin typeface="Aptos Bold"/>
                <a:ea typeface="Aptos Bold"/>
                <a:cs typeface="Aptos Bold"/>
                <a:sym typeface="Aptos Bold"/>
              </a:rPr>
              <a:t>Adaptation and system policies</a:t>
            </a:r>
          </a:p>
        </p:txBody>
      </p:sp>
      <p:sp>
        <p:nvSpPr>
          <p:cNvPr name="TextBox 20" id="20"/>
          <p:cNvSpPr txBox="true"/>
          <p:nvPr/>
        </p:nvSpPr>
        <p:spPr>
          <a:xfrm rot="0">
            <a:off x="7223760" y="5947791"/>
            <a:ext cx="9281160" cy="48044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Updated SVM, label availability, Diethe and passive baselines</a:t>
            </a:r>
          </a:p>
        </p:txBody>
      </p:sp>
      <p:grpSp>
        <p:nvGrpSpPr>
          <p:cNvPr name="Group 21" id="21"/>
          <p:cNvGrpSpPr/>
          <p:nvPr/>
        </p:nvGrpSpPr>
        <p:grpSpPr>
          <a:xfrm rot="0">
            <a:off x="1165860" y="7063740"/>
            <a:ext cx="15979140" cy="1124712"/>
            <a:chOff x="0" y="0"/>
            <a:chExt cx="21305520" cy="1499616"/>
          </a:xfrm>
        </p:grpSpPr>
        <p:sp>
          <p:nvSpPr>
            <p:cNvPr name="Freeform 22" id="22"/>
            <p:cNvSpPr/>
            <p:nvPr/>
          </p:nvSpPr>
          <p:spPr>
            <a:xfrm flipH="false" flipV="false" rot="0">
              <a:off x="0" y="0"/>
              <a:ext cx="21305521" cy="1499616"/>
            </a:xfrm>
            <a:custGeom>
              <a:avLst/>
              <a:gdLst/>
              <a:ahLst/>
              <a:cxnLst/>
              <a:rect r="r" b="b" t="t" l="l"/>
              <a:pathLst>
                <a:path h="1499616" w="21305521">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sp>
      </p:grpSp>
      <p:sp>
        <p:nvSpPr>
          <p:cNvPr name="TextBox 23" id="23"/>
          <p:cNvSpPr txBox="true"/>
          <p:nvPr/>
        </p:nvSpPr>
        <p:spPr>
          <a:xfrm rot="0">
            <a:off x="1600200" y="7287768"/>
            <a:ext cx="640080" cy="388620"/>
          </a:xfrm>
          <a:prstGeom prst="rect">
            <a:avLst/>
          </a:prstGeom>
        </p:spPr>
        <p:txBody>
          <a:bodyPr anchor="t" rtlCol="false" tIns="0" lIns="0" bIns="0" rIns="0">
            <a:spAutoFit/>
          </a:bodyPr>
          <a:lstStyle/>
          <a:p>
            <a:pPr algn="l">
              <a:lnSpc>
                <a:spcPts val="2700"/>
              </a:lnSpc>
            </a:pPr>
            <a:r>
              <a:rPr lang="en-US" sz="2250" b="true">
                <a:solidFill>
                  <a:srgbClr val="AE9251"/>
                </a:solidFill>
                <a:latin typeface="Aptos Bold"/>
                <a:ea typeface="Aptos Bold"/>
                <a:cs typeface="Aptos Bold"/>
                <a:sym typeface="Aptos Bold"/>
              </a:rPr>
              <a:t>04</a:t>
            </a:r>
          </a:p>
        </p:txBody>
      </p:sp>
      <p:sp>
        <p:nvSpPr>
          <p:cNvPr name="TextBox 24" id="24"/>
          <p:cNvSpPr txBox="true"/>
          <p:nvPr/>
        </p:nvSpPr>
        <p:spPr>
          <a:xfrm rot="0">
            <a:off x="2628900" y="7274052"/>
            <a:ext cx="4686300" cy="457200"/>
          </a:xfrm>
          <a:prstGeom prst="rect">
            <a:avLst/>
          </a:prstGeom>
        </p:spPr>
        <p:txBody>
          <a:bodyPr anchor="t" rtlCol="false" tIns="0" lIns="0" bIns="0" rIns="0">
            <a:spAutoFit/>
          </a:bodyPr>
          <a:lstStyle/>
          <a:p>
            <a:pPr algn="l">
              <a:lnSpc>
                <a:spcPts val="3060"/>
              </a:lnSpc>
            </a:pPr>
            <a:r>
              <a:rPr lang="en-US" sz="2550" b="true">
                <a:solidFill>
                  <a:srgbClr val="13274B"/>
                </a:solidFill>
                <a:latin typeface="Aptos Bold"/>
                <a:ea typeface="Aptos Bold"/>
                <a:cs typeface="Aptos Bold"/>
                <a:sym typeface="Aptos Bold"/>
              </a:rPr>
              <a:t>Validation and research plan</a:t>
            </a:r>
          </a:p>
        </p:txBody>
      </p:sp>
      <p:sp>
        <p:nvSpPr>
          <p:cNvPr name="TextBox 25" id="25"/>
          <p:cNvSpPr txBox="true"/>
          <p:nvPr/>
        </p:nvSpPr>
        <p:spPr>
          <a:xfrm rot="0">
            <a:off x="7223760" y="7319391"/>
            <a:ext cx="9281160" cy="48044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4400" y="590550"/>
            <a:ext cx="8572500" cy="352425"/>
          </a:xfrm>
          <a:prstGeom prst="rect">
            <a:avLst/>
          </a:prstGeom>
        </p:spPr>
        <p:txBody>
          <a:bodyPr anchor="t" rtlCol="false" tIns="0" lIns="0" bIns="0" rIns="0">
            <a:spAutoFit/>
          </a:bodyPr>
          <a:lstStyle/>
          <a:p>
            <a:pPr algn="l">
              <a:lnSpc>
                <a:spcPts val="1755"/>
              </a:lnSpc>
            </a:pPr>
            <a:r>
              <a:rPr lang="en-US" sz="1462" b="true">
                <a:solidFill>
                  <a:srgbClr val="2DD4BF"/>
                </a:solidFill>
                <a:latin typeface="DejaVu Sans Bold"/>
                <a:ea typeface="DejaVu Sans Bold"/>
                <a:cs typeface="DejaVu Sans Bold"/>
                <a:sym typeface="DejaVu Sans Bold"/>
              </a:rPr>
              <a:t>LITERATURE REVIEW</a:t>
            </a:r>
          </a:p>
        </p:txBody>
      </p:sp>
      <p:sp>
        <p:nvSpPr>
          <p:cNvPr name="TextBox 3" id="3"/>
          <p:cNvSpPr txBox="true"/>
          <p:nvPr/>
        </p:nvSpPr>
        <p:spPr>
          <a:xfrm rot="0">
            <a:off x="914400" y="1028700"/>
            <a:ext cx="16430625" cy="828675"/>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Reading informs the reconstruction and its limits</a:t>
            </a:r>
          </a:p>
        </p:txBody>
      </p:sp>
      <p:sp>
        <p:nvSpPr>
          <p:cNvPr name="AutoShape 4" id="4"/>
          <p:cNvSpPr/>
          <p:nvPr/>
        </p:nvSpPr>
        <p:spPr>
          <a:xfrm rot="5940">
            <a:off x="900103" y="2047875"/>
            <a:ext cx="16487804" cy="0"/>
          </a:xfrm>
          <a:prstGeom prst="line">
            <a:avLst/>
          </a:prstGeom>
          <a:ln cap="rnd" w="19050">
            <a:solidFill>
              <a:srgbClr val="294057"/>
            </a:solidFill>
            <a:prstDash val="solid"/>
            <a:headEnd type="none" len="sm" w="sm"/>
            <a:tailEnd type="none" len="sm" w="sm"/>
          </a:ln>
        </p:spPr>
      </p:sp>
      <p:sp>
        <p:nvSpPr>
          <p:cNvPr name="AutoShape 5" id="5"/>
          <p:cNvSpPr/>
          <p:nvPr/>
        </p:nvSpPr>
        <p:spPr>
          <a:xfrm rot="16440">
            <a:off x="1678696" y="4695825"/>
            <a:ext cx="14930609" cy="0"/>
          </a:xfrm>
          <a:prstGeom prst="line">
            <a:avLst/>
          </a:prstGeom>
          <a:ln cap="rnd" w="38100">
            <a:solidFill>
              <a:srgbClr val="294057"/>
            </a:solidFill>
            <a:prstDash val="solid"/>
            <a:headEnd type="none" len="sm" w="sm"/>
            <a:tailEnd type="none" len="sm" w="sm"/>
          </a:ln>
        </p:spPr>
      </p:sp>
      <p:grpSp>
        <p:nvGrpSpPr>
          <p:cNvPr name="Group 6" id="6"/>
          <p:cNvGrpSpPr/>
          <p:nvPr/>
        </p:nvGrpSpPr>
        <p:grpSpPr>
          <a:xfrm rot="0">
            <a:off x="1857375" y="4514850"/>
            <a:ext cx="400050" cy="400050"/>
            <a:chOff x="0" y="0"/>
            <a:chExt cx="533400" cy="533400"/>
          </a:xfrm>
        </p:grpSpPr>
        <p:sp>
          <p:nvSpPr>
            <p:cNvPr name="Freeform 7" id="7"/>
            <p:cNvSpPr/>
            <p:nvPr/>
          </p:nvSpPr>
          <p:spPr>
            <a:xfrm flipH="false" flipV="false" rot="0">
              <a:off x="0" y="0"/>
              <a:ext cx="533400" cy="533400"/>
            </a:xfrm>
            <a:custGeom>
              <a:avLst/>
              <a:gdLst/>
              <a:ahLst/>
              <a:cxnLst/>
              <a:rect r="r" b="b" t="t" l="l"/>
              <a:pathLst>
                <a:path h="533400" w="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sp>
      </p:grpSp>
      <p:sp>
        <p:nvSpPr>
          <p:cNvPr name="TextBox 8" id="8"/>
          <p:cNvSpPr txBox="true"/>
          <p:nvPr/>
        </p:nvSpPr>
        <p:spPr>
          <a:xfrm rot="0">
            <a:off x="1485900" y="3009900"/>
            <a:ext cx="1714500" cy="533400"/>
          </a:xfrm>
          <a:prstGeom prst="rect">
            <a:avLst/>
          </a:prstGeom>
        </p:spPr>
        <p:txBody>
          <a:bodyPr anchor="t" rtlCol="false" tIns="0" lIns="0" bIns="0" rIns="0">
            <a:spAutoFit/>
          </a:bodyPr>
          <a:lstStyle/>
          <a:p>
            <a:pPr algn="ctr">
              <a:lnSpc>
                <a:spcPts val="2970"/>
              </a:lnSpc>
            </a:pPr>
            <a:r>
              <a:rPr lang="en-US" sz="2475" b="true">
                <a:solidFill>
                  <a:srgbClr val="4EA1FF"/>
                </a:solidFill>
                <a:latin typeface="DejaVu Sans Bold"/>
                <a:ea typeface="DejaVu Sans Bold"/>
                <a:cs typeface="DejaVu Sans Bold"/>
                <a:sym typeface="DejaVu Sans Bold"/>
              </a:rPr>
              <a:t>2015</a:t>
            </a:r>
          </a:p>
        </p:txBody>
      </p:sp>
      <p:sp>
        <p:nvSpPr>
          <p:cNvPr name="TextBox 9" id="9"/>
          <p:cNvSpPr txBox="true"/>
          <p:nvPr/>
        </p:nvSpPr>
        <p:spPr>
          <a:xfrm rot="0">
            <a:off x="857250" y="3633787"/>
            <a:ext cx="2428875" cy="695325"/>
          </a:xfrm>
          <a:prstGeom prst="rect">
            <a:avLst/>
          </a:prstGeom>
        </p:spPr>
        <p:txBody>
          <a:bodyPr anchor="t" rtlCol="false" tIns="0" lIns="0" bIns="0" rIns="0">
            <a:spAutoFit/>
          </a:bodyPr>
          <a:lstStyle/>
          <a:p>
            <a:pPr algn="ctr">
              <a:lnSpc>
                <a:spcPts val="2295"/>
              </a:lnSpc>
            </a:pPr>
            <a:r>
              <a:rPr lang="en-US" sz="1912" b="true">
                <a:solidFill>
                  <a:srgbClr val="EAF2F8"/>
                </a:solidFill>
                <a:latin typeface="DejaVu Sans Bold"/>
                <a:ea typeface="DejaVu Sans Bold"/>
                <a:cs typeface="DejaVu Sans Bold"/>
                <a:sym typeface="DejaVu Sans Bold"/>
              </a:rPr>
              <a:t>Raza: detector basis</a:t>
            </a:r>
          </a:p>
        </p:txBody>
      </p:sp>
      <p:sp>
        <p:nvSpPr>
          <p:cNvPr name="TextBox 10" id="10"/>
          <p:cNvSpPr txBox="true"/>
          <p:nvPr/>
        </p:nvSpPr>
        <p:spPr>
          <a:xfrm rot="0">
            <a:off x="857250" y="5324475"/>
            <a:ext cx="2428875" cy="93345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name="Group 11" id="11"/>
          <p:cNvGrpSpPr/>
          <p:nvPr/>
        </p:nvGrpSpPr>
        <p:grpSpPr>
          <a:xfrm rot="0">
            <a:off x="5857875" y="4514850"/>
            <a:ext cx="400050" cy="400050"/>
            <a:chOff x="0" y="0"/>
            <a:chExt cx="533400" cy="533400"/>
          </a:xfrm>
        </p:grpSpPr>
        <p:sp>
          <p:nvSpPr>
            <p:cNvPr name="Freeform 12" id="12"/>
            <p:cNvSpPr/>
            <p:nvPr/>
          </p:nvSpPr>
          <p:spPr>
            <a:xfrm flipH="false" flipV="false" rot="0">
              <a:off x="0" y="0"/>
              <a:ext cx="533400" cy="533400"/>
            </a:xfrm>
            <a:custGeom>
              <a:avLst/>
              <a:gdLst/>
              <a:ahLst/>
              <a:cxnLst/>
              <a:rect r="r" b="b" t="t" l="l"/>
              <a:pathLst>
                <a:path h="533400" w="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sp>
      </p:grpSp>
      <p:sp>
        <p:nvSpPr>
          <p:cNvPr name="TextBox 13" id="13"/>
          <p:cNvSpPr txBox="true"/>
          <p:nvPr/>
        </p:nvSpPr>
        <p:spPr>
          <a:xfrm rot="0">
            <a:off x="5486400" y="3009900"/>
            <a:ext cx="1714500" cy="533400"/>
          </a:xfrm>
          <a:prstGeom prst="rect">
            <a:avLst/>
          </a:prstGeom>
        </p:spPr>
        <p:txBody>
          <a:bodyPr anchor="t" rtlCol="false" tIns="0" lIns="0" bIns="0" rIns="0">
            <a:spAutoFit/>
          </a:bodyPr>
          <a:lstStyle/>
          <a:p>
            <a:pPr algn="ctr">
              <a:lnSpc>
                <a:spcPts val="2970"/>
              </a:lnSpc>
            </a:pPr>
            <a:r>
              <a:rPr lang="en-US" sz="2475" b="true">
                <a:solidFill>
                  <a:srgbClr val="2DD4BF"/>
                </a:solidFill>
                <a:latin typeface="DejaVu Sans Bold"/>
                <a:ea typeface="DejaVu Sans Bold"/>
                <a:cs typeface="DejaVu Sans Bold"/>
                <a:sym typeface="DejaVu Sans Bold"/>
              </a:rPr>
              <a:t>2018</a:t>
            </a:r>
          </a:p>
        </p:txBody>
      </p:sp>
      <p:sp>
        <p:nvSpPr>
          <p:cNvPr name="TextBox 14" id="14"/>
          <p:cNvSpPr txBox="true"/>
          <p:nvPr/>
        </p:nvSpPr>
        <p:spPr>
          <a:xfrm rot="0">
            <a:off x="4857750" y="3633787"/>
            <a:ext cx="2428875" cy="695325"/>
          </a:xfrm>
          <a:prstGeom prst="rect">
            <a:avLst/>
          </a:prstGeom>
        </p:spPr>
        <p:txBody>
          <a:bodyPr anchor="t" rtlCol="false" tIns="0" lIns="0" bIns="0" rIns="0">
            <a:spAutoFit/>
          </a:bodyPr>
          <a:lstStyle/>
          <a:p>
            <a:pPr algn="ctr">
              <a:lnSpc>
                <a:spcPts val="2295"/>
              </a:lnSpc>
            </a:pPr>
            <a:r>
              <a:rPr lang="en-US" sz="1912" b="true">
                <a:solidFill>
                  <a:srgbClr val="EAF2F8"/>
                </a:solidFill>
                <a:latin typeface="DejaVu Sans Bold"/>
                <a:ea typeface="DejaVu Sans Bold"/>
                <a:cs typeface="DejaVu Sans Bold"/>
                <a:sym typeface="DejaVu Sans Bold"/>
              </a:rPr>
              <a:t>Chowdhury: online BCI</a:t>
            </a:r>
          </a:p>
        </p:txBody>
      </p:sp>
      <p:sp>
        <p:nvSpPr>
          <p:cNvPr name="TextBox 15" id="15"/>
          <p:cNvSpPr txBox="true"/>
          <p:nvPr/>
        </p:nvSpPr>
        <p:spPr>
          <a:xfrm rot="0">
            <a:off x="4857750" y="5324475"/>
            <a:ext cx="2428875" cy="93345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name="Group 16" id="16"/>
          <p:cNvGrpSpPr/>
          <p:nvPr/>
        </p:nvGrpSpPr>
        <p:grpSpPr>
          <a:xfrm rot="0">
            <a:off x="9858375" y="4514850"/>
            <a:ext cx="400050" cy="400050"/>
            <a:chOff x="0" y="0"/>
            <a:chExt cx="533400" cy="533400"/>
          </a:xfrm>
        </p:grpSpPr>
        <p:sp>
          <p:nvSpPr>
            <p:cNvPr name="Freeform 17" id="17"/>
            <p:cNvSpPr/>
            <p:nvPr/>
          </p:nvSpPr>
          <p:spPr>
            <a:xfrm flipH="false" flipV="false" rot="0">
              <a:off x="0" y="0"/>
              <a:ext cx="533400" cy="533400"/>
            </a:xfrm>
            <a:custGeom>
              <a:avLst/>
              <a:gdLst/>
              <a:ahLst/>
              <a:cxnLst/>
              <a:rect r="r" b="b" t="t" l="l"/>
              <a:pathLst>
                <a:path h="533400" w="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sp>
      </p:grpSp>
      <p:sp>
        <p:nvSpPr>
          <p:cNvPr name="TextBox 18" id="18"/>
          <p:cNvSpPr txBox="true"/>
          <p:nvPr/>
        </p:nvSpPr>
        <p:spPr>
          <a:xfrm rot="0">
            <a:off x="9486900" y="3009900"/>
            <a:ext cx="1714500" cy="533400"/>
          </a:xfrm>
          <a:prstGeom prst="rect">
            <a:avLst/>
          </a:prstGeom>
        </p:spPr>
        <p:txBody>
          <a:bodyPr anchor="t" rtlCol="false" tIns="0" lIns="0" bIns="0" rIns="0">
            <a:spAutoFit/>
          </a:bodyPr>
          <a:lstStyle/>
          <a:p>
            <a:pPr algn="ctr">
              <a:lnSpc>
                <a:spcPts val="2970"/>
              </a:lnSpc>
            </a:pPr>
            <a:r>
              <a:rPr lang="en-US" sz="2475" b="true">
                <a:solidFill>
                  <a:srgbClr val="F5B942"/>
                </a:solidFill>
                <a:latin typeface="DejaVu Sans Bold"/>
                <a:ea typeface="DejaVu Sans Bold"/>
                <a:cs typeface="DejaVu Sans Bold"/>
                <a:sym typeface="DejaVu Sans Bold"/>
              </a:rPr>
              <a:t>2019</a:t>
            </a:r>
          </a:p>
        </p:txBody>
      </p:sp>
      <p:sp>
        <p:nvSpPr>
          <p:cNvPr name="TextBox 19" id="19"/>
          <p:cNvSpPr txBox="true"/>
          <p:nvPr/>
        </p:nvSpPr>
        <p:spPr>
          <a:xfrm rot="0">
            <a:off x="8858250" y="3633787"/>
            <a:ext cx="2428875" cy="695325"/>
          </a:xfrm>
          <a:prstGeom prst="rect">
            <a:avLst/>
          </a:prstGeom>
        </p:spPr>
        <p:txBody>
          <a:bodyPr anchor="t" rtlCol="false" tIns="0" lIns="0" bIns="0" rIns="0">
            <a:spAutoFit/>
          </a:bodyPr>
          <a:lstStyle/>
          <a:p>
            <a:pPr algn="ctr">
              <a:lnSpc>
                <a:spcPts val="2295"/>
              </a:lnSpc>
            </a:pPr>
            <a:r>
              <a:rPr lang="en-US" sz="1912" b="true">
                <a:solidFill>
                  <a:srgbClr val="EAF2F8"/>
                </a:solidFill>
                <a:latin typeface="DejaVu Sans Bold"/>
                <a:ea typeface="DejaVu Sans Bold"/>
                <a:cs typeface="DejaVu Sans Bold"/>
                <a:sym typeface="DejaVu Sans Bold"/>
              </a:rPr>
              <a:t>Raza: CSE-UAEL</a:t>
            </a:r>
          </a:p>
        </p:txBody>
      </p:sp>
      <p:sp>
        <p:nvSpPr>
          <p:cNvPr name="TextBox 20" id="20"/>
          <p:cNvSpPr txBox="true"/>
          <p:nvPr/>
        </p:nvSpPr>
        <p:spPr>
          <a:xfrm rot="0">
            <a:off x="8858250" y="5324475"/>
            <a:ext cx="2428875" cy="933450"/>
          </a:xfrm>
          <a:prstGeom prst="rect">
            <a:avLst/>
          </a:prstGeom>
        </p:spPr>
        <p:txBody>
          <a:bodyPr anchor="t" rtlCol="false" tIns="0" lIns="0" bIns="0" rIns="0">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name="Group 21" id="21"/>
          <p:cNvGrpSpPr/>
          <p:nvPr/>
        </p:nvGrpSpPr>
        <p:grpSpPr>
          <a:xfrm rot="0">
            <a:off x="13858875" y="4514850"/>
            <a:ext cx="400050" cy="400050"/>
            <a:chOff x="0" y="0"/>
            <a:chExt cx="533400" cy="533400"/>
          </a:xfrm>
        </p:grpSpPr>
        <p:sp>
          <p:nvSpPr>
            <p:cNvPr name="Freeform 22" id="22"/>
            <p:cNvSpPr/>
            <p:nvPr/>
          </p:nvSpPr>
          <p:spPr>
            <a:xfrm flipH="false" flipV="false" rot="0">
              <a:off x="0" y="0"/>
              <a:ext cx="533400" cy="533400"/>
            </a:xfrm>
            <a:custGeom>
              <a:avLst/>
              <a:gdLst/>
              <a:ahLst/>
              <a:cxnLst/>
              <a:rect r="r" b="b" t="t" l="l"/>
              <a:pathLst>
                <a:path h="533400" w="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sp>
      </p:grpSp>
      <p:sp>
        <p:nvSpPr>
          <p:cNvPr name="TextBox 23" id="23"/>
          <p:cNvSpPr txBox="true"/>
          <p:nvPr/>
        </p:nvSpPr>
        <p:spPr>
          <a:xfrm rot="0">
            <a:off x="13487400" y="3009900"/>
            <a:ext cx="1714500" cy="533400"/>
          </a:xfrm>
          <a:prstGeom prst="rect">
            <a:avLst/>
          </a:prstGeom>
        </p:spPr>
        <p:txBody>
          <a:bodyPr anchor="t" rtlCol="false" tIns="0" lIns="0" bIns="0" rIns="0">
            <a:spAutoFit/>
          </a:bodyPr>
          <a:lstStyle/>
          <a:p>
            <a:pPr algn="ctr">
              <a:lnSpc>
                <a:spcPts val="2970"/>
              </a:lnSpc>
            </a:pPr>
            <a:r>
              <a:rPr lang="en-US" sz="2475" b="true">
                <a:solidFill>
                  <a:srgbClr val="64D98B"/>
                </a:solidFill>
                <a:latin typeface="DejaVu Sans Bold"/>
                <a:ea typeface="DejaVu Sans Bold"/>
                <a:cs typeface="DejaVu Sans Bold"/>
                <a:sym typeface="DejaVu Sans Bold"/>
              </a:rPr>
              <a:t>Related</a:t>
            </a:r>
          </a:p>
        </p:txBody>
      </p:sp>
      <p:sp>
        <p:nvSpPr>
          <p:cNvPr name="TextBox 24" id="24"/>
          <p:cNvSpPr txBox="true"/>
          <p:nvPr/>
        </p:nvSpPr>
        <p:spPr>
          <a:xfrm rot="0">
            <a:off x="12858750" y="3633787"/>
            <a:ext cx="2428875" cy="695325"/>
          </a:xfrm>
          <a:prstGeom prst="rect">
            <a:avLst/>
          </a:prstGeom>
        </p:spPr>
        <p:txBody>
          <a:bodyPr anchor="t" rtlCol="false" tIns="0" lIns="0" bIns="0" rIns="0">
            <a:spAutoFit/>
          </a:bodyPr>
          <a:lstStyle/>
          <a:p>
            <a:pPr algn="ctr">
              <a:lnSpc>
                <a:spcPts val="2295"/>
              </a:lnSpc>
            </a:pPr>
            <a:r>
              <a:rPr lang="en-US" sz="1912" b="true">
                <a:solidFill>
                  <a:srgbClr val="EAF2F8"/>
                </a:solidFill>
                <a:latin typeface="DejaVu Sans Bold"/>
                <a:ea typeface="DejaVu Sans Bold"/>
                <a:cs typeface="DejaVu Sans Bold"/>
                <a:sym typeface="DejaVu Sans Bold"/>
              </a:rPr>
              <a:t>Rao and Heyden</a:t>
            </a:r>
          </a:p>
        </p:txBody>
      </p:sp>
      <p:sp>
        <p:nvSpPr>
          <p:cNvPr name="TextBox 25" id="25"/>
          <p:cNvSpPr txBox="true"/>
          <p:nvPr/>
        </p:nvSpPr>
        <p:spPr>
          <a:xfrm rot="0">
            <a:off x="12858750" y="5324475"/>
            <a:ext cx="2428875" cy="93345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name="TextBox 26" id="26"/>
          <p:cNvSpPr txBox="true"/>
          <p:nvPr/>
        </p:nvSpPr>
        <p:spPr>
          <a:xfrm rot="0">
            <a:off x="1857375" y="8237982"/>
            <a:ext cx="14573250" cy="773430"/>
          </a:xfrm>
          <a:prstGeom prst="rect">
            <a:avLst/>
          </a:prstGeom>
        </p:spPr>
        <p:txBody>
          <a:bodyPr anchor="t" rtlCol="false" tIns="0" lIns="0" bIns="0" rIns="0">
            <a:spAutoFit/>
          </a:bodyPr>
          <a:lstStyle/>
          <a:p>
            <a:pPr algn="l">
              <a:lnSpc>
                <a:spcPts val="2700"/>
              </a:lnSpc>
            </a:pPr>
            <a:r>
              <a:rPr lang="en-US" sz="2250" b="true">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name="TextBox 27" id="27"/>
          <p:cNvSpPr txBox="true"/>
          <p:nvPr/>
        </p:nvSpPr>
        <p:spPr>
          <a:xfrm rot="0">
            <a:off x="914400" y="9763125"/>
            <a:ext cx="6143625" cy="266700"/>
          </a:xfrm>
          <a:prstGeom prst="rect">
            <a:avLst/>
          </a:prstGeom>
        </p:spPr>
        <p:txBody>
          <a:bodyPr anchor="t" rtlCol="false" tIns="0" lIns="0" bIns="0" rIns="0">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name="TextBox 28" id="28"/>
          <p:cNvSpPr txBox="true"/>
          <p:nvPr/>
        </p:nvSpPr>
        <p:spPr>
          <a:xfrm rot="0">
            <a:off x="16573500" y="9734550"/>
            <a:ext cx="800100" cy="295275"/>
          </a:xfrm>
          <a:prstGeom prst="rect">
            <a:avLst/>
          </a:prstGeom>
        </p:spPr>
        <p:txBody>
          <a:bodyPr anchor="t" rtlCol="false" tIns="0" lIns="0" bIns="0" rIns="0">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name="Group 29" id="29"/>
          <p:cNvGrpSpPr/>
          <p:nvPr/>
        </p:nvGrpSpPr>
        <p:grpSpPr>
          <a:xfrm rot="0">
            <a:off x="11237595" y="6436995"/>
            <a:ext cx="5711190" cy="1006602"/>
            <a:chOff x="0" y="0"/>
            <a:chExt cx="7614920" cy="1342136"/>
          </a:xfrm>
        </p:grpSpPr>
        <p:sp>
          <p:nvSpPr>
            <p:cNvPr name="Freeform 30" id="30"/>
            <p:cNvSpPr/>
            <p:nvPr/>
          </p:nvSpPr>
          <p:spPr>
            <a:xfrm flipH="false" flipV="false" rot="0">
              <a:off x="0" y="0"/>
              <a:ext cx="7614920" cy="1342136"/>
            </a:xfrm>
            <a:custGeom>
              <a:avLst/>
              <a:gdLst/>
              <a:ahLst/>
              <a:cxnLst/>
              <a:rect r="r" b="b" t="t" l="l"/>
              <a:pathLst>
                <a:path h="1342136" w="7614920">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sp>
      </p:grpSp>
      <p:sp>
        <p:nvSpPr>
          <p:cNvPr name="TextBox 31" id="31"/>
          <p:cNvSpPr txBox="true"/>
          <p:nvPr/>
        </p:nvSpPr>
        <p:spPr>
          <a:xfrm rot="0">
            <a:off x="11494008" y="6574155"/>
            <a:ext cx="5143500" cy="228981"/>
          </a:xfrm>
          <a:prstGeom prst="rect">
            <a:avLst/>
          </a:prstGeom>
        </p:spPr>
        <p:txBody>
          <a:bodyPr anchor="t" rtlCol="false" tIns="0" lIns="0" bIns="0" rIns="0">
            <a:spAutoFit/>
          </a:bodyPr>
          <a:lstStyle/>
          <a:p>
            <a:pPr algn="l">
              <a:lnSpc>
                <a:spcPts val="1512"/>
              </a:lnSpc>
            </a:pPr>
            <a:r>
              <a:rPr lang="en-US" sz="1260" b="true">
                <a:solidFill>
                  <a:srgbClr val="A56AFF"/>
                </a:solidFill>
                <a:latin typeface="Aptos Bold"/>
                <a:ea typeface="Aptos Bold"/>
                <a:cs typeface="Aptos Bold"/>
                <a:sym typeface="Aptos Bold"/>
              </a:rPr>
              <a:t>Heyden et al. (2024): reconstruction loss basis</a:t>
            </a:r>
          </a:p>
        </p:txBody>
      </p:sp>
      <p:grpSp>
        <p:nvGrpSpPr>
          <p:cNvPr name="Group 32" id="32"/>
          <p:cNvGrpSpPr/>
          <p:nvPr/>
        </p:nvGrpSpPr>
        <p:grpSpPr>
          <a:xfrm rot="0">
            <a:off x="12365584" y="6815252"/>
            <a:ext cx="3386642" cy="626383"/>
            <a:chOff x="0" y="0"/>
            <a:chExt cx="4515523" cy="835177"/>
          </a:xfrm>
        </p:grpSpPr>
        <p:sp>
          <p:nvSpPr>
            <p:cNvPr name="Freeform 33" id="33" descr="formula_loss.png"/>
            <p:cNvSpPr/>
            <p:nvPr/>
          </p:nvSpPr>
          <p:spPr>
            <a:xfrm flipH="false" flipV="false" rot="0">
              <a:off x="0" y="0"/>
              <a:ext cx="4515485" cy="835152"/>
            </a:xfrm>
            <a:custGeom>
              <a:avLst/>
              <a:gdLst/>
              <a:ahLst/>
              <a:cxnLst/>
              <a:rect r="r" b="b" t="t" l="l"/>
              <a:pathLst>
                <a:path h="835152" w="4515485">
                  <a:moveTo>
                    <a:pt x="0" y="0"/>
                  </a:moveTo>
                  <a:lnTo>
                    <a:pt x="4515485" y="0"/>
                  </a:lnTo>
                  <a:lnTo>
                    <a:pt x="4515485" y="835152"/>
                  </a:lnTo>
                  <a:lnTo>
                    <a:pt x="0" y="835152"/>
                  </a:lnTo>
                  <a:lnTo>
                    <a:pt x="0" y="0"/>
                  </a:lnTo>
                  <a:close/>
                </a:path>
              </a:pathLst>
            </a:custGeom>
            <a:blipFill>
              <a:blip r:embed="rId3"/>
              <a:stretch>
                <a:fillRect l="0" t="0" r="0" b="-2"/>
              </a:stretch>
            </a:blipFill>
          </p:spPr>
        </p:sp>
      </p:grpSp>
      <p:sp>
        <p:nvSpPr>
          <p:cNvPr name="TextBox 34" id="34"/>
          <p:cNvSpPr txBox="true"/>
          <p:nvPr/>
        </p:nvSpPr>
        <p:spPr>
          <a:xfrm rot="0">
            <a:off x="1028700" y="6414135"/>
            <a:ext cx="9326880" cy="1015365"/>
          </a:xfrm>
          <a:prstGeom prst="rect">
            <a:avLst/>
          </a:prstGeom>
        </p:spPr>
        <p:txBody>
          <a:bodyPr anchor="t" rtlCol="false" tIns="0" lIns="0" bIns="0" rIns="0">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8FAFC"/>
        </a:solidFill>
      </p:bgPr>
    </p:bg>
    <p:spTree>
      <p:nvGrpSpPr>
        <p:cNvPr id="1" name=""/>
        <p:cNvGrpSpPr/>
        <p:nvPr/>
      </p:nvGrpSpPr>
      <p:grpSpPr>
        <a:xfrm>
          <a:off x="0" y="0"/>
          <a:ext cx="0" cy="0"/>
          <a:chOff x="0" y="0"/>
          <a:chExt cx="0" cy="0"/>
        </a:xfrm>
      </p:grpSpPr>
      <p:sp>
        <p:nvSpPr>
          <p:cNvPr name="TextBox 2" id="2"/>
          <p:cNvSpPr txBox="true"/>
          <p:nvPr/>
        </p:nvSpPr>
        <p:spPr>
          <a:xfrm rot="0">
            <a:off x="987552" y="566928"/>
            <a:ext cx="14968728" cy="320040"/>
          </a:xfrm>
          <a:prstGeom prst="rect">
            <a:avLst/>
          </a:prstGeom>
        </p:spPr>
        <p:txBody>
          <a:bodyPr anchor="t" rtlCol="false" tIns="0" lIns="0" bIns="0" rIns="0">
            <a:spAutoFit/>
          </a:bodyPr>
          <a:lstStyle/>
          <a:p>
            <a:pPr algn="l">
              <a:lnSpc>
                <a:spcPts val="1800"/>
              </a:lnSpc>
            </a:pPr>
            <a:r>
              <a:rPr lang="en-US" sz="1500" b="true">
                <a:solidFill>
                  <a:srgbClr val="0D9488"/>
                </a:solidFill>
                <a:latin typeface="Aptos Bold"/>
                <a:ea typeface="Aptos Bold"/>
                <a:cs typeface="Aptos Bold"/>
                <a:sym typeface="Aptos Bold"/>
              </a:rPr>
              <a:t>LITERATURE INTEGRATION</a:t>
            </a:r>
          </a:p>
        </p:txBody>
      </p:sp>
      <p:sp>
        <p:nvSpPr>
          <p:cNvPr name="TextBox 3" id="3"/>
          <p:cNvSpPr txBox="true"/>
          <p:nvPr/>
        </p:nvSpPr>
        <p:spPr>
          <a:xfrm rot="0">
            <a:off x="987552" y="1088136"/>
            <a:ext cx="16340328" cy="854964"/>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Park and Raza: two stages, different questions</a:t>
            </a:r>
          </a:p>
        </p:txBody>
      </p:sp>
      <p:sp>
        <p:nvSpPr>
          <p:cNvPr name="TextBox 4" id="4"/>
          <p:cNvSpPr txBox="true"/>
          <p:nvPr/>
        </p:nvSpPr>
        <p:spPr>
          <a:xfrm rot="0">
            <a:off x="987552" y="2103120"/>
            <a:ext cx="16340328" cy="690372"/>
          </a:xfrm>
          <a:prstGeom prst="rect">
            <a:avLst/>
          </a:prstGeom>
        </p:spPr>
        <p:txBody>
          <a:bodyPr anchor="t" rtlCol="false" tIns="0" lIns="0" bIns="0" rIns="0">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name="TextBox 5" id="5"/>
          <p:cNvSpPr txBox="true"/>
          <p:nvPr/>
        </p:nvSpPr>
        <p:spPr>
          <a:xfrm rot="0">
            <a:off x="987552" y="9788271"/>
            <a:ext cx="13597128" cy="247269"/>
          </a:xfrm>
          <a:prstGeom prst="rect">
            <a:avLst/>
          </a:prstGeom>
        </p:spPr>
        <p:txBody>
          <a:bodyPr anchor="t" rtlCol="false" tIns="0" lIns="0" bIns="0" rIns="0">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name="Group 6" id="6"/>
          <p:cNvGrpSpPr/>
          <p:nvPr/>
        </p:nvGrpSpPr>
        <p:grpSpPr>
          <a:xfrm rot="0">
            <a:off x="950595" y="3007995"/>
            <a:ext cx="8042910" cy="5093970"/>
            <a:chOff x="0" y="0"/>
            <a:chExt cx="10723880" cy="6791960"/>
          </a:xfrm>
        </p:grpSpPr>
        <p:sp>
          <p:nvSpPr>
            <p:cNvPr name="Freeform 7" id="7"/>
            <p:cNvSpPr/>
            <p:nvPr/>
          </p:nvSpPr>
          <p:spPr>
            <a:xfrm flipH="false" flipV="false" rot="0">
              <a:off x="0" y="0"/>
              <a:ext cx="10723880" cy="6791960"/>
            </a:xfrm>
            <a:custGeom>
              <a:avLst/>
              <a:gdLst/>
              <a:ahLst/>
              <a:cxnLst/>
              <a:rect r="r" b="b" t="t" l="l"/>
              <a:pathLst>
                <a:path h="6791960" w="1072388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sp>
      </p:grpSp>
      <p:sp>
        <p:nvSpPr>
          <p:cNvPr name="TextBox 8" id="8"/>
          <p:cNvSpPr txBox="true"/>
          <p:nvPr/>
        </p:nvSpPr>
        <p:spPr>
          <a:xfrm rot="0">
            <a:off x="1220724" y="3214116"/>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PARK et al. (2023)</a:t>
            </a:r>
          </a:p>
        </p:txBody>
      </p:sp>
      <p:sp>
        <p:nvSpPr>
          <p:cNvPr name="TextBox 9" id="9"/>
          <p:cNvSpPr txBox="true"/>
          <p:nvPr/>
        </p:nvSpPr>
        <p:spPr>
          <a:xfrm rot="0">
            <a:off x="1220724" y="3831336"/>
            <a:ext cx="7438644" cy="4050792"/>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name="Group 10" id="10"/>
          <p:cNvGrpSpPr/>
          <p:nvPr/>
        </p:nvGrpSpPr>
        <p:grpSpPr>
          <a:xfrm rot="0">
            <a:off x="9317355" y="3007995"/>
            <a:ext cx="8042910" cy="5093970"/>
            <a:chOff x="0" y="0"/>
            <a:chExt cx="10723880" cy="6791960"/>
          </a:xfrm>
        </p:grpSpPr>
        <p:sp>
          <p:nvSpPr>
            <p:cNvPr name="Freeform 11" id="11"/>
            <p:cNvSpPr/>
            <p:nvPr/>
          </p:nvSpPr>
          <p:spPr>
            <a:xfrm flipH="false" flipV="false" rot="0">
              <a:off x="0" y="0"/>
              <a:ext cx="10723880" cy="6791960"/>
            </a:xfrm>
            <a:custGeom>
              <a:avLst/>
              <a:gdLst/>
              <a:ahLst/>
              <a:cxnLst/>
              <a:rect r="r" b="b" t="t" l="l"/>
              <a:pathLst>
                <a:path h="6791960" w="1072388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sp>
      </p:grpSp>
      <p:sp>
        <p:nvSpPr>
          <p:cNvPr name="TextBox 12" id="12"/>
          <p:cNvSpPr txBox="true"/>
          <p:nvPr/>
        </p:nvSpPr>
        <p:spPr>
          <a:xfrm rot="0">
            <a:off x="9587484" y="3214116"/>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RAZA / CHOWDHURY</a:t>
            </a:r>
          </a:p>
        </p:txBody>
      </p:sp>
      <p:sp>
        <p:nvSpPr>
          <p:cNvPr name="TextBox 13" id="13"/>
          <p:cNvSpPr txBox="true"/>
          <p:nvPr/>
        </p:nvSpPr>
        <p:spPr>
          <a:xfrm rot="0">
            <a:off x="9587484" y="3831336"/>
            <a:ext cx="7438644" cy="4050792"/>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name="TextBox 14" id="14"/>
          <p:cNvSpPr txBox="true"/>
          <p:nvPr/>
        </p:nvSpPr>
        <p:spPr>
          <a:xfrm rot="0">
            <a:off x="1261872" y="8426196"/>
            <a:ext cx="16203168" cy="731520"/>
          </a:xfrm>
          <a:prstGeom prst="rect">
            <a:avLst/>
          </a:prstGeom>
        </p:spPr>
        <p:txBody>
          <a:bodyPr anchor="t" rtlCol="false" tIns="0" lIns="0" bIns="0" rIns="0">
            <a:spAutoFit/>
          </a:bodyPr>
          <a:lstStyle/>
          <a:p>
            <a:pPr algn="l">
              <a:lnSpc>
                <a:spcPts val="2700"/>
              </a:lnSpc>
            </a:pPr>
            <a:r>
              <a:rPr lang="en-US" sz="2250" b="true">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8FAFC"/>
        </a:solidFill>
      </p:bgPr>
    </p:bg>
    <p:spTree>
      <p:nvGrpSpPr>
        <p:cNvPr id="1" name=""/>
        <p:cNvGrpSpPr/>
        <p:nvPr/>
      </p:nvGrpSpPr>
      <p:grpSpPr>
        <a:xfrm>
          <a:off x="0" y="0"/>
          <a:ext cx="0" cy="0"/>
          <a:chOff x="0" y="0"/>
          <a:chExt cx="0" cy="0"/>
        </a:xfrm>
      </p:grpSpPr>
      <p:sp>
        <p:nvSpPr>
          <p:cNvPr name="TextBox 2" id="2"/>
          <p:cNvSpPr txBox="true"/>
          <p:nvPr/>
        </p:nvSpPr>
        <p:spPr>
          <a:xfrm rot="0">
            <a:off x="987552" y="566928"/>
            <a:ext cx="14968728" cy="320040"/>
          </a:xfrm>
          <a:prstGeom prst="rect">
            <a:avLst/>
          </a:prstGeom>
        </p:spPr>
        <p:txBody>
          <a:bodyPr anchor="t" rtlCol="false" tIns="0" lIns="0" bIns="0" rIns="0">
            <a:spAutoFit/>
          </a:bodyPr>
          <a:lstStyle/>
          <a:p>
            <a:pPr algn="l">
              <a:lnSpc>
                <a:spcPts val="1800"/>
              </a:lnSpc>
            </a:pPr>
            <a:r>
              <a:rPr lang="en-US" sz="1500" b="true">
                <a:solidFill>
                  <a:srgbClr val="0D9488"/>
                </a:solidFill>
                <a:latin typeface="Aptos Bold"/>
                <a:ea typeface="Aptos Bold"/>
                <a:cs typeface="Aptos Bold"/>
                <a:sym typeface="Aptos Bold"/>
              </a:rPr>
              <a:t>PARK READING INSIGHT</a:t>
            </a:r>
          </a:p>
        </p:txBody>
      </p:sp>
      <p:sp>
        <p:nvSpPr>
          <p:cNvPr name="TextBox 3" id="3"/>
          <p:cNvSpPr txBox="true"/>
          <p:nvPr/>
        </p:nvSpPr>
        <p:spPr>
          <a:xfrm rot="0">
            <a:off x="987552" y="1088136"/>
            <a:ext cx="16340328" cy="854964"/>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Several CUSUM peaks ≠ several confirmed changes</a:t>
            </a:r>
          </a:p>
        </p:txBody>
      </p:sp>
      <p:sp>
        <p:nvSpPr>
          <p:cNvPr name="TextBox 4" id="4"/>
          <p:cNvSpPr txBox="true"/>
          <p:nvPr/>
        </p:nvSpPr>
        <p:spPr>
          <a:xfrm rot="0">
            <a:off x="987552" y="2103120"/>
            <a:ext cx="16340328" cy="690372"/>
          </a:xfrm>
          <a:prstGeom prst="rect">
            <a:avLst/>
          </a:prstGeom>
        </p:spPr>
        <p:txBody>
          <a:bodyPr anchor="t" rtlCol="false" tIns="0" lIns="0" bIns="0" rIns="0">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name="TextBox 5" id="5"/>
          <p:cNvSpPr txBox="true"/>
          <p:nvPr/>
        </p:nvSpPr>
        <p:spPr>
          <a:xfrm rot="0">
            <a:off x="987552" y="9788271"/>
            <a:ext cx="13597128" cy="247269"/>
          </a:xfrm>
          <a:prstGeom prst="rect">
            <a:avLst/>
          </a:prstGeom>
        </p:spPr>
        <p:txBody>
          <a:bodyPr anchor="t" rtlCol="false" tIns="0" lIns="0" bIns="0" rIns="0">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name="Group 6" id="6"/>
          <p:cNvGrpSpPr/>
          <p:nvPr/>
        </p:nvGrpSpPr>
        <p:grpSpPr>
          <a:xfrm rot="0">
            <a:off x="950595" y="3021711"/>
            <a:ext cx="8042910" cy="5176266"/>
            <a:chOff x="0" y="0"/>
            <a:chExt cx="10723880" cy="6901688"/>
          </a:xfrm>
        </p:grpSpPr>
        <p:sp>
          <p:nvSpPr>
            <p:cNvPr name="Freeform 7" id="7"/>
            <p:cNvSpPr/>
            <p:nvPr/>
          </p:nvSpPr>
          <p:spPr>
            <a:xfrm flipH="false" flipV="false" rot="0">
              <a:off x="0" y="0"/>
              <a:ext cx="10723880" cy="6901688"/>
            </a:xfrm>
            <a:custGeom>
              <a:avLst/>
              <a:gdLst/>
              <a:ahLst/>
              <a:cxnLst/>
              <a:rect r="r" b="b" t="t" l="l"/>
              <a:pathLst>
                <a:path h="6901688" w="10723880">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sp>
      </p:grpSp>
      <p:sp>
        <p:nvSpPr>
          <p:cNvPr name="TextBox 8" id="8"/>
          <p:cNvSpPr txBox="true"/>
          <p:nvPr/>
        </p:nvSpPr>
        <p:spPr>
          <a:xfrm rot="0">
            <a:off x="1220724" y="3227832"/>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What the curves provide</a:t>
            </a:r>
          </a:p>
        </p:txBody>
      </p:sp>
      <p:sp>
        <p:nvSpPr>
          <p:cNvPr name="TextBox 9" id="9"/>
          <p:cNvSpPr txBox="true"/>
          <p:nvPr/>
        </p:nvSpPr>
        <p:spPr>
          <a:xfrm rot="0">
            <a:off x="1220724" y="3845052"/>
            <a:ext cx="7438644" cy="1971932"/>
          </a:xfrm>
          <a:prstGeom prst="rect">
            <a:avLst/>
          </a:prstGeom>
        </p:spPr>
        <p:txBody>
          <a:bodyPr anchor="t" rtlCol="false" tIns="0" lIns="0" bIns="0" rIns="0">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name="Group 10" id="10"/>
          <p:cNvGrpSpPr/>
          <p:nvPr/>
        </p:nvGrpSpPr>
        <p:grpSpPr>
          <a:xfrm rot="0">
            <a:off x="9317355" y="3021711"/>
            <a:ext cx="8042910" cy="5176266"/>
            <a:chOff x="0" y="0"/>
            <a:chExt cx="10723880" cy="6901688"/>
          </a:xfrm>
        </p:grpSpPr>
        <p:sp>
          <p:nvSpPr>
            <p:cNvPr name="Freeform 11" id="11"/>
            <p:cNvSpPr/>
            <p:nvPr/>
          </p:nvSpPr>
          <p:spPr>
            <a:xfrm flipH="false" flipV="false" rot="0">
              <a:off x="0" y="0"/>
              <a:ext cx="10723880" cy="6901688"/>
            </a:xfrm>
            <a:custGeom>
              <a:avLst/>
              <a:gdLst/>
              <a:ahLst/>
              <a:cxnLst/>
              <a:rect r="r" b="b" t="t" l="l"/>
              <a:pathLst>
                <a:path h="6901688" w="10723880">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sp>
      </p:grpSp>
      <p:sp>
        <p:nvSpPr>
          <p:cNvPr name="TextBox 12" id="12"/>
          <p:cNvSpPr txBox="true"/>
          <p:nvPr/>
        </p:nvSpPr>
        <p:spPr>
          <a:xfrm rot="0">
            <a:off x="9587484" y="3227832"/>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What needs investigation</a:t>
            </a:r>
          </a:p>
        </p:txBody>
      </p:sp>
      <p:sp>
        <p:nvSpPr>
          <p:cNvPr name="TextBox 13" id="13"/>
          <p:cNvSpPr txBox="true"/>
          <p:nvPr/>
        </p:nvSpPr>
        <p:spPr>
          <a:xfrm rot="0">
            <a:off x="9587484" y="3845052"/>
            <a:ext cx="7438644" cy="4133088"/>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name="TextBox 14" id="14"/>
          <p:cNvSpPr txBox="true"/>
          <p:nvPr/>
        </p:nvSpPr>
        <p:spPr>
          <a:xfrm rot="0">
            <a:off x="1261872" y="8522208"/>
            <a:ext cx="16340328" cy="553212"/>
          </a:xfrm>
          <a:prstGeom prst="rect">
            <a:avLst/>
          </a:prstGeom>
        </p:spPr>
        <p:txBody>
          <a:bodyPr anchor="t" rtlCol="false" tIns="0" lIns="0" bIns="0" rIns="0">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sp>
        <p:nvSpPr>
          <p:cNvPr name="TextBox 2" id="2"/>
          <p:cNvSpPr txBox="true"/>
          <p:nvPr/>
        </p:nvSpPr>
        <p:spPr>
          <a:xfrm rot="0">
            <a:off x="987552" y="566928"/>
            <a:ext cx="14968728" cy="320040"/>
          </a:xfrm>
          <a:prstGeom prst="rect">
            <a:avLst/>
          </a:prstGeom>
        </p:spPr>
        <p:txBody>
          <a:bodyPr anchor="t" rtlCol="false" tIns="0" lIns="0" bIns="0" rIns="0">
            <a:spAutoFit/>
          </a:bodyPr>
          <a:lstStyle/>
          <a:p>
            <a:pPr algn="l">
              <a:lnSpc>
                <a:spcPts val="1800"/>
              </a:lnSpc>
            </a:pPr>
            <a:r>
              <a:rPr lang="en-US" sz="1500" b="true">
                <a:solidFill>
                  <a:srgbClr val="0D9488"/>
                </a:solidFill>
                <a:latin typeface="Aptos Bold"/>
                <a:ea typeface="Aptos Bold"/>
                <a:cs typeface="Aptos Bold"/>
                <a:sym typeface="Aptos Bold"/>
              </a:rPr>
              <a:t>CODE-TO-MANUSCRIPT BOUNDARY</a:t>
            </a:r>
          </a:p>
        </p:txBody>
      </p:sp>
      <p:sp>
        <p:nvSpPr>
          <p:cNvPr name="TextBox 3" id="3"/>
          <p:cNvSpPr txBox="true"/>
          <p:nvPr/>
        </p:nvSpPr>
        <p:spPr>
          <a:xfrm rot="0">
            <a:off x="987552" y="1088136"/>
            <a:ext cx="16340328" cy="854964"/>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Park extension: implemented calculations versus open tests</a:t>
            </a:r>
          </a:p>
        </p:txBody>
      </p:sp>
      <p:sp>
        <p:nvSpPr>
          <p:cNvPr name="TextBox 4" id="4"/>
          <p:cNvSpPr txBox="true"/>
          <p:nvPr/>
        </p:nvSpPr>
        <p:spPr>
          <a:xfrm rot="0">
            <a:off x="987552" y="2103120"/>
            <a:ext cx="16340328" cy="690372"/>
          </a:xfrm>
          <a:prstGeom prst="rect">
            <a:avLst/>
          </a:prstGeom>
        </p:spPr>
        <p:txBody>
          <a:bodyPr anchor="t" rtlCol="false" tIns="0" lIns="0" bIns="0" rIns="0">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name="TextBox 5" id="5"/>
          <p:cNvSpPr txBox="true"/>
          <p:nvPr/>
        </p:nvSpPr>
        <p:spPr>
          <a:xfrm rot="0">
            <a:off x="987552" y="9788271"/>
            <a:ext cx="13597128" cy="247269"/>
          </a:xfrm>
          <a:prstGeom prst="rect">
            <a:avLst/>
          </a:prstGeom>
        </p:spPr>
        <p:txBody>
          <a:bodyPr anchor="t" rtlCol="false" tIns="0" lIns="0" bIns="0" rIns="0">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name="Group 6" id="6"/>
          <p:cNvGrpSpPr/>
          <p:nvPr/>
        </p:nvGrpSpPr>
        <p:grpSpPr>
          <a:xfrm rot="0">
            <a:off x="950595" y="3007995"/>
            <a:ext cx="8042910" cy="5162550"/>
            <a:chOff x="0" y="0"/>
            <a:chExt cx="10723880" cy="6883400"/>
          </a:xfrm>
        </p:grpSpPr>
        <p:sp>
          <p:nvSpPr>
            <p:cNvPr name="Freeform 7" id="7"/>
            <p:cNvSpPr/>
            <p:nvPr/>
          </p:nvSpPr>
          <p:spPr>
            <a:xfrm flipH="false" flipV="false" rot="0">
              <a:off x="0" y="0"/>
              <a:ext cx="10723880" cy="6883400"/>
            </a:xfrm>
            <a:custGeom>
              <a:avLst/>
              <a:gdLst/>
              <a:ahLst/>
              <a:cxnLst/>
              <a:rect r="r" b="b" t="t" l="l"/>
              <a:pathLst>
                <a:path h="6883400" w="1072388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sp>
      </p:grpSp>
      <p:sp>
        <p:nvSpPr>
          <p:cNvPr name="TextBox 8" id="8"/>
          <p:cNvSpPr txBox="true"/>
          <p:nvPr/>
        </p:nvSpPr>
        <p:spPr>
          <a:xfrm rot="0">
            <a:off x="1220724" y="3214116"/>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IMPLEMENTED</a:t>
            </a:r>
          </a:p>
        </p:txBody>
      </p:sp>
      <p:sp>
        <p:nvSpPr>
          <p:cNvPr name="TextBox 9" id="9"/>
          <p:cNvSpPr txBox="true"/>
          <p:nvPr/>
        </p:nvSpPr>
        <p:spPr>
          <a:xfrm rot="0">
            <a:off x="1261872" y="3913375"/>
            <a:ext cx="7438644" cy="1487186"/>
          </a:xfrm>
          <a:prstGeom prst="rect">
            <a:avLst/>
          </a:prstGeom>
        </p:spPr>
        <p:txBody>
          <a:bodyPr anchor="t" rtlCol="false" tIns="0" lIns="0" bIns="0" rIns="0">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name="Group 10" id="10"/>
          <p:cNvGrpSpPr/>
          <p:nvPr/>
        </p:nvGrpSpPr>
        <p:grpSpPr>
          <a:xfrm rot="0">
            <a:off x="9317355" y="3007995"/>
            <a:ext cx="8042910" cy="5162550"/>
            <a:chOff x="0" y="0"/>
            <a:chExt cx="10723880" cy="6883400"/>
          </a:xfrm>
        </p:grpSpPr>
        <p:sp>
          <p:nvSpPr>
            <p:cNvPr name="Freeform 11" id="11"/>
            <p:cNvSpPr/>
            <p:nvPr/>
          </p:nvSpPr>
          <p:spPr>
            <a:xfrm flipH="false" flipV="false" rot="0">
              <a:off x="0" y="0"/>
              <a:ext cx="10723880" cy="6883400"/>
            </a:xfrm>
            <a:custGeom>
              <a:avLst/>
              <a:gdLst/>
              <a:ahLst/>
              <a:cxnLst/>
              <a:rect r="r" b="b" t="t" l="l"/>
              <a:pathLst>
                <a:path h="6883400" w="1072388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sp>
      </p:grpSp>
      <p:sp>
        <p:nvSpPr>
          <p:cNvPr name="TextBox 12" id="12"/>
          <p:cNvSpPr txBox="true"/>
          <p:nvPr/>
        </p:nvSpPr>
        <p:spPr>
          <a:xfrm rot="0">
            <a:off x="9587484" y="3214116"/>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NOT YET VERIFIED</a:t>
            </a:r>
          </a:p>
        </p:txBody>
      </p:sp>
      <p:sp>
        <p:nvSpPr>
          <p:cNvPr name="TextBox 13" id="13"/>
          <p:cNvSpPr txBox="true"/>
          <p:nvPr/>
        </p:nvSpPr>
        <p:spPr>
          <a:xfrm rot="0">
            <a:off x="9587484" y="3831336"/>
            <a:ext cx="7438644" cy="4119372"/>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name="TextBox 14" id="14"/>
          <p:cNvSpPr txBox="true"/>
          <p:nvPr/>
        </p:nvSpPr>
        <p:spPr>
          <a:xfrm rot="0">
            <a:off x="1261872" y="8498967"/>
            <a:ext cx="16066008" cy="631317"/>
          </a:xfrm>
          <a:prstGeom prst="rect">
            <a:avLst/>
          </a:prstGeom>
        </p:spPr>
        <p:txBody>
          <a:bodyPr anchor="t" rtlCol="false" tIns="0" lIns="0" bIns="0" rIns="0">
            <a:spAutoFit/>
          </a:bodyPr>
          <a:lstStyle/>
          <a:p>
            <a:pPr algn="l">
              <a:lnSpc>
                <a:spcPts val="2520"/>
              </a:lnSpc>
            </a:pPr>
            <a:r>
              <a:rPr lang="en-US" sz="2100" b="true">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name="TextBox 15" id="15"/>
          <p:cNvSpPr txBox="true"/>
          <p:nvPr/>
        </p:nvSpPr>
        <p:spPr>
          <a:xfrm rot="0">
            <a:off x="1469393" y="7513320"/>
            <a:ext cx="7005323" cy="329546"/>
          </a:xfrm>
          <a:prstGeom prst="rect">
            <a:avLst/>
          </a:prstGeom>
        </p:spPr>
        <p:txBody>
          <a:bodyPr anchor="t" rtlCol="false" tIns="0" lIns="0" bIns="0" rIns="0">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name="TextBox 16" id="16"/>
          <p:cNvSpPr txBox="true"/>
          <p:nvPr/>
        </p:nvSpPr>
        <p:spPr>
          <a:xfrm rot="0">
            <a:off x="1654045" y="5845073"/>
            <a:ext cx="7005323" cy="329546"/>
          </a:xfrm>
          <a:prstGeom prst="rect">
            <a:avLst/>
          </a:prstGeom>
        </p:spPr>
        <p:txBody>
          <a:bodyPr anchor="t" rtlCol="false" tIns="0" lIns="0" bIns="0" rIns="0">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grpSp>
        <p:nvGrpSpPr>
          <p:cNvPr name="Group 17" id="17"/>
          <p:cNvGrpSpPr/>
          <p:nvPr/>
        </p:nvGrpSpPr>
        <p:grpSpPr>
          <a:xfrm rot="0">
            <a:off x="1548317" y="5753290"/>
            <a:ext cx="6886070" cy="1727854"/>
            <a:chOff x="0" y="0"/>
            <a:chExt cx="9181427" cy="2303805"/>
          </a:xfrm>
        </p:grpSpPr>
        <p:sp>
          <p:nvSpPr>
            <p:cNvPr name="Freeform 18" id="18"/>
            <p:cNvSpPr/>
            <p:nvPr/>
          </p:nvSpPr>
          <p:spPr>
            <a:xfrm flipH="false" flipV="false" rot="0">
              <a:off x="0" y="0"/>
              <a:ext cx="9181465" cy="2303780"/>
            </a:xfrm>
            <a:custGeom>
              <a:avLst/>
              <a:gdLst/>
              <a:ahLst/>
              <a:cxnLst/>
              <a:rect r="r" b="b" t="t" l="l"/>
              <a:pathLst>
                <a:path h="2303780" w="9181465">
                  <a:moveTo>
                    <a:pt x="0" y="0"/>
                  </a:moveTo>
                  <a:lnTo>
                    <a:pt x="9181465" y="0"/>
                  </a:lnTo>
                  <a:lnTo>
                    <a:pt x="9181465" y="2303780"/>
                  </a:lnTo>
                  <a:lnTo>
                    <a:pt x="0" y="2303780"/>
                  </a:lnTo>
                  <a:close/>
                </a:path>
              </a:pathLst>
            </a:custGeom>
            <a:blipFill>
              <a:blip r:embed="rId2">
                <a:alphaModFix amt="0"/>
              </a:blip>
              <a:stretch>
                <a:fillRect l="0" t="-27654" r="0" b="-27655"/>
              </a:stretch>
            </a:blipFill>
            <a:ln w="28575" cap="sq">
              <a:solidFill>
                <a:srgbClr val="156082"/>
              </a:solidFill>
              <a:prstDash val="solid"/>
              <a:miter/>
            </a:ln>
          </p:spPr>
        </p:sp>
      </p:grpSp>
    </p:spTree>
  </p:cSld>
  <p:clrMapOvr>
    <a:masterClrMapping/>
  </p:clrMapOvr>
</p:sld>
</file>

<file path=ppt/slides/slide7.xml><?xml version="1.0" encoding="utf-8"?>
<p:sld xmlns:p="http://schemas.openxmlformats.org/presentationml/2006/main" xmlns:a="http://schemas.openxmlformats.org/drawingml/2006/main">
  <p:cSld>
    <p:bg>
      <p:bgPr>
        <a:solidFill>
          <a:srgbClr val="F8FAFC"/>
        </a:solidFill>
      </p:bgPr>
    </p:bg>
    <p:spTree>
      <p:nvGrpSpPr>
        <p:cNvPr id="1" name=""/>
        <p:cNvGrpSpPr/>
        <p:nvPr/>
      </p:nvGrpSpPr>
      <p:grpSpPr>
        <a:xfrm>
          <a:off x="0" y="0"/>
          <a:ext cx="0" cy="0"/>
          <a:chOff x="0" y="0"/>
          <a:chExt cx="0" cy="0"/>
        </a:xfrm>
      </p:grpSpPr>
      <p:sp>
        <p:nvSpPr>
          <p:cNvPr name="TextBox 2" id="2"/>
          <p:cNvSpPr txBox="true"/>
          <p:nvPr/>
        </p:nvSpPr>
        <p:spPr>
          <a:xfrm rot="0">
            <a:off x="987552" y="1088136"/>
            <a:ext cx="16340328" cy="679275"/>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From Channelwise Mean-CUSUM to Smoothed Change-Point Estimates</a:t>
            </a:r>
          </a:p>
        </p:txBody>
      </p:sp>
      <p:sp>
        <p:nvSpPr>
          <p:cNvPr name="TextBox 3" id="3"/>
          <p:cNvSpPr txBox="true"/>
          <p:nvPr/>
        </p:nvSpPr>
        <p:spPr>
          <a:xfrm rot="0">
            <a:off x="987552" y="9788271"/>
            <a:ext cx="13597128" cy="247269"/>
          </a:xfrm>
          <a:prstGeom prst="rect">
            <a:avLst/>
          </a:prstGeom>
        </p:spPr>
        <p:txBody>
          <a:bodyPr anchor="t" rtlCol="false" tIns="0" lIns="0" bIns="0" rIns="0">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name="Group 4" id="4"/>
          <p:cNvGrpSpPr/>
          <p:nvPr/>
        </p:nvGrpSpPr>
        <p:grpSpPr>
          <a:xfrm rot="0">
            <a:off x="950595" y="3007995"/>
            <a:ext cx="8042910" cy="5162550"/>
            <a:chOff x="0" y="0"/>
            <a:chExt cx="10723880" cy="6883400"/>
          </a:xfrm>
        </p:grpSpPr>
        <p:sp>
          <p:nvSpPr>
            <p:cNvPr name="Freeform 5" id="5"/>
            <p:cNvSpPr/>
            <p:nvPr/>
          </p:nvSpPr>
          <p:spPr>
            <a:xfrm flipH="false" flipV="false" rot="0">
              <a:off x="0" y="0"/>
              <a:ext cx="10723880" cy="6883400"/>
            </a:xfrm>
            <a:custGeom>
              <a:avLst/>
              <a:gdLst/>
              <a:ahLst/>
              <a:cxnLst/>
              <a:rect r="r" b="b" t="t" l="l"/>
              <a:pathLst>
                <a:path h="6883400" w="1072388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sp>
      </p:grpSp>
      <p:sp>
        <p:nvSpPr>
          <p:cNvPr name="TextBox 6" id="6"/>
          <p:cNvSpPr txBox="true"/>
          <p:nvPr/>
        </p:nvSpPr>
        <p:spPr>
          <a:xfrm rot="0">
            <a:off x="1220724" y="3214116"/>
            <a:ext cx="7438644" cy="425358"/>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STEP 1: Aggregation Across Channels</a:t>
            </a:r>
          </a:p>
        </p:txBody>
      </p:sp>
      <p:grpSp>
        <p:nvGrpSpPr>
          <p:cNvPr name="Group 7" id="7"/>
          <p:cNvGrpSpPr/>
          <p:nvPr/>
        </p:nvGrpSpPr>
        <p:grpSpPr>
          <a:xfrm rot="0">
            <a:off x="9317355" y="3007995"/>
            <a:ext cx="8042910" cy="5162550"/>
            <a:chOff x="0" y="0"/>
            <a:chExt cx="10723880" cy="6883400"/>
          </a:xfrm>
        </p:grpSpPr>
        <p:sp>
          <p:nvSpPr>
            <p:cNvPr name="Freeform 8" id="8"/>
            <p:cNvSpPr/>
            <p:nvPr/>
          </p:nvSpPr>
          <p:spPr>
            <a:xfrm flipH="false" flipV="false" rot="0">
              <a:off x="0" y="0"/>
              <a:ext cx="10723880" cy="6883400"/>
            </a:xfrm>
            <a:custGeom>
              <a:avLst/>
              <a:gdLst/>
              <a:ahLst/>
              <a:cxnLst/>
              <a:rect r="r" b="b" t="t" l="l"/>
              <a:pathLst>
                <a:path h="6883400" w="1072388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sp>
      </p:grpSp>
      <p:sp>
        <p:nvSpPr>
          <p:cNvPr name="TextBox 9" id="9"/>
          <p:cNvSpPr txBox="true"/>
          <p:nvPr/>
        </p:nvSpPr>
        <p:spPr>
          <a:xfrm rot="0">
            <a:off x="9587484" y="3214116"/>
            <a:ext cx="7438644" cy="425358"/>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STEP 2: Smooth the Aggregated Curves</a:t>
            </a:r>
          </a:p>
        </p:txBody>
      </p:sp>
      <p:sp>
        <p:nvSpPr>
          <p:cNvPr name="TextBox 10" id="10"/>
          <p:cNvSpPr txBox="true"/>
          <p:nvPr/>
        </p:nvSpPr>
        <p:spPr>
          <a:xfrm rot="0">
            <a:off x="1261872" y="8498967"/>
            <a:ext cx="16066008" cy="631317"/>
          </a:xfrm>
          <a:prstGeom prst="rect">
            <a:avLst/>
          </a:prstGeom>
        </p:spPr>
        <p:txBody>
          <a:bodyPr anchor="t" rtlCol="false" tIns="0" lIns="0" bIns="0" rIns="0">
            <a:spAutoFit/>
          </a:bodyPr>
          <a:lstStyle/>
          <a:p>
            <a:pPr algn="l">
              <a:lnSpc>
                <a:spcPts val="2520"/>
              </a:lnSpc>
            </a:pPr>
            <a:r>
              <a:rPr lang="en-US" sz="2100" b="true">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name="TextBox 11" id="11"/>
          <p:cNvSpPr txBox="true"/>
          <p:nvPr/>
        </p:nvSpPr>
        <p:spPr>
          <a:xfrm rot="0">
            <a:off x="9804397" y="7505548"/>
            <a:ext cx="7068817" cy="283378"/>
          </a:xfrm>
          <a:prstGeom prst="rect">
            <a:avLst/>
          </a:prstGeom>
        </p:spPr>
        <p:txBody>
          <a:bodyPr anchor="t" rtlCol="false" tIns="0" lIns="0" bIns="0" rIns="0">
            <a:spAutoFit/>
          </a:bodyPr>
          <a:lstStyle/>
          <a:p>
            <a:pPr algn="l">
              <a:lnSpc>
                <a:spcPts val="1620"/>
              </a:lnSpc>
            </a:pPr>
            <a:r>
              <a:rPr lang="en-US" sz="1350" i="true">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Kronecker delta identifies matching indices</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grpSp>
        <p:nvGrpSpPr>
          <p:cNvPr name="Group 6" id="6"/>
          <p:cNvGrpSpPr/>
          <p:nvPr/>
        </p:nvGrpSpPr>
        <p:grpSpPr>
          <a:xfrm rot="0">
            <a:off x="1234440" y="3566160"/>
            <a:ext cx="7263184" cy="822960"/>
            <a:chOff x="0" y="0"/>
            <a:chExt cx="9684245" cy="1097280"/>
          </a:xfrm>
        </p:grpSpPr>
        <p:sp>
          <p:nvSpPr>
            <p:cNvPr name="Freeform 7" id="7" descr="eq1.png"/>
            <p:cNvSpPr/>
            <p:nvPr/>
          </p:nvSpPr>
          <p:spPr>
            <a:xfrm flipH="false" flipV="false" rot="0">
              <a:off x="0" y="0"/>
              <a:ext cx="9684258" cy="1097280"/>
            </a:xfrm>
            <a:custGeom>
              <a:avLst/>
              <a:gdLst/>
              <a:ahLst/>
              <a:cxnLst/>
              <a:rect r="r" b="b" t="t" l="l"/>
              <a:pathLst>
                <a:path h="1097280" w="9684258">
                  <a:moveTo>
                    <a:pt x="0" y="0"/>
                  </a:moveTo>
                  <a:lnTo>
                    <a:pt x="9684258" y="0"/>
                  </a:lnTo>
                  <a:lnTo>
                    <a:pt x="9684258" y="1097280"/>
                  </a:lnTo>
                  <a:lnTo>
                    <a:pt x="0" y="1097280"/>
                  </a:lnTo>
                  <a:lnTo>
                    <a:pt x="0" y="0"/>
                  </a:lnTo>
                  <a:close/>
                </a:path>
              </a:pathLst>
            </a:custGeom>
            <a:blipFill>
              <a:blip r:embed="rId3"/>
              <a:stretch>
                <a:fillRect l="0" t="0" r="0" b="0"/>
              </a:stretch>
            </a:blipFill>
          </p:spPr>
        </p:sp>
      </p:grpSp>
      <p:sp>
        <p:nvSpPr>
          <p:cNvPr name="TextBox 8" id="8"/>
          <p:cNvSpPr txBox="true"/>
          <p:nvPr/>
        </p:nvSpPr>
        <p:spPr>
          <a:xfrm rot="0">
            <a:off x="1325880" y="5120640"/>
            <a:ext cx="7635240" cy="3200400"/>
          </a:xfrm>
          <a:prstGeom prst="rect">
            <a:avLst/>
          </a:prstGeom>
        </p:spPr>
        <p:txBody>
          <a:bodyPr anchor="t" rtlCol="false" tIns="0" lIns="0" bIns="0" rIns="0">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name="TextBox 9" id="9"/>
          <p:cNvSpPr txBox="true"/>
          <p:nvPr/>
        </p:nvSpPr>
        <p:spPr>
          <a:xfrm rot="0">
            <a:off x="9692640" y="5120640"/>
            <a:ext cx="7086600" cy="3200400"/>
          </a:xfrm>
          <a:prstGeom prst="rect">
            <a:avLst/>
          </a:prstGeom>
        </p:spPr>
        <p:txBody>
          <a:bodyPr anchor="t" rtlCol="false" tIns="0" lIns="0" bIns="0" rIns="0">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Covariance and independence require separate assumptions</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grpSp>
        <p:nvGrpSpPr>
          <p:cNvPr name="Group 6" id="6"/>
          <p:cNvGrpSpPr/>
          <p:nvPr/>
        </p:nvGrpSpPr>
        <p:grpSpPr>
          <a:xfrm rot="0">
            <a:off x="1234440" y="3429000"/>
            <a:ext cx="7152456" cy="960120"/>
            <a:chOff x="0" y="0"/>
            <a:chExt cx="9536608" cy="1280160"/>
          </a:xfrm>
        </p:grpSpPr>
        <p:sp>
          <p:nvSpPr>
            <p:cNvPr name="Freeform 7" id="7" descr="eq2.png"/>
            <p:cNvSpPr/>
            <p:nvPr/>
          </p:nvSpPr>
          <p:spPr>
            <a:xfrm flipH="false" flipV="false" rot="0">
              <a:off x="0" y="0"/>
              <a:ext cx="9536557" cy="1280160"/>
            </a:xfrm>
            <a:custGeom>
              <a:avLst/>
              <a:gdLst/>
              <a:ahLst/>
              <a:cxnLst/>
              <a:rect r="r" b="b" t="t" l="l"/>
              <a:pathLst>
                <a:path h="1280160" w="9536557">
                  <a:moveTo>
                    <a:pt x="0" y="0"/>
                  </a:moveTo>
                  <a:lnTo>
                    <a:pt x="9536557" y="0"/>
                  </a:lnTo>
                  <a:lnTo>
                    <a:pt x="9536557" y="1280160"/>
                  </a:lnTo>
                  <a:lnTo>
                    <a:pt x="0" y="1280160"/>
                  </a:lnTo>
                  <a:lnTo>
                    <a:pt x="0" y="0"/>
                  </a:lnTo>
                  <a:close/>
                </a:path>
              </a:pathLst>
            </a:custGeom>
            <a:blipFill>
              <a:blip r:embed="rId3"/>
              <a:stretch>
                <a:fillRect l="0" t="0" r="0" b="0"/>
              </a:stretch>
            </a:blipFill>
          </p:spPr>
        </p:sp>
      </p:grpSp>
      <p:sp>
        <p:nvSpPr>
          <p:cNvPr name="TextBox 8" id="8"/>
          <p:cNvSpPr txBox="true"/>
          <p:nvPr/>
        </p:nvSpPr>
        <p:spPr>
          <a:xfrm rot="0">
            <a:off x="1325880" y="5052060"/>
            <a:ext cx="7498080" cy="347472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name="TextBox 9" id="9"/>
          <p:cNvSpPr txBox="true"/>
          <p:nvPr/>
        </p:nvSpPr>
        <p:spPr>
          <a:xfrm rot="0">
            <a:off x="9692640" y="5052060"/>
            <a:ext cx="7086600" cy="347472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A coordinate derivative describes sensitivity</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grpSp>
        <p:nvGrpSpPr>
          <p:cNvPr name="Group 6" id="6"/>
          <p:cNvGrpSpPr/>
          <p:nvPr/>
        </p:nvGrpSpPr>
        <p:grpSpPr>
          <a:xfrm rot="0">
            <a:off x="1234440" y="3429000"/>
            <a:ext cx="1778251" cy="960120"/>
            <a:chOff x="0" y="0"/>
            <a:chExt cx="2371001" cy="1280160"/>
          </a:xfrm>
        </p:grpSpPr>
        <p:sp>
          <p:nvSpPr>
            <p:cNvPr name="Freeform 7" id="7" descr="eq3.png"/>
            <p:cNvSpPr/>
            <p:nvPr/>
          </p:nvSpPr>
          <p:spPr>
            <a:xfrm flipH="false" flipV="false" rot="0">
              <a:off x="0" y="0"/>
              <a:ext cx="2370963" cy="1280160"/>
            </a:xfrm>
            <a:custGeom>
              <a:avLst/>
              <a:gdLst/>
              <a:ahLst/>
              <a:cxnLst/>
              <a:rect r="r" b="b" t="t" l="l"/>
              <a:pathLst>
                <a:path h="1280160" w="2370963">
                  <a:moveTo>
                    <a:pt x="0" y="0"/>
                  </a:moveTo>
                  <a:lnTo>
                    <a:pt x="2370963" y="0"/>
                  </a:lnTo>
                  <a:lnTo>
                    <a:pt x="2370963" y="1280160"/>
                  </a:lnTo>
                  <a:lnTo>
                    <a:pt x="0" y="1280160"/>
                  </a:lnTo>
                  <a:lnTo>
                    <a:pt x="0" y="0"/>
                  </a:lnTo>
                  <a:close/>
                </a:path>
              </a:pathLst>
            </a:custGeom>
            <a:blipFill>
              <a:blip r:embed="rId3"/>
              <a:stretch>
                <a:fillRect l="0" t="0" r="-1" b="0"/>
              </a:stretch>
            </a:blipFill>
          </p:spPr>
        </p:sp>
      </p:grpSp>
      <p:grpSp>
        <p:nvGrpSpPr>
          <p:cNvPr name="Group 8" id="8"/>
          <p:cNvGrpSpPr/>
          <p:nvPr/>
        </p:nvGrpSpPr>
        <p:grpSpPr>
          <a:xfrm rot="0">
            <a:off x="9326880" y="3429000"/>
            <a:ext cx="7209787" cy="960120"/>
            <a:chOff x="0" y="0"/>
            <a:chExt cx="9613049" cy="1280160"/>
          </a:xfrm>
        </p:grpSpPr>
        <p:sp>
          <p:nvSpPr>
            <p:cNvPr name="Freeform 9" id="9" descr="eq4.png"/>
            <p:cNvSpPr/>
            <p:nvPr/>
          </p:nvSpPr>
          <p:spPr>
            <a:xfrm flipH="false" flipV="false" rot="0">
              <a:off x="0" y="0"/>
              <a:ext cx="9613011" cy="1280160"/>
            </a:xfrm>
            <a:custGeom>
              <a:avLst/>
              <a:gdLst/>
              <a:ahLst/>
              <a:cxnLst/>
              <a:rect r="r" b="b" t="t" l="l"/>
              <a:pathLst>
                <a:path h="1280160" w="9613011">
                  <a:moveTo>
                    <a:pt x="0" y="0"/>
                  </a:moveTo>
                  <a:lnTo>
                    <a:pt x="9613011" y="0"/>
                  </a:lnTo>
                  <a:lnTo>
                    <a:pt x="9613011" y="1280160"/>
                  </a:lnTo>
                  <a:lnTo>
                    <a:pt x="0" y="1280160"/>
                  </a:lnTo>
                  <a:lnTo>
                    <a:pt x="0" y="0"/>
                  </a:lnTo>
                  <a:close/>
                </a:path>
              </a:pathLst>
            </a:custGeom>
            <a:blipFill>
              <a:blip r:embed="rId4"/>
              <a:stretch>
                <a:fillRect l="0" t="0" r="0" b="0"/>
              </a:stretch>
            </a:blipFill>
          </p:spPr>
        </p:sp>
      </p:grpSp>
      <p:sp>
        <p:nvSpPr>
          <p:cNvPr name="TextBox 10" id="10"/>
          <p:cNvSpPr txBox="true"/>
          <p:nvPr/>
        </p:nvSpPr>
        <p:spPr>
          <a:xfrm rot="0">
            <a:off x="1325880" y="5189220"/>
            <a:ext cx="7498080" cy="169164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name="TextBox 11" id="11"/>
          <p:cNvSpPr txBox="true"/>
          <p:nvPr/>
        </p:nvSpPr>
        <p:spPr>
          <a:xfrm rot="0">
            <a:off x="9692640" y="5189220"/>
            <a:ext cx="7086600" cy="169164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grpSp>
        <p:nvGrpSpPr>
          <p:cNvPr name="Group 12" id="12"/>
          <p:cNvGrpSpPr/>
          <p:nvPr/>
        </p:nvGrpSpPr>
        <p:grpSpPr>
          <a:xfrm rot="0">
            <a:off x="1234440" y="7269480"/>
            <a:ext cx="6078074" cy="685800"/>
            <a:chOff x="0" y="0"/>
            <a:chExt cx="8104099" cy="914400"/>
          </a:xfrm>
        </p:grpSpPr>
        <p:sp>
          <p:nvSpPr>
            <p:cNvPr name="Freeform 13" id="13" descr="eq5.png"/>
            <p:cNvSpPr/>
            <p:nvPr/>
          </p:nvSpPr>
          <p:spPr>
            <a:xfrm flipH="false" flipV="false" rot="0">
              <a:off x="0" y="0"/>
              <a:ext cx="8104124" cy="914400"/>
            </a:xfrm>
            <a:custGeom>
              <a:avLst/>
              <a:gdLst/>
              <a:ahLst/>
              <a:cxnLst/>
              <a:rect r="r" b="b" t="t" l="l"/>
              <a:pathLst>
                <a:path h="914400" w="8104124">
                  <a:moveTo>
                    <a:pt x="0" y="0"/>
                  </a:moveTo>
                  <a:lnTo>
                    <a:pt x="8104124" y="0"/>
                  </a:lnTo>
                  <a:lnTo>
                    <a:pt x="8104124" y="914400"/>
                  </a:lnTo>
                  <a:lnTo>
                    <a:pt x="0" y="914400"/>
                  </a:lnTo>
                  <a:lnTo>
                    <a:pt x="0" y="0"/>
                  </a:lnTo>
                  <a:close/>
                </a:path>
              </a:pathLst>
            </a:custGeom>
            <a:blipFill>
              <a:blip r:embed="rId5"/>
              <a:stretch>
                <a:fillRect l="0" t="0" r="0" b="0"/>
              </a:stretch>
            </a:blipFill>
          </p:spPr>
        </p:sp>
      </p:grpSp>
      <p:sp>
        <p:nvSpPr>
          <p:cNvPr name="TextBox 14" id="14"/>
          <p:cNvSpPr txBox="true"/>
          <p:nvPr/>
        </p:nvSpPr>
        <p:spPr>
          <a:xfrm rot="0">
            <a:off x="11475720" y="7246620"/>
            <a:ext cx="5440680" cy="1554480"/>
          </a:xfrm>
          <a:prstGeom prst="rect">
            <a:avLst/>
          </a:prstGeom>
        </p:spPr>
        <p:txBody>
          <a:bodyPr anchor="t" rtlCol="false" tIns="0" lIns="0" bIns="0" rIns="0">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Daubechies wavelets resolve local variation</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grpSp>
        <p:nvGrpSpPr>
          <p:cNvPr name="Group 6" id="6"/>
          <p:cNvGrpSpPr/>
          <p:nvPr/>
        </p:nvGrpSpPr>
        <p:grpSpPr>
          <a:xfrm rot="0">
            <a:off x="1234440" y="3497580"/>
            <a:ext cx="7342346" cy="822960"/>
            <a:chOff x="0" y="0"/>
            <a:chExt cx="9789795" cy="1097280"/>
          </a:xfrm>
        </p:grpSpPr>
        <p:sp>
          <p:nvSpPr>
            <p:cNvPr name="Freeform 7" id="7" descr="eq6.png"/>
            <p:cNvSpPr/>
            <p:nvPr/>
          </p:nvSpPr>
          <p:spPr>
            <a:xfrm flipH="false" flipV="false" rot="0">
              <a:off x="0" y="0"/>
              <a:ext cx="9789795" cy="1097280"/>
            </a:xfrm>
            <a:custGeom>
              <a:avLst/>
              <a:gdLst/>
              <a:ahLst/>
              <a:cxnLst/>
              <a:rect r="r" b="b" t="t" l="l"/>
              <a:pathLst>
                <a:path h="1097280" w="9789795">
                  <a:moveTo>
                    <a:pt x="0" y="0"/>
                  </a:moveTo>
                  <a:lnTo>
                    <a:pt x="9789795" y="0"/>
                  </a:lnTo>
                  <a:lnTo>
                    <a:pt x="9789795" y="1097280"/>
                  </a:lnTo>
                  <a:lnTo>
                    <a:pt x="0" y="1097280"/>
                  </a:lnTo>
                  <a:lnTo>
                    <a:pt x="0" y="0"/>
                  </a:lnTo>
                  <a:close/>
                </a:path>
              </a:pathLst>
            </a:custGeom>
            <a:blipFill>
              <a:blip r:embed="rId3"/>
              <a:stretch>
                <a:fillRect l="0" t="0" r="0" b="0"/>
              </a:stretch>
            </a:blipFill>
          </p:spPr>
        </p:sp>
      </p:grpSp>
      <p:sp>
        <p:nvSpPr>
          <p:cNvPr name="TextBox 8" id="8"/>
          <p:cNvSpPr txBox="true"/>
          <p:nvPr/>
        </p:nvSpPr>
        <p:spPr>
          <a:xfrm rot="0">
            <a:off x="1325880" y="5052060"/>
            <a:ext cx="7498080" cy="361188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name="TextBox 9" id="9"/>
          <p:cNvSpPr txBox="true"/>
          <p:nvPr/>
        </p:nvSpPr>
        <p:spPr>
          <a:xfrm rot="0">
            <a:off x="9692640" y="5052060"/>
            <a:ext cx="7086600" cy="361188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Transfer matrices can create observed dependence</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grpSp>
        <p:nvGrpSpPr>
          <p:cNvPr name="Group 6" id="6"/>
          <p:cNvGrpSpPr/>
          <p:nvPr/>
        </p:nvGrpSpPr>
        <p:grpSpPr>
          <a:xfrm rot="0">
            <a:off x="1234440" y="3360420"/>
            <a:ext cx="12084587" cy="960120"/>
            <a:chOff x="0" y="0"/>
            <a:chExt cx="16112782" cy="1280160"/>
          </a:xfrm>
        </p:grpSpPr>
        <p:sp>
          <p:nvSpPr>
            <p:cNvPr name="Freeform 7" id="7" descr="eq7.png"/>
            <p:cNvSpPr/>
            <p:nvPr/>
          </p:nvSpPr>
          <p:spPr>
            <a:xfrm flipH="false" flipV="false" rot="0">
              <a:off x="0" y="0"/>
              <a:ext cx="16112744" cy="1280160"/>
            </a:xfrm>
            <a:custGeom>
              <a:avLst/>
              <a:gdLst/>
              <a:ahLst/>
              <a:cxnLst/>
              <a:rect r="r" b="b" t="t" l="l"/>
              <a:pathLst>
                <a:path h="1280160" w="16112744">
                  <a:moveTo>
                    <a:pt x="0" y="0"/>
                  </a:moveTo>
                  <a:lnTo>
                    <a:pt x="16112744" y="0"/>
                  </a:lnTo>
                  <a:lnTo>
                    <a:pt x="16112744" y="1280160"/>
                  </a:lnTo>
                  <a:lnTo>
                    <a:pt x="0" y="1280160"/>
                  </a:lnTo>
                  <a:lnTo>
                    <a:pt x="0" y="0"/>
                  </a:lnTo>
                  <a:close/>
                </a:path>
              </a:pathLst>
            </a:custGeom>
            <a:blipFill>
              <a:blip r:embed="rId3"/>
              <a:stretch>
                <a:fillRect l="0" t="0" r="0" b="0"/>
              </a:stretch>
            </a:blipFill>
          </p:spPr>
        </p:sp>
      </p:grpSp>
      <p:grpSp>
        <p:nvGrpSpPr>
          <p:cNvPr name="Group 8" id="8"/>
          <p:cNvGrpSpPr/>
          <p:nvPr/>
        </p:nvGrpSpPr>
        <p:grpSpPr>
          <a:xfrm rot="0">
            <a:off x="1234440" y="4869180"/>
            <a:ext cx="13716000" cy="991876"/>
            <a:chOff x="0" y="0"/>
            <a:chExt cx="18288000" cy="1322502"/>
          </a:xfrm>
        </p:grpSpPr>
        <p:sp>
          <p:nvSpPr>
            <p:cNvPr name="Freeform 9" id="9" descr="eq8.png"/>
            <p:cNvSpPr/>
            <p:nvPr/>
          </p:nvSpPr>
          <p:spPr>
            <a:xfrm flipH="false" flipV="false" rot="0">
              <a:off x="0" y="0"/>
              <a:ext cx="18288000" cy="1322451"/>
            </a:xfrm>
            <a:custGeom>
              <a:avLst/>
              <a:gdLst/>
              <a:ahLst/>
              <a:cxnLst/>
              <a:rect r="r" b="b" t="t" l="l"/>
              <a:pathLst>
                <a:path h="1322451" w="18288000">
                  <a:moveTo>
                    <a:pt x="0" y="0"/>
                  </a:moveTo>
                  <a:lnTo>
                    <a:pt x="18288000" y="0"/>
                  </a:lnTo>
                  <a:lnTo>
                    <a:pt x="18288000" y="1322451"/>
                  </a:lnTo>
                  <a:lnTo>
                    <a:pt x="0" y="1322451"/>
                  </a:lnTo>
                  <a:lnTo>
                    <a:pt x="0" y="0"/>
                  </a:lnTo>
                  <a:close/>
                </a:path>
              </a:pathLst>
            </a:custGeom>
            <a:blipFill>
              <a:blip r:embed="rId4"/>
              <a:stretch>
                <a:fillRect l="0" t="0" r="0" b="-3"/>
              </a:stretch>
            </a:blipFill>
          </p:spPr>
        </p:sp>
      </p:grpSp>
      <p:sp>
        <p:nvSpPr>
          <p:cNvPr name="TextBox 10" id="10"/>
          <p:cNvSpPr txBox="true"/>
          <p:nvPr/>
        </p:nvSpPr>
        <p:spPr>
          <a:xfrm rot="0">
            <a:off x="1325880" y="6697980"/>
            <a:ext cx="15590520" cy="1965960"/>
          </a:xfrm>
          <a:prstGeom prst="rect">
            <a:avLst/>
          </a:prstGeom>
        </p:spPr>
        <p:txBody>
          <a:bodyPr anchor="t" rtlCol="false" tIns="0" lIns="0" bIns="0" rIns="0">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15533370" cy="260985"/>
          </a:xfrm>
          <a:prstGeom prst="rect">
            <a:avLst/>
          </a:prstGeom>
        </p:spPr>
        <p:txBody>
          <a:bodyPr anchor="t" rtlCol="false" tIns="0" lIns="0" bIns="0" rIns="0">
            <a:spAutoFit/>
          </a:bodyPr>
          <a:lstStyle/>
          <a:p>
            <a:pPr algn="l">
              <a:lnSpc>
                <a:spcPts val="2340"/>
              </a:lnSpc>
            </a:pPr>
            <a:r>
              <a:rPr lang="en-US" sz="1950" b="true">
                <a:solidFill>
                  <a:srgbClr val="2DD4BF"/>
                </a:solidFill>
                <a:latin typeface="DejaVu Sans Bold"/>
                <a:ea typeface="DejaVu Sans Bold"/>
                <a:cs typeface="DejaVu Sans Bold"/>
                <a:sym typeface="DejaVu Sans Bold"/>
              </a:rPr>
              <a:t>PAPER CONTEXT</a:t>
            </a:r>
          </a:p>
        </p:txBody>
      </p:sp>
      <p:sp>
        <p:nvSpPr>
          <p:cNvPr name="TextBox 3" id="3"/>
          <p:cNvSpPr txBox="true"/>
          <p:nvPr/>
        </p:nvSpPr>
        <p:spPr>
          <a:xfrm rot="0">
            <a:off x="1005840" y="1074420"/>
            <a:ext cx="16247745" cy="822960"/>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Chowdhury et al. (2018): online adaptive BCI</a:t>
            </a:r>
          </a:p>
        </p:txBody>
      </p:sp>
      <p:sp>
        <p:nvSpPr>
          <p:cNvPr name="TextBox 4" id="4"/>
          <p:cNvSpPr txBox="true"/>
          <p:nvPr/>
        </p:nvSpPr>
        <p:spPr>
          <a:xfrm rot="0">
            <a:off x="1005840" y="9042082"/>
            <a:ext cx="16104870" cy="55626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name="TextBox 5" id="5"/>
          <p:cNvSpPr txBox="true"/>
          <p:nvPr/>
        </p:nvSpPr>
        <p:spPr>
          <a:xfrm rot="0">
            <a:off x="1005840" y="9808845"/>
            <a:ext cx="8389620" cy="175260"/>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664940" y="9818370"/>
            <a:ext cx="617220" cy="165735"/>
          </a:xfrm>
          <a:prstGeom prst="rect">
            <a:avLst/>
          </a:prstGeom>
        </p:spPr>
        <p:txBody>
          <a:bodyPr anchor="t" rtlCol="false" tIns="0" lIns="0" bIns="0" rIns="0">
            <a:spAutoFit/>
          </a:bodyPr>
          <a:lstStyle/>
          <a:p>
            <a:pPr algn="l">
              <a:lnSpc>
                <a:spcPts val="3240"/>
              </a:lnSpc>
            </a:pPr>
            <a:r>
              <a:rPr lang="en-US" sz="2700">
                <a:solidFill>
                  <a:srgbClr val="000000"/>
                </a:solidFill>
                <a:latin typeface="Aptos"/>
                <a:ea typeface="Aptos"/>
                <a:cs typeface="Aptos"/>
                <a:sym typeface="Aptos"/>
              </a:rPr>
              <a:t>04</a:t>
            </a:r>
          </a:p>
        </p:txBody>
      </p:sp>
      <p:sp>
        <p:nvSpPr>
          <p:cNvPr name="TextBox 7" id="7"/>
          <p:cNvSpPr txBox="true"/>
          <p:nvPr/>
        </p:nvSpPr>
        <p:spPr>
          <a:xfrm rot="0">
            <a:off x="1005840" y="2588895"/>
            <a:ext cx="7389495" cy="451485"/>
          </a:xfrm>
          <a:prstGeom prst="rect">
            <a:avLst/>
          </a:prstGeom>
        </p:spPr>
        <p:txBody>
          <a:bodyPr anchor="t" rtlCol="false" tIns="0" lIns="0" bIns="0" rIns="0">
            <a:spAutoFit/>
          </a:bodyPr>
          <a:lstStyle/>
          <a:p>
            <a:pPr algn="l">
              <a:lnSpc>
                <a:spcPts val="3644"/>
              </a:lnSpc>
            </a:pPr>
            <a:r>
              <a:rPr lang="en-US" sz="3037" b="true">
                <a:solidFill>
                  <a:srgbClr val="4EA1FF"/>
                </a:solidFill>
                <a:latin typeface="DejaVu Sans Bold"/>
                <a:ea typeface="DejaVu Sans Bold"/>
                <a:cs typeface="DejaVu Sans Bold"/>
                <a:sym typeface="DejaVu Sans Bold"/>
              </a:rPr>
              <a:t>Calibration and task</a:t>
            </a:r>
          </a:p>
        </p:txBody>
      </p:sp>
      <p:sp>
        <p:nvSpPr>
          <p:cNvPr name="TextBox 8" id="8"/>
          <p:cNvSpPr txBox="true"/>
          <p:nvPr/>
        </p:nvSpPr>
        <p:spPr>
          <a:xfrm rot="0">
            <a:off x="1005840" y="3322320"/>
            <a:ext cx="7389495"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name="TextBox 9" id="9"/>
          <p:cNvSpPr txBox="true"/>
          <p:nvPr/>
        </p:nvSpPr>
        <p:spPr>
          <a:xfrm rot="0">
            <a:off x="9949815" y="2588895"/>
            <a:ext cx="7103745" cy="451485"/>
          </a:xfrm>
          <a:prstGeom prst="rect">
            <a:avLst/>
          </a:prstGeom>
        </p:spPr>
        <p:txBody>
          <a:bodyPr anchor="t" rtlCol="false" tIns="0" lIns="0" bIns="0" rIns="0">
            <a:spAutoFit/>
          </a:bodyPr>
          <a:lstStyle/>
          <a:p>
            <a:pPr algn="l">
              <a:lnSpc>
                <a:spcPts val="3644"/>
              </a:lnSpc>
            </a:pPr>
            <a:r>
              <a:rPr lang="en-US" sz="3037" b="true">
                <a:solidFill>
                  <a:srgbClr val="2DD4BF"/>
                </a:solidFill>
                <a:latin typeface="DejaVu Sans Bold"/>
                <a:ea typeface="DejaVu Sans Bold"/>
                <a:cs typeface="DejaVu Sans Bold"/>
                <a:sym typeface="DejaVu Sans Bold"/>
              </a:rPr>
              <a:t>Signal and adaptation</a:t>
            </a:r>
          </a:p>
        </p:txBody>
      </p:sp>
      <p:sp>
        <p:nvSpPr>
          <p:cNvPr name="TextBox 10" id="10"/>
          <p:cNvSpPr txBox="true"/>
          <p:nvPr/>
        </p:nvSpPr>
        <p:spPr>
          <a:xfrm rot="0">
            <a:off x="9949815" y="3322320"/>
            <a:ext cx="7103745"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name="TextBox 11" id="11"/>
          <p:cNvSpPr txBox="true"/>
          <p:nvPr/>
        </p:nvSpPr>
        <p:spPr>
          <a:xfrm rot="0">
            <a:off x="1005840" y="6203632"/>
            <a:ext cx="3246120" cy="394335"/>
          </a:xfrm>
          <a:prstGeom prst="rect">
            <a:avLst/>
          </a:prstGeom>
        </p:spPr>
        <p:txBody>
          <a:bodyPr anchor="t" rtlCol="false" tIns="0" lIns="0" bIns="0" rIns="0">
            <a:spAutoFit/>
          </a:bodyPr>
          <a:lstStyle/>
          <a:p>
            <a:pPr algn="l">
              <a:lnSpc>
                <a:spcPts val="3644"/>
              </a:lnSpc>
            </a:pPr>
            <a:r>
              <a:rPr lang="en-US" sz="3037" b="true">
                <a:solidFill>
                  <a:srgbClr val="F5B942"/>
                </a:solidFill>
                <a:latin typeface="DejaVu Sans Bold"/>
                <a:ea typeface="DejaVu Sans Bold"/>
                <a:cs typeface="DejaVu Sans Bold"/>
                <a:sym typeface="DejaVu Sans Bold"/>
              </a:rPr>
              <a:t>Online output</a:t>
            </a:r>
          </a:p>
        </p:txBody>
      </p:sp>
      <p:sp>
        <p:nvSpPr>
          <p:cNvPr name="TextBox 12" id="12"/>
          <p:cNvSpPr txBox="true"/>
          <p:nvPr/>
        </p:nvSpPr>
        <p:spPr>
          <a:xfrm rot="0">
            <a:off x="1005840" y="6903720"/>
            <a:ext cx="15533370" cy="837248"/>
          </a:xfrm>
          <a:prstGeom prst="rect">
            <a:avLst/>
          </a:prstGeom>
        </p:spPr>
        <p:txBody>
          <a:bodyPr anchor="t" rtlCol="false" tIns="0" lIns="0" bIns="0" rIns="0">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name="TextBox 13" id="13"/>
          <p:cNvSpPr txBox="true"/>
          <p:nvPr/>
        </p:nvSpPr>
        <p:spPr>
          <a:xfrm rot="0">
            <a:off x="1005840" y="8094345"/>
            <a:ext cx="15961995" cy="632460"/>
          </a:xfrm>
          <a:prstGeom prst="rect">
            <a:avLst/>
          </a:prstGeom>
        </p:spPr>
        <p:txBody>
          <a:bodyPr anchor="t" rtlCol="false" tIns="0" lIns="0" bIns="0" rIns="0">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4.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15533370" cy="260985"/>
          </a:xfrm>
          <a:prstGeom prst="rect">
            <a:avLst/>
          </a:prstGeom>
        </p:spPr>
        <p:txBody>
          <a:bodyPr anchor="t" rtlCol="false" tIns="0" lIns="0" bIns="0" rIns="0">
            <a:spAutoFit/>
          </a:bodyPr>
          <a:lstStyle/>
          <a:p>
            <a:pPr algn="l">
              <a:lnSpc>
                <a:spcPts val="2340"/>
              </a:lnSpc>
            </a:pPr>
            <a:r>
              <a:rPr lang="en-US" sz="1950" b="true">
                <a:solidFill>
                  <a:srgbClr val="2DD4BF"/>
                </a:solidFill>
                <a:latin typeface="DejaVu Sans Bold"/>
                <a:ea typeface="DejaVu Sans Bold"/>
                <a:cs typeface="DejaVu Sans Bold"/>
                <a:sym typeface="DejaVu Sans Bold"/>
              </a:rPr>
              <a:t>REPORTED ACHIEVEMENTS</a:t>
            </a:r>
          </a:p>
        </p:txBody>
      </p:sp>
      <p:sp>
        <p:nvSpPr>
          <p:cNvPr name="TextBox 3" id="3"/>
          <p:cNvSpPr txBox="true"/>
          <p:nvPr/>
        </p:nvSpPr>
        <p:spPr>
          <a:xfrm rot="0">
            <a:off x="1005840" y="1074420"/>
            <a:ext cx="16247745" cy="822960"/>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Decoding improved relative to the fixed classifier</a:t>
            </a:r>
          </a:p>
        </p:txBody>
      </p:sp>
      <p:sp>
        <p:nvSpPr>
          <p:cNvPr name="TextBox 4" id="4"/>
          <p:cNvSpPr txBox="true"/>
          <p:nvPr/>
        </p:nvSpPr>
        <p:spPr>
          <a:xfrm rot="0">
            <a:off x="1005840" y="9042082"/>
            <a:ext cx="16104870" cy="55626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name="TextBox 5" id="5"/>
          <p:cNvSpPr txBox="true"/>
          <p:nvPr/>
        </p:nvSpPr>
        <p:spPr>
          <a:xfrm rot="0">
            <a:off x="1005840" y="9808845"/>
            <a:ext cx="8389620" cy="175260"/>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664940" y="9818370"/>
            <a:ext cx="617220" cy="165735"/>
          </a:xfrm>
          <a:prstGeom prst="rect">
            <a:avLst/>
          </a:prstGeom>
        </p:spPr>
        <p:txBody>
          <a:bodyPr anchor="t" rtlCol="false" tIns="0" lIns="0" bIns="0" rIns="0">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name="Table 7" id="7"/>
          <p:cNvGraphicFramePr>
            <a:graphicFrameLocks noGrp="true"/>
          </p:cNvGraphicFramePr>
          <p:nvPr/>
        </p:nvGraphicFramePr>
        <p:xfrm>
          <a:off x="914400" y="2714625"/>
          <a:ext cx="16440150" cy="3257550"/>
        </p:xfrm>
        <a:graphic>
          <a:graphicData uri="http://schemas.openxmlformats.org/drawingml/2006/table">
            <a:tbl>
              <a:tblPr/>
              <a:tblGrid>
                <a:gridCol w="4281289"/>
                <a:gridCol w="4423999"/>
                <a:gridCol w="4423999"/>
                <a:gridCol w="3310864"/>
              </a:tblGrid>
              <a:tr h="1085850">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Group</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EEG-NAC</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EEG-CSAC</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Gain</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r>
              <a:tr h="1085850">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r>
              <a:tr h="1085850">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r>
            </a:tbl>
          </a:graphicData>
        </a:graphic>
      </p:graphicFrame>
      <p:sp>
        <p:nvSpPr>
          <p:cNvPr name="TextBox 8" id="8"/>
          <p:cNvSpPr txBox="true"/>
          <p:nvPr/>
        </p:nvSpPr>
        <p:spPr>
          <a:xfrm rot="0">
            <a:off x="1005840" y="6465570"/>
            <a:ext cx="15533370" cy="561023"/>
          </a:xfrm>
          <a:prstGeom prst="rect">
            <a:avLst/>
          </a:prstGeom>
        </p:spPr>
        <p:txBody>
          <a:bodyPr anchor="t" rtlCol="false" tIns="0" lIns="0" bIns="0" rIns="0">
            <a:spAutoFit/>
          </a:bodyPr>
          <a:lstStyle/>
          <a:p>
            <a:pPr algn="l">
              <a:lnSpc>
                <a:spcPts val="3915"/>
              </a:lnSpc>
            </a:pPr>
            <a:r>
              <a:rPr lang="en-US" sz="3262" b="true">
                <a:solidFill>
                  <a:srgbClr val="2DD4BF"/>
                </a:solidFill>
                <a:latin typeface="DejaVu Sans Bold"/>
                <a:ea typeface="DejaVu Sans Bold"/>
                <a:cs typeface="DejaVu Sans Bold"/>
                <a:sym typeface="DejaVu Sans Bold"/>
              </a:rPr>
              <a:t>Both accuracy comparisons: p &lt; 0.01</a:t>
            </a:r>
          </a:p>
        </p:txBody>
      </p:sp>
      <p:sp>
        <p:nvSpPr>
          <p:cNvPr name="TextBox 9" id="9"/>
          <p:cNvSpPr txBox="true"/>
          <p:nvPr/>
        </p:nvSpPr>
        <p:spPr>
          <a:xfrm rot="0">
            <a:off x="1005840" y="7403782"/>
            <a:ext cx="15961995" cy="994410"/>
          </a:xfrm>
          <a:prstGeom prst="rect">
            <a:avLst/>
          </a:prstGeom>
        </p:spPr>
        <p:txBody>
          <a:bodyPr anchor="t" rtlCol="false" tIns="0" lIns="0" bIns="0" rIns="0">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5.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15533370" cy="260985"/>
          </a:xfrm>
          <a:prstGeom prst="rect">
            <a:avLst/>
          </a:prstGeom>
        </p:spPr>
        <p:txBody>
          <a:bodyPr anchor="t" rtlCol="false" tIns="0" lIns="0" bIns="0" rIns="0">
            <a:spAutoFit/>
          </a:bodyPr>
          <a:lstStyle/>
          <a:p>
            <a:pPr algn="l">
              <a:lnSpc>
                <a:spcPts val="2340"/>
              </a:lnSpc>
            </a:pPr>
            <a:r>
              <a:rPr lang="en-US" sz="1950" b="true">
                <a:solidFill>
                  <a:srgbClr val="2DD4BF"/>
                </a:solidFill>
                <a:latin typeface="DejaVu Sans Bold"/>
                <a:ea typeface="DejaVu Sans Bold"/>
                <a:cs typeface="DejaVu Sans Bold"/>
                <a:sym typeface="DejaVu Sans Bold"/>
              </a:rPr>
              <a:t>DETECTOR EVIDENCE</a:t>
            </a:r>
          </a:p>
        </p:txBody>
      </p:sp>
      <p:sp>
        <p:nvSpPr>
          <p:cNvPr name="TextBox 3" id="3"/>
          <p:cNvSpPr txBox="true"/>
          <p:nvPr/>
        </p:nvSpPr>
        <p:spPr>
          <a:xfrm rot="0">
            <a:off x="1005840" y="1074420"/>
            <a:ext cx="16247745" cy="822960"/>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Stage-II validation reduced retraining triggers</a:t>
            </a:r>
          </a:p>
        </p:txBody>
      </p:sp>
      <p:sp>
        <p:nvSpPr>
          <p:cNvPr name="TextBox 4" id="4"/>
          <p:cNvSpPr txBox="true"/>
          <p:nvPr/>
        </p:nvSpPr>
        <p:spPr>
          <a:xfrm rot="0">
            <a:off x="1005840" y="9042082"/>
            <a:ext cx="16104870" cy="55626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name="TextBox 5" id="5"/>
          <p:cNvSpPr txBox="true"/>
          <p:nvPr/>
        </p:nvSpPr>
        <p:spPr>
          <a:xfrm rot="0">
            <a:off x="1005840" y="9808845"/>
            <a:ext cx="8389620" cy="175260"/>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664940" y="9818370"/>
            <a:ext cx="617220" cy="165735"/>
          </a:xfrm>
          <a:prstGeom prst="rect">
            <a:avLst/>
          </a:prstGeom>
        </p:spPr>
        <p:txBody>
          <a:bodyPr anchor="t" rtlCol="false" tIns="0" lIns="0" bIns="0" rIns="0">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name="Table 7" id="7"/>
          <p:cNvGraphicFramePr>
            <a:graphicFrameLocks noGrp="true"/>
          </p:cNvGraphicFramePr>
          <p:nvPr/>
        </p:nvGraphicFramePr>
        <p:xfrm>
          <a:off x="914400" y="2714625"/>
          <a:ext cx="16459200" cy="3257550"/>
        </p:xfrm>
        <a:graphic>
          <a:graphicData uri="http://schemas.openxmlformats.org/drawingml/2006/table">
            <a:tbl>
              <a:tblPr/>
              <a:tblGrid>
                <a:gridCol w="5143500"/>
                <a:gridCol w="5657850"/>
                <a:gridCol w="5657850"/>
              </a:tblGrid>
              <a:tr h="1085850">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Group</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Stage-I CSW</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c>
                  <a:txBody>
                    <a:bodyPr anchor="t" rtlCol="false"/>
                    <a:lstStyle/>
                    <a:p>
                      <a:pPr algn="l">
                        <a:lnSpc>
                          <a:spcPts val="3104"/>
                        </a:lnSpc>
                        <a:defRPr/>
                      </a:pPr>
                      <a:r>
                        <a:rPr lang="en-US" sz="2587" b="true">
                          <a:solidFill>
                            <a:srgbClr val="2DD4BF"/>
                          </a:solidFill>
                          <a:latin typeface="DejaVu Sans Bold"/>
                          <a:ea typeface="DejaVu Sans Bold"/>
                          <a:cs typeface="DejaVu Sans Bold"/>
                          <a:sym typeface="DejaVu Sans Bold"/>
                        </a:rPr>
                        <a:t>Stage-II CSV</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32436"/>
                    </a:solidFill>
                  </a:tcPr>
                </a:tc>
              </a:tr>
              <a:tr h="1085850">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r>
              <a:tr h="1085850">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c>
                  <a:txBody>
                    <a:bodyPr anchor="t" rtlCol="false"/>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9121F"/>
                    </a:solidFill>
                  </a:tcPr>
                </a:tc>
              </a:tr>
            </a:tbl>
          </a:graphicData>
        </a:graphic>
      </p:graphicFrame>
      <p:sp>
        <p:nvSpPr>
          <p:cNvPr name="TextBox 8" id="8"/>
          <p:cNvSpPr txBox="true"/>
          <p:nvPr/>
        </p:nvSpPr>
        <p:spPr>
          <a:xfrm rot="0">
            <a:off x="1005840" y="6351270"/>
            <a:ext cx="15819120" cy="532447"/>
          </a:xfrm>
          <a:prstGeom prst="rect">
            <a:avLst/>
          </a:prstGeom>
        </p:spPr>
        <p:txBody>
          <a:bodyPr anchor="t" rtlCol="false" tIns="0" lIns="0" bIns="0" rIns="0">
            <a:spAutoFit/>
          </a:bodyPr>
          <a:lstStyle/>
          <a:p>
            <a:pPr algn="l">
              <a:lnSpc>
                <a:spcPts val="3510"/>
              </a:lnSpc>
            </a:pPr>
            <a:r>
              <a:rPr lang="en-US" sz="2925" b="true">
                <a:solidFill>
                  <a:srgbClr val="2DD4BF"/>
                </a:solidFill>
                <a:latin typeface="DejaVu Sans Bold"/>
                <a:ea typeface="DejaVu Sans Bold"/>
                <a:cs typeface="DejaVu Sans Bold"/>
                <a:sym typeface="DejaVu Sans Bold"/>
              </a:rPr>
              <a:t>Rates are percentages of trials. Both reductions: p &lt; 0.01.</a:t>
            </a:r>
          </a:p>
        </p:txBody>
      </p:sp>
      <p:sp>
        <p:nvSpPr>
          <p:cNvPr name="TextBox 9" id="9"/>
          <p:cNvSpPr txBox="true"/>
          <p:nvPr/>
        </p:nvSpPr>
        <p:spPr>
          <a:xfrm rot="0">
            <a:off x="1005840" y="7175182"/>
            <a:ext cx="16104870" cy="594360"/>
          </a:xfrm>
          <a:prstGeom prst="rect">
            <a:avLst/>
          </a:prstGeom>
        </p:spPr>
        <p:txBody>
          <a:bodyPr anchor="t" rtlCol="false" tIns="0" lIns="0" bIns="0" rIns="0">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name="TextBox 10" id="10"/>
          <p:cNvSpPr txBox="true"/>
          <p:nvPr/>
        </p:nvSpPr>
        <p:spPr>
          <a:xfrm rot="0">
            <a:off x="1005840" y="8008620"/>
            <a:ext cx="16104870" cy="718185"/>
          </a:xfrm>
          <a:prstGeom prst="rect">
            <a:avLst/>
          </a:prstGeom>
        </p:spPr>
        <p:txBody>
          <a:bodyPr anchor="t" rtlCol="false" tIns="0" lIns="0" bIns="0" rIns="0">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6.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15533370" cy="260985"/>
          </a:xfrm>
          <a:prstGeom prst="rect">
            <a:avLst/>
          </a:prstGeom>
        </p:spPr>
        <p:txBody>
          <a:bodyPr anchor="t" rtlCol="false" tIns="0" lIns="0" bIns="0" rIns="0">
            <a:spAutoFit/>
          </a:bodyPr>
          <a:lstStyle/>
          <a:p>
            <a:pPr algn="l">
              <a:lnSpc>
                <a:spcPts val="2340"/>
              </a:lnSpc>
            </a:pPr>
            <a:r>
              <a:rPr lang="en-US" sz="1950" b="true">
                <a:solidFill>
                  <a:srgbClr val="2DD4BF"/>
                </a:solidFill>
                <a:latin typeface="DejaVu Sans Bold"/>
                <a:ea typeface="DejaVu Sans Bold"/>
                <a:cs typeface="DejaVu Sans Bold"/>
                <a:sym typeface="DejaVu Sans Bold"/>
              </a:rPr>
              <a:t>AUTHOR-STATED LIMITATIONS</a:t>
            </a:r>
          </a:p>
        </p:txBody>
      </p:sp>
      <p:sp>
        <p:nvSpPr>
          <p:cNvPr name="TextBox 3" id="3"/>
          <p:cNvSpPr txBox="true"/>
          <p:nvPr/>
        </p:nvSpPr>
        <p:spPr>
          <a:xfrm rot="0">
            <a:off x="1005840" y="1074420"/>
            <a:ext cx="16247745" cy="822960"/>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Limitations acknowledged by the authors</a:t>
            </a:r>
          </a:p>
        </p:txBody>
      </p:sp>
      <p:sp>
        <p:nvSpPr>
          <p:cNvPr name="TextBox 4" id="4"/>
          <p:cNvSpPr txBox="true"/>
          <p:nvPr/>
        </p:nvSpPr>
        <p:spPr>
          <a:xfrm rot="0">
            <a:off x="1005840" y="9042082"/>
            <a:ext cx="16104870" cy="55626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name="TextBox 5" id="5"/>
          <p:cNvSpPr txBox="true"/>
          <p:nvPr/>
        </p:nvSpPr>
        <p:spPr>
          <a:xfrm rot="0">
            <a:off x="1005840" y="9808845"/>
            <a:ext cx="8389620" cy="175260"/>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664940" y="9818370"/>
            <a:ext cx="617220" cy="165735"/>
          </a:xfrm>
          <a:prstGeom prst="rect">
            <a:avLst/>
          </a:prstGeom>
        </p:spPr>
        <p:txBody>
          <a:bodyPr anchor="t" rtlCol="false" tIns="0" lIns="0" bIns="0" rIns="0">
            <a:spAutoFit/>
          </a:bodyPr>
          <a:lstStyle/>
          <a:p>
            <a:pPr algn="l">
              <a:lnSpc>
                <a:spcPts val="3240"/>
              </a:lnSpc>
            </a:pPr>
            <a:r>
              <a:rPr lang="en-US" sz="2700">
                <a:solidFill>
                  <a:srgbClr val="000000"/>
                </a:solidFill>
                <a:latin typeface="Aptos"/>
                <a:ea typeface="Aptos"/>
                <a:cs typeface="Aptos"/>
                <a:sym typeface="Aptos"/>
              </a:rPr>
              <a:t>07</a:t>
            </a:r>
          </a:p>
        </p:txBody>
      </p:sp>
      <p:sp>
        <p:nvSpPr>
          <p:cNvPr name="TextBox 7" id="7"/>
          <p:cNvSpPr txBox="true"/>
          <p:nvPr/>
        </p:nvSpPr>
        <p:spPr>
          <a:xfrm rot="0">
            <a:off x="1005840" y="2531745"/>
            <a:ext cx="7532370" cy="451485"/>
          </a:xfrm>
          <a:prstGeom prst="rect">
            <a:avLst/>
          </a:prstGeom>
        </p:spPr>
        <p:txBody>
          <a:bodyPr anchor="t" rtlCol="false" tIns="0" lIns="0" bIns="0" rIns="0">
            <a:spAutoFit/>
          </a:bodyPr>
          <a:lstStyle/>
          <a:p>
            <a:pPr algn="l">
              <a:lnSpc>
                <a:spcPts val="3644"/>
              </a:lnSpc>
            </a:pPr>
            <a:r>
              <a:rPr lang="en-US" sz="3037" b="true">
                <a:solidFill>
                  <a:srgbClr val="4EA1FF"/>
                </a:solidFill>
                <a:latin typeface="DejaVu Sans Bold"/>
                <a:ea typeface="DejaVu Sans Bold"/>
                <a:cs typeface="DejaVu Sans Bold"/>
                <a:sym typeface="DejaVu Sans Bold"/>
              </a:rPr>
              <a:t>Representation and comparison</a:t>
            </a:r>
          </a:p>
        </p:txBody>
      </p:sp>
      <p:sp>
        <p:nvSpPr>
          <p:cNvPr name="TextBox 8" id="8"/>
          <p:cNvSpPr txBox="true"/>
          <p:nvPr/>
        </p:nvSpPr>
        <p:spPr>
          <a:xfrm rot="0">
            <a:off x="1005840" y="3265170"/>
            <a:ext cx="7532370"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name="TextBox 9" id="9"/>
          <p:cNvSpPr txBox="true"/>
          <p:nvPr/>
        </p:nvSpPr>
        <p:spPr>
          <a:xfrm rot="0">
            <a:off x="9949815" y="2531745"/>
            <a:ext cx="7246620" cy="451485"/>
          </a:xfrm>
          <a:prstGeom prst="rect">
            <a:avLst/>
          </a:prstGeom>
        </p:spPr>
        <p:txBody>
          <a:bodyPr anchor="t" rtlCol="false" tIns="0" lIns="0" bIns="0" rIns="0">
            <a:spAutoFit/>
          </a:bodyPr>
          <a:lstStyle/>
          <a:p>
            <a:pPr algn="l">
              <a:lnSpc>
                <a:spcPts val="3644"/>
              </a:lnSpc>
            </a:pPr>
            <a:r>
              <a:rPr lang="en-US" sz="3037" b="true">
                <a:solidFill>
                  <a:srgbClr val="2DD4BF"/>
                </a:solidFill>
                <a:latin typeface="DejaVu Sans Bold"/>
                <a:ea typeface="DejaVu Sans Bold"/>
                <a:cs typeface="DejaVu Sans Bold"/>
                <a:sym typeface="DejaVu Sans Bold"/>
              </a:rPr>
              <a:t>Labels and online control</a:t>
            </a:r>
          </a:p>
        </p:txBody>
      </p:sp>
      <p:sp>
        <p:nvSpPr>
          <p:cNvPr name="TextBox 10" id="10"/>
          <p:cNvSpPr txBox="true"/>
          <p:nvPr/>
        </p:nvSpPr>
        <p:spPr>
          <a:xfrm rot="0">
            <a:off x="9949815" y="3265170"/>
            <a:ext cx="7246620"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name="TextBox 11" id="11"/>
          <p:cNvSpPr txBox="true"/>
          <p:nvPr/>
        </p:nvSpPr>
        <p:spPr>
          <a:xfrm rot="0">
            <a:off x="1005840" y="6403658"/>
            <a:ext cx="15533370" cy="451485"/>
          </a:xfrm>
          <a:prstGeom prst="rect">
            <a:avLst/>
          </a:prstGeom>
        </p:spPr>
        <p:txBody>
          <a:bodyPr anchor="t" rtlCol="false" tIns="0" lIns="0" bIns="0" rIns="0">
            <a:spAutoFit/>
          </a:bodyPr>
          <a:lstStyle/>
          <a:p>
            <a:pPr algn="l">
              <a:lnSpc>
                <a:spcPts val="3644"/>
              </a:lnSpc>
            </a:pPr>
            <a:r>
              <a:rPr lang="en-US" sz="3037" b="true">
                <a:solidFill>
                  <a:srgbClr val="F5B942"/>
                </a:solidFill>
                <a:latin typeface="DejaVu Sans Bold"/>
                <a:ea typeface="DejaVu Sans Bold"/>
                <a:cs typeface="DejaVu Sans Bold"/>
                <a:sym typeface="DejaVu Sans Bold"/>
              </a:rPr>
              <a:t>Artefacts and external noise</a:t>
            </a:r>
          </a:p>
        </p:txBody>
      </p:sp>
      <p:sp>
        <p:nvSpPr>
          <p:cNvPr name="TextBox 12" id="12"/>
          <p:cNvSpPr txBox="true"/>
          <p:nvPr/>
        </p:nvSpPr>
        <p:spPr>
          <a:xfrm rot="0">
            <a:off x="1005840" y="7179945"/>
            <a:ext cx="15533370" cy="1203960"/>
          </a:xfrm>
          <a:prstGeom prst="rect">
            <a:avLst/>
          </a:prstGeom>
        </p:spPr>
        <p:txBody>
          <a:bodyPr anchor="t" rtlCol="false" tIns="0" lIns="0" bIns="0" rIns="0">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7.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15533370" cy="260985"/>
          </a:xfrm>
          <a:prstGeom prst="rect">
            <a:avLst/>
          </a:prstGeom>
        </p:spPr>
        <p:txBody>
          <a:bodyPr anchor="t" rtlCol="false" tIns="0" lIns="0" bIns="0" rIns="0">
            <a:spAutoFit/>
          </a:bodyPr>
          <a:lstStyle/>
          <a:p>
            <a:pPr algn="l">
              <a:lnSpc>
                <a:spcPts val="2340"/>
              </a:lnSpc>
            </a:pPr>
            <a:r>
              <a:rPr lang="en-US" sz="1950" b="true">
                <a:solidFill>
                  <a:srgbClr val="2DD4BF"/>
                </a:solidFill>
                <a:latin typeface="DejaVu Sans Bold"/>
                <a:ea typeface="DejaVu Sans Bold"/>
                <a:cs typeface="DejaVu Sans Bold"/>
                <a:sym typeface="DejaVu Sans Bold"/>
              </a:rPr>
              <a:t>DESIGN-DERIVED LIMITATIONS</a:t>
            </a:r>
          </a:p>
        </p:txBody>
      </p:sp>
      <p:sp>
        <p:nvSpPr>
          <p:cNvPr name="TextBox 3" id="3"/>
          <p:cNvSpPr txBox="true"/>
          <p:nvPr/>
        </p:nvSpPr>
        <p:spPr>
          <a:xfrm rot="0">
            <a:off x="1005840" y="1074420"/>
            <a:ext cx="16247745" cy="822960"/>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Limits of the experimental evidence</a:t>
            </a:r>
          </a:p>
        </p:txBody>
      </p:sp>
      <p:sp>
        <p:nvSpPr>
          <p:cNvPr name="TextBox 4" id="4"/>
          <p:cNvSpPr txBox="true"/>
          <p:nvPr/>
        </p:nvSpPr>
        <p:spPr>
          <a:xfrm rot="0">
            <a:off x="1005840" y="9042082"/>
            <a:ext cx="16104870" cy="55626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name="TextBox 5" id="5"/>
          <p:cNvSpPr txBox="true"/>
          <p:nvPr/>
        </p:nvSpPr>
        <p:spPr>
          <a:xfrm rot="0">
            <a:off x="1005840" y="9808845"/>
            <a:ext cx="8389620" cy="175260"/>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664940" y="9818370"/>
            <a:ext cx="617220" cy="165735"/>
          </a:xfrm>
          <a:prstGeom prst="rect">
            <a:avLst/>
          </a:prstGeom>
        </p:spPr>
        <p:txBody>
          <a:bodyPr anchor="t" rtlCol="false" tIns="0" lIns="0" bIns="0" rIns="0">
            <a:spAutoFit/>
          </a:bodyPr>
          <a:lstStyle/>
          <a:p>
            <a:pPr algn="l">
              <a:lnSpc>
                <a:spcPts val="3240"/>
              </a:lnSpc>
            </a:pPr>
            <a:r>
              <a:rPr lang="en-US" sz="2700">
                <a:solidFill>
                  <a:srgbClr val="000000"/>
                </a:solidFill>
                <a:latin typeface="Aptos"/>
                <a:ea typeface="Aptos"/>
                <a:cs typeface="Aptos"/>
                <a:sym typeface="Aptos"/>
              </a:rPr>
              <a:t>08</a:t>
            </a:r>
          </a:p>
        </p:txBody>
      </p:sp>
      <p:sp>
        <p:nvSpPr>
          <p:cNvPr name="TextBox 7" id="7"/>
          <p:cNvSpPr txBox="true"/>
          <p:nvPr/>
        </p:nvSpPr>
        <p:spPr>
          <a:xfrm rot="0">
            <a:off x="1005840" y="2531745"/>
            <a:ext cx="7532370" cy="451485"/>
          </a:xfrm>
          <a:prstGeom prst="rect">
            <a:avLst/>
          </a:prstGeom>
        </p:spPr>
        <p:txBody>
          <a:bodyPr anchor="t" rtlCol="false" tIns="0" lIns="0" bIns="0" rIns="0">
            <a:spAutoFit/>
          </a:bodyPr>
          <a:lstStyle/>
          <a:p>
            <a:pPr algn="l">
              <a:lnSpc>
                <a:spcPts val="3644"/>
              </a:lnSpc>
            </a:pPr>
            <a:r>
              <a:rPr lang="en-US" sz="3037" b="true">
                <a:solidFill>
                  <a:srgbClr val="4EA1FF"/>
                </a:solidFill>
                <a:latin typeface="DejaVu Sans Bold"/>
                <a:ea typeface="DejaVu Sans Bold"/>
                <a:cs typeface="DejaVu Sans Bold"/>
                <a:sym typeface="DejaVu Sans Bold"/>
              </a:rPr>
              <a:t>Small cohort and short follow-up</a:t>
            </a:r>
          </a:p>
        </p:txBody>
      </p:sp>
      <p:sp>
        <p:nvSpPr>
          <p:cNvPr name="TextBox 8" id="8"/>
          <p:cNvSpPr txBox="true"/>
          <p:nvPr/>
        </p:nvSpPr>
        <p:spPr>
          <a:xfrm rot="0">
            <a:off x="1005840" y="3265170"/>
            <a:ext cx="7532370"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name="TextBox 9" id="9"/>
          <p:cNvSpPr txBox="true"/>
          <p:nvPr/>
        </p:nvSpPr>
        <p:spPr>
          <a:xfrm rot="0">
            <a:off x="9949815" y="2531745"/>
            <a:ext cx="7246620" cy="451485"/>
          </a:xfrm>
          <a:prstGeom prst="rect">
            <a:avLst/>
          </a:prstGeom>
        </p:spPr>
        <p:txBody>
          <a:bodyPr anchor="t" rtlCol="false" tIns="0" lIns="0" bIns="0" rIns="0">
            <a:spAutoFit/>
          </a:bodyPr>
          <a:lstStyle/>
          <a:p>
            <a:pPr algn="l">
              <a:lnSpc>
                <a:spcPts val="3644"/>
              </a:lnSpc>
            </a:pPr>
            <a:r>
              <a:rPr lang="en-US" sz="3037" b="true">
                <a:solidFill>
                  <a:srgbClr val="2DD4BF"/>
                </a:solidFill>
                <a:latin typeface="DejaVu Sans Bold"/>
                <a:ea typeface="DejaVu Sans Bold"/>
                <a:cs typeface="DejaVu Sans Bold"/>
                <a:sym typeface="DejaVu Sans Bold"/>
              </a:rPr>
              <a:t>Comparison and recovery</a:t>
            </a:r>
          </a:p>
        </p:txBody>
      </p:sp>
      <p:sp>
        <p:nvSpPr>
          <p:cNvPr name="TextBox 10" id="10"/>
          <p:cNvSpPr txBox="true"/>
          <p:nvPr/>
        </p:nvSpPr>
        <p:spPr>
          <a:xfrm rot="0">
            <a:off x="9949815" y="3265170"/>
            <a:ext cx="7246620"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name="TextBox 11" id="11"/>
          <p:cNvSpPr txBox="true"/>
          <p:nvPr/>
        </p:nvSpPr>
        <p:spPr>
          <a:xfrm rot="0">
            <a:off x="1005840" y="6646545"/>
            <a:ext cx="15533370" cy="451485"/>
          </a:xfrm>
          <a:prstGeom prst="rect">
            <a:avLst/>
          </a:prstGeom>
        </p:spPr>
        <p:txBody>
          <a:bodyPr anchor="t" rtlCol="false" tIns="0" lIns="0" bIns="0" rIns="0">
            <a:spAutoFit/>
          </a:bodyPr>
          <a:lstStyle/>
          <a:p>
            <a:pPr algn="l">
              <a:lnSpc>
                <a:spcPts val="3644"/>
              </a:lnSpc>
            </a:pPr>
            <a:r>
              <a:rPr lang="en-US" sz="3037" b="true">
                <a:solidFill>
                  <a:srgbClr val="F5B942"/>
                </a:solidFill>
                <a:latin typeface="DejaVu Sans Bold"/>
                <a:ea typeface="DejaVu Sans Bold"/>
                <a:cs typeface="DejaVu Sans Bold"/>
                <a:sym typeface="DejaVu Sans Bold"/>
              </a:rPr>
              <a:t>Supported conclusion</a:t>
            </a:r>
          </a:p>
        </p:txBody>
      </p:sp>
      <p:sp>
        <p:nvSpPr>
          <p:cNvPr name="TextBox 12" id="12"/>
          <p:cNvSpPr txBox="true"/>
          <p:nvPr/>
        </p:nvSpPr>
        <p:spPr>
          <a:xfrm rot="0">
            <a:off x="1005840" y="7389495"/>
            <a:ext cx="15676245" cy="1265873"/>
          </a:xfrm>
          <a:prstGeom prst="rect">
            <a:avLst/>
          </a:prstGeom>
        </p:spPr>
        <p:txBody>
          <a:bodyPr anchor="t" rtlCol="false" tIns="0" lIns="0" bIns="0" rIns="0">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8.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15533370" cy="260985"/>
          </a:xfrm>
          <a:prstGeom prst="rect">
            <a:avLst/>
          </a:prstGeom>
        </p:spPr>
        <p:txBody>
          <a:bodyPr anchor="t" rtlCol="false" tIns="0" lIns="0" bIns="0" rIns="0">
            <a:spAutoFit/>
          </a:bodyPr>
          <a:lstStyle/>
          <a:p>
            <a:pPr algn="l">
              <a:lnSpc>
                <a:spcPts val="2340"/>
              </a:lnSpc>
            </a:pPr>
            <a:r>
              <a:rPr lang="en-US" sz="1950" b="true">
                <a:solidFill>
                  <a:srgbClr val="2DD4BF"/>
                </a:solidFill>
                <a:latin typeface="DejaVu Sans Bold"/>
                <a:ea typeface="DejaVu Sans Bold"/>
                <a:cs typeface="DejaVu Sans Bold"/>
                <a:sym typeface="DejaVu Sans Bold"/>
              </a:rPr>
              <a:t>PAPER-TO-PROJECT MAPPING</a:t>
            </a:r>
          </a:p>
        </p:txBody>
      </p:sp>
      <p:sp>
        <p:nvSpPr>
          <p:cNvPr name="TextBox 3" id="3"/>
          <p:cNvSpPr txBox="true"/>
          <p:nvPr/>
        </p:nvSpPr>
        <p:spPr>
          <a:xfrm rot="0">
            <a:off x="1005840" y="1074420"/>
            <a:ext cx="16247745" cy="822960"/>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Relevance to the current EWMA project</a:t>
            </a:r>
          </a:p>
        </p:txBody>
      </p:sp>
      <p:sp>
        <p:nvSpPr>
          <p:cNvPr name="TextBox 4" id="4"/>
          <p:cNvSpPr txBox="true"/>
          <p:nvPr/>
        </p:nvSpPr>
        <p:spPr>
          <a:xfrm rot="0">
            <a:off x="1005840" y="9042082"/>
            <a:ext cx="16104870" cy="556260"/>
          </a:xfrm>
          <a:prstGeom prst="rect">
            <a:avLst/>
          </a:prstGeom>
        </p:spPr>
        <p:txBody>
          <a:bodyPr anchor="t" rtlCol="false" tIns="0" lIns="0" bIns="0" rIns="0">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name="TextBox 5" id="5"/>
          <p:cNvSpPr txBox="true"/>
          <p:nvPr/>
        </p:nvSpPr>
        <p:spPr>
          <a:xfrm rot="0">
            <a:off x="1005840" y="9808845"/>
            <a:ext cx="8389620" cy="175260"/>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664940" y="9818370"/>
            <a:ext cx="617220" cy="165735"/>
          </a:xfrm>
          <a:prstGeom prst="rect">
            <a:avLst/>
          </a:prstGeom>
        </p:spPr>
        <p:txBody>
          <a:bodyPr anchor="t" rtlCol="false" tIns="0" lIns="0" bIns="0" rIns="0">
            <a:spAutoFit/>
          </a:bodyPr>
          <a:lstStyle/>
          <a:p>
            <a:pPr algn="l">
              <a:lnSpc>
                <a:spcPts val="3240"/>
              </a:lnSpc>
            </a:pPr>
            <a:r>
              <a:rPr lang="en-US" sz="2700">
                <a:solidFill>
                  <a:srgbClr val="000000"/>
                </a:solidFill>
                <a:latin typeface="Aptos"/>
                <a:ea typeface="Aptos"/>
                <a:cs typeface="Aptos"/>
                <a:sym typeface="Aptos"/>
              </a:rPr>
              <a:t>09</a:t>
            </a:r>
          </a:p>
        </p:txBody>
      </p:sp>
      <p:sp>
        <p:nvSpPr>
          <p:cNvPr name="TextBox 7" id="7"/>
          <p:cNvSpPr txBox="true"/>
          <p:nvPr/>
        </p:nvSpPr>
        <p:spPr>
          <a:xfrm rot="0">
            <a:off x="1005840" y="2531745"/>
            <a:ext cx="7460932" cy="451485"/>
          </a:xfrm>
          <a:prstGeom prst="rect">
            <a:avLst/>
          </a:prstGeom>
        </p:spPr>
        <p:txBody>
          <a:bodyPr anchor="t" rtlCol="false" tIns="0" lIns="0" bIns="0" rIns="0">
            <a:spAutoFit/>
          </a:bodyPr>
          <a:lstStyle/>
          <a:p>
            <a:pPr algn="l">
              <a:lnSpc>
                <a:spcPts val="3644"/>
              </a:lnSpc>
            </a:pPr>
            <a:r>
              <a:rPr lang="en-US" sz="3037" b="true">
                <a:solidFill>
                  <a:srgbClr val="4EA1FF"/>
                </a:solidFill>
                <a:latin typeface="DejaVu Sans Bold"/>
                <a:ea typeface="DejaVu Sans Bold"/>
                <a:cs typeface="DejaVu Sans Bold"/>
                <a:sym typeface="DejaVu Sans Bold"/>
              </a:rPr>
              <a:t>Methodological connection</a:t>
            </a:r>
          </a:p>
        </p:txBody>
      </p:sp>
      <p:sp>
        <p:nvSpPr>
          <p:cNvPr name="TextBox 8" id="8"/>
          <p:cNvSpPr txBox="true"/>
          <p:nvPr/>
        </p:nvSpPr>
        <p:spPr>
          <a:xfrm rot="0">
            <a:off x="1005840" y="3265170"/>
            <a:ext cx="7460932"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name="TextBox 9" id="9"/>
          <p:cNvSpPr txBox="true"/>
          <p:nvPr/>
        </p:nvSpPr>
        <p:spPr>
          <a:xfrm rot="0">
            <a:off x="9949815" y="2531745"/>
            <a:ext cx="7246620" cy="451485"/>
          </a:xfrm>
          <a:prstGeom prst="rect">
            <a:avLst/>
          </a:prstGeom>
        </p:spPr>
        <p:txBody>
          <a:bodyPr anchor="t" rtlCol="false" tIns="0" lIns="0" bIns="0" rIns="0">
            <a:spAutoFit/>
          </a:bodyPr>
          <a:lstStyle/>
          <a:p>
            <a:pPr algn="l">
              <a:lnSpc>
                <a:spcPts val="3644"/>
              </a:lnSpc>
            </a:pPr>
            <a:r>
              <a:rPr lang="en-US" sz="3037" b="true">
                <a:solidFill>
                  <a:srgbClr val="2DD4BF"/>
                </a:solidFill>
                <a:latin typeface="DejaVu Sans Bold"/>
                <a:ea typeface="DejaVu Sans Bold"/>
                <a:cs typeface="DejaVu Sans Bold"/>
                <a:sym typeface="DejaVu Sans Bold"/>
              </a:rPr>
              <a:t>Existing next-step priorities</a:t>
            </a:r>
          </a:p>
        </p:txBody>
      </p:sp>
      <p:sp>
        <p:nvSpPr>
          <p:cNvPr name="TextBox 10" id="10"/>
          <p:cNvSpPr txBox="true"/>
          <p:nvPr/>
        </p:nvSpPr>
        <p:spPr>
          <a:xfrm rot="0">
            <a:off x="9949815" y="3265170"/>
            <a:ext cx="7246620" cy="306133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name="TextBox 11" id="11"/>
          <p:cNvSpPr txBox="true"/>
          <p:nvPr/>
        </p:nvSpPr>
        <p:spPr>
          <a:xfrm rot="0">
            <a:off x="1005840" y="6703695"/>
            <a:ext cx="15533370" cy="451485"/>
          </a:xfrm>
          <a:prstGeom prst="rect">
            <a:avLst/>
          </a:prstGeom>
        </p:spPr>
        <p:txBody>
          <a:bodyPr anchor="t" rtlCol="false" tIns="0" lIns="0" bIns="0" rIns="0">
            <a:spAutoFit/>
          </a:bodyPr>
          <a:lstStyle/>
          <a:p>
            <a:pPr algn="l">
              <a:lnSpc>
                <a:spcPts val="3644"/>
              </a:lnSpc>
            </a:pPr>
            <a:r>
              <a:rPr lang="en-US" sz="3037" b="true">
                <a:solidFill>
                  <a:srgbClr val="F5B942"/>
                </a:solidFill>
                <a:latin typeface="DejaVu Sans Bold"/>
                <a:ea typeface="DejaVu Sans Bold"/>
                <a:cs typeface="DejaVu Sans Bold"/>
                <a:sym typeface="DejaVu Sans Bold"/>
              </a:rPr>
              <a:t>Evidence boundary</a:t>
            </a:r>
          </a:p>
        </p:txBody>
      </p:sp>
      <p:sp>
        <p:nvSpPr>
          <p:cNvPr name="TextBox 12" id="12"/>
          <p:cNvSpPr txBox="true"/>
          <p:nvPr/>
        </p:nvSpPr>
        <p:spPr>
          <a:xfrm rot="0">
            <a:off x="1005840" y="7437120"/>
            <a:ext cx="15676245" cy="1261110"/>
          </a:xfrm>
          <a:prstGeom prst="rect">
            <a:avLst/>
          </a:prstGeom>
        </p:spPr>
        <p:txBody>
          <a:bodyPr anchor="t" rtlCol="false" tIns="0" lIns="0" bIns="0" rIns="0">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061524"/>
        </a:solidFill>
      </p:bgPr>
    </p:bg>
    <p:spTree>
      <p:nvGrpSpPr>
        <p:cNvPr id="1" name=""/>
        <p:cNvGrpSpPr/>
        <p:nvPr/>
      </p:nvGrpSpPr>
      <p:grpSpPr>
        <a:xfrm>
          <a:off x="0" y="0"/>
          <a:ext cx="0" cy="0"/>
          <a:chOff x="0" y="0"/>
          <a:chExt cx="0" cy="0"/>
        </a:xfrm>
      </p:grpSpPr>
      <p:sp>
        <p:nvSpPr>
          <p:cNvPr name="TextBox 2" id="2"/>
          <p:cNvSpPr txBox="true"/>
          <p:nvPr/>
        </p:nvSpPr>
        <p:spPr>
          <a:xfrm rot="0">
            <a:off x="918972" y="516255"/>
            <a:ext cx="16459200" cy="329565"/>
          </a:xfrm>
          <a:prstGeom prst="rect">
            <a:avLst/>
          </a:prstGeom>
        </p:spPr>
        <p:txBody>
          <a:bodyPr anchor="t" rtlCol="false" tIns="0" lIns="0" bIns="0" rIns="0">
            <a:spAutoFit/>
          </a:bodyPr>
          <a:lstStyle/>
          <a:p>
            <a:pPr algn="l">
              <a:lnSpc>
                <a:spcPts val="2340"/>
              </a:lnSpc>
            </a:pPr>
            <a:r>
              <a:rPr lang="en-US" sz="1950" b="true">
                <a:solidFill>
                  <a:srgbClr val="38DED3"/>
                </a:solidFill>
                <a:latin typeface="DejaVu Sans Bold"/>
                <a:ea typeface="DejaVu Sans Bold"/>
                <a:cs typeface="DejaVu Sans Bold"/>
                <a:sym typeface="DejaVu Sans Bold"/>
              </a:rPr>
              <a:t>FEATURE EXTRACTION</a:t>
            </a:r>
          </a:p>
        </p:txBody>
      </p:sp>
      <p:sp>
        <p:nvSpPr>
          <p:cNvPr name="TextBox 3" id="3"/>
          <p:cNvSpPr txBox="true"/>
          <p:nvPr/>
        </p:nvSpPr>
        <p:spPr>
          <a:xfrm rot="0">
            <a:off x="918972" y="1174623"/>
            <a:ext cx="16459200" cy="80962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From EEG signals to the monitored PCA score</a:t>
            </a:r>
          </a:p>
        </p:txBody>
      </p:sp>
      <p:sp>
        <p:nvSpPr>
          <p:cNvPr name="TextBox 4" id="4"/>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name="TextBox 5" id="5"/>
          <p:cNvSpPr txBox="true"/>
          <p:nvPr/>
        </p:nvSpPr>
        <p:spPr>
          <a:xfrm rot="0">
            <a:off x="16596360" y="9754362"/>
            <a:ext cx="68580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name="TextBox 6" id="6"/>
          <p:cNvSpPr txBox="true"/>
          <p:nvPr/>
        </p:nvSpPr>
        <p:spPr>
          <a:xfrm rot="0">
            <a:off x="1028700" y="2162175"/>
            <a:ext cx="16459200" cy="535305"/>
          </a:xfrm>
          <a:prstGeom prst="rect">
            <a:avLst/>
          </a:prstGeom>
        </p:spPr>
        <p:txBody>
          <a:bodyPr anchor="t" rtlCol="false" tIns="0" lIns="0" bIns="0" rIns="0">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name="TextBox 7" id="7"/>
          <p:cNvSpPr txBox="true"/>
          <p:nvPr/>
        </p:nvSpPr>
        <p:spPr>
          <a:xfrm rot="0">
            <a:off x="1028700" y="2916555"/>
            <a:ext cx="7955280" cy="466725"/>
          </a:xfrm>
          <a:prstGeom prst="rect">
            <a:avLst/>
          </a:prstGeom>
        </p:spPr>
        <p:txBody>
          <a:bodyPr anchor="t" rtlCol="false" tIns="0" lIns="0" bIns="0" rIns="0">
            <a:spAutoFit/>
          </a:bodyPr>
          <a:lstStyle/>
          <a:p>
            <a:pPr algn="l">
              <a:lnSpc>
                <a:spcPts val="3240"/>
              </a:lnSpc>
            </a:pPr>
            <a:r>
              <a:rPr lang="en-US" sz="2700" b="true">
                <a:solidFill>
                  <a:srgbClr val="38DED3"/>
                </a:solidFill>
                <a:latin typeface="DejaVu Sans Bold"/>
                <a:ea typeface="DejaVu Sans Bold"/>
                <a:cs typeface="DejaVu Sans Bold"/>
                <a:sym typeface="DejaVu Sans Bold"/>
              </a:rPr>
              <a:t>01  Spatial filtering</a:t>
            </a:r>
          </a:p>
        </p:txBody>
      </p:sp>
      <p:grpSp>
        <p:nvGrpSpPr>
          <p:cNvPr name="Group 8" id="8"/>
          <p:cNvGrpSpPr/>
          <p:nvPr/>
        </p:nvGrpSpPr>
        <p:grpSpPr>
          <a:xfrm rot="0">
            <a:off x="1028700" y="3700462"/>
            <a:ext cx="1583055" cy="485775"/>
            <a:chOff x="0" y="0"/>
            <a:chExt cx="2110740" cy="647700"/>
          </a:xfrm>
        </p:grpSpPr>
        <p:sp>
          <p:nvSpPr>
            <p:cNvPr name="Freeform 9" id="9" descr="image.png"/>
            <p:cNvSpPr/>
            <p:nvPr/>
          </p:nvSpPr>
          <p:spPr>
            <a:xfrm flipH="false" flipV="false" rot="0">
              <a:off x="0" y="0"/>
              <a:ext cx="2110740" cy="647700"/>
            </a:xfrm>
            <a:custGeom>
              <a:avLst/>
              <a:gdLst/>
              <a:ahLst/>
              <a:cxnLst/>
              <a:rect r="r" b="b" t="t" l="l"/>
              <a:pathLst>
                <a:path h="647700" w="2110740">
                  <a:moveTo>
                    <a:pt x="0" y="0"/>
                  </a:moveTo>
                  <a:lnTo>
                    <a:pt x="2110740" y="0"/>
                  </a:lnTo>
                  <a:lnTo>
                    <a:pt x="2110740" y="647700"/>
                  </a:lnTo>
                  <a:lnTo>
                    <a:pt x="0" y="647700"/>
                  </a:lnTo>
                  <a:lnTo>
                    <a:pt x="0" y="0"/>
                  </a:lnTo>
                  <a:close/>
                </a:path>
              </a:pathLst>
            </a:custGeom>
            <a:blipFill>
              <a:blip r:embed="rId3"/>
              <a:stretch>
                <a:fillRect l="0" t="0" r="0" b="0"/>
              </a:stretch>
            </a:blipFill>
          </p:spPr>
        </p:sp>
      </p:grpSp>
      <p:sp>
        <p:nvSpPr>
          <p:cNvPr name="TextBox 10" id="10"/>
          <p:cNvSpPr txBox="true"/>
          <p:nvPr/>
        </p:nvSpPr>
        <p:spPr>
          <a:xfrm rot="0">
            <a:off x="9944100" y="3190875"/>
            <a:ext cx="6995160" cy="809625"/>
          </a:xfrm>
          <a:prstGeom prst="rect">
            <a:avLst/>
          </a:prstGeom>
        </p:spPr>
        <p:txBody>
          <a:bodyPr anchor="t" rtlCol="false" tIns="0" lIns="0" bIns="0" rIns="0">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name="TextBox 11" id="11"/>
          <p:cNvSpPr txBox="true"/>
          <p:nvPr/>
        </p:nvSpPr>
        <p:spPr>
          <a:xfrm rot="0">
            <a:off x="9944100" y="4123563"/>
            <a:ext cx="6995160" cy="603885"/>
          </a:xfrm>
          <a:prstGeom prst="rect">
            <a:avLst/>
          </a:prstGeom>
        </p:spPr>
        <p:txBody>
          <a:bodyPr anchor="t" rtlCol="false" tIns="0" lIns="0" bIns="0" rIns="0">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name="TextBox 12" id="12"/>
          <p:cNvSpPr txBox="true"/>
          <p:nvPr/>
        </p:nvSpPr>
        <p:spPr>
          <a:xfrm rot="0">
            <a:off x="1028700" y="4699635"/>
            <a:ext cx="7955280" cy="466725"/>
          </a:xfrm>
          <a:prstGeom prst="rect">
            <a:avLst/>
          </a:prstGeom>
        </p:spPr>
        <p:txBody>
          <a:bodyPr anchor="t" rtlCol="false" tIns="0" lIns="0" bIns="0" rIns="0">
            <a:spAutoFit/>
          </a:bodyPr>
          <a:lstStyle/>
          <a:p>
            <a:pPr algn="l">
              <a:lnSpc>
                <a:spcPts val="3240"/>
              </a:lnSpc>
            </a:pPr>
            <a:r>
              <a:rPr lang="en-US" sz="2700" b="true">
                <a:solidFill>
                  <a:srgbClr val="38DED3"/>
                </a:solidFill>
                <a:latin typeface="DejaVu Sans Bold"/>
                <a:ea typeface="DejaVu Sans Bold"/>
                <a:cs typeface="DejaVu Sans Bold"/>
                <a:sym typeface="DejaVu Sans Bold"/>
              </a:rPr>
              <a:t>02  Log-variance features</a:t>
            </a:r>
          </a:p>
        </p:txBody>
      </p:sp>
      <p:grpSp>
        <p:nvGrpSpPr>
          <p:cNvPr name="Group 13" id="13"/>
          <p:cNvGrpSpPr/>
          <p:nvPr/>
        </p:nvGrpSpPr>
        <p:grpSpPr>
          <a:xfrm rot="0">
            <a:off x="1028700" y="5226368"/>
            <a:ext cx="3697605" cy="1343025"/>
            <a:chOff x="0" y="0"/>
            <a:chExt cx="4930140" cy="1790700"/>
          </a:xfrm>
        </p:grpSpPr>
        <p:sp>
          <p:nvSpPr>
            <p:cNvPr name="Freeform 14" id="14" descr="image.png"/>
            <p:cNvSpPr/>
            <p:nvPr/>
          </p:nvSpPr>
          <p:spPr>
            <a:xfrm flipH="false" flipV="false" rot="0">
              <a:off x="0" y="0"/>
              <a:ext cx="4930140" cy="1790700"/>
            </a:xfrm>
            <a:custGeom>
              <a:avLst/>
              <a:gdLst/>
              <a:ahLst/>
              <a:cxnLst/>
              <a:rect r="r" b="b" t="t" l="l"/>
              <a:pathLst>
                <a:path h="1790700" w="4930140">
                  <a:moveTo>
                    <a:pt x="0" y="0"/>
                  </a:moveTo>
                  <a:lnTo>
                    <a:pt x="4930140" y="0"/>
                  </a:lnTo>
                  <a:lnTo>
                    <a:pt x="4930140" y="1790700"/>
                  </a:lnTo>
                  <a:lnTo>
                    <a:pt x="0" y="1790700"/>
                  </a:lnTo>
                  <a:lnTo>
                    <a:pt x="0" y="0"/>
                  </a:lnTo>
                  <a:close/>
                </a:path>
              </a:pathLst>
            </a:custGeom>
            <a:blipFill>
              <a:blip r:embed="rId4"/>
              <a:stretch>
                <a:fillRect l="0" t="0" r="0" b="0"/>
              </a:stretch>
            </a:blipFill>
          </p:spPr>
        </p:sp>
      </p:grpSp>
      <p:sp>
        <p:nvSpPr>
          <p:cNvPr name="TextBox 15" id="15"/>
          <p:cNvSpPr txBox="true"/>
          <p:nvPr/>
        </p:nvSpPr>
        <p:spPr>
          <a:xfrm rot="0">
            <a:off x="9944100" y="4973955"/>
            <a:ext cx="6995160" cy="809625"/>
          </a:xfrm>
          <a:prstGeom prst="rect">
            <a:avLst/>
          </a:prstGeom>
        </p:spPr>
        <p:txBody>
          <a:bodyPr anchor="t" rtlCol="false" tIns="0" lIns="0" bIns="0" rIns="0">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name="TextBox 16" id="16"/>
          <p:cNvSpPr txBox="true"/>
          <p:nvPr/>
        </p:nvSpPr>
        <p:spPr>
          <a:xfrm rot="0">
            <a:off x="9944100" y="5906643"/>
            <a:ext cx="6995160" cy="603885"/>
          </a:xfrm>
          <a:prstGeom prst="rect">
            <a:avLst/>
          </a:prstGeom>
        </p:spPr>
        <p:txBody>
          <a:bodyPr anchor="t" rtlCol="false" tIns="0" lIns="0" bIns="0" rIns="0">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name="TextBox 17" id="17"/>
          <p:cNvSpPr txBox="true"/>
          <p:nvPr/>
        </p:nvSpPr>
        <p:spPr>
          <a:xfrm rot="0">
            <a:off x="1028700" y="6688455"/>
            <a:ext cx="7955280" cy="466725"/>
          </a:xfrm>
          <a:prstGeom prst="rect">
            <a:avLst/>
          </a:prstGeom>
        </p:spPr>
        <p:txBody>
          <a:bodyPr anchor="t" rtlCol="false" tIns="0" lIns="0" bIns="0" rIns="0">
            <a:spAutoFit/>
          </a:bodyPr>
          <a:lstStyle/>
          <a:p>
            <a:pPr algn="l">
              <a:lnSpc>
                <a:spcPts val="3240"/>
              </a:lnSpc>
            </a:pPr>
            <a:r>
              <a:rPr lang="en-US" sz="2700" b="true">
                <a:solidFill>
                  <a:srgbClr val="38DED3"/>
                </a:solidFill>
                <a:latin typeface="DejaVu Sans Bold"/>
                <a:ea typeface="DejaVu Sans Bold"/>
                <a:cs typeface="DejaVu Sans Bold"/>
                <a:sym typeface="DejaVu Sans Bold"/>
              </a:rPr>
              <a:t>03  PCA and PC1 selection</a:t>
            </a:r>
          </a:p>
        </p:txBody>
      </p:sp>
      <p:grpSp>
        <p:nvGrpSpPr>
          <p:cNvPr name="Group 18" id="18"/>
          <p:cNvGrpSpPr/>
          <p:nvPr/>
        </p:nvGrpSpPr>
        <p:grpSpPr>
          <a:xfrm rot="0">
            <a:off x="1028700" y="7420928"/>
            <a:ext cx="5383530" cy="588645"/>
            <a:chOff x="0" y="0"/>
            <a:chExt cx="7178040" cy="784860"/>
          </a:xfrm>
        </p:grpSpPr>
        <p:sp>
          <p:nvSpPr>
            <p:cNvPr name="Freeform 19" id="19" descr="image.png"/>
            <p:cNvSpPr/>
            <p:nvPr/>
          </p:nvSpPr>
          <p:spPr>
            <a:xfrm flipH="false" flipV="false" rot="0">
              <a:off x="0" y="0"/>
              <a:ext cx="7178040" cy="784860"/>
            </a:xfrm>
            <a:custGeom>
              <a:avLst/>
              <a:gdLst/>
              <a:ahLst/>
              <a:cxnLst/>
              <a:rect r="r" b="b" t="t" l="l"/>
              <a:pathLst>
                <a:path h="784860" w="7178040">
                  <a:moveTo>
                    <a:pt x="0" y="0"/>
                  </a:moveTo>
                  <a:lnTo>
                    <a:pt x="7178040" y="0"/>
                  </a:lnTo>
                  <a:lnTo>
                    <a:pt x="7178040" y="784860"/>
                  </a:lnTo>
                  <a:lnTo>
                    <a:pt x="0" y="784860"/>
                  </a:lnTo>
                  <a:lnTo>
                    <a:pt x="0" y="0"/>
                  </a:lnTo>
                  <a:close/>
                </a:path>
              </a:pathLst>
            </a:custGeom>
            <a:blipFill>
              <a:blip r:embed="rId5"/>
              <a:stretch>
                <a:fillRect l="0" t="0" r="0" b="0"/>
              </a:stretch>
            </a:blipFill>
          </p:spPr>
        </p:sp>
      </p:grpSp>
      <p:sp>
        <p:nvSpPr>
          <p:cNvPr name="TextBox 20" id="20"/>
          <p:cNvSpPr txBox="true"/>
          <p:nvPr/>
        </p:nvSpPr>
        <p:spPr>
          <a:xfrm rot="0">
            <a:off x="9944100" y="6962775"/>
            <a:ext cx="6995160" cy="809625"/>
          </a:xfrm>
          <a:prstGeom prst="rect">
            <a:avLst/>
          </a:prstGeom>
        </p:spPr>
        <p:txBody>
          <a:bodyPr anchor="t" rtlCol="false" tIns="0" lIns="0" bIns="0" rIns="0">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name="TextBox 21" id="21"/>
          <p:cNvSpPr txBox="true"/>
          <p:nvPr/>
        </p:nvSpPr>
        <p:spPr>
          <a:xfrm rot="0">
            <a:off x="9944100" y="7895463"/>
            <a:ext cx="6995160" cy="603885"/>
          </a:xfrm>
          <a:prstGeom prst="rect">
            <a:avLst/>
          </a:prstGeom>
        </p:spPr>
        <p:txBody>
          <a:bodyPr anchor="t" rtlCol="false" tIns="0" lIns="0" bIns="0" rIns="0">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name="TextBox 22" id="22"/>
          <p:cNvSpPr txBox="true"/>
          <p:nvPr/>
        </p:nvSpPr>
        <p:spPr>
          <a:xfrm rot="0">
            <a:off x="1028700" y="9020175"/>
            <a:ext cx="16459200" cy="603885"/>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10412" y="484632"/>
            <a:ext cx="16139160" cy="388620"/>
          </a:xfrm>
          <a:prstGeom prst="rect">
            <a:avLst/>
          </a:prstGeom>
        </p:spPr>
        <p:txBody>
          <a:bodyPr anchor="t" rtlCol="false" tIns="0" lIns="0" bIns="0" rIns="0">
            <a:spAutoFit/>
          </a:bodyPr>
          <a:lstStyle/>
          <a:p>
            <a:pPr algn="l">
              <a:lnSpc>
                <a:spcPts val="2340"/>
              </a:lnSpc>
            </a:pPr>
            <a:r>
              <a:rPr lang="en-US" sz="1950" b="true">
                <a:solidFill>
                  <a:srgbClr val="AE9251"/>
                </a:solidFill>
                <a:latin typeface="Aptos Bold"/>
                <a:ea typeface="Aptos Bold"/>
                <a:cs typeface="Aptos Bold"/>
                <a:sym typeface="Aptos Bold"/>
              </a:rPr>
              <a:t>REPRESENTATION VERSUS ADAPTATION</a:t>
            </a:r>
          </a:p>
        </p:txBody>
      </p:sp>
      <p:sp>
        <p:nvSpPr>
          <p:cNvPr name="TextBox 3" id="3"/>
          <p:cNvSpPr txBox="true"/>
          <p:nvPr/>
        </p:nvSpPr>
        <p:spPr>
          <a:xfrm rot="0">
            <a:off x="1010412" y="1179957"/>
            <a:ext cx="16276320" cy="859155"/>
          </a:xfrm>
          <a:prstGeom prst="rect">
            <a:avLst/>
          </a:prstGeom>
        </p:spPr>
        <p:txBody>
          <a:bodyPr anchor="t" rtlCol="false" tIns="0" lIns="0" bIns="0" rIns="0">
            <a:spAutoFit/>
          </a:bodyPr>
          <a:lstStyle/>
          <a:p>
            <a:pPr algn="l">
              <a:lnSpc>
                <a:spcPts val="4860"/>
              </a:lnSpc>
            </a:pPr>
            <a:r>
              <a:rPr lang="en-US" sz="4050" b="true">
                <a:solidFill>
                  <a:srgbClr val="13274B"/>
                </a:solidFill>
                <a:latin typeface="Aptos Bold"/>
                <a:ea typeface="Aptos Bold"/>
                <a:cs typeface="Aptos Bold"/>
                <a:sym typeface="Aptos Bold"/>
              </a:rPr>
              <a:t>What is fixed and what changes during SVM updates</a:t>
            </a:r>
          </a:p>
        </p:txBody>
      </p:sp>
      <p:sp>
        <p:nvSpPr>
          <p:cNvPr name="TextBox 4" id="4"/>
          <p:cNvSpPr txBox="true"/>
          <p:nvPr/>
        </p:nvSpPr>
        <p:spPr>
          <a:xfrm rot="0">
            <a:off x="1120140" y="2189607"/>
            <a:ext cx="16139160" cy="68618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name="TextBox 5" id="5"/>
          <p:cNvSpPr txBox="true"/>
          <p:nvPr/>
        </p:nvSpPr>
        <p:spPr>
          <a:xfrm rot="0">
            <a:off x="1010412" y="9801987"/>
            <a:ext cx="12161520" cy="233553"/>
          </a:xfrm>
          <a:prstGeom prst="rect">
            <a:avLst/>
          </a:prstGeom>
        </p:spPr>
        <p:txBody>
          <a:bodyPr anchor="t" rtlCol="false" tIns="0" lIns="0" bIns="0" rIns="0">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name="Group 6" id="6"/>
          <p:cNvGrpSpPr/>
          <p:nvPr/>
        </p:nvGrpSpPr>
        <p:grpSpPr>
          <a:xfrm rot="0">
            <a:off x="1097280" y="2798064"/>
            <a:ext cx="16116300" cy="1342063"/>
            <a:chOff x="0" y="0"/>
            <a:chExt cx="21488400" cy="1789417"/>
          </a:xfrm>
        </p:grpSpPr>
        <p:sp>
          <p:nvSpPr>
            <p:cNvPr name="Freeform 7" id="7" descr="ewma_representation_equation.png"/>
            <p:cNvSpPr/>
            <p:nvPr/>
          </p:nvSpPr>
          <p:spPr>
            <a:xfrm flipH="false" flipV="false" rot="0">
              <a:off x="0" y="0"/>
              <a:ext cx="21488400" cy="1789430"/>
            </a:xfrm>
            <a:custGeom>
              <a:avLst/>
              <a:gdLst/>
              <a:ahLst/>
              <a:cxnLst/>
              <a:rect r="r" b="b" t="t" l="l"/>
              <a:pathLst>
                <a:path h="1789430" w="21488400">
                  <a:moveTo>
                    <a:pt x="0" y="0"/>
                  </a:moveTo>
                  <a:lnTo>
                    <a:pt x="21488400" y="0"/>
                  </a:lnTo>
                  <a:lnTo>
                    <a:pt x="21488400" y="1789430"/>
                  </a:lnTo>
                  <a:lnTo>
                    <a:pt x="0" y="1789430"/>
                  </a:lnTo>
                  <a:lnTo>
                    <a:pt x="0" y="0"/>
                  </a:lnTo>
                  <a:close/>
                </a:path>
              </a:pathLst>
            </a:custGeom>
            <a:blipFill>
              <a:blip r:embed="rId3"/>
              <a:stretch>
                <a:fillRect l="0" t="0" r="0" b="0"/>
              </a:stretch>
            </a:blipFill>
          </p:spPr>
        </p:sp>
      </p:grpSp>
      <p:grpSp>
        <p:nvGrpSpPr>
          <p:cNvPr name="Group 8" id="8"/>
          <p:cNvGrpSpPr/>
          <p:nvPr/>
        </p:nvGrpSpPr>
        <p:grpSpPr>
          <a:xfrm rot="0">
            <a:off x="1165860" y="4320540"/>
            <a:ext cx="5006340" cy="2496312"/>
            <a:chOff x="0" y="0"/>
            <a:chExt cx="6675120" cy="3328416"/>
          </a:xfrm>
        </p:grpSpPr>
        <p:sp>
          <p:nvSpPr>
            <p:cNvPr name="Freeform 9" id="9"/>
            <p:cNvSpPr/>
            <p:nvPr/>
          </p:nvSpPr>
          <p:spPr>
            <a:xfrm flipH="false" flipV="false" rot="0">
              <a:off x="0" y="0"/>
              <a:ext cx="6675120" cy="3328416"/>
            </a:xfrm>
            <a:custGeom>
              <a:avLst/>
              <a:gdLst/>
              <a:ahLst/>
              <a:cxnLst/>
              <a:rect r="r" b="b" t="t" l="l"/>
              <a:pathLst>
                <a:path h="3328416" w="6675120">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sp>
      </p:grpSp>
      <p:sp>
        <p:nvSpPr>
          <p:cNvPr name="TextBox 10" id="10"/>
          <p:cNvSpPr txBox="true"/>
          <p:nvPr/>
        </p:nvSpPr>
        <p:spPr>
          <a:xfrm rot="0">
            <a:off x="1504188" y="4681728"/>
            <a:ext cx="4411980" cy="443484"/>
          </a:xfrm>
          <a:prstGeom prst="rect">
            <a:avLst/>
          </a:prstGeom>
        </p:spPr>
        <p:txBody>
          <a:bodyPr anchor="t" rtlCol="false" tIns="0" lIns="0" bIns="0" rIns="0">
            <a:spAutoFit/>
          </a:bodyPr>
          <a:lstStyle/>
          <a:p>
            <a:pPr algn="l">
              <a:lnSpc>
                <a:spcPts val="2879"/>
              </a:lnSpc>
            </a:pPr>
            <a:r>
              <a:rPr lang="en-US" sz="2400" b="true">
                <a:solidFill>
                  <a:srgbClr val="13274B"/>
                </a:solidFill>
                <a:latin typeface="Aptos Bold"/>
                <a:ea typeface="Aptos Bold"/>
                <a:cs typeface="Aptos Bold"/>
                <a:sym typeface="Aptos Bold"/>
              </a:rPr>
              <a:t>EEG → FBCSP</a:t>
            </a:r>
          </a:p>
        </p:txBody>
      </p:sp>
      <p:sp>
        <p:nvSpPr>
          <p:cNvPr name="TextBox 11" id="11"/>
          <p:cNvSpPr txBox="true"/>
          <p:nvPr/>
        </p:nvSpPr>
        <p:spPr>
          <a:xfrm rot="0">
            <a:off x="1504188" y="5408676"/>
            <a:ext cx="4343400" cy="1156716"/>
          </a:xfrm>
          <a:prstGeom prst="rect">
            <a:avLst/>
          </a:prstGeom>
        </p:spPr>
        <p:txBody>
          <a:bodyPr anchor="t" rtlCol="false" tIns="0" lIns="0" bIns="0" rIns="0">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name="Group 12" id="12"/>
          <p:cNvGrpSpPr/>
          <p:nvPr/>
        </p:nvGrpSpPr>
        <p:grpSpPr>
          <a:xfrm rot="0">
            <a:off x="6858000" y="4320540"/>
            <a:ext cx="5006340" cy="2496312"/>
            <a:chOff x="0" y="0"/>
            <a:chExt cx="6675120" cy="3328416"/>
          </a:xfrm>
        </p:grpSpPr>
        <p:sp>
          <p:nvSpPr>
            <p:cNvPr name="Freeform 13" id="13"/>
            <p:cNvSpPr/>
            <p:nvPr/>
          </p:nvSpPr>
          <p:spPr>
            <a:xfrm flipH="false" flipV="false" rot="0">
              <a:off x="0" y="0"/>
              <a:ext cx="6675120" cy="3328416"/>
            </a:xfrm>
            <a:custGeom>
              <a:avLst/>
              <a:gdLst/>
              <a:ahLst/>
              <a:cxnLst/>
              <a:rect r="r" b="b" t="t" l="l"/>
              <a:pathLst>
                <a:path h="3328416" w="6675120">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sp>
      </p:grpSp>
      <p:sp>
        <p:nvSpPr>
          <p:cNvPr name="TextBox 14" id="14"/>
          <p:cNvSpPr txBox="true"/>
          <p:nvPr/>
        </p:nvSpPr>
        <p:spPr>
          <a:xfrm rot="0">
            <a:off x="7196328" y="4681728"/>
            <a:ext cx="4411980" cy="443484"/>
          </a:xfrm>
          <a:prstGeom prst="rect">
            <a:avLst/>
          </a:prstGeom>
        </p:spPr>
        <p:txBody>
          <a:bodyPr anchor="t" rtlCol="false" tIns="0" lIns="0" bIns="0" rIns="0">
            <a:spAutoFit/>
          </a:bodyPr>
          <a:lstStyle/>
          <a:p>
            <a:pPr algn="l">
              <a:lnSpc>
                <a:spcPts val="2879"/>
              </a:lnSpc>
            </a:pPr>
            <a:r>
              <a:rPr lang="en-US" sz="2400" b="true">
                <a:solidFill>
                  <a:srgbClr val="13274B"/>
                </a:solidFill>
                <a:latin typeface="Aptos Bold"/>
                <a:ea typeface="Aptos Bold"/>
                <a:cs typeface="Aptos Bold"/>
                <a:sym typeface="Aptos Bold"/>
              </a:rPr>
              <a:t>FBCSP → PCA monitor</a:t>
            </a:r>
          </a:p>
        </p:txBody>
      </p:sp>
      <p:sp>
        <p:nvSpPr>
          <p:cNvPr name="TextBox 15" id="15"/>
          <p:cNvSpPr txBox="true"/>
          <p:nvPr/>
        </p:nvSpPr>
        <p:spPr>
          <a:xfrm rot="0">
            <a:off x="7196328" y="5408676"/>
            <a:ext cx="4343400" cy="1156716"/>
          </a:xfrm>
          <a:prstGeom prst="rect">
            <a:avLst/>
          </a:prstGeom>
        </p:spPr>
        <p:txBody>
          <a:bodyPr anchor="t" rtlCol="false" tIns="0" lIns="0" bIns="0" rIns="0">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name="Group 16" id="16"/>
          <p:cNvGrpSpPr/>
          <p:nvPr/>
        </p:nvGrpSpPr>
        <p:grpSpPr>
          <a:xfrm rot="0">
            <a:off x="12412980" y="4320540"/>
            <a:ext cx="5006340" cy="2496312"/>
            <a:chOff x="0" y="0"/>
            <a:chExt cx="6675120" cy="3328416"/>
          </a:xfrm>
        </p:grpSpPr>
        <p:sp>
          <p:nvSpPr>
            <p:cNvPr name="Freeform 17" id="17"/>
            <p:cNvSpPr/>
            <p:nvPr/>
          </p:nvSpPr>
          <p:spPr>
            <a:xfrm flipH="false" flipV="false" rot="0">
              <a:off x="0" y="0"/>
              <a:ext cx="6675120" cy="3328416"/>
            </a:xfrm>
            <a:custGeom>
              <a:avLst/>
              <a:gdLst/>
              <a:ahLst/>
              <a:cxnLst/>
              <a:rect r="r" b="b" t="t" l="l"/>
              <a:pathLst>
                <a:path h="3328416" w="6675120">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sp>
      </p:grpSp>
      <p:sp>
        <p:nvSpPr>
          <p:cNvPr name="TextBox 18" id="18"/>
          <p:cNvSpPr txBox="true"/>
          <p:nvPr/>
        </p:nvSpPr>
        <p:spPr>
          <a:xfrm rot="0">
            <a:off x="12751308" y="4681728"/>
            <a:ext cx="4411980" cy="443484"/>
          </a:xfrm>
          <a:prstGeom prst="rect">
            <a:avLst/>
          </a:prstGeom>
        </p:spPr>
        <p:txBody>
          <a:bodyPr anchor="t" rtlCol="false" tIns="0" lIns="0" bIns="0" rIns="0">
            <a:spAutoFit/>
          </a:bodyPr>
          <a:lstStyle/>
          <a:p>
            <a:pPr algn="l">
              <a:lnSpc>
                <a:spcPts val="2879"/>
              </a:lnSpc>
            </a:pPr>
            <a:r>
              <a:rPr lang="en-US" sz="2400" b="true">
                <a:solidFill>
                  <a:srgbClr val="13274B"/>
                </a:solidFill>
                <a:latin typeface="Aptos Bold"/>
                <a:ea typeface="Aptos Bold"/>
                <a:cs typeface="Aptos Bold"/>
                <a:sym typeface="Aptos Bold"/>
              </a:rPr>
              <a:t>FBCSP → prediction</a:t>
            </a:r>
          </a:p>
        </p:txBody>
      </p:sp>
      <p:sp>
        <p:nvSpPr>
          <p:cNvPr name="TextBox 19" id="19"/>
          <p:cNvSpPr txBox="true"/>
          <p:nvPr/>
        </p:nvSpPr>
        <p:spPr>
          <a:xfrm rot="0">
            <a:off x="12751308" y="5408676"/>
            <a:ext cx="4343400" cy="1156716"/>
          </a:xfrm>
          <a:prstGeom prst="rect">
            <a:avLst/>
          </a:prstGeom>
        </p:spPr>
        <p:txBody>
          <a:bodyPr anchor="t" rtlCol="false" tIns="0" lIns="0" bIns="0" rIns="0">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name="TextBox 20" id="20"/>
          <p:cNvSpPr txBox="true"/>
          <p:nvPr/>
        </p:nvSpPr>
        <p:spPr>
          <a:xfrm rot="0">
            <a:off x="1257300" y="7370064"/>
            <a:ext cx="15864840" cy="731520"/>
          </a:xfrm>
          <a:prstGeom prst="rect">
            <a:avLst/>
          </a:prstGeom>
        </p:spPr>
        <p:txBody>
          <a:bodyPr anchor="t" rtlCol="false" tIns="0" lIns="0" bIns="0" rIns="0">
            <a:spAutoFit/>
          </a:bodyPr>
          <a:lstStyle/>
          <a:p>
            <a:pPr algn="l">
              <a:lnSpc>
                <a:spcPts val="3060"/>
              </a:lnSpc>
            </a:pPr>
            <a:r>
              <a:rPr lang="en-US" sz="2550" b="true">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name="TextBox 21" id="21"/>
          <p:cNvSpPr txBox="true"/>
          <p:nvPr/>
        </p:nvSpPr>
        <p:spPr>
          <a:xfrm rot="0">
            <a:off x="1257300" y="8535924"/>
            <a:ext cx="15727680" cy="416052"/>
          </a:xfrm>
          <a:prstGeom prst="rect">
            <a:avLst/>
          </a:prstGeom>
        </p:spPr>
        <p:txBody>
          <a:bodyPr anchor="t" rtlCol="false" tIns="0" lIns="0" bIns="0" rIns="0">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061524"/>
        </a:solidFill>
      </p:bgPr>
    </p:bg>
    <p:spTree>
      <p:nvGrpSpPr>
        <p:cNvPr id="1" name=""/>
        <p:cNvGrpSpPr/>
        <p:nvPr/>
      </p:nvGrpSpPr>
      <p:grpSpPr>
        <a:xfrm>
          <a:off x="0" y="0"/>
          <a:ext cx="0" cy="0"/>
          <a:chOff x="0" y="0"/>
          <a:chExt cx="0" cy="0"/>
        </a:xfrm>
      </p:grpSpPr>
      <p:sp>
        <p:nvSpPr>
          <p:cNvPr name="TextBox 2" id="2"/>
          <p:cNvSpPr txBox="true"/>
          <p:nvPr/>
        </p:nvSpPr>
        <p:spPr>
          <a:xfrm rot="0">
            <a:off x="918972" y="516255"/>
            <a:ext cx="16459200" cy="329565"/>
          </a:xfrm>
          <a:prstGeom prst="rect">
            <a:avLst/>
          </a:prstGeom>
        </p:spPr>
        <p:txBody>
          <a:bodyPr anchor="t" rtlCol="false" tIns="0" lIns="0" bIns="0" rIns="0">
            <a:spAutoFit/>
          </a:bodyPr>
          <a:lstStyle/>
          <a:p>
            <a:pPr algn="l">
              <a:lnSpc>
                <a:spcPts val="2340"/>
              </a:lnSpc>
            </a:pPr>
            <a:r>
              <a:rPr lang="en-US" sz="1950" b="true">
                <a:solidFill>
                  <a:srgbClr val="38DED3"/>
                </a:solidFill>
                <a:latin typeface="DejaVu Sans Bold"/>
                <a:ea typeface="DejaVu Sans Bold"/>
                <a:cs typeface="DejaVu Sans Bold"/>
                <a:sym typeface="DejaVu Sans Bold"/>
              </a:rPr>
              <a:t>DETECTOR MATHEMATICS</a:t>
            </a:r>
          </a:p>
        </p:txBody>
      </p:sp>
      <p:sp>
        <p:nvSpPr>
          <p:cNvPr name="TextBox 3" id="3"/>
          <p:cNvSpPr txBox="true"/>
          <p:nvPr/>
        </p:nvSpPr>
        <p:spPr>
          <a:xfrm rot="0">
            <a:off x="918972" y="1174623"/>
            <a:ext cx="16459200" cy="80962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How PCA scores become warnings and confirmations</a:t>
            </a:r>
          </a:p>
        </p:txBody>
      </p:sp>
      <p:sp>
        <p:nvSpPr>
          <p:cNvPr name="TextBox 4" id="4"/>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name="TextBox 5" id="5"/>
          <p:cNvSpPr txBox="true"/>
          <p:nvPr/>
        </p:nvSpPr>
        <p:spPr>
          <a:xfrm rot="0">
            <a:off x="16596360" y="9754362"/>
            <a:ext cx="68580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name="TextBox 6" id="6"/>
          <p:cNvSpPr txBox="true"/>
          <p:nvPr/>
        </p:nvSpPr>
        <p:spPr>
          <a:xfrm rot="0">
            <a:off x="1028700" y="2308860"/>
            <a:ext cx="8229600" cy="457200"/>
          </a:xfrm>
          <a:prstGeom prst="rect">
            <a:avLst/>
          </a:prstGeom>
        </p:spPr>
        <p:txBody>
          <a:bodyPr anchor="t" rtlCol="false" tIns="0" lIns="0" bIns="0" rIns="0">
            <a:spAutoFit/>
          </a:bodyPr>
          <a:lstStyle/>
          <a:p>
            <a:pPr algn="l">
              <a:lnSpc>
                <a:spcPts val="3779"/>
              </a:lnSpc>
            </a:pPr>
            <a:r>
              <a:rPr lang="en-US" sz="3150" b="true">
                <a:solidFill>
                  <a:srgbClr val="38DED3"/>
                </a:solidFill>
                <a:latin typeface="DejaVu Sans Bold"/>
                <a:ea typeface="DejaVu Sans Bold"/>
                <a:cs typeface="DejaVu Sans Bold"/>
                <a:sym typeface="DejaVu Sans Bold"/>
              </a:rPr>
              <a:t>Stage I: EWMA warning</a:t>
            </a:r>
          </a:p>
        </p:txBody>
      </p:sp>
      <p:sp>
        <p:nvSpPr>
          <p:cNvPr name="TextBox 7" id="7"/>
          <p:cNvSpPr txBox="true"/>
          <p:nvPr/>
        </p:nvSpPr>
        <p:spPr>
          <a:xfrm rot="0">
            <a:off x="1028700" y="3112770"/>
            <a:ext cx="8641080" cy="407670"/>
          </a:xfrm>
          <a:prstGeom prst="rect">
            <a:avLst/>
          </a:prstGeom>
        </p:spPr>
        <p:txBody>
          <a:bodyPr anchor="t" rtlCol="false" tIns="0" lIns="0" bIns="0" rIns="0">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grpSp>
        <p:nvGrpSpPr>
          <p:cNvPr name="Group 8" id="8"/>
          <p:cNvGrpSpPr/>
          <p:nvPr/>
        </p:nvGrpSpPr>
        <p:grpSpPr>
          <a:xfrm rot="0">
            <a:off x="1028700" y="3745611"/>
            <a:ext cx="7406640" cy="491490"/>
            <a:chOff x="0" y="0"/>
            <a:chExt cx="9875520" cy="655320"/>
          </a:xfrm>
        </p:grpSpPr>
        <p:sp>
          <p:nvSpPr>
            <p:cNvPr name="Freeform 9" id="9" descr="image.png"/>
            <p:cNvSpPr/>
            <p:nvPr/>
          </p:nvSpPr>
          <p:spPr>
            <a:xfrm flipH="false" flipV="false" rot="0">
              <a:off x="0" y="0"/>
              <a:ext cx="9875520" cy="655320"/>
            </a:xfrm>
            <a:custGeom>
              <a:avLst/>
              <a:gdLst/>
              <a:ahLst/>
              <a:cxnLst/>
              <a:rect r="r" b="b" t="t" l="l"/>
              <a:pathLst>
                <a:path h="655320" w="9875520">
                  <a:moveTo>
                    <a:pt x="0" y="0"/>
                  </a:moveTo>
                  <a:lnTo>
                    <a:pt x="9875520" y="0"/>
                  </a:lnTo>
                  <a:lnTo>
                    <a:pt x="9875520" y="655320"/>
                  </a:lnTo>
                  <a:lnTo>
                    <a:pt x="0" y="655320"/>
                  </a:lnTo>
                  <a:lnTo>
                    <a:pt x="0" y="0"/>
                  </a:lnTo>
                  <a:close/>
                </a:path>
              </a:pathLst>
            </a:custGeom>
            <a:blipFill>
              <a:blip r:embed="rId3"/>
              <a:stretch>
                <a:fillRect l="0" t="0" r="0" b="0"/>
              </a:stretch>
            </a:blipFill>
          </p:spPr>
        </p:sp>
      </p:grpSp>
      <p:sp>
        <p:nvSpPr>
          <p:cNvPr name="TextBox 10" id="10"/>
          <p:cNvSpPr txBox="true"/>
          <p:nvPr/>
        </p:nvSpPr>
        <p:spPr>
          <a:xfrm rot="0">
            <a:off x="1028700" y="4552950"/>
            <a:ext cx="8641080" cy="407670"/>
          </a:xfrm>
          <a:prstGeom prst="rect">
            <a:avLst/>
          </a:prstGeom>
        </p:spPr>
        <p:txBody>
          <a:bodyPr anchor="t" rtlCol="false" tIns="0" lIns="0" bIns="0" rIns="0">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grpSp>
        <p:nvGrpSpPr>
          <p:cNvPr name="Group 11" id="11"/>
          <p:cNvGrpSpPr/>
          <p:nvPr/>
        </p:nvGrpSpPr>
        <p:grpSpPr>
          <a:xfrm rot="0">
            <a:off x="1028700" y="5189563"/>
            <a:ext cx="8641080" cy="483946"/>
            <a:chOff x="0" y="0"/>
            <a:chExt cx="11521440" cy="645262"/>
          </a:xfrm>
        </p:grpSpPr>
        <p:sp>
          <p:nvSpPr>
            <p:cNvPr name="Freeform 12" id="12" descr="image.png"/>
            <p:cNvSpPr/>
            <p:nvPr/>
          </p:nvSpPr>
          <p:spPr>
            <a:xfrm flipH="false" flipV="false" rot="0">
              <a:off x="0" y="0"/>
              <a:ext cx="11521440" cy="645287"/>
            </a:xfrm>
            <a:custGeom>
              <a:avLst/>
              <a:gdLst/>
              <a:ahLst/>
              <a:cxnLst/>
              <a:rect r="r" b="b" t="t" l="l"/>
              <a:pathLst>
                <a:path h="645287" w="11521440">
                  <a:moveTo>
                    <a:pt x="0" y="0"/>
                  </a:moveTo>
                  <a:lnTo>
                    <a:pt x="11521440" y="0"/>
                  </a:lnTo>
                  <a:lnTo>
                    <a:pt x="11521440" y="645287"/>
                  </a:lnTo>
                  <a:lnTo>
                    <a:pt x="0" y="645287"/>
                  </a:lnTo>
                  <a:lnTo>
                    <a:pt x="0" y="0"/>
                  </a:lnTo>
                  <a:close/>
                </a:path>
              </a:pathLst>
            </a:custGeom>
            <a:blipFill>
              <a:blip r:embed="rId4"/>
              <a:stretch>
                <a:fillRect l="0" t="0" r="0" b="4"/>
              </a:stretch>
            </a:blipFill>
          </p:spPr>
        </p:sp>
      </p:grpSp>
      <p:sp>
        <p:nvSpPr>
          <p:cNvPr name="TextBox 13" id="13"/>
          <p:cNvSpPr txBox="true"/>
          <p:nvPr/>
        </p:nvSpPr>
        <p:spPr>
          <a:xfrm rot="0">
            <a:off x="1028700" y="5993130"/>
            <a:ext cx="8641080" cy="407670"/>
          </a:xfrm>
          <a:prstGeom prst="rect">
            <a:avLst/>
          </a:prstGeom>
        </p:spPr>
        <p:txBody>
          <a:bodyPr anchor="t" rtlCol="false" tIns="0" lIns="0" bIns="0" rIns="0">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grpSp>
        <p:nvGrpSpPr>
          <p:cNvPr name="Group 14" id="14"/>
          <p:cNvGrpSpPr/>
          <p:nvPr/>
        </p:nvGrpSpPr>
        <p:grpSpPr>
          <a:xfrm rot="0">
            <a:off x="1028700" y="6551676"/>
            <a:ext cx="5514975" cy="640080"/>
            <a:chOff x="0" y="0"/>
            <a:chExt cx="7353300" cy="853440"/>
          </a:xfrm>
        </p:grpSpPr>
        <p:sp>
          <p:nvSpPr>
            <p:cNvPr name="Freeform 15" id="15" descr="image.png"/>
            <p:cNvSpPr/>
            <p:nvPr/>
          </p:nvSpPr>
          <p:spPr>
            <a:xfrm flipH="false" flipV="false" rot="0">
              <a:off x="0" y="0"/>
              <a:ext cx="7353300" cy="853440"/>
            </a:xfrm>
            <a:custGeom>
              <a:avLst/>
              <a:gdLst/>
              <a:ahLst/>
              <a:cxnLst/>
              <a:rect r="r" b="b" t="t" l="l"/>
              <a:pathLst>
                <a:path h="853440" w="7353300">
                  <a:moveTo>
                    <a:pt x="0" y="0"/>
                  </a:moveTo>
                  <a:lnTo>
                    <a:pt x="7353300" y="0"/>
                  </a:lnTo>
                  <a:lnTo>
                    <a:pt x="7353300" y="853440"/>
                  </a:lnTo>
                  <a:lnTo>
                    <a:pt x="0" y="853440"/>
                  </a:lnTo>
                  <a:lnTo>
                    <a:pt x="0" y="0"/>
                  </a:lnTo>
                  <a:close/>
                </a:path>
              </a:pathLst>
            </a:custGeom>
            <a:blipFill>
              <a:blip r:embed="rId5"/>
              <a:stretch>
                <a:fillRect l="0" t="0" r="0" b="0"/>
              </a:stretch>
            </a:blipFill>
          </p:spPr>
        </p:sp>
      </p:grpSp>
      <p:sp>
        <p:nvSpPr>
          <p:cNvPr name="TextBox 16" id="16"/>
          <p:cNvSpPr txBox="true"/>
          <p:nvPr/>
        </p:nvSpPr>
        <p:spPr>
          <a:xfrm rot="0">
            <a:off x="1028700" y="7707630"/>
            <a:ext cx="8435340" cy="1024890"/>
          </a:xfrm>
          <a:prstGeom prst="rect">
            <a:avLst/>
          </a:prstGeom>
        </p:spPr>
        <p:txBody>
          <a:bodyPr anchor="t" rtlCol="false" tIns="0" lIns="0" bIns="0" rIns="0">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name="TextBox 17" id="17"/>
          <p:cNvSpPr txBox="true"/>
          <p:nvPr/>
        </p:nvSpPr>
        <p:spPr>
          <a:xfrm rot="0">
            <a:off x="10149840" y="2308860"/>
            <a:ext cx="7269480" cy="457200"/>
          </a:xfrm>
          <a:prstGeom prst="rect">
            <a:avLst/>
          </a:prstGeom>
        </p:spPr>
        <p:txBody>
          <a:bodyPr anchor="t" rtlCol="false" tIns="0" lIns="0" bIns="0" rIns="0">
            <a:spAutoFit/>
          </a:bodyPr>
          <a:lstStyle/>
          <a:p>
            <a:pPr algn="l">
              <a:lnSpc>
                <a:spcPts val="3779"/>
              </a:lnSpc>
            </a:pPr>
            <a:r>
              <a:rPr lang="en-US" sz="3150" b="true">
                <a:solidFill>
                  <a:srgbClr val="F4C04B"/>
                </a:solidFill>
                <a:latin typeface="DejaVu Sans Bold"/>
                <a:ea typeface="DejaVu Sans Bold"/>
                <a:cs typeface="DejaVu Sans Bold"/>
                <a:sym typeface="DejaVu Sans Bold"/>
              </a:rPr>
              <a:t>Stage II: Hotelling validation</a:t>
            </a:r>
          </a:p>
        </p:txBody>
      </p:sp>
      <p:sp>
        <p:nvSpPr>
          <p:cNvPr name="TextBox 18" id="18"/>
          <p:cNvSpPr txBox="true"/>
          <p:nvPr/>
        </p:nvSpPr>
        <p:spPr>
          <a:xfrm rot="0">
            <a:off x="10149840" y="3112770"/>
            <a:ext cx="7269480" cy="476250"/>
          </a:xfrm>
          <a:prstGeom prst="rect">
            <a:avLst/>
          </a:prstGeom>
        </p:spPr>
        <p:txBody>
          <a:bodyPr anchor="t" rtlCol="false" tIns="0" lIns="0" bIns="0" rIns="0">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grpSp>
        <p:nvGrpSpPr>
          <p:cNvPr name="Group 19" id="19"/>
          <p:cNvGrpSpPr/>
          <p:nvPr/>
        </p:nvGrpSpPr>
        <p:grpSpPr>
          <a:xfrm rot="0">
            <a:off x="10081260" y="3980497"/>
            <a:ext cx="6623685" cy="680085"/>
            <a:chOff x="0" y="0"/>
            <a:chExt cx="8831580" cy="906780"/>
          </a:xfrm>
        </p:grpSpPr>
        <p:sp>
          <p:nvSpPr>
            <p:cNvPr name="Freeform 20" id="20" descr="image.png"/>
            <p:cNvSpPr/>
            <p:nvPr/>
          </p:nvSpPr>
          <p:spPr>
            <a:xfrm flipH="false" flipV="false" rot="0">
              <a:off x="0" y="0"/>
              <a:ext cx="8831580" cy="906780"/>
            </a:xfrm>
            <a:custGeom>
              <a:avLst/>
              <a:gdLst/>
              <a:ahLst/>
              <a:cxnLst/>
              <a:rect r="r" b="b" t="t" l="l"/>
              <a:pathLst>
                <a:path h="906780" w="8831580">
                  <a:moveTo>
                    <a:pt x="0" y="0"/>
                  </a:moveTo>
                  <a:lnTo>
                    <a:pt x="8831580" y="0"/>
                  </a:lnTo>
                  <a:lnTo>
                    <a:pt x="8831580" y="906780"/>
                  </a:lnTo>
                  <a:lnTo>
                    <a:pt x="0" y="906780"/>
                  </a:lnTo>
                  <a:lnTo>
                    <a:pt x="0" y="0"/>
                  </a:lnTo>
                  <a:close/>
                </a:path>
              </a:pathLst>
            </a:custGeom>
            <a:blipFill>
              <a:blip r:embed="rId6"/>
              <a:stretch>
                <a:fillRect l="0" t="0" r="0" b="0"/>
              </a:stretch>
            </a:blipFill>
          </p:spPr>
        </p:sp>
      </p:grpSp>
      <p:sp>
        <p:nvSpPr>
          <p:cNvPr name="TextBox 21" id="21"/>
          <p:cNvSpPr txBox="true"/>
          <p:nvPr/>
        </p:nvSpPr>
        <p:spPr>
          <a:xfrm rot="0">
            <a:off x="10149840" y="5101590"/>
            <a:ext cx="7269480" cy="476250"/>
          </a:xfrm>
          <a:prstGeom prst="rect">
            <a:avLst/>
          </a:prstGeom>
        </p:spPr>
        <p:txBody>
          <a:bodyPr anchor="t" rtlCol="false" tIns="0" lIns="0" bIns="0" rIns="0">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grpSp>
        <p:nvGrpSpPr>
          <p:cNvPr name="Group 22" id="22"/>
          <p:cNvGrpSpPr/>
          <p:nvPr/>
        </p:nvGrpSpPr>
        <p:grpSpPr>
          <a:xfrm rot="0">
            <a:off x="10149840" y="5842444"/>
            <a:ext cx="5657850" cy="508635"/>
            <a:chOff x="0" y="0"/>
            <a:chExt cx="7543800" cy="678180"/>
          </a:xfrm>
        </p:grpSpPr>
        <p:sp>
          <p:nvSpPr>
            <p:cNvPr name="Freeform 23" id="23" descr="image.png"/>
            <p:cNvSpPr/>
            <p:nvPr/>
          </p:nvSpPr>
          <p:spPr>
            <a:xfrm flipH="false" flipV="false" rot="0">
              <a:off x="0" y="0"/>
              <a:ext cx="7543800" cy="678180"/>
            </a:xfrm>
            <a:custGeom>
              <a:avLst/>
              <a:gdLst/>
              <a:ahLst/>
              <a:cxnLst/>
              <a:rect r="r" b="b" t="t" l="l"/>
              <a:pathLst>
                <a:path h="678180" w="7543800">
                  <a:moveTo>
                    <a:pt x="0" y="0"/>
                  </a:moveTo>
                  <a:lnTo>
                    <a:pt x="7543800" y="0"/>
                  </a:lnTo>
                  <a:lnTo>
                    <a:pt x="7543800" y="678180"/>
                  </a:lnTo>
                  <a:lnTo>
                    <a:pt x="0" y="678180"/>
                  </a:lnTo>
                  <a:lnTo>
                    <a:pt x="0" y="0"/>
                  </a:lnTo>
                  <a:close/>
                </a:path>
              </a:pathLst>
            </a:custGeom>
            <a:blipFill>
              <a:blip r:embed="rId7"/>
              <a:stretch>
                <a:fillRect l="0" t="0" r="0" b="0"/>
              </a:stretch>
            </a:blipFill>
          </p:spPr>
        </p:sp>
      </p:grpSp>
      <p:sp>
        <p:nvSpPr>
          <p:cNvPr name="TextBox 24" id="24"/>
          <p:cNvSpPr txBox="true"/>
          <p:nvPr/>
        </p:nvSpPr>
        <p:spPr>
          <a:xfrm rot="0">
            <a:off x="10149840" y="6884670"/>
            <a:ext cx="6926580" cy="1573530"/>
          </a:xfrm>
          <a:prstGeom prst="rect">
            <a:avLst/>
          </a:prstGeom>
        </p:spPr>
        <p:txBody>
          <a:bodyPr anchor="t" rtlCol="false" tIns="0" lIns="0" bIns="0" rIns="0">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name="TextBox 25" id="25"/>
          <p:cNvSpPr txBox="true"/>
          <p:nvPr/>
        </p:nvSpPr>
        <p:spPr>
          <a:xfrm rot="0">
            <a:off x="1028700" y="8951595"/>
            <a:ext cx="16459200" cy="603885"/>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Two statistics called T² monitor different objects</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grpSp>
        <p:nvGrpSpPr>
          <p:cNvPr name="Group 6" id="6"/>
          <p:cNvGrpSpPr/>
          <p:nvPr/>
        </p:nvGrpSpPr>
        <p:grpSpPr>
          <a:xfrm rot="0">
            <a:off x="1234440" y="3497580"/>
            <a:ext cx="6359652" cy="891540"/>
            <a:chOff x="0" y="0"/>
            <a:chExt cx="8479536" cy="1188720"/>
          </a:xfrm>
        </p:grpSpPr>
        <p:sp>
          <p:nvSpPr>
            <p:cNvPr name="Freeform 7" id="7" descr="eq9.png"/>
            <p:cNvSpPr/>
            <p:nvPr/>
          </p:nvSpPr>
          <p:spPr>
            <a:xfrm flipH="false" flipV="false" rot="0">
              <a:off x="0" y="0"/>
              <a:ext cx="8479536" cy="1188720"/>
            </a:xfrm>
            <a:custGeom>
              <a:avLst/>
              <a:gdLst/>
              <a:ahLst/>
              <a:cxnLst/>
              <a:rect r="r" b="b" t="t" l="l"/>
              <a:pathLst>
                <a:path h="1188720" w="8479536">
                  <a:moveTo>
                    <a:pt x="0" y="0"/>
                  </a:moveTo>
                  <a:lnTo>
                    <a:pt x="8479536" y="0"/>
                  </a:lnTo>
                  <a:lnTo>
                    <a:pt x="8479536" y="1188720"/>
                  </a:lnTo>
                  <a:lnTo>
                    <a:pt x="0" y="1188720"/>
                  </a:lnTo>
                  <a:lnTo>
                    <a:pt x="0" y="0"/>
                  </a:lnTo>
                  <a:close/>
                </a:path>
              </a:pathLst>
            </a:custGeom>
            <a:blipFill>
              <a:blip r:embed="rId3"/>
              <a:stretch>
                <a:fillRect l="0" t="0" r="0" b="0"/>
              </a:stretch>
            </a:blipFill>
          </p:spPr>
        </p:sp>
      </p:grpSp>
      <p:sp>
        <p:nvSpPr>
          <p:cNvPr name="TextBox 8" id="8"/>
          <p:cNvSpPr txBox="true"/>
          <p:nvPr/>
        </p:nvSpPr>
        <p:spPr>
          <a:xfrm rot="0">
            <a:off x="1325880" y="4640580"/>
            <a:ext cx="15590520" cy="937260"/>
          </a:xfrm>
          <a:prstGeom prst="rect">
            <a:avLst/>
          </a:prstGeom>
        </p:spPr>
        <p:txBody>
          <a:bodyPr anchor="t" rtlCol="false" tIns="0" lIns="0" bIns="0" rIns="0">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grpSp>
        <p:nvGrpSpPr>
          <p:cNvPr name="Group 9" id="9"/>
          <p:cNvGrpSpPr/>
          <p:nvPr/>
        </p:nvGrpSpPr>
        <p:grpSpPr>
          <a:xfrm rot="0">
            <a:off x="1234440" y="6035040"/>
            <a:ext cx="7874470" cy="960120"/>
            <a:chOff x="0" y="0"/>
            <a:chExt cx="10499293" cy="1280160"/>
          </a:xfrm>
        </p:grpSpPr>
        <p:sp>
          <p:nvSpPr>
            <p:cNvPr name="Freeform 10" id="10" descr="eq10.png"/>
            <p:cNvSpPr/>
            <p:nvPr/>
          </p:nvSpPr>
          <p:spPr>
            <a:xfrm flipH="false" flipV="false" rot="0">
              <a:off x="0" y="0"/>
              <a:ext cx="10499344" cy="1280160"/>
            </a:xfrm>
            <a:custGeom>
              <a:avLst/>
              <a:gdLst/>
              <a:ahLst/>
              <a:cxnLst/>
              <a:rect r="r" b="b" t="t" l="l"/>
              <a:pathLst>
                <a:path h="1280160" w="10499344">
                  <a:moveTo>
                    <a:pt x="0" y="0"/>
                  </a:moveTo>
                  <a:lnTo>
                    <a:pt x="10499344" y="0"/>
                  </a:lnTo>
                  <a:lnTo>
                    <a:pt x="10499344" y="1280160"/>
                  </a:lnTo>
                  <a:lnTo>
                    <a:pt x="0" y="1280160"/>
                  </a:lnTo>
                  <a:lnTo>
                    <a:pt x="0" y="0"/>
                  </a:lnTo>
                  <a:close/>
                </a:path>
              </a:pathLst>
            </a:custGeom>
            <a:blipFill>
              <a:blip r:embed="rId4"/>
              <a:stretch>
                <a:fillRect l="0" t="0" r="0" b="0"/>
              </a:stretch>
            </a:blipFill>
          </p:spPr>
        </p:sp>
      </p:grpSp>
      <p:sp>
        <p:nvSpPr>
          <p:cNvPr name="TextBox 11" id="11"/>
          <p:cNvSpPr txBox="true"/>
          <p:nvPr/>
        </p:nvSpPr>
        <p:spPr>
          <a:xfrm rot="0">
            <a:off x="1325880" y="7315200"/>
            <a:ext cx="15590520" cy="1280160"/>
          </a:xfrm>
          <a:prstGeom prst="rect">
            <a:avLst/>
          </a:prstGeom>
        </p:spPr>
        <p:txBody>
          <a:bodyPr anchor="t" rtlCol="false" tIns="0" lIns="0" bIns="0" rIns="0">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404803"/>
            <a:ext cx="16276320" cy="300971"/>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a:t>
            </a:r>
          </a:p>
        </p:txBody>
      </p:sp>
      <p:sp>
        <p:nvSpPr>
          <p:cNvPr name="TextBox 3" id="3"/>
          <p:cNvSpPr txBox="true"/>
          <p:nvPr/>
        </p:nvSpPr>
        <p:spPr>
          <a:xfrm rot="0">
            <a:off x="1051560" y="937536"/>
            <a:ext cx="16276320" cy="638175"/>
          </a:xfrm>
          <a:prstGeom prst="rect">
            <a:avLst/>
          </a:prstGeom>
        </p:spPr>
        <p:txBody>
          <a:bodyPr anchor="t" rtlCol="false" tIns="0" lIns="0" bIns="0" rIns="0">
            <a:spAutoFit/>
          </a:bodyPr>
          <a:lstStyle/>
          <a:p>
            <a:pPr algn="l" marL="0" indent="0" lvl="0">
              <a:lnSpc>
                <a:spcPts val="5040"/>
              </a:lnSpc>
              <a:spcBef>
                <a:spcPct val="0"/>
              </a:spcBef>
            </a:pPr>
            <a:r>
              <a:rPr lang="en-US" b="true" sz="4200" strike="noStrike" u="none">
                <a:solidFill>
                  <a:srgbClr val="12233B"/>
                </a:solidFill>
                <a:latin typeface="Aptos Bold"/>
                <a:ea typeface="Aptos Bold"/>
                <a:cs typeface="Aptos Bold"/>
                <a:sym typeface="Aptos Bold"/>
              </a:rPr>
              <a:t>Which structural changes do statistical tests target?</a:t>
            </a:r>
          </a:p>
        </p:txBody>
      </p:sp>
      <p:sp>
        <p:nvSpPr>
          <p:cNvPr name="TextBox 4" id="4"/>
          <p:cNvSpPr txBox="true"/>
          <p:nvPr/>
        </p:nvSpPr>
        <p:spPr>
          <a:xfrm rot="0">
            <a:off x="1051560" y="1737503"/>
            <a:ext cx="16276320" cy="323850"/>
          </a:xfrm>
          <a:prstGeom prst="rect">
            <a:avLst/>
          </a:prstGeom>
        </p:spPr>
        <p:txBody>
          <a:bodyPr anchor="t" rtlCol="false" tIns="0" lIns="0" bIns="0" rIns="0">
            <a:spAutoFit/>
          </a:bodyPr>
          <a:lstStyle/>
          <a:p>
            <a:pPr algn="l" marL="0" indent="0" lvl="0">
              <a:lnSpc>
                <a:spcPts val="2520"/>
              </a:lnSpc>
              <a:spcBef>
                <a:spcPct val="0"/>
              </a:spcBef>
            </a:pPr>
            <a:r>
              <a:rPr lang="en-US" sz="2100" strike="noStrike" u="none">
                <a:solidFill>
                  <a:srgbClr val="506580"/>
                </a:solidFill>
                <a:latin typeface="Aptos"/>
                <a:ea typeface="Aptos"/>
                <a:cs typeface="Aptos"/>
                <a:sym typeface="Aptos"/>
              </a:rPr>
              <a:t>Conceptual comparison: mean, variance and temporal dependence require different statistical tests.</a:t>
            </a:r>
          </a:p>
        </p:txBody>
      </p:sp>
      <p:sp>
        <p:nvSpPr>
          <p:cNvPr name="TextBox 5" id="5"/>
          <p:cNvSpPr txBox="true"/>
          <p:nvPr/>
        </p:nvSpPr>
        <p:spPr>
          <a:xfrm rot="0">
            <a:off x="1034167" y="9468545"/>
            <a:ext cx="16276320" cy="228600"/>
          </a:xfrm>
          <a:prstGeom prst="rect">
            <a:avLst/>
          </a:prstGeom>
        </p:spPr>
        <p:txBody>
          <a:bodyPr anchor="t" rtlCol="false" tIns="0" lIns="0" bIns="0" rIns="0">
            <a:spAutoFit/>
          </a:bodyPr>
          <a:lstStyle/>
          <a:p>
            <a:pPr algn="l" marL="0" indent="0" lvl="0">
              <a:lnSpc>
                <a:spcPts val="1800"/>
              </a:lnSpc>
              <a:spcBef>
                <a:spcPct val="0"/>
              </a:spcBef>
            </a:pPr>
            <a:r>
              <a:rPr lang="en-US" sz="1500" strike="noStrike" u="none">
                <a:solidFill>
                  <a:srgbClr val="506580"/>
                </a:solidFill>
                <a:latin typeface="Aptos"/>
                <a:ea typeface="Aptos"/>
                <a:cs typeface="Aptos"/>
                <a:sym typeface="Aptos"/>
              </a:rPr>
              <a:t>Conceptual test targets. Sources: Chowdhury et al. (2018), Eq. (9); Park et al. (2023), §3.1.</a:t>
            </a:r>
          </a:p>
        </p:txBody>
      </p:sp>
      <p:grpSp>
        <p:nvGrpSpPr>
          <p:cNvPr name="Group 6" id="6"/>
          <p:cNvGrpSpPr/>
          <p:nvPr/>
        </p:nvGrpSpPr>
        <p:grpSpPr>
          <a:xfrm rot="0">
            <a:off x="1666875" y="3190875"/>
            <a:ext cx="14954250" cy="4273540"/>
            <a:chOff x="0" y="0"/>
            <a:chExt cx="16209556" cy="4632274"/>
          </a:xfrm>
        </p:grpSpPr>
        <p:sp>
          <p:nvSpPr>
            <p:cNvPr name="Freeform 7" id="7"/>
            <p:cNvSpPr/>
            <p:nvPr/>
          </p:nvSpPr>
          <p:spPr>
            <a:xfrm flipH="false" flipV="false" rot="0">
              <a:off x="0" y="0"/>
              <a:ext cx="16209518" cy="4632325"/>
            </a:xfrm>
            <a:custGeom>
              <a:avLst/>
              <a:gdLst/>
              <a:ahLst/>
              <a:cxnLst/>
              <a:rect r="r" b="b" t="t" l="l"/>
              <a:pathLst>
                <a:path h="4632325" w="16209518">
                  <a:moveTo>
                    <a:pt x="0" y="0"/>
                  </a:moveTo>
                  <a:lnTo>
                    <a:pt x="16209518" y="0"/>
                  </a:lnTo>
                  <a:lnTo>
                    <a:pt x="16209518" y="4632325"/>
                  </a:lnTo>
                  <a:lnTo>
                    <a:pt x="0" y="4632325"/>
                  </a:lnTo>
                  <a:lnTo>
                    <a:pt x="0" y="0"/>
                  </a:lnTo>
                  <a:close/>
                </a:path>
              </a:pathLst>
            </a:custGeom>
            <a:blipFill>
              <a:blip r:embed="rId3"/>
              <a:stretch>
                <a:fillRect l="0" t="0" r="0" b="1"/>
              </a:stretch>
            </a:blipFill>
          </p:spPr>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404803"/>
            <a:ext cx="16276320" cy="300971"/>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a:t>
            </a:r>
          </a:p>
        </p:txBody>
      </p:sp>
      <p:sp>
        <p:nvSpPr>
          <p:cNvPr name="TextBox 3" id="3"/>
          <p:cNvSpPr txBox="true"/>
          <p:nvPr/>
        </p:nvSpPr>
        <p:spPr>
          <a:xfrm rot="0">
            <a:off x="1051560" y="937536"/>
            <a:ext cx="16276320" cy="638175"/>
          </a:xfrm>
          <a:prstGeom prst="rect">
            <a:avLst/>
          </a:prstGeom>
        </p:spPr>
        <p:txBody>
          <a:bodyPr anchor="t" rtlCol="false" tIns="0" lIns="0" bIns="0" rIns="0">
            <a:spAutoFit/>
          </a:bodyPr>
          <a:lstStyle/>
          <a:p>
            <a:pPr algn="l" marL="0" indent="0" lvl="0">
              <a:lnSpc>
                <a:spcPts val="5040"/>
              </a:lnSpc>
              <a:spcBef>
                <a:spcPct val="0"/>
              </a:spcBef>
            </a:pPr>
            <a:r>
              <a:rPr lang="en-US" b="true" sz="4200" strike="noStrike" u="none">
                <a:solidFill>
                  <a:srgbClr val="12233B"/>
                </a:solidFill>
                <a:latin typeface="Aptos Bold"/>
                <a:ea typeface="Aptos Bold"/>
                <a:cs typeface="Aptos Bold"/>
                <a:sym typeface="Aptos Bold"/>
              </a:rPr>
              <a:t>How structural changes appear in rolling statistics</a:t>
            </a:r>
          </a:p>
        </p:txBody>
      </p:sp>
      <p:sp>
        <p:nvSpPr>
          <p:cNvPr name="TextBox 4" id="4"/>
          <p:cNvSpPr txBox="true"/>
          <p:nvPr/>
        </p:nvSpPr>
        <p:spPr>
          <a:xfrm rot="0">
            <a:off x="1051560" y="1737503"/>
            <a:ext cx="16276320" cy="323850"/>
          </a:xfrm>
          <a:prstGeom prst="rect">
            <a:avLst/>
          </a:prstGeom>
        </p:spPr>
        <p:txBody>
          <a:bodyPr anchor="t" rtlCol="false" tIns="0" lIns="0" bIns="0" rIns="0">
            <a:spAutoFit/>
          </a:bodyPr>
          <a:lstStyle/>
          <a:p>
            <a:pPr algn="l" marL="0" indent="0" lvl="0">
              <a:lnSpc>
                <a:spcPts val="2520"/>
              </a:lnSpc>
              <a:spcBef>
                <a:spcPct val="0"/>
              </a:spcBef>
            </a:pPr>
            <a:r>
              <a:rPr lang="en-US" sz="2100" strike="noStrike" u="none">
                <a:solidFill>
                  <a:srgbClr val="506580"/>
                </a:solidFill>
                <a:latin typeface="Aptos"/>
                <a:ea typeface="Aptos"/>
                <a:cs typeface="Aptos"/>
                <a:sym typeface="Aptos"/>
              </a:rPr>
              <a:t>Mean, variance and AR dependence shift independently in controlled synthetic data.</a:t>
            </a:r>
          </a:p>
        </p:txBody>
      </p:sp>
      <p:sp>
        <p:nvSpPr>
          <p:cNvPr name="TextBox 5" id="5"/>
          <p:cNvSpPr txBox="true"/>
          <p:nvPr/>
        </p:nvSpPr>
        <p:spPr>
          <a:xfrm rot="0">
            <a:off x="1034167" y="9468545"/>
            <a:ext cx="16276320" cy="228600"/>
          </a:xfrm>
          <a:prstGeom prst="rect">
            <a:avLst/>
          </a:prstGeom>
        </p:spPr>
        <p:txBody>
          <a:bodyPr anchor="t" rtlCol="false" tIns="0" lIns="0" bIns="0" rIns="0">
            <a:spAutoFit/>
          </a:bodyPr>
          <a:lstStyle/>
          <a:p>
            <a:pPr algn="l" marL="0" indent="0" lvl="0">
              <a:lnSpc>
                <a:spcPts val="1800"/>
              </a:lnSpc>
              <a:spcBef>
                <a:spcPct val="0"/>
              </a:spcBef>
            </a:pPr>
            <a:r>
              <a:rPr lang="en-US" sz="1500" strike="noStrike" u="non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name="Group 6" id="6"/>
          <p:cNvGrpSpPr/>
          <p:nvPr/>
        </p:nvGrpSpPr>
        <p:grpSpPr>
          <a:xfrm rot="0">
            <a:off x="1000125" y="2743200"/>
            <a:ext cx="11811000" cy="6749143"/>
            <a:chOff x="0" y="0"/>
            <a:chExt cx="9245600" cy="5283200"/>
          </a:xfrm>
        </p:grpSpPr>
        <p:sp>
          <p:nvSpPr>
            <p:cNvPr name="Freeform 7" id="7"/>
            <p:cNvSpPr/>
            <p:nvPr/>
          </p:nvSpPr>
          <p:spPr>
            <a:xfrm flipH="false" flipV="false" rot="0">
              <a:off x="0" y="0"/>
              <a:ext cx="9245600" cy="5283200"/>
            </a:xfrm>
            <a:custGeom>
              <a:avLst/>
              <a:gdLst/>
              <a:ahLst/>
              <a:cxnLst/>
              <a:rect r="r" b="b" t="t" l="l"/>
              <a:pathLst>
                <a:path h="5283200" w="9245600">
                  <a:moveTo>
                    <a:pt x="0" y="0"/>
                  </a:moveTo>
                  <a:lnTo>
                    <a:pt x="9245600" y="0"/>
                  </a:lnTo>
                  <a:lnTo>
                    <a:pt x="9245600" y="5283200"/>
                  </a:lnTo>
                  <a:lnTo>
                    <a:pt x="0" y="5283200"/>
                  </a:lnTo>
                  <a:lnTo>
                    <a:pt x="0" y="0"/>
                  </a:lnTo>
                  <a:close/>
                </a:path>
              </a:pathLst>
            </a:custGeom>
            <a:blipFill>
              <a:blip r:embed="rId3"/>
              <a:stretch>
                <a:fillRect l="0" t="0" r="0" b="0"/>
              </a:stretch>
            </a:blipFill>
          </p:spPr>
        </p:sp>
      </p:grpSp>
      <p:sp>
        <p:nvSpPr>
          <p:cNvPr name="TextBox 8" id="8"/>
          <p:cNvSpPr txBox="true"/>
          <p:nvPr/>
        </p:nvSpPr>
        <p:spPr>
          <a:xfrm rot="0">
            <a:off x="13192125" y="3009900"/>
            <a:ext cx="3952875" cy="2971800"/>
          </a:xfrm>
          <a:prstGeom prst="rect">
            <a:avLst/>
          </a:prstGeom>
        </p:spPr>
        <p:txBody>
          <a:bodyPr anchor="t" rtlCol="false" tIns="0" lIns="0" bIns="0" rIns="0">
            <a:spAutoFit/>
          </a:bodyPr>
          <a:lstStyle/>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ROWS</a:t>
            </a: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Mean shift</a:t>
            </a: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Variance shift</a:t>
            </a: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AR-dependence shift</a:t>
            </a:r>
          </a:p>
          <a:p>
            <a:pPr algn="l" marL="0" indent="0" lvl="0">
              <a:lnSpc>
                <a:spcPts val="2160"/>
              </a:lnSpc>
              <a:spcBef>
                <a:spcPct val="0"/>
              </a:spcBef>
            </a:pP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COLUMNS</a:t>
            </a: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Rolling mean</a:t>
            </a: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Rolling variance</a:t>
            </a: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Lag-1 correlation</a:t>
            </a:r>
          </a:p>
          <a:p>
            <a:pPr algn="l" marL="0" indent="0" lvl="0">
              <a:lnSpc>
                <a:spcPts val="2160"/>
              </a:lnSpc>
              <a:spcBef>
                <a:spcPct val="0"/>
              </a:spcBef>
            </a:pPr>
          </a:p>
          <a:p>
            <a:pPr algn="l" marL="0" indent="0" lvl="0">
              <a:lnSpc>
                <a:spcPts val="2160"/>
              </a:lnSpc>
              <a:spcBef>
                <a:spcPct val="0"/>
              </a:spcBef>
            </a:pPr>
            <a:r>
              <a:rPr lang="en-US" b="true" sz="1800" strike="noStrike" u="none">
                <a:solidFill>
                  <a:srgbClr val="000000"/>
                </a:solidFill>
                <a:latin typeface="Calibri (MS) Bold"/>
                <a:ea typeface="Calibri (MS) Bold"/>
                <a:cs typeface="Calibri (MS) Bold"/>
                <a:sym typeface="Calibri (MS) Bold"/>
              </a:rPr>
              <a:t>Dashed line: t₀ = 512</a:t>
            </a:r>
          </a:p>
        </p:txBody>
      </p:sp>
      <p:sp>
        <p:nvSpPr>
          <p:cNvPr name="TextBox 9" id="9"/>
          <p:cNvSpPr txBox="true"/>
          <p:nvPr/>
        </p:nvSpPr>
        <p:spPr>
          <a:xfrm rot="0">
            <a:off x="13192125" y="6524625"/>
            <a:ext cx="4048125" cy="1619250"/>
          </a:xfrm>
          <a:prstGeom prst="rect">
            <a:avLst/>
          </a:prstGeom>
        </p:spPr>
        <p:txBody>
          <a:bodyPr anchor="t" rtlCol="false" tIns="0" lIns="0" bIns="0" rIns="0">
            <a:spAutoFit/>
          </a:bodyPr>
          <a:lstStyle/>
          <a:p>
            <a:pPr algn="l" marL="0" indent="0" lvl="0">
              <a:lnSpc>
                <a:spcPts val="2520"/>
              </a:lnSpc>
              <a:spcBef>
                <a:spcPct val="0"/>
              </a:spcBef>
            </a:pPr>
            <a:r>
              <a:rPr lang="en-US" b="true" sz="2100" strike="noStrike" u="none">
                <a:solidFill>
                  <a:srgbClr val="000000"/>
                </a:solidFill>
                <a:latin typeface="Calibri (MS) Bold"/>
                <a:ea typeface="Calibri (MS) Bold"/>
                <a:cs typeface="Calibri (MS) Bold"/>
                <a:sym typeface="Calibri (MS) Bold"/>
              </a:rPr>
              <a:t>KEY FINDING</a:t>
            </a:r>
          </a:p>
          <a:p>
            <a:pPr algn="l" marL="0" indent="0" lvl="0">
              <a:lnSpc>
                <a:spcPts val="2520"/>
              </a:lnSpc>
              <a:spcBef>
                <a:spcPct val="0"/>
              </a:spcBef>
            </a:pPr>
            <a:r>
              <a:rPr lang="en-US" b="true" sz="2100" strike="noStrike" u="non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Mean validation has a variance-change limitation</a:t>
            </a:r>
          </a:p>
        </p:txBody>
      </p:sp>
      <p:sp>
        <p:nvSpPr>
          <p:cNvPr name="TextBox 4" id="4"/>
          <p:cNvSpPr txBox="true"/>
          <p:nvPr/>
        </p:nvSpPr>
        <p:spPr>
          <a:xfrm rot="0">
            <a:off x="1051560" y="2154212"/>
            <a:ext cx="16276320" cy="933745"/>
          </a:xfrm>
          <a:prstGeom prst="rect">
            <a:avLst/>
          </a:prstGeom>
        </p:spPr>
        <p:txBody>
          <a:bodyPr anchor="t" rtlCol="false" tIns="0" lIns="0" bIns="0" rIns="0">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grpSp>
        <p:nvGrpSpPr>
          <p:cNvPr name="Group 6" id="6"/>
          <p:cNvGrpSpPr/>
          <p:nvPr/>
        </p:nvGrpSpPr>
        <p:grpSpPr>
          <a:xfrm rot="0">
            <a:off x="1234440" y="3429000"/>
            <a:ext cx="8260080" cy="1028700"/>
            <a:chOff x="0" y="0"/>
            <a:chExt cx="11013440" cy="1371600"/>
          </a:xfrm>
        </p:grpSpPr>
        <p:sp>
          <p:nvSpPr>
            <p:cNvPr name="Freeform 7" id="7" descr="eq11.png"/>
            <p:cNvSpPr/>
            <p:nvPr/>
          </p:nvSpPr>
          <p:spPr>
            <a:xfrm flipH="false" flipV="false" rot="0">
              <a:off x="0" y="0"/>
              <a:ext cx="11013440" cy="1371600"/>
            </a:xfrm>
            <a:custGeom>
              <a:avLst/>
              <a:gdLst/>
              <a:ahLst/>
              <a:cxnLst/>
              <a:rect r="r" b="b" t="t" l="l"/>
              <a:pathLst>
                <a:path h="1371600" w="11013440">
                  <a:moveTo>
                    <a:pt x="0" y="0"/>
                  </a:moveTo>
                  <a:lnTo>
                    <a:pt x="11013440" y="0"/>
                  </a:lnTo>
                  <a:lnTo>
                    <a:pt x="11013440" y="1371600"/>
                  </a:lnTo>
                  <a:lnTo>
                    <a:pt x="0" y="1371600"/>
                  </a:lnTo>
                  <a:lnTo>
                    <a:pt x="0" y="0"/>
                  </a:lnTo>
                  <a:close/>
                </a:path>
              </a:pathLst>
            </a:custGeom>
            <a:blipFill>
              <a:blip r:embed="rId3"/>
              <a:stretch>
                <a:fillRect l="0" t="0" r="0" b="0"/>
              </a:stretch>
            </a:blipFill>
          </p:spPr>
        </p:sp>
      </p:grpSp>
      <p:sp>
        <p:nvSpPr>
          <p:cNvPr name="TextBox 8" id="8"/>
          <p:cNvSpPr txBox="true"/>
          <p:nvPr/>
        </p:nvSpPr>
        <p:spPr>
          <a:xfrm rot="0">
            <a:off x="1325880" y="5052060"/>
            <a:ext cx="7498080" cy="340614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name="TextBox 9" id="9"/>
          <p:cNvSpPr txBox="true"/>
          <p:nvPr/>
        </p:nvSpPr>
        <p:spPr>
          <a:xfrm rot="0">
            <a:off x="9692640" y="5052060"/>
            <a:ext cx="7086600" cy="3406140"/>
          </a:xfrm>
          <a:prstGeom prst="rect">
            <a:avLst/>
          </a:prstGeom>
        </p:spPr>
        <p:txBody>
          <a:bodyPr anchor="t" rtlCol="false" tIns="0" lIns="0" bIns="0" rIns="0">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6.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IMPLEMENTED PIPELINE</a:t>
            </a:r>
          </a:p>
        </p:txBody>
      </p:sp>
      <p:sp>
        <p:nvSpPr>
          <p:cNvPr name="TextBox 3" id="3"/>
          <p:cNvSpPr txBox="true"/>
          <p:nvPr/>
        </p:nvSpPr>
        <p:spPr>
          <a:xfrm rot="0">
            <a:off x="918972" y="1202055"/>
            <a:ext cx="16459200" cy="87820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How evidence becomes an update decision</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6" id="6"/>
          <p:cNvGraphicFramePr>
            <a:graphicFrameLocks noGrp="true"/>
          </p:cNvGraphicFramePr>
          <p:nvPr/>
        </p:nvGraphicFramePr>
        <p:xfrm>
          <a:off x="1028700" y="2468880"/>
          <a:ext cx="16173450" cy="4914900"/>
        </p:xfrm>
        <a:graphic>
          <a:graphicData uri="http://schemas.openxmlformats.org/drawingml/2006/table">
            <a:tbl>
              <a:tblPr/>
              <a:tblGrid>
                <a:gridCol w="4386020"/>
                <a:gridCol w="11787430"/>
              </a:tblGrid>
              <a:tr h="819150">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Responsibility</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8191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Representation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Cue-aligned EEG; FBCSP; PCA fitted on training data</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191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Detection and validation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EWMA warnings; explicit Stage-II interpretations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191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Update policy</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Never, periodic, warning, validated or performance-drop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191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Label regime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Supervised labels or confidence-gated PWKNN pseudo-labels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191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Audit outputs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Predictions, accepted/rejected evidence and update events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7" id="7"/>
          <p:cNvSpPr txBox="true"/>
          <p:nvPr/>
        </p:nvSpPr>
        <p:spPr>
          <a:xfrm rot="0">
            <a:off x="1028700" y="7881747"/>
            <a:ext cx="16184880" cy="946785"/>
          </a:xfrm>
          <a:prstGeom prst="rect">
            <a:avLst/>
          </a:prstGeom>
        </p:spPr>
        <p:txBody>
          <a:bodyPr anchor="t" rtlCol="false" tIns="0" lIns="0" bIns="0" rIns="0">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name="TextBox 8" id="8"/>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7.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4400" y="590550"/>
            <a:ext cx="8572500" cy="352425"/>
          </a:xfrm>
          <a:prstGeom prst="rect">
            <a:avLst/>
          </a:prstGeom>
        </p:spPr>
        <p:txBody>
          <a:bodyPr anchor="t" rtlCol="false" tIns="0" lIns="0" bIns="0" rIns="0">
            <a:spAutoFit/>
          </a:bodyPr>
          <a:lstStyle/>
          <a:p>
            <a:pPr algn="l">
              <a:lnSpc>
                <a:spcPts val="1755"/>
              </a:lnSpc>
            </a:pPr>
            <a:r>
              <a:rPr lang="en-US" sz="1462" b="true">
                <a:solidFill>
                  <a:srgbClr val="2DD4BF"/>
                </a:solidFill>
                <a:latin typeface="DejaVu Sans Bold"/>
                <a:ea typeface="DejaVu Sans Bold"/>
                <a:cs typeface="DejaVu Sans Bold"/>
                <a:sym typeface="DejaVu Sans Bold"/>
              </a:rPr>
              <a:t>CSE TABLE-I DATA PROTOCOL</a:t>
            </a:r>
          </a:p>
        </p:txBody>
      </p:sp>
      <p:sp>
        <p:nvSpPr>
          <p:cNvPr name="TextBox 3" id="3"/>
          <p:cNvSpPr txBox="true"/>
          <p:nvPr/>
        </p:nvSpPr>
        <p:spPr>
          <a:xfrm rot="0">
            <a:off x="914400" y="1028700"/>
            <a:ext cx="16430625" cy="828675"/>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CSE development and held-out evaluation</a:t>
            </a:r>
          </a:p>
        </p:txBody>
      </p:sp>
      <p:sp>
        <p:nvSpPr>
          <p:cNvPr name="AutoShape 4" id="4"/>
          <p:cNvSpPr/>
          <p:nvPr/>
        </p:nvSpPr>
        <p:spPr>
          <a:xfrm rot="5940">
            <a:off x="900103" y="2047875"/>
            <a:ext cx="16487804" cy="0"/>
          </a:xfrm>
          <a:prstGeom prst="line">
            <a:avLst/>
          </a:prstGeom>
          <a:ln cap="rnd" w="19050">
            <a:solidFill>
              <a:srgbClr val="294057"/>
            </a:solidFill>
            <a:prstDash val="solid"/>
            <a:headEnd type="none" len="sm" w="sm"/>
            <a:tailEnd type="none" len="sm" w="sm"/>
          </a:ln>
        </p:spPr>
      </p:sp>
      <p:sp>
        <p:nvSpPr>
          <p:cNvPr name="TextBox 5" id="5"/>
          <p:cNvSpPr txBox="true"/>
          <p:nvPr/>
        </p:nvSpPr>
        <p:spPr>
          <a:xfrm rot="0">
            <a:off x="914400" y="2571750"/>
            <a:ext cx="6715125" cy="571500"/>
          </a:xfrm>
          <a:prstGeom prst="rect">
            <a:avLst/>
          </a:prstGeom>
        </p:spPr>
        <p:txBody>
          <a:bodyPr anchor="t" rtlCol="false" tIns="0" lIns="0" bIns="0" rIns="0">
            <a:spAutoFit/>
          </a:bodyPr>
          <a:lstStyle/>
          <a:p>
            <a:pPr algn="l">
              <a:lnSpc>
                <a:spcPts val="3644"/>
              </a:lnSpc>
            </a:pPr>
            <a:r>
              <a:rPr lang="en-US" sz="3037" b="true">
                <a:solidFill>
                  <a:srgbClr val="4EA1FF"/>
                </a:solidFill>
                <a:latin typeface="DejaVu Sans Bold"/>
                <a:ea typeface="DejaVu Sans Bold"/>
                <a:cs typeface="DejaVu Sans Bold"/>
                <a:sym typeface="DejaVu Sans Bold"/>
              </a:rPr>
              <a:t>BCI Competition IV 2A</a:t>
            </a:r>
          </a:p>
        </p:txBody>
      </p:sp>
      <p:sp>
        <p:nvSpPr>
          <p:cNvPr name="TextBox 6" id="6"/>
          <p:cNvSpPr txBox="true"/>
          <p:nvPr/>
        </p:nvSpPr>
        <p:spPr>
          <a:xfrm rot="0">
            <a:off x="914400" y="3219450"/>
            <a:ext cx="6715125" cy="509587"/>
          </a:xfrm>
          <a:prstGeom prst="rect">
            <a:avLst/>
          </a:prstGeom>
        </p:spPr>
        <p:txBody>
          <a:bodyPr anchor="t" rtlCol="false" tIns="0" lIns="0" bIns="0" rIns="0">
            <a:spAutoFit/>
          </a:bodyPr>
          <a:lstStyle/>
          <a:p>
            <a:pPr algn="l">
              <a:lnSpc>
                <a:spcPts val="2565"/>
              </a:lnSpc>
            </a:pPr>
            <a:r>
              <a:rPr lang="en-US" sz="2137" b="true">
                <a:solidFill>
                  <a:srgbClr val="EAF2F8"/>
                </a:solidFill>
                <a:latin typeface="DejaVu Sans Bold"/>
                <a:ea typeface="DejaVu Sans Bold"/>
                <a:cs typeface="DejaVu Sans Bold"/>
                <a:sym typeface="DejaVu Sans Bold"/>
              </a:rPr>
              <a:t>Session I develops the model</a:t>
            </a:r>
          </a:p>
        </p:txBody>
      </p:sp>
      <p:sp>
        <p:nvSpPr>
          <p:cNvPr name="TextBox 7" id="7"/>
          <p:cNvSpPr txBox="true"/>
          <p:nvPr/>
        </p:nvSpPr>
        <p:spPr>
          <a:xfrm rot="0">
            <a:off x="914400" y="3981450"/>
            <a:ext cx="7000875" cy="2376488"/>
          </a:xfrm>
          <a:prstGeom prst="rect">
            <a:avLst/>
          </a:prstGeom>
        </p:spPr>
        <p:txBody>
          <a:bodyPr anchor="t" rtlCol="false" tIns="0" lIns="0" bIns="0" rIns="0">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name="AutoShape 8" id="8"/>
          <p:cNvSpPr/>
          <p:nvPr/>
        </p:nvSpPr>
        <p:spPr>
          <a:xfrm rot="5380980">
            <a:off x="6129299" y="5162550"/>
            <a:ext cx="5172151" cy="0"/>
          </a:xfrm>
          <a:prstGeom prst="line">
            <a:avLst/>
          </a:prstGeom>
          <a:ln cap="rnd" w="19050">
            <a:solidFill>
              <a:srgbClr val="294057"/>
            </a:solidFill>
            <a:prstDash val="solid"/>
            <a:headEnd type="none" len="sm" w="sm"/>
            <a:tailEnd type="none" len="sm" w="sm"/>
          </a:ln>
        </p:spPr>
      </p:sp>
      <p:sp>
        <p:nvSpPr>
          <p:cNvPr name="TextBox 9" id="9"/>
          <p:cNvSpPr txBox="true"/>
          <p:nvPr/>
        </p:nvSpPr>
        <p:spPr>
          <a:xfrm rot="0">
            <a:off x="9858375" y="2571750"/>
            <a:ext cx="6715125" cy="571500"/>
          </a:xfrm>
          <a:prstGeom prst="rect">
            <a:avLst/>
          </a:prstGeom>
        </p:spPr>
        <p:txBody>
          <a:bodyPr anchor="t" rtlCol="false" tIns="0" lIns="0" bIns="0" rIns="0">
            <a:spAutoFit/>
          </a:bodyPr>
          <a:lstStyle/>
          <a:p>
            <a:pPr algn="l">
              <a:lnSpc>
                <a:spcPts val="3644"/>
              </a:lnSpc>
            </a:pPr>
            <a:r>
              <a:rPr lang="en-US" sz="3037" b="true">
                <a:solidFill>
                  <a:srgbClr val="2DD4BF"/>
                </a:solidFill>
                <a:latin typeface="DejaVu Sans Bold"/>
                <a:ea typeface="DejaVu Sans Bold"/>
                <a:cs typeface="DejaVu Sans Bold"/>
                <a:sym typeface="DejaVu Sans Bold"/>
              </a:rPr>
              <a:t>BCI Competition IV 2B</a:t>
            </a:r>
          </a:p>
        </p:txBody>
      </p:sp>
      <p:sp>
        <p:nvSpPr>
          <p:cNvPr name="TextBox 10" id="10"/>
          <p:cNvSpPr txBox="true"/>
          <p:nvPr/>
        </p:nvSpPr>
        <p:spPr>
          <a:xfrm rot="0">
            <a:off x="9858375" y="3219450"/>
            <a:ext cx="6715125" cy="509587"/>
          </a:xfrm>
          <a:prstGeom prst="rect">
            <a:avLst/>
          </a:prstGeom>
        </p:spPr>
        <p:txBody>
          <a:bodyPr anchor="t" rtlCol="false" tIns="0" lIns="0" bIns="0" rIns="0">
            <a:spAutoFit/>
          </a:bodyPr>
          <a:lstStyle/>
          <a:p>
            <a:pPr algn="l">
              <a:lnSpc>
                <a:spcPts val="2565"/>
              </a:lnSpc>
            </a:pPr>
            <a:r>
              <a:rPr lang="en-US" sz="2137" b="true">
                <a:solidFill>
                  <a:srgbClr val="EAF2F8"/>
                </a:solidFill>
                <a:latin typeface="DejaVu Sans Bold"/>
                <a:ea typeface="DejaVu Sans Bold"/>
                <a:cs typeface="DejaVu Sans Bold"/>
                <a:sym typeface="DejaVu Sans Bold"/>
              </a:rPr>
              <a:t>Sessions I–III develop the model</a:t>
            </a:r>
          </a:p>
        </p:txBody>
      </p:sp>
      <p:sp>
        <p:nvSpPr>
          <p:cNvPr name="TextBox 11" id="11"/>
          <p:cNvSpPr txBox="true"/>
          <p:nvPr/>
        </p:nvSpPr>
        <p:spPr>
          <a:xfrm rot="0">
            <a:off x="9858375" y="3981450"/>
            <a:ext cx="7000875" cy="2376488"/>
          </a:xfrm>
          <a:prstGeom prst="rect">
            <a:avLst/>
          </a:prstGeom>
        </p:spPr>
        <p:txBody>
          <a:bodyPr anchor="t" rtlCol="false" tIns="0" lIns="0" bIns="0" rIns="0">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name="Group 12" id="12"/>
          <p:cNvGrpSpPr/>
          <p:nvPr/>
        </p:nvGrpSpPr>
        <p:grpSpPr>
          <a:xfrm rot="0">
            <a:off x="907256" y="7208044"/>
            <a:ext cx="15873412" cy="1042988"/>
            <a:chOff x="0" y="0"/>
            <a:chExt cx="21164550" cy="1390650"/>
          </a:xfrm>
        </p:grpSpPr>
        <p:sp>
          <p:nvSpPr>
            <p:cNvPr name="Freeform 13" id="13"/>
            <p:cNvSpPr/>
            <p:nvPr/>
          </p:nvSpPr>
          <p:spPr>
            <a:xfrm flipH="false" flipV="false" rot="0">
              <a:off x="0" y="0"/>
              <a:ext cx="21164550" cy="1390650"/>
            </a:xfrm>
            <a:custGeom>
              <a:avLst/>
              <a:gdLst/>
              <a:ahLst/>
              <a:cxnLst/>
              <a:rect r="r" b="b" t="t" l="l"/>
              <a:pathLst>
                <a:path h="1390650" w="211645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sp>
      </p:grpSp>
      <p:sp>
        <p:nvSpPr>
          <p:cNvPr name="TextBox 14" id="14"/>
          <p:cNvSpPr txBox="true"/>
          <p:nvPr/>
        </p:nvSpPr>
        <p:spPr>
          <a:xfrm rot="0">
            <a:off x="1228725" y="7477125"/>
            <a:ext cx="3143250" cy="352425"/>
          </a:xfrm>
          <a:prstGeom prst="rect">
            <a:avLst/>
          </a:prstGeom>
        </p:spPr>
        <p:txBody>
          <a:bodyPr anchor="t" rtlCol="false" tIns="0" lIns="0" bIns="0" rIns="0">
            <a:spAutoFit/>
          </a:bodyPr>
          <a:lstStyle/>
          <a:p>
            <a:pPr algn="l">
              <a:lnSpc>
                <a:spcPts val="1889"/>
              </a:lnSpc>
            </a:pPr>
            <a:r>
              <a:rPr lang="en-US" sz="1575" b="true">
                <a:solidFill>
                  <a:srgbClr val="F5B942"/>
                </a:solidFill>
                <a:latin typeface="DejaVu Sans Bold"/>
                <a:ea typeface="DejaVu Sans Bold"/>
                <a:cs typeface="DejaVu Sans Bold"/>
                <a:sym typeface="DejaVu Sans Bold"/>
              </a:rPr>
              <a:t>Shared rule</a:t>
            </a:r>
          </a:p>
        </p:txBody>
      </p:sp>
      <p:sp>
        <p:nvSpPr>
          <p:cNvPr name="TextBox 15" id="15"/>
          <p:cNvSpPr txBox="true"/>
          <p:nvPr/>
        </p:nvSpPr>
        <p:spPr>
          <a:xfrm rot="0">
            <a:off x="4543425" y="7362825"/>
            <a:ext cx="11787188" cy="609600"/>
          </a:xfrm>
          <a:prstGeom prst="rect">
            <a:avLst/>
          </a:prstGeom>
        </p:spPr>
        <p:txBody>
          <a:bodyPr anchor="t" rtlCol="false" tIns="0" lIns="0" bIns="0" rIns="0">
            <a:spAutoFit/>
          </a:bodyPr>
          <a:lstStyle/>
          <a:p>
            <a:pPr algn="l">
              <a:lnSpc>
                <a:spcPts val="2160"/>
              </a:lnSpc>
            </a:pPr>
            <a:r>
              <a:rPr lang="en-US" sz="1800" b="true">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true">
                <a:solidFill>
                  <a:srgbClr val="EAF2F8"/>
                </a:solidFill>
                <a:latin typeface="DejaVu Sans Bold"/>
                <a:ea typeface="DejaVu Sans Bold"/>
                <a:cs typeface="DejaVu Sans Bold"/>
                <a:sym typeface="DejaVu Sans Bold"/>
              </a:rPr>
              <a:t>Record the split seed and effective detector configuration.</a:t>
            </a:r>
          </a:p>
        </p:txBody>
      </p:sp>
      <p:sp>
        <p:nvSpPr>
          <p:cNvPr name="TextBox 16" id="16"/>
          <p:cNvSpPr txBox="true"/>
          <p:nvPr/>
        </p:nvSpPr>
        <p:spPr>
          <a:xfrm rot="0">
            <a:off x="914400" y="9763125"/>
            <a:ext cx="6143625" cy="266700"/>
          </a:xfrm>
          <a:prstGeom prst="rect">
            <a:avLst/>
          </a:prstGeom>
        </p:spPr>
        <p:txBody>
          <a:bodyPr anchor="t" rtlCol="false" tIns="0" lIns="0" bIns="0" rIns="0">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name="TextBox 17" id="17"/>
          <p:cNvSpPr txBox="true"/>
          <p:nvPr/>
        </p:nvSpPr>
        <p:spPr>
          <a:xfrm rot="0">
            <a:off x="16573500" y="9734550"/>
            <a:ext cx="800100" cy="295275"/>
          </a:xfrm>
          <a:prstGeom prst="rect">
            <a:avLst/>
          </a:prstGeom>
        </p:spPr>
        <p:txBody>
          <a:bodyPr anchor="t" rtlCol="false" tIns="0" lIns="0" bIns="0" rIns="0">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name="TextBox 18" id="18"/>
          <p:cNvSpPr txBox="true"/>
          <p:nvPr/>
        </p:nvSpPr>
        <p:spPr>
          <a:xfrm rot="0">
            <a:off x="1005840" y="8599170"/>
            <a:ext cx="15961995" cy="670560"/>
          </a:xfrm>
          <a:prstGeom prst="rect">
            <a:avLst/>
          </a:prstGeom>
        </p:spPr>
        <p:txBody>
          <a:bodyPr anchor="t" rtlCol="false" tIns="0" lIns="0" bIns="0" rIns="0">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8.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DATA PROTOCOL</a:t>
            </a:r>
          </a:p>
        </p:txBody>
      </p:sp>
      <p:sp>
        <p:nvSpPr>
          <p:cNvPr name="TextBox 3" id="3"/>
          <p:cNvSpPr txBox="true"/>
          <p:nvPr/>
        </p:nvSpPr>
        <p:spPr>
          <a:xfrm rot="0">
            <a:off x="918972" y="1202055"/>
            <a:ext cx="16459200" cy="87820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Dataset roles differ across experiments</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6" id="6"/>
          <p:cNvGraphicFramePr>
            <a:graphicFrameLocks noGrp="true"/>
          </p:cNvGraphicFramePr>
          <p:nvPr/>
        </p:nvGraphicFramePr>
        <p:xfrm>
          <a:off x="1028700" y="2537460"/>
          <a:ext cx="16154400" cy="5334000"/>
        </p:xfrm>
        <a:graphic>
          <a:graphicData uri="http://schemas.openxmlformats.org/drawingml/2006/table">
            <a:tbl>
              <a:tblPr/>
              <a:tblGrid>
                <a:gridCol w="4107051"/>
                <a:gridCol w="6023675"/>
                <a:gridCol w="6023675"/>
              </a:tblGrid>
              <a:tr h="1066800">
                <a:tc>
                  <a:txBody>
                    <a:bodyPr anchor="t" rtlCol="false"/>
                    <a:lstStyle/>
                    <a:p>
                      <a:pPr algn="l">
                        <a:lnSpc>
                          <a:spcPts val="3060"/>
                        </a:lnSpc>
                        <a:defRPr/>
                      </a:pPr>
                      <a:r>
                        <a:rPr lang="en-US" sz="2550" b="true">
                          <a:solidFill>
                            <a:srgbClr val="FFFFFF"/>
                          </a:solidFill>
                          <a:latin typeface="DejaVu Sans Bold"/>
                          <a:ea typeface="DejaVu Sans Bold"/>
                          <a:cs typeface="DejaVu Sans Bold"/>
                          <a:sym typeface="DejaVu Sans Bold"/>
                        </a:rPr>
                        <a:t>Experiment</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060"/>
                        </a:lnSpc>
                        <a:defRPr/>
                      </a:pPr>
                      <a:r>
                        <a:rPr lang="en-US" sz="2550" b="true">
                          <a:solidFill>
                            <a:srgbClr val="FFFFFF"/>
                          </a:solidFill>
                          <a:latin typeface="DejaVu Sans Bold"/>
                          <a:ea typeface="DejaVu Sans Bold"/>
                          <a:cs typeface="DejaVu Sans Bold"/>
                          <a:sym typeface="DejaVu Sans Bold"/>
                        </a:rPr>
                        <a:t>2A</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060"/>
                        </a:lnSpc>
                        <a:defRPr/>
                      </a:pPr>
                      <a:r>
                        <a:rPr lang="en-US" sz="2550" b="true">
                          <a:solidFill>
                            <a:srgbClr val="FFFFFF"/>
                          </a:solidFill>
                          <a:latin typeface="DejaVu Sans Bold"/>
                          <a:ea typeface="DejaVu Sans Bold"/>
                          <a:cs typeface="DejaVu Sans Bold"/>
                          <a:sym typeface="DejaVu Sans Bold"/>
                        </a:rPr>
                        <a:t>2B</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1066800">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Table-I CSE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Session I development;</a:t>
                      </a:r>
                      <a:endParaRPr lang="en-US" sz="1100"/>
                    </a:p>
                    <a:p>
                      <a:pPr algn="l">
                        <a:lnSpc>
                          <a:spcPts val="3060"/>
                        </a:lnSpc>
                      </a:pPr>
                      <a:r>
                        <a:rPr lang="en-US" sz="2550">
                          <a:solidFill>
                            <a:srgbClr val="000000"/>
                          </a:solidFill>
                          <a:latin typeface="DejaVu Sans Light"/>
                          <a:ea typeface="DejaVu Sans Light"/>
                          <a:cs typeface="DejaVu Sans Light"/>
                          <a:sym typeface="DejaVu Sans Light"/>
                        </a:rPr>
                        <a:t>Session II evaluation</a:t>
                      </a:r>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I–III development;</a:t>
                      </a:r>
                      <a:endParaRPr lang="en-US" sz="1100"/>
                    </a:p>
                    <a:p>
                      <a:pPr algn="l">
                        <a:lnSpc>
                          <a:spcPts val="3060"/>
                        </a:lnSpc>
                      </a:pPr>
                      <a:r>
                        <a:rPr lang="en-US" sz="2550">
                          <a:solidFill>
                            <a:srgbClr val="000000"/>
                          </a:solidFill>
                          <a:latin typeface="DejaVu Sans Light"/>
                          <a:ea typeface="DejaVu Sans Light"/>
                          <a:cs typeface="DejaVu Sans Light"/>
                          <a:sym typeface="DejaVu Sans Light"/>
                        </a:rPr>
                        <a:t>IV–V evaluation</a:t>
                      </a:r>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1066800">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Stored classifier benchmark</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Fit I; evaluate II</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Fit I–II; evaluate III</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1066800">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Complementary EEG runner</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I: training/calibration split;</a:t>
                      </a:r>
                      <a:endParaRPr lang="en-US" sz="1100"/>
                    </a:p>
                    <a:p>
                      <a:pPr algn="l">
                        <a:lnSpc>
                          <a:spcPts val="3060"/>
                        </a:lnSpc>
                      </a:pPr>
                      <a:r>
                        <a:rPr lang="en-US" sz="2550">
                          <a:solidFill>
                            <a:srgbClr val="000000"/>
                          </a:solidFill>
                          <a:latin typeface="DejaVu Sans Light"/>
                          <a:ea typeface="DejaVu Sans Light"/>
                          <a:cs typeface="DejaVu Sans Light"/>
                          <a:sym typeface="DejaVu Sans Light"/>
                        </a:rPr>
                        <a:t>II evaluation</a:t>
                      </a:r>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Fit I–II; calibrate III;</a:t>
                      </a:r>
                      <a:endParaRPr lang="en-US" sz="1100"/>
                    </a:p>
                    <a:p>
                      <a:pPr algn="l">
                        <a:lnSpc>
                          <a:spcPts val="3060"/>
                        </a:lnSpc>
                      </a:pPr>
                      <a:r>
                        <a:rPr lang="en-US" sz="2550">
                          <a:solidFill>
                            <a:srgbClr val="000000"/>
                          </a:solidFill>
                          <a:latin typeface="DejaVu Sans Light"/>
                          <a:ea typeface="DejaVu Sans Light"/>
                          <a:cs typeface="DejaVu Sans Light"/>
                          <a:sym typeface="DejaVu Sans Light"/>
                        </a:rPr>
                        <a:t>evaluate IV–V</a:t>
                      </a:r>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1066800">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Diethe policy laboratory</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Synthetic feature streams by default; prepared EEG features accepted by CLI</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060"/>
                        </a:lnSpc>
                        <a:defRPr/>
                      </a:pPr>
                      <a:r>
                        <a:rPr lang="en-US" sz="2550">
                          <a:solidFill>
                            <a:srgbClr val="000000"/>
                          </a:solidFill>
                          <a:latin typeface="DejaVu Sans Light"/>
                          <a:ea typeface="DejaVu Sans Light"/>
                          <a:cs typeface="DejaVu Sans Light"/>
                          <a:sym typeface="DejaVu Sans Light"/>
                        </a:rPr>
                        <a:t>Raw EEG loading is not automatically integrated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7" id="7"/>
          <p:cNvSpPr txBox="true"/>
          <p:nvPr/>
        </p:nvSpPr>
        <p:spPr>
          <a:xfrm rot="0">
            <a:off x="1028700" y="8293227"/>
            <a:ext cx="16184880" cy="603885"/>
          </a:xfrm>
          <a:prstGeom prst="rect">
            <a:avLst/>
          </a:prstGeom>
        </p:spPr>
        <p:txBody>
          <a:bodyPr anchor="t" rtlCol="false" tIns="0" lIns="0" bIns="0" rIns="0">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name="TextBox 8" id="8"/>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29.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DIETHE POLICY LABORATORY</a:t>
            </a:r>
          </a:p>
        </p:txBody>
      </p:sp>
      <p:sp>
        <p:nvSpPr>
          <p:cNvPr name="TextBox 3" id="3"/>
          <p:cNvSpPr txBox="true"/>
          <p:nvPr/>
        </p:nvSpPr>
        <p:spPr>
          <a:xfrm rot="0">
            <a:off x="918972" y="1202055"/>
            <a:ext cx="16459200" cy="87820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Diethe: separate change, performance and action</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6" id="6"/>
          <p:cNvGraphicFramePr>
            <a:graphicFrameLocks noGrp="true"/>
          </p:cNvGraphicFramePr>
          <p:nvPr/>
        </p:nvGraphicFramePr>
        <p:xfrm>
          <a:off x="1028700" y="2674620"/>
          <a:ext cx="16173450" cy="4381500"/>
        </p:xfrm>
        <a:graphic>
          <a:graphicData uri="http://schemas.openxmlformats.org/drawingml/2006/table">
            <a:tbl>
              <a:tblPr/>
              <a:tblGrid>
                <a:gridCol w="6990220"/>
                <a:gridCol w="9183230"/>
              </a:tblGrid>
              <a:tr h="876300">
                <a:tc>
                  <a:txBody>
                    <a:bodyPr anchor="t" rtlCol="false"/>
                    <a:lstStyle/>
                    <a:p>
                      <a:pPr algn="l">
                        <a:lnSpc>
                          <a:spcPts val="3419"/>
                        </a:lnSpc>
                        <a:defRPr/>
                      </a:pPr>
                      <a:r>
                        <a:rPr lang="en-US" sz="2850" b="true">
                          <a:solidFill>
                            <a:srgbClr val="FFFFFF"/>
                          </a:solidFill>
                          <a:latin typeface="DejaVu Sans Bold"/>
                          <a:ea typeface="DejaVu Sans Bold"/>
                          <a:cs typeface="DejaVu Sans Bold"/>
                          <a:sym typeface="DejaVu Sans Bold"/>
                        </a:rPr>
                        <a:t>Question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419"/>
                        </a:lnSpc>
                        <a:defRPr/>
                      </a:pPr>
                      <a:r>
                        <a:rPr lang="en-US" sz="2850" b="true">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876300">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Has the input changed?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Shared CSE warnings and Stage-II validation records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76300">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Has prediction quality changed?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Rolling accuracy against a held-out validation reference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76300">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Should the model update?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Five explicit rules compared on the same stream</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76300">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What does updating cost?</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419"/>
                        </a:lnSpc>
                        <a:defRPr/>
                      </a:pPr>
                      <a:r>
                        <a:rPr lang="en-US" sz="2850">
                          <a:solidFill>
                            <a:srgbClr val="000000"/>
                          </a:solidFill>
                          <a:latin typeface="DejaVu Sans Light"/>
                          <a:ea typeface="DejaVu Sans Light"/>
                          <a:cs typeface="DejaVu Sans Light"/>
                          <a:sym typeface="DejaVu Sans Light"/>
                        </a:rPr>
                        <a:t>Update count, fitting time, prediction time and training size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7" id="7"/>
          <p:cNvSpPr txBox="true"/>
          <p:nvPr/>
        </p:nvSpPr>
        <p:spPr>
          <a:xfrm rot="0">
            <a:off x="1028700" y="7559802"/>
            <a:ext cx="16184880" cy="120015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name="TextBox 8" id="8"/>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10412" y="484632"/>
            <a:ext cx="16139160" cy="388620"/>
          </a:xfrm>
          <a:prstGeom prst="rect">
            <a:avLst/>
          </a:prstGeom>
        </p:spPr>
        <p:txBody>
          <a:bodyPr anchor="t" rtlCol="false" tIns="0" lIns="0" bIns="0" rIns="0">
            <a:spAutoFit/>
          </a:bodyPr>
          <a:lstStyle/>
          <a:p>
            <a:pPr algn="l">
              <a:lnSpc>
                <a:spcPts val="2340"/>
              </a:lnSpc>
            </a:pPr>
            <a:r>
              <a:rPr lang="en-US" sz="1950" b="true">
                <a:solidFill>
                  <a:srgbClr val="AE9251"/>
                </a:solidFill>
                <a:latin typeface="Aptos Bold"/>
                <a:ea typeface="Aptos Bold"/>
                <a:cs typeface="Aptos Bold"/>
                <a:sym typeface="Aptos Bold"/>
              </a:rPr>
              <a:t>SEPARATE EXPERIMENTAL CONTEXT</a:t>
            </a:r>
          </a:p>
        </p:txBody>
      </p:sp>
      <p:sp>
        <p:nvSpPr>
          <p:cNvPr name="TextBox 3" id="3"/>
          <p:cNvSpPr txBox="true"/>
          <p:nvPr/>
        </p:nvSpPr>
        <p:spPr>
          <a:xfrm rot="0">
            <a:off x="1010412" y="1179957"/>
            <a:ext cx="16276320" cy="859155"/>
          </a:xfrm>
          <a:prstGeom prst="rect">
            <a:avLst/>
          </a:prstGeom>
        </p:spPr>
        <p:txBody>
          <a:bodyPr anchor="t" rtlCol="false" tIns="0" lIns="0" bIns="0" rIns="0">
            <a:spAutoFit/>
          </a:bodyPr>
          <a:lstStyle/>
          <a:p>
            <a:pPr algn="l">
              <a:lnSpc>
                <a:spcPts val="4860"/>
              </a:lnSpc>
            </a:pPr>
            <a:r>
              <a:rPr lang="en-US" sz="4050" b="true">
                <a:solidFill>
                  <a:srgbClr val="13274B"/>
                </a:solidFill>
                <a:latin typeface="Aptos Bold"/>
                <a:ea typeface="Aptos Bold"/>
                <a:cs typeface="Aptos Bold"/>
                <a:sym typeface="Aptos Bold"/>
              </a:rPr>
              <a:t>The Diethe policy lab uses supplied feature vectors</a:t>
            </a:r>
          </a:p>
        </p:txBody>
      </p:sp>
      <p:sp>
        <p:nvSpPr>
          <p:cNvPr name="TextBox 4" id="4"/>
          <p:cNvSpPr txBox="true"/>
          <p:nvPr/>
        </p:nvSpPr>
        <p:spPr>
          <a:xfrm rot="0">
            <a:off x="1120140" y="2189607"/>
            <a:ext cx="16139160" cy="686181"/>
          </a:xfrm>
          <a:prstGeom prst="rect">
            <a:avLst/>
          </a:prstGeom>
        </p:spPr>
        <p:txBody>
          <a:bodyPr anchor="t" rtlCol="false" tIns="0" lIns="0" bIns="0" rIns="0">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name="TextBox 5" id="5"/>
          <p:cNvSpPr txBox="true"/>
          <p:nvPr/>
        </p:nvSpPr>
        <p:spPr>
          <a:xfrm rot="0">
            <a:off x="1010412" y="9801987"/>
            <a:ext cx="12161520" cy="233553"/>
          </a:xfrm>
          <a:prstGeom prst="rect">
            <a:avLst/>
          </a:prstGeom>
        </p:spPr>
        <p:txBody>
          <a:bodyPr anchor="t" rtlCol="false" tIns="0" lIns="0" bIns="0" rIns="0">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name="Group 6" id="6"/>
          <p:cNvGrpSpPr/>
          <p:nvPr/>
        </p:nvGrpSpPr>
        <p:grpSpPr>
          <a:xfrm rot="0">
            <a:off x="1234440" y="2907792"/>
            <a:ext cx="7543800" cy="3497580"/>
            <a:chOff x="0" y="0"/>
            <a:chExt cx="10058400" cy="4663440"/>
          </a:xfrm>
        </p:grpSpPr>
        <p:sp>
          <p:nvSpPr>
            <p:cNvPr name="Freeform 7" id="7"/>
            <p:cNvSpPr/>
            <p:nvPr/>
          </p:nvSpPr>
          <p:spPr>
            <a:xfrm flipH="false" flipV="false" rot="0">
              <a:off x="0" y="0"/>
              <a:ext cx="10058400" cy="4663440"/>
            </a:xfrm>
            <a:custGeom>
              <a:avLst/>
              <a:gdLst/>
              <a:ahLst/>
              <a:cxnLst/>
              <a:rect r="r" b="b" t="t" l="l"/>
              <a:pathLst>
                <a:path h="4663440" w="1005840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sp>
      </p:grpSp>
      <p:grpSp>
        <p:nvGrpSpPr>
          <p:cNvPr name="Group 8" id="8"/>
          <p:cNvGrpSpPr/>
          <p:nvPr/>
        </p:nvGrpSpPr>
        <p:grpSpPr>
          <a:xfrm rot="0">
            <a:off x="9326880" y="2907792"/>
            <a:ext cx="7543800" cy="3497580"/>
            <a:chOff x="0" y="0"/>
            <a:chExt cx="10058400" cy="4663440"/>
          </a:xfrm>
        </p:grpSpPr>
        <p:sp>
          <p:nvSpPr>
            <p:cNvPr name="Freeform 9" id="9"/>
            <p:cNvSpPr/>
            <p:nvPr/>
          </p:nvSpPr>
          <p:spPr>
            <a:xfrm flipH="false" flipV="false" rot="0">
              <a:off x="0" y="0"/>
              <a:ext cx="10058400" cy="4663440"/>
            </a:xfrm>
            <a:custGeom>
              <a:avLst/>
              <a:gdLst/>
              <a:ahLst/>
              <a:cxnLst/>
              <a:rect r="r" b="b" t="t" l="l"/>
              <a:pathLst>
                <a:path h="4663440" w="1005840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sp>
      </p:grpSp>
      <p:sp>
        <p:nvSpPr>
          <p:cNvPr name="TextBox 10" id="10"/>
          <p:cNvSpPr txBox="true"/>
          <p:nvPr/>
        </p:nvSpPr>
        <p:spPr>
          <a:xfrm rot="0">
            <a:off x="1655064" y="3364992"/>
            <a:ext cx="6620256" cy="525780"/>
          </a:xfrm>
          <a:prstGeom prst="rect">
            <a:avLst/>
          </a:prstGeom>
        </p:spPr>
        <p:txBody>
          <a:bodyPr anchor="t" rtlCol="false" tIns="0" lIns="0" bIns="0" rIns="0">
            <a:spAutoFit/>
          </a:bodyPr>
          <a:lstStyle/>
          <a:p>
            <a:pPr algn="l">
              <a:lnSpc>
                <a:spcPts val="3600"/>
              </a:lnSpc>
            </a:pPr>
            <a:r>
              <a:rPr lang="en-US" sz="3000" b="true">
                <a:solidFill>
                  <a:srgbClr val="13274B"/>
                </a:solidFill>
                <a:latin typeface="Aptos Bold"/>
                <a:ea typeface="Aptos Bold"/>
                <a:cs typeface="Aptos Bold"/>
                <a:sym typeface="Aptos Bold"/>
              </a:rPr>
              <a:t>Real-EEG branch</a:t>
            </a:r>
          </a:p>
        </p:txBody>
      </p:sp>
      <p:sp>
        <p:nvSpPr>
          <p:cNvPr name="TextBox 11" id="11"/>
          <p:cNvSpPr txBox="true"/>
          <p:nvPr/>
        </p:nvSpPr>
        <p:spPr>
          <a:xfrm rot="0">
            <a:off x="1655064" y="4242816"/>
            <a:ext cx="6620256" cy="1554480"/>
          </a:xfrm>
          <a:prstGeom prst="rect">
            <a:avLst/>
          </a:prstGeom>
        </p:spPr>
        <p:txBody>
          <a:bodyPr anchor="t" rtlCol="false" tIns="0" lIns="0" bIns="0" rIns="0">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name="TextBox 12" id="12"/>
          <p:cNvSpPr txBox="true"/>
          <p:nvPr/>
        </p:nvSpPr>
        <p:spPr>
          <a:xfrm rot="0">
            <a:off x="9747504" y="3364992"/>
            <a:ext cx="6620256" cy="525780"/>
          </a:xfrm>
          <a:prstGeom prst="rect">
            <a:avLst/>
          </a:prstGeom>
        </p:spPr>
        <p:txBody>
          <a:bodyPr anchor="t" rtlCol="false" tIns="0" lIns="0" bIns="0" rIns="0">
            <a:spAutoFit/>
          </a:bodyPr>
          <a:lstStyle/>
          <a:p>
            <a:pPr algn="l">
              <a:lnSpc>
                <a:spcPts val="3600"/>
              </a:lnSpc>
            </a:pPr>
            <a:r>
              <a:rPr lang="en-US" sz="3000" b="true">
                <a:solidFill>
                  <a:srgbClr val="13274B"/>
                </a:solidFill>
                <a:latin typeface="Aptos Bold"/>
                <a:ea typeface="Aptos Bold"/>
                <a:cs typeface="Aptos Bold"/>
                <a:sym typeface="Aptos Bold"/>
              </a:rPr>
              <a:t>Diethe laboratory branch</a:t>
            </a:r>
          </a:p>
        </p:txBody>
      </p:sp>
      <p:sp>
        <p:nvSpPr>
          <p:cNvPr name="TextBox 13" id="13"/>
          <p:cNvSpPr txBox="true"/>
          <p:nvPr/>
        </p:nvSpPr>
        <p:spPr>
          <a:xfrm rot="0">
            <a:off x="9747504" y="4242816"/>
            <a:ext cx="6620256" cy="1554480"/>
          </a:xfrm>
          <a:prstGeom prst="rect">
            <a:avLst/>
          </a:prstGeom>
        </p:spPr>
        <p:txBody>
          <a:bodyPr anchor="t" rtlCol="false" tIns="0" lIns="0" bIns="0" rIns="0">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name="TextBox 14" id="14"/>
          <p:cNvSpPr txBox="true"/>
          <p:nvPr/>
        </p:nvSpPr>
        <p:spPr>
          <a:xfrm rot="0">
            <a:off x="1435608" y="7027164"/>
            <a:ext cx="15727680" cy="800100"/>
          </a:xfrm>
          <a:prstGeom prst="rect">
            <a:avLst/>
          </a:prstGeom>
        </p:spPr>
        <p:txBody>
          <a:bodyPr anchor="t" rtlCol="false" tIns="0" lIns="0" bIns="0" rIns="0">
            <a:spAutoFit/>
          </a:bodyPr>
          <a:lstStyle/>
          <a:p>
            <a:pPr algn="l">
              <a:lnSpc>
                <a:spcPts val="3240"/>
              </a:lnSpc>
            </a:pPr>
            <a:r>
              <a:rPr lang="en-US" sz="2700" b="true">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name="TextBox 15" id="15"/>
          <p:cNvSpPr txBox="true"/>
          <p:nvPr/>
        </p:nvSpPr>
        <p:spPr>
          <a:xfrm rot="0">
            <a:off x="1435608" y="8604504"/>
            <a:ext cx="15590520" cy="457200"/>
          </a:xfrm>
          <a:prstGeom prst="rect">
            <a:avLst/>
          </a:prstGeom>
        </p:spPr>
        <p:txBody>
          <a:bodyPr anchor="t" rtlCol="false" tIns="0" lIns="0" bIns="0" rIns="0">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1.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DIETHE EXPERIMENT DESIGN</a:t>
            </a:r>
          </a:p>
        </p:txBody>
      </p:sp>
      <p:sp>
        <p:nvSpPr>
          <p:cNvPr name="TextBox 3" id="3"/>
          <p:cNvSpPr txBox="true"/>
          <p:nvPr/>
        </p:nvSpPr>
        <p:spPr>
          <a:xfrm rot="0">
            <a:off x="918972" y="1154430"/>
            <a:ext cx="16459200" cy="9258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6" id="6"/>
          <p:cNvGraphicFramePr>
            <a:graphicFrameLocks noGrp="true"/>
          </p:cNvGraphicFramePr>
          <p:nvPr/>
        </p:nvGraphicFramePr>
        <p:xfrm>
          <a:off x="1028700" y="2510028"/>
          <a:ext cx="16154400" cy="2895600"/>
        </p:xfrm>
        <a:graphic>
          <a:graphicData uri="http://schemas.openxmlformats.org/drawingml/2006/table">
            <a:tbl>
              <a:tblPr/>
              <a:tblGrid>
                <a:gridCol w="6023675"/>
                <a:gridCol w="10130725"/>
              </a:tblGrid>
              <a:tr h="723900">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Policy</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Update trigger</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7239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Never / periodic</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No update / every configured interval</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7239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Warning / validated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Stage-I warning / available Stage-II confirmation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7239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Performance drop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Rolling accuracy drops below the validation reference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7" id="7"/>
          <p:cNvSpPr txBox="true"/>
          <p:nvPr/>
        </p:nvSpPr>
        <p:spPr>
          <a:xfrm rot="0">
            <a:off x="1028700" y="5879211"/>
            <a:ext cx="16184880" cy="1769745"/>
          </a:xfrm>
          <a:prstGeom prst="rect">
            <a:avLst/>
          </a:prstGeom>
        </p:spPr>
        <p:txBody>
          <a:bodyPr anchor="t" rtlCol="false" tIns="0" lIns="0" bIns="0" rIns="0">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name="TextBox 8" id="8"/>
          <p:cNvSpPr txBox="true"/>
          <p:nvPr/>
        </p:nvSpPr>
        <p:spPr>
          <a:xfrm rot="0">
            <a:off x="1028700" y="8087487"/>
            <a:ext cx="16184880" cy="809625"/>
          </a:xfrm>
          <a:prstGeom prst="rect">
            <a:avLst/>
          </a:prstGeom>
        </p:spPr>
        <p:txBody>
          <a:bodyPr anchor="t" rtlCol="false" tIns="0" lIns="0" bIns="0" rIns="0">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name="TextBox 9" id="9"/>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2.xml><?xml version="1.0" encoding="utf-8"?>
<p:sld xmlns:p="http://schemas.openxmlformats.org/presentationml/2006/main" xmlns:a="http://schemas.openxmlformats.org/drawingml/2006/main">
  <p:cSld>
    <p:bg>
      <p:bgPr>
        <a:solidFill>
          <a:srgbClr val="F8FAFC"/>
        </a:solidFill>
      </p:bgPr>
    </p:bg>
    <p:spTree>
      <p:nvGrpSpPr>
        <p:cNvPr id="1" name=""/>
        <p:cNvGrpSpPr/>
        <p:nvPr/>
      </p:nvGrpSpPr>
      <p:grpSpPr>
        <a:xfrm>
          <a:off x="0" y="0"/>
          <a:ext cx="0" cy="0"/>
          <a:chOff x="0" y="0"/>
          <a:chExt cx="0" cy="0"/>
        </a:xfrm>
      </p:grpSpPr>
      <p:sp>
        <p:nvSpPr>
          <p:cNvPr name="TextBox 2" id="2"/>
          <p:cNvSpPr txBox="true"/>
          <p:nvPr/>
        </p:nvSpPr>
        <p:spPr>
          <a:xfrm rot="0">
            <a:off x="987552" y="566928"/>
            <a:ext cx="14968728" cy="320040"/>
          </a:xfrm>
          <a:prstGeom prst="rect">
            <a:avLst/>
          </a:prstGeom>
        </p:spPr>
        <p:txBody>
          <a:bodyPr anchor="t" rtlCol="false" tIns="0" lIns="0" bIns="0" rIns="0">
            <a:spAutoFit/>
          </a:bodyPr>
          <a:lstStyle/>
          <a:p>
            <a:pPr algn="l">
              <a:lnSpc>
                <a:spcPts val="1800"/>
              </a:lnSpc>
            </a:pPr>
            <a:r>
              <a:rPr lang="en-US" sz="1500" b="true">
                <a:solidFill>
                  <a:srgbClr val="0D9488"/>
                </a:solidFill>
                <a:latin typeface="Aptos Bold"/>
                <a:ea typeface="Aptos Bold"/>
                <a:cs typeface="Aptos Bold"/>
                <a:sym typeface="Aptos Bold"/>
              </a:rPr>
              <a:t>ADAPTATION POLICY PROGRESS</a:t>
            </a:r>
          </a:p>
        </p:txBody>
      </p:sp>
      <p:sp>
        <p:nvSpPr>
          <p:cNvPr name="TextBox 3" id="3"/>
          <p:cNvSpPr txBox="true"/>
          <p:nvPr/>
        </p:nvSpPr>
        <p:spPr>
          <a:xfrm rot="0">
            <a:off x="987552" y="1088136"/>
            <a:ext cx="16340328" cy="854964"/>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Six policy families — one exploratory laboratory</a:t>
            </a:r>
          </a:p>
        </p:txBody>
      </p:sp>
      <p:sp>
        <p:nvSpPr>
          <p:cNvPr name="TextBox 4" id="4"/>
          <p:cNvSpPr txBox="true"/>
          <p:nvPr/>
        </p:nvSpPr>
        <p:spPr>
          <a:xfrm rot="0">
            <a:off x="987552" y="2103120"/>
            <a:ext cx="16340328" cy="690372"/>
          </a:xfrm>
          <a:prstGeom prst="rect">
            <a:avLst/>
          </a:prstGeom>
        </p:spPr>
        <p:txBody>
          <a:bodyPr anchor="t" rtlCol="false" tIns="0" lIns="0" bIns="0" rIns="0">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name="TextBox 5" id="5"/>
          <p:cNvSpPr txBox="true"/>
          <p:nvPr/>
        </p:nvSpPr>
        <p:spPr>
          <a:xfrm rot="0">
            <a:off x="987552" y="9788271"/>
            <a:ext cx="13597128" cy="247269"/>
          </a:xfrm>
          <a:prstGeom prst="rect">
            <a:avLst/>
          </a:prstGeom>
        </p:spPr>
        <p:txBody>
          <a:bodyPr anchor="t" rtlCol="false" tIns="0" lIns="0" bIns="0" rIns="0">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name="Group 6" id="6"/>
          <p:cNvGrpSpPr/>
          <p:nvPr/>
        </p:nvGrpSpPr>
        <p:grpSpPr>
          <a:xfrm rot="0">
            <a:off x="950595" y="2980563"/>
            <a:ext cx="8042910" cy="5327142"/>
            <a:chOff x="0" y="0"/>
            <a:chExt cx="10723880" cy="7102856"/>
          </a:xfrm>
        </p:grpSpPr>
        <p:sp>
          <p:nvSpPr>
            <p:cNvPr name="Freeform 7" id="7"/>
            <p:cNvSpPr/>
            <p:nvPr/>
          </p:nvSpPr>
          <p:spPr>
            <a:xfrm flipH="false" flipV="false" rot="0">
              <a:off x="0" y="0"/>
              <a:ext cx="10723880" cy="7102856"/>
            </a:xfrm>
            <a:custGeom>
              <a:avLst/>
              <a:gdLst/>
              <a:ahLst/>
              <a:cxnLst/>
              <a:rect r="r" b="b" t="t" l="l"/>
              <a:pathLst>
                <a:path h="7102856" w="10723880">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sp>
      </p:grpSp>
      <p:sp>
        <p:nvSpPr>
          <p:cNvPr name="TextBox 8" id="8"/>
          <p:cNvSpPr txBox="true"/>
          <p:nvPr/>
        </p:nvSpPr>
        <p:spPr>
          <a:xfrm rot="0">
            <a:off x="1220724" y="3186684"/>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POLICIES</a:t>
            </a:r>
          </a:p>
        </p:txBody>
      </p:sp>
      <p:sp>
        <p:nvSpPr>
          <p:cNvPr name="TextBox 9" id="9"/>
          <p:cNvSpPr txBox="true"/>
          <p:nvPr/>
        </p:nvSpPr>
        <p:spPr>
          <a:xfrm rot="0">
            <a:off x="1220724" y="3803904"/>
            <a:ext cx="7438644" cy="4283964"/>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name="Group 10" id="10"/>
          <p:cNvGrpSpPr/>
          <p:nvPr/>
        </p:nvGrpSpPr>
        <p:grpSpPr>
          <a:xfrm rot="0">
            <a:off x="9317355" y="2980563"/>
            <a:ext cx="8042910" cy="5327142"/>
            <a:chOff x="0" y="0"/>
            <a:chExt cx="10723880" cy="7102856"/>
          </a:xfrm>
        </p:grpSpPr>
        <p:sp>
          <p:nvSpPr>
            <p:cNvPr name="Freeform 11" id="11"/>
            <p:cNvSpPr/>
            <p:nvPr/>
          </p:nvSpPr>
          <p:spPr>
            <a:xfrm flipH="false" flipV="false" rot="0">
              <a:off x="0" y="0"/>
              <a:ext cx="10723880" cy="7102856"/>
            </a:xfrm>
            <a:custGeom>
              <a:avLst/>
              <a:gdLst/>
              <a:ahLst/>
              <a:cxnLst/>
              <a:rect r="r" b="b" t="t" l="l"/>
              <a:pathLst>
                <a:path h="7102856" w="10723880">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sp>
      </p:grpSp>
      <p:sp>
        <p:nvSpPr>
          <p:cNvPr name="TextBox 12" id="12"/>
          <p:cNvSpPr txBox="true"/>
          <p:nvPr/>
        </p:nvSpPr>
        <p:spPr>
          <a:xfrm rot="0">
            <a:off x="9587484" y="3186684"/>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VALIDATION BOUNDARIES</a:t>
            </a:r>
          </a:p>
        </p:txBody>
      </p:sp>
      <p:sp>
        <p:nvSpPr>
          <p:cNvPr name="TextBox 13" id="13"/>
          <p:cNvSpPr txBox="true"/>
          <p:nvPr/>
        </p:nvSpPr>
        <p:spPr>
          <a:xfrm rot="0">
            <a:off x="9587484" y="3803904"/>
            <a:ext cx="7438644" cy="4283964"/>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name="TextBox 14" id="14"/>
          <p:cNvSpPr txBox="true"/>
          <p:nvPr/>
        </p:nvSpPr>
        <p:spPr>
          <a:xfrm rot="0">
            <a:off x="1261872" y="8549640"/>
            <a:ext cx="16340328" cy="512064"/>
          </a:xfrm>
          <a:prstGeom prst="rect">
            <a:avLst/>
          </a:prstGeom>
        </p:spPr>
        <p:txBody>
          <a:bodyPr anchor="t" rtlCol="false" tIns="0" lIns="0" bIns="0" rIns="0">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3.xml><?xml version="1.0" encoding="utf-8"?>
<p:sld xmlns:p="http://schemas.openxmlformats.org/presentationml/2006/main" xmlns:a="http://schemas.openxmlformats.org/drawingml/2006/main">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937260" y="448056"/>
            <a:ext cx="16285464" cy="448056"/>
          </a:xfrm>
          <a:prstGeom prst="rect">
            <a:avLst/>
          </a:prstGeom>
        </p:spPr>
        <p:txBody>
          <a:bodyPr anchor="t" rtlCol="false" tIns="0" lIns="0" bIns="0" rIns="0">
            <a:spAutoFit/>
          </a:bodyPr>
          <a:lstStyle/>
          <a:p>
            <a:pPr algn="l">
              <a:lnSpc>
                <a:spcPts val="3419"/>
              </a:lnSpc>
            </a:pPr>
            <a:r>
              <a:rPr lang="en-US" sz="2850" b="true">
                <a:solidFill>
                  <a:srgbClr val="24DED2"/>
                </a:solidFill>
                <a:latin typeface="Aptos Bold"/>
                <a:ea typeface="Aptos Bold"/>
                <a:cs typeface="Aptos Bold"/>
                <a:sym typeface="Aptos Bold"/>
              </a:rPr>
              <a:t>CONTINUAL LEARNING UPDATE</a:t>
            </a:r>
          </a:p>
        </p:txBody>
      </p:sp>
      <p:sp>
        <p:nvSpPr>
          <p:cNvPr name="TextBox 3" id="3"/>
          <p:cNvSpPr txBox="true"/>
          <p:nvPr/>
        </p:nvSpPr>
        <p:spPr>
          <a:xfrm rot="0">
            <a:off x="937260" y="1078992"/>
            <a:ext cx="16285464" cy="996696"/>
          </a:xfrm>
          <a:prstGeom prst="rect">
            <a:avLst/>
          </a:prstGeom>
        </p:spPr>
        <p:txBody>
          <a:bodyPr anchor="t" rtlCol="false" tIns="0" lIns="0" bIns="0" rIns="0">
            <a:spAutoFit/>
          </a:bodyPr>
          <a:lstStyle/>
          <a:p>
            <a:pPr algn="l">
              <a:lnSpc>
                <a:spcPts val="3960"/>
              </a:lnSpc>
            </a:pPr>
            <a:r>
              <a:rPr lang="en-US" sz="3300" b="true">
                <a:solidFill>
                  <a:srgbClr val="F5F8FC"/>
                </a:solidFill>
                <a:latin typeface="Aptos Bold"/>
                <a:ea typeface="Aptos Bold"/>
                <a:cs typeface="Aptos Bold"/>
                <a:sym typeface="Aptos Bold"/>
              </a:rPr>
              <a:t>Hurtado-aligned passive updating: count new experience, not global trial position</a:t>
            </a:r>
          </a:p>
        </p:txBody>
      </p:sp>
      <p:sp>
        <p:nvSpPr>
          <p:cNvPr name="TextBox 4" id="4"/>
          <p:cNvSpPr txBox="true"/>
          <p:nvPr/>
        </p:nvSpPr>
        <p:spPr>
          <a:xfrm rot="0">
            <a:off x="937260" y="2189988"/>
            <a:ext cx="16285464" cy="393192"/>
          </a:xfrm>
          <a:prstGeom prst="rect">
            <a:avLst/>
          </a:prstGeom>
        </p:spPr>
        <p:txBody>
          <a:bodyPr anchor="t" rtlCol="false" tIns="0" lIns="0" bIns="0" rIns="0">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name="Group 5" id="5"/>
          <p:cNvGrpSpPr/>
          <p:nvPr/>
        </p:nvGrpSpPr>
        <p:grpSpPr>
          <a:xfrm rot="0">
            <a:off x="975646" y="2772442"/>
            <a:ext cx="6264592" cy="3109912"/>
            <a:chOff x="0" y="0"/>
            <a:chExt cx="8352790" cy="4146550"/>
          </a:xfrm>
        </p:grpSpPr>
        <p:sp>
          <p:nvSpPr>
            <p:cNvPr name="Freeform 6" id="6"/>
            <p:cNvSpPr/>
            <p:nvPr/>
          </p:nvSpPr>
          <p:spPr>
            <a:xfrm flipH="false" flipV="false" rot="0">
              <a:off x="0" y="0"/>
              <a:ext cx="8352790" cy="4146550"/>
            </a:xfrm>
            <a:custGeom>
              <a:avLst/>
              <a:gdLst/>
              <a:ahLst/>
              <a:cxnLst/>
              <a:rect r="r" b="b" t="t" l="l"/>
              <a:pathLst>
                <a:path h="4146550" w="835279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sp>
      </p:grpSp>
      <p:grpSp>
        <p:nvGrpSpPr>
          <p:cNvPr name="Group 7" id="7"/>
          <p:cNvGrpSpPr/>
          <p:nvPr/>
        </p:nvGrpSpPr>
        <p:grpSpPr>
          <a:xfrm rot="0">
            <a:off x="11029474" y="2772442"/>
            <a:ext cx="6264592" cy="3109912"/>
            <a:chOff x="0" y="0"/>
            <a:chExt cx="8352790" cy="4146550"/>
          </a:xfrm>
        </p:grpSpPr>
        <p:sp>
          <p:nvSpPr>
            <p:cNvPr name="Freeform 8" id="8"/>
            <p:cNvSpPr/>
            <p:nvPr/>
          </p:nvSpPr>
          <p:spPr>
            <a:xfrm flipH="false" flipV="false" rot="0">
              <a:off x="0" y="0"/>
              <a:ext cx="8352790" cy="4146550"/>
            </a:xfrm>
            <a:custGeom>
              <a:avLst/>
              <a:gdLst/>
              <a:ahLst/>
              <a:cxnLst/>
              <a:rect r="r" b="b" t="t" l="l"/>
              <a:pathLst>
                <a:path h="4146550" w="835279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sp>
      </p:grpSp>
      <p:sp>
        <p:nvSpPr>
          <p:cNvPr name="TextBox 9" id="9"/>
          <p:cNvSpPr txBox="true"/>
          <p:nvPr/>
        </p:nvSpPr>
        <p:spPr>
          <a:xfrm rot="0">
            <a:off x="1321308" y="3081528"/>
            <a:ext cx="3803904" cy="365760"/>
          </a:xfrm>
          <a:prstGeom prst="rect">
            <a:avLst/>
          </a:prstGeom>
        </p:spPr>
        <p:txBody>
          <a:bodyPr anchor="t" rtlCol="false" tIns="0" lIns="0" bIns="0" rIns="0">
            <a:spAutoFit/>
          </a:bodyPr>
          <a:lstStyle/>
          <a:p>
            <a:pPr algn="l">
              <a:lnSpc>
                <a:spcPts val="2160"/>
              </a:lnSpc>
            </a:pPr>
            <a:r>
              <a:rPr lang="en-US" sz="1800" b="true">
                <a:solidFill>
                  <a:srgbClr val="BCA869"/>
                </a:solidFill>
                <a:latin typeface="Aptos Bold"/>
                <a:ea typeface="Aptos Bold"/>
                <a:cs typeface="Aptos Bold"/>
                <a:sym typeface="Aptos Bold"/>
              </a:rPr>
              <a:t>BEFORE: CLOCKED SCHEDULE</a:t>
            </a:r>
          </a:p>
        </p:txBody>
      </p:sp>
      <p:sp>
        <p:nvSpPr>
          <p:cNvPr name="TextBox 10" id="10"/>
          <p:cNvSpPr txBox="true"/>
          <p:nvPr/>
        </p:nvSpPr>
        <p:spPr>
          <a:xfrm rot="0">
            <a:off x="1321308" y="3849624"/>
            <a:ext cx="5381244" cy="502920"/>
          </a:xfrm>
          <a:prstGeom prst="rect">
            <a:avLst/>
          </a:prstGeom>
        </p:spPr>
        <p:txBody>
          <a:bodyPr anchor="t" rtlCol="false" tIns="0" lIns="0" bIns="0" rIns="0">
            <a:spAutoFit/>
          </a:bodyPr>
          <a:lstStyle/>
          <a:p>
            <a:pPr algn="l">
              <a:lnSpc>
                <a:spcPts val="2879"/>
              </a:lnSpc>
            </a:pPr>
            <a:r>
              <a:rPr lang="en-US" sz="2400" b="true">
                <a:solidFill>
                  <a:srgbClr val="F5F8FC"/>
                </a:solidFill>
                <a:latin typeface="Aptos Bold"/>
                <a:ea typeface="Aptos Bold"/>
                <a:cs typeface="Aptos Bold"/>
                <a:sym typeface="Aptos Bold"/>
              </a:rPr>
              <a:t>Absolute trial index</a:t>
            </a:r>
          </a:p>
        </p:txBody>
      </p:sp>
      <p:grpSp>
        <p:nvGrpSpPr>
          <p:cNvPr name="Group 11" id="11"/>
          <p:cNvGrpSpPr/>
          <p:nvPr/>
        </p:nvGrpSpPr>
        <p:grpSpPr>
          <a:xfrm rot="0">
            <a:off x="1303020" y="4416552"/>
            <a:ext cx="5417820" cy="576072"/>
            <a:chOff x="0" y="0"/>
            <a:chExt cx="7223760" cy="768096"/>
          </a:xfrm>
        </p:grpSpPr>
        <p:sp>
          <p:nvSpPr>
            <p:cNvPr name="Freeform 12" id="12"/>
            <p:cNvSpPr/>
            <p:nvPr/>
          </p:nvSpPr>
          <p:spPr>
            <a:xfrm flipH="false" flipV="false" rot="0">
              <a:off x="0" y="0"/>
              <a:ext cx="7223760" cy="768096"/>
            </a:xfrm>
            <a:custGeom>
              <a:avLst/>
              <a:gdLst/>
              <a:ahLst/>
              <a:cxnLst/>
              <a:rect r="r" b="b" t="t" l="l"/>
              <a:pathLst>
                <a:path h="768096" w="7223760">
                  <a:moveTo>
                    <a:pt x="0" y="0"/>
                  </a:moveTo>
                  <a:lnTo>
                    <a:pt x="7223760" y="0"/>
                  </a:lnTo>
                  <a:lnTo>
                    <a:pt x="7223760" y="768096"/>
                  </a:lnTo>
                  <a:lnTo>
                    <a:pt x="0" y="768096"/>
                  </a:lnTo>
                  <a:close/>
                </a:path>
              </a:pathLst>
            </a:custGeom>
            <a:solidFill>
              <a:srgbClr val="080D13"/>
            </a:solidFill>
            <a:ln cap="sq">
              <a:noFill/>
              <a:prstDash val="solid"/>
              <a:miter/>
            </a:ln>
          </p:spPr>
        </p:sp>
        <p:sp>
          <p:nvSpPr>
            <p:cNvPr name="TextBox 13" id="13"/>
            <p:cNvSpPr txBox="true"/>
            <p:nvPr/>
          </p:nvSpPr>
          <p:spPr>
            <a:xfrm>
              <a:off x="0" y="-47625"/>
              <a:ext cx="7223760" cy="815721"/>
            </a:xfrm>
            <a:prstGeom prst="rect">
              <a:avLst/>
            </a:prstGeom>
          </p:spPr>
          <p:txBody>
            <a:bodyPr anchor="t" rtlCol="false" tIns="50800" lIns="50800" bIns="50800" rIns="50800"/>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name="TextBox 14" id="14"/>
          <p:cNvSpPr txBox="true"/>
          <p:nvPr/>
        </p:nvSpPr>
        <p:spPr>
          <a:xfrm rot="0">
            <a:off x="1348740" y="5152644"/>
            <a:ext cx="5326380" cy="585216"/>
          </a:xfrm>
          <a:prstGeom prst="rect">
            <a:avLst/>
          </a:prstGeom>
        </p:spPr>
        <p:txBody>
          <a:bodyPr anchor="t" rtlCol="false" tIns="0" lIns="0" bIns="0" rIns="0">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name="TextBox 15" id="15"/>
          <p:cNvSpPr txBox="true"/>
          <p:nvPr/>
        </p:nvSpPr>
        <p:spPr>
          <a:xfrm rot="0">
            <a:off x="11375136" y="3081528"/>
            <a:ext cx="3803904" cy="365760"/>
          </a:xfrm>
          <a:prstGeom prst="rect">
            <a:avLst/>
          </a:prstGeom>
        </p:spPr>
        <p:txBody>
          <a:bodyPr anchor="t" rtlCol="false" tIns="0" lIns="0" bIns="0" rIns="0">
            <a:spAutoFit/>
          </a:bodyPr>
          <a:lstStyle/>
          <a:p>
            <a:pPr algn="l">
              <a:lnSpc>
                <a:spcPts val="2160"/>
              </a:lnSpc>
            </a:pPr>
            <a:r>
              <a:rPr lang="en-US" sz="1800" b="true">
                <a:solidFill>
                  <a:srgbClr val="24DED2"/>
                </a:solidFill>
                <a:latin typeface="Aptos Bold"/>
                <a:ea typeface="Aptos Bold"/>
                <a:cs typeface="Aptos Bold"/>
                <a:sym typeface="Aptos Bold"/>
              </a:rPr>
              <a:t>AFTER: PASSIVE STREAM BASELINE</a:t>
            </a:r>
          </a:p>
        </p:txBody>
      </p:sp>
      <p:sp>
        <p:nvSpPr>
          <p:cNvPr name="TextBox 16" id="16"/>
          <p:cNvSpPr txBox="true"/>
          <p:nvPr/>
        </p:nvSpPr>
        <p:spPr>
          <a:xfrm rot="0">
            <a:off x="11375136" y="3849624"/>
            <a:ext cx="5381244" cy="502920"/>
          </a:xfrm>
          <a:prstGeom prst="rect">
            <a:avLst/>
          </a:prstGeom>
        </p:spPr>
        <p:txBody>
          <a:bodyPr anchor="t" rtlCol="false" tIns="0" lIns="0" bIns="0" rIns="0">
            <a:spAutoFit/>
          </a:bodyPr>
          <a:lstStyle/>
          <a:p>
            <a:pPr algn="l">
              <a:lnSpc>
                <a:spcPts val="2879"/>
              </a:lnSpc>
            </a:pPr>
            <a:r>
              <a:rPr lang="en-US" sz="2400" b="true">
                <a:solidFill>
                  <a:srgbClr val="F5F8FC"/>
                </a:solidFill>
                <a:latin typeface="Aptos Bold"/>
                <a:ea typeface="Aptos Bold"/>
                <a:cs typeface="Aptos Bold"/>
                <a:sym typeface="Aptos Bold"/>
              </a:rPr>
              <a:t>New data since last update</a:t>
            </a:r>
          </a:p>
        </p:txBody>
      </p:sp>
      <p:grpSp>
        <p:nvGrpSpPr>
          <p:cNvPr name="Group 17" id="17"/>
          <p:cNvGrpSpPr/>
          <p:nvPr/>
        </p:nvGrpSpPr>
        <p:grpSpPr>
          <a:xfrm rot="0">
            <a:off x="11356848" y="4416552"/>
            <a:ext cx="5417820" cy="576072"/>
            <a:chOff x="0" y="0"/>
            <a:chExt cx="7223760" cy="768096"/>
          </a:xfrm>
        </p:grpSpPr>
        <p:sp>
          <p:nvSpPr>
            <p:cNvPr name="Freeform 18" id="18"/>
            <p:cNvSpPr/>
            <p:nvPr/>
          </p:nvSpPr>
          <p:spPr>
            <a:xfrm flipH="false" flipV="false" rot="0">
              <a:off x="0" y="0"/>
              <a:ext cx="7223760" cy="768096"/>
            </a:xfrm>
            <a:custGeom>
              <a:avLst/>
              <a:gdLst/>
              <a:ahLst/>
              <a:cxnLst/>
              <a:rect r="r" b="b" t="t" l="l"/>
              <a:pathLst>
                <a:path h="768096" w="7223760">
                  <a:moveTo>
                    <a:pt x="0" y="0"/>
                  </a:moveTo>
                  <a:lnTo>
                    <a:pt x="7223760" y="0"/>
                  </a:lnTo>
                  <a:lnTo>
                    <a:pt x="7223760" y="768096"/>
                  </a:lnTo>
                  <a:lnTo>
                    <a:pt x="0" y="768096"/>
                  </a:lnTo>
                  <a:close/>
                </a:path>
              </a:pathLst>
            </a:custGeom>
            <a:solidFill>
              <a:srgbClr val="080D13"/>
            </a:solidFill>
            <a:ln cap="sq">
              <a:noFill/>
              <a:prstDash val="solid"/>
              <a:miter/>
            </a:ln>
          </p:spPr>
        </p:sp>
        <p:sp>
          <p:nvSpPr>
            <p:cNvPr name="TextBox 19" id="19"/>
            <p:cNvSpPr txBox="true"/>
            <p:nvPr/>
          </p:nvSpPr>
          <p:spPr>
            <a:xfrm>
              <a:off x="0" y="-47625"/>
              <a:ext cx="7223760" cy="815721"/>
            </a:xfrm>
            <a:prstGeom prst="rect">
              <a:avLst/>
            </a:prstGeom>
          </p:spPr>
          <p:txBody>
            <a:bodyPr anchor="t" rtlCol="false" tIns="50800" lIns="50800" bIns="50800" rIns="50800"/>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name="TextBox 20" id="20"/>
          <p:cNvSpPr txBox="true"/>
          <p:nvPr/>
        </p:nvSpPr>
        <p:spPr>
          <a:xfrm rot="0">
            <a:off x="11402568" y="5152644"/>
            <a:ext cx="5326380" cy="585216"/>
          </a:xfrm>
          <a:prstGeom prst="rect">
            <a:avLst/>
          </a:prstGeom>
        </p:spPr>
        <p:txBody>
          <a:bodyPr anchor="t" rtlCol="false" tIns="0" lIns="0" bIns="0" rIns="0">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name="Group 21" id="21"/>
          <p:cNvGrpSpPr/>
          <p:nvPr/>
        </p:nvGrpSpPr>
        <p:grpSpPr>
          <a:xfrm rot="0">
            <a:off x="7465695" y="3830955"/>
            <a:ext cx="3146298" cy="951738"/>
            <a:chOff x="0" y="0"/>
            <a:chExt cx="4195064" cy="1268984"/>
          </a:xfrm>
        </p:grpSpPr>
        <p:sp>
          <p:nvSpPr>
            <p:cNvPr name="Freeform 22" id="22"/>
            <p:cNvSpPr/>
            <p:nvPr/>
          </p:nvSpPr>
          <p:spPr>
            <a:xfrm flipH="false" flipV="false" rot="0">
              <a:off x="0" y="0"/>
              <a:ext cx="4195064" cy="1268984"/>
            </a:xfrm>
            <a:custGeom>
              <a:avLst/>
              <a:gdLst/>
              <a:ahLst/>
              <a:cxnLst/>
              <a:rect r="r" b="b" t="t" l="l"/>
              <a:pathLst>
                <a:path h="1268984" w="419506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sp>
      </p:grpSp>
      <p:sp>
        <p:nvSpPr>
          <p:cNvPr name="TextBox 23" id="23"/>
          <p:cNvSpPr txBox="true"/>
          <p:nvPr/>
        </p:nvSpPr>
        <p:spPr>
          <a:xfrm rot="0">
            <a:off x="7630668" y="4878324"/>
            <a:ext cx="2843784" cy="557784"/>
          </a:xfrm>
          <a:prstGeom prst="rect">
            <a:avLst/>
          </a:prstGeom>
        </p:spPr>
        <p:txBody>
          <a:bodyPr anchor="t" rtlCol="false" tIns="0" lIns="0" bIns="0" rIns="0">
            <a:spAutoFit/>
          </a:bodyPr>
          <a:lstStyle/>
          <a:p>
            <a:pPr algn="ctr">
              <a:lnSpc>
                <a:spcPts val="2340"/>
              </a:lnSpc>
            </a:pPr>
            <a:r>
              <a:rPr lang="en-US" sz="1950" b="true">
                <a:solidFill>
                  <a:srgbClr val="F5F8FC"/>
                </a:solidFill>
                <a:latin typeface="Aptos Bold"/>
                <a:ea typeface="Aptos Bold"/>
                <a:cs typeface="Aptos Bold"/>
                <a:sym typeface="Aptos Bold"/>
              </a:rPr>
              <a:t>semantics</a:t>
            </a:r>
          </a:p>
        </p:txBody>
      </p:sp>
      <p:sp>
        <p:nvSpPr>
          <p:cNvPr name="TextBox 24" id="24"/>
          <p:cNvSpPr txBox="true"/>
          <p:nvPr/>
        </p:nvSpPr>
        <p:spPr>
          <a:xfrm rot="0">
            <a:off x="7493508" y="3108960"/>
            <a:ext cx="3145536" cy="530352"/>
          </a:xfrm>
          <a:prstGeom prst="rect">
            <a:avLst/>
          </a:prstGeom>
        </p:spPr>
        <p:txBody>
          <a:bodyPr anchor="t" rtlCol="false" tIns="0" lIns="0" bIns="0" rIns="0">
            <a:spAutoFit/>
          </a:bodyPr>
          <a:lstStyle/>
          <a:p>
            <a:pPr algn="ctr">
              <a:lnSpc>
                <a:spcPts val="2340"/>
              </a:lnSpc>
            </a:pPr>
            <a:r>
              <a:rPr lang="en-US" sz="1950" b="true">
                <a:solidFill>
                  <a:srgbClr val="BCA869"/>
                </a:solidFill>
                <a:latin typeface="Aptos Bold"/>
                <a:ea typeface="Aptos Bold"/>
                <a:cs typeface="Aptos Bold"/>
                <a:sym typeface="Aptos Bold"/>
              </a:rPr>
              <a:t>POLICY UPDATE</a:t>
            </a:r>
          </a:p>
        </p:txBody>
      </p:sp>
      <p:grpSp>
        <p:nvGrpSpPr>
          <p:cNvPr name="Group 25" id="25"/>
          <p:cNvGrpSpPr/>
          <p:nvPr/>
        </p:nvGrpSpPr>
        <p:grpSpPr>
          <a:xfrm rot="0">
            <a:off x="975646" y="6091714"/>
            <a:ext cx="16318420" cy="1738312"/>
            <a:chOff x="0" y="0"/>
            <a:chExt cx="21757894" cy="2317750"/>
          </a:xfrm>
        </p:grpSpPr>
        <p:sp>
          <p:nvSpPr>
            <p:cNvPr name="Freeform 26" id="26"/>
            <p:cNvSpPr/>
            <p:nvPr/>
          </p:nvSpPr>
          <p:spPr>
            <a:xfrm flipH="false" flipV="false" rot="0">
              <a:off x="0" y="0"/>
              <a:ext cx="21757895" cy="2317750"/>
            </a:xfrm>
            <a:custGeom>
              <a:avLst/>
              <a:gdLst/>
              <a:ahLst/>
              <a:cxnLst/>
              <a:rect r="r" b="b" t="t" l="l"/>
              <a:pathLst>
                <a:path h="2317750" w="21757895">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sp>
      </p:grpSp>
      <p:sp>
        <p:nvSpPr>
          <p:cNvPr name="TextBox 27" id="27"/>
          <p:cNvSpPr txBox="true"/>
          <p:nvPr/>
        </p:nvSpPr>
        <p:spPr>
          <a:xfrm rot="0">
            <a:off x="1362456" y="6414516"/>
            <a:ext cx="4626864" cy="461772"/>
          </a:xfrm>
          <a:prstGeom prst="rect">
            <a:avLst/>
          </a:prstGeom>
        </p:spPr>
        <p:txBody>
          <a:bodyPr anchor="t" rtlCol="false" tIns="0" lIns="0" bIns="0" rIns="0">
            <a:spAutoFit/>
          </a:bodyPr>
          <a:lstStyle/>
          <a:p>
            <a:pPr algn="l">
              <a:lnSpc>
                <a:spcPts val="2879"/>
              </a:lnSpc>
            </a:pPr>
            <a:r>
              <a:rPr lang="en-US" sz="2400" b="true">
                <a:solidFill>
                  <a:srgbClr val="F5F8FC"/>
                </a:solidFill>
                <a:latin typeface="Aptos Bold"/>
                <a:ea typeface="Aptos Bold"/>
                <a:cs typeface="Aptos Bold"/>
                <a:sym typeface="Aptos Bold"/>
              </a:rPr>
              <a:t>Why this matters for PdM</a:t>
            </a:r>
          </a:p>
        </p:txBody>
      </p:sp>
      <p:sp>
        <p:nvSpPr>
          <p:cNvPr name="TextBox 28" id="28"/>
          <p:cNvSpPr txBox="true"/>
          <p:nvPr/>
        </p:nvSpPr>
        <p:spPr>
          <a:xfrm rot="0">
            <a:off x="1389888" y="6935724"/>
            <a:ext cx="4777740" cy="544068"/>
          </a:xfrm>
          <a:prstGeom prst="rect">
            <a:avLst/>
          </a:prstGeom>
        </p:spPr>
        <p:txBody>
          <a:bodyPr anchor="t" rtlCol="false" tIns="0" lIns="0" bIns="0" rIns="0">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name="TextBox 29" id="29"/>
          <p:cNvSpPr txBox="true"/>
          <p:nvPr/>
        </p:nvSpPr>
        <p:spPr>
          <a:xfrm rot="0">
            <a:off x="6670548" y="6414516"/>
            <a:ext cx="4078224" cy="461772"/>
          </a:xfrm>
          <a:prstGeom prst="rect">
            <a:avLst/>
          </a:prstGeom>
        </p:spPr>
        <p:txBody>
          <a:bodyPr anchor="t" rtlCol="false" tIns="0" lIns="0" bIns="0" rIns="0">
            <a:spAutoFit/>
          </a:bodyPr>
          <a:lstStyle/>
          <a:p>
            <a:pPr algn="l">
              <a:lnSpc>
                <a:spcPts val="2879"/>
              </a:lnSpc>
            </a:pPr>
            <a:r>
              <a:rPr lang="en-US" sz="2400" b="true">
                <a:solidFill>
                  <a:srgbClr val="F5F8FC"/>
                </a:solidFill>
                <a:latin typeface="Aptos Bold"/>
                <a:ea typeface="Aptos Bold"/>
                <a:cs typeface="Aptos Bold"/>
                <a:sym typeface="Aptos Bold"/>
              </a:rPr>
              <a:t>Cleaner experiment axis</a:t>
            </a:r>
          </a:p>
        </p:txBody>
      </p:sp>
      <p:sp>
        <p:nvSpPr>
          <p:cNvPr name="TextBox 30" id="30"/>
          <p:cNvSpPr txBox="true"/>
          <p:nvPr/>
        </p:nvSpPr>
        <p:spPr>
          <a:xfrm rot="0">
            <a:off x="6697980" y="6935724"/>
            <a:ext cx="4297680" cy="544068"/>
          </a:xfrm>
          <a:prstGeom prst="rect">
            <a:avLst/>
          </a:prstGeom>
        </p:spPr>
        <p:txBody>
          <a:bodyPr anchor="t" rtlCol="false" tIns="0" lIns="0" bIns="0" rIns="0">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name="TextBox 31" id="31"/>
          <p:cNvSpPr txBox="true"/>
          <p:nvPr/>
        </p:nvSpPr>
        <p:spPr>
          <a:xfrm rot="0">
            <a:off x="11745468" y="6414516"/>
            <a:ext cx="4352544" cy="461772"/>
          </a:xfrm>
          <a:prstGeom prst="rect">
            <a:avLst/>
          </a:prstGeom>
        </p:spPr>
        <p:txBody>
          <a:bodyPr anchor="t" rtlCol="false" tIns="0" lIns="0" bIns="0" rIns="0">
            <a:spAutoFit/>
          </a:bodyPr>
          <a:lstStyle/>
          <a:p>
            <a:pPr algn="l">
              <a:lnSpc>
                <a:spcPts val="2879"/>
              </a:lnSpc>
            </a:pPr>
            <a:r>
              <a:rPr lang="en-US" sz="2400" b="true">
                <a:solidFill>
                  <a:srgbClr val="F5F8FC"/>
                </a:solidFill>
                <a:latin typeface="Aptos Bold"/>
                <a:ea typeface="Aptos Bold"/>
                <a:cs typeface="Aptos Bold"/>
                <a:sym typeface="Aptos Bold"/>
              </a:rPr>
              <a:t>Next passive baseline</a:t>
            </a:r>
          </a:p>
        </p:txBody>
      </p:sp>
      <p:sp>
        <p:nvSpPr>
          <p:cNvPr name="TextBox 32" id="32"/>
          <p:cNvSpPr txBox="true"/>
          <p:nvPr/>
        </p:nvSpPr>
        <p:spPr>
          <a:xfrm rot="0">
            <a:off x="11772900" y="6935724"/>
            <a:ext cx="4503420" cy="544068"/>
          </a:xfrm>
          <a:prstGeom prst="rect">
            <a:avLst/>
          </a:prstGeom>
        </p:spPr>
        <p:txBody>
          <a:bodyPr anchor="t" rtlCol="false" tIns="0" lIns="0" bIns="0" rIns="0">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name="TextBox 33" id="33"/>
          <p:cNvSpPr txBox="true"/>
          <p:nvPr/>
        </p:nvSpPr>
        <p:spPr>
          <a:xfrm rot="0">
            <a:off x="937260" y="8297799"/>
            <a:ext cx="14502384" cy="334137"/>
          </a:xfrm>
          <a:prstGeom prst="rect">
            <a:avLst/>
          </a:prstGeom>
        </p:spPr>
        <p:txBody>
          <a:bodyPr anchor="t" rtlCol="false" tIns="0" lIns="0" bIns="0" rIns="0">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name="TextBox 34" id="34"/>
          <p:cNvSpPr txBox="true"/>
          <p:nvPr/>
        </p:nvSpPr>
        <p:spPr>
          <a:xfrm rot="0">
            <a:off x="937260" y="8924544"/>
            <a:ext cx="13267944" cy="256032"/>
          </a:xfrm>
          <a:prstGeom prst="rect">
            <a:avLst/>
          </a:prstGeom>
        </p:spPr>
        <p:txBody>
          <a:bodyPr anchor="t" rtlCol="false" tIns="0" lIns="0" bIns="0" rIns="0">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name="TextBox 35" id="35"/>
          <p:cNvSpPr txBox="true"/>
          <p:nvPr/>
        </p:nvSpPr>
        <p:spPr>
          <a:xfrm rot="0">
            <a:off x="16175736" y="8867394"/>
            <a:ext cx="786384" cy="313182"/>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4.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98145"/>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DIETHE PILOT RESULT</a:t>
            </a:r>
          </a:p>
        </p:txBody>
      </p:sp>
      <p:sp>
        <p:nvSpPr>
          <p:cNvPr name="TextBox 3" id="3"/>
          <p:cNvSpPr txBox="true"/>
          <p:nvPr/>
        </p:nvSpPr>
        <p:spPr>
          <a:xfrm rot="0">
            <a:off x="918972" y="1211580"/>
            <a:ext cx="16459200" cy="868680"/>
          </a:xfrm>
          <a:prstGeom prst="rect">
            <a:avLst/>
          </a:prstGeom>
        </p:spPr>
        <p:txBody>
          <a:bodyPr anchor="t" rtlCol="false" tIns="0" lIns="0" bIns="0" rIns="0">
            <a:spAutoFit/>
          </a:bodyPr>
          <a:lstStyle/>
          <a:p>
            <a:pPr algn="l">
              <a:lnSpc>
                <a:spcPts val="4680"/>
              </a:lnSpc>
            </a:pPr>
            <a:r>
              <a:rPr lang="en-US" sz="3900" b="true">
                <a:solidFill>
                  <a:srgbClr val="EAF2F8"/>
                </a:solidFill>
                <a:latin typeface="DejaVu Sans Bold"/>
                <a:ea typeface="DejaVu Sans Bold"/>
                <a:cs typeface="DejaVu Sans Bold"/>
                <a:sym typeface="DejaVu Sans Bold"/>
              </a:rPr>
              <a:t>A detected shift does not guarantee a useful update</a:t>
            </a:r>
          </a:p>
        </p:txBody>
      </p:sp>
      <p:sp>
        <p:nvSpPr>
          <p:cNvPr name="TextBox 4" id="4"/>
          <p:cNvSpPr txBox="true"/>
          <p:nvPr/>
        </p:nvSpPr>
        <p:spPr>
          <a:xfrm rot="0">
            <a:off x="1028700" y="2367915"/>
            <a:ext cx="16184880" cy="603885"/>
          </a:xfrm>
          <a:prstGeom prst="rect">
            <a:avLst/>
          </a:prstGeom>
        </p:spPr>
        <p:txBody>
          <a:bodyPr anchor="t" rtlCol="false" tIns="0" lIns="0" bIns="0" rIns="0">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name="Table 5" id="5"/>
          <p:cNvGraphicFramePr>
            <a:graphicFrameLocks noGrp="true"/>
          </p:cNvGraphicFramePr>
          <p:nvPr/>
        </p:nvGraphicFramePr>
        <p:xfrm>
          <a:off x="1028700" y="3223260"/>
          <a:ext cx="16135350" cy="3543300"/>
        </p:xfrm>
        <a:graphic>
          <a:graphicData uri="http://schemas.openxmlformats.org/drawingml/2006/table">
            <a:tbl>
              <a:tblPr/>
              <a:tblGrid>
                <a:gridCol w="6016571"/>
                <a:gridCol w="3281766"/>
                <a:gridCol w="3008286"/>
                <a:gridCol w="3828727"/>
              </a:tblGrid>
              <a:tr h="590550">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Policy</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Accuracy</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Updates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Gain vs never</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5905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Never</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97.92%</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0.00 pp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5905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Periodic</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98.33%</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12</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+0.42 pp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5905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Warning</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97.50%</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3</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−0.42 pp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5905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Validated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97.50%</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1</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−0.42 pp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59055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Performance drop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97.92%</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0.00 pp</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6" id="6"/>
          <p:cNvSpPr txBox="true"/>
          <p:nvPr/>
        </p:nvSpPr>
        <p:spPr>
          <a:xfrm rot="0">
            <a:off x="1028700" y="7305675"/>
            <a:ext cx="16184880" cy="946785"/>
          </a:xfrm>
          <a:prstGeom prst="rect">
            <a:avLst/>
          </a:prstGeom>
        </p:spPr>
        <p:txBody>
          <a:bodyPr anchor="t" rtlCol="false" tIns="0" lIns="0" bIns="0" rIns="0">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name="TextBox 7" id="7"/>
          <p:cNvSpPr txBox="true"/>
          <p:nvPr/>
        </p:nvSpPr>
        <p:spPr>
          <a:xfrm rot="0">
            <a:off x="1028700" y="8489442"/>
            <a:ext cx="16184880" cy="476250"/>
          </a:xfrm>
          <a:prstGeom prst="rect">
            <a:avLst/>
          </a:prstGeom>
        </p:spPr>
        <p:txBody>
          <a:bodyPr anchor="t" rtlCol="false" tIns="0" lIns="0" bIns="0" rIns="0">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name="TextBox 8" id="8"/>
          <p:cNvSpPr txBox="true"/>
          <p:nvPr/>
        </p:nvSpPr>
        <p:spPr>
          <a:xfrm rot="0">
            <a:off x="1028700" y="9184767"/>
            <a:ext cx="16184880" cy="356997"/>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name="TextBox 9" id="9"/>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name="TextBox 10" id="10"/>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4400" y="590550"/>
            <a:ext cx="8572500" cy="352425"/>
          </a:xfrm>
          <a:prstGeom prst="rect">
            <a:avLst/>
          </a:prstGeom>
        </p:spPr>
        <p:txBody>
          <a:bodyPr anchor="t" rtlCol="false" tIns="0" lIns="0" bIns="0" rIns="0">
            <a:spAutoFit/>
          </a:bodyPr>
          <a:lstStyle/>
          <a:p>
            <a:pPr algn="l">
              <a:lnSpc>
                <a:spcPts val="1755"/>
              </a:lnSpc>
            </a:pPr>
            <a:r>
              <a:rPr lang="en-US" sz="1462" b="true">
                <a:solidFill>
                  <a:srgbClr val="2DD4BF"/>
                </a:solidFill>
                <a:latin typeface="DejaVu Sans Bold"/>
                <a:ea typeface="DejaVu Sans Bold"/>
                <a:cs typeface="DejaVu Sans Bold"/>
                <a:sym typeface="DejaVu Sans Bold"/>
              </a:rPr>
              <a:t>TRACKED EXPERIMENT RESULTS</a:t>
            </a:r>
          </a:p>
        </p:txBody>
      </p:sp>
      <p:sp>
        <p:nvSpPr>
          <p:cNvPr name="TextBox 3" id="3"/>
          <p:cNvSpPr txBox="true"/>
          <p:nvPr/>
        </p:nvSpPr>
        <p:spPr>
          <a:xfrm rot="0">
            <a:off x="914400" y="1028700"/>
            <a:ext cx="16430625" cy="828675"/>
          </a:xfrm>
          <a:prstGeom prst="rect">
            <a:avLst/>
          </a:prstGeom>
        </p:spPr>
        <p:txBody>
          <a:bodyPr anchor="t" rtlCol="false" tIns="0" lIns="0" bIns="0" rIns="0">
            <a:spAutoFit/>
          </a:bodyPr>
          <a:lstStyle/>
          <a:p>
            <a:pPr algn="l">
              <a:lnSpc>
                <a:spcPts val="4590"/>
              </a:lnSpc>
            </a:pPr>
            <a:r>
              <a:rPr lang="en-US" sz="3825" b="true">
                <a:solidFill>
                  <a:srgbClr val="EAF2F8"/>
                </a:solidFill>
                <a:latin typeface="DejaVu Sans Bold"/>
                <a:ea typeface="DejaVu Sans Bold"/>
                <a:cs typeface="DejaVu Sans Bold"/>
                <a:sym typeface="DejaVu Sans Bold"/>
              </a:rPr>
              <a:t>Classifier and complementary-monitoring results</a:t>
            </a:r>
          </a:p>
        </p:txBody>
      </p:sp>
      <p:sp>
        <p:nvSpPr>
          <p:cNvPr name="AutoShape 4" id="4"/>
          <p:cNvSpPr/>
          <p:nvPr/>
        </p:nvSpPr>
        <p:spPr>
          <a:xfrm rot="5940">
            <a:off x="900103" y="2047875"/>
            <a:ext cx="16487804" cy="0"/>
          </a:xfrm>
          <a:prstGeom prst="line">
            <a:avLst/>
          </a:prstGeom>
          <a:ln cap="rnd" w="19050">
            <a:solidFill>
              <a:srgbClr val="294057"/>
            </a:solidFill>
            <a:prstDash val="solid"/>
            <a:headEnd type="none" len="sm" w="sm"/>
            <a:tailEnd type="none" len="sm" w="sm"/>
          </a:ln>
        </p:spPr>
      </p:sp>
      <p:sp>
        <p:nvSpPr>
          <p:cNvPr name="TextBox 5" id="5"/>
          <p:cNvSpPr txBox="true"/>
          <p:nvPr/>
        </p:nvSpPr>
        <p:spPr>
          <a:xfrm rot="0">
            <a:off x="914400" y="9763125"/>
            <a:ext cx="6143625" cy="266700"/>
          </a:xfrm>
          <a:prstGeom prst="rect">
            <a:avLst/>
          </a:prstGeom>
        </p:spPr>
        <p:txBody>
          <a:bodyPr anchor="t" rtlCol="false" tIns="0" lIns="0" bIns="0" rIns="0">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6573500" y="9734550"/>
            <a:ext cx="800100" cy="295275"/>
          </a:xfrm>
          <a:prstGeom prst="rect">
            <a:avLst/>
          </a:prstGeom>
        </p:spPr>
        <p:txBody>
          <a:bodyPr anchor="t" rtlCol="false" tIns="0" lIns="0" bIns="0" rIns="0">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name="TextBox 7" id="7"/>
          <p:cNvSpPr txBox="true"/>
          <p:nvPr/>
        </p:nvSpPr>
        <p:spPr>
          <a:xfrm rot="0">
            <a:off x="1005840" y="2579370"/>
            <a:ext cx="6817995" cy="418147"/>
          </a:xfrm>
          <a:prstGeom prst="rect">
            <a:avLst/>
          </a:prstGeom>
        </p:spPr>
        <p:txBody>
          <a:bodyPr anchor="t" rtlCol="false" tIns="0" lIns="0" bIns="0" rIns="0">
            <a:spAutoFit/>
          </a:bodyPr>
          <a:lstStyle/>
          <a:p>
            <a:pPr algn="l">
              <a:lnSpc>
                <a:spcPts val="3104"/>
              </a:lnSpc>
            </a:pPr>
            <a:r>
              <a:rPr lang="en-US" sz="2587" b="true">
                <a:solidFill>
                  <a:srgbClr val="64D98B"/>
                </a:solidFill>
                <a:latin typeface="DejaVu Sans Bold"/>
                <a:ea typeface="DejaVu Sans Bold"/>
                <a:cs typeface="DejaVu Sans Bold"/>
                <a:sym typeface="DejaVu Sans Bold"/>
              </a:rPr>
              <a:t>Real EEG classifier benchmark</a:t>
            </a:r>
          </a:p>
        </p:txBody>
      </p:sp>
      <p:sp>
        <p:nvSpPr>
          <p:cNvPr name="TextBox 8" id="8"/>
          <p:cNvSpPr txBox="true"/>
          <p:nvPr/>
        </p:nvSpPr>
        <p:spPr>
          <a:xfrm rot="0">
            <a:off x="1005840" y="3179445"/>
            <a:ext cx="6960870" cy="318135"/>
          </a:xfrm>
          <a:prstGeom prst="rect">
            <a:avLst/>
          </a:prstGeom>
        </p:spPr>
        <p:txBody>
          <a:bodyPr anchor="t" rtlCol="false" tIns="0" lIns="0" bIns="0" rIns="0">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name="TextBox 9" id="9"/>
          <p:cNvSpPr txBox="true"/>
          <p:nvPr/>
        </p:nvSpPr>
        <p:spPr>
          <a:xfrm rot="0">
            <a:off x="9449752" y="2579370"/>
            <a:ext cx="7675245" cy="418147"/>
          </a:xfrm>
          <a:prstGeom prst="rect">
            <a:avLst/>
          </a:prstGeom>
        </p:spPr>
        <p:txBody>
          <a:bodyPr anchor="t" rtlCol="false" tIns="0" lIns="0" bIns="0" rIns="0">
            <a:spAutoFit/>
          </a:bodyPr>
          <a:lstStyle/>
          <a:p>
            <a:pPr algn="l">
              <a:lnSpc>
                <a:spcPts val="3104"/>
              </a:lnSpc>
            </a:pPr>
            <a:r>
              <a:rPr lang="en-US" sz="2587" b="true">
                <a:solidFill>
                  <a:srgbClr val="2DD4BF"/>
                </a:solidFill>
                <a:latin typeface="DejaVu Sans Bold"/>
                <a:ea typeface="DejaVu Sans Bold"/>
                <a:cs typeface="DejaVu Sans Bold"/>
                <a:sym typeface="DejaVu Sans Bold"/>
              </a:rPr>
              <a:t>Complementary Stage-I monitoring</a:t>
            </a:r>
          </a:p>
        </p:txBody>
      </p:sp>
      <p:sp>
        <p:nvSpPr>
          <p:cNvPr name="TextBox 10" id="10"/>
          <p:cNvSpPr txBox="true"/>
          <p:nvPr/>
        </p:nvSpPr>
        <p:spPr>
          <a:xfrm rot="0">
            <a:off x="9449752" y="3179445"/>
            <a:ext cx="7675245" cy="561023"/>
          </a:xfrm>
          <a:prstGeom prst="rect">
            <a:avLst/>
          </a:prstGeom>
        </p:spPr>
        <p:txBody>
          <a:bodyPr anchor="t" rtlCol="false" tIns="0" lIns="0" bIns="0" rIns="0">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name="TextBox 11" id="11"/>
          <p:cNvSpPr txBox="true"/>
          <p:nvPr/>
        </p:nvSpPr>
        <p:spPr>
          <a:xfrm rot="0">
            <a:off x="1005840" y="6441758"/>
            <a:ext cx="7532370" cy="756285"/>
          </a:xfrm>
          <a:prstGeom prst="rect">
            <a:avLst/>
          </a:prstGeom>
        </p:spPr>
        <p:txBody>
          <a:bodyPr anchor="t" rtlCol="false" tIns="0" lIns="0" bIns="0" rIns="0">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name="TextBox 12" id="12"/>
          <p:cNvSpPr txBox="true"/>
          <p:nvPr/>
        </p:nvSpPr>
        <p:spPr>
          <a:xfrm rot="0">
            <a:off x="1005840" y="7508557"/>
            <a:ext cx="7532370" cy="689610"/>
          </a:xfrm>
          <a:prstGeom prst="rect">
            <a:avLst/>
          </a:prstGeom>
        </p:spPr>
        <p:txBody>
          <a:bodyPr anchor="t" rtlCol="false" tIns="0" lIns="0" bIns="0" rIns="0">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name="TextBox 13" id="13"/>
          <p:cNvSpPr txBox="true"/>
          <p:nvPr/>
        </p:nvSpPr>
        <p:spPr>
          <a:xfrm rot="0">
            <a:off x="9449752" y="7108507"/>
            <a:ext cx="7746682" cy="675323"/>
          </a:xfrm>
          <a:prstGeom prst="rect">
            <a:avLst/>
          </a:prstGeom>
        </p:spPr>
        <p:txBody>
          <a:bodyPr anchor="t" rtlCol="false" tIns="0" lIns="0" bIns="0" rIns="0">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name="TextBox 14" id="14"/>
          <p:cNvSpPr txBox="true"/>
          <p:nvPr/>
        </p:nvSpPr>
        <p:spPr>
          <a:xfrm rot="0">
            <a:off x="9449752" y="8008620"/>
            <a:ext cx="7746682" cy="632460"/>
          </a:xfrm>
          <a:prstGeom prst="rect">
            <a:avLst/>
          </a:prstGeom>
        </p:spPr>
        <p:txBody>
          <a:bodyPr anchor="t" rtlCol="false" tIns="0" lIns="0" bIns="0" rIns="0">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name="TextBox 15" id="15"/>
          <p:cNvSpPr txBox="true"/>
          <p:nvPr/>
        </p:nvSpPr>
        <p:spPr>
          <a:xfrm rot="0">
            <a:off x="1005840" y="9123045"/>
            <a:ext cx="16104870" cy="318135"/>
          </a:xfrm>
          <a:prstGeom prst="rect">
            <a:avLst/>
          </a:prstGeom>
        </p:spPr>
        <p:txBody>
          <a:bodyPr anchor="t" rtlCol="false" tIns="0" lIns="0" bIns="0" rIns="0">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name="Table 16" id="16"/>
          <p:cNvGraphicFramePr>
            <a:graphicFrameLocks noGrp="true"/>
          </p:cNvGraphicFramePr>
          <p:nvPr/>
        </p:nvGraphicFramePr>
        <p:xfrm>
          <a:off x="914400" y="3971925"/>
          <a:ext cx="7124700" cy="2114550"/>
        </p:xfrm>
        <a:graphic>
          <a:graphicData uri="http://schemas.openxmlformats.org/drawingml/2006/table">
            <a:tbl>
              <a:tblPr/>
              <a:tblGrid>
                <a:gridCol w="1852422"/>
                <a:gridCol w="2564892"/>
                <a:gridCol w="2707386"/>
              </a:tblGrid>
              <a:tr h="704850">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Dataset</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Single SVM</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Bagged SVM</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r>
              <a:tr h="704850">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r>
              <a:tr h="704850">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r>
            </a:tbl>
          </a:graphicData>
        </a:graphic>
      </p:graphicFrame>
      <p:graphicFrame>
        <p:nvGraphicFramePr>
          <p:cNvPr name="Table 17" id="17"/>
          <p:cNvGraphicFramePr>
            <a:graphicFrameLocks noGrp="true"/>
          </p:cNvGraphicFramePr>
          <p:nvPr/>
        </p:nvGraphicFramePr>
        <p:xfrm>
          <a:off x="9358312" y="3971925"/>
          <a:ext cx="7886700" cy="2819400"/>
        </p:xfrm>
        <a:graphic>
          <a:graphicData uri="http://schemas.openxmlformats.org/drawingml/2006/table">
            <a:tbl>
              <a:tblPr/>
              <a:tblGrid>
                <a:gridCol w="1634181"/>
                <a:gridCol w="1776284"/>
                <a:gridCol w="2131541"/>
                <a:gridCol w="2344695"/>
              </a:tblGrid>
              <a:tr h="704850">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Shift</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Score</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Residual</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c>
                  <a:txBody>
                    <a:bodyPr anchor="t" rtlCol="false"/>
                    <a:lstStyle/>
                    <a:p>
                      <a:pPr algn="l">
                        <a:lnSpc>
                          <a:spcPts val="2295"/>
                        </a:lnSpc>
                        <a:defRPr/>
                      </a:pPr>
                      <a:r>
                        <a:rPr lang="en-US" sz="1912" b="true">
                          <a:solidFill>
                            <a:srgbClr val="2DD4BF"/>
                          </a:solidFill>
                          <a:latin typeface="DejaVu Sans Bold"/>
                          <a:ea typeface="DejaVu Sans Bold"/>
                          <a:cs typeface="DejaVu Sans Bold"/>
                          <a:sym typeface="DejaVu Sans Bold"/>
                        </a:rPr>
                        <a:t>Combined</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22B3E"/>
                    </a:solidFill>
                  </a:tcPr>
                </a:tc>
              </a:tr>
              <a:tr h="704850">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r>
              <a:tr h="704850">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r>
              <a:tr h="704850">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c>
                  <a:txBody>
                    <a:bodyPr anchor="t" rtlCol="false"/>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1D2C"/>
                    </a:solidFill>
                  </a:tcPr>
                </a:tc>
              </a:tr>
            </a:tbl>
          </a:graphicData>
        </a:graphic>
      </p:graphicFrame>
      <p:grpSp>
        <p:nvGrpSpPr>
          <p:cNvPr name="Group 18" id="18"/>
          <p:cNvGrpSpPr/>
          <p:nvPr/>
        </p:nvGrpSpPr>
        <p:grpSpPr>
          <a:xfrm rot="0">
            <a:off x="13089255" y="8658987"/>
            <a:ext cx="3832098" cy="361950"/>
            <a:chOff x="0" y="0"/>
            <a:chExt cx="5109464" cy="482600"/>
          </a:xfrm>
        </p:grpSpPr>
        <p:sp>
          <p:nvSpPr>
            <p:cNvPr name="Freeform 19" id="19"/>
            <p:cNvSpPr/>
            <p:nvPr/>
          </p:nvSpPr>
          <p:spPr>
            <a:xfrm flipH="false" flipV="false" rot="0">
              <a:off x="0" y="0"/>
              <a:ext cx="5109464" cy="482600"/>
            </a:xfrm>
            <a:custGeom>
              <a:avLst/>
              <a:gdLst/>
              <a:ahLst/>
              <a:cxnLst/>
              <a:rect r="r" b="b" t="t" l="l"/>
              <a:pathLst>
                <a:path h="482600" w="5109464">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sp>
      </p:grpSp>
      <p:grpSp>
        <p:nvGrpSpPr>
          <p:cNvPr name="Group 20" id="20"/>
          <p:cNvGrpSpPr/>
          <p:nvPr/>
        </p:nvGrpSpPr>
        <p:grpSpPr>
          <a:xfrm rot="0">
            <a:off x="14785848" y="8738902"/>
            <a:ext cx="914962" cy="250288"/>
            <a:chOff x="0" y="0"/>
            <a:chExt cx="1219949" cy="333718"/>
          </a:xfrm>
        </p:grpSpPr>
        <p:sp>
          <p:nvSpPr>
            <p:cNvPr name="Freeform 21" id="21" descr="formula_relation.png"/>
            <p:cNvSpPr/>
            <p:nvPr/>
          </p:nvSpPr>
          <p:spPr>
            <a:xfrm flipH="false" flipV="false" rot="0">
              <a:off x="0" y="0"/>
              <a:ext cx="1219962" cy="333756"/>
            </a:xfrm>
            <a:custGeom>
              <a:avLst/>
              <a:gdLst/>
              <a:ahLst/>
              <a:cxnLst/>
              <a:rect r="r" b="b" t="t" l="l"/>
              <a:pathLst>
                <a:path h="333756" w="1219962">
                  <a:moveTo>
                    <a:pt x="0" y="0"/>
                  </a:moveTo>
                  <a:lnTo>
                    <a:pt x="1219962" y="0"/>
                  </a:lnTo>
                  <a:lnTo>
                    <a:pt x="1219962" y="333756"/>
                  </a:lnTo>
                  <a:lnTo>
                    <a:pt x="0" y="333756"/>
                  </a:lnTo>
                  <a:lnTo>
                    <a:pt x="0" y="0"/>
                  </a:lnTo>
                  <a:close/>
                </a:path>
              </a:pathLst>
            </a:custGeom>
            <a:blipFill>
              <a:blip r:embed="rId3"/>
              <a:stretch>
                <a:fillRect l="0" t="0" r="1" b="11"/>
              </a:stretch>
            </a:blipFill>
          </p:spPr>
        </p:sp>
      </p:grpSp>
    </p:spTree>
  </p:cSld>
  <p:clrMapOvr>
    <a:masterClrMapping/>
  </p:clrMapOvr>
</p:sld>
</file>

<file path=ppt/slides/slide36.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REPRODUCTION EVIDENCE</a:t>
            </a:r>
          </a:p>
        </p:txBody>
      </p:sp>
      <p:sp>
        <p:nvSpPr>
          <p:cNvPr name="TextBox 3" id="3"/>
          <p:cNvSpPr txBox="true"/>
          <p:nvPr/>
        </p:nvSpPr>
        <p:spPr>
          <a:xfrm rot="0">
            <a:off x="918972" y="1202055"/>
            <a:ext cx="16459200" cy="87820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B01: two saved runs give different validation totals</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6" id="6"/>
          <p:cNvGraphicFramePr>
            <a:graphicFrameLocks noGrp="true"/>
          </p:cNvGraphicFramePr>
          <p:nvPr/>
        </p:nvGraphicFramePr>
        <p:xfrm>
          <a:off x="1028700" y="2674620"/>
          <a:ext cx="16154400" cy="3429000"/>
        </p:xfrm>
        <a:graphic>
          <a:graphicData uri="http://schemas.openxmlformats.org/drawingml/2006/table">
            <a:tbl>
              <a:tblPr/>
              <a:tblGrid>
                <a:gridCol w="9583119"/>
                <a:gridCol w="3285641"/>
                <a:gridCol w="3285641"/>
              </a:tblGrid>
              <a:tr h="857250">
                <a:tc>
                  <a:txBody>
                    <a:bodyPr anchor="t" rtlCol="false"/>
                    <a:lstStyle/>
                    <a:p>
                      <a:pPr algn="l">
                        <a:lnSpc>
                          <a:spcPts val="3600"/>
                        </a:lnSpc>
                        <a:defRPr/>
                      </a:pPr>
                      <a:r>
                        <a:rPr lang="en-US" sz="3000" b="true">
                          <a:solidFill>
                            <a:srgbClr val="FFFFFF"/>
                          </a:solidFill>
                          <a:latin typeface="DejaVu Sans Bold"/>
                          <a:ea typeface="DejaVu Sans Bold"/>
                          <a:cs typeface="DejaVu Sans Bold"/>
                          <a:sym typeface="DejaVu Sans Bold"/>
                        </a:rPr>
                        <a:t>B01 evidence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600"/>
                        </a:lnSpc>
                        <a:defRPr/>
                      </a:pPr>
                      <a:r>
                        <a:rPr lang="en-US" sz="3000" b="true">
                          <a:solidFill>
                            <a:srgbClr val="FFFFFF"/>
                          </a:solidFill>
                          <a:latin typeface="DejaVu Sans Bold"/>
                          <a:ea typeface="DejaVu Sans Bold"/>
                          <a:cs typeface="DejaVu Sans Bold"/>
                          <a:sym typeface="DejaVu Sans Bold"/>
                        </a:rPr>
                        <a:t>Warnings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600"/>
                        </a:lnSpc>
                        <a:defRPr/>
                      </a:pPr>
                      <a:r>
                        <a:rPr lang="en-US" sz="3000" b="true">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857250">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Published reference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14</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10</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57250">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Standalone diagnostic</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17</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5</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57250">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Combined Table-I file</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17</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600"/>
                        </a:lnSpc>
                        <a:defRPr/>
                      </a:pPr>
                      <a:r>
                        <a:rPr lang="en-US" sz="3000">
                          <a:solidFill>
                            <a:srgbClr val="000000"/>
                          </a:solidFill>
                          <a:latin typeface="DejaVu Sans Light"/>
                          <a:ea typeface="DejaVu Sans Light"/>
                          <a:cs typeface="DejaVu Sans Light"/>
                          <a:sym typeface="DejaVu Sans Light"/>
                        </a:rPr>
                        <a:t>0</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7" id="7"/>
          <p:cNvSpPr txBox="true"/>
          <p:nvPr/>
        </p:nvSpPr>
        <p:spPr>
          <a:xfrm rot="0">
            <a:off x="1028700" y="6592443"/>
            <a:ext cx="16184880" cy="466725"/>
          </a:xfrm>
          <a:prstGeom prst="rect">
            <a:avLst/>
          </a:prstGeom>
        </p:spPr>
        <p:txBody>
          <a:bodyPr anchor="t" rtlCol="false" tIns="0" lIns="0" bIns="0" rIns="0">
            <a:spAutoFit/>
          </a:bodyPr>
          <a:lstStyle/>
          <a:p>
            <a:pPr algn="l">
              <a:lnSpc>
                <a:spcPts val="3960"/>
              </a:lnSpc>
            </a:pPr>
            <a:r>
              <a:rPr lang="en-US" sz="3300" b="true">
                <a:solidFill>
                  <a:srgbClr val="78D8CC"/>
                </a:solidFill>
                <a:latin typeface="DejaVu Sans Bold"/>
                <a:ea typeface="DejaVu Sans Bold"/>
                <a:cs typeface="DejaVu Sans Bold"/>
                <a:sym typeface="DejaVu Sans Bold"/>
              </a:rPr>
              <a:t>What this means</a:t>
            </a:r>
          </a:p>
        </p:txBody>
      </p:sp>
      <p:sp>
        <p:nvSpPr>
          <p:cNvPr name="TextBox 8" id="8"/>
          <p:cNvSpPr txBox="true"/>
          <p:nvPr/>
        </p:nvSpPr>
        <p:spPr>
          <a:xfrm rot="0">
            <a:off x="1028700" y="7260336"/>
            <a:ext cx="16184880" cy="800100"/>
          </a:xfrm>
          <a:prstGeom prst="rect">
            <a:avLst/>
          </a:prstGeom>
        </p:spPr>
        <p:txBody>
          <a:bodyPr anchor="t" rtlCol="false" tIns="0" lIns="0" bIns="0" rIns="0">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name="TextBox 9" id="9"/>
          <p:cNvSpPr txBox="true"/>
          <p:nvPr/>
        </p:nvSpPr>
        <p:spPr>
          <a:xfrm rot="0">
            <a:off x="1028700" y="8306943"/>
            <a:ext cx="16184880" cy="535305"/>
          </a:xfrm>
          <a:prstGeom prst="rect">
            <a:avLst/>
          </a:prstGeom>
        </p:spPr>
        <p:txBody>
          <a:bodyPr anchor="t" rtlCol="false" tIns="0" lIns="0" bIns="0" rIns="0">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name="TextBox 10" id="10"/>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7.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MANUSCRIPT EVIDENCE</a:t>
            </a:r>
          </a:p>
        </p:txBody>
      </p:sp>
      <p:sp>
        <p:nvSpPr>
          <p:cNvPr name="TextBox 3" id="3"/>
          <p:cNvSpPr txBox="true"/>
          <p:nvPr/>
        </p:nvSpPr>
        <p:spPr>
          <a:xfrm rot="0">
            <a:off x="918972" y="1202055"/>
            <a:ext cx="16459200" cy="87820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Numerical reproduction remains unresolved</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6" id="6"/>
          <p:cNvGraphicFramePr>
            <a:graphicFrameLocks noGrp="true"/>
          </p:cNvGraphicFramePr>
          <p:nvPr/>
        </p:nvGraphicFramePr>
        <p:xfrm>
          <a:off x="1028700" y="2674620"/>
          <a:ext cx="16154400" cy="2514600"/>
        </p:xfrm>
        <a:graphic>
          <a:graphicData uri="http://schemas.openxmlformats.org/drawingml/2006/table">
            <a:tbl>
              <a:tblPr/>
              <a:tblGrid>
                <a:gridCol w="9583119"/>
                <a:gridCol w="3285641"/>
                <a:gridCol w="3285641"/>
              </a:tblGrid>
              <a:tr h="838200">
                <a:tc>
                  <a:txBody>
                    <a:bodyPr anchor="t" rtlCol="false"/>
                    <a:lstStyle/>
                    <a:p>
                      <a:pPr algn="l">
                        <a:lnSpc>
                          <a:spcPts val="3779"/>
                        </a:lnSpc>
                        <a:defRPr/>
                      </a:pPr>
                      <a:r>
                        <a:rPr lang="en-US" sz="3150" b="true">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779"/>
                        </a:lnSpc>
                        <a:defRPr/>
                      </a:pPr>
                      <a:r>
                        <a:rPr lang="en-US" sz="3150" b="true">
                          <a:solidFill>
                            <a:srgbClr val="FFFFFF"/>
                          </a:solidFill>
                          <a:latin typeface="DejaVu Sans Bold"/>
                          <a:ea typeface="DejaVu Sans Bold"/>
                          <a:cs typeface="DejaVu Sans Bold"/>
                          <a:sym typeface="DejaVu Sans Bold"/>
                        </a:rPr>
                        <a:t>Computed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779"/>
                        </a:lnSpc>
                        <a:defRPr/>
                      </a:pPr>
                      <a:r>
                        <a:rPr lang="en-US" sz="3150" b="true">
                          <a:solidFill>
                            <a:srgbClr val="FFFFFF"/>
                          </a:solidFill>
                          <a:latin typeface="DejaVu Sans Bold"/>
                          <a:ea typeface="DejaVu Sans Bold"/>
                          <a:cs typeface="DejaVu Sans Bold"/>
                          <a:sym typeface="DejaVu Sans Bold"/>
                        </a:rPr>
                        <a:t>Published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838200">
                <a:tc>
                  <a:txBody>
                    <a:bodyPr anchor="t" rtlCol="false"/>
                    <a:lstStyle/>
                    <a:p>
                      <a:pPr algn="l">
                        <a:lnSpc>
                          <a:spcPts val="3779"/>
                        </a:lnSpc>
                        <a:defRPr/>
                      </a:pPr>
                      <a:r>
                        <a:rPr lang="en-US" sz="3150">
                          <a:solidFill>
                            <a:srgbClr val="000000"/>
                          </a:solidFill>
                          <a:latin typeface="DejaVu Sans Light"/>
                          <a:ea typeface="DejaVu Sans Light"/>
                          <a:cs typeface="DejaVu Sans Light"/>
                          <a:sym typeface="DejaVu Sans Light"/>
                        </a:rPr>
                        <a:t>Dataset 2A</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779"/>
                        </a:lnSpc>
                        <a:defRPr/>
                      </a:pPr>
                      <a:r>
                        <a:rPr lang="en-US" sz="3150">
                          <a:solidFill>
                            <a:srgbClr val="000000"/>
                          </a:solidFill>
                          <a:latin typeface="DejaVu Sans Light"/>
                          <a:ea typeface="DejaVu Sans Light"/>
                          <a:cs typeface="DejaVu Sans Light"/>
                          <a:sym typeface="DejaVu Sans Light"/>
                        </a:rPr>
                        <a:t>0.33</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779"/>
                        </a:lnSpc>
                        <a:defRPr/>
                      </a:pPr>
                      <a:r>
                        <a:rPr lang="en-US" sz="3150">
                          <a:solidFill>
                            <a:srgbClr val="000000"/>
                          </a:solidFill>
                          <a:latin typeface="DejaVu Sans Light"/>
                          <a:ea typeface="DejaVu Sans Light"/>
                          <a:cs typeface="DejaVu Sans Light"/>
                          <a:sym typeface="DejaVu Sans Light"/>
                        </a:rPr>
                        <a:t>5.56</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38200">
                <a:tc>
                  <a:txBody>
                    <a:bodyPr anchor="t" rtlCol="false"/>
                    <a:lstStyle/>
                    <a:p>
                      <a:pPr algn="l">
                        <a:lnSpc>
                          <a:spcPts val="3779"/>
                        </a:lnSpc>
                        <a:defRPr/>
                      </a:pPr>
                      <a:r>
                        <a:rPr lang="en-US" sz="3150">
                          <a:solidFill>
                            <a:srgbClr val="000000"/>
                          </a:solidFill>
                          <a:latin typeface="DejaVu Sans Light"/>
                          <a:ea typeface="DejaVu Sans Light"/>
                          <a:cs typeface="DejaVu Sans Light"/>
                          <a:sym typeface="DejaVu Sans Light"/>
                        </a:rPr>
                        <a:t>Dataset 2B</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779"/>
                        </a:lnSpc>
                        <a:defRPr/>
                      </a:pPr>
                      <a:r>
                        <a:rPr lang="en-US" sz="3150">
                          <a:solidFill>
                            <a:srgbClr val="000000"/>
                          </a:solidFill>
                          <a:latin typeface="DejaVu Sans Light"/>
                          <a:ea typeface="DejaVu Sans Light"/>
                          <a:cs typeface="DejaVu Sans Light"/>
                          <a:sym typeface="DejaVu Sans Light"/>
                        </a:rPr>
                        <a:t>0.67</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779"/>
                        </a:lnSpc>
                        <a:defRPr/>
                      </a:pPr>
                      <a:r>
                        <a:rPr lang="en-US" sz="3150">
                          <a:solidFill>
                            <a:srgbClr val="000000"/>
                          </a:solidFill>
                          <a:latin typeface="DejaVu Sans Light"/>
                          <a:ea typeface="DejaVu Sans Light"/>
                          <a:cs typeface="DejaVu Sans Light"/>
                          <a:sym typeface="DejaVu Sans Light"/>
                        </a:rPr>
                        <a:t>10.33</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7" id="7"/>
          <p:cNvSpPr txBox="true"/>
          <p:nvPr/>
        </p:nvSpPr>
        <p:spPr>
          <a:xfrm rot="0">
            <a:off x="1028700" y="5796915"/>
            <a:ext cx="7543800" cy="466725"/>
          </a:xfrm>
          <a:prstGeom prst="rect">
            <a:avLst/>
          </a:prstGeom>
        </p:spPr>
        <p:txBody>
          <a:bodyPr anchor="t" rtlCol="false" tIns="0" lIns="0" bIns="0" rIns="0">
            <a:spAutoFit/>
          </a:bodyPr>
          <a:lstStyle/>
          <a:p>
            <a:pPr algn="l">
              <a:lnSpc>
                <a:spcPts val="3960"/>
              </a:lnSpc>
            </a:pPr>
            <a:r>
              <a:rPr lang="en-US" sz="3300" b="true">
                <a:solidFill>
                  <a:srgbClr val="78D8CC"/>
                </a:solidFill>
                <a:latin typeface="DejaVu Sans Bold"/>
                <a:ea typeface="DejaVu Sans Bold"/>
                <a:cs typeface="DejaVu Sans Bold"/>
                <a:sym typeface="DejaVu Sans Bold"/>
              </a:rPr>
              <a:t>Evidence available</a:t>
            </a:r>
          </a:p>
        </p:txBody>
      </p:sp>
      <p:sp>
        <p:nvSpPr>
          <p:cNvPr name="TextBox 8" id="8"/>
          <p:cNvSpPr txBox="true"/>
          <p:nvPr/>
        </p:nvSpPr>
        <p:spPr>
          <a:xfrm rot="0">
            <a:off x="1028700" y="6578727"/>
            <a:ext cx="7543800" cy="1769745"/>
          </a:xfrm>
          <a:prstGeom prst="rect">
            <a:avLst/>
          </a:prstGeom>
        </p:spPr>
        <p:txBody>
          <a:bodyPr anchor="t" rtlCol="false" tIns="0" lIns="0" bIns="0" rIns="0">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name="TextBox 9" id="9"/>
          <p:cNvSpPr txBox="true"/>
          <p:nvPr/>
        </p:nvSpPr>
        <p:spPr>
          <a:xfrm rot="0">
            <a:off x="9464040" y="5796915"/>
            <a:ext cx="7543800" cy="466725"/>
          </a:xfrm>
          <a:prstGeom prst="rect">
            <a:avLst/>
          </a:prstGeom>
        </p:spPr>
        <p:txBody>
          <a:bodyPr anchor="t" rtlCol="false" tIns="0" lIns="0" bIns="0" rIns="0">
            <a:spAutoFit/>
          </a:bodyPr>
          <a:lstStyle/>
          <a:p>
            <a:pPr algn="l">
              <a:lnSpc>
                <a:spcPts val="3960"/>
              </a:lnSpc>
            </a:pPr>
            <a:r>
              <a:rPr lang="en-US" sz="3300" b="true">
                <a:solidFill>
                  <a:srgbClr val="78D8CC"/>
                </a:solidFill>
                <a:latin typeface="DejaVu Sans Bold"/>
                <a:ea typeface="DejaVu Sans Bold"/>
                <a:cs typeface="DejaVu Sans Bold"/>
                <a:sym typeface="DejaVu Sans Bold"/>
              </a:rPr>
              <a:t>Evidence to complete</a:t>
            </a:r>
          </a:p>
        </p:txBody>
      </p:sp>
      <p:sp>
        <p:nvSpPr>
          <p:cNvPr name="TextBox 10" id="10"/>
          <p:cNvSpPr txBox="true"/>
          <p:nvPr/>
        </p:nvSpPr>
        <p:spPr>
          <a:xfrm rot="0">
            <a:off x="9464040" y="6578727"/>
            <a:ext cx="7543800" cy="1769745"/>
          </a:xfrm>
          <a:prstGeom prst="rect">
            <a:avLst/>
          </a:prstGeom>
        </p:spPr>
        <p:txBody>
          <a:bodyPr anchor="t" rtlCol="false" tIns="0" lIns="0" bIns="0" rIns="0">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name="TextBox 11" id="11"/>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8.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PROJECT PROGRESS</a:t>
            </a:r>
          </a:p>
        </p:txBody>
      </p:sp>
      <p:sp>
        <p:nvSpPr>
          <p:cNvPr name="TextBox 3" id="3"/>
          <p:cNvSpPr txBox="true"/>
          <p:nvPr/>
        </p:nvSpPr>
        <p:spPr>
          <a:xfrm rot="0">
            <a:off x="918972" y="1154430"/>
            <a:ext cx="16459200" cy="9258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name="TextBox 4" id="4"/>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name="Table 5" id="5"/>
          <p:cNvGraphicFramePr>
            <a:graphicFrameLocks noGrp="true"/>
          </p:cNvGraphicFramePr>
          <p:nvPr/>
        </p:nvGraphicFramePr>
        <p:xfrm>
          <a:off x="1028700" y="2537460"/>
          <a:ext cx="16173450" cy="4800600"/>
        </p:xfrm>
        <a:graphic>
          <a:graphicData uri="http://schemas.openxmlformats.org/drawingml/2006/table">
            <a:tbl>
              <a:tblPr/>
              <a:tblGrid>
                <a:gridCol w="4248958"/>
                <a:gridCol w="11924492"/>
              </a:tblGrid>
              <a:tr h="800100">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Workstream</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c>
                  <a:txBody>
                    <a:bodyPr anchor="t" rtlCol="false"/>
                    <a:lstStyle/>
                    <a:p>
                      <a:pPr algn="l">
                        <a:lnSpc>
                          <a:spcPts val="3240"/>
                        </a:lnSpc>
                        <a:defRPr/>
                      </a:pPr>
                      <a:r>
                        <a:rPr lang="en-US" sz="2700" b="true">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42838"/>
                    </a:solidFill>
                  </a:tcPr>
                </a:tc>
              </a:tr>
              <a:tr h="8001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CSE reconstruction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EEG features, EWMA warnings and Stage-II diagnostics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001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Supervised adaptation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Predict first, then update using the revealed label</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001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Transductive adaptation</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PWKNN pseudo-labels; confidence-gated training updates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001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Policy experiments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Five Diethe-inspired policies on matched streams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r h="800100">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Evidence still needed</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c>
                  <a:txBody>
                    <a:bodyPr anchor="t" rtlCol="false"/>
                    <a:lstStyle/>
                    <a:p>
                      <a:pPr algn="l">
                        <a:lnSpc>
                          <a:spcPts val="3240"/>
                        </a:lnSpc>
                        <a:defRPr/>
                      </a:pPr>
                      <a:r>
                        <a:rPr lang="en-US" sz="2700">
                          <a:solidFill>
                            <a:srgbClr val="000000"/>
                          </a:solidFill>
                          <a:latin typeface="DejaVu Sans Light"/>
                          <a:ea typeface="DejaVu Sans Light"/>
                          <a:cs typeface="DejaVu Sans Light"/>
                          <a:sym typeface="DejaVu Sans Light"/>
                        </a:rPr>
                        <a:t>Matched reproduction runs and saved adaptation comparisons</a:t>
                      </a:r>
                      <a:endParaRPr lang="en-US" sz="1100"/>
                    </a:p>
                  </a:txBody>
                  <a:tcPr marL="100584" marR="100584" marT="100584" marB="100584"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1D2A"/>
                    </a:solidFill>
                  </a:tcPr>
                </a:tc>
              </a:tr>
            </a:tbl>
          </a:graphicData>
        </a:graphic>
      </p:graphicFrame>
      <p:sp>
        <p:nvSpPr>
          <p:cNvPr name="TextBox 6" id="6"/>
          <p:cNvSpPr txBox="true"/>
          <p:nvPr/>
        </p:nvSpPr>
        <p:spPr>
          <a:xfrm rot="0">
            <a:off x="1028700" y="7922895"/>
            <a:ext cx="16184880" cy="672465"/>
          </a:xfrm>
          <a:prstGeom prst="rect">
            <a:avLst/>
          </a:prstGeom>
        </p:spPr>
        <p:txBody>
          <a:bodyPr anchor="t" rtlCol="false" tIns="0" lIns="0" bIns="0" rIns="0">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name="TextBox 7" id="7"/>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39.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1005840" y="636270"/>
            <a:ext cx="8389620" cy="260985"/>
          </a:xfrm>
          <a:prstGeom prst="rect">
            <a:avLst/>
          </a:prstGeom>
        </p:spPr>
        <p:txBody>
          <a:bodyPr anchor="t" rtlCol="false" tIns="0" lIns="0" bIns="0" rIns="0">
            <a:spAutoFit/>
          </a:bodyPr>
          <a:lstStyle/>
          <a:p>
            <a:pPr algn="l">
              <a:lnSpc>
                <a:spcPts val="1755"/>
              </a:lnSpc>
            </a:pPr>
            <a:r>
              <a:rPr lang="en-US" sz="1462" b="true">
                <a:solidFill>
                  <a:srgbClr val="2DD4BF"/>
                </a:solidFill>
                <a:latin typeface="DejaVu Sans Bold"/>
                <a:ea typeface="DejaVu Sans Bold"/>
                <a:cs typeface="DejaVu Sans Bold"/>
                <a:sym typeface="DejaVu Sans Bold"/>
              </a:rPr>
              <a:t>PROJECT TIMELINE</a:t>
            </a:r>
          </a:p>
        </p:txBody>
      </p:sp>
      <p:sp>
        <p:nvSpPr>
          <p:cNvPr name="TextBox 3" id="3"/>
          <p:cNvSpPr txBox="true"/>
          <p:nvPr/>
        </p:nvSpPr>
        <p:spPr>
          <a:xfrm rot="0">
            <a:off x="1005840" y="1064895"/>
            <a:ext cx="16390620" cy="746760"/>
          </a:xfrm>
          <a:prstGeom prst="rect">
            <a:avLst/>
          </a:prstGeom>
        </p:spPr>
        <p:txBody>
          <a:bodyPr anchor="t" rtlCol="false" tIns="0" lIns="0" bIns="0" rIns="0">
            <a:spAutoFit/>
          </a:bodyPr>
          <a:lstStyle/>
          <a:p>
            <a:pPr algn="l">
              <a:lnSpc>
                <a:spcPts val="4320"/>
              </a:lnSpc>
            </a:pPr>
            <a:r>
              <a:rPr lang="en-US" sz="3600" b="true">
                <a:solidFill>
                  <a:srgbClr val="EAF2F8"/>
                </a:solidFill>
                <a:latin typeface="DejaVu Sans Bold"/>
                <a:ea typeface="DejaVu Sans Bold"/>
                <a:cs typeface="DejaVu Sans Bold"/>
                <a:sym typeface="DejaVu Sans Bold"/>
              </a:rPr>
              <a:t>First-year objectives across twelve months</a:t>
            </a:r>
          </a:p>
        </p:txBody>
      </p:sp>
      <p:sp>
        <p:nvSpPr>
          <p:cNvPr name="TextBox 4" id="4"/>
          <p:cNvSpPr txBox="true"/>
          <p:nvPr/>
        </p:nvSpPr>
        <p:spPr>
          <a:xfrm rot="0">
            <a:off x="1005840" y="2055495"/>
            <a:ext cx="16247745" cy="384810"/>
          </a:xfrm>
          <a:prstGeom prst="rect">
            <a:avLst/>
          </a:prstGeom>
        </p:spPr>
        <p:txBody>
          <a:bodyPr anchor="t" rtlCol="false" tIns="0" lIns="0" bIns="0" rIns="0">
            <a:spAutoFit/>
          </a:bodyPr>
          <a:lstStyle/>
          <a:p>
            <a:pPr algn="l">
              <a:lnSpc>
                <a:spcPts val="2430"/>
              </a:lnSpc>
            </a:pPr>
            <a:r>
              <a:rPr lang="en-US" sz="2025">
                <a:solidFill>
                  <a:srgbClr val="9CB0C3"/>
                </a:solidFill>
                <a:latin typeface="DejaVu Sans Light"/>
                <a:ea typeface="DejaVu Sans Light"/>
                <a:cs typeface="DejaVu Sans Light"/>
                <a:sym typeface="DejaVu Sans Light"/>
              </a:rPr>
              <a:t>Proposed October 2026 to September 2027 plan. Existing outputs provide the initial baseline.</a:t>
            </a:r>
          </a:p>
        </p:txBody>
      </p:sp>
      <p:sp>
        <p:nvSpPr>
          <p:cNvPr name="TextBox 5" id="5"/>
          <p:cNvSpPr txBox="true"/>
          <p:nvPr/>
        </p:nvSpPr>
        <p:spPr>
          <a:xfrm rot="0">
            <a:off x="1005840" y="9808845"/>
            <a:ext cx="7675245" cy="203835"/>
          </a:xfrm>
          <a:prstGeom prst="rect">
            <a:avLst/>
          </a:prstGeom>
        </p:spPr>
        <p:txBody>
          <a:bodyPr anchor="t" rtlCol="false" tIns="0" lIns="0" bIns="0" rIns="0">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7236440" y="9761220"/>
            <a:ext cx="388620" cy="25146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25</a:t>
            </a:r>
          </a:p>
        </p:txBody>
      </p:sp>
      <p:graphicFrame>
        <p:nvGraphicFramePr>
          <p:cNvPr name="Table 7" id="7"/>
          <p:cNvGraphicFramePr>
            <a:graphicFrameLocks noGrp="true"/>
          </p:cNvGraphicFramePr>
          <p:nvPr/>
        </p:nvGraphicFramePr>
        <p:xfrm>
          <a:off x="914400" y="2828925"/>
          <a:ext cx="16440150" cy="5657850"/>
        </p:xfrm>
        <a:graphic>
          <a:graphicData uri="http://schemas.openxmlformats.org/drawingml/2006/table">
            <a:tbl>
              <a:tblPr/>
              <a:tblGrid>
                <a:gridCol w="4352644"/>
                <a:gridCol w="685006"/>
                <a:gridCol w="685006"/>
                <a:gridCol w="685006"/>
                <a:gridCol w="685006"/>
                <a:gridCol w="685006"/>
                <a:gridCol w="685006"/>
                <a:gridCol w="685006"/>
                <a:gridCol w="685006"/>
                <a:gridCol w="685006"/>
                <a:gridCol w="685006"/>
                <a:gridCol w="685006"/>
                <a:gridCol w="685006"/>
                <a:gridCol w="3867431"/>
              </a:tblGrid>
              <a:tr h="625491">
                <a:tc>
                  <a:txBody>
                    <a:bodyPr anchor="t" rtlCol="false"/>
                    <a:lstStyle/>
                    <a:p>
                      <a:pPr algn="l">
                        <a:lnSpc>
                          <a:spcPts val="1755"/>
                        </a:lnSpc>
                        <a:defRPr/>
                      </a:pPr>
                      <a:r>
                        <a:rPr lang="en-US" sz="1462" b="true">
                          <a:solidFill>
                            <a:srgbClr val="2DD4BF"/>
                          </a:solidFill>
                          <a:latin typeface="DejaVu Sans Bold"/>
                          <a:ea typeface="DejaVu Sans Bold"/>
                          <a:cs typeface="DejaVu Sans Bold"/>
                          <a:sym typeface="DejaVu Sans Bold"/>
                        </a:rPr>
                        <a:t>WORK PACKAGE</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Oct</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Jul</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Aug</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Sep</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l">
                        <a:lnSpc>
                          <a:spcPts val="1755"/>
                        </a:lnSpc>
                        <a:defRPr/>
                      </a:pPr>
                      <a:r>
                        <a:rPr lang="en-US" sz="1462" b="true">
                          <a:solidFill>
                            <a:srgbClr val="2DD4BF"/>
                          </a:solidFill>
                          <a:latin typeface="DejaVu Sans Bold"/>
                          <a:ea typeface="DejaVu Sans Bold"/>
                          <a:cs typeface="DejaVu Sans Bold"/>
                          <a:sym typeface="DejaVu Sans Bold"/>
                        </a:rPr>
                        <a:t>EXPECTED OUTPUT</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Nov</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Dec</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Jan</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Feb</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Mar</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Apr</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May</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c>
                  <a:txBody>
                    <a:bodyPr anchor="t" rtlCol="false"/>
                    <a:lstStyle/>
                    <a:p>
                      <a:pPr algn="ctr">
                        <a:lnSpc>
                          <a:spcPts val="1485"/>
                        </a:lnSpc>
                        <a:defRPr/>
                      </a:pPr>
                      <a:r>
                        <a:rPr lang="en-US" sz="1237" b="true">
                          <a:solidFill>
                            <a:srgbClr val="2DD4BF"/>
                          </a:solidFill>
                          <a:latin typeface="DejaVu Sans Bold"/>
                          <a:ea typeface="DejaVu Sans Bold"/>
                          <a:cs typeface="DejaVu Sans Bold"/>
                          <a:sym typeface="DejaVu Sans Bold"/>
                        </a:rPr>
                        <a:t>Jun</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10253A"/>
                    </a:solidFill>
                  </a:tcPr>
                </a:tc>
              </a:tr>
              <a:tr h="838727">
                <a:tc>
                  <a:txBody>
                    <a:bodyPr anchor="t" rtlCol="false"/>
                    <a:lstStyle/>
                    <a:p>
                      <a:pPr algn="l">
                        <a:lnSpc>
                          <a:spcPts val="1889"/>
                        </a:lnSpc>
                        <a:defRPr/>
                      </a:pPr>
                      <a:r>
                        <a:rPr lang="en-US" sz="1575" b="true">
                          <a:solidFill>
                            <a:srgbClr val="EAF2F8"/>
                          </a:solidFill>
                          <a:latin typeface="DejaVu Sans Bold"/>
                          <a:ea typeface="DejaVu Sans Bold"/>
                          <a:cs typeface="DejaVu Sans Bold"/>
                          <a:sym typeface="DejaVu Sans Bold"/>
                        </a:rPr>
                        <a:t>WP1  Theory and architecture</a:t>
                      </a:r>
                      <a:endParaRPr lang="en-US" sz="1100"/>
                    </a:p>
                    <a:p>
                      <a:pPr algn="l">
                        <a:lnSpc>
                          <a:spcPts val="1889"/>
                        </a:lnSpc>
                      </a:pPr>
                      <a:r>
                        <a:rPr lang="en-US" sz="1575" b="true">
                          <a:solidFill>
                            <a:srgbClr val="EAF2F8"/>
                          </a:solidFill>
                          <a:latin typeface="DejaVu Sans Bold"/>
                          <a:ea typeface="DejaVu Sans Bold"/>
                          <a:cs typeface="DejaVu Sans Bold"/>
                          <a:sym typeface="DejaVu Sans Bold"/>
                        </a:rPr>
                        <a:t>CPD, CL and twin design</a:t>
                      </a:r>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755"/>
                        </a:lnSpc>
                        <a:defRPr/>
                      </a:pPr>
                      <a:r>
                        <a:rPr lang="en-US" sz="1462">
                          <a:solidFill>
                            <a:srgbClr val="B9CAD9"/>
                          </a:solidFill>
                          <a:latin typeface="DejaVu Sans Light"/>
                          <a:ea typeface="DejaVu Sans Light"/>
                          <a:cs typeface="DejaVu Sans Light"/>
                          <a:sym typeface="DejaVu Sans Light"/>
                        </a:rPr>
                        <a:t>Architecture specification</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r>
              <a:tr h="838727">
                <a:tc>
                  <a:txBody>
                    <a:bodyPr anchor="t" rtlCol="false"/>
                    <a:lstStyle/>
                    <a:p>
                      <a:pPr algn="l">
                        <a:lnSpc>
                          <a:spcPts val="1889"/>
                        </a:lnSpc>
                        <a:defRPr/>
                      </a:pPr>
                      <a:r>
                        <a:rPr lang="en-US" sz="1575" b="true">
                          <a:solidFill>
                            <a:srgbClr val="EAF2F8"/>
                          </a:solidFill>
                          <a:latin typeface="DejaVu Sans Bold"/>
                          <a:ea typeface="DejaVu Sans Bold"/>
                          <a:cs typeface="DejaVu Sans Bold"/>
                          <a:sym typeface="DejaVu Sans Bold"/>
                        </a:rPr>
                        <a:t>WP2  CPD benchmarking</a:t>
                      </a:r>
                      <a:endParaRPr lang="en-US" sz="1100"/>
                    </a:p>
                    <a:p>
                      <a:pPr algn="l">
                        <a:lnSpc>
                          <a:spcPts val="1889"/>
                        </a:lnSpc>
                      </a:pPr>
                      <a:r>
                        <a:rPr lang="en-US" sz="1575" b="true">
                          <a:solidFill>
                            <a:srgbClr val="EAF2F8"/>
                          </a:solidFill>
                          <a:latin typeface="DejaVu Sans Bold"/>
                          <a:ea typeface="DejaVu Sans Bold"/>
                          <a:cs typeface="DejaVu Sans Bold"/>
                          <a:sym typeface="DejaVu Sans Bold"/>
                        </a:rPr>
                        <a:t>EWMA, CUSUM, BOCPD, density ratios</a:t>
                      </a:r>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755"/>
                        </a:lnSpc>
                        <a:defRPr/>
                      </a:pPr>
                      <a:r>
                        <a:rPr lang="en-US" sz="1462">
                          <a:solidFill>
                            <a:srgbClr val="B9CAD9"/>
                          </a:solidFill>
                          <a:latin typeface="DejaVu Sans Light"/>
                          <a:ea typeface="DejaVu Sans Light"/>
                          <a:cs typeface="DejaVu Sans Light"/>
                          <a:sym typeface="DejaVu Sans Light"/>
                        </a:rPr>
                        <a:t>Benchmark suite and report</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r>
              <a:tr h="838727">
                <a:tc>
                  <a:txBody>
                    <a:bodyPr anchor="t" rtlCol="false"/>
                    <a:lstStyle/>
                    <a:p>
                      <a:pPr algn="l">
                        <a:lnSpc>
                          <a:spcPts val="1889"/>
                        </a:lnSpc>
                        <a:defRPr/>
                      </a:pPr>
                      <a:r>
                        <a:rPr lang="en-US" sz="1575" b="true">
                          <a:solidFill>
                            <a:srgbClr val="EAF2F8"/>
                          </a:solidFill>
                          <a:latin typeface="DejaVu Sans Bold"/>
                          <a:ea typeface="DejaVu Sans Bold"/>
                          <a:cs typeface="DejaVu Sans Bold"/>
                          <a:sym typeface="DejaVu Sans Bold"/>
                        </a:rPr>
                        <a:t>WP3  Continual learning and sustainability</a:t>
                      </a:r>
                      <a:endParaRPr lang="en-US" sz="1100"/>
                    </a:p>
                    <a:p>
                      <a:pPr algn="l">
                        <a:lnSpc>
                          <a:spcPts val="1889"/>
                        </a:lnSpc>
                      </a:pPr>
                      <a:r>
                        <a:rPr lang="en-US" sz="1575" b="true">
                          <a:solidFill>
                            <a:srgbClr val="EAF2F8"/>
                          </a:solidFill>
                          <a:latin typeface="DejaVu Sans Bold"/>
                          <a:ea typeface="DejaVu Sans Bold"/>
                          <a:cs typeface="DejaVu Sans Bold"/>
                          <a:sym typeface="DejaVu Sans Bold"/>
                        </a:rPr>
                        <a:t>Replay, forgetting, energy costs</a:t>
                      </a:r>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755"/>
                        </a:lnSpc>
                        <a:defRPr/>
                      </a:pPr>
                      <a:r>
                        <a:rPr lang="en-US" sz="1462">
                          <a:solidFill>
                            <a:srgbClr val="B9CAD9"/>
                          </a:solidFill>
                          <a:latin typeface="DejaVu Sans Light"/>
                          <a:ea typeface="DejaVu Sans Light"/>
                          <a:cs typeface="DejaVu Sans Light"/>
                          <a:sym typeface="DejaVu Sans Light"/>
                        </a:rPr>
                        <a:t>CL module and cost analysis</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r>
              <a:tr h="838727">
                <a:tc>
                  <a:txBody>
                    <a:bodyPr anchor="t" rtlCol="false"/>
                    <a:lstStyle/>
                    <a:p>
                      <a:pPr algn="l">
                        <a:lnSpc>
                          <a:spcPts val="1889"/>
                        </a:lnSpc>
                        <a:defRPr/>
                      </a:pPr>
                      <a:r>
                        <a:rPr lang="en-US" sz="1575" b="true">
                          <a:solidFill>
                            <a:srgbClr val="EAF2F8"/>
                          </a:solidFill>
                          <a:latin typeface="DejaVu Sans Bold"/>
                          <a:ea typeface="DejaVu Sans Bold"/>
                          <a:cs typeface="DejaVu Sans Bold"/>
                          <a:sym typeface="DejaVu Sans Bold"/>
                        </a:rPr>
                        <a:t>WP4  Digital twin co-evolution</a:t>
                      </a:r>
                      <a:endParaRPr lang="en-US" sz="1100"/>
                    </a:p>
                    <a:p>
                      <a:pPr algn="l">
                        <a:lnSpc>
                          <a:spcPts val="1889"/>
                        </a:lnSpc>
                      </a:pPr>
                      <a:r>
                        <a:rPr lang="en-US" sz="1575" b="true">
                          <a:solidFill>
                            <a:srgbClr val="EAF2F8"/>
                          </a:solidFill>
                          <a:latin typeface="DejaVu Sans Bold"/>
                          <a:ea typeface="DejaVu Sans Bold"/>
                          <a:cs typeface="DejaVu Sans Bold"/>
                          <a:sym typeface="DejaVu Sans Bold"/>
                        </a:rPr>
                        <a:t>Disagreement, joint updates, safety</a:t>
                      </a:r>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755"/>
                        </a:lnSpc>
                        <a:defRPr/>
                      </a:pPr>
                      <a:r>
                        <a:rPr lang="en-US" sz="1462">
                          <a:solidFill>
                            <a:srgbClr val="B9CAD9"/>
                          </a:solidFill>
                          <a:latin typeface="DejaVu Sans Light"/>
                          <a:ea typeface="DejaVu Sans Light"/>
                          <a:cs typeface="DejaVu Sans Light"/>
                          <a:sym typeface="DejaVu Sans Light"/>
                        </a:rPr>
                        <a:t>Twin framework and testbed</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r>
              <a:tr h="838727">
                <a:tc>
                  <a:txBody>
                    <a:bodyPr anchor="t" rtlCol="false"/>
                    <a:lstStyle/>
                    <a:p>
                      <a:pPr algn="l">
                        <a:lnSpc>
                          <a:spcPts val="1889"/>
                        </a:lnSpc>
                        <a:defRPr/>
                      </a:pPr>
                      <a:r>
                        <a:rPr lang="en-US" sz="1575" b="true">
                          <a:solidFill>
                            <a:srgbClr val="EAF2F8"/>
                          </a:solidFill>
                          <a:latin typeface="DejaVu Sans Bold"/>
                          <a:ea typeface="DejaVu Sans Bold"/>
                          <a:cs typeface="DejaVu Sans Bold"/>
                          <a:sym typeface="DejaVu Sans Bold"/>
                        </a:rPr>
                        <a:t>WP5  Cross-domain evaluation</a:t>
                      </a:r>
                      <a:endParaRPr lang="en-US" sz="1100"/>
                    </a:p>
                    <a:p>
                      <a:pPr algn="l">
                        <a:lnSpc>
                          <a:spcPts val="1889"/>
                        </a:lnSpc>
                      </a:pPr>
                      <a:r>
                        <a:rPr lang="en-US" sz="1575" b="true">
                          <a:solidFill>
                            <a:srgbClr val="EAF2F8"/>
                          </a:solidFill>
                          <a:latin typeface="DejaVu Sans Bold"/>
                          <a:ea typeface="DejaVu Sans Bold"/>
                          <a:cs typeface="DejaVu Sans Bold"/>
                          <a:sym typeface="DejaVu Sans Bold"/>
                        </a:rPr>
                        <a:t>BCI and photonic maintenance</a:t>
                      </a:r>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755"/>
                        </a:lnSpc>
                        <a:defRPr/>
                      </a:pPr>
                      <a:r>
                        <a:rPr lang="en-US" sz="1462">
                          <a:solidFill>
                            <a:srgbClr val="B9CAD9"/>
                          </a:solidFill>
                          <a:latin typeface="DejaVu Sans Light"/>
                          <a:ea typeface="DejaVu Sans Light"/>
                          <a:cs typeface="DejaVu Sans Light"/>
                          <a:sym typeface="DejaVu Sans Light"/>
                        </a:rPr>
                        <a:t>Compare retraining and periodic updates</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1A2A"/>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2DD4BF"/>
                    </a:solidFill>
                  </a:tcPr>
                </a:tc>
              </a:tr>
              <a:tr h="838727">
                <a:tc>
                  <a:txBody>
                    <a:bodyPr anchor="t" rtlCol="false"/>
                    <a:lstStyle/>
                    <a:p>
                      <a:pPr algn="l">
                        <a:lnSpc>
                          <a:spcPts val="1889"/>
                        </a:lnSpc>
                        <a:defRPr/>
                      </a:pPr>
                      <a:r>
                        <a:rPr lang="en-US" sz="1575" b="true">
                          <a:solidFill>
                            <a:srgbClr val="EAF2F8"/>
                          </a:solidFill>
                          <a:latin typeface="DejaVu Sans Bold"/>
                          <a:ea typeface="DejaVu Sans Bold"/>
                          <a:cs typeface="DejaVu Sans Bold"/>
                          <a:sym typeface="DejaVu Sans Bold"/>
                        </a:rPr>
                        <a:t>WP6  Synthesis and engagement</a:t>
                      </a:r>
                      <a:endParaRPr lang="en-US" sz="1100"/>
                    </a:p>
                    <a:p>
                      <a:pPr algn="l">
                        <a:lnSpc>
                          <a:spcPts val="1889"/>
                        </a:lnSpc>
                      </a:pPr>
                      <a:r>
                        <a:rPr lang="en-US" sz="1575" b="true">
                          <a:solidFill>
                            <a:srgbClr val="EAF2F8"/>
                          </a:solidFill>
                          <a:latin typeface="DejaVu Sans Bold"/>
                          <a:ea typeface="DejaVu Sans Bold"/>
                          <a:cs typeface="DejaVu Sans Bold"/>
                          <a:sym typeface="DejaVu Sans Bold"/>
                        </a:rPr>
                        <a:t>Manuscripts, release, stakeholders</a:t>
                      </a:r>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4EA1FF"/>
                    </a:solidFill>
                  </a:tcPr>
                </a:tc>
                <a:tc>
                  <a:txBody>
                    <a:bodyPr anchor="t" rtlCol="false"/>
                    <a:lstStyle/>
                    <a:p>
                      <a:pPr algn="l">
                        <a:lnSpc>
                          <a:spcPts val="1755"/>
                        </a:lnSpc>
                        <a:defRPr/>
                      </a:pPr>
                      <a:r>
                        <a:rPr lang="en-US" sz="1462">
                          <a:solidFill>
                            <a:srgbClr val="B9CAD9"/>
                          </a:solidFill>
                          <a:latin typeface="DejaVu Sans Light"/>
                          <a:ea typeface="DejaVu Sans Light"/>
                          <a:cs typeface="DejaVu Sans Light"/>
                          <a:sym typeface="DejaVu Sans Light"/>
                        </a:rPr>
                        <a:t>Submissions and adoption roadmap</a:t>
                      </a: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c>
                  <a:txBody>
                    <a:bodyPr anchor="t" rtlCol="false"/>
                    <a:lstStyle/>
                    <a:p>
                      <a:pPr algn="l">
                        <a:lnSpc>
                          <a:spcPts val="1679"/>
                        </a:lnSpc>
                        <a:defRPr/>
                      </a:pPr>
                      <a:endParaRPr lang="en-US" sz="1100"/>
                    </a:p>
                  </a:txBody>
                  <a:tcPr marL="91440" marR="91440" marT="91440" marB="91440"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E2031"/>
                    </a:solidFill>
                  </a:tcPr>
                </a:tc>
              </a:tr>
            </a:tbl>
          </a:graphicData>
        </a:graphic>
      </p:graphicFrame>
      <p:sp>
        <p:nvSpPr>
          <p:cNvPr name="TextBox 8" id="8"/>
          <p:cNvSpPr txBox="true"/>
          <p:nvPr/>
        </p:nvSpPr>
        <p:spPr>
          <a:xfrm rot="0">
            <a:off x="1120140" y="8894445"/>
            <a:ext cx="15961995" cy="532447"/>
          </a:xfrm>
          <a:prstGeom prst="rect">
            <a:avLst/>
          </a:prstGeom>
        </p:spPr>
        <p:txBody>
          <a:bodyPr anchor="t" rtlCol="false" tIns="0" lIns="0" bIns="0" rIns="0">
            <a:spAutoFit/>
          </a:bodyPr>
          <a:lstStyle/>
          <a:p>
            <a:pPr algn="l">
              <a:lnSpc>
                <a:spcPts val="2295"/>
              </a:lnSpc>
            </a:pPr>
            <a:r>
              <a:rPr lang="en-US" sz="1912">
                <a:solidFill>
                  <a:srgbClr val="EAF2F8"/>
                </a:solidFill>
                <a:latin typeface="DejaVu Sans Light"/>
                <a:ea typeface="DejaVu Sans Light"/>
                <a:cs typeface="DejaVu Sans Light"/>
                <a:sym typeface="DejaVu Sans Light"/>
              </a:rPr>
              <a:t>October priority: lock reproduction settings, explain Stage-II gaps and export real EEG complementary traces.</a:t>
            </a:r>
          </a:p>
        </p:txBody>
      </p:sp>
    </p:spTree>
  </p:cSld>
  <p:clrMapOvr>
    <a:masterClrMapping/>
  </p:clrMapOvr>
</p:sld>
</file>

<file path=ppt/slides/slide40.xml><?xml version="1.0" encoding="utf-8"?>
<p:sld xmlns:p="http://schemas.openxmlformats.org/presentationml/2006/main" xmlns:a="http://schemas.openxmlformats.org/drawingml/2006/main">
  <p:cSld>
    <p:bg>
      <p:bgPr>
        <a:solidFill>
          <a:srgbClr val="09121F"/>
        </a:solidFill>
      </p:bgPr>
    </p:bg>
    <p:spTree>
      <p:nvGrpSpPr>
        <p:cNvPr id="1" name=""/>
        <p:cNvGrpSpPr/>
        <p:nvPr/>
      </p:nvGrpSpPr>
      <p:grpSpPr>
        <a:xfrm>
          <a:off x="0" y="0"/>
          <a:ext cx="0" cy="0"/>
          <a:chOff x="0" y="0"/>
          <a:chExt cx="0" cy="0"/>
        </a:xfrm>
      </p:grpSpPr>
      <p:sp>
        <p:nvSpPr>
          <p:cNvPr name="TextBox 2" id="2"/>
          <p:cNvSpPr txBox="true"/>
          <p:nvPr/>
        </p:nvSpPr>
        <p:spPr>
          <a:xfrm rot="0">
            <a:off x="918972" y="475107"/>
            <a:ext cx="16459200" cy="356997"/>
          </a:xfrm>
          <a:prstGeom prst="rect">
            <a:avLst/>
          </a:prstGeom>
        </p:spPr>
        <p:txBody>
          <a:bodyPr anchor="t" rtlCol="false" tIns="0" lIns="0" bIns="0" rIns="0">
            <a:spAutoFit/>
          </a:bodyPr>
          <a:lstStyle/>
          <a:p>
            <a:pPr algn="l">
              <a:lnSpc>
                <a:spcPts val="2340"/>
              </a:lnSpc>
            </a:pPr>
            <a:r>
              <a:rPr lang="en-US" sz="1950" b="true">
                <a:solidFill>
                  <a:srgbClr val="78D8CC"/>
                </a:solidFill>
                <a:latin typeface="DejaVu Sans Bold"/>
                <a:ea typeface="DejaVu Sans Bold"/>
                <a:cs typeface="DejaVu Sans Bold"/>
                <a:sym typeface="DejaVu Sans Bold"/>
              </a:rPr>
              <a:t>NEXT MILESTONE</a:t>
            </a:r>
          </a:p>
        </p:txBody>
      </p:sp>
      <p:sp>
        <p:nvSpPr>
          <p:cNvPr name="TextBox 3" id="3"/>
          <p:cNvSpPr txBox="true"/>
          <p:nvPr/>
        </p:nvSpPr>
        <p:spPr>
          <a:xfrm rot="0">
            <a:off x="918972" y="1202055"/>
            <a:ext cx="16459200" cy="878205"/>
          </a:xfrm>
          <a:prstGeom prst="rect">
            <a:avLst/>
          </a:prstGeom>
        </p:spPr>
        <p:txBody>
          <a:bodyPr anchor="t" rtlCol="false" tIns="0" lIns="0" bIns="0" rIns="0">
            <a:spAutoFit/>
          </a:bodyPr>
          <a:lstStyle/>
          <a:p>
            <a:pPr algn="l">
              <a:lnSpc>
                <a:spcPts val="4860"/>
              </a:lnSpc>
            </a:pPr>
            <a:r>
              <a:rPr lang="en-US" sz="4050" b="true">
                <a:solidFill>
                  <a:srgbClr val="EAF2F8"/>
                </a:solidFill>
                <a:latin typeface="DejaVu Sans Bold"/>
                <a:ea typeface="DejaVu Sans Bold"/>
                <a:cs typeface="DejaVu Sans Bold"/>
                <a:sym typeface="DejaVu Sans Bold"/>
              </a:rPr>
              <a:t>Next milestone: a reproducible evidence package</a:t>
            </a:r>
          </a:p>
        </p:txBody>
      </p:sp>
      <p:sp>
        <p:nvSpPr>
          <p:cNvPr name="TextBox 4" id="4"/>
          <p:cNvSpPr txBox="true"/>
          <p:nvPr/>
        </p:nvSpPr>
        <p:spPr>
          <a:xfrm rot="0">
            <a:off x="918972" y="9116187"/>
            <a:ext cx="16459200" cy="411861"/>
          </a:xfrm>
          <a:prstGeom prst="rect">
            <a:avLst/>
          </a:prstGeom>
        </p:spPr>
        <p:txBody>
          <a:bodyPr anchor="t" rtlCol="false" tIns="0" lIns="0" bIns="0" rIns="0">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name="TextBox 5" id="5"/>
          <p:cNvSpPr txBox="true"/>
          <p:nvPr/>
        </p:nvSpPr>
        <p:spPr>
          <a:xfrm rot="0">
            <a:off x="918972" y="9801987"/>
            <a:ext cx="13716000" cy="192405"/>
          </a:xfrm>
          <a:prstGeom prst="rect">
            <a:avLst/>
          </a:prstGeom>
        </p:spPr>
        <p:txBody>
          <a:bodyPr anchor="t" rtlCol="false" tIns="0" lIns="0" bIns="0" rIns="0">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name="TextBox 6" id="6"/>
          <p:cNvSpPr txBox="true"/>
          <p:nvPr/>
        </p:nvSpPr>
        <p:spPr>
          <a:xfrm rot="0">
            <a:off x="1028700" y="2610612"/>
            <a:ext cx="16184880" cy="594360"/>
          </a:xfrm>
          <a:prstGeom prst="rect">
            <a:avLst/>
          </a:prstGeom>
        </p:spPr>
        <p:txBody>
          <a:bodyPr anchor="t" rtlCol="false" tIns="0" lIns="0" bIns="0" rIns="0">
            <a:spAutoFit/>
          </a:bodyPr>
          <a:lstStyle/>
          <a:p>
            <a:pPr algn="l">
              <a:lnSpc>
                <a:spcPts val="4140"/>
              </a:lnSpc>
            </a:pPr>
            <a:r>
              <a:rPr lang="en-US" sz="3450" b="true">
                <a:solidFill>
                  <a:srgbClr val="78D8CC"/>
                </a:solidFill>
                <a:latin typeface="DejaVu Sans Bold"/>
                <a:ea typeface="DejaVu Sans Bold"/>
                <a:cs typeface="DejaVu Sans Bold"/>
                <a:sym typeface="DejaVu Sans Bold"/>
              </a:rPr>
              <a:t>1. Reconcile the saved reproduction runs</a:t>
            </a:r>
          </a:p>
        </p:txBody>
      </p:sp>
      <p:sp>
        <p:nvSpPr>
          <p:cNvPr name="TextBox 7" id="7"/>
          <p:cNvSpPr txBox="true"/>
          <p:nvPr/>
        </p:nvSpPr>
        <p:spPr>
          <a:xfrm rot="0">
            <a:off x="1028700" y="3410331"/>
            <a:ext cx="16184880" cy="741045"/>
          </a:xfrm>
          <a:prstGeom prst="rect">
            <a:avLst/>
          </a:prstGeom>
        </p:spPr>
        <p:txBody>
          <a:bodyPr anchor="t" rtlCol="false" tIns="0" lIns="0" bIns="0" rIns="0">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name="TextBox 8" id="8"/>
          <p:cNvSpPr txBox="true"/>
          <p:nvPr/>
        </p:nvSpPr>
        <p:spPr>
          <a:xfrm rot="0">
            <a:off x="1028700" y="4530852"/>
            <a:ext cx="16184880" cy="594360"/>
          </a:xfrm>
          <a:prstGeom prst="rect">
            <a:avLst/>
          </a:prstGeom>
        </p:spPr>
        <p:txBody>
          <a:bodyPr anchor="t" rtlCol="false" tIns="0" lIns="0" bIns="0" rIns="0">
            <a:spAutoFit/>
          </a:bodyPr>
          <a:lstStyle/>
          <a:p>
            <a:pPr algn="l">
              <a:lnSpc>
                <a:spcPts val="4140"/>
              </a:lnSpc>
            </a:pPr>
            <a:r>
              <a:rPr lang="en-US" sz="3450" b="true">
                <a:solidFill>
                  <a:srgbClr val="78D8CC"/>
                </a:solidFill>
                <a:latin typeface="DejaVu Sans Bold"/>
                <a:ea typeface="DejaVu Sans Bold"/>
                <a:cs typeface="DejaVu Sans Bold"/>
                <a:sym typeface="DejaVu Sans Bold"/>
              </a:rPr>
              <a:t>2. Generate adaptation and real EEG evidence</a:t>
            </a:r>
          </a:p>
        </p:txBody>
      </p:sp>
      <p:sp>
        <p:nvSpPr>
          <p:cNvPr name="TextBox 9" id="9"/>
          <p:cNvSpPr txBox="true"/>
          <p:nvPr/>
        </p:nvSpPr>
        <p:spPr>
          <a:xfrm rot="0">
            <a:off x="1028700" y="5330571"/>
            <a:ext cx="16184880" cy="878205"/>
          </a:xfrm>
          <a:prstGeom prst="rect">
            <a:avLst/>
          </a:prstGeom>
        </p:spPr>
        <p:txBody>
          <a:bodyPr anchor="t" rtlCol="false" tIns="0" lIns="0" bIns="0" rIns="0">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name="TextBox 10" id="10"/>
          <p:cNvSpPr txBox="true"/>
          <p:nvPr/>
        </p:nvSpPr>
        <p:spPr>
          <a:xfrm rot="0">
            <a:off x="1028700" y="6629400"/>
            <a:ext cx="16184880" cy="594360"/>
          </a:xfrm>
          <a:prstGeom prst="rect">
            <a:avLst/>
          </a:prstGeom>
        </p:spPr>
        <p:txBody>
          <a:bodyPr anchor="t" rtlCol="false" tIns="0" lIns="0" bIns="0" rIns="0">
            <a:spAutoFit/>
          </a:bodyPr>
          <a:lstStyle/>
          <a:p>
            <a:pPr algn="l">
              <a:lnSpc>
                <a:spcPts val="4140"/>
              </a:lnSpc>
            </a:pPr>
            <a:r>
              <a:rPr lang="en-US" sz="3450" b="true">
                <a:solidFill>
                  <a:srgbClr val="78D8CC"/>
                </a:solidFill>
                <a:latin typeface="DejaVu Sans Bold"/>
                <a:ea typeface="DejaVu Sans Bold"/>
                <a:cs typeface="DejaVu Sans Bold"/>
                <a:sym typeface="DejaVu Sans Bold"/>
              </a:rPr>
              <a:t>3. Align tests, slides and research notes</a:t>
            </a:r>
          </a:p>
        </p:txBody>
      </p:sp>
      <p:sp>
        <p:nvSpPr>
          <p:cNvPr name="TextBox 11" id="11"/>
          <p:cNvSpPr txBox="true"/>
          <p:nvPr/>
        </p:nvSpPr>
        <p:spPr>
          <a:xfrm rot="0">
            <a:off x="1028700" y="7415403"/>
            <a:ext cx="16184880" cy="1083945"/>
          </a:xfrm>
          <a:prstGeom prst="rect">
            <a:avLst/>
          </a:prstGeom>
        </p:spPr>
        <p:txBody>
          <a:bodyPr anchor="t" rtlCol="false" tIns="0" lIns="0" bIns="0" rIns="0">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name="TextBox 12" id="12"/>
          <p:cNvSpPr txBox="true"/>
          <p:nvPr/>
        </p:nvSpPr>
        <p:spPr>
          <a:xfrm rot="0">
            <a:off x="16568928" y="9754362"/>
            <a:ext cx="822960" cy="240030"/>
          </a:xfrm>
          <a:prstGeom prst="rect">
            <a:avLst/>
          </a:prstGeom>
        </p:spPr>
        <p:txBody>
          <a:bodyPr anchor="t" rtlCol="false" tIns="0" lIns="0" bIns="0" rIns="0">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1.xml><?xml version="1.0" encoding="utf-8"?>
<p:sld xmlns:p="http://schemas.openxmlformats.org/presentationml/2006/main" xmlns:a="http://schemas.openxmlformats.org/drawingml/2006/main">
  <p:cSld>
    <p:bg>
      <p:bgPr>
        <a:solidFill>
          <a:srgbClr val="F7F9FC"/>
        </a:solidFill>
      </p:bgPr>
    </p:bg>
    <p:spTree>
      <p:nvGrpSpPr>
        <p:cNvPr id="1" name=""/>
        <p:cNvGrpSpPr/>
        <p:nvPr/>
      </p:nvGrpSpPr>
      <p:grpSpPr>
        <a:xfrm>
          <a:off x="0" y="0"/>
          <a:ext cx="0" cy="0"/>
          <a:chOff x="0" y="0"/>
          <a:chExt cx="0" cy="0"/>
        </a:xfrm>
      </p:grpSpPr>
      <p:sp>
        <p:nvSpPr>
          <p:cNvPr name="TextBox 2" id="2"/>
          <p:cNvSpPr txBox="true"/>
          <p:nvPr/>
        </p:nvSpPr>
        <p:spPr>
          <a:xfrm rot="0">
            <a:off x="1051560" y="594360"/>
            <a:ext cx="16276320" cy="320040"/>
          </a:xfrm>
          <a:prstGeom prst="rect">
            <a:avLst/>
          </a:prstGeom>
        </p:spPr>
        <p:txBody>
          <a:bodyPr anchor="t" rtlCol="false" tIns="0" lIns="0" bIns="0" rIns="0">
            <a:spAutoFit/>
          </a:bodyPr>
          <a:lstStyle/>
          <a:p>
            <a:pPr algn="l">
              <a:lnSpc>
                <a:spcPts val="1980"/>
              </a:lnSpc>
            </a:pPr>
            <a:r>
              <a:rPr lang="en-US" sz="1650" b="true">
                <a:solidFill>
                  <a:srgbClr val="009D94"/>
                </a:solidFill>
                <a:latin typeface="Aptos Bold"/>
                <a:ea typeface="Aptos Bold"/>
                <a:cs typeface="Aptos Bold"/>
                <a:sym typeface="Aptos Bold"/>
              </a:rPr>
              <a:t>MATHEMATICAL READING UPDATE · 12 OCTOBER 2026</a:t>
            </a:r>
          </a:p>
        </p:txBody>
      </p:sp>
      <p:sp>
        <p:nvSpPr>
          <p:cNvPr name="TextBox 3" id="3"/>
          <p:cNvSpPr txBox="true"/>
          <p:nvPr/>
        </p:nvSpPr>
        <p:spPr>
          <a:xfrm rot="0">
            <a:off x="1051560" y="1252728"/>
            <a:ext cx="16276320" cy="937260"/>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Reading, writing and project management reinforce each other</a:t>
            </a:r>
          </a:p>
        </p:txBody>
      </p:sp>
      <p:sp>
        <p:nvSpPr>
          <p:cNvPr name="TextBox 4" id="4"/>
          <p:cNvSpPr txBox="true"/>
          <p:nvPr/>
        </p:nvSpPr>
        <p:spPr>
          <a:xfrm rot="0">
            <a:off x="1051560" y="2377440"/>
            <a:ext cx="16276320" cy="800100"/>
          </a:xfrm>
          <a:prstGeom prst="rect">
            <a:avLst/>
          </a:prstGeom>
        </p:spPr>
        <p:txBody>
          <a:bodyPr anchor="t" rtlCol="false" tIns="0" lIns="0" bIns="0" rIns="0">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name="TextBox 5" id="5"/>
          <p:cNvSpPr txBox="true"/>
          <p:nvPr/>
        </p:nvSpPr>
        <p:spPr>
          <a:xfrm rot="0">
            <a:off x="1051560" y="9304020"/>
            <a:ext cx="16276320" cy="594360"/>
          </a:xfrm>
          <a:prstGeom prst="rect">
            <a:avLst/>
          </a:prstGeom>
        </p:spPr>
        <p:txBody>
          <a:bodyPr anchor="t" rtlCol="false" tIns="0" lIns="0" bIns="0" rIns="0">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name="TextBox 6" id="6"/>
          <p:cNvSpPr txBox="true"/>
          <p:nvPr/>
        </p:nvSpPr>
        <p:spPr>
          <a:xfrm rot="0">
            <a:off x="1325880" y="3680460"/>
            <a:ext cx="4480560" cy="594360"/>
          </a:xfrm>
          <a:prstGeom prst="rect">
            <a:avLst/>
          </a:prstGeom>
        </p:spPr>
        <p:txBody>
          <a:bodyPr anchor="t" rtlCol="false" tIns="0" lIns="0" bIns="0" rIns="0">
            <a:spAutoFit/>
          </a:bodyPr>
          <a:lstStyle/>
          <a:p>
            <a:pPr algn="l">
              <a:lnSpc>
                <a:spcPts val="3779"/>
              </a:lnSpc>
            </a:pPr>
            <a:r>
              <a:rPr lang="en-US" sz="3150" b="true">
                <a:solidFill>
                  <a:srgbClr val="009D94"/>
                </a:solidFill>
                <a:latin typeface="Aptos Bold"/>
                <a:ea typeface="Aptos Bold"/>
                <a:cs typeface="Aptos Bold"/>
                <a:sym typeface="Aptos Bold"/>
              </a:rPr>
              <a:t>Reading</a:t>
            </a:r>
          </a:p>
        </p:txBody>
      </p:sp>
      <p:sp>
        <p:nvSpPr>
          <p:cNvPr name="TextBox 7" id="7"/>
          <p:cNvSpPr txBox="true"/>
          <p:nvPr/>
        </p:nvSpPr>
        <p:spPr>
          <a:xfrm rot="0">
            <a:off x="1325880" y="4709160"/>
            <a:ext cx="4480560" cy="3611880"/>
          </a:xfrm>
          <a:prstGeom prst="rect">
            <a:avLst/>
          </a:prstGeom>
        </p:spPr>
        <p:txBody>
          <a:bodyPr anchor="t" rtlCol="false" tIns="0" lIns="0" bIns="0" rIns="0">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name="TextBox 8" id="8"/>
          <p:cNvSpPr txBox="true"/>
          <p:nvPr/>
        </p:nvSpPr>
        <p:spPr>
          <a:xfrm rot="0">
            <a:off x="6949440" y="3680460"/>
            <a:ext cx="4480560" cy="594360"/>
          </a:xfrm>
          <a:prstGeom prst="rect">
            <a:avLst/>
          </a:prstGeom>
        </p:spPr>
        <p:txBody>
          <a:bodyPr anchor="t" rtlCol="false" tIns="0" lIns="0" bIns="0" rIns="0">
            <a:spAutoFit/>
          </a:bodyPr>
          <a:lstStyle/>
          <a:p>
            <a:pPr algn="l">
              <a:lnSpc>
                <a:spcPts val="3779"/>
              </a:lnSpc>
            </a:pPr>
            <a:r>
              <a:rPr lang="en-US" sz="3150" b="true">
                <a:solidFill>
                  <a:srgbClr val="009D94"/>
                </a:solidFill>
                <a:latin typeface="Aptos Bold"/>
                <a:ea typeface="Aptos Bold"/>
                <a:cs typeface="Aptos Bold"/>
                <a:sym typeface="Aptos Bold"/>
              </a:rPr>
              <a:t>Writing</a:t>
            </a:r>
          </a:p>
        </p:txBody>
      </p:sp>
      <p:sp>
        <p:nvSpPr>
          <p:cNvPr name="TextBox 9" id="9"/>
          <p:cNvSpPr txBox="true"/>
          <p:nvPr/>
        </p:nvSpPr>
        <p:spPr>
          <a:xfrm rot="0">
            <a:off x="6949440" y="4709160"/>
            <a:ext cx="4480560" cy="3611880"/>
          </a:xfrm>
          <a:prstGeom prst="rect">
            <a:avLst/>
          </a:prstGeom>
        </p:spPr>
        <p:txBody>
          <a:bodyPr anchor="t" rtlCol="false" tIns="0" lIns="0" bIns="0" rIns="0">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name="TextBox 10" id="10"/>
          <p:cNvSpPr txBox="true"/>
          <p:nvPr/>
        </p:nvSpPr>
        <p:spPr>
          <a:xfrm rot="0">
            <a:off x="12573000" y="3680460"/>
            <a:ext cx="4480560" cy="594360"/>
          </a:xfrm>
          <a:prstGeom prst="rect">
            <a:avLst/>
          </a:prstGeom>
        </p:spPr>
        <p:txBody>
          <a:bodyPr anchor="t" rtlCol="false" tIns="0" lIns="0" bIns="0" rIns="0">
            <a:spAutoFit/>
          </a:bodyPr>
          <a:lstStyle/>
          <a:p>
            <a:pPr algn="l">
              <a:lnSpc>
                <a:spcPts val="3779"/>
              </a:lnSpc>
            </a:pPr>
            <a:r>
              <a:rPr lang="en-US" sz="3150" b="true">
                <a:solidFill>
                  <a:srgbClr val="009D94"/>
                </a:solidFill>
                <a:latin typeface="Aptos Bold"/>
                <a:ea typeface="Aptos Bold"/>
                <a:cs typeface="Aptos Bold"/>
                <a:sym typeface="Aptos Bold"/>
              </a:rPr>
              <a:t>Project management</a:t>
            </a:r>
          </a:p>
        </p:txBody>
      </p:sp>
      <p:sp>
        <p:nvSpPr>
          <p:cNvPr name="TextBox 11" id="11"/>
          <p:cNvSpPr txBox="true"/>
          <p:nvPr/>
        </p:nvSpPr>
        <p:spPr>
          <a:xfrm rot="0">
            <a:off x="12573000" y="4709160"/>
            <a:ext cx="4480560" cy="3611880"/>
          </a:xfrm>
          <a:prstGeom prst="rect">
            <a:avLst/>
          </a:prstGeom>
        </p:spPr>
        <p:txBody>
          <a:bodyPr anchor="t" rtlCol="false" tIns="0" lIns="0" bIns="0" rIns="0">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2.xml><?xml version="1.0" encoding="utf-8"?>
<p:sld xmlns:p="http://schemas.openxmlformats.org/presentationml/2006/main" xmlns:a="http://schemas.openxmlformats.org/drawingml/2006/main">
  <p:cSld>
    <p:bg>
      <p:bgPr>
        <a:solidFill>
          <a:srgbClr val="F8FAFC"/>
        </a:solidFill>
      </p:bgPr>
    </p:bg>
    <p:spTree>
      <p:nvGrpSpPr>
        <p:cNvPr id="1" name=""/>
        <p:cNvGrpSpPr/>
        <p:nvPr/>
      </p:nvGrpSpPr>
      <p:grpSpPr>
        <a:xfrm>
          <a:off x="0" y="0"/>
          <a:ext cx="0" cy="0"/>
          <a:chOff x="0" y="0"/>
          <a:chExt cx="0" cy="0"/>
        </a:xfrm>
      </p:grpSpPr>
      <p:sp>
        <p:nvSpPr>
          <p:cNvPr name="TextBox 2" id="2"/>
          <p:cNvSpPr txBox="true"/>
          <p:nvPr/>
        </p:nvSpPr>
        <p:spPr>
          <a:xfrm rot="0">
            <a:off x="987552" y="566928"/>
            <a:ext cx="14968728" cy="320040"/>
          </a:xfrm>
          <a:prstGeom prst="rect">
            <a:avLst/>
          </a:prstGeom>
        </p:spPr>
        <p:txBody>
          <a:bodyPr anchor="t" rtlCol="false" tIns="0" lIns="0" bIns="0" rIns="0">
            <a:spAutoFit/>
          </a:bodyPr>
          <a:lstStyle/>
          <a:p>
            <a:pPr algn="l">
              <a:lnSpc>
                <a:spcPts val="1800"/>
              </a:lnSpc>
            </a:pPr>
            <a:r>
              <a:rPr lang="en-US" sz="1500" b="true">
                <a:solidFill>
                  <a:srgbClr val="0D9488"/>
                </a:solidFill>
                <a:latin typeface="Aptos Bold"/>
                <a:ea typeface="Aptos Bold"/>
                <a:cs typeface="Aptos Bold"/>
                <a:sym typeface="Aptos Bold"/>
              </a:rPr>
              <a:t>RESEARCH SOURCE TRAIL</a:t>
            </a:r>
          </a:p>
        </p:txBody>
      </p:sp>
      <p:sp>
        <p:nvSpPr>
          <p:cNvPr name="TextBox 3" id="3"/>
          <p:cNvSpPr txBox="true"/>
          <p:nvPr/>
        </p:nvSpPr>
        <p:spPr>
          <a:xfrm rot="0">
            <a:off x="987552" y="1088136"/>
            <a:ext cx="16340328" cy="854964"/>
          </a:xfrm>
          <a:prstGeom prst="rect">
            <a:avLst/>
          </a:prstGeom>
        </p:spPr>
        <p:txBody>
          <a:bodyPr anchor="t" rtlCol="false" tIns="0" lIns="0" bIns="0" rIns="0">
            <a:spAutoFit/>
          </a:bodyPr>
          <a:lstStyle/>
          <a:p>
            <a:pPr algn="l">
              <a:lnSpc>
                <a:spcPts val="5040"/>
              </a:lnSpc>
            </a:pPr>
            <a:r>
              <a:rPr lang="en-US" sz="4200" b="true">
                <a:solidFill>
                  <a:srgbClr val="12233B"/>
                </a:solidFill>
                <a:latin typeface="Aptos Bold"/>
                <a:ea typeface="Aptos Bold"/>
                <a:cs typeface="Aptos Bold"/>
                <a:sym typeface="Aptos Bold"/>
              </a:rPr>
              <a:t>Reading map and evidence hierarchy</a:t>
            </a:r>
          </a:p>
        </p:txBody>
      </p:sp>
      <p:sp>
        <p:nvSpPr>
          <p:cNvPr name="TextBox 4" id="4"/>
          <p:cNvSpPr txBox="true"/>
          <p:nvPr/>
        </p:nvSpPr>
        <p:spPr>
          <a:xfrm rot="0">
            <a:off x="987552" y="2103120"/>
            <a:ext cx="16340328" cy="690372"/>
          </a:xfrm>
          <a:prstGeom prst="rect">
            <a:avLst/>
          </a:prstGeom>
        </p:spPr>
        <p:txBody>
          <a:bodyPr anchor="t" rtlCol="false" tIns="0" lIns="0" bIns="0" rIns="0">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name="TextBox 5" id="5"/>
          <p:cNvSpPr txBox="true"/>
          <p:nvPr/>
        </p:nvSpPr>
        <p:spPr>
          <a:xfrm rot="0">
            <a:off x="987552" y="9788271"/>
            <a:ext cx="13597128" cy="247269"/>
          </a:xfrm>
          <a:prstGeom prst="rect">
            <a:avLst/>
          </a:prstGeom>
        </p:spPr>
        <p:txBody>
          <a:bodyPr anchor="t" rtlCol="false" tIns="0" lIns="0" bIns="0" rIns="0">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name="Group 6" id="6"/>
          <p:cNvGrpSpPr/>
          <p:nvPr/>
        </p:nvGrpSpPr>
        <p:grpSpPr>
          <a:xfrm rot="0">
            <a:off x="950595" y="2980563"/>
            <a:ext cx="8042910" cy="5327142"/>
            <a:chOff x="0" y="0"/>
            <a:chExt cx="10723880" cy="7102856"/>
          </a:xfrm>
        </p:grpSpPr>
        <p:sp>
          <p:nvSpPr>
            <p:cNvPr name="Freeform 7" id="7"/>
            <p:cNvSpPr/>
            <p:nvPr/>
          </p:nvSpPr>
          <p:spPr>
            <a:xfrm flipH="false" flipV="false" rot="0">
              <a:off x="0" y="0"/>
              <a:ext cx="10723880" cy="7102856"/>
            </a:xfrm>
            <a:custGeom>
              <a:avLst/>
              <a:gdLst/>
              <a:ahLst/>
              <a:cxnLst/>
              <a:rect r="r" b="b" t="t" l="l"/>
              <a:pathLst>
                <a:path h="7102856" w="10723880">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sp>
      </p:grpSp>
      <p:sp>
        <p:nvSpPr>
          <p:cNvPr name="TextBox 8" id="8"/>
          <p:cNvSpPr txBox="true"/>
          <p:nvPr/>
        </p:nvSpPr>
        <p:spPr>
          <a:xfrm rot="0">
            <a:off x="1220724" y="3186684"/>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ORIGINAL LITERATURE</a:t>
            </a:r>
          </a:p>
        </p:txBody>
      </p:sp>
      <p:sp>
        <p:nvSpPr>
          <p:cNvPr name="TextBox 9" id="9"/>
          <p:cNvSpPr txBox="true"/>
          <p:nvPr/>
        </p:nvSpPr>
        <p:spPr>
          <a:xfrm rot="0">
            <a:off x="1220724" y="3803904"/>
            <a:ext cx="7438644" cy="4283964"/>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name="Group 10" id="10"/>
          <p:cNvGrpSpPr/>
          <p:nvPr/>
        </p:nvGrpSpPr>
        <p:grpSpPr>
          <a:xfrm rot="0">
            <a:off x="9317355" y="2980563"/>
            <a:ext cx="8042910" cy="5327142"/>
            <a:chOff x="0" y="0"/>
            <a:chExt cx="10723880" cy="7102856"/>
          </a:xfrm>
        </p:grpSpPr>
        <p:sp>
          <p:nvSpPr>
            <p:cNvPr name="Freeform 11" id="11"/>
            <p:cNvSpPr/>
            <p:nvPr/>
          </p:nvSpPr>
          <p:spPr>
            <a:xfrm flipH="false" flipV="false" rot="0">
              <a:off x="0" y="0"/>
              <a:ext cx="10723880" cy="7102856"/>
            </a:xfrm>
            <a:custGeom>
              <a:avLst/>
              <a:gdLst/>
              <a:ahLst/>
              <a:cxnLst/>
              <a:rect r="r" b="b" t="t" l="l"/>
              <a:pathLst>
                <a:path h="7102856" w="10723880">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sp>
      </p:grpSp>
      <p:sp>
        <p:nvSpPr>
          <p:cNvPr name="TextBox 12" id="12"/>
          <p:cNvSpPr txBox="true"/>
          <p:nvPr/>
        </p:nvSpPr>
        <p:spPr>
          <a:xfrm rot="0">
            <a:off x="9587484" y="3186684"/>
            <a:ext cx="7438644" cy="416052"/>
          </a:xfrm>
          <a:prstGeom prst="rect">
            <a:avLst/>
          </a:prstGeom>
        </p:spPr>
        <p:txBody>
          <a:bodyPr anchor="t" rtlCol="false" tIns="0" lIns="0" bIns="0" rIns="0">
            <a:spAutoFit/>
          </a:bodyPr>
          <a:lstStyle/>
          <a:p>
            <a:pPr algn="l">
              <a:lnSpc>
                <a:spcPts val="3060"/>
              </a:lnSpc>
            </a:pPr>
            <a:r>
              <a:rPr lang="en-US" sz="2550" b="true">
                <a:solidFill>
                  <a:srgbClr val="0D9488"/>
                </a:solidFill>
                <a:latin typeface="Aptos Bold"/>
                <a:ea typeface="Aptos Bold"/>
                <a:cs typeface="Aptos Bold"/>
                <a:sym typeface="Aptos Bold"/>
              </a:rPr>
              <a:t>CURRENT EVIDENCE</a:t>
            </a:r>
          </a:p>
        </p:txBody>
      </p:sp>
      <p:sp>
        <p:nvSpPr>
          <p:cNvPr name="TextBox 13" id="13"/>
          <p:cNvSpPr txBox="true"/>
          <p:nvPr/>
        </p:nvSpPr>
        <p:spPr>
          <a:xfrm rot="0">
            <a:off x="9587484" y="3803904"/>
            <a:ext cx="7438644" cy="4283964"/>
          </a:xfrm>
          <a:prstGeom prst="rect">
            <a:avLst/>
          </a:prstGeom>
        </p:spPr>
        <p:txBody>
          <a:bodyPr anchor="t" rtlCol="false" tIns="0" lIns="0" bIns="0" rIns="0">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name="TextBox 14" id="14"/>
          <p:cNvSpPr txBox="true"/>
          <p:nvPr/>
        </p:nvSpPr>
        <p:spPr>
          <a:xfrm rot="0">
            <a:off x="1261872" y="8535924"/>
            <a:ext cx="16340328" cy="512064"/>
          </a:xfrm>
          <a:prstGeom prst="rect">
            <a:avLst/>
          </a:prstGeom>
        </p:spPr>
        <p:txBody>
          <a:bodyPr anchor="t" rtlCol="false" tIns="0" lIns="0" bIns="0" rIns="0">
            <a:spAutoFit/>
          </a:bodyPr>
          <a:lstStyle/>
          <a:p>
            <a:pPr algn="l">
              <a:lnSpc>
                <a:spcPts val="2160"/>
              </a:lnSpc>
            </a:pPr>
            <a:r>
              <a:rPr lang="en-US" sz="1800" b="true">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DAHYBaR-K0c</dc:identifier>
  <dcterms:modified xsi:type="dcterms:W3CDTF">2011-08-01T06:04:30Z</dcterms:modified>
  <cp:revision>1</cp:revision>
  <dc:title>EWMA latest slides layout review</dc:title>
</cp:coreProperties>
</file>