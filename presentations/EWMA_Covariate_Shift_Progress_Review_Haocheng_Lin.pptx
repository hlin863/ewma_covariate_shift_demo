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42"/>
  </p:notesMasterIdLst>
  <p:sldIdLst>
    <p:sldId id="256" r:id="rId3"/>
    <p:sldId id="2005" r:id="rId4"/>
    <p:sldId id="258" r:id="rId5"/>
    <p:sldId id="2008" r:id="rId6"/>
    <p:sldId id="2009" r:id="rId7"/>
    <p:sldId id="2010" r:id="rId8"/>
    <p:sldId id="2013" r:id="rId9"/>
    <p:sldId id="2014" r:id="rId10"/>
    <p:sldId id="2015" r:id="rId11"/>
    <p:sldId id="2016" r:id="rId12"/>
    <p:sldId id="2017" r:id="rId13"/>
    <p:sldId id="1000" r:id="rId14"/>
    <p:sldId id="1001" r:id="rId15"/>
    <p:sldId id="1002" r:id="rId16"/>
    <p:sldId id="1003" r:id="rId17"/>
    <p:sldId id="1004" r:id="rId18"/>
    <p:sldId id="1005" r:id="rId19"/>
    <p:sldId id="2003" r:id="rId20"/>
    <p:sldId id="2006" r:id="rId21"/>
    <p:sldId id="266" r:id="rId22"/>
    <p:sldId id="2018" r:id="rId23"/>
    <p:sldId id="2019" r:id="rId24"/>
    <p:sldId id="259" r:id="rId25"/>
    <p:sldId id="260" r:id="rId26"/>
    <p:sldId id="265" r:id="rId27"/>
    <p:sldId id="2000" r:id="rId28"/>
    <p:sldId id="2007" r:id="rId29"/>
    <p:sldId id="2001" r:id="rId30"/>
    <p:sldId id="2011" r:id="rId31"/>
    <p:sldId id="2004" r:id="rId32"/>
    <p:sldId id="2002" r:id="rId33"/>
    <p:sldId id="261" r:id="rId34"/>
    <p:sldId id="267" r:id="rId35"/>
    <p:sldId id="262" r:id="rId36"/>
    <p:sldId id="257" r:id="rId37"/>
    <p:sldId id="263" r:id="rId38"/>
    <p:sldId id="264" r:id="rId39"/>
    <p:sldId id="2020" r:id="rId40"/>
    <p:sldId id="2012" r:id="rId41"/>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323" autoAdjust="0"/>
  </p:normalViewPr>
  <p:slideViewPr>
    <p:cSldViewPr snapToGrid="0">
      <p:cViewPr>
        <p:scale>
          <a:sx n="100" d="100"/>
          <a:sy n="100" d="100"/>
        </p:scale>
        <p:origin x="954" y="3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7:49:26.227" v="827" actId="33524"/>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dirty="0"/>
          </a:p>
        </p:txBody>
      </p:sp>
      <p:sp>
        <p:nvSpPr>
          <p:cNvPr id="3" name="Date Placeholder"/>
          <p:cNvSpPr>
            <a:spLocks noGrp="1"/>
          </p:cNvSpPr>
          <p:nvPr>
            <p:ph type="dt" sz="quarter" idx="1"/>
          </p:nvPr>
        </p:nvSpPr>
        <p:spPr>
          <a:prstGeom prst="rect">
            <a:avLst/>
          </a:prstGeom>
        </p:spPr>
        <p:txBody>
          <a:bodyPr/>
          <a:lstStyle/>
          <a:p>
            <a:endParaRPr dirty="0"/>
          </a:p>
        </p:txBody>
      </p:sp>
      <p:sp>
        <p:nvSpPr>
          <p:cNvPr id="4" name="Slide Image Placeholder"/>
          <p:cNvSpPr>
            <a:spLocks noGrp="1" noRot="1" noChangeAspect="1"/>
          </p:cNvSpPr>
          <p:nvPr>
            <p:ph type="sldImg" idx="2"/>
          </p:nvPr>
        </p:nvSpPr>
        <p:spPr>
          <a:prstGeom prst="rect">
            <a:avLst/>
          </a:prstGeom>
        </p:spPr>
        <p:txBody>
          <a:bodyPr/>
          <a:lstStyle/>
          <a:p>
            <a:endParaRPr dirty="0"/>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dirty="0"/>
          </a:p>
        </p:txBody>
      </p:sp>
      <p:sp>
        <p:nvSpPr>
          <p:cNvPr id="7" name="Slide Number Placeholder"/>
          <p:cNvSpPr>
            <a:spLocks noGrp="1"/>
          </p:cNvSpPr>
          <p:nvPr>
            <p:ph type="sldNum" sz="quarter" idx="5"/>
          </p:nvPr>
        </p:nvSpPr>
        <p:spPr>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Research lineage</a:t>
            </a:r>
          </a:p>
          <a:p>
            <a:endParaRPr dirty="0"/>
          </a:p>
          <a:p>
            <a:r>
              <a:rPr dirty="0"/>
              <a:t>Suggested explanation (30–60 seconds):</a:t>
            </a:r>
          </a:p>
          <a:p>
            <a:r>
              <a:rPr dirty="0"/>
              <a:t>Raza motivates detector reconstruction. Chowdhury demonstrates online supervised BCI adaptation. The later CSE-UAEL work motivates transductive updates and ensembles. Rao and Heyden motivate the subspace question. Diethe provides a maintenance architecture.</a:t>
            </a:r>
          </a:p>
          <a:p>
            <a:endParaRPr dirty="0"/>
          </a:p>
          <a:p>
            <a:r>
              <a:rPr dirty="0"/>
              <a:t>Likely question and answer:</a:t>
            </a:r>
          </a:p>
          <a:p>
            <a:r>
              <a:rPr dirty="0"/>
              <a:t>Why Diethe 2019 when Notion says 2018? The supplied PDF identifies a 2018 workshop and arXiv v2 dated March 2019. State the version being cited consistently.</a:t>
            </a:r>
          </a:p>
          <a:p>
            <a:endParaRPr dirty="0"/>
          </a:p>
          <a:p>
            <a:r>
              <a:rPr dirty="0"/>
              <a:t>Evidence and cautions:</a:t>
            </a:r>
          </a:p>
          <a:p>
            <a:r>
              <a:rPr dirty="0"/>
              <a:t>Transition: first explain what the clinical BCI paper established.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\delta_{ij}=1\ (i=j),\qquad \delta_{ij}=0\ (i\ne 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\mathrm{Cov}(Z_i,Z_j)=E[Z_iZ_j]=\delta_{ij}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\frac{\partial w_i}{\partial w_j}=\delta_{ij}</a:t>
            </a:r>
          </a:p>
          <a:p>
            <a:r>
              <a:rPr dirty="0"/>
              <a:t>Formula source (LaTeX): \mathrm{Var}(Z_i)=E[(Z_i-E[Z_i])^2]</a:t>
            </a:r>
          </a:p>
          <a:p>
            <a:r>
              <a:rPr dirty="0"/>
              <a:t>Formula source (LaTeX): w_i(t+1)=w_i(t)+\eta e(t)x_i(t)</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\int t^m\psi(t)\,dt=0,\qquad m=0,\ldots,N-1</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Y=A Z,\quad \mathrm{Cov}(Z)=I\quad\Rightarrow\quad\mathrm{Cov}(Y)=AA^{\mathsf{T}}</a:t>
            </a:r>
          </a:p>
          <a:p>
            <a:r>
              <a:rPr dirty="0"/>
              <a:t>Formula source (LaTeX): Y_1=Z_1,\quad Y_2=aZ_1+Z_2,\quad \mathrm{Cov}(Y_1,Y_2)=a</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Published accuracy</a:t>
            </a:r>
          </a:p>
          <a:p>
            <a:endParaRPr dirty="0"/>
          </a:p>
          <a:p>
            <a:r>
              <a:rPr dirty="0"/>
              <a:t>Suggested explanation (30–60 seconds):</a:t>
            </a:r>
          </a:p>
          <a:p>
            <a:r>
              <a:rPr dirty="0"/>
              <a:t>The reported healthy-group gain is 6.25 percentage points and stroke-group gain is 5.50 points. Both paired comparisons were significant. These are paper results, not my repository results.</a:t>
            </a:r>
          </a:p>
          <a:p>
            <a:endParaRPr dirty="0"/>
          </a:p>
          <a:p>
            <a:r>
              <a:rPr dirty="0"/>
              <a:t>Likely question and answer:</a:t>
            </a:r>
          </a:p>
          <a:p>
            <a:r>
              <a:rPr dirty="0"/>
              <a:t>Does this prove recovery? No. It demonstrates better decoding and online feasibility, without longitudinal motor-recovery outcomes.</a:t>
            </a:r>
          </a:p>
          <a:p>
            <a:endParaRPr dirty="0"/>
          </a:p>
          <a:p>
            <a:r>
              <a:rPr dirty="0"/>
              <a:t>Evidence and cautions:</a:t>
            </a:r>
          </a:p>
          <a:p>
            <a:r>
              <a:rPr dirty="0"/>
              <a:t>Chowdhury III p1076 Tables II–IV. Mean ± SD; paired Wilcoxon significance.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Validation evidence</a:t>
            </a:r>
          </a:p>
          <a:p>
            <a:endParaRPr dirty="0"/>
          </a:p>
          <a:p>
            <a:r>
              <a:rPr dirty="0"/>
              <a:t>Suggested explanation (30–60 seconds):</a:t>
            </a:r>
          </a:p>
          <a:p>
            <a:r>
              <a:rPr dirty="0"/>
              <a:t>CSW and CSV here are percentages of trials. Validation reduces the fraction triggering retraining. The correlation with accuracy gain is an association, not an isolated causal effect of the detector.</a:t>
            </a:r>
          </a:p>
          <a:p>
            <a:endParaRPr dirty="0"/>
          </a:p>
          <a:p>
            <a:r>
              <a:rPr dirty="0"/>
              <a:t>Likely question and answer:</a:t>
            </a:r>
          </a:p>
          <a:p>
            <a:r>
              <a:rPr dirty="0"/>
              <a:t>Were rejected warnings false alarms? We cannot determine that without independent shift truth. Rejection is a statistical outcome, not a ground-truth label.</a:t>
            </a:r>
          </a:p>
          <a:p>
            <a:endParaRPr dirty="0"/>
          </a:p>
          <a:p>
            <a:r>
              <a:rPr dirty="0"/>
              <a:t>Evidence and cautions:</a:t>
            </a:r>
          </a:p>
          <a:p>
            <a:r>
              <a:rPr dirty="0"/>
              <a:t>Chowdhury II.E.4 Eqs10–11 p1075; III p1077 Tables VI–VIII and Fig7.</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Author-stated limitations</a:t>
            </a:r>
          </a:p>
          <a:p>
            <a:endParaRPr dirty="0"/>
          </a:p>
          <a:p>
            <a:r>
              <a:rPr dirty="0"/>
              <a:t>Suggested explanation (30–60 seconds):</a:t>
            </a:r>
          </a:p>
          <a:p>
            <a:r>
              <a:rPr dirty="0"/>
              <a:t>Fixed bands, binary tasks and known cue labels constrain transfer to other settings. The authors also discuss continuous and asynchronous operation as extensions.</a:t>
            </a:r>
          </a:p>
          <a:p>
            <a:endParaRPr dirty="0"/>
          </a:p>
          <a:p>
            <a:r>
              <a:rPr dirty="0"/>
              <a:t>Likely question and answer:</a:t>
            </a:r>
          </a:p>
          <a:p>
            <a:r>
              <a:rPr dirty="0"/>
              <a:t>Why are cue labels imperfect? The intended task is known, but actual participant compliance is assumed.</a:t>
            </a:r>
          </a:p>
          <a:p>
            <a:endParaRPr dirty="0"/>
          </a:p>
          <a:p>
            <a:r>
              <a:rPr dirty="0"/>
              <a:t>Evidence and cautions:</a:t>
            </a:r>
          </a:p>
          <a:p>
            <a:r>
              <a:rPr dirty="0"/>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Design-derived limitations</a:t>
            </a:r>
          </a:p>
          <a:p>
            <a:endParaRPr dirty="0"/>
          </a:p>
          <a:p>
            <a:r>
              <a:rPr dirty="0"/>
              <a:t>Suggested explanation (30–60 seconds):</a:t>
            </a:r>
          </a:p>
          <a:p>
            <a:r>
              <a:rPr dirty="0"/>
              <a:t>My critical interpretation concerns small cohorts, a short feedback run and the offline baseline. The study supports short-term feasibility; it leaves generalisation and therapeutic efficacy unresolved.</a:t>
            </a:r>
          </a:p>
          <a:p>
            <a:endParaRPr dirty="0"/>
          </a:p>
          <a:p>
            <a:r>
              <a:rPr dirty="0"/>
              <a:t>Likely question and answer:</a:t>
            </a:r>
          </a:p>
          <a:p>
            <a:r>
              <a:rPr dirty="0"/>
              <a:t>Are these author admissions? These are inferences from the protocol and outcome measures, not all direct limitations stated by the authors.</a:t>
            </a:r>
          </a:p>
          <a:p>
            <a:endParaRPr dirty="0"/>
          </a:p>
          <a:p>
            <a:r>
              <a:rPr dirty="0"/>
              <a:t>Evidence and cautions:</a:t>
            </a:r>
          </a:p>
          <a:p>
            <a:r>
              <a:rPr dirty="0"/>
              <a:t>Chowdhury II.B p1072; II.D–E p1073; III pp1075–1077. Notion limitations page reviewed.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Paper-to-project bridge</a:t>
            </a:r>
          </a:p>
          <a:p>
            <a:endParaRPr dirty="0"/>
          </a:p>
          <a:p>
            <a:r>
              <a:rPr dirty="0"/>
              <a:t>Suggested explanation (30–60 seconds):</a:t>
            </a:r>
          </a:p>
          <a:p>
            <a:r>
              <a:rPr dirty="0"/>
              <a:t>The shared mechanism is warning, validation and selective adaptation. The paper uses two bands and four CSP features; the repository uses ten-band FBCSP for its Competition protocols. I preserve those distinctions when interpreting reproduction.</a:t>
            </a:r>
          </a:p>
          <a:p>
            <a:endParaRPr dirty="0"/>
          </a:p>
          <a:p>
            <a:r>
              <a:rPr dirty="0"/>
              <a:t>Likely question and answer:</a:t>
            </a:r>
          </a:p>
          <a:p>
            <a:r>
              <a:rPr dirty="0"/>
              <a:t>Why not copy every paper detail? Some temporal sample and update-batch choices are underspecified; alternatives should be named and tested.</a:t>
            </a:r>
          </a:p>
          <a:p>
            <a:endParaRPr dirty="0"/>
          </a:p>
          <a:p>
            <a:r>
              <a:rPr dirty="0"/>
              <a:t>Evidence and cautions:</a:t>
            </a:r>
          </a:p>
          <a:p>
            <a:r>
              <a:rPr dirty="0"/>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dirty="0"/>
          </a:p>
        </p:txBody>
      </p:sp>
    </p:spTree>
    <p:extLst>
      <p:ext uri="{BB962C8B-B14F-4D97-AF65-F5344CB8AC3E}">
        <p14:creationId xmlns:p14="http://schemas.microsoft.com/office/powerpoint/2010/main" val="39183426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T_t^2=(z_t-\mu_0)^{\mathsf{T}}\Sigma_{z,t}^{-1}(z_t-\mu_0)</a:t>
            </a:r>
          </a:p>
          <a:p>
            <a:r>
              <a:rPr dirty="0"/>
              <a:t>Formula source (LaTeX): T^2=\frac{n_1n_2}{n_1+n_2}(\bar{x}_1-\bar{x}_2)^{\mathsf{T}}S_p^{-1}(\bar{x}_1-\bar{x}_2)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Implementation responsibilities</a:t>
            </a:r>
          </a:p>
          <a:p>
            <a:endParaRPr dirty="0"/>
          </a:p>
          <a:p>
            <a:r>
              <a:rPr dirty="0"/>
              <a:t>Suggested explanation (30–60 seconds):</a:t>
            </a:r>
          </a:p>
          <a:p>
            <a:r>
              <a:rPr dirty="0"/>
              <a:t>The update policy consumes evidence. A warning, a confirmation and performance deterioration are different signals. Labels can be supervised or pseudo-labelled. The current Diethe experiment uses fixed CSE, not the complementary score/residual extension.</a:t>
            </a:r>
          </a:p>
          <a:p>
            <a:endParaRPr dirty="0"/>
          </a:p>
          <a:p>
            <a:r>
              <a:rPr dirty="0"/>
              <a:t>Likely question and answer:</a:t>
            </a:r>
          </a:p>
          <a:p>
            <a:r>
              <a:rPr dirty="0"/>
              <a:t>Is the whole model continuously learning? The current loop appends data and retrains; representation and detector stay fixed in Diethe.</a:t>
            </a:r>
          </a:p>
          <a:p>
            <a:endParaRPr dirty="0"/>
          </a:p>
          <a:p>
            <a:r>
              <a:rPr dirty="0"/>
              <a:t>Evidence and cautions:</a:t>
            </a:r>
          </a:p>
          <a:p>
            <a:r>
              <a:rPr dirty="0"/>
              <a:t>src/adaptation/experiments/diethe.py and docs/diethe_experiments.md.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Protocol separation</a:t>
            </a:r>
          </a:p>
          <a:p>
            <a:endParaRPr dirty="0"/>
          </a:p>
          <a:p>
            <a:r>
              <a:rPr dirty="0"/>
              <a:t>Suggested explanation (30–60 seconds):</a:t>
            </a:r>
          </a:p>
          <a:p>
            <a:r>
              <a:rPr dirty="0"/>
              <a:t>Fit preprocessing only on development training data and reuse it for held-out evaluation. CSE reproduction and classifier benchmarking have distinct split contracts.</a:t>
            </a:r>
          </a:p>
          <a:p>
            <a:endParaRPr dirty="0"/>
          </a:p>
          <a:p>
            <a:r>
              <a:rPr dirty="0"/>
              <a:t>Likely question and answer:</a:t>
            </a:r>
          </a:p>
          <a:p>
            <a:r>
              <a:rPr dirty="0"/>
              <a:t>Why does 2B use different sessions in different slides? Different experiments answer different questions. Use the protocol table on slide16 to keep them explicit.</a:t>
            </a:r>
          </a:p>
          <a:p>
            <a:endParaRPr dirty="0"/>
          </a:p>
          <a:p>
            <a:r>
              <a:rPr dirty="0"/>
              <a:t>Evidence and cautions:</a:t>
            </a:r>
          </a:p>
          <a:p>
            <a:r>
              <a:rPr dirty="0"/>
              <a:t>Repository dataset runners and stored bagging evaluation_scope fields.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Dataset roles</a:t>
            </a:r>
          </a:p>
          <a:p>
            <a:endParaRPr dirty="0"/>
          </a:p>
          <a:p>
            <a:r>
              <a:rPr dirty="0"/>
              <a:t>Suggested explanation (30–60 seconds):</a:t>
            </a:r>
          </a:p>
          <a:p>
            <a:r>
              <a:rPr dirty="0"/>
              <a:t>Read this as a protocol map. For complementary 2B, I–II fit the representation, III calibrates thresholds, and IV–V evaluate. That differs from the classifier benchmark and Table-I path.</a:t>
            </a:r>
          </a:p>
          <a:p>
            <a:endParaRPr dirty="0"/>
          </a:p>
          <a:p>
            <a:r>
              <a:rPr dirty="0"/>
              <a:t>Likely question and answer:</a:t>
            </a:r>
          </a:p>
          <a:p>
            <a:r>
              <a:rPr dirty="0"/>
              <a:t>Are real EEG warnings true detections? They are descriptive alarms unless independently annotated or experimentally injected shifts provide ground truth.</a:t>
            </a:r>
          </a:p>
          <a:p>
            <a:endParaRPr dirty="0"/>
          </a:p>
          <a:p>
            <a:r>
              <a:rPr dirty="0"/>
              <a:t>Evidence and cautions:</a:t>
            </a:r>
          </a:p>
          <a:p>
            <a:r>
              <a:rPr dirty="0"/>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1771693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Diethe architecture</a:t>
            </a:r>
          </a:p>
          <a:p>
            <a:endParaRPr dirty="0"/>
          </a:p>
          <a:p>
            <a:r>
              <a:rPr dirty="0"/>
              <a:t>Suggested explanation (30–60 seconds):</a:t>
            </a:r>
          </a:p>
          <a:p>
            <a:r>
              <a:rPr dirty="0"/>
              <a:t>Diethe separates data monitoring, prediction monitoring and update policy. My implementation operationalises part of this architecture using five explicit rules and saved evidence.</a:t>
            </a:r>
          </a:p>
          <a:p>
            <a:endParaRPr dirty="0"/>
          </a:p>
          <a:p>
            <a:r>
              <a:rPr dirty="0"/>
              <a:t>Likely question and answer:</a:t>
            </a:r>
          </a:p>
          <a:p>
            <a:r>
              <a:rPr dirty="0"/>
              <a:t>Have you implemented Diethe completely? No. The paper discusses much broader state, actions, provenance and policy learning. My rules do not implement rollback, learned policy optimisation or energy accounting.</a:t>
            </a:r>
          </a:p>
          <a:p>
            <a:endParaRPr dirty="0"/>
          </a:p>
          <a:p>
            <a:r>
              <a:rPr dirty="0"/>
              <a:t>Evidence and cautions:</a:t>
            </a:r>
          </a:p>
          <a:p>
            <a:r>
              <a:rPr dirty="0"/>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Controlled scenarios</a:t>
            </a:r>
          </a:p>
          <a:p>
            <a:endParaRPr dirty="0"/>
          </a:p>
          <a:p>
            <a:r>
              <a:rPr dirty="0"/>
              <a:t>Suggested explanation (30–60 seconds):</a:t>
            </a:r>
          </a:p>
          <a:p>
            <a:r>
              <a:rPr dirty="0"/>
              <a:t>No shift measures baseline burden. Feature shift changes inputs while preserving the label rule. Relationship shift changes the label rule with the same input stream, so input monitoring can miss performance deterioration.</a:t>
            </a:r>
          </a:p>
          <a:p>
            <a:endParaRPr dirty="0"/>
          </a:p>
          <a:p>
            <a:r>
              <a:rPr dirty="0"/>
              <a:t>Likely question and answer:</a:t>
            </a:r>
          </a:p>
          <a:p>
            <a:r>
              <a:rPr dirty="0"/>
              <a:t>When are labels available? Immediately after prediction, before any update. The validated policy waits for validation_time, not the earlier warning time.</a:t>
            </a:r>
          </a:p>
          <a:p>
            <a:endParaRPr dirty="0"/>
          </a:p>
          <a:p>
            <a:r>
              <a:rPr dirty="0"/>
              <a:t>Evidence and cautions:</a:t>
            </a:r>
          </a:p>
          <a:p>
            <a:r>
              <a:rPr dirty="0"/>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First Diethe result</a:t>
            </a:r>
          </a:p>
          <a:p>
            <a:endParaRPr dirty="0"/>
          </a:p>
          <a:p>
            <a:r>
              <a:rPr dirty="0"/>
              <a:t>Suggested explanation (30–60 seconds):</a:t>
            </a:r>
          </a:p>
          <a:p>
            <a:r>
              <a:rPr dirty="0"/>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dirty="0"/>
          </a:p>
          <a:p>
            <a:r>
              <a:rPr dirty="0"/>
              <a:t>Likely question and answer:</a:t>
            </a:r>
          </a:p>
          <a:p>
            <a:r>
              <a:rPr dirty="0"/>
              <a:t>Is periodic best? Not established from one seed. Post-change accuracy is 99.17% for never and performance-drop versus 98.33% for the other three. The one-prediction overall advantage does not establish post-shift benefit.</a:t>
            </a:r>
          </a:p>
          <a:p>
            <a:endParaRPr dirty="0"/>
          </a:p>
          <a:p>
            <a:r>
              <a:rPr dirty="0"/>
              <a:t>Evidence and cautions:</a:t>
            </a:r>
          </a:p>
          <a:p>
            <a:r>
              <a:rPr dirty="0"/>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Stored benchmark evidence</a:t>
            </a:r>
          </a:p>
          <a:p>
            <a:endParaRPr dirty="0"/>
          </a:p>
          <a:p>
            <a:r>
              <a:rPr dirty="0"/>
              <a:t>Suggested explanation (30–60 seconds):</a:t>
            </a:r>
          </a:p>
          <a:p>
            <a:r>
              <a:rPr dirty="0"/>
              <a:t>Bagging changes accuracy only slightly and inconsistently across datasets. In synthetic monitoring, residuals detect orthogonal shifts missed by PC1, but combination has sensitivity and alarm-burden trade-offs.</a:t>
            </a:r>
          </a:p>
          <a:p>
            <a:endParaRPr dirty="0"/>
          </a:p>
          <a:p>
            <a:r>
              <a:rPr dirty="0"/>
              <a:t>Likely question and answer:</a:t>
            </a:r>
          </a:p>
          <a:p>
            <a:r>
              <a:rPr dirty="0"/>
              <a:t>Does 100% PC2 detection establish superiority? Only for the specified synthetic conditions. The no-change window alarm rate and PC1 trade-off must also be reported.</a:t>
            </a:r>
          </a:p>
          <a:p>
            <a:endParaRPr dirty="0"/>
          </a:p>
          <a:p>
            <a:r>
              <a:rPr dirty="0"/>
              <a:t>Evidence and cautions:</a:t>
            </a:r>
          </a:p>
          <a:p>
            <a:r>
              <a:rPr dirty="0"/>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B01 discrepancy</a:t>
            </a:r>
          </a:p>
          <a:p>
            <a:endParaRPr dirty="0"/>
          </a:p>
          <a:p>
            <a:r>
              <a:rPr dirty="0"/>
              <a:t>Suggested explanation (30–60 seconds):</a:t>
            </a:r>
          </a:p>
          <a:p>
            <a:r>
              <a:rPr dirty="0"/>
              <a:t>Two committed files agree on 17 warnings but disagree on validated totals, five versus zero. This is why result provenance matters. I cannot infer that one run supersedes the other from these tables alone.</a:t>
            </a:r>
          </a:p>
          <a:p>
            <a:endParaRPr dirty="0"/>
          </a:p>
          <a:p>
            <a:r>
              <a:rPr dirty="0"/>
              <a:t>Likely question and answer:</a:t>
            </a:r>
          </a:p>
          <a:p>
            <a:r>
              <a:rPr dirty="0"/>
              <a:t>What caused the difference? Not established by the saved CSVs. Check validation mode, windows, covariance, input representation and generating configuration.</a:t>
            </a:r>
          </a:p>
          <a:p>
            <a:endParaRPr dirty="0"/>
          </a:p>
          <a:p>
            <a:r>
              <a:rPr dirty="0"/>
              <a:t>Evidence and cautions:</a:t>
            </a:r>
          </a:p>
          <a:p>
            <a:r>
              <a:rPr dirty="0"/>
              <a:t>outputs/metrics/bci_2b_table1_results.csv and bci_table1_comparison.csv.</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2514279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Reproduction boundary</a:t>
            </a:r>
          </a:p>
          <a:p>
            <a:endParaRPr dirty="0"/>
          </a:p>
          <a:p>
            <a:r>
              <a:rPr dirty="0"/>
              <a:t>Suggested explanation (30–60 seconds):</a:t>
            </a:r>
          </a:p>
          <a:p>
            <a:r>
              <a:rPr dirty="0"/>
              <a:t>The combined results remain far below published validation counts. I can claim an executable reconstruction with measured discrepancies, but cannot claim numerical reproduction.</a:t>
            </a:r>
          </a:p>
          <a:p>
            <a:endParaRPr dirty="0"/>
          </a:p>
          <a:p>
            <a:r>
              <a:rPr dirty="0"/>
              <a:t>Likely question and answer:</a:t>
            </a:r>
          </a:p>
          <a:p>
            <a:r>
              <a:rPr dirty="0"/>
              <a:t>Should parameters be tuned to match published test counts? That would risk fitting to the evaluation target. Select on development data and report sensitivity separately.</a:t>
            </a:r>
          </a:p>
          <a:p>
            <a:endParaRPr dirty="0"/>
          </a:p>
          <a:p>
            <a:r>
              <a:rPr dirty="0"/>
              <a:t>Evidence and cautions:</a:t>
            </a:r>
          </a:p>
          <a:p>
            <a:r>
              <a:rPr dirty="0"/>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Implemented achievements</a:t>
            </a:r>
          </a:p>
          <a:p>
            <a:endParaRPr dirty="0"/>
          </a:p>
          <a:p>
            <a:r>
              <a:rPr dirty="0"/>
              <a:t>Suggested explanation (30–60 seconds):</a:t>
            </a:r>
          </a:p>
          <a:p>
            <a:r>
              <a:rPr dirty="0"/>
              <a:t>The main engineering milestone is the separation of representation, detection, validation and adaptation. Supervised updates use revealed labels; the transductive path uses confidence-gated pseudo-labels. Neither is yet the full dynamic CSE-UAEL ensemble.</a:t>
            </a:r>
          </a:p>
          <a:p>
            <a:endParaRPr dirty="0"/>
          </a:p>
          <a:p>
            <a:r>
              <a:rPr dirty="0"/>
              <a:t>Likely question and answer:</a:t>
            </a:r>
          </a:p>
          <a:p>
            <a:r>
              <a:rPr dirty="0"/>
              <a:t>Does implemented mean validated? No. Code and tests support behaviour; experiments must establish scientific benefit.</a:t>
            </a:r>
          </a:p>
          <a:p>
            <a:endParaRPr dirty="0"/>
          </a:p>
          <a:p>
            <a:r>
              <a:rPr dirty="0"/>
              <a:t>Evidence and cautions:</a:t>
            </a:r>
          </a:p>
          <a:p>
            <a:r>
              <a:rPr dirty="0"/>
              <a:t>Repository README and src/adaptation/transductive.py; inspected at f3ef2e8.</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Timeline</a:t>
            </a:r>
          </a:p>
          <a:p>
            <a:endParaRPr dirty="0"/>
          </a:p>
          <a:p>
            <a:r>
              <a:rPr dirty="0"/>
              <a:t>Suggested explanation (30–60 seconds):</a:t>
            </a:r>
          </a:p>
          <a:p>
            <a:r>
              <a:rPr dirty="0"/>
              <a:t>This is a proposed first-year plan. The current reconstruction and pilot experiments provide starting evidence for early work packages; the digital twin, sustainability and cross-domain work are future objectives.</a:t>
            </a:r>
          </a:p>
          <a:p>
            <a:endParaRPr dirty="0"/>
          </a:p>
          <a:p>
            <a:r>
              <a:rPr dirty="0"/>
              <a:t>Likely question and answer:</a:t>
            </a:r>
          </a:p>
          <a:p>
            <a:r>
              <a:rPr dirty="0"/>
              <a:t>Are these packages already completed? No. Distinguish the existing benchmark foundation from planned research outcomes.</a:t>
            </a:r>
          </a:p>
          <a:p>
            <a:endParaRPr dirty="0"/>
          </a:p>
          <a:p>
            <a:r>
              <a:rPr dirty="0"/>
              <a:t>Evidence and cautions:</a:t>
            </a:r>
          </a:p>
          <a:p>
            <a:r>
              <a:rPr dirty="0"/>
              <a:t>Proposed October2026–September2027 timeline retained from the source deck.</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Closing</a:t>
            </a:r>
          </a:p>
          <a:p>
            <a:endParaRPr dirty="0"/>
          </a:p>
          <a:p>
            <a:r>
              <a:rPr dirty="0"/>
              <a:t>Suggested explanation (30–60 seconds):</a:t>
            </a:r>
          </a:p>
          <a:p>
            <a:r>
              <a:rPr dirty="0"/>
              <a:t>The next milestone is a reproducible evidence package: reconcile detector runs, repeat the policy experiment across scenarios and seeds, and generate real EEG complementary traces. Then judge benefit alongside update burden and uncertainty.</a:t>
            </a:r>
          </a:p>
          <a:p>
            <a:endParaRPr dirty="0"/>
          </a:p>
          <a:p>
            <a:r>
              <a:rPr dirty="0"/>
              <a:t>Likely question and answer:</a:t>
            </a:r>
          </a:p>
          <a:p>
            <a:r>
              <a:rPr dirty="0"/>
              <a:t>What would count as success? Traceable configurations, repeated results with variability, a clear failure analysis, and evidence supporting a specific update policy under stated assumptions.</a:t>
            </a:r>
          </a:p>
          <a:p>
            <a:endParaRPr dirty="0"/>
          </a:p>
          <a:p>
            <a:r>
              <a:rPr dirty="0"/>
              <a:t>Evidence and cautions:</a:t>
            </a:r>
          </a:p>
          <a:p>
            <a:r>
              <a:rPr dirty="0"/>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dirty="0"/>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dirty="0"/>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dirty="0">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dirty="0"/>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dirty="0"/>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dirty="0"/>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dirty="0"/>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dirty="0"/>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dirty="0"/>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dirty="0"/>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dirty="0"/>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dirty="0"/>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dirty="0"/>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dirty="0"/>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dirty="0"/>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dirty="0"/>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dirty="0"/>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dirty="0"/>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dirty="0"/>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dirty="0"/>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dirty="0">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dirty="0"/>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dirty="0">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dirty="0"/>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dirty="0">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dirty="0"/>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dirty="0">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dirty="0">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dirty="0">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rPr dirty="0"/>
              <a:t>Diethe et al. (2019)</a:t>
            </a:r>
          </a:p>
          <a:p>
            <a:pPr>
              <a:spcAft>
                <a:spcPts val="900"/>
              </a:spcAft>
              <a:defRPr sz="1700" b="0">
                <a:solidFill>
                  <a:srgbClr val="78D8CC"/>
                </a:solidFill>
                <a:latin typeface="DejaVu Sans"/>
              </a:defRPr>
            </a:pPr>
            <a:r>
              <a:rPr dirty="0"/>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Step 1: aggregated feature-wise mean-CUSUM; estimate candidate split locations.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If mean change is not established: investigate second-order structure using wavelets and dynamic PCA.</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Stage I: sequential EWMA score and control-limit warnings.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Stage II: statistical validation (Hotelling T² or two-sample K–S, depending on formulation).</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rPr dirty="0"/>
              <a:t>Key boundary: retrospective CUSUM peak ≠ calibrated online alarm; EWMA warning ≠ confirmed shift.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PARK READING INSIGHT</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Several CUSUM peaks ≠ several confirmed changes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Interpret peak structure as competing change-point evidence, not as a multimodal EEG probability distribution.</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the curves provide</a:t>
            </a:r>
          </a:p>
        </p:txBody>
      </p:sp>
      <p:sp>
        <p:nvSpPr>
          <p:cNvPr id="8" name="TextBox 7"/>
          <p:cNvSpPr txBox="1"/>
          <p:nvPr/>
        </p:nvSpPr>
        <p:spPr>
          <a:xfrm>
            <a:off x="795528" y="2551176"/>
            <a:ext cx="5038344" cy="1357295"/>
          </a:xfrm>
          <a:prstGeom prst="rect">
            <a:avLst/>
          </a:prstGeom>
          <a:noFill/>
        </p:spPr>
        <p:txBody>
          <a:bodyPr wrap="square" lIns="27432" tIns="18288">
            <a:spAutoFit/>
          </a:bodyPr>
          <a:lstStyle/>
          <a:p>
            <a:pPr>
              <a:spcAft>
                <a:spcPts val="600"/>
              </a:spcAft>
              <a:defRPr sz="1300" b="0">
                <a:solidFill>
                  <a:srgbClr val="12233B"/>
                </a:solidFill>
                <a:latin typeface="Aptos"/>
              </a:defRPr>
            </a:pPr>
            <a:r>
              <a:rPr sz="1200" dirty="0"/>
              <a:t>ν_max(t): strongest feature-wise normalised mean contrast at candidate t.</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sz="1200" dirty="0"/>
              <a:t>ν_avg(t): mean contrast across features.</a:t>
            </a:r>
          </a:p>
          <a:p>
            <a:pPr>
              <a:spcAft>
                <a:spcPts val="600"/>
              </a:spcAft>
              <a:defRPr sz="1300" b="0">
                <a:solidFill>
                  <a:srgbClr val="12233B"/>
                </a:solidFill>
                <a:latin typeface="Aptos"/>
              </a:defRPr>
            </a:pPr>
            <a:endParaRPr sz="1200" dirty="0"/>
          </a:p>
          <a:p>
            <a:pPr>
              <a:spcAft>
                <a:spcPts val="600"/>
              </a:spcAft>
              <a:defRPr sz="1300" b="0">
                <a:solidFill>
                  <a:srgbClr val="12233B"/>
                </a:solidFill>
                <a:latin typeface="Aptos"/>
              </a:defRPr>
            </a:pPr>
            <a:r>
              <a:rPr sz="1200" dirty="0"/>
              <a:t>Both identify candidate locations; their global maxima can disagree.</a:t>
            </a:r>
          </a:p>
        </p:txBody>
      </p:sp>
      <p:sp>
        <p:nvSpPr>
          <p:cNvPr id="9" name="Rounded Rectangle 8"/>
          <p:cNvSpPr/>
          <p:nvPr/>
        </p:nvSpPr>
        <p:spPr>
          <a:xfrm>
            <a:off x="621792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needs investigation</a:t>
            </a:r>
          </a:p>
        </p:txBody>
      </p:sp>
      <p:sp>
        <p:nvSpPr>
          <p:cNvPr id="11" name="TextBox 10"/>
          <p:cNvSpPr txBox="1"/>
          <p:nvPr/>
        </p:nvSpPr>
        <p:spPr>
          <a:xfrm>
            <a:off x="6373368" y="2551176"/>
            <a:ext cx="5038344" cy="2798063"/>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Several local peaks could reflect heterogeneous feature responses, multiple changes, or stochastic fluctuations.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Inspect feature-wise traces, segmentation, dependence and metadata; do not infer an external cause from peaks alone.</a:t>
            </a:r>
          </a:p>
        </p:txBody>
      </p:sp>
      <p:sp>
        <p:nvSpPr>
          <p:cNvPr id="12" name="TextBox 11"/>
          <p:cNvSpPr txBox="1"/>
          <p:nvPr/>
        </p:nvSpPr>
        <p:spPr>
          <a:xfrm>
            <a:off x="822960" y="5669280"/>
            <a:ext cx="10972800" cy="411480"/>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Park et al. (2023), DOI 10.29220/CSAM.2023.30.4.369; Fearnhead &amp; Rigaill (2020), DOI 10.1002/sta4.291.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IMPLEMENTED</a:t>
            </a:r>
          </a:p>
        </p:txBody>
      </p:sp>
      <p:sp>
        <p:nvSpPr>
          <p:cNvPr id="8" name="TextBox 7"/>
          <p:cNvSpPr txBox="1"/>
          <p:nvPr/>
        </p:nvSpPr>
        <p:spPr>
          <a:xfrm>
            <a:off x="79552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Positive-mean input validation.</a:t>
            </a:r>
          </a:p>
          <a:p>
            <a:pPr>
              <a:spcAft>
                <a:spcPts val="600"/>
              </a:spcAft>
              <a:defRPr sz="1300" b="0">
                <a:solidFill>
                  <a:srgbClr val="12233B"/>
                </a:solidFill>
                <a:latin typeface="Aptos"/>
              </a:defRPr>
            </a:pPr>
            <a:r>
              <a:rPr dirty="0"/>
              <a:t>Feature-wise normalised mean-CUSUM.</a:t>
            </a:r>
          </a:p>
          <a:p>
            <a:pPr>
              <a:spcAft>
                <a:spcPts val="600"/>
              </a:spcAft>
              <a:defRPr sz="1300" b="0">
                <a:solidFill>
                  <a:srgbClr val="12233B"/>
                </a:solidFill>
                <a:latin typeface="Aptos"/>
              </a:defRPr>
            </a:pPr>
            <a:r>
              <a:rPr dirty="0"/>
              <a:t>Maximum/average aggregation.</a:t>
            </a:r>
          </a:p>
          <a:p>
            <a:pPr>
              <a:spcAft>
                <a:spcPts val="600"/>
              </a:spcAft>
              <a:defRPr sz="1300" b="0">
                <a:solidFill>
                  <a:srgbClr val="12233B"/>
                </a:solidFill>
                <a:latin typeface="Aptos"/>
              </a:defRPr>
            </a:pPr>
            <a:r>
              <a:rPr dirty="0"/>
              <a:t>Global peak locations and separation.</a:t>
            </a:r>
          </a:p>
          <a:p>
            <a:pPr>
              <a:spcAft>
                <a:spcPts val="600"/>
              </a:spcAft>
              <a:defRPr sz="1300" b="0">
                <a:solidFill>
                  <a:srgbClr val="12233B"/>
                </a:solidFill>
                <a:latin typeface="Aptos"/>
              </a:defRPr>
            </a:pPr>
            <a:r>
              <a:rPr dirty="0"/>
              <a:t>Python visualisation + MATLAB feature export.</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Park unimodality and peak-agreement confirmation.</a:t>
            </a:r>
          </a:p>
          <a:p>
            <a:pPr>
              <a:spcAft>
                <a:spcPts val="600"/>
              </a:spcAft>
              <a:defRPr sz="1300" b="0">
                <a:solidFill>
                  <a:srgbClr val="12233B"/>
                </a:solidFill>
                <a:latin typeface="Aptos"/>
              </a:defRPr>
            </a:pPr>
            <a:r>
              <a:rPr dirty="0"/>
              <a:t>Multiple-change-point detection.</a:t>
            </a:r>
          </a:p>
          <a:p>
            <a:pPr>
              <a:spcAft>
                <a:spcPts val="600"/>
              </a:spcAft>
              <a:defRPr sz="1300" b="0">
                <a:solidFill>
                  <a:srgbClr val="12233B"/>
                </a:solidFill>
                <a:latin typeface="Aptos"/>
              </a:defRPr>
            </a:pPr>
            <a:r>
              <a:rPr dirty="0"/>
              <a:t>Calibrated false-alarm control.</a:t>
            </a:r>
          </a:p>
          <a:p>
            <a:pPr>
              <a:spcAft>
                <a:spcPts val="600"/>
              </a:spcAft>
              <a:defRPr sz="1300" b="0">
                <a:solidFill>
                  <a:srgbClr val="12233B"/>
                </a:solidFill>
                <a:latin typeface="Aptos"/>
              </a:defRPr>
            </a:pPr>
            <a:r>
              <a:rPr dirty="0"/>
              <a:t>Matched EEG feature-space comparisons.</a:t>
            </a:r>
          </a:p>
          <a:p>
            <a:pPr>
              <a:spcAft>
                <a:spcPts val="600"/>
              </a:spcAft>
              <a:defRPr sz="1300" b="0">
                <a:solidFill>
                  <a:srgbClr val="12233B"/>
                </a:solidFill>
                <a:latin typeface="Aptos"/>
              </a:defRPr>
            </a:pPr>
            <a:r>
              <a:rPr dirty="0"/>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Kronecker delta identifies matching indices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Index equality gives a compact way to express identity and orthogonality.</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today’s Park Notion annotations and mathematical clarification. General identities, not a verbatim paper equation.</a:t>
            </a:r>
          </a:p>
        </p:txBody>
      </p:sp>
      <p:pic>
        <p:nvPicPr>
          <p:cNvPr id="6" name="Picture 5" descr="eq1.png"/>
          <p:cNvPicPr>
            <a:picLocks noChangeAspect="1"/>
          </p:cNvPicPr>
          <p:nvPr/>
        </p:nvPicPr>
        <p:blipFill>
          <a:blip r:embed="rId3"/>
          <a:stretch>
            <a:fillRect/>
          </a:stretch>
        </p:blipFill>
        <p:spPr>
          <a:xfrm>
            <a:off x="822960" y="2377440"/>
            <a:ext cx="4842125" cy="548640"/>
          </a:xfrm>
          <a:prstGeom prst="rect">
            <a:avLst/>
          </a:prstGeom>
        </p:spPr>
      </p:pic>
      <p:sp>
        <p:nvSpPr>
          <p:cNvPr id="7" name="TextBox 6"/>
          <p:cNvSpPr txBox="1"/>
          <p:nvPr/>
        </p:nvSpPr>
        <p:spPr>
          <a:xfrm>
            <a:off x="822960" y="3383280"/>
            <a:ext cx="5212080" cy="2194560"/>
          </a:xfrm>
          <a:prstGeom prst="rect">
            <a:avLst/>
          </a:prstGeom>
          <a:noFill/>
        </p:spPr>
        <p:txBody>
          <a:bodyPr wrap="square">
            <a:spAutoFit/>
          </a:bodyPr>
          <a:lstStyle/>
          <a:p>
            <a:pPr>
              <a:spcAft>
                <a:spcPts val="1200"/>
              </a:spcAft>
              <a:defRPr sz="2100" b="0">
                <a:solidFill>
                  <a:srgbClr val="12233B"/>
                </a:solidFill>
                <a:latin typeface="Aptos"/>
              </a:defRPr>
            </a:pPr>
            <a:r>
              <a:rPr dirty="0"/>
              <a:t>i and j label coordinates or components.</a:t>
            </a:r>
          </a:p>
          <a:p>
            <a:pPr>
              <a:spcAft>
                <a:spcPts val="1200"/>
              </a:spcAft>
              <a:defRPr sz="2100" b="0">
                <a:solidFill>
                  <a:srgbClr val="12233B"/>
                </a:solidFill>
                <a:latin typeface="Aptos"/>
              </a:defRPr>
            </a:pPr>
            <a:r>
              <a:rPr dirty="0"/>
              <a:t>The comparison concerns indices, even when two observed values happen to be equal.</a:t>
            </a:r>
          </a:p>
        </p:txBody>
      </p:sp>
      <p:sp>
        <p:nvSpPr>
          <p:cNvPr id="8" name="TextBox 7"/>
          <p:cNvSpPr txBox="1"/>
          <p:nvPr/>
        </p:nvSpPr>
        <p:spPr>
          <a:xfrm>
            <a:off x="6400800" y="3383280"/>
            <a:ext cx="4846320" cy="2194560"/>
          </a:xfrm>
          <a:prstGeom prst="rect">
            <a:avLst/>
          </a:prstGeom>
          <a:noFill/>
        </p:spPr>
        <p:txBody>
          <a:bodyPr wrap="square">
            <a:spAutoFit/>
          </a:bodyPr>
          <a:lstStyle/>
          <a:p>
            <a:pPr>
              <a:spcAft>
                <a:spcPts val="1200"/>
              </a:spcAft>
              <a:defRPr sz="2100" b="0">
                <a:solidFill>
                  <a:srgbClr val="12233B"/>
                </a:solidFill>
                <a:latin typeface="Aptos"/>
              </a:defRPr>
            </a:pPr>
            <a:r>
              <a:rPr dirty="0"/>
              <a:t>The matrix [δᵢⱼ] is the identity matrix.</a:t>
            </a:r>
          </a:p>
          <a:p>
            <a:pPr>
              <a:spcAft>
                <a:spcPts val="1200"/>
              </a:spcAft>
              <a:defRPr sz="2100" b="0">
                <a:solidFill>
                  <a:srgbClr val="12233B"/>
                </a:solidFill>
                <a:latin typeface="Aptos"/>
              </a:defRPr>
            </a:pPr>
            <a:r>
              <a:rPr dirty="0"/>
              <a:t>A delta expression alone does not specify a random variable’s variance or independence.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Covariance and independence require separate assumptions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Zero-mean, unit-variance innovations can have identity covariance.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12 October chat analysis. Illustrative standardised-innovation condition, not verified as Park’s exact notation.</a:t>
            </a:r>
          </a:p>
        </p:txBody>
      </p:sp>
      <p:pic>
        <p:nvPicPr>
          <p:cNvPr id="6" name="Picture 5" descr="eq2.png"/>
          <p:cNvPicPr>
            <a:picLocks noChangeAspect="1"/>
          </p:cNvPicPr>
          <p:nvPr/>
        </p:nvPicPr>
        <p:blipFill>
          <a:blip r:embed="rId3"/>
          <a:stretch>
            <a:fillRect/>
          </a:stretch>
        </p:blipFill>
        <p:spPr>
          <a:xfrm>
            <a:off x="822960" y="2286000"/>
            <a:ext cx="4768302" cy="640080"/>
          </a:xfrm>
          <a:prstGeom prst="rect">
            <a:avLst/>
          </a:prstGeom>
        </p:spPr>
      </p:pic>
      <p:sp>
        <p:nvSpPr>
          <p:cNvPr id="7" name="TextBox 6"/>
          <p:cNvSpPr txBox="1"/>
          <p:nvPr/>
        </p:nvSpPr>
        <p:spPr>
          <a:xfrm>
            <a:off x="822960" y="3337560"/>
            <a:ext cx="5120640" cy="2377440"/>
          </a:xfrm>
          <a:prstGeom prst="rect">
            <a:avLst/>
          </a:prstGeom>
          <a:noFill/>
        </p:spPr>
        <p:txBody>
          <a:bodyPr wrap="square">
            <a:spAutoFit/>
          </a:bodyPr>
          <a:lstStyle/>
          <a:p>
            <a:pPr>
              <a:spcAft>
                <a:spcPts val="1200"/>
              </a:spcAft>
              <a:defRPr sz="2000" b="0">
                <a:solidFill>
                  <a:srgbClr val="12233B"/>
                </a:solidFill>
                <a:latin typeface="Aptos"/>
              </a:defRPr>
            </a:pPr>
            <a:r>
              <a:rPr dirty="0"/>
              <a:t>Diagonal entries equal 1 under unit variance. Off-diagonal entries equal 0 under zero covariance.</a:t>
            </a:r>
          </a:p>
          <a:p>
            <a:pPr>
              <a:spcAft>
                <a:spcPts val="1200"/>
              </a:spcAft>
              <a:defRPr sz="2000" b="0">
                <a:solidFill>
                  <a:srgbClr val="12233B"/>
                </a:solidFill>
                <a:latin typeface="Aptos"/>
              </a:defRPr>
            </a:pPr>
            <a:r>
              <a:rPr dirty="0"/>
              <a:t>Without zero means, E[ZᵢZⱼ] also includes the product of the means.</a:t>
            </a:r>
          </a:p>
        </p:txBody>
      </p:sp>
      <p:sp>
        <p:nvSpPr>
          <p:cNvPr id="8" name="TextBox 7"/>
          <p:cNvSpPr txBox="1"/>
          <p:nvPr/>
        </p:nvSpPr>
        <p:spPr>
          <a:xfrm>
            <a:off x="6400800" y="3337560"/>
            <a:ext cx="4846320" cy="2377440"/>
          </a:xfrm>
          <a:prstGeom prst="rect">
            <a:avLst/>
          </a:prstGeom>
          <a:noFill/>
        </p:spPr>
        <p:txBody>
          <a:bodyPr wrap="square">
            <a:spAutoFit/>
          </a:bodyPr>
          <a:lstStyle/>
          <a:p>
            <a:pPr>
              <a:spcAft>
                <a:spcPts val="1200"/>
              </a:spcAft>
              <a:defRPr sz="2000" b="0">
                <a:solidFill>
                  <a:srgbClr val="12233B"/>
                </a:solidFill>
                <a:latin typeface="Aptos"/>
              </a:defRPr>
            </a:pPr>
            <a:r>
              <a:rPr dirty="0"/>
              <a:t>Uncorrelated variables need not be independent.</a:t>
            </a:r>
          </a:p>
          <a:p>
            <a:pPr>
              <a:spcAft>
                <a:spcPts val="1200"/>
              </a:spcAft>
              <a:defRPr sz="2000" b="0">
                <a:solidFill>
                  <a:srgbClr val="12233B"/>
                </a:solidFill>
                <a:latin typeface="Aptos"/>
              </a:defRPr>
            </a:pPr>
            <a:r>
              <a:rPr dirty="0"/>
              <a:t>For a jointly Gaussian vector, zero covariance between components implies independence.</a:t>
            </a:r>
          </a:p>
          <a:p>
            <a:pPr>
              <a:spcAft>
                <a:spcPts val="1200"/>
              </a:spcAft>
              <a:defRPr sz="2000" b="0">
                <a:solidFill>
                  <a:srgbClr val="12233B"/>
                </a:solidFill>
                <a:latin typeface="Aptos"/>
              </a:defRPr>
            </a:pPr>
            <a:r>
              <a:rPr dirty="0"/>
              <a:t>The observed EEG channels can still be dependent.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A coordinate derivative describes sensitivity</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The derivative in today’s notes and statistical variance answer different questions.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user’s Park Notion notes, corrected through today’s mathematical discussion.</a:t>
            </a:r>
          </a:p>
        </p:txBody>
      </p:sp>
      <p:pic>
        <p:nvPicPr>
          <p:cNvPr id="6" name="Picture 5" descr="eq3.png"/>
          <p:cNvPicPr>
            <a:picLocks noChangeAspect="1"/>
          </p:cNvPicPr>
          <p:nvPr/>
        </p:nvPicPr>
        <p:blipFill>
          <a:blip r:embed="rId3"/>
          <a:stretch>
            <a:fillRect/>
          </a:stretch>
        </p:blipFill>
        <p:spPr>
          <a:xfrm>
            <a:off x="822960" y="2286000"/>
            <a:ext cx="1185500" cy="640080"/>
          </a:xfrm>
          <a:prstGeom prst="rect">
            <a:avLst/>
          </a:prstGeom>
        </p:spPr>
      </p:pic>
      <p:pic>
        <p:nvPicPr>
          <p:cNvPr id="7" name="Picture 6" descr="eq4.png"/>
          <p:cNvPicPr>
            <a:picLocks noChangeAspect="1"/>
          </p:cNvPicPr>
          <p:nvPr/>
        </p:nvPicPr>
        <p:blipFill>
          <a:blip r:embed="rId4"/>
          <a:stretch>
            <a:fillRect/>
          </a:stretch>
        </p:blipFill>
        <p:spPr>
          <a:xfrm>
            <a:off x="6217920" y="2286000"/>
            <a:ext cx="4806526" cy="640080"/>
          </a:xfrm>
          <a:prstGeom prst="rect">
            <a:avLst/>
          </a:prstGeom>
        </p:spPr>
      </p:pic>
      <p:sp>
        <p:nvSpPr>
          <p:cNvPr id="8" name="TextBox 7"/>
          <p:cNvSpPr txBox="1"/>
          <p:nvPr/>
        </p:nvSpPr>
        <p:spPr>
          <a:xfrm>
            <a:off x="822960" y="3429000"/>
            <a:ext cx="5120640" cy="1188720"/>
          </a:xfrm>
          <a:prstGeom prst="rect">
            <a:avLst/>
          </a:prstGeom>
          <a:noFill/>
        </p:spPr>
        <p:txBody>
          <a:bodyPr wrap="square">
            <a:spAutoFit/>
          </a:bodyPr>
          <a:lstStyle/>
          <a:p>
            <a:pPr>
              <a:spcAft>
                <a:spcPts val="1200"/>
              </a:spcAft>
              <a:defRPr sz="2000" b="0">
                <a:solidFill>
                  <a:srgbClr val="12233B"/>
                </a:solidFill>
                <a:latin typeface="Aptos"/>
              </a:defRPr>
            </a:pPr>
            <a:r>
              <a:rPr dirty="0"/>
              <a:t>The derivative is an entry of the identity Jacobian when wᵢ are independent coordinates.</a:t>
            </a:r>
          </a:p>
        </p:txBody>
      </p:sp>
      <p:sp>
        <p:nvSpPr>
          <p:cNvPr id="9" name="TextBox 8"/>
          <p:cNvSpPr txBox="1"/>
          <p:nvPr/>
        </p:nvSpPr>
        <p:spPr>
          <a:xfrm>
            <a:off x="6400800" y="3429000"/>
            <a:ext cx="4846320" cy="1188720"/>
          </a:xfrm>
          <a:prstGeom prst="rect">
            <a:avLst/>
          </a:prstGeom>
          <a:noFill/>
        </p:spPr>
        <p:txBody>
          <a:bodyPr wrap="square">
            <a:spAutoFit/>
          </a:bodyPr>
          <a:lstStyle/>
          <a:p>
            <a:pPr>
              <a:spcAft>
                <a:spcPts val="1200"/>
              </a:spcAft>
              <a:defRPr sz="2000" b="0">
                <a:solidFill>
                  <a:srgbClr val="12233B"/>
                </a:solidFill>
                <a:latin typeface="Aptos"/>
              </a:defRPr>
            </a:pPr>
            <a:r>
              <a:rPr dirty="0"/>
              <a:t>Variance measures expected squared deviation from a random variable’s mean.</a:t>
            </a:r>
          </a:p>
        </p:txBody>
      </p:sp>
      <p:pic>
        <p:nvPicPr>
          <p:cNvPr id="10" name="Picture 9" descr="eq5.png"/>
          <p:cNvPicPr>
            <a:picLocks noChangeAspect="1"/>
          </p:cNvPicPr>
          <p:nvPr/>
        </p:nvPicPr>
        <p:blipFill>
          <a:blip r:embed="rId5"/>
          <a:stretch>
            <a:fillRect/>
          </a:stretch>
        </p:blipFill>
        <p:spPr>
          <a:xfrm>
            <a:off x="822960" y="4846320"/>
            <a:ext cx="4052047" cy="457200"/>
          </a:xfrm>
          <a:prstGeom prst="rect">
            <a:avLst/>
          </a:prstGeom>
        </p:spPr>
      </p:pic>
      <p:sp>
        <p:nvSpPr>
          <p:cNvPr id="11" name="TextBox 10"/>
          <p:cNvSpPr txBox="1"/>
          <p:nvPr/>
        </p:nvSpPr>
        <p:spPr>
          <a:xfrm>
            <a:off x="7589520" y="4800600"/>
            <a:ext cx="3749039" cy="1097280"/>
          </a:xfrm>
          <a:prstGeom prst="rect">
            <a:avLst/>
          </a:prstGeom>
          <a:noFill/>
        </p:spPr>
        <p:txBody>
          <a:bodyPr wrap="square">
            <a:spAutoFit/>
          </a:bodyPr>
          <a:lstStyle/>
          <a:p>
            <a:pPr>
              <a:spcAft>
                <a:spcPts val="1200"/>
              </a:spcAft>
              <a:defRPr sz="1700" b="0">
                <a:solidFill>
                  <a:srgbClr val="12233B"/>
                </a:solidFill>
                <a:latin typeface="Aptos"/>
              </a:defRPr>
            </a:pPr>
            <a:r>
              <a:rPr dirty="0"/>
              <a:t>This is a separate online learning rule. Define the error convention and learning rate before interpreting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Daubechies wavelets resolve local variation</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Wavelet scale and position describe where different patterns occur in time.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Park Notion reading target; Wavelet background, Biometrika (2018), 105(4), 833–848. Specific Park settings remain to verify.</a:t>
            </a:r>
          </a:p>
        </p:txBody>
      </p:sp>
      <p:pic>
        <p:nvPicPr>
          <p:cNvPr id="6" name="Picture 5" descr="eq6.png"/>
          <p:cNvPicPr>
            <a:picLocks noChangeAspect="1"/>
          </p:cNvPicPr>
          <p:nvPr/>
        </p:nvPicPr>
        <p:blipFill>
          <a:blip r:embed="rId3"/>
          <a:stretch>
            <a:fillRect/>
          </a:stretch>
        </p:blipFill>
        <p:spPr>
          <a:xfrm>
            <a:off x="822960" y="2331720"/>
            <a:ext cx="4894897" cy="548640"/>
          </a:xfrm>
          <a:prstGeom prst="rect">
            <a:avLst/>
          </a:prstGeom>
        </p:spPr>
      </p:pic>
      <p:sp>
        <p:nvSpPr>
          <p:cNvPr id="7" name="TextBox 6"/>
          <p:cNvSpPr txBox="1"/>
          <p:nvPr/>
        </p:nvSpPr>
        <p:spPr>
          <a:xfrm>
            <a:off x="822960" y="3337560"/>
            <a:ext cx="5120640" cy="2468880"/>
          </a:xfrm>
          <a:prstGeom prst="rect">
            <a:avLst/>
          </a:prstGeom>
          <a:noFill/>
        </p:spPr>
        <p:txBody>
          <a:bodyPr wrap="square">
            <a:spAutoFit/>
          </a:bodyPr>
          <a:lstStyle/>
          <a:p>
            <a:pPr>
              <a:spcAft>
                <a:spcPts val="1200"/>
              </a:spcAft>
              <a:defRPr sz="2000" b="0">
                <a:solidFill>
                  <a:srgbClr val="12233B"/>
                </a:solidFill>
                <a:latin typeface="Aptos"/>
              </a:defRPr>
            </a:pPr>
            <a:r>
              <a:rPr dirty="0"/>
              <a:t>ψ is the wavelet. N is its number of vanishing moments.</a:t>
            </a:r>
          </a:p>
          <a:p>
            <a:pPr>
              <a:spcAft>
                <a:spcPts val="1200"/>
              </a:spcAft>
              <a:defRPr sz="2000" b="0">
                <a:solidFill>
                  <a:srgbClr val="12233B"/>
                </a:solidFill>
                <a:latin typeface="Aptos"/>
              </a:defRPr>
            </a:pPr>
            <a:r>
              <a:rPr dirty="0"/>
              <a:t>The integral vanishes for polynomial components below degree N, helping isolate local detail.</a:t>
            </a:r>
          </a:p>
          <a:p>
            <a:pPr>
              <a:spcAft>
                <a:spcPts val="1200"/>
              </a:spcAft>
              <a:defRPr sz="2000" b="0">
                <a:solidFill>
                  <a:srgbClr val="12233B"/>
                </a:solidFill>
                <a:latin typeface="Aptos"/>
              </a:defRPr>
            </a:pPr>
            <a:r>
              <a:rPr dirty="0"/>
              <a:t>Compact support localises the wavelet in time.</a:t>
            </a:r>
          </a:p>
        </p:txBody>
      </p:sp>
      <p:sp>
        <p:nvSpPr>
          <p:cNvPr id="8" name="TextBox 7"/>
          <p:cNvSpPr txBox="1"/>
          <p:nvPr/>
        </p:nvSpPr>
        <p:spPr>
          <a:xfrm>
            <a:off x="6400800" y="3337560"/>
            <a:ext cx="4846320" cy="2468880"/>
          </a:xfrm>
          <a:prstGeom prst="rect">
            <a:avLst/>
          </a:prstGeom>
          <a:noFill/>
        </p:spPr>
        <p:txBody>
          <a:bodyPr wrap="square">
            <a:spAutoFit/>
          </a:bodyPr>
          <a:lstStyle/>
          <a:p>
            <a:pPr>
              <a:spcAft>
                <a:spcPts val="1200"/>
              </a:spcAft>
              <a:defRPr sz="2000" b="0">
                <a:solidFill>
                  <a:srgbClr val="12233B"/>
                </a:solidFill>
                <a:latin typeface="Aptos"/>
              </a:defRPr>
            </a:pPr>
            <a:r>
              <a:rPr dirty="0"/>
              <a:t>Scale controls the duration of patterns. Position controls their location.</a:t>
            </a:r>
          </a:p>
          <a:p>
            <a:pPr>
              <a:spcAft>
                <a:spcPts val="1200"/>
              </a:spcAft>
              <a:defRPr sz="2000" b="0">
                <a:solidFill>
                  <a:srgbClr val="12233B"/>
                </a:solidFill>
                <a:latin typeface="Aptos"/>
              </a:defRPr>
            </a:pPr>
            <a:r>
              <a:rPr dirty="0"/>
              <a:t>Longer filters trade localisation for additional smoothness or vanishing moments.</a:t>
            </a:r>
          </a:p>
          <a:p>
            <a:pPr>
              <a:spcAft>
                <a:spcPts val="1200"/>
              </a:spcAft>
              <a:defRPr sz="2000" b="0">
                <a:solidFill>
                  <a:srgbClr val="12233B"/>
                </a:solidFill>
                <a:latin typeface="Aptos"/>
              </a:defRPr>
            </a:pPr>
            <a:r>
              <a:rPr dirty="0"/>
              <a:t>Next: verify Park’s filter convention, scale range and boundary treatment.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Transfer matrices can create observed dependence</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Identity covariance of innovations does not force identity covariance of observations.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explanatory linear-transform identity. Park’s full locally stationary wavelet construction requires separate source verification.</a:t>
            </a:r>
          </a:p>
        </p:txBody>
      </p:sp>
      <p:pic>
        <p:nvPicPr>
          <p:cNvPr id="6" name="Picture 5" descr="eq7.png"/>
          <p:cNvPicPr>
            <a:picLocks noChangeAspect="1"/>
          </p:cNvPicPr>
          <p:nvPr/>
        </p:nvPicPr>
        <p:blipFill>
          <a:blip r:embed="rId3"/>
          <a:stretch>
            <a:fillRect/>
          </a:stretch>
        </p:blipFill>
        <p:spPr>
          <a:xfrm>
            <a:off x="822960" y="2240280"/>
            <a:ext cx="8056391" cy="640080"/>
          </a:xfrm>
          <a:prstGeom prst="rect">
            <a:avLst/>
          </a:prstGeom>
        </p:spPr>
      </p:pic>
      <p:pic>
        <p:nvPicPr>
          <p:cNvPr id="7" name="Picture 6" descr="eq8.png"/>
          <p:cNvPicPr>
            <a:picLocks noChangeAspect="1"/>
          </p:cNvPicPr>
          <p:nvPr/>
        </p:nvPicPr>
        <p:blipFill>
          <a:blip r:embed="rId4"/>
          <a:stretch>
            <a:fillRect/>
          </a:stretch>
        </p:blipFill>
        <p:spPr>
          <a:xfrm>
            <a:off x="822960" y="3246120"/>
            <a:ext cx="9144000" cy="661253"/>
          </a:xfrm>
          <a:prstGeom prst="rect">
            <a:avLst/>
          </a:prstGeom>
        </p:spPr>
      </p:pic>
      <p:sp>
        <p:nvSpPr>
          <p:cNvPr id="8" name="TextBox 7"/>
          <p:cNvSpPr txBox="1"/>
          <p:nvPr/>
        </p:nvSpPr>
        <p:spPr>
          <a:xfrm>
            <a:off x="822960" y="4434840"/>
            <a:ext cx="10515600" cy="1371600"/>
          </a:xfrm>
          <a:prstGeom prst="rect">
            <a:avLst/>
          </a:prstGeom>
          <a:noFill/>
        </p:spPr>
        <p:txBody>
          <a:bodyPr wrap="square">
            <a:spAutoFit/>
          </a:bodyPr>
          <a:lstStyle/>
          <a:p>
            <a:pPr>
              <a:spcAft>
                <a:spcPts val="1200"/>
              </a:spcAft>
              <a:defRPr sz="2100" b="0">
                <a:solidFill>
                  <a:srgbClr val="12233B"/>
                </a:solidFill>
                <a:latin typeface="Aptos"/>
              </a:defRPr>
            </a:pPr>
            <a:r>
              <a:rPr dirty="0"/>
              <a:t>For a ≠ 0, the observed components have nonzero cross-covariance.</a:t>
            </a:r>
          </a:p>
          <a:p>
            <a:pPr>
              <a:spcAft>
                <a:spcPts val="1200"/>
              </a:spcAft>
              <a:defRPr sz="2100" b="0">
                <a:solidFill>
                  <a:srgbClr val="12233B"/>
                </a:solidFill>
                <a:latin typeface="Aptos"/>
              </a:defRPr>
            </a:pPr>
            <a:r>
              <a:rPr dirty="0"/>
              <a:t>Time-varying transfer coefficients can change variance or dependence while leaving the mean unchanged. This motivates the second-order reading pathway.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rPr dirty="0"/>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dirty="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rPr dirty="0"/>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EEG-NAC</a:t>
                      </a:r>
                    </a:p>
                  </a:txBody>
                  <a:tcPr>
                    <a:solidFill>
                      <a:srgbClr val="132436"/>
                    </a:solidFill>
                  </a:tcPr>
                </a:tc>
                <a:tc>
                  <a:txBody>
                    <a:bodyPr/>
                    <a:lstStyle/>
                    <a:p>
                      <a:r>
                        <a:rPr sz="1725" b="1" dirty="0">
                          <a:solidFill>
                            <a:srgbClr val="2DD4BF"/>
                          </a:solidFill>
                          <a:latin typeface="DejaVu Sans"/>
                          <a:ea typeface="DejaVu Sans"/>
                          <a:cs typeface="DejaVu Sans"/>
                        </a:rPr>
                        <a:t>EEG-CSAC</a:t>
                      </a:r>
                    </a:p>
                  </a:txBody>
                  <a:tcPr>
                    <a:solidFill>
                      <a:srgbClr val="132436"/>
                    </a:solidFill>
                  </a:tcPr>
                </a:tc>
                <a:tc>
                  <a:txBody>
                    <a:bodyPr/>
                    <a:lstStyle/>
                    <a:p>
                      <a:r>
                        <a:rPr sz="1725" b="1" dirty="0">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 (n = 10)</a:t>
                      </a:r>
                    </a:p>
                  </a:txBody>
                  <a:tcPr>
                    <a:solidFill>
                      <a:srgbClr val="09121F"/>
                    </a:solidFill>
                  </a:tcPr>
                </a:tc>
                <a:tc>
                  <a:txBody>
                    <a:bodyPr/>
                    <a:lstStyle/>
                    <a:p>
                      <a:r>
                        <a:rPr sz="1725" b="0" dirty="0">
                          <a:solidFill>
                            <a:srgbClr val="EAF2F8"/>
                          </a:solidFill>
                          <a:latin typeface="DejaVu Sans"/>
                          <a:ea typeface="DejaVu Sans"/>
                          <a:cs typeface="DejaVu Sans"/>
                        </a:rPr>
                        <a:t>75.25 ± 5.46%</a:t>
                      </a:r>
                    </a:p>
                  </a:txBody>
                  <a:tcPr>
                    <a:solidFill>
                      <a:srgbClr val="09121F"/>
                    </a:solidFill>
                  </a:tcPr>
                </a:tc>
                <a:tc>
                  <a:txBody>
                    <a:bodyPr/>
                    <a:lstStyle/>
                    <a:p>
                      <a:r>
                        <a:rPr sz="1725" b="0" dirty="0">
                          <a:solidFill>
                            <a:srgbClr val="EAF2F8"/>
                          </a:solidFill>
                          <a:latin typeface="DejaVu Sans"/>
                          <a:ea typeface="DejaVu Sans"/>
                          <a:cs typeface="DejaVu Sans"/>
                        </a:rPr>
                        <a:t>81.50 ± 4.89%</a:t>
                      </a:r>
                    </a:p>
                  </a:txBody>
                  <a:tcPr>
                    <a:solidFill>
                      <a:srgbClr val="09121F"/>
                    </a:solidFill>
                  </a:tcPr>
                </a:tc>
                <a:tc>
                  <a:txBody>
                    <a:bodyPr/>
                    <a:lstStyle/>
                    <a:p>
                      <a:r>
                        <a:rPr sz="1725" b="0" dirty="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 (n = 10)</a:t>
                      </a:r>
                    </a:p>
                  </a:txBody>
                  <a:tcPr>
                    <a:solidFill>
                      <a:srgbClr val="09121F"/>
                    </a:solidFill>
                  </a:tcPr>
                </a:tc>
                <a:tc>
                  <a:txBody>
                    <a:bodyPr/>
                    <a:lstStyle/>
                    <a:p>
                      <a:r>
                        <a:rPr sz="1725" b="0" dirty="0">
                          <a:solidFill>
                            <a:srgbClr val="EAF2F8"/>
                          </a:solidFill>
                          <a:latin typeface="DejaVu Sans"/>
                          <a:ea typeface="DejaVu Sans"/>
                          <a:cs typeface="DejaVu Sans"/>
                        </a:rPr>
                        <a:t>70.25 ± 3.43%</a:t>
                      </a:r>
                    </a:p>
                  </a:txBody>
                  <a:tcPr>
                    <a:solidFill>
                      <a:srgbClr val="09121F"/>
                    </a:solidFill>
                  </a:tcPr>
                </a:tc>
                <a:tc>
                  <a:txBody>
                    <a:bodyPr/>
                    <a:lstStyle/>
                    <a:p>
                      <a:r>
                        <a:rPr sz="1725" b="0" dirty="0">
                          <a:solidFill>
                            <a:srgbClr val="EAF2F8"/>
                          </a:solidFill>
                          <a:latin typeface="DejaVu Sans"/>
                          <a:ea typeface="DejaVu Sans"/>
                          <a:cs typeface="DejaVu Sans"/>
                        </a:rPr>
                        <a:t>75.75 ± 3.92%</a:t>
                      </a:r>
                    </a:p>
                  </a:txBody>
                  <a:tcPr>
                    <a:solidFill>
                      <a:srgbClr val="09121F"/>
                    </a:solidFill>
                  </a:tcPr>
                </a:tc>
                <a:tc>
                  <a:txBody>
                    <a:bodyPr/>
                    <a:lstStyle/>
                    <a:p>
                      <a:r>
                        <a:rPr sz="1725" b="0" dirty="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dirty="0">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rPr dirty="0"/>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Stage-I CSW</a:t>
                      </a:r>
                    </a:p>
                  </a:txBody>
                  <a:tcPr>
                    <a:solidFill>
                      <a:srgbClr val="132436"/>
                    </a:solidFill>
                  </a:tcPr>
                </a:tc>
                <a:tc>
                  <a:txBody>
                    <a:bodyPr/>
                    <a:lstStyle/>
                    <a:p>
                      <a:r>
                        <a:rPr sz="1725" b="1" dirty="0">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a:t>
                      </a:r>
                    </a:p>
                  </a:txBody>
                  <a:tcPr>
                    <a:solidFill>
                      <a:srgbClr val="09121F"/>
                    </a:solidFill>
                  </a:tcPr>
                </a:tc>
                <a:tc>
                  <a:txBody>
                    <a:bodyPr/>
                    <a:lstStyle/>
                    <a:p>
                      <a:r>
                        <a:rPr sz="1725" b="0" dirty="0">
                          <a:solidFill>
                            <a:srgbClr val="EAF2F8"/>
                          </a:solidFill>
                          <a:latin typeface="DejaVu Sans"/>
                          <a:ea typeface="DejaVu Sans"/>
                          <a:cs typeface="DejaVu Sans"/>
                        </a:rPr>
                        <a:t>15.75 ± 5.65%</a:t>
                      </a:r>
                    </a:p>
                  </a:txBody>
                  <a:tcPr>
                    <a:solidFill>
                      <a:srgbClr val="09121F"/>
                    </a:solidFill>
                  </a:tcPr>
                </a:tc>
                <a:tc>
                  <a:txBody>
                    <a:bodyPr/>
                    <a:lstStyle/>
                    <a:p>
                      <a:r>
                        <a:rPr sz="1725" b="0" dirty="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a:t>
                      </a:r>
                    </a:p>
                  </a:txBody>
                  <a:tcPr>
                    <a:solidFill>
                      <a:srgbClr val="09121F"/>
                    </a:solidFill>
                  </a:tcPr>
                </a:tc>
                <a:tc>
                  <a:txBody>
                    <a:bodyPr/>
                    <a:lstStyle/>
                    <a:p>
                      <a:r>
                        <a:rPr sz="1725" b="0" dirty="0">
                          <a:solidFill>
                            <a:srgbClr val="EAF2F8"/>
                          </a:solidFill>
                          <a:latin typeface="DejaVu Sans"/>
                          <a:ea typeface="DejaVu Sans"/>
                          <a:cs typeface="DejaVu Sans"/>
                        </a:rPr>
                        <a:t>16.75 ± 2.89%</a:t>
                      </a:r>
                    </a:p>
                  </a:txBody>
                  <a:tcPr>
                    <a:solidFill>
                      <a:srgbClr val="09121F"/>
                    </a:solidFill>
                  </a:tcPr>
                </a:tc>
                <a:tc>
                  <a:txBody>
                    <a:bodyPr/>
                    <a:lstStyle/>
                    <a:p>
                      <a:r>
                        <a:rPr sz="1725" b="0" dirty="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dirty="0">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dirty="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rPr dirty="0"/>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rPr dirty="0"/>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rPr dirty="0"/>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10</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rPr dirty="0"/>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rPr dirty="0"/>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rPr dirty="0"/>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rPr dirty="0"/>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rPr dirty="0"/>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rPr dirty="0"/>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rPr dirty="0"/>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rPr dirty="0"/>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rPr dirty="0"/>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rPr dirty="0"/>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et al. (2018), §II.E.1 and §II.E.3, Eqs. (1), (2), (4), pp. 1073–1074.</a:t>
            </a:r>
          </a:p>
          <a:p>
            <a:pPr>
              <a:defRPr sz="1100" b="0">
                <a:solidFill>
                  <a:srgbClr val="9CB0C3"/>
                </a:solidFill>
                <a:latin typeface="DejaVu Sans"/>
              </a:defRPr>
            </a:pPr>
            <a:r>
              <a:rPr dirty="0"/>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pic>
        <p:nvPicPr>
          <p:cNvPr id="6" name="Picture 5" descr="ewma_representation_equation.png"/>
          <p:cNvPicPr>
            <a:picLocks noChangeAspect="1"/>
          </p:cNvPicPr>
          <p:nvPr/>
        </p:nvPicPr>
        <p:blipFill>
          <a:blip r:embed="rId3"/>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rPr dirty="0"/>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rPr dirty="0"/>
              <a:t>Fixed mapping means fixed fitted parameters — not constant features or scores over time.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rPr dirty="0"/>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rPr dirty="0"/>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rPr dirty="0"/>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rPr dirty="0"/>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rPr dirty="0"/>
              <a:t>Check current limits first; update state and variance afterwards.</a:t>
            </a:r>
          </a:p>
          <a:p>
            <a:pPr>
              <a:defRPr sz="1400" b="0">
                <a:solidFill>
                  <a:srgbClr val="9CB0C3"/>
                </a:solidFill>
                <a:latin typeface="DejaVu Sans"/>
              </a:defRPr>
            </a:pPr>
            <a:r>
              <a:rPr dirty="0"/>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rPr dirty="0"/>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rPr dirty="0"/>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rPr dirty="0"/>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rPr dirty="0"/>
              <a:t>H: observations per window; d: retained dimensions.</a:t>
            </a:r>
          </a:p>
          <a:p>
            <a:pPr>
              <a:defRPr sz="1400" b="0">
                <a:solidFill>
                  <a:srgbClr val="9CB0C3"/>
                </a:solidFill>
                <a:latin typeface="DejaVu Sans"/>
              </a:defRPr>
            </a:pPr>
            <a:r>
              <a:rPr dirty="0"/>
              <a:t>αtest is distinct from variance smoothing.</a:t>
            </a:r>
          </a:p>
          <a:p>
            <a:pPr>
              <a:defRPr sz="1400" b="0">
                <a:solidFill>
                  <a:srgbClr val="9CB0C3"/>
                </a:solidFill>
                <a:latin typeface="DejaVu Sans"/>
              </a:defRPr>
            </a:pPr>
            <a:r>
              <a:rPr dirty="0"/>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§II.E.3, Eqs. (3), (5)–(9). Eq. (9) uses separate covariance terms; pooled mode is a repository choice.</a:t>
            </a:r>
          </a:p>
          <a:p>
            <a:pPr>
              <a:defRPr sz="1100" b="0">
                <a:solidFill>
                  <a:srgbClr val="9CB0C3"/>
                </a:solidFill>
                <a:latin typeface="DejaVu Sans"/>
              </a:defRPr>
            </a:pPr>
            <a:r>
              <a:rPr dirty="0"/>
              <a:t>Eq. (8) describes the always-update variance mode. The Diethe pilot uses frozen variance.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Two statistics called T² monitor different objects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A multivariate EWMA chart and a two-sample mean test use different reference structures.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standard statistical comparison, linked to the existing detector mathematics slide. Calibration assumptions must match the chosen method.</a:t>
            </a:r>
          </a:p>
        </p:txBody>
      </p:sp>
      <p:pic>
        <p:nvPicPr>
          <p:cNvPr id="6" name="Picture 5" descr="eq9.png"/>
          <p:cNvPicPr>
            <a:picLocks noChangeAspect="1"/>
          </p:cNvPicPr>
          <p:nvPr/>
        </p:nvPicPr>
        <p:blipFill>
          <a:blip r:embed="rId3"/>
          <a:stretch>
            <a:fillRect/>
          </a:stretch>
        </p:blipFill>
        <p:spPr>
          <a:xfrm>
            <a:off x="822960" y="2331720"/>
            <a:ext cx="4239768" cy="594360"/>
          </a:xfrm>
          <a:prstGeom prst="rect">
            <a:avLst/>
          </a:prstGeom>
        </p:spPr>
      </p:pic>
      <p:sp>
        <p:nvSpPr>
          <p:cNvPr id="7" name="TextBox 6"/>
          <p:cNvSpPr txBox="1"/>
          <p:nvPr/>
        </p:nvSpPr>
        <p:spPr>
          <a:xfrm>
            <a:off x="822960" y="3063240"/>
            <a:ext cx="10515600" cy="685800"/>
          </a:xfrm>
          <a:prstGeom prst="rect">
            <a:avLst/>
          </a:prstGeom>
          <a:noFill/>
        </p:spPr>
        <p:txBody>
          <a:bodyPr wrap="square">
            <a:spAutoFit/>
          </a:bodyPr>
          <a:lstStyle/>
          <a:p>
            <a:pPr>
              <a:spcAft>
                <a:spcPts val="1200"/>
              </a:spcAft>
              <a:defRPr sz="1900" b="0">
                <a:solidFill>
                  <a:srgbClr val="12233B"/>
                </a:solidFill>
                <a:latin typeface="Aptos"/>
              </a:defRPr>
            </a:pPr>
            <a:r>
              <a:rPr dirty="0"/>
              <a:t>Multivariate EWMA: compare a smoothed vector with a reference mean, using the covariance of that smoothed vector.</a:t>
            </a:r>
          </a:p>
        </p:txBody>
      </p:sp>
      <p:pic>
        <p:nvPicPr>
          <p:cNvPr id="8" name="Picture 7" descr="eq10.png"/>
          <p:cNvPicPr>
            <a:picLocks noChangeAspect="1"/>
          </p:cNvPicPr>
          <p:nvPr/>
        </p:nvPicPr>
        <p:blipFill>
          <a:blip r:embed="rId4"/>
          <a:stretch>
            <a:fillRect/>
          </a:stretch>
        </p:blipFill>
        <p:spPr>
          <a:xfrm>
            <a:off x="822960" y="4023360"/>
            <a:ext cx="5249648" cy="640080"/>
          </a:xfrm>
          <a:prstGeom prst="rect">
            <a:avLst/>
          </a:prstGeom>
        </p:spPr>
      </p:pic>
      <p:sp>
        <p:nvSpPr>
          <p:cNvPr id="9" name="TextBox 8"/>
          <p:cNvSpPr txBox="1"/>
          <p:nvPr/>
        </p:nvSpPr>
        <p:spPr>
          <a:xfrm>
            <a:off x="822960" y="4846320"/>
            <a:ext cx="10515600" cy="914400"/>
          </a:xfrm>
          <a:prstGeom prst="rect">
            <a:avLst/>
          </a:prstGeom>
          <a:noFill/>
        </p:spPr>
        <p:txBody>
          <a:bodyPr wrap="square">
            <a:spAutoFit/>
          </a:bodyPr>
          <a:lstStyle/>
          <a:p>
            <a:pPr>
              <a:spcAft>
                <a:spcPts val="1200"/>
              </a:spcAft>
              <a:defRPr sz="1900" b="0">
                <a:solidFill>
                  <a:srgbClr val="12233B"/>
                </a:solidFill>
                <a:latin typeface="Aptos"/>
              </a:defRPr>
            </a:pPr>
            <a:r>
              <a:rPr dirty="0"/>
              <a:t>Pooled two-sample Hotelling: compare two window means. Sₚ is pooled within-window covariance. This mode assumes a common covariance and appropriate sampling conditions.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Covariance scaling adjusts the mean contrast but does not make it a direct covariance-equality test.</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6" name="Picture 5" descr="eq11.png"/>
          <p:cNvPicPr>
            <a:picLocks noChangeAspect="1"/>
          </p:cNvPicPr>
          <p:nvPr/>
        </p:nvPicPr>
        <p:blipFill>
          <a:blip r:embed="rId3"/>
          <a:stretch>
            <a:fillRect/>
          </a:stretch>
        </p:blipFill>
        <p:spPr>
          <a:xfrm>
            <a:off x="822960" y="2286000"/>
            <a:ext cx="5506720" cy="685800"/>
          </a:xfrm>
          <a:prstGeom prst="rect">
            <a:avLst/>
          </a:prstGeom>
        </p:spPr>
      </p:pic>
      <p:sp>
        <p:nvSpPr>
          <p:cNvPr id="7" name="TextBox 6"/>
          <p:cNvSpPr txBox="1"/>
          <p:nvPr/>
        </p:nvSpPr>
        <p:spPr>
          <a:xfrm>
            <a:off x="822960" y="3337560"/>
            <a:ext cx="5120640" cy="2331720"/>
          </a:xfrm>
          <a:prstGeom prst="rect">
            <a:avLst/>
          </a:prstGeom>
          <a:noFill/>
        </p:spPr>
        <p:txBody>
          <a:bodyPr wrap="square">
            <a:spAutoFit/>
          </a:bodyPr>
          <a:lstStyle/>
          <a:p>
            <a:pPr>
              <a:spcAft>
                <a:spcPts val="1200"/>
              </a:spcAft>
              <a:defRPr sz="2000" b="0">
                <a:solidFill>
                  <a:srgbClr val="12233B"/>
                </a:solidFill>
                <a:latin typeface="Aptos"/>
              </a:defRPr>
            </a:pPr>
            <a:r>
              <a:rPr dirty="0"/>
              <a:t>Q and the pooled T² both start from a difference in means.</a:t>
            </a:r>
          </a:p>
          <a:p>
            <a:pPr>
              <a:spcAft>
                <a:spcPts val="1200"/>
              </a:spcAft>
              <a:defRPr sz="2000" b="0">
                <a:solidFill>
                  <a:srgbClr val="12233B"/>
                </a:solidFill>
                <a:latin typeface="Aptos"/>
              </a:defRPr>
            </a:pPr>
            <a:r>
              <a:rPr dirty="0"/>
              <a:t>A pure variance or dependence change can therefore escape detection. Finite-sample mean fluctuations can still produce alarms.</a:t>
            </a:r>
          </a:p>
        </p:txBody>
      </p:sp>
      <p:sp>
        <p:nvSpPr>
          <p:cNvPr id="8" name="TextBox 7"/>
          <p:cNvSpPr txBox="1"/>
          <p:nvPr/>
        </p:nvSpPr>
        <p:spPr>
          <a:xfrm>
            <a:off x="6400800" y="3337560"/>
            <a:ext cx="4846320" cy="2331720"/>
          </a:xfrm>
          <a:prstGeom prst="rect">
            <a:avLst/>
          </a:prstGeom>
          <a:noFill/>
        </p:spPr>
        <p:txBody>
          <a:bodyPr wrap="square">
            <a:spAutoFit/>
          </a:bodyPr>
          <a:lstStyle/>
          <a:p>
            <a:pPr>
              <a:spcAft>
                <a:spcPts val="1200"/>
              </a:spcAft>
              <a:defRPr sz="2000" b="0">
                <a:solidFill>
                  <a:srgbClr val="12233B"/>
                </a:solidFill>
                <a:latin typeface="Aptos"/>
              </a:defRPr>
            </a:pPr>
            <a:r>
              <a:rPr dirty="0"/>
              <a:t>Separate covariance terms need their own justified calibration. The pooled F conversion is not automatically exact.</a:t>
            </a:r>
          </a:p>
          <a:p>
            <a:pPr>
              <a:spcAft>
                <a:spcPts val="1200"/>
              </a:spcAft>
              <a:defRPr sz="2000" b="0">
                <a:solidFill>
                  <a:srgbClr val="12233B"/>
                </a:solidFill>
                <a:latin typeface="Aptos"/>
              </a:defRPr>
            </a:pPr>
            <a:r>
              <a:rPr dirty="0"/>
              <a:t>Next comparison: mean-only, variance-only and dependence-only changes at matched false-alarm budgets.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rPr dirty="0"/>
                        <a:t>Responsibility</a:t>
                      </a:r>
                    </a:p>
                  </a:txBody>
                  <a:tcPr marL="109728" marT="73152">
                    <a:solidFill>
                      <a:srgbClr val="142838"/>
                    </a:solidFill>
                  </a:tcPr>
                </a:tc>
                <a:tc>
                  <a:txBody>
                    <a:bodyPr/>
                    <a:lstStyle/>
                    <a:p>
                      <a:pPr>
                        <a:defRPr sz="1800" b="1">
                          <a:solidFill>
                            <a:srgbClr val="78D8CC"/>
                          </a:solidFill>
                          <a:latin typeface="DejaVu Sans"/>
                        </a:defRPr>
                      </a:pPr>
                      <a:r>
                        <a:rPr dirty="0"/>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rPr dirty="0"/>
                        <a:t>Representation</a:t>
                      </a:r>
                    </a:p>
                  </a:txBody>
                  <a:tcPr marL="109728" marT="73152">
                    <a:solidFill>
                      <a:srgbClr val="101D2A"/>
                    </a:solidFill>
                  </a:tcPr>
                </a:tc>
                <a:tc>
                  <a:txBody>
                    <a:bodyPr/>
                    <a:lstStyle/>
                    <a:p>
                      <a:pPr>
                        <a:defRPr sz="1800" b="0">
                          <a:solidFill>
                            <a:srgbClr val="EAF2F8"/>
                          </a:solidFill>
                          <a:latin typeface="DejaVu Sans"/>
                        </a:defRPr>
                      </a:pPr>
                      <a:r>
                        <a:rPr dirty="0"/>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rPr dirty="0"/>
                        <a:t>Detection and validation</a:t>
                      </a:r>
                    </a:p>
                  </a:txBody>
                  <a:tcPr marL="109728" marT="73152">
                    <a:solidFill>
                      <a:srgbClr val="101D2A"/>
                    </a:solidFill>
                  </a:tcPr>
                </a:tc>
                <a:tc>
                  <a:txBody>
                    <a:bodyPr/>
                    <a:lstStyle/>
                    <a:p>
                      <a:pPr>
                        <a:defRPr sz="1800" b="0">
                          <a:solidFill>
                            <a:srgbClr val="EAF2F8"/>
                          </a:solidFill>
                          <a:latin typeface="DejaVu Sans"/>
                        </a:defRPr>
                      </a:pPr>
                      <a:r>
                        <a:rPr dirty="0"/>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rPr dirty="0"/>
                        <a:t>Update policy</a:t>
                      </a:r>
                    </a:p>
                  </a:txBody>
                  <a:tcPr marL="109728" marT="73152">
                    <a:solidFill>
                      <a:srgbClr val="101D2A"/>
                    </a:solidFill>
                  </a:tcPr>
                </a:tc>
                <a:tc>
                  <a:txBody>
                    <a:bodyPr/>
                    <a:lstStyle/>
                    <a:p>
                      <a:pPr>
                        <a:defRPr sz="1800" b="0">
                          <a:solidFill>
                            <a:srgbClr val="EAF2F8"/>
                          </a:solidFill>
                          <a:latin typeface="DejaVu Sans"/>
                        </a:defRPr>
                      </a:pPr>
                      <a:r>
                        <a:rPr dirty="0"/>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rPr dirty="0"/>
                        <a:t>Label regime</a:t>
                      </a:r>
                    </a:p>
                  </a:txBody>
                  <a:tcPr marL="109728" marT="73152">
                    <a:solidFill>
                      <a:srgbClr val="101D2A"/>
                    </a:solidFill>
                  </a:tcPr>
                </a:tc>
                <a:tc>
                  <a:txBody>
                    <a:bodyPr/>
                    <a:lstStyle/>
                    <a:p>
                      <a:pPr>
                        <a:defRPr sz="1800" b="0">
                          <a:solidFill>
                            <a:srgbClr val="EAF2F8"/>
                          </a:solidFill>
                          <a:latin typeface="DejaVu Sans"/>
                        </a:defRPr>
                      </a:pPr>
                      <a:r>
                        <a:rPr dirty="0"/>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rPr dirty="0"/>
                        <a:t>Audit outputs</a:t>
                      </a:r>
                    </a:p>
                  </a:txBody>
                  <a:tcPr marL="109728" marT="73152">
                    <a:solidFill>
                      <a:srgbClr val="101D2A"/>
                    </a:solidFill>
                  </a:tcPr>
                </a:tc>
                <a:tc>
                  <a:txBody>
                    <a:bodyPr/>
                    <a:lstStyle/>
                    <a:p>
                      <a:pPr>
                        <a:defRPr sz="1800" b="0">
                          <a:solidFill>
                            <a:srgbClr val="EAF2F8"/>
                          </a:solidFill>
                          <a:latin typeface="DejaVu Sans"/>
                        </a:defRPr>
                      </a:pPr>
                      <a:r>
                        <a:rPr dirty="0"/>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Score-plus-residual monitoring is a separate Stage-I extension.</a:t>
            </a:r>
          </a:p>
          <a:p>
            <a:pPr>
              <a:spcAft>
                <a:spcPts val="900"/>
              </a:spcAft>
              <a:defRPr sz="1800" b="0">
                <a:solidFill>
                  <a:srgbClr val="78D8CC"/>
                </a:solidFill>
                <a:latin typeface="DejaVu Sans"/>
              </a:defRPr>
            </a:pPr>
            <a:r>
              <a:rPr dirty="0"/>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13</a:t>
            </a:r>
          </a:p>
        </p:txBody>
      </p:sp>
    </p:spTree>
    <p:extLst>
      <p:ext uri="{BB962C8B-B14F-4D97-AF65-F5344CB8AC3E}">
        <p14:creationId xmlns:p14="http://schemas.microsoft.com/office/powerpoint/2010/main" val="19268053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dirty="0"/>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dirty="0"/>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dirty="0">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Record the split seed and effective detector configuration.</a:t>
            </a:r>
            <a:endParaRPr sz="1425" b="1" dirty="0">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14</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rPr dirty="0"/>
                        <a:t>Experiment</a:t>
                      </a:r>
                    </a:p>
                  </a:txBody>
                  <a:tcPr marL="109728" marT="73152">
                    <a:solidFill>
                      <a:srgbClr val="142838"/>
                    </a:solidFill>
                  </a:tcPr>
                </a:tc>
                <a:tc>
                  <a:txBody>
                    <a:bodyPr/>
                    <a:lstStyle/>
                    <a:p>
                      <a:pPr>
                        <a:defRPr sz="1700" b="1">
                          <a:solidFill>
                            <a:srgbClr val="78D8CC"/>
                          </a:solidFill>
                          <a:latin typeface="DejaVu Sans"/>
                        </a:defRPr>
                      </a:pPr>
                      <a:r>
                        <a:rPr dirty="0"/>
                        <a:t>2A</a:t>
                      </a:r>
                    </a:p>
                  </a:txBody>
                  <a:tcPr marL="109728" marT="73152">
                    <a:solidFill>
                      <a:srgbClr val="142838"/>
                    </a:solidFill>
                  </a:tcPr>
                </a:tc>
                <a:tc>
                  <a:txBody>
                    <a:bodyPr/>
                    <a:lstStyle/>
                    <a:p>
                      <a:pPr>
                        <a:defRPr sz="1700" b="1">
                          <a:solidFill>
                            <a:srgbClr val="78D8CC"/>
                          </a:solidFill>
                          <a:latin typeface="DejaVu Sans"/>
                        </a:defRPr>
                      </a:pPr>
                      <a:r>
                        <a:rPr dirty="0"/>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rPr dirty="0"/>
                        <a:t>Table-I CSE</a:t>
                      </a:r>
                    </a:p>
                  </a:txBody>
                  <a:tcPr marL="109728" marT="73152">
                    <a:solidFill>
                      <a:srgbClr val="101D2A"/>
                    </a:solidFill>
                  </a:tcPr>
                </a:tc>
                <a:tc>
                  <a:txBody>
                    <a:bodyPr/>
                    <a:lstStyle/>
                    <a:p>
                      <a:pPr>
                        <a:defRPr sz="1700" b="0">
                          <a:solidFill>
                            <a:srgbClr val="EAF2F8"/>
                          </a:solidFill>
                          <a:latin typeface="DejaVu Sans"/>
                        </a:defRPr>
                      </a:pPr>
                      <a:r>
                        <a:rPr dirty="0"/>
                        <a:t>Session I development;</a:t>
                      </a:r>
                    </a:p>
                    <a:p>
                      <a:pPr>
                        <a:defRPr sz="1700" b="0">
                          <a:solidFill>
                            <a:srgbClr val="EAF2F8"/>
                          </a:solidFill>
                          <a:latin typeface="DejaVu Sans"/>
                        </a:defRPr>
                      </a:pPr>
                      <a:r>
                        <a:rPr dirty="0"/>
                        <a:t>Session II evaluation</a:t>
                      </a:r>
                    </a:p>
                  </a:txBody>
                  <a:tcPr marL="109728" marT="73152">
                    <a:solidFill>
                      <a:srgbClr val="101D2A"/>
                    </a:solidFill>
                  </a:tcPr>
                </a:tc>
                <a:tc>
                  <a:txBody>
                    <a:bodyPr/>
                    <a:lstStyle/>
                    <a:p>
                      <a:pPr>
                        <a:defRPr sz="1700" b="0">
                          <a:solidFill>
                            <a:srgbClr val="EAF2F8"/>
                          </a:solidFill>
                          <a:latin typeface="DejaVu Sans"/>
                        </a:defRPr>
                      </a:pPr>
                      <a:r>
                        <a:rPr dirty="0"/>
                        <a:t>I–III development;</a:t>
                      </a:r>
                    </a:p>
                    <a:p>
                      <a:pPr>
                        <a:defRPr sz="1700" b="0">
                          <a:solidFill>
                            <a:srgbClr val="EAF2F8"/>
                          </a:solidFill>
                          <a:latin typeface="DejaVu Sans"/>
                        </a:defRPr>
                      </a:pPr>
                      <a:r>
                        <a:rPr dirty="0"/>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rPr dirty="0"/>
                        <a:t>Stored classifier benchmark</a:t>
                      </a:r>
                    </a:p>
                  </a:txBody>
                  <a:tcPr marL="109728" marT="73152">
                    <a:solidFill>
                      <a:srgbClr val="101D2A"/>
                    </a:solidFill>
                  </a:tcPr>
                </a:tc>
                <a:tc>
                  <a:txBody>
                    <a:bodyPr/>
                    <a:lstStyle/>
                    <a:p>
                      <a:pPr>
                        <a:defRPr sz="1700" b="0">
                          <a:solidFill>
                            <a:srgbClr val="EAF2F8"/>
                          </a:solidFill>
                          <a:latin typeface="DejaVu Sans"/>
                        </a:defRPr>
                      </a:pPr>
                      <a:r>
                        <a:rPr dirty="0"/>
                        <a:t>Fit I; evaluate II</a:t>
                      </a:r>
                    </a:p>
                  </a:txBody>
                  <a:tcPr marL="109728" marT="73152">
                    <a:solidFill>
                      <a:srgbClr val="101D2A"/>
                    </a:solidFill>
                  </a:tcPr>
                </a:tc>
                <a:tc>
                  <a:txBody>
                    <a:bodyPr/>
                    <a:lstStyle/>
                    <a:p>
                      <a:pPr>
                        <a:defRPr sz="1700" b="0">
                          <a:solidFill>
                            <a:srgbClr val="EAF2F8"/>
                          </a:solidFill>
                          <a:latin typeface="DejaVu Sans"/>
                        </a:defRPr>
                      </a:pPr>
                      <a:r>
                        <a:rPr dirty="0"/>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rPr dirty="0"/>
                        <a:t>Complementary EEG runner</a:t>
                      </a:r>
                    </a:p>
                  </a:txBody>
                  <a:tcPr marL="109728" marT="73152">
                    <a:solidFill>
                      <a:srgbClr val="101D2A"/>
                    </a:solidFill>
                  </a:tcPr>
                </a:tc>
                <a:tc>
                  <a:txBody>
                    <a:bodyPr/>
                    <a:lstStyle/>
                    <a:p>
                      <a:pPr>
                        <a:defRPr sz="1700" b="0">
                          <a:solidFill>
                            <a:srgbClr val="EAF2F8"/>
                          </a:solidFill>
                          <a:latin typeface="DejaVu Sans"/>
                        </a:defRPr>
                      </a:pPr>
                      <a:r>
                        <a:rPr dirty="0"/>
                        <a:t>I: training/calibration split;</a:t>
                      </a:r>
                    </a:p>
                    <a:p>
                      <a:pPr>
                        <a:defRPr sz="1700" b="0">
                          <a:solidFill>
                            <a:srgbClr val="EAF2F8"/>
                          </a:solidFill>
                          <a:latin typeface="DejaVu Sans"/>
                        </a:defRPr>
                      </a:pPr>
                      <a:r>
                        <a:rPr dirty="0"/>
                        <a:t>II evaluation</a:t>
                      </a:r>
                    </a:p>
                  </a:txBody>
                  <a:tcPr marL="109728" marT="73152">
                    <a:solidFill>
                      <a:srgbClr val="101D2A"/>
                    </a:solidFill>
                  </a:tcPr>
                </a:tc>
                <a:tc>
                  <a:txBody>
                    <a:bodyPr/>
                    <a:lstStyle/>
                    <a:p>
                      <a:pPr>
                        <a:defRPr sz="1700" b="0">
                          <a:solidFill>
                            <a:srgbClr val="EAF2F8"/>
                          </a:solidFill>
                          <a:latin typeface="DejaVu Sans"/>
                        </a:defRPr>
                      </a:pPr>
                      <a:r>
                        <a:rPr dirty="0"/>
                        <a:t>Fit I–II; calibrate III;</a:t>
                      </a:r>
                    </a:p>
                    <a:p>
                      <a:pPr>
                        <a:defRPr sz="1700" b="0">
                          <a:solidFill>
                            <a:srgbClr val="EAF2F8"/>
                          </a:solidFill>
                          <a:latin typeface="DejaVu Sans"/>
                        </a:defRPr>
                      </a:pPr>
                      <a:r>
                        <a:rPr dirty="0"/>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rPr dirty="0"/>
                        <a:t>Diethe policy laboratory</a:t>
                      </a:r>
                    </a:p>
                  </a:txBody>
                  <a:tcPr marL="109728" marT="73152">
                    <a:solidFill>
                      <a:srgbClr val="101D2A"/>
                    </a:solidFill>
                  </a:tcPr>
                </a:tc>
                <a:tc>
                  <a:txBody>
                    <a:bodyPr/>
                    <a:lstStyle/>
                    <a:p>
                      <a:pPr>
                        <a:defRPr sz="1700" b="0">
                          <a:solidFill>
                            <a:srgbClr val="EAF2F8"/>
                          </a:solidFill>
                          <a:latin typeface="DejaVu Sans"/>
                        </a:defRPr>
                      </a:pPr>
                      <a:r>
                        <a:rPr dirty="0"/>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rPr dirty="0"/>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15</a:t>
            </a:r>
          </a:p>
        </p:txBody>
      </p:sp>
    </p:spTree>
    <p:extLst>
      <p:ext uri="{BB962C8B-B14F-4D97-AF65-F5344CB8AC3E}">
        <p14:creationId xmlns:p14="http://schemas.microsoft.com/office/powerpoint/2010/main" val="3443722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3264408"/>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rPr dirty="0"/>
                        <a:t>Question</a:t>
                      </a:r>
                    </a:p>
                  </a:txBody>
                  <a:tcPr marL="109728" marT="73152">
                    <a:solidFill>
                      <a:srgbClr val="142838"/>
                    </a:solidFill>
                  </a:tcPr>
                </a:tc>
                <a:tc>
                  <a:txBody>
                    <a:bodyPr/>
                    <a:lstStyle/>
                    <a:p>
                      <a:pPr>
                        <a:defRPr sz="1900" b="1">
                          <a:solidFill>
                            <a:srgbClr val="78D8CC"/>
                          </a:solidFill>
                          <a:latin typeface="DejaVu Sans"/>
                        </a:defRPr>
                      </a:pPr>
                      <a:r>
                        <a:rPr dirty="0"/>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rPr dirty="0"/>
                        <a:t>Has the input changed?</a:t>
                      </a:r>
                    </a:p>
                  </a:txBody>
                  <a:tcPr marL="109728" marT="73152">
                    <a:solidFill>
                      <a:srgbClr val="101D2A"/>
                    </a:solidFill>
                  </a:tcPr>
                </a:tc>
                <a:tc>
                  <a:txBody>
                    <a:bodyPr/>
                    <a:lstStyle/>
                    <a:p>
                      <a:pPr>
                        <a:defRPr sz="1900" b="0">
                          <a:solidFill>
                            <a:srgbClr val="EAF2F8"/>
                          </a:solidFill>
                          <a:latin typeface="DejaVu Sans"/>
                        </a:defRPr>
                      </a:pPr>
                      <a:r>
                        <a:rPr dirty="0"/>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rPr dirty="0"/>
                        <a:t>Has prediction quality changed?</a:t>
                      </a:r>
                    </a:p>
                  </a:txBody>
                  <a:tcPr marL="109728" marT="73152">
                    <a:solidFill>
                      <a:srgbClr val="101D2A"/>
                    </a:solidFill>
                  </a:tcPr>
                </a:tc>
                <a:tc>
                  <a:txBody>
                    <a:bodyPr/>
                    <a:lstStyle/>
                    <a:p>
                      <a:pPr>
                        <a:defRPr sz="1900" b="0">
                          <a:solidFill>
                            <a:srgbClr val="EAF2F8"/>
                          </a:solidFill>
                          <a:latin typeface="DejaVu Sans"/>
                        </a:defRPr>
                      </a:pPr>
                      <a:r>
                        <a:rPr dirty="0"/>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rPr dirty="0"/>
                        <a:t>Should the model update?</a:t>
                      </a:r>
                    </a:p>
                  </a:txBody>
                  <a:tcPr marL="109728" marT="73152">
                    <a:solidFill>
                      <a:srgbClr val="101D2A"/>
                    </a:solidFill>
                  </a:tcPr>
                </a:tc>
                <a:tc>
                  <a:txBody>
                    <a:bodyPr/>
                    <a:lstStyle/>
                    <a:p>
                      <a:pPr>
                        <a:defRPr sz="1900" b="0">
                          <a:solidFill>
                            <a:srgbClr val="EAF2F8"/>
                          </a:solidFill>
                          <a:latin typeface="DejaVu Sans"/>
                        </a:defRPr>
                      </a:pPr>
                      <a:r>
                        <a:rPr dirty="0"/>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rPr dirty="0"/>
                        <a:t>What does updating cost?</a:t>
                      </a:r>
                    </a:p>
                  </a:txBody>
                  <a:tcPr marL="109728" marT="73152">
                    <a:solidFill>
                      <a:srgbClr val="101D2A"/>
                    </a:solidFill>
                  </a:tcPr>
                </a:tc>
                <a:tc>
                  <a:txBody>
                    <a:bodyPr/>
                    <a:lstStyle/>
                    <a:p>
                      <a:pPr>
                        <a:defRPr sz="1900" b="0">
                          <a:solidFill>
                            <a:srgbClr val="EAF2F8"/>
                          </a:solidFill>
                          <a:latin typeface="DejaVu Sans"/>
                        </a:defRPr>
                      </a:pPr>
                      <a:r>
                        <a:rPr dirty="0"/>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rPr dirty="0"/>
              <a:t>Initial five-policy pilot is historical; a sixth evidence-sufficiency policy is now implemented.</a:t>
            </a:r>
          </a:p>
          <a:p>
            <a:r>
              <a:rPr dirty="0"/>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EEG trial → calibrated FBCSP → feature vector fₜ</a:t>
            </a:r>
          </a:p>
          <a:p>
            <a:pPr>
              <a:spcAft>
                <a:spcPts val="800"/>
              </a:spcAft>
              <a:defRPr sz="1600" b="0">
                <a:solidFill>
                  <a:srgbClr val="53657C"/>
                </a:solidFill>
                <a:latin typeface="Aptos"/>
              </a:defRPr>
            </a:pPr>
            <a:r>
              <a:rPr dirty="0"/>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Supplied / synthetic features → classifier and CSE detector</a:t>
            </a:r>
          </a:p>
          <a:p>
            <a:pPr>
              <a:spcAft>
                <a:spcPts val="800"/>
              </a:spcAft>
              <a:defRPr sz="1600" b="0">
                <a:solidFill>
                  <a:srgbClr val="53657C"/>
                </a:solidFill>
                <a:latin typeface="Aptos"/>
              </a:defRPr>
            </a:pPr>
            <a:r>
              <a:rPr dirty="0"/>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rPr dirty="0"/>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rPr dirty="0"/>
              <a:t>Repository interpretation: run_policy_comparison(); the five-policy comparison is a controlled laboratory, not proof of clinical BCI benefit.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rPr dirty="0"/>
                        <a:t>Policy</a:t>
                      </a:r>
                    </a:p>
                  </a:txBody>
                  <a:tcPr marL="109728" marT="73152">
                    <a:solidFill>
                      <a:srgbClr val="142838"/>
                    </a:solidFill>
                  </a:tcPr>
                </a:tc>
                <a:tc>
                  <a:txBody>
                    <a:bodyPr/>
                    <a:lstStyle/>
                    <a:p>
                      <a:pPr>
                        <a:defRPr sz="1800" b="1">
                          <a:solidFill>
                            <a:srgbClr val="78D8CC"/>
                          </a:solidFill>
                          <a:latin typeface="DejaVu Sans"/>
                        </a:defRPr>
                      </a:pPr>
                      <a:r>
                        <a:rPr dirty="0"/>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rPr dirty="0"/>
                        <a:t>Never / periodic</a:t>
                      </a:r>
                    </a:p>
                  </a:txBody>
                  <a:tcPr marL="109728" marT="73152">
                    <a:solidFill>
                      <a:srgbClr val="101D2A"/>
                    </a:solidFill>
                  </a:tcPr>
                </a:tc>
                <a:tc>
                  <a:txBody>
                    <a:bodyPr/>
                    <a:lstStyle/>
                    <a:p>
                      <a:pPr>
                        <a:defRPr sz="1800" b="0">
                          <a:solidFill>
                            <a:srgbClr val="EAF2F8"/>
                          </a:solidFill>
                          <a:latin typeface="DejaVu Sans"/>
                        </a:defRPr>
                      </a:pPr>
                      <a:r>
                        <a:rPr dirty="0"/>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rPr dirty="0"/>
                        <a:t>Warning / validated</a:t>
                      </a:r>
                    </a:p>
                  </a:txBody>
                  <a:tcPr marL="109728" marT="73152">
                    <a:solidFill>
                      <a:srgbClr val="101D2A"/>
                    </a:solidFill>
                  </a:tcPr>
                </a:tc>
                <a:tc>
                  <a:txBody>
                    <a:bodyPr/>
                    <a:lstStyle/>
                    <a:p>
                      <a:pPr>
                        <a:defRPr sz="1800" b="0">
                          <a:solidFill>
                            <a:srgbClr val="EAF2F8"/>
                          </a:solidFill>
                          <a:latin typeface="DejaVu Sans"/>
                        </a:defRPr>
                      </a:pPr>
                      <a:r>
                        <a:rPr dirty="0"/>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rPr dirty="0"/>
                        <a:t>Performance drop</a:t>
                      </a:r>
                    </a:p>
                  </a:txBody>
                  <a:tcPr marL="109728" marT="73152">
                    <a:solidFill>
                      <a:srgbClr val="101D2A"/>
                    </a:solidFill>
                  </a:tcPr>
                </a:tc>
                <a:tc>
                  <a:txBody>
                    <a:bodyPr/>
                    <a:lstStyle/>
                    <a:p>
                      <a:pPr>
                        <a:defRPr sz="1800" b="0">
                          <a:solidFill>
                            <a:srgbClr val="EAF2F8"/>
                          </a:solidFill>
                          <a:latin typeface="DejaVu Sans"/>
                        </a:defRPr>
                      </a:pPr>
                      <a:r>
                        <a:rPr dirty="0"/>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No shift: baseline alert and update burden.</a:t>
            </a:r>
          </a:p>
          <a:p>
            <a:pPr>
              <a:spcAft>
                <a:spcPts val="900"/>
              </a:spcAft>
              <a:defRPr sz="2000" b="0">
                <a:solidFill>
                  <a:srgbClr val="EAF2F8"/>
                </a:solidFill>
                <a:latin typeface="DejaVu Sans"/>
              </a:defRPr>
            </a:pPr>
            <a:r>
              <a:rPr dirty="0"/>
              <a:t>Feature shift: P(X) changes; the label rule stays fixed.</a:t>
            </a:r>
          </a:p>
          <a:p>
            <a:pPr>
              <a:spcAft>
                <a:spcPts val="900"/>
              </a:spcAft>
              <a:defRPr sz="2000" b="0">
                <a:solidFill>
                  <a:srgbClr val="EAF2F8"/>
                </a:solidFill>
                <a:latin typeface="DejaVu Sans"/>
              </a:defRPr>
            </a:pPr>
            <a:r>
              <a:rPr dirty="0"/>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rPr dirty="0"/>
              <a:t>Predict before revealing each label. Training expands after updates.</a:t>
            </a:r>
          </a:p>
          <a:p>
            <a:pPr>
              <a:spcAft>
                <a:spcPts val="900"/>
              </a:spcAft>
              <a:defRPr sz="1600" b="0">
                <a:solidFill>
                  <a:srgbClr val="9CB0C3"/>
                </a:solidFill>
                <a:latin typeface="DejaVu Sans"/>
              </a:defRPr>
            </a:pPr>
            <a:r>
              <a:rPr dirty="0"/>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rPr dirty="0"/>
              <a:t>18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1. Never update (baseline)</a:t>
            </a:r>
          </a:p>
          <a:p>
            <a:pPr>
              <a:spcAft>
                <a:spcPts val="600"/>
              </a:spcAft>
              <a:defRPr sz="1300" b="0">
                <a:solidFill>
                  <a:srgbClr val="12233B"/>
                </a:solidFill>
                <a:latin typeface="Aptos"/>
              </a:defRPr>
            </a:pPr>
            <a:r>
              <a:rPr dirty="0"/>
              <a:t>2. Periodic retraining (passive)</a:t>
            </a:r>
          </a:p>
          <a:p>
            <a:pPr>
              <a:spcAft>
                <a:spcPts val="600"/>
              </a:spcAft>
              <a:defRPr sz="1300" b="0">
                <a:solidFill>
                  <a:srgbClr val="12233B"/>
                </a:solidFill>
                <a:latin typeface="Aptos"/>
              </a:defRPr>
            </a:pPr>
            <a:r>
              <a:rPr dirty="0"/>
              <a:t>3. EWMA warning-triggered update</a:t>
            </a:r>
          </a:p>
          <a:p>
            <a:pPr>
              <a:spcAft>
                <a:spcPts val="600"/>
              </a:spcAft>
              <a:defRPr sz="1300" b="0">
                <a:solidFill>
                  <a:srgbClr val="12233B"/>
                </a:solidFill>
                <a:latin typeface="Aptos"/>
              </a:defRPr>
            </a:pPr>
            <a:r>
              <a:rPr dirty="0"/>
              <a:t>4. Validated shift-triggered update</a:t>
            </a:r>
          </a:p>
          <a:p>
            <a:pPr>
              <a:spcAft>
                <a:spcPts val="600"/>
              </a:spcAft>
              <a:defRPr sz="1300" b="0">
                <a:solidFill>
                  <a:srgbClr val="12233B"/>
                </a:solidFill>
                <a:latin typeface="Aptos"/>
              </a:defRPr>
            </a:pPr>
            <a:r>
              <a:rPr dirty="0"/>
              <a:t>5. Performance-drop-triggered update</a:t>
            </a:r>
          </a:p>
          <a:p>
            <a:pPr>
              <a:spcAft>
                <a:spcPts val="600"/>
              </a:spcAft>
              <a:defRPr sz="1300" b="0">
                <a:solidFill>
                  <a:srgbClr val="12233B"/>
                </a:solidFill>
                <a:latin typeface="Aptos"/>
              </a:defRPr>
            </a:pPr>
            <a:r>
              <a:rPr dirty="0"/>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Three scenarios: stationary, marginal feature shift, changed label relationship.</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Labels arrive immediately after prediction; historical training data accumulate.</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docs/diethe_experiments.md; src/adaptation/evidence_value.py; Diethe et al. (2019).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881360" cy="310896"/>
          </a:xfrm>
          <a:prstGeom prst="rect">
            <a:avLst/>
          </a:prstGeom>
          <a:noFill/>
        </p:spPr>
        <p:txBody>
          <a:bodyPr wrap="none" lIns="18288" tIns="9144" rIns="18288" bIns="9144" anchor="t">
            <a:spAutoFit/>
          </a:bodyPr>
          <a:lstStyle/>
          <a:p>
            <a:pPr algn="l"/>
            <a:r>
              <a:rPr sz="1900" b="1" dirty="0">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tIns="9144" rIns="18288" bIns="9144" anchor="t">
            <a:spAutoFit/>
          </a:bodyPr>
          <a:lstStyle/>
          <a:p>
            <a:pPr algn="l"/>
            <a:r>
              <a:rPr sz="2200" b="1" dirty="0">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tIns="9144" rIns="18288" bIns="9144" anchor="t">
            <a:spAutoFit/>
          </a:bodyPr>
          <a:lstStyle/>
          <a:p>
            <a:pPr algn="l"/>
            <a:r>
              <a:rPr sz="1150" b="0" dirty="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868680" y="2048256"/>
            <a:ext cx="2560320" cy="256032"/>
          </a:xfrm>
          <a:prstGeom prst="rect">
            <a:avLst/>
          </a:prstGeom>
          <a:noFill/>
        </p:spPr>
        <p:txBody>
          <a:bodyPr wrap="none" lIns="18288" tIns="9144" rIns="18288" bIns="9144" anchor="t">
            <a:spAutoFit/>
          </a:bodyPr>
          <a:lstStyle/>
          <a:p>
            <a:pPr algn="l"/>
            <a:r>
              <a:rPr sz="1200" b="1" dirty="0">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tIns="9144" rIns="18288" bIns="9144" anchor="t">
            <a:spAutoFit/>
          </a:bodyPr>
          <a:lstStyle/>
          <a:p>
            <a:pPr algn="l"/>
            <a:r>
              <a:rPr sz="1200" b="1" dirty="0">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5074920" y="3246120"/>
            <a:ext cx="1920240" cy="384048"/>
          </a:xfrm>
          <a:prstGeom prst="rect">
            <a:avLst/>
          </a:prstGeom>
          <a:noFill/>
        </p:spPr>
        <p:txBody>
          <a:bodyPr wrap="none" lIns="18288" tIns="9144" rIns="18288" bIns="9144" anchor="t">
            <a:spAutoFit/>
          </a:bodyPr>
          <a:lstStyle/>
          <a:p>
            <a:pPr algn="ctr"/>
            <a:r>
              <a:rPr sz="1300" b="1" dirty="0">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tIns="9144" rIns="18288" bIns="9144" anchor="t">
            <a:spAutoFit/>
          </a:bodyPr>
          <a:lstStyle/>
          <a:p>
            <a:pPr algn="ctr"/>
            <a:r>
              <a:rPr sz="1300" b="1" dirty="0">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896112" y="4270248"/>
            <a:ext cx="3108960" cy="320040"/>
          </a:xfrm>
          <a:prstGeom prst="rect">
            <a:avLst/>
          </a:prstGeom>
          <a:noFill/>
        </p:spPr>
        <p:txBody>
          <a:bodyPr wrap="none" lIns="18288" tIns="9144" rIns="18288" bIns="9144" anchor="t">
            <a:spAutoFit/>
          </a:bodyPr>
          <a:lstStyle/>
          <a:p>
            <a:pPr algn="l"/>
            <a:r>
              <a:rPr sz="1600" b="1" dirty="0">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tIns="9144" rIns="18288" bIns="9144" anchor="t">
            <a:spAutoFit/>
          </a:bodyPr>
          <a:lstStyle/>
          <a:p>
            <a:pPr algn="l"/>
            <a:r>
              <a:rPr sz="1600" b="1" dirty="0">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tIns="9144" rIns="18288" bIns="9144" anchor="t">
            <a:spAutoFit/>
          </a:bodyPr>
          <a:lstStyle/>
          <a:p>
            <a:pPr algn="l"/>
            <a:r>
              <a:rPr sz="1600" b="1" dirty="0">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tIns="9144" rIns="18288" bIns="9144" anchor="t">
            <a:spAutoFit/>
          </a:bodyPr>
          <a:lstStyle/>
          <a:p>
            <a:pPr algn="l"/>
            <a:r>
              <a:rPr sz="1180" b="0" dirty="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tIns="9144" rIns="18288" bIns="9144" anchor="t">
            <a:spAutoFit/>
          </a:bodyPr>
          <a:lstStyle/>
          <a:p>
            <a:pPr algn="l"/>
            <a:r>
              <a:rPr sz="1050" b="0" dirty="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tIns="9144" rIns="18288" bIns="9144" anchor="t">
            <a:spAutoFit/>
          </a:bodyPr>
          <a:lstStyle/>
          <a:p>
            <a:r>
              <a:rPr dirty="0"/>
              <a:t>19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rPr dirty="0"/>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rPr dirty="0"/>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rPr dirty="0"/>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rPr dirty="0"/>
                        <a:t>Policy</a:t>
                      </a:r>
                    </a:p>
                  </a:txBody>
                  <a:tcPr marL="109728">
                    <a:solidFill>
                      <a:srgbClr val="142838"/>
                    </a:solidFill>
                  </a:tcPr>
                </a:tc>
                <a:tc>
                  <a:txBody>
                    <a:bodyPr/>
                    <a:lstStyle/>
                    <a:p>
                      <a:pPr>
                        <a:defRPr sz="1800" b="1">
                          <a:solidFill>
                            <a:srgbClr val="78D8CC"/>
                          </a:solidFill>
                          <a:latin typeface="DejaVu Sans"/>
                        </a:defRPr>
                      </a:pPr>
                      <a:r>
                        <a:rPr dirty="0"/>
                        <a:t>Accuracy</a:t>
                      </a:r>
                    </a:p>
                  </a:txBody>
                  <a:tcPr marL="109728">
                    <a:solidFill>
                      <a:srgbClr val="142838"/>
                    </a:solidFill>
                  </a:tcPr>
                </a:tc>
                <a:tc>
                  <a:txBody>
                    <a:bodyPr/>
                    <a:lstStyle/>
                    <a:p>
                      <a:pPr>
                        <a:defRPr sz="1800" b="1">
                          <a:solidFill>
                            <a:srgbClr val="78D8CC"/>
                          </a:solidFill>
                          <a:latin typeface="DejaVu Sans"/>
                        </a:defRPr>
                      </a:pPr>
                      <a:r>
                        <a:rPr dirty="0"/>
                        <a:t>Updates</a:t>
                      </a:r>
                    </a:p>
                  </a:txBody>
                  <a:tcPr marL="109728">
                    <a:solidFill>
                      <a:srgbClr val="142838"/>
                    </a:solidFill>
                  </a:tcPr>
                </a:tc>
                <a:tc>
                  <a:txBody>
                    <a:bodyPr/>
                    <a:lstStyle/>
                    <a:p>
                      <a:pPr>
                        <a:defRPr sz="1800" b="1">
                          <a:solidFill>
                            <a:srgbClr val="78D8CC"/>
                          </a:solidFill>
                          <a:latin typeface="DejaVu Sans"/>
                        </a:defRPr>
                      </a:pPr>
                      <a:r>
                        <a:rPr dirty="0"/>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rPr dirty="0"/>
                        <a:t>Never</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rPr dirty="0"/>
                        <a:t>Periodic</a:t>
                      </a:r>
                    </a:p>
                  </a:txBody>
                  <a:tcPr marL="109728">
                    <a:solidFill>
                      <a:srgbClr val="101D2A"/>
                    </a:solidFill>
                  </a:tcPr>
                </a:tc>
                <a:tc>
                  <a:txBody>
                    <a:bodyPr/>
                    <a:lstStyle/>
                    <a:p>
                      <a:pPr>
                        <a:defRPr sz="1800" b="0">
                          <a:solidFill>
                            <a:srgbClr val="EAF2F8"/>
                          </a:solidFill>
                          <a:latin typeface="DejaVu Sans"/>
                        </a:defRPr>
                      </a:pPr>
                      <a:r>
                        <a:rPr dirty="0"/>
                        <a:t>98.33%</a:t>
                      </a:r>
                    </a:p>
                  </a:txBody>
                  <a:tcPr marL="109728">
                    <a:solidFill>
                      <a:srgbClr val="101D2A"/>
                    </a:solidFill>
                  </a:tcPr>
                </a:tc>
                <a:tc>
                  <a:txBody>
                    <a:bodyPr/>
                    <a:lstStyle/>
                    <a:p>
                      <a:pPr>
                        <a:defRPr sz="1800" b="0">
                          <a:solidFill>
                            <a:srgbClr val="EAF2F8"/>
                          </a:solidFill>
                          <a:latin typeface="DejaVu Sans"/>
                        </a:defRPr>
                      </a:pPr>
                      <a:r>
                        <a:rPr dirty="0"/>
                        <a:t>12</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rPr dirty="0"/>
                        <a:t>Warning</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3</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rPr dirty="0"/>
                        <a:t>Validated</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1</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rPr dirty="0"/>
                        <a:t>Performance drop</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rPr dirty="0"/>
              <a:t>Periodic updating gains one correct prediction overall for 12 updates.</a:t>
            </a:r>
          </a:p>
          <a:p>
            <a:pPr>
              <a:spcAft>
                <a:spcPts val="800"/>
              </a:spcAft>
              <a:defRPr sz="1900" b="0">
                <a:solidFill>
                  <a:srgbClr val="78D8CC"/>
                </a:solidFill>
                <a:latin typeface="DejaVu Sans"/>
              </a:defRPr>
            </a:pPr>
            <a:r>
              <a:rPr dirty="0"/>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rPr dirty="0"/>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rPr dirty="0"/>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rPr dirty="0"/>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21</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dirty="0">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dirty="0">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dirty="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dirty="0">
                          <a:solidFill>
                            <a:srgbClr val="2DD4BF"/>
                          </a:solidFill>
                          <a:latin typeface="DejaVu Sans"/>
                          <a:ea typeface="DejaVu Sans"/>
                          <a:cs typeface="DejaVu Sans"/>
                        </a:rPr>
                        <a:t>Dataset</a:t>
                      </a:r>
                    </a:p>
                  </a:txBody>
                  <a:tcPr>
                    <a:solidFill>
                      <a:srgbClr val="122B3E"/>
                    </a:solidFill>
                  </a:tcPr>
                </a:tc>
                <a:tc>
                  <a:txBody>
                    <a:bodyPr/>
                    <a:lstStyle/>
                    <a:p>
                      <a:r>
                        <a:rPr sz="1275" b="1" dirty="0">
                          <a:solidFill>
                            <a:srgbClr val="2DD4BF"/>
                          </a:solidFill>
                          <a:latin typeface="DejaVu Sans"/>
                          <a:ea typeface="DejaVu Sans"/>
                          <a:cs typeface="DejaVu Sans"/>
                        </a:rPr>
                        <a:t>Single SVM</a:t>
                      </a:r>
                    </a:p>
                  </a:txBody>
                  <a:tcPr>
                    <a:solidFill>
                      <a:srgbClr val="122B3E"/>
                    </a:solidFill>
                  </a:tcPr>
                </a:tc>
                <a:tc>
                  <a:txBody>
                    <a:bodyPr/>
                    <a:lstStyle/>
                    <a:p>
                      <a:r>
                        <a:rPr sz="1275" b="1" dirty="0">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2A</a:t>
                      </a:r>
                    </a:p>
                  </a:txBody>
                  <a:tcPr>
                    <a:solidFill>
                      <a:srgbClr val="0E1D2C"/>
                    </a:solidFill>
                  </a:tcPr>
                </a:tc>
                <a:tc>
                  <a:txBody>
                    <a:bodyPr/>
                    <a:lstStyle/>
                    <a:p>
                      <a:r>
                        <a:rPr sz="1275" b="0" dirty="0">
                          <a:solidFill>
                            <a:srgbClr val="EAF2F8"/>
                          </a:solidFill>
                          <a:latin typeface="DejaVu Sans"/>
                          <a:ea typeface="DejaVu Sans"/>
                          <a:cs typeface="DejaVu Sans"/>
                        </a:rPr>
                        <a:t>76.00%</a:t>
                      </a:r>
                    </a:p>
                  </a:txBody>
                  <a:tcPr>
                    <a:solidFill>
                      <a:srgbClr val="0E1D2C"/>
                    </a:solidFill>
                  </a:tcPr>
                </a:tc>
                <a:tc>
                  <a:txBody>
                    <a:bodyPr/>
                    <a:lstStyle/>
                    <a:p>
                      <a:r>
                        <a:rPr sz="1275" b="0" dirty="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2B</a:t>
                      </a:r>
                    </a:p>
                  </a:txBody>
                  <a:tcPr>
                    <a:solidFill>
                      <a:srgbClr val="0E1D2C"/>
                    </a:solidFill>
                  </a:tcPr>
                </a:tc>
                <a:tc>
                  <a:txBody>
                    <a:bodyPr/>
                    <a:lstStyle/>
                    <a:p>
                      <a:r>
                        <a:rPr sz="1275" b="0" dirty="0">
                          <a:solidFill>
                            <a:srgbClr val="EAF2F8"/>
                          </a:solidFill>
                          <a:latin typeface="DejaVu Sans"/>
                          <a:ea typeface="DejaVu Sans"/>
                          <a:cs typeface="DejaVu Sans"/>
                        </a:rPr>
                        <a:t>74.86%</a:t>
                      </a:r>
                    </a:p>
                  </a:txBody>
                  <a:tcPr>
                    <a:solidFill>
                      <a:srgbClr val="0E1D2C"/>
                    </a:solidFill>
                  </a:tcPr>
                </a:tc>
                <a:tc>
                  <a:txBody>
                    <a:bodyPr/>
                    <a:lstStyle/>
                    <a:p>
                      <a:r>
                        <a:rPr sz="1275" b="0" dirty="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dirty="0">
                          <a:solidFill>
                            <a:srgbClr val="2DD4BF"/>
                          </a:solidFill>
                          <a:latin typeface="DejaVu Sans"/>
                          <a:ea typeface="DejaVu Sans"/>
                          <a:cs typeface="DejaVu Sans"/>
                        </a:rPr>
                        <a:t>Shift</a:t>
                      </a:r>
                    </a:p>
                  </a:txBody>
                  <a:tcPr>
                    <a:solidFill>
                      <a:srgbClr val="122B3E"/>
                    </a:solidFill>
                  </a:tcPr>
                </a:tc>
                <a:tc>
                  <a:txBody>
                    <a:bodyPr/>
                    <a:lstStyle/>
                    <a:p>
                      <a:r>
                        <a:rPr sz="1275" b="1" dirty="0">
                          <a:solidFill>
                            <a:srgbClr val="2DD4BF"/>
                          </a:solidFill>
                          <a:latin typeface="DejaVu Sans"/>
                          <a:ea typeface="DejaVu Sans"/>
                          <a:cs typeface="DejaVu Sans"/>
                        </a:rPr>
                        <a:t>Score</a:t>
                      </a:r>
                    </a:p>
                  </a:txBody>
                  <a:tcPr>
                    <a:solidFill>
                      <a:srgbClr val="122B3E"/>
                    </a:solidFill>
                  </a:tcPr>
                </a:tc>
                <a:tc>
                  <a:txBody>
                    <a:bodyPr/>
                    <a:lstStyle/>
                    <a:p>
                      <a:r>
                        <a:rPr sz="1275" b="1" dirty="0">
                          <a:solidFill>
                            <a:srgbClr val="2DD4BF"/>
                          </a:solidFill>
                          <a:latin typeface="DejaVu Sans"/>
                          <a:ea typeface="DejaVu Sans"/>
                          <a:cs typeface="DejaVu Sans"/>
                        </a:rPr>
                        <a:t>Residual</a:t>
                      </a:r>
                    </a:p>
                  </a:txBody>
                  <a:tcPr>
                    <a:solidFill>
                      <a:srgbClr val="122B3E"/>
                    </a:solidFill>
                  </a:tcPr>
                </a:tc>
                <a:tc>
                  <a:txBody>
                    <a:bodyPr/>
                    <a:lstStyle/>
                    <a:p>
                      <a:r>
                        <a:rPr sz="1275" b="1" dirty="0">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PC1</a:t>
                      </a:r>
                    </a:p>
                  </a:txBody>
                  <a:tcPr>
                    <a:solidFill>
                      <a:srgbClr val="0E1D2C"/>
                    </a:solidFill>
                  </a:tcPr>
                </a:tc>
                <a:tc>
                  <a:txBody>
                    <a:bodyPr/>
                    <a:lstStyle/>
                    <a:p>
                      <a:r>
                        <a:rPr sz="1275" b="0" dirty="0">
                          <a:solidFill>
                            <a:srgbClr val="EAF2F8"/>
                          </a:solidFill>
                          <a:latin typeface="DejaVu Sans"/>
                          <a:ea typeface="DejaVu Sans"/>
                          <a:cs typeface="DejaVu Sans"/>
                        </a:rPr>
                        <a:t>35%</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PC2</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dirty="0">
                          <a:solidFill>
                            <a:srgbClr val="EAF2F8"/>
                          </a:solidFill>
                          <a:latin typeface="DejaVu Sans"/>
                          <a:ea typeface="DejaVu Sans"/>
                          <a:cs typeface="DejaVu Sans"/>
                        </a:rPr>
                        <a:t>Both</a:t>
                      </a:r>
                    </a:p>
                  </a:txBody>
                  <a:tcPr>
                    <a:solidFill>
                      <a:srgbClr val="0E1D2C"/>
                    </a:solidFill>
                  </a:tcPr>
                </a:tc>
                <a:tc>
                  <a:txBody>
                    <a:bodyPr/>
                    <a:lstStyle/>
                    <a:p>
                      <a:r>
                        <a:rPr sz="1275" b="0" dirty="0">
                          <a:solidFill>
                            <a:srgbClr val="EAF2F8"/>
                          </a:solidFill>
                          <a:latin typeface="DejaVu Sans"/>
                          <a:ea typeface="DejaVu Sans"/>
                          <a:cs typeface="DejaVu Sans"/>
                        </a:rPr>
                        <a:t>26%</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rPr dirty="0"/>
                        <a:t>B01 evidence</a:t>
                      </a:r>
                    </a:p>
                  </a:txBody>
                  <a:tcPr marL="109728" marT="73152">
                    <a:solidFill>
                      <a:srgbClr val="142838"/>
                    </a:solidFill>
                  </a:tcPr>
                </a:tc>
                <a:tc>
                  <a:txBody>
                    <a:bodyPr/>
                    <a:lstStyle/>
                    <a:p>
                      <a:pPr>
                        <a:defRPr sz="2000" b="1">
                          <a:solidFill>
                            <a:srgbClr val="78D8CC"/>
                          </a:solidFill>
                          <a:latin typeface="DejaVu Sans"/>
                        </a:defRPr>
                      </a:pPr>
                      <a:r>
                        <a:rPr dirty="0"/>
                        <a:t>Warnings</a:t>
                      </a:r>
                    </a:p>
                  </a:txBody>
                  <a:tcPr marL="109728" marT="73152">
                    <a:solidFill>
                      <a:srgbClr val="142838"/>
                    </a:solidFill>
                  </a:tcPr>
                </a:tc>
                <a:tc>
                  <a:txBody>
                    <a:bodyPr/>
                    <a:lstStyle/>
                    <a:p>
                      <a:pPr>
                        <a:defRPr sz="2000" b="1">
                          <a:solidFill>
                            <a:srgbClr val="78D8CC"/>
                          </a:solidFill>
                          <a:latin typeface="DejaVu Sans"/>
                        </a:defRPr>
                      </a:pPr>
                      <a:r>
                        <a:rPr dirty="0"/>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rPr dirty="0"/>
                        <a:t>Published reference</a:t>
                      </a:r>
                    </a:p>
                  </a:txBody>
                  <a:tcPr marL="109728" marT="73152">
                    <a:solidFill>
                      <a:srgbClr val="101D2A"/>
                    </a:solidFill>
                  </a:tcPr>
                </a:tc>
                <a:tc>
                  <a:txBody>
                    <a:bodyPr/>
                    <a:lstStyle/>
                    <a:p>
                      <a:pPr>
                        <a:defRPr sz="2000" b="0">
                          <a:solidFill>
                            <a:srgbClr val="EAF2F8"/>
                          </a:solidFill>
                          <a:latin typeface="DejaVu Sans"/>
                        </a:defRPr>
                      </a:pPr>
                      <a:r>
                        <a:rPr dirty="0"/>
                        <a:t>14</a:t>
                      </a:r>
                    </a:p>
                  </a:txBody>
                  <a:tcPr marL="109728" marT="73152">
                    <a:solidFill>
                      <a:srgbClr val="101D2A"/>
                    </a:solidFill>
                  </a:tcPr>
                </a:tc>
                <a:tc>
                  <a:txBody>
                    <a:bodyPr/>
                    <a:lstStyle/>
                    <a:p>
                      <a:pPr>
                        <a:defRPr sz="2000" b="0">
                          <a:solidFill>
                            <a:srgbClr val="EAF2F8"/>
                          </a:solidFill>
                          <a:latin typeface="DejaVu Sans"/>
                        </a:defRPr>
                      </a:pPr>
                      <a:r>
                        <a:rPr dirty="0"/>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rPr dirty="0"/>
                        <a:t>Standalone diagnostic</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rPr dirty="0"/>
                        <a:t>Combined Table-I file</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rPr dirty="0"/>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rPr dirty="0"/>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22</a:t>
            </a:r>
          </a:p>
        </p:txBody>
      </p:sp>
    </p:spTree>
    <p:extLst>
      <p:ext uri="{BB962C8B-B14F-4D97-AF65-F5344CB8AC3E}">
        <p14:creationId xmlns:p14="http://schemas.microsoft.com/office/powerpoint/2010/main" val="34239414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rPr dirty="0"/>
                        <a:t>Mean validated-shift count</a:t>
                      </a:r>
                    </a:p>
                  </a:txBody>
                  <a:tcPr marL="109728" marT="73152">
                    <a:solidFill>
                      <a:srgbClr val="142838"/>
                    </a:solidFill>
                  </a:tcPr>
                </a:tc>
                <a:tc>
                  <a:txBody>
                    <a:bodyPr/>
                    <a:lstStyle/>
                    <a:p>
                      <a:pPr>
                        <a:defRPr sz="2100" b="1">
                          <a:solidFill>
                            <a:srgbClr val="78D8CC"/>
                          </a:solidFill>
                          <a:latin typeface="DejaVu Sans"/>
                        </a:defRPr>
                      </a:pPr>
                      <a:r>
                        <a:rPr dirty="0"/>
                        <a:t>Computed</a:t>
                      </a:r>
                    </a:p>
                  </a:txBody>
                  <a:tcPr marL="109728" marT="73152">
                    <a:solidFill>
                      <a:srgbClr val="142838"/>
                    </a:solidFill>
                  </a:tcPr>
                </a:tc>
                <a:tc>
                  <a:txBody>
                    <a:bodyPr/>
                    <a:lstStyle/>
                    <a:p>
                      <a:pPr>
                        <a:defRPr sz="2100" b="1">
                          <a:solidFill>
                            <a:srgbClr val="78D8CC"/>
                          </a:solidFill>
                          <a:latin typeface="DejaVu Sans"/>
                        </a:defRPr>
                      </a:pPr>
                      <a:r>
                        <a:rPr dirty="0"/>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rPr dirty="0"/>
                        <a:t>Dataset 2A</a:t>
                      </a:r>
                    </a:p>
                  </a:txBody>
                  <a:tcPr marL="109728" marT="73152">
                    <a:solidFill>
                      <a:srgbClr val="101D2A"/>
                    </a:solidFill>
                  </a:tcPr>
                </a:tc>
                <a:tc>
                  <a:txBody>
                    <a:bodyPr/>
                    <a:lstStyle/>
                    <a:p>
                      <a:pPr>
                        <a:defRPr sz="2100" b="0">
                          <a:solidFill>
                            <a:srgbClr val="EAF2F8"/>
                          </a:solidFill>
                          <a:latin typeface="DejaVu Sans"/>
                        </a:defRPr>
                      </a:pPr>
                      <a:r>
                        <a:rPr dirty="0"/>
                        <a:t>0.33</a:t>
                      </a:r>
                    </a:p>
                  </a:txBody>
                  <a:tcPr marL="109728" marT="73152">
                    <a:solidFill>
                      <a:srgbClr val="101D2A"/>
                    </a:solidFill>
                  </a:tcPr>
                </a:tc>
                <a:tc>
                  <a:txBody>
                    <a:bodyPr/>
                    <a:lstStyle/>
                    <a:p>
                      <a:pPr>
                        <a:defRPr sz="2100" b="0">
                          <a:solidFill>
                            <a:srgbClr val="EAF2F8"/>
                          </a:solidFill>
                          <a:latin typeface="DejaVu Sans"/>
                        </a:defRPr>
                      </a:pPr>
                      <a:r>
                        <a:rPr dirty="0"/>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rPr dirty="0"/>
                        <a:t>Dataset 2B</a:t>
                      </a:r>
                    </a:p>
                  </a:txBody>
                  <a:tcPr marL="109728" marT="73152">
                    <a:solidFill>
                      <a:srgbClr val="101D2A"/>
                    </a:solidFill>
                  </a:tcPr>
                </a:tc>
                <a:tc>
                  <a:txBody>
                    <a:bodyPr/>
                    <a:lstStyle/>
                    <a:p>
                      <a:pPr>
                        <a:defRPr sz="2100" b="0">
                          <a:solidFill>
                            <a:srgbClr val="EAF2F8"/>
                          </a:solidFill>
                          <a:latin typeface="DejaVu Sans"/>
                        </a:defRPr>
                      </a:pPr>
                      <a:r>
                        <a:rPr dirty="0"/>
                        <a:t>0.67</a:t>
                      </a:r>
                    </a:p>
                  </a:txBody>
                  <a:tcPr marL="109728" marT="73152">
                    <a:solidFill>
                      <a:srgbClr val="101D2A"/>
                    </a:solidFill>
                  </a:tcPr>
                </a:tc>
                <a:tc>
                  <a:txBody>
                    <a:bodyPr/>
                    <a:lstStyle/>
                    <a:p>
                      <a:pPr>
                        <a:defRPr sz="2100" b="0">
                          <a:solidFill>
                            <a:srgbClr val="EAF2F8"/>
                          </a:solidFill>
                          <a:latin typeface="DejaVu Sans"/>
                        </a:defRPr>
                      </a:pPr>
                      <a:r>
                        <a:rPr dirty="0"/>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Subject-level comparisons</a:t>
            </a:r>
          </a:p>
          <a:p>
            <a:pPr>
              <a:spcAft>
                <a:spcPts val="900"/>
              </a:spcAft>
              <a:defRPr sz="2000" b="0">
                <a:solidFill>
                  <a:srgbClr val="EAF2F8"/>
                </a:solidFill>
                <a:latin typeface="DejaVu Sans"/>
              </a:defRPr>
            </a:pPr>
            <a:r>
              <a:rPr dirty="0"/>
              <a:t>Classifier benchmarks</a:t>
            </a:r>
          </a:p>
          <a:p>
            <a:pPr>
              <a:spcAft>
                <a:spcPts val="900"/>
              </a:spcAft>
              <a:defRPr sz="2000" b="0">
                <a:solidFill>
                  <a:srgbClr val="EAF2F8"/>
                </a:solidFill>
                <a:latin typeface="DejaVu Sans"/>
              </a:defRPr>
            </a:pPr>
            <a:r>
              <a:rPr dirty="0"/>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One configuration per reproducible run</a:t>
            </a:r>
          </a:p>
          <a:p>
            <a:pPr>
              <a:spcAft>
                <a:spcPts val="900"/>
              </a:spcAft>
              <a:defRPr sz="2000" b="0">
                <a:solidFill>
                  <a:srgbClr val="EAF2F8"/>
                </a:solidFill>
                <a:latin typeface="DejaVu Sans"/>
              </a:defRPr>
            </a:pPr>
            <a:r>
              <a:rPr dirty="0"/>
              <a:t>Stage-II acceptance/rejection analysis</a:t>
            </a:r>
          </a:p>
          <a:p>
            <a:pPr>
              <a:spcAft>
                <a:spcPts val="900"/>
              </a:spcAft>
              <a:defRPr sz="2000" b="0">
                <a:solidFill>
                  <a:srgbClr val="EAF2F8"/>
                </a:solidFill>
                <a:latin typeface="DejaVu Sans"/>
              </a:defRPr>
            </a:pPr>
            <a:r>
              <a:rPr dirty="0"/>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rPr dirty="0"/>
              <a:t>23</a:t>
            </a:r>
          </a:p>
        </p:txBody>
      </p:sp>
    </p:spTree>
    <p:extLst>
      <p:ext uri="{BB962C8B-B14F-4D97-AF65-F5344CB8AC3E}">
        <p14:creationId xmlns:p14="http://schemas.microsoft.com/office/powerpoint/2010/main" val="10010702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rPr dirty="0"/>
                        <a:t>Workstream</a:t>
                      </a:r>
                    </a:p>
                  </a:txBody>
                  <a:tcPr marL="109728" marT="73152">
                    <a:solidFill>
                      <a:srgbClr val="142838"/>
                    </a:solidFill>
                  </a:tcPr>
                </a:tc>
                <a:tc>
                  <a:txBody>
                    <a:bodyPr/>
                    <a:lstStyle/>
                    <a:p>
                      <a:pPr>
                        <a:defRPr sz="1800" b="1">
                          <a:solidFill>
                            <a:srgbClr val="78D8CC"/>
                          </a:solidFill>
                          <a:latin typeface="DejaVu Sans"/>
                        </a:defRPr>
                      </a:pPr>
                      <a:r>
                        <a:rPr dirty="0"/>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rPr dirty="0"/>
                        <a:t>CSE reconstruction</a:t>
                      </a:r>
                    </a:p>
                  </a:txBody>
                  <a:tcPr marL="109728" marT="73152">
                    <a:solidFill>
                      <a:srgbClr val="101D2A"/>
                    </a:solidFill>
                  </a:tcPr>
                </a:tc>
                <a:tc>
                  <a:txBody>
                    <a:bodyPr/>
                    <a:lstStyle/>
                    <a:p>
                      <a:pPr>
                        <a:defRPr sz="1800" b="0">
                          <a:solidFill>
                            <a:srgbClr val="EAF2F8"/>
                          </a:solidFill>
                          <a:latin typeface="DejaVu Sans"/>
                        </a:defRPr>
                      </a:pPr>
                      <a:r>
                        <a:rPr dirty="0"/>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rPr dirty="0"/>
                        <a:t>Supervised adaptation</a:t>
                      </a:r>
                    </a:p>
                  </a:txBody>
                  <a:tcPr marL="109728" marT="73152">
                    <a:solidFill>
                      <a:srgbClr val="101D2A"/>
                    </a:solidFill>
                  </a:tcPr>
                </a:tc>
                <a:tc>
                  <a:txBody>
                    <a:bodyPr/>
                    <a:lstStyle/>
                    <a:p>
                      <a:pPr>
                        <a:defRPr sz="1800" b="0">
                          <a:solidFill>
                            <a:srgbClr val="EAF2F8"/>
                          </a:solidFill>
                          <a:latin typeface="DejaVu Sans"/>
                        </a:defRPr>
                      </a:pPr>
                      <a:r>
                        <a:rPr dirty="0"/>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rPr dirty="0"/>
                        <a:t>Transductive adaptation</a:t>
                      </a:r>
                    </a:p>
                  </a:txBody>
                  <a:tcPr marL="109728" marT="73152">
                    <a:solidFill>
                      <a:srgbClr val="101D2A"/>
                    </a:solidFill>
                  </a:tcPr>
                </a:tc>
                <a:tc>
                  <a:txBody>
                    <a:bodyPr/>
                    <a:lstStyle/>
                    <a:p>
                      <a:pPr>
                        <a:defRPr sz="1800" b="0">
                          <a:solidFill>
                            <a:srgbClr val="EAF2F8"/>
                          </a:solidFill>
                          <a:latin typeface="DejaVu Sans"/>
                        </a:defRPr>
                      </a:pPr>
                      <a:r>
                        <a:rPr dirty="0"/>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rPr dirty="0"/>
                        <a:t>Policy experiments</a:t>
                      </a:r>
                    </a:p>
                  </a:txBody>
                  <a:tcPr marL="109728" marT="73152">
                    <a:solidFill>
                      <a:srgbClr val="101D2A"/>
                    </a:solidFill>
                  </a:tcPr>
                </a:tc>
                <a:tc>
                  <a:txBody>
                    <a:bodyPr/>
                    <a:lstStyle/>
                    <a:p>
                      <a:pPr>
                        <a:defRPr sz="1800" b="0">
                          <a:solidFill>
                            <a:srgbClr val="EAF2F8"/>
                          </a:solidFill>
                          <a:latin typeface="DejaVu Sans"/>
                        </a:defRPr>
                      </a:pPr>
                      <a:r>
                        <a:rPr dirty="0"/>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rPr dirty="0"/>
                        <a:t>Evidence still needed</a:t>
                      </a:r>
                    </a:p>
                  </a:txBody>
                  <a:tcPr marL="109728" marT="73152">
                    <a:solidFill>
                      <a:srgbClr val="101D2A"/>
                    </a:solidFill>
                  </a:tcPr>
                </a:tc>
                <a:tc>
                  <a:txBody>
                    <a:bodyPr/>
                    <a:lstStyle/>
                    <a:p>
                      <a:pPr>
                        <a:defRPr sz="1800" b="0">
                          <a:solidFill>
                            <a:srgbClr val="EAF2F8"/>
                          </a:solidFill>
                          <a:latin typeface="DejaVu Sans"/>
                        </a:defRPr>
                      </a:pPr>
                      <a:r>
                        <a:rPr dirty="0"/>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rPr dirty="0"/>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24</a:t>
            </a:r>
          </a:p>
        </p:txBody>
      </p:sp>
    </p:spTree>
    <p:extLst>
      <p:ext uri="{BB962C8B-B14F-4D97-AF65-F5344CB8AC3E}">
        <p14:creationId xmlns:p14="http://schemas.microsoft.com/office/powerpoint/2010/main" val="3821001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dirty="0">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rPr dirty="0"/>
              <a:t>25</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dirty="0">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dirty="0">
                          <a:solidFill>
                            <a:srgbClr val="2DD4BF"/>
                          </a:solidFill>
                          <a:latin typeface="DejaVu Sans"/>
                          <a:ea typeface="DejaVu Sans"/>
                          <a:cs typeface="DejaVu Sans"/>
                        </a:rPr>
                        <a:t>Oct</a:t>
                      </a:r>
                    </a:p>
                  </a:txBody>
                  <a:tcPr anchor="ctr">
                    <a:solidFill>
                      <a:srgbClr val="10253A"/>
                    </a:solidFill>
                  </a:tcPr>
                </a:tc>
                <a:tc>
                  <a:txBody>
                    <a:bodyPr/>
                    <a:lstStyle/>
                    <a:p>
                      <a:pPr algn="ctr"/>
                      <a:r>
                        <a:rPr sz="825" b="1" dirty="0">
                          <a:solidFill>
                            <a:srgbClr val="2DD4BF"/>
                          </a:solidFill>
                          <a:latin typeface="DejaVu Sans"/>
                          <a:ea typeface="DejaVu Sans"/>
                          <a:cs typeface="DejaVu Sans"/>
                        </a:rPr>
                        <a:t>Nov</a:t>
                      </a:r>
                    </a:p>
                  </a:txBody>
                  <a:tcPr anchor="ctr">
                    <a:solidFill>
                      <a:srgbClr val="10253A"/>
                    </a:solidFill>
                  </a:tcPr>
                </a:tc>
                <a:tc>
                  <a:txBody>
                    <a:bodyPr/>
                    <a:lstStyle/>
                    <a:p>
                      <a:pPr algn="ctr"/>
                      <a:r>
                        <a:rPr sz="825" b="1" dirty="0">
                          <a:solidFill>
                            <a:srgbClr val="2DD4BF"/>
                          </a:solidFill>
                          <a:latin typeface="DejaVu Sans"/>
                          <a:ea typeface="DejaVu Sans"/>
                          <a:cs typeface="DejaVu Sans"/>
                        </a:rPr>
                        <a:t>Dec</a:t>
                      </a:r>
                    </a:p>
                  </a:txBody>
                  <a:tcPr anchor="ctr">
                    <a:solidFill>
                      <a:srgbClr val="10253A"/>
                    </a:solidFill>
                  </a:tcPr>
                </a:tc>
                <a:tc>
                  <a:txBody>
                    <a:bodyPr/>
                    <a:lstStyle/>
                    <a:p>
                      <a:pPr algn="ctr"/>
                      <a:r>
                        <a:rPr sz="825" b="1" dirty="0">
                          <a:solidFill>
                            <a:srgbClr val="2DD4BF"/>
                          </a:solidFill>
                          <a:latin typeface="DejaVu Sans"/>
                          <a:ea typeface="DejaVu Sans"/>
                          <a:cs typeface="DejaVu Sans"/>
                        </a:rPr>
                        <a:t>Jan</a:t>
                      </a:r>
                    </a:p>
                  </a:txBody>
                  <a:tcPr anchor="ctr">
                    <a:solidFill>
                      <a:srgbClr val="10253A"/>
                    </a:solidFill>
                  </a:tcPr>
                </a:tc>
                <a:tc>
                  <a:txBody>
                    <a:bodyPr/>
                    <a:lstStyle/>
                    <a:p>
                      <a:pPr algn="ctr"/>
                      <a:r>
                        <a:rPr sz="825" b="1" dirty="0">
                          <a:solidFill>
                            <a:srgbClr val="2DD4BF"/>
                          </a:solidFill>
                          <a:latin typeface="DejaVu Sans"/>
                          <a:ea typeface="DejaVu Sans"/>
                          <a:cs typeface="DejaVu Sans"/>
                        </a:rPr>
                        <a:t>Feb</a:t>
                      </a:r>
                    </a:p>
                  </a:txBody>
                  <a:tcPr anchor="ctr">
                    <a:solidFill>
                      <a:srgbClr val="10253A"/>
                    </a:solidFill>
                  </a:tcPr>
                </a:tc>
                <a:tc>
                  <a:txBody>
                    <a:bodyPr/>
                    <a:lstStyle/>
                    <a:p>
                      <a:pPr algn="ctr"/>
                      <a:r>
                        <a:rPr sz="825" b="1" dirty="0">
                          <a:solidFill>
                            <a:srgbClr val="2DD4BF"/>
                          </a:solidFill>
                          <a:latin typeface="DejaVu Sans"/>
                          <a:ea typeface="DejaVu Sans"/>
                          <a:cs typeface="DejaVu Sans"/>
                        </a:rPr>
                        <a:t>Mar</a:t>
                      </a:r>
                    </a:p>
                  </a:txBody>
                  <a:tcPr anchor="ctr">
                    <a:solidFill>
                      <a:srgbClr val="10253A"/>
                    </a:solidFill>
                  </a:tcPr>
                </a:tc>
                <a:tc>
                  <a:txBody>
                    <a:bodyPr/>
                    <a:lstStyle/>
                    <a:p>
                      <a:pPr algn="ctr"/>
                      <a:r>
                        <a:rPr sz="825" b="1" dirty="0">
                          <a:solidFill>
                            <a:srgbClr val="2DD4BF"/>
                          </a:solidFill>
                          <a:latin typeface="DejaVu Sans"/>
                          <a:ea typeface="DejaVu Sans"/>
                          <a:cs typeface="DejaVu Sans"/>
                        </a:rPr>
                        <a:t>Apr</a:t>
                      </a:r>
                    </a:p>
                  </a:txBody>
                  <a:tcPr anchor="ctr">
                    <a:solidFill>
                      <a:srgbClr val="10253A"/>
                    </a:solidFill>
                  </a:tcPr>
                </a:tc>
                <a:tc>
                  <a:txBody>
                    <a:bodyPr/>
                    <a:lstStyle/>
                    <a:p>
                      <a:pPr algn="ctr"/>
                      <a:r>
                        <a:rPr sz="825" b="1" dirty="0">
                          <a:solidFill>
                            <a:srgbClr val="2DD4BF"/>
                          </a:solidFill>
                          <a:latin typeface="DejaVu Sans"/>
                          <a:ea typeface="DejaVu Sans"/>
                          <a:cs typeface="DejaVu Sans"/>
                        </a:rPr>
                        <a:t>May</a:t>
                      </a:r>
                    </a:p>
                  </a:txBody>
                  <a:tcPr anchor="ctr">
                    <a:solidFill>
                      <a:srgbClr val="10253A"/>
                    </a:solidFill>
                  </a:tcPr>
                </a:tc>
                <a:tc>
                  <a:txBody>
                    <a:bodyPr/>
                    <a:lstStyle/>
                    <a:p>
                      <a:pPr algn="ctr"/>
                      <a:r>
                        <a:rPr sz="825" b="1" dirty="0">
                          <a:solidFill>
                            <a:srgbClr val="2DD4BF"/>
                          </a:solidFill>
                          <a:latin typeface="DejaVu Sans"/>
                          <a:ea typeface="DejaVu Sans"/>
                          <a:cs typeface="DejaVu Sans"/>
                        </a:rPr>
                        <a:t>Jun</a:t>
                      </a:r>
                    </a:p>
                  </a:txBody>
                  <a:tcPr anchor="ctr">
                    <a:solidFill>
                      <a:srgbClr val="10253A"/>
                    </a:solidFill>
                  </a:tcPr>
                </a:tc>
                <a:tc>
                  <a:txBody>
                    <a:bodyPr/>
                    <a:lstStyle/>
                    <a:p>
                      <a:pPr algn="ctr"/>
                      <a:r>
                        <a:rPr sz="825" b="1" dirty="0">
                          <a:solidFill>
                            <a:srgbClr val="2DD4BF"/>
                          </a:solidFill>
                          <a:latin typeface="DejaVu Sans"/>
                          <a:ea typeface="DejaVu Sans"/>
                          <a:cs typeface="DejaVu Sans"/>
                        </a:rPr>
                        <a:t>Jul</a:t>
                      </a:r>
                    </a:p>
                  </a:txBody>
                  <a:tcPr anchor="ctr">
                    <a:solidFill>
                      <a:srgbClr val="10253A"/>
                    </a:solidFill>
                  </a:tcPr>
                </a:tc>
                <a:tc>
                  <a:txBody>
                    <a:bodyPr/>
                    <a:lstStyle/>
                    <a:p>
                      <a:pPr algn="ctr"/>
                      <a:r>
                        <a:rPr sz="825" b="1" dirty="0">
                          <a:solidFill>
                            <a:srgbClr val="2DD4BF"/>
                          </a:solidFill>
                          <a:latin typeface="DejaVu Sans"/>
                          <a:ea typeface="DejaVu Sans"/>
                          <a:cs typeface="DejaVu Sans"/>
                        </a:rPr>
                        <a:t>Aug</a:t>
                      </a:r>
                    </a:p>
                  </a:txBody>
                  <a:tcPr anchor="ctr">
                    <a:solidFill>
                      <a:srgbClr val="10253A"/>
                    </a:solidFill>
                  </a:tcPr>
                </a:tc>
                <a:tc>
                  <a:txBody>
                    <a:bodyPr/>
                    <a:lstStyle/>
                    <a:p>
                      <a:pPr algn="ctr"/>
                      <a:r>
                        <a:rPr sz="825" b="1" dirty="0">
                          <a:solidFill>
                            <a:srgbClr val="2DD4BF"/>
                          </a:solidFill>
                          <a:latin typeface="DejaVu Sans"/>
                          <a:ea typeface="DejaVu Sans"/>
                          <a:cs typeface="DejaVu Sans"/>
                        </a:rPr>
                        <a:t>Sep</a:t>
                      </a:r>
                    </a:p>
                  </a:txBody>
                  <a:tcPr anchor="ctr">
                    <a:solidFill>
                      <a:srgbClr val="10253A"/>
                    </a:solidFill>
                  </a:tcPr>
                </a:tc>
                <a:tc>
                  <a:txBody>
                    <a:bodyPr/>
                    <a:lstStyle/>
                    <a:p>
                      <a:pPr algn="l"/>
                      <a:r>
                        <a:rPr sz="975" b="1" dirty="0">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dirty="0">
                          <a:solidFill>
                            <a:srgbClr val="EAF2F8"/>
                          </a:solidFill>
                          <a:latin typeface="DejaVu Sans"/>
                          <a:ea typeface="DejaVu Sans"/>
                          <a:cs typeface="DejaVu Sans"/>
                        </a:rPr>
                        <a:t>WP1  Theory and architecture</a:t>
                      </a:r>
                    </a:p>
                    <a:p>
                      <a:pPr algn="l"/>
                      <a:r>
                        <a:rPr sz="1050" b="1" dirty="0">
                          <a:solidFill>
                            <a:srgbClr val="EAF2F8"/>
                          </a:solidFill>
                          <a:latin typeface="DejaVu Sans"/>
                          <a:ea typeface="DejaVu Sans"/>
                          <a:cs typeface="DejaVu Sans"/>
                        </a:rPr>
                        <a:t>CPD, CL and twin design</a:t>
                      </a:r>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dirty="0">
                          <a:solidFill>
                            <a:srgbClr val="EAF2F8"/>
                          </a:solidFill>
                          <a:latin typeface="DejaVu Sans"/>
                          <a:ea typeface="DejaVu Sans"/>
                          <a:cs typeface="DejaVu Sans"/>
                        </a:rPr>
                        <a:t>WP2  CPD benchmarking</a:t>
                      </a:r>
                    </a:p>
                    <a:p>
                      <a:pPr algn="l"/>
                      <a:r>
                        <a:rPr sz="1050" b="1" dirty="0">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dirty="0">
                          <a:solidFill>
                            <a:srgbClr val="EAF2F8"/>
                          </a:solidFill>
                          <a:latin typeface="DejaVu Sans"/>
                          <a:ea typeface="DejaVu Sans"/>
                          <a:cs typeface="DejaVu Sans"/>
                        </a:rPr>
                        <a:t>WP3  Continual learning and sustainability</a:t>
                      </a:r>
                    </a:p>
                    <a:p>
                      <a:pPr algn="l"/>
                      <a:r>
                        <a:rPr sz="1050" b="1" dirty="0">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dirty="0">
                          <a:solidFill>
                            <a:srgbClr val="EAF2F8"/>
                          </a:solidFill>
                          <a:latin typeface="DejaVu Sans"/>
                          <a:ea typeface="DejaVu Sans"/>
                          <a:cs typeface="DejaVu Sans"/>
                        </a:rPr>
                        <a:t>WP4  Digital twin co-evolution</a:t>
                      </a:r>
                    </a:p>
                    <a:p>
                      <a:pPr algn="l"/>
                      <a:r>
                        <a:rPr sz="1050" b="1" dirty="0">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dirty="0">
                          <a:solidFill>
                            <a:srgbClr val="EAF2F8"/>
                          </a:solidFill>
                          <a:latin typeface="DejaVu Sans"/>
                          <a:ea typeface="DejaVu Sans"/>
                          <a:cs typeface="DejaVu Sans"/>
                        </a:rPr>
                        <a:t>WP5  Cross-domain evaluation</a:t>
                      </a:r>
                    </a:p>
                    <a:p>
                      <a:pPr algn="l"/>
                      <a:r>
                        <a:rPr sz="1050" b="1" dirty="0">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dirty="0">
                          <a:solidFill>
                            <a:srgbClr val="EAF2F8"/>
                          </a:solidFill>
                          <a:latin typeface="DejaVu Sans"/>
                          <a:ea typeface="DejaVu Sans"/>
                          <a:cs typeface="DejaVu Sans"/>
                        </a:rPr>
                        <a:t>WP6  Synthesis and engagement</a:t>
                      </a:r>
                    </a:p>
                    <a:p>
                      <a:pPr algn="l"/>
                      <a:r>
                        <a:rPr sz="1050" b="1" dirty="0">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pPr algn="l"/>
                      <a:r>
                        <a:rPr sz="975" b="0" dirty="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rPr dirty="0"/>
              <a:t>26</a:t>
            </a:r>
          </a:p>
        </p:txBody>
      </p:sp>
    </p:spTree>
    <p:extLst>
      <p:ext uri="{BB962C8B-B14F-4D97-AF65-F5344CB8AC3E}">
        <p14:creationId xmlns:p14="http://schemas.microsoft.com/office/powerpoint/2010/main" val="1903319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Reading, writing and project management reinforce each other</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Today’s learning turns a notation correction into a clearer research claim and a testable next step.</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supplied learning image and today’s chat. Assessment reflects discussion evidence, not a scored evaluation.</a:t>
            </a:r>
          </a:p>
        </p:txBody>
      </p:sp>
      <p:sp>
        <p:nvSpPr>
          <p:cNvPr id="6" name="TextBox 5"/>
          <p:cNvSpPr txBox="1"/>
          <p:nvPr/>
        </p:nvSpPr>
        <p:spPr>
          <a:xfrm>
            <a:off x="82296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Reading</a:t>
            </a:r>
          </a:p>
        </p:txBody>
      </p:sp>
      <p:sp>
        <p:nvSpPr>
          <p:cNvPr id="7" name="TextBox 6"/>
          <p:cNvSpPr txBox="1"/>
          <p:nvPr/>
        </p:nvSpPr>
        <p:spPr>
          <a:xfrm>
            <a:off x="82296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interrogating symbols and connecting methods.</a:t>
            </a:r>
          </a:p>
          <a:p>
            <a:pPr>
              <a:spcAft>
                <a:spcPts val="1200"/>
              </a:spcAft>
              <a:defRPr sz="1900" b="0">
                <a:solidFill>
                  <a:srgbClr val="12233B"/>
                </a:solidFill>
                <a:latin typeface="Aptos"/>
              </a:defRPr>
            </a:pPr>
            <a:r>
              <a:rPr dirty="0"/>
              <a:t>Next: record each symbol’s role, assumptions and equation location.</a:t>
            </a:r>
          </a:p>
        </p:txBody>
      </p:sp>
      <p:sp>
        <p:nvSpPr>
          <p:cNvPr id="8" name="TextBox 7"/>
          <p:cNvSpPr txBox="1"/>
          <p:nvPr/>
        </p:nvSpPr>
        <p:spPr>
          <a:xfrm>
            <a:off x="457200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Writing</a:t>
            </a:r>
          </a:p>
        </p:txBody>
      </p:sp>
      <p:sp>
        <p:nvSpPr>
          <p:cNvPr id="9" name="TextBox 8"/>
          <p:cNvSpPr txBox="1"/>
          <p:nvPr/>
        </p:nvSpPr>
        <p:spPr>
          <a:xfrm>
            <a:off x="457200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maintaining explicit evidence boundaries.</a:t>
            </a:r>
          </a:p>
          <a:p>
            <a:pPr>
              <a:spcAft>
                <a:spcPts val="1200"/>
              </a:spcAft>
              <a:defRPr sz="1900" b="0">
                <a:solidFill>
                  <a:srgbClr val="12233B"/>
                </a:solidFill>
                <a:latin typeface="Aptos"/>
              </a:defRPr>
            </a:pPr>
            <a:r>
              <a:rPr dirty="0"/>
              <a:t>Next: separate mathematical identity, modelling assumption and empirical finding.</a:t>
            </a:r>
          </a:p>
        </p:txBody>
      </p:sp>
      <p:sp>
        <p:nvSpPr>
          <p:cNvPr id="10" name="TextBox 9"/>
          <p:cNvSpPr txBox="1"/>
          <p:nvPr/>
        </p:nvSpPr>
        <p:spPr>
          <a:xfrm>
            <a:off x="832104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Project management</a:t>
            </a:r>
          </a:p>
        </p:txBody>
      </p:sp>
      <p:sp>
        <p:nvSpPr>
          <p:cNvPr id="11" name="TextBox 10"/>
          <p:cNvSpPr txBox="1"/>
          <p:nvPr/>
        </p:nvSpPr>
        <p:spPr>
          <a:xfrm>
            <a:off x="832104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linking notes with code and a research diary.</a:t>
            </a:r>
          </a:p>
          <a:p>
            <a:pPr>
              <a:spcAft>
                <a:spcPts val="1200"/>
              </a:spcAft>
              <a:defRPr sz="1900" b="0">
                <a:solidFill>
                  <a:srgbClr val="12233B"/>
                </a:solidFill>
                <a:latin typeface="Aptos"/>
              </a:defRPr>
            </a:pPr>
            <a:r>
              <a:rPr dirty="0"/>
              <a:t>Next: keep one dated claim ledger and define a falsifiable test for each open question.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Raza et al. (2015, 2019): CSE and adaptive ensemble.</a:t>
            </a:r>
          </a:p>
          <a:p>
            <a:pPr>
              <a:spcAft>
                <a:spcPts val="600"/>
              </a:spcAft>
              <a:defRPr sz="1300" b="0">
                <a:solidFill>
                  <a:srgbClr val="12233B"/>
                </a:solidFill>
                <a:latin typeface="Aptos"/>
              </a:defRPr>
            </a:pPr>
            <a:r>
              <a:rPr dirty="0"/>
              <a:t>Chowdhury et al. (2018): online BCI, validated EWMA warnings.</a:t>
            </a:r>
          </a:p>
          <a:p>
            <a:pPr>
              <a:spcAft>
                <a:spcPts val="600"/>
              </a:spcAft>
              <a:defRPr sz="1300" b="0">
                <a:solidFill>
                  <a:srgbClr val="12233B"/>
                </a:solidFill>
                <a:latin typeface="Aptos"/>
              </a:defRPr>
            </a:pPr>
            <a:r>
              <a:rPr dirty="0"/>
              <a:t>Park et al. (2023): mean versus second-order changes.</a:t>
            </a:r>
          </a:p>
          <a:p>
            <a:pPr>
              <a:spcAft>
                <a:spcPts val="600"/>
              </a:spcAft>
              <a:defRPr sz="1300" b="0">
                <a:solidFill>
                  <a:srgbClr val="12233B"/>
                </a:solidFill>
                <a:latin typeface="Aptos"/>
              </a:defRPr>
            </a:pPr>
            <a:r>
              <a:rPr dirty="0"/>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Reconstructed CSE, multiple Stage-II options.</a:t>
            </a:r>
          </a:p>
          <a:p>
            <a:pPr>
              <a:spcAft>
                <a:spcPts val="600"/>
              </a:spcAft>
              <a:defRPr sz="1300" b="0">
                <a:solidFill>
                  <a:srgbClr val="12233B"/>
                </a:solidFill>
                <a:latin typeface="Aptos"/>
              </a:defRPr>
            </a:pPr>
            <a:r>
              <a:rPr dirty="0"/>
              <a:t>Park candidate curves, not confirmation.</a:t>
            </a:r>
          </a:p>
          <a:p>
            <a:pPr>
              <a:spcAft>
                <a:spcPts val="600"/>
              </a:spcAft>
              <a:defRPr sz="1300" b="0">
                <a:solidFill>
                  <a:srgbClr val="12233B"/>
                </a:solidFill>
                <a:latin typeface="Aptos"/>
              </a:defRPr>
            </a:pPr>
            <a:r>
              <a:rPr dirty="0"/>
              <a:t>Six-policy supervised lab, not conclusive rankings.</a:t>
            </a:r>
          </a:p>
          <a:p>
            <a:pPr>
              <a:spcAft>
                <a:spcPts val="600"/>
              </a:spcAft>
              <a:defRPr sz="1300" b="0">
                <a:solidFill>
                  <a:srgbClr val="12233B"/>
                </a:solidFill>
                <a:latin typeface="Aptos"/>
              </a:defRPr>
            </a:pPr>
            <a:r>
              <a:rPr dirty="0"/>
              <a:t>Published EEG subject-level count agreement unresolved.</a:t>
            </a:r>
          </a:p>
          <a:p>
            <a:pPr>
              <a:spcAft>
                <a:spcPts val="600"/>
              </a:spcAft>
              <a:defRPr sz="1300" b="0">
                <a:solidFill>
                  <a:srgbClr val="12233B"/>
                </a:solidFill>
                <a:latin typeface="Aptos"/>
              </a:defRPr>
            </a:pPr>
            <a:r>
              <a:rPr dirty="0"/>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rPr dirty="0"/>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330</TotalTime>
  <Words>7919</Words>
  <Application>Microsoft Office PowerPoint</Application>
  <DocSecurity>0</DocSecurity>
  <PresentationFormat>Widescreen</PresentationFormat>
  <Paragraphs>894</Paragraphs>
  <Slides>39</Slides>
  <Notes>33</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39</vt:i4>
      </vt:variant>
    </vt:vector>
  </HeadingPairs>
  <TitlesOfParts>
    <vt:vector size="45" baseType="lpstr">
      <vt:lpstr>Aptos</vt:lpstr>
      <vt:lpstr>DejaVu Sans</vt:lpstr>
      <vt:lpstr>Calibri</vt:lpstr>
      <vt:lpstr>Consolas</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26</cp:revision>
  <dcterms:created xsi:type="dcterms:W3CDTF">2026-09-28T11:03:11Z</dcterms:created>
  <dcterms:modified xsi:type="dcterms:W3CDTF">2026-10-13T08:35:45Z</dcterms:modified>
</cp:coreProperties>
</file>