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004020202020204" charset="0"/>
      <p:regular r:id="rId47"/>
      <p:bold r:id="rId48"/>
    </p:embeddedFont>
    <p:embeddedFont>
      <p:font typeface="Calibri (MS)" panose="020B0604020202020204" charset="0"/>
      <p:regular r:id="rId49"/>
    </p:embeddedFont>
    <p:embeddedFont>
      <p:font typeface="Calibri (MS) Bold" panose="020B0604020202020204" charset="0"/>
      <p:regular r:id="rId50"/>
    </p:embeddedFont>
    <p:embeddedFont>
      <p:font typeface="Calibri (MS) Italics" panose="020B0604020202020204" charset="0"/>
      <p:regular r:id="rId51"/>
    </p:embeddedFont>
    <p:embeddedFont>
      <p:font typeface="Cambria Math" panose="02040503050406030204" pitchFamily="18" charset="0"/>
      <p:regular r:id="rId52"/>
    </p:embeddedFont>
    <p:embeddedFont>
      <p:font typeface="Consolas" panose="020B0609020204030204" pitchFamily="49" charset="0"/>
      <p:regular r:id="rId53"/>
      <p:bold r:id="rId54"/>
      <p:italic r:id="rId55"/>
      <p:boldItalic r:id="rId56"/>
    </p:embeddedFont>
    <p:embeddedFont>
      <p:font typeface="DejaVu Sans Bold" panose="020B0604020202020204" charset="0"/>
      <p:regular r:id="rId57"/>
    </p:embeddedFont>
    <p:embeddedFont>
      <p:font typeface="DejaVu Sans Light" panose="020B0604020202020204" charset="0"/>
      <p:regular r:id="rId58"/>
    </p:embeddedFont>
    <p:embeddedFont>
      <p:font typeface="Inter" panose="020B0604020202020204" charset="0"/>
      <p:regular r:id="rId59"/>
    </p:embeddedFont>
    <p:embeddedFont>
      <p:font typeface="Inter Bold" panose="020B0604020202020204" charset="0"/>
      <p:regular r:id="rId60"/>
    </p:embeddedFont>
    <p:embeddedFont>
      <p:font typeface="Inter Italics" panose="020B0604020202020204" charset="0"/>
      <p:regular r:id="rId61"/>
    </p:embeddedFont>
    <p:embeddedFont>
      <p:font typeface="Inter Medium" panose="020B0604020202020204" charset="0"/>
      <p:regular r:id="rId62"/>
    </p:embeddedFont>
    <p:embeddedFont>
      <p:font typeface="Inter Semi-Bold" panose="020B0604020202020204" charset="0"/>
      <p:regular r:id="rId63"/>
    </p:embeddedFont>
    <p:embeddedFont>
      <p:font typeface="Roboto" panose="02000000000000000000" pitchFamily="2" charset="0"/>
      <p:regular r:id="rId64"/>
      <p:bold r:id="rId65"/>
      <p:italic r:id="rId66"/>
      <p:boldItalic r:id="rId67"/>
    </p:embeddedFont>
    <p:embeddedFont>
      <p:font typeface="Roboto Bold" panose="02000000000000000000" charset="0"/>
      <p:regular r:id="rId68"/>
      <p:bold r:id="rId6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36" dt="2026-10-17T15:41:59.4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1016" autoAdjust="0"/>
  </p:normalViewPr>
  <p:slideViewPr>
    <p:cSldViewPr>
      <p:cViewPr varScale="1">
        <p:scale>
          <a:sx n="46" d="100"/>
          <a:sy n="46" d="100"/>
        </p:scale>
        <p:origin x="1191" y="2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font" Target="fonts/font1.fntdata"/><Relationship Id="rId48" Type="http://schemas.openxmlformats.org/officeDocument/2006/relationships/font" Target="fonts/font2.fntdata"/><Relationship Id="rId49" Type="http://schemas.openxmlformats.org/officeDocument/2006/relationships/font" Target="fonts/font3.fntdata"/><Relationship Id="rId50" Type="http://schemas.openxmlformats.org/officeDocument/2006/relationships/font" Target="fonts/font4.fntdata"/><Relationship Id="rId51" Type="http://schemas.openxmlformats.org/officeDocument/2006/relationships/font" Target="fonts/font5.fntdata"/><Relationship Id="rId52" Type="http://schemas.openxmlformats.org/officeDocument/2006/relationships/font" Target="fonts/font6.fntdata"/><Relationship Id="rId53" Type="http://schemas.openxmlformats.org/officeDocument/2006/relationships/font" Target="fonts/font7.fntdata"/><Relationship Id="rId54" Type="http://schemas.openxmlformats.org/officeDocument/2006/relationships/font" Target="fonts/font8.fntdata"/><Relationship Id="rId55" Type="http://schemas.openxmlformats.org/officeDocument/2006/relationships/font" Target="fonts/font9.fntdata"/><Relationship Id="rId56" Type="http://schemas.openxmlformats.org/officeDocument/2006/relationships/font" Target="fonts/font10.fntdata"/><Relationship Id="rId57" Type="http://schemas.openxmlformats.org/officeDocument/2006/relationships/font" Target="fonts/font11.fntdata"/><Relationship Id="rId58" Type="http://schemas.openxmlformats.org/officeDocument/2006/relationships/font" Target="fonts/font12.fntdata"/><Relationship Id="rId59" Type="http://schemas.openxmlformats.org/officeDocument/2006/relationships/font" Target="fonts/font13.fntdata"/><Relationship Id="rId60" Type="http://schemas.openxmlformats.org/officeDocument/2006/relationships/font" Target="fonts/font14.fntdata"/><Relationship Id="rId61" Type="http://schemas.openxmlformats.org/officeDocument/2006/relationships/font" Target="fonts/font15.fntdata"/><Relationship Id="rId62" Type="http://schemas.openxmlformats.org/officeDocument/2006/relationships/font" Target="fonts/font16.fntdata"/><Relationship Id="rId63" Type="http://schemas.openxmlformats.org/officeDocument/2006/relationships/font" Target="fonts/font17.fntdata"/><Relationship Id="rId64" Type="http://schemas.openxmlformats.org/officeDocument/2006/relationships/font" Target="fonts/font18.fntdata"/><Relationship Id="rId65" Type="http://schemas.openxmlformats.org/officeDocument/2006/relationships/font" Target="fonts/font19.fntdata"/><Relationship Id="rId66" Type="http://schemas.openxmlformats.org/officeDocument/2006/relationships/font" Target="fonts/font20.fntdata"/><Relationship Id="rId67" Type="http://schemas.openxmlformats.org/officeDocument/2006/relationships/font" Target="fonts/font21.fntdata"/><Relationship Id="rId68" Type="http://schemas.openxmlformats.org/officeDocument/2006/relationships/font" Target="fonts/font22.fntdata"/><Relationship Id="rId69" Type="http://schemas.openxmlformats.org/officeDocument/2006/relationships/font" Target="fonts/font23.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custSel addSld delSld modSld">
      <pc:chgData name="Haocheng Lin" userId="3c9af17cd41df8cf" providerId="LiveId" clId="{E85DCD58-ED75-4D29-A2F4-F018EE94DF03}" dt="2026-10-17T15:42:52.463" v="447" actId="20577"/>
      <pc:docMkLst>
        <pc:docMk/>
      </pc:docMkLst>
      <pc:sldChg chg="delSp modSp mod">
        <pc:chgData name="Haocheng Lin" userId="3c9af17cd41df8cf" providerId="LiveId" clId="{E85DCD58-ED75-4D29-A2F4-F018EE94DF03}" dt="2026-10-17T11:23:37.501" v="29" actId="21"/>
        <pc:sldMkLst>
          <pc:docMk/>
          <pc:sldMk cId="0" sldId="257"/>
        </pc:sldMkLst>
        <pc:spChg chg="del">
          <ac:chgData name="Haocheng Lin" userId="3c9af17cd41df8cf" providerId="LiveId" clId="{E85DCD58-ED75-4D29-A2F4-F018EE94DF03}" dt="2026-10-17T11:23:37.501" v="29" actId="21"/>
          <ac:spMkLst>
            <pc:docMk/>
            <pc:sldMk cId="0" sldId="257"/>
            <ac:spMk id="4" creationId="{00000000-0000-0000-0000-000000000000}"/>
          </ac:spMkLst>
        </pc:spChg>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7T12:12:32.434" v="54" actId="108"/>
        <pc:sldMkLst>
          <pc:docMk/>
          <pc:sldMk cId="0" sldId="261"/>
        </pc:sldMkLst>
        <pc:spChg chg="mod">
          <ac:chgData name="Haocheng Lin" userId="3c9af17cd41df8cf" providerId="LiveId" clId="{E85DCD58-ED75-4D29-A2F4-F018EE94DF03}" dt="2026-10-17T12:12:32.434" v="54" actId="108"/>
          <ac:spMkLst>
            <pc:docMk/>
            <pc:sldMk cId="0" sldId="261"/>
            <ac:spMk id="13" creationId="{00000000-0000-0000-0000-000000000000}"/>
          </ac:spMkLst>
        </pc:spChg>
      </pc:sldChg>
      <pc:sldChg chg="addSp delSp modSp mod">
        <pc:chgData name="Haocheng Lin" userId="3c9af17cd41df8cf" providerId="LiveId" clId="{E85DCD58-ED75-4D29-A2F4-F018EE94DF03}" dt="2026-10-17T12:45:00.629" v="249" actId="20577"/>
        <pc:sldMkLst>
          <pc:docMk/>
          <pc:sldMk cId="0" sldId="262"/>
        </pc:sldMkLst>
        <pc:spChg chg="mod">
          <ac:chgData name="Haocheng Lin" userId="3c9af17cd41df8cf" providerId="LiveId" clId="{E85DCD58-ED75-4D29-A2F4-F018EE94DF03}" dt="2026-10-17T12:24:47.711" v="121" actId="1076"/>
          <ac:spMkLst>
            <pc:docMk/>
            <pc:sldMk cId="0" sldId="262"/>
            <ac:spMk id="6" creationId="{00000000-0000-0000-0000-000000000000}"/>
          </ac:spMkLst>
        </pc:spChg>
        <pc:spChg chg="mod">
          <ac:chgData name="Haocheng Lin" userId="3c9af17cd41df8cf" providerId="LiveId" clId="{E85DCD58-ED75-4D29-A2F4-F018EE94DF03}" dt="2026-10-17T12:24:51.255" v="122" actId="1076"/>
          <ac:spMkLst>
            <pc:docMk/>
            <pc:sldMk cId="0" sldId="262"/>
            <ac:spMk id="9" creationId="{00000000-0000-0000-0000-000000000000}"/>
          </ac:spMkLst>
        </pc:spChg>
        <pc:spChg chg="add mod">
          <ac:chgData name="Haocheng Lin" userId="3c9af17cd41df8cf" providerId="LiveId" clId="{E85DCD58-ED75-4D29-A2F4-F018EE94DF03}" dt="2026-10-17T12:45:00.629" v="249" actId="20577"/>
          <ac:spMkLst>
            <pc:docMk/>
            <pc:sldMk cId="0" sldId="262"/>
            <ac:spMk id="14" creationId="{64BEB341-9A48-7113-113A-9973076B485F}"/>
          </ac:spMkLst>
        </pc:spChg>
        <pc:spChg chg="add mod">
          <ac:chgData name="Haocheng Lin" userId="3c9af17cd41df8cf" providerId="LiveId" clId="{E85DCD58-ED75-4D29-A2F4-F018EE94DF03}" dt="2026-10-17T12:38:27.480" v="215" actId="255"/>
          <ac:spMkLst>
            <pc:docMk/>
            <pc:sldMk cId="0" sldId="262"/>
            <ac:spMk id="16" creationId="{80B5189C-CA1A-B1E5-E678-3D65B1796E8A}"/>
          </ac:spMkLst>
        </pc:spChg>
        <pc:spChg chg="add mod">
          <ac:chgData name="Haocheng Lin" userId="3c9af17cd41df8cf" providerId="LiveId" clId="{E85DCD58-ED75-4D29-A2F4-F018EE94DF03}" dt="2026-10-17T12:39:05.106" v="229" actId="20577"/>
          <ac:spMkLst>
            <pc:docMk/>
            <pc:sldMk cId="0" sldId="262"/>
            <ac:spMk id="18" creationId="{0AC86904-BCB9-E2F8-DB4D-8B479A164C4D}"/>
          </ac:spMkLst>
        </pc:spChg>
        <pc:spChg chg="mod">
          <ac:chgData name="Haocheng Lin" userId="3c9af17cd41df8cf" providerId="LiveId" clId="{E85DCD58-ED75-4D29-A2F4-F018EE94DF03}" dt="2026-10-17T12:35:54.324" v="169" actId="11530"/>
          <ac:spMkLst>
            <pc:docMk/>
            <pc:sldMk cId="0" sldId="262"/>
            <ac:spMk id="6080" creationId="{00000000-0000-0000-0000-000000000000}"/>
          </ac:spMkLst>
        </pc:spChg>
        <pc:spChg chg="mod">
          <ac:chgData name="Haocheng Lin" userId="3c9af17cd41df8cf" providerId="LiveId" clId="{E85DCD58-ED75-4D29-A2F4-F018EE94DF03}" dt="2026-10-17T12:35:54.324" v="169" actId="11530"/>
          <ac:spMkLst>
            <pc:docMk/>
            <pc:sldMk cId="0" sldId="262"/>
            <ac:spMk id="6081" creationId="{00000000-0000-0000-0000-000000000000}"/>
          </ac:spMkLst>
        </pc:spChg>
        <pc:spChg chg="del">
          <ac:chgData name="Haocheng Lin" userId="3c9af17cd41df8cf" providerId="LiveId" clId="{E85DCD58-ED75-4D29-A2F4-F018EE94DF03}" dt="2026-10-17T12:39:33.952" v="230" actId="21"/>
          <ac:spMkLst>
            <pc:docMk/>
            <pc:sldMk cId="0" sldId="262"/>
            <ac:spMk id="6082" creationId="{00000000-0000-0000-0000-000000000000}"/>
          </ac:spMkLst>
        </pc:spChg>
        <pc:spChg chg="del">
          <ac:chgData name="Haocheng Lin" userId="3c9af17cd41df8cf" providerId="LiveId" clId="{E85DCD58-ED75-4D29-A2F4-F018EE94DF03}" dt="2026-10-17T12:39:36.638" v="231" actId="21"/>
          <ac:spMkLst>
            <pc:docMk/>
            <pc:sldMk cId="0" sldId="262"/>
            <ac:spMk id="6083" creationId="{00000000-0000-0000-0000-000000000000}"/>
          </ac:spMkLst>
        </pc:spChg>
        <pc:grpChg chg="mod">
          <ac:chgData name="Haocheng Lin" userId="3c9af17cd41df8cf" providerId="LiveId" clId="{E85DCD58-ED75-4D29-A2F4-F018EE94DF03}" dt="2026-10-17T12:34:56.526" v="161" actId="1076"/>
          <ac:grpSpMkLst>
            <pc:docMk/>
            <pc:sldMk cId="0" sldId="262"/>
            <ac:grpSpMk id="4" creationId="{00000000-0000-0000-0000-000000000000}"/>
          </ac:grpSpMkLst>
        </pc:grpChg>
        <pc:grpChg chg="add mod">
          <ac:chgData name="Haocheng Lin" userId="3c9af17cd41df8cf" providerId="LiveId" clId="{E85DCD58-ED75-4D29-A2F4-F018EE94DF03}" dt="2026-10-17T12:35:54.324" v="169" actId="11530"/>
          <ac:grpSpMkLst>
            <pc:docMk/>
            <pc:sldMk cId="0" sldId="262"/>
            <ac:grpSpMk id="15" creationId="{119BDDF6-C75F-9902-1C1D-E7A87AD7A49F}"/>
          </ac:grpSpMkLst>
        </pc:grp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del">
          <ac:chgData name="Haocheng Lin" userId="3c9af17cd41df8cf" providerId="LiveId" clId="{E85DCD58-ED75-4D29-A2F4-F018EE94DF03}" dt="2026-10-17T12:45:38.476" v="250" actId="21"/>
          <ac:spMkLst>
            <pc:docMk/>
            <pc:sldMk cId="0" sldId="263"/>
            <ac:spMk id="5"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https://github.com/hlin863/ewma_covariate_shift_demo/blob/main/src/bci/data.py" TargetMode="External"/><Relationship Id="rId4" Type="http://schemas.openxmlformats.org/officeDocument/2006/relationships/hyperlink" Target="https://app.notion.com/p/2dbebfe135114eb2b1dbe494cf9e450b?v=c3ec27d9aaad4594b1f5cdb438a944ba" TargetMode="External"/><Relationship Id="rId5" Type="http://schemas.openxmlformats.org/officeDocument/2006/relationships/hyperlink" Target="https://github.com/hlin863/ewma_covariate_shift_demo/blob/main/src/bci/fbcsp.py" TargetMode="External"/><Relationship Id="rId6" Type="http://schemas.openxmlformats.org/officeDocument/2006/relationships/hyperlink" Target="https://github.com/hlin863/ewma_covariate_shift_demo/blob/main/src/detection/preprocessing.py#L9-L105" TargetMode="External"/><Relationship Id="rId7" Type="http://schemas.openxmlformats.org/officeDocument/2006/relationships/hyperlink" Target="https://github.com/hlin863/ewma_covariate_shift_demo/tree/main/src/detection/stage1" TargetMode="External"/><Relationship Id="rId8" Type="http://schemas.openxmlformats.org/officeDocument/2006/relationships/hyperlink" Target="https://github.com/hlin863/ewma_covariate_shift_demo/tree/main/src/detection/stage2"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20.png"/><Relationship Id="rId4" Type="http://schemas.openxmlformats.org/officeDocument/2006/relationships/image" Target="../media/image13.png"/><Relationship Id="rId5"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image" Target="../media/image41.png"/><Relationship Id="rId11" Type="http://schemas.openxmlformats.org/officeDocument/2006/relationships/image" Target="../media/image42.png"/><Relationship Id="rId12" Type="http://schemas.openxmlformats.org/officeDocument/2006/relationships/image" Target="../media/image43.png"/><Relationship Id="rId13" Type="http://schemas.openxmlformats.org/officeDocument/2006/relationships/image" Target="../media/image4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 Id="rId12" Type="http://schemas.openxmlformats.org/officeDocument/2006/relationships/image" Target="../media/image5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255776"/>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dirty="0">
                <a:solidFill>
                  <a:srgbClr val="A56AFF"/>
                </a:solidFill>
                <a:latin typeface="Aptos Bold"/>
                <a:ea typeface="Aptos Bold"/>
                <a:cs typeface="Aptos Bold"/>
                <a:sym typeface="Aptos Bold"/>
              </a:rPr>
              <a:t>Heyden et al. (2024): reconstruction loss basis</a:t>
            </a: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CB036E7-07FB-47E1-AA2C-A1279B057118}"/>
                  </a:ext>
                </a:extLst>
              </p:cNvPr>
              <p:cNvSpPr txBox="1"/>
              <p:nvPr/>
            </p:nvSpPr>
            <p:spPr>
              <a:xfrm>
                <a:off x="11853862" y="6884520"/>
                <a:ext cx="4410075" cy="726866"/>
              </a:xfrm>
              <a:prstGeom prst="rect">
                <a:avLst/>
              </a:prstGeom>
              <a:noFill/>
            </p:spPr>
            <p:txBody>
              <a:bodyPr wrap="square">
                <a:spAutoFit/>
              </a:bodyPr>
              <a:lstStyle/>
              <a:p>
                <a:pPr/>
                <a14:m>
                  <m:oMathPara xmlns:m="http://schemas.openxmlformats.org/officeDocument/2006/math">
                    <m:oMath>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𝐿</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𝑀𝑆𝐸</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e>
                      </m:acc>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f>
                        <m:f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fPr>
                        <m:num>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num>
                        <m:den>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den>
                      </m:f>
                      <m:nary>
                        <m:naryPr>
                          <m:chr m:val="∑"/>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naryPr>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sub>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sup>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e>
                          </m:acc>
                          <m:sSup>
                            <m:sSup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p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e>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2</m:t>
                              </m:r>
                            </m:sup>
                          </m:sSup>
                        </m:e>
                      </m:nary>
                    </m:oMath>
                  </m:oMathPara>
                </a14:m>
                <a:endParaRPr lang="en-GB" sz="1400" dirty="0"/>
              </a:p>
            </p:txBody>
          </p:sp>
        </mc:Choice>
        <mc:Fallback xmlns="">
          <p:sp>
            <p:nvSpPr>
              <p:cNvPr id="38" name="TextBox 37">
                <a:extLst>
                  <a:ext uri="{FF2B5EF4-FFF2-40B4-BE49-F238E27FC236}">
                    <a16:creationId xmlns:a16="http://schemas.microsoft.com/office/drawing/2014/main" id="{FCB036E7-07FB-47E1-AA2C-A1279B057118}"/>
                  </a:ext>
                </a:extLst>
              </p:cNvPr>
              <p:cNvSpPr txBox="1">
                <a:spLocks noRot="1" noChangeAspect="1" noMove="1" noResize="1" noEditPoints="1" noAdjustHandles="1" noChangeArrowheads="1" noChangeShapeType="1" noTextEdit="1"/>
              </p:cNvSpPr>
              <p:nvPr/>
            </p:nvSpPr>
            <p:spPr>
              <a:xfrm>
                <a:off x="11853862" y="6884520"/>
                <a:ext cx="4410075" cy="726866"/>
              </a:xfrm>
              <a:prstGeom prst="rect">
                <a:avLst/>
              </a:prstGeom>
              <a:blipFill>
                <a:blip r:embed="rId3"/>
                <a:stretch>
                  <a:fillRect/>
                </a:stretch>
              </a:blipFill>
            </p:spPr>
            <p:txBody>
              <a:bodyPr/>
              <a:lstStyle/>
              <a:p>
                <a:r>
                  <a:rPr lang="en-GB">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dirty="0">
                <a:solidFill>
                  <a:srgbClr val="12233B"/>
                </a:solidFill>
                <a:latin typeface="Aptos"/>
                <a:ea typeface="Aptos"/>
                <a:cs typeface="Aptos"/>
                <a:sym typeface="Aptos"/>
              </a:rPr>
              <a:t>Positive-mean input validation and </a:t>
            </a:r>
            <a:r>
              <a:rPr lang="en-US" sz="1800" dirty="0" err="1">
                <a:solidFill>
                  <a:srgbClr val="12233B"/>
                </a:solidFill>
                <a:latin typeface="Aptos"/>
                <a:ea typeface="Aptos"/>
                <a:cs typeface="Aptos"/>
                <a:sym typeface="Aptos"/>
              </a:rPr>
              <a:t>channelwise</a:t>
            </a:r>
            <a:r>
              <a:rPr lang="en-US" sz="1800" dirty="0">
                <a:solidFill>
                  <a:srgbClr val="12233B"/>
                </a:solidFill>
                <a:latin typeface="Aptos"/>
                <a:ea typeface="Aptos"/>
                <a:cs typeface="Aptos"/>
                <a:sym typeface="Aptos"/>
              </a:rPr>
              <a:t> normalised mean-CUSUM </a:t>
            </a:r>
          </a:p>
          <a:p>
            <a:pPr algn="l">
              <a:lnSpc>
                <a:spcPts val="2160"/>
              </a:lnSpc>
            </a:pPr>
            <a:r>
              <a:rPr lang="en-US" sz="1800" dirty="0">
                <a:solidFill>
                  <a:srgbClr val="12233B"/>
                </a:solidFill>
                <a:latin typeface="Aptos"/>
                <a:ea typeface="Aptos"/>
                <a:cs typeface="Aptos"/>
                <a:sym typeface="Aptos"/>
              </a:rPr>
              <a:t>Maximum and average aggregation across channels </a:t>
            </a:r>
          </a:p>
          <a:p>
            <a:pPr algn="l">
              <a:lnSpc>
                <a:spcPts val="2160"/>
              </a:lnSpc>
            </a:pPr>
            <a:r>
              <a:rPr lang="en-US" sz="1800" dirty="0">
                <a:solidFill>
                  <a:srgbClr val="12233B"/>
                </a:solidFill>
                <a:latin typeface="Aptos"/>
                <a:ea typeface="Aptos"/>
                <a:cs typeface="Aptos"/>
                <a:sym typeface="Aptos"/>
              </a:rPr>
              <a:t>Raw and LOESS-style smoothed peak estimates (span=0.1) </a:t>
            </a:r>
          </a:p>
          <a:p>
            <a:pPr algn="l">
              <a:lnSpc>
                <a:spcPts val="2160"/>
              </a:lnSpc>
            </a:pPr>
            <a:r>
              <a:rPr lang="en-US" sz="1800" dirty="0">
                <a:solidFill>
                  <a:srgbClr val="12233B"/>
                </a:solidFill>
                <a:latin typeface="Aptos"/>
                <a:ea typeface="Aptos"/>
                <a:cs typeface="Aptos"/>
                <a:sym typeface="Aptos"/>
              </a:rPr>
              <a:t>Peak-location agreement gaps and exploratory </a:t>
            </a:r>
            <a:r>
              <a:rPr lang="en-US" sz="1800" dirty="0" err="1">
                <a:solidFill>
                  <a:srgbClr val="12233B"/>
                </a:solidFill>
                <a:latin typeface="Aptos"/>
                <a:ea typeface="Aptos"/>
                <a:cs typeface="Aptos"/>
                <a:sym typeface="Aptos"/>
              </a:rPr>
              <a:t>visualisation</a:t>
            </a:r>
            <a:endParaRPr lang="en-US" sz="1800" dirty="0">
              <a:solidFill>
                <a:srgbClr val="12233B"/>
              </a:solidFill>
              <a:latin typeface="Aptos"/>
              <a:ea typeface="Aptos"/>
              <a:cs typeface="Aptos"/>
              <a:sym typeface="Aptos"/>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1711815"/>
          </a:xfrm>
          <a:prstGeom prst="rect">
            <a:avLst/>
          </a:prstGeom>
        </p:spPr>
        <p:txBody>
          <a:bodyPr lIns="0" tIns="0" rIns="0" bIns="0" rtlCol="0" anchor="t">
            <a:spAutoFit/>
          </a:bodyPr>
          <a:lstStyle/>
          <a:p>
            <a:pPr>
              <a:lnSpc>
                <a:spcPts val="2160"/>
              </a:lnSpc>
              <a:spcAft>
                <a:spcPts val="600"/>
              </a:spcAft>
            </a:pPr>
            <a:r>
              <a:rPr lang="en-US" dirty="0">
                <a:solidFill>
                  <a:srgbClr val="12233B"/>
                </a:solidFill>
                <a:latin typeface="Aptos"/>
                <a:sym typeface="Aptos"/>
              </a:rPr>
              <a:t>Park unimodality and peak-agreement confirmation.</a:t>
            </a:r>
          </a:p>
          <a:p>
            <a:pPr>
              <a:lnSpc>
                <a:spcPts val="2160"/>
              </a:lnSpc>
              <a:spcAft>
                <a:spcPts val="600"/>
              </a:spcAft>
            </a:pPr>
            <a:r>
              <a:rPr lang="en-US" dirty="0">
                <a:solidFill>
                  <a:srgbClr val="12233B"/>
                </a:solidFill>
                <a:latin typeface="Aptos"/>
                <a:sym typeface="Aptos"/>
              </a:rPr>
              <a:t>Multiple-change-point detection.</a:t>
            </a:r>
          </a:p>
          <a:p>
            <a:pPr>
              <a:lnSpc>
                <a:spcPts val="2160"/>
              </a:lnSpc>
              <a:spcAft>
                <a:spcPts val="600"/>
              </a:spcAft>
            </a:pPr>
            <a:r>
              <a:rPr lang="en-US" dirty="0">
                <a:solidFill>
                  <a:srgbClr val="12233B"/>
                </a:solidFill>
                <a:latin typeface="Aptos"/>
                <a:sym typeface="Aptos"/>
              </a:rPr>
              <a:t>Calibrated false-alarm control.</a:t>
            </a:r>
          </a:p>
          <a:p>
            <a:pPr>
              <a:lnSpc>
                <a:spcPts val="2160"/>
              </a:lnSpc>
              <a:spcAft>
                <a:spcPts val="600"/>
              </a:spcAft>
            </a:pPr>
            <a:r>
              <a:rPr lang="en-US" dirty="0">
                <a:solidFill>
                  <a:srgbClr val="12233B"/>
                </a:solidFill>
                <a:latin typeface="Aptos"/>
                <a:sym typeface="Aptos"/>
              </a:rPr>
              <a:t>Matched EEG feature-space comparisons.</a:t>
            </a:r>
          </a:p>
          <a:p>
            <a:pPr>
              <a:lnSpc>
                <a:spcPts val="2160"/>
              </a:lnSpc>
              <a:spcAft>
                <a:spcPts val="600"/>
              </a:spcAft>
            </a:pPr>
            <a:r>
              <a:rPr lang="en-US" dirty="0">
                <a:solidFill>
                  <a:srgbClr val="12233B"/>
                </a:solidFill>
                <a:latin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5458968"/>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361966" y="6355442"/>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ar-AE"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361966" y="6355442"/>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EDITABLE POWERPOINT EQUATION | Code-grounded LOESS and peak estimates | ROW 2"/>
              <p:cNvSpPr txBox="1"/>
              <p:nvPr/>
            </p:nvSpPr>
            <p:spPr>
              <a:xfrm>
                <a:off x="10168128" y="5047488"/>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̃ₜᵃᵛᵍ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xmlns="">
          <p:sp>
            <p:nvSpPr>
              <p:cNvPr id="13" name="EDITABLE POWERPOINT EQUATION | Code-grounded LOESS and peak estimates | ROW 2"/>
              <p:cNvSpPr txBox="1">
                <a:spLocks noRot="1" noChangeAspect="1" noMove="1" noResize="1" noEditPoints="1" noAdjustHandles="1" noChangeArrowheads="1" noChangeShapeType="1" noTextEdit="1"/>
              </p:cNvSpPr>
              <p:nvPr/>
            </p:nvSpPr>
            <p:spPr>
              <a:xfrm>
                <a:off x="10168128" y="5047488"/>
                <a:ext cx="5989320" cy="512064"/>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64BEB341-9A48-7113-113A-9973076B485F}"/>
                  </a:ext>
                </a:extLst>
              </p:cNvPr>
              <p:cNvSpPr txBox="1"/>
              <p:nvPr/>
            </p:nvSpPr>
            <p:spPr>
              <a:xfrm>
                <a:off x="1371600" y="5303520"/>
                <a:ext cx="1828800" cy="923330"/>
              </a:xfrm>
              <a:prstGeom prst="rect">
                <a:avLst/>
              </a:prstGeom>
              <a:noFill/>
            </p:spPr>
            <p:txBody>
              <a:bodyPr wrap="square" rtlCol="0">
                <a:spAutoFit/>
              </a:bodyPr>
              <a:lstStyle/>
              <a:p>
                <a:pPr/>
                <a14:m>
                  <m:oMathPara xmlns:m="http://schemas.openxmlformats.org/officeDocument/2006/math">
                    <m:oMathParaPr>
                      <m:jc m:val="left"/>
                    </m:oMathParaPr>
                    <m:oMath>
                      <m:r>
                        <m:rPr>
                          <m:nor/>
                        </m:rPr>
                        <a:rPr lang="en-US" b="0" i="0" smtClean="0">
                          <a:solidFill>
                            <a:schemeClr val="accent1"/>
                          </a:solidFill>
                          <a:latin typeface="Cambria Math" panose="02040503050406030204" pitchFamily="18" charset="0"/>
                        </a:rPr>
                        <m:t>for </m:t>
                      </m:r>
                      <m:r>
                        <a:rPr lang="en-US" b="0" i="1" smtClean="0">
                          <a:solidFill>
                            <a:schemeClr val="accent1"/>
                          </a:solidFill>
                          <a:latin typeface="Cambria Math" panose="02040503050406030204" pitchFamily="18" charset="0"/>
                        </a:rPr>
                        <m:t>𝑡</m:t>
                      </m:r>
                      <m:r>
                        <a:rPr lang="en-US" b="0" i="1" smtClean="0">
                          <a:solidFill>
                            <a:schemeClr val="accent1"/>
                          </a:solidFill>
                          <a:latin typeface="Cambria Math" panose="02040503050406030204" pitchFamily="18" charset="0"/>
                        </a:rPr>
                        <m:t> = 1</m:t>
                      </m:r>
                      <m:r>
                        <m:rPr>
                          <m:nor/>
                        </m:rPr>
                        <a:rPr lang="en-US" b="0" i="0"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 </m:t>
                      </m:r>
                      <m:r>
                        <m:rPr>
                          <m:sty m:val="p"/>
                        </m:rPr>
                        <a:rPr lang="en-US" b="0" i="1" smtClean="0">
                          <a:solidFill>
                            <a:schemeClr val="accent1"/>
                          </a:solidFill>
                          <a:latin typeface="Cambria Math" panose="02040503050406030204" pitchFamily="18" charset="0"/>
                        </a:rPr>
                        <m:t>T</m:t>
                      </m:r>
                      <m:r>
                        <m:rPr>
                          <m:nor/>
                        </m:rPr>
                        <a:rPr lang="en-US" b="0" i="0" smtClean="0">
                          <a:solidFill>
                            <a:schemeClr val="accent1"/>
                          </a:solidFill>
                          <a:latin typeface="Cambria Math" panose="02040503050406030204" pitchFamily="18" charset="0"/>
                        </a:rPr>
                        <m:t> </m:t>
                      </m:r>
                    </m:oMath>
                  </m:oMathPara>
                </a14:m>
                <a:endParaRPr lang="en-GB" dirty="0">
                  <a:solidFill>
                    <a:schemeClr val="accent1"/>
                  </a:solidFill>
                </a:endParaRPr>
              </a:p>
              <a:p>
                <a:pPr/>
                <a:endParaRPr lang="en-GB" dirty="0">
                  <a:solidFill>
                    <a:schemeClr val="accent1"/>
                  </a:solidFill>
                </a:endParaRPr>
              </a:p>
              <a:p>
                <a:pPr/>
                <a:r>
                  <a:rPr lang="en-GB" b="1" dirty="0"/>
                  <a:t>Where</a:t>
                </a:r>
                <a:r>
                  <a:rPr lang="en-GB" dirty="0"/>
                  <a:t>:</a:t>
                </a:r>
              </a:p>
            </p:txBody>
          </p:sp>
        </mc:Choice>
        <mc:Fallback>
          <p:sp>
            <p:nvSpPr>
              <p:cNvPr id="14" name="TextBox 13">
                <a:extLst>
                  <a:ext uri="{FF2B5EF4-FFF2-40B4-BE49-F238E27FC236}">
                    <a16:creationId xmlns:a16="http://schemas.microsoft.com/office/drawing/2014/main" id="{64BEB341-9A48-7113-113A-9973076B485F}"/>
                  </a:ext>
                </a:extLst>
              </p:cNvPr>
              <p:cNvSpPr txBox="1">
                <a:spLocks noRot="1" noChangeAspect="1" noMove="1" noResize="1" noEditPoints="1" noAdjustHandles="1" noChangeArrowheads="1" noChangeShapeType="1" noTextEdit="1"/>
              </p:cNvSpPr>
              <p:nvPr/>
            </p:nvSpPr>
            <p:spPr>
              <a:xfrm>
                <a:off x="1371600" y="5303520"/>
                <a:ext cx="1828800" cy="923330"/>
              </a:xfrm>
              <a:prstGeom prst="rect">
                <a:avLst/>
              </a:prstGeom>
              <a:blipFill>
                <a:blip r:embed="rId6"/>
                <a:stretch>
                  <a:fillRect l="-2667" b="-993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80B5189C-CA1A-B1E5-E678-3D65B1796E8A}"/>
                  </a:ext>
                </a:extLst>
              </p:cNvPr>
              <p:cNvSpPr txBox="1"/>
              <p:nvPr/>
            </p:nvSpPr>
            <p:spPr>
              <a:xfrm>
                <a:off x="1371599" y="6438900"/>
                <a:ext cx="6800461" cy="548933"/>
              </a:xfrm>
              <a:prstGeom prst="rect">
                <a:avLst/>
              </a:prstGeom>
              <a:noFill/>
            </p:spPr>
            <p:txBody>
              <a:bodyPr wrap="square" rtlCol="0">
                <a:spAutoFit/>
              </a:bodyPr>
              <a:lstStyle/>
              <a:p>
                <a14:m>
                  <m:oMathPara xmlns:m="http://schemas.openxmlformats.org/officeDocument/2006/math">
                    <m:oMath>
                      <m:sSub>
                        <m:sSubPr>
                          <m:ctrlPr>
                            <a:rPr lang="en-GB" sz="2000" b="0" i="1" smtClean="0">
                              <a:latin typeface="Cambria Math" panose="02040503050406030204" pitchFamily="18" charset="0"/>
                            </a:rPr>
                          </m:ctrlPr>
                        </m:sSubPr>
                        <m:e>
                          <m:r>
                            <m:rPr>
                              <m:sty m:val="p"/>
                            </m:rPr>
                            <a:rPr lang="en-GB" sz="2000" b="0" i="1" smtClean="0">
                              <a:latin typeface="Cambria Math" panose="02040503050406030204" pitchFamily="18" charset="0"/>
                            </a:rPr>
                            <m:t>b</m:t>
                          </m:r>
                        </m:e>
                        <m:sub>
                          <m:r>
                            <m:rPr>
                              <m:nor/>
                            </m:rPr>
                            <a:rPr lang="en-US" sz="2000" b="0" i="0" smtClean="0">
                              <a:latin typeface="Cambria Math" panose="02040503050406030204" pitchFamily="18" charset="0"/>
                            </a:rPr>
                            <m:t>max</m:t>
                          </m:r>
                        </m:sub>
                      </m:sSub>
                      <m:box>
                        <m:boxPr>
                          <m:ctrlPr>
                            <a:rPr lang="en-GB" sz="2000" i="1" smtClean="0">
                              <a:latin typeface="Cambria Math" panose="02040503050406030204" pitchFamily="18" charset="0"/>
                            </a:rPr>
                          </m:ctrlPr>
                        </m:boxPr>
                        <m:e>
                          <m:r>
                            <a:rPr lang="en-GB" sz="2000" i="1" smtClean="0">
                              <a:latin typeface="Cambria Math" panose="02040503050406030204" pitchFamily="18" charset="0"/>
                            </a:rPr>
                            <m:t>≔</m:t>
                          </m:r>
                        </m:e>
                      </m:box>
                      <m:func>
                        <m:funcPr>
                          <m:ctrlPr>
                            <a:rPr lang="en-GB" sz="200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nor/>
                                </m:rPr>
                                <a:rPr lang="en-GB" sz="2000" b="0" i="0" smtClean="0">
                                  <a:latin typeface="Cambria Math" panose="02040503050406030204" pitchFamily="18" charset="0"/>
                                </a:rPr>
                                <m:t>arg</m:t>
                              </m:r>
                              <m:r>
                                <a:rPr lang="en-GB" sz="2000" b="0" i="0" smtClean="0">
                                  <a:latin typeface="Cambria Math" panose="02040503050406030204" pitchFamily="18" charset="0"/>
                                </a:rPr>
                                <m:t> </m:t>
                              </m:r>
                              <m:r>
                                <m:rPr>
                                  <m:sty m:val="p"/>
                                </m:rPr>
                                <a:rPr lang="en-GB" sz="2000" i="0" smtClean="0">
                                  <a:latin typeface="Cambria Math" panose="02040503050406030204" pitchFamily="18" charset="0"/>
                                </a:rPr>
                                <m:t>max</m:t>
                              </m:r>
                            </m:e>
                            <m:lim>
                              <m:r>
                                <m:rPr>
                                  <m:sty m:val="p"/>
                                </m:rPr>
                                <a:rPr lang="en-GB" sz="2000" b="0" i="1" smtClean="0">
                                  <a:latin typeface="Cambria Math" panose="02040503050406030204" pitchFamily="18" charset="0"/>
                                </a:rPr>
                                <m:t>t</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max</m:t>
                              </m:r>
                            </m:sup>
                          </m:sSubSup>
                        </m:e>
                      </m:func>
                    </m:oMath>
                  </m:oMathPara>
                </a14:m>
                <a:endParaRPr lang="en-GB" sz="2000" dirty="0"/>
              </a:p>
            </p:txBody>
          </p:sp>
        </mc:Choice>
        <mc:Fallback>
          <p:sp>
            <p:nvSpPr>
              <p:cNvPr id="16" name="TextBox 15">
                <a:extLst>
                  <a:ext uri="{FF2B5EF4-FFF2-40B4-BE49-F238E27FC236}">
                    <a16:creationId xmlns:a16="http://schemas.microsoft.com/office/drawing/2014/main" id="{80B5189C-CA1A-B1E5-E678-3D65B1796E8A}"/>
                  </a:ext>
                </a:extLst>
              </p:cNvPr>
              <p:cNvSpPr txBox="1">
                <a:spLocks noRot="1" noChangeAspect="1" noMove="1" noResize="1" noEditPoints="1" noAdjustHandles="1" noChangeArrowheads="1" noChangeShapeType="1" noTextEdit="1"/>
              </p:cNvSpPr>
              <p:nvPr/>
            </p:nvSpPr>
            <p:spPr>
              <a:xfrm>
                <a:off x="1371599" y="6438900"/>
                <a:ext cx="6800461" cy="548933"/>
              </a:xfrm>
              <a:prstGeom prst="rect">
                <a:avLst/>
              </a:prstGeom>
              <a:blipFill>
                <a:blip r:embed="rId7"/>
                <a:stretch>
                  <a:fillRect b="-2222"/>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AC86904-BCB9-E2F8-DB4D-8B479A164C4D}"/>
                  </a:ext>
                </a:extLst>
              </p:cNvPr>
              <p:cNvSpPr txBox="1"/>
              <p:nvPr/>
            </p:nvSpPr>
            <p:spPr>
              <a:xfrm>
                <a:off x="1371598" y="7189879"/>
                <a:ext cx="6800461" cy="572786"/>
              </a:xfrm>
              <a:prstGeom prst="rect">
                <a:avLst/>
              </a:prstGeom>
              <a:noFill/>
            </p:spPr>
            <p:txBody>
              <a:bodyPr wrap="square" rtlCol="0">
                <a:spAutoFit/>
              </a:bodyPr>
              <a:lstStyle/>
              <a:p>
                <a:pPr/>
                <a14:m>
                  <m:oMathPara xmlns:m="http://schemas.openxmlformats.org/officeDocument/2006/math">
                    <m:oMath>
                      <m:sSub>
                        <m:sSubPr>
                          <m:ctrlPr>
                            <a:rPr lang="en-GB" sz="2000" b="0" i="1" smtClean="0">
                              <a:latin typeface="Cambria Math" panose="02040503050406030204" pitchFamily="18" charset="0"/>
                            </a:rPr>
                          </m:ctrlPr>
                        </m:sSubPr>
                        <m:e>
                          <m:r>
                            <m:rPr>
                              <m:sty m:val="p"/>
                            </m:rPr>
                            <a:rPr lang="en-GB" sz="2000" b="0" i="1" smtClean="0">
                              <a:latin typeface="Cambria Math" panose="02040503050406030204" pitchFamily="18" charset="0"/>
                            </a:rPr>
                            <m:t>b</m:t>
                          </m:r>
                        </m:e>
                        <m:sub>
                          <m:r>
                            <m:rPr>
                              <m:nor/>
                            </m:rPr>
                            <a:rPr lang="en-US" sz="2000" b="0" i="0" smtClean="0">
                              <a:latin typeface="Cambria Math" panose="02040503050406030204" pitchFamily="18" charset="0"/>
                            </a:rPr>
                            <m:t>avg</m:t>
                          </m:r>
                        </m:sub>
                      </m:sSub>
                      <m:box>
                        <m:boxPr>
                          <m:ctrlPr>
                            <a:rPr lang="en-GB" sz="2000" i="1" smtClean="0">
                              <a:latin typeface="Cambria Math" panose="02040503050406030204" pitchFamily="18" charset="0"/>
                            </a:rPr>
                          </m:ctrlPr>
                        </m:boxPr>
                        <m:e>
                          <m:r>
                            <a:rPr lang="en-GB" sz="2000" i="1" smtClean="0">
                              <a:latin typeface="Cambria Math" panose="02040503050406030204" pitchFamily="18" charset="0"/>
                            </a:rPr>
                            <m:t>≔</m:t>
                          </m:r>
                        </m:e>
                      </m:box>
                      <m:func>
                        <m:funcPr>
                          <m:ctrlPr>
                            <a:rPr lang="en-GB" sz="2000" b="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nor/>
                                </m:rPr>
                                <a:rPr lang="en-GB" sz="2000" b="0" i="0" smtClean="0">
                                  <a:latin typeface="Cambria Math" panose="02040503050406030204" pitchFamily="18" charset="0"/>
                                </a:rPr>
                                <m:t>arg</m:t>
                              </m:r>
                              <m:r>
                                <a:rPr lang="en-GB" sz="2000" b="0" i="0" smtClean="0">
                                  <a:latin typeface="Cambria Math" panose="02040503050406030204" pitchFamily="18" charset="0"/>
                                </a:rPr>
                                <m:t> </m:t>
                              </m:r>
                              <m:r>
                                <m:rPr>
                                  <m:sty m:val="p"/>
                                </m:rPr>
                                <a:rPr lang="en-GB" sz="2000" i="0" smtClean="0">
                                  <a:latin typeface="Cambria Math" panose="02040503050406030204" pitchFamily="18" charset="0"/>
                                </a:rPr>
                                <m:t>max</m:t>
                              </m:r>
                            </m:e>
                            <m:lim>
                              <m:r>
                                <m:rPr>
                                  <m:sty m:val="p"/>
                                </m:rPr>
                                <a:rPr lang="en-GB" sz="2000" b="0" i="1" smtClean="0">
                                  <a:latin typeface="Cambria Math" panose="02040503050406030204" pitchFamily="18" charset="0"/>
                                </a:rPr>
                                <m:t>t</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avg</m:t>
                              </m:r>
                            </m:sup>
                          </m:sSubSup>
                        </m:e>
                      </m:func>
                    </m:oMath>
                  </m:oMathPara>
                </a14:m>
                <a:endParaRPr lang="en-GB" sz="2000" dirty="0"/>
              </a:p>
            </p:txBody>
          </p:sp>
        </mc:Choice>
        <mc:Fallback>
          <p:sp>
            <p:nvSpPr>
              <p:cNvPr id="18" name="TextBox 17">
                <a:extLst>
                  <a:ext uri="{FF2B5EF4-FFF2-40B4-BE49-F238E27FC236}">
                    <a16:creationId xmlns:a16="http://schemas.microsoft.com/office/drawing/2014/main" id="{0AC86904-BCB9-E2F8-DB4D-8B479A164C4D}"/>
                  </a:ext>
                </a:extLst>
              </p:cNvPr>
              <p:cNvSpPr txBox="1">
                <a:spLocks noRot="1" noChangeAspect="1" noMove="1" noResize="1" noEditPoints="1" noAdjustHandles="1" noChangeArrowheads="1" noChangeShapeType="1" noTextEdit="1"/>
              </p:cNvSpPr>
              <p:nvPr/>
            </p:nvSpPr>
            <p:spPr>
              <a:xfrm>
                <a:off x="1371598" y="7189879"/>
                <a:ext cx="6800461" cy="572786"/>
              </a:xfrm>
              <a:prstGeom prst="rect">
                <a:avLst/>
              </a:prstGeom>
              <a:blipFill>
                <a:blip r:embed="rId8"/>
                <a:stretch>
                  <a:fillRect b="-1064"/>
                </a:stretch>
              </a:blipFill>
            </p:spPr>
            <p:txBody>
              <a:bodyPr/>
              <a:lstStyle/>
              <a:p>
                <a:r>
                  <a:rPr lang="en-GB">
                    <a:noFill/>
                  </a:rPr>
                  <a:t> </a:t>
                </a:r>
              </a:p>
            </p:txBody>
          </p:sp>
        </mc:Fallback>
      </mc:AlternateContent>
      <p:sp>
        <p:nvSpPr>
          <p:cNvPr id="19" name="Slide 8 / title"/>
          <p:cNvSpPr txBox="1"/>
          <p:nvPr/>
        </p:nvSpPr>
        <p:spPr>
          <a:xfrm>
            <a:off x="1124712" y="905256"/>
            <a:ext cx="16322041" cy="754380"/>
          </a:xfrm>
          <a:prstGeom prst="rect">
            <a:avLst/>
          </a:prstGeom>
          <a:noFill/>
        </p:spPr>
        <p:txBody>
          <a:bodyPr wrap="square" lIns="0" rIns="0" tIns="0" bIns="0">
            <a:spAutoFit/>
          </a:bodyPr>
          <a:lstStyle/>
          <a:p>
            <a:pPr algn="l">
              <a:spcAft>
                <a:spcPts val="0"/>
              </a:spcAft>
            </a:pPr>
            <a:r>
              <a:rPr sz="4470" b="1">
                <a:solidFill>
                  <a:srgbClr val="15263E"/>
                </a:solidFill>
                <a:latin typeface="Aptos"/>
              </a:rPr>
              <a:t>From Mean-CUSUM to Mean-Change Confirmation</a:t>
            </a:r>
          </a:p>
        </p:txBody>
      </p:sp>
      <p:sp>
        <p:nvSpPr>
          <p:cNvPr id="20" name="Slide 8 / subtitle"/>
          <p:cNvSpPr txBox="1"/>
          <p:nvPr/>
        </p:nvSpPr>
        <p:spPr>
          <a:xfrm>
            <a:off x="1138428" y="1755648"/>
            <a:ext cx="16184881" cy="342900"/>
          </a:xfrm>
          <a:prstGeom prst="rect">
            <a:avLst/>
          </a:prstGeom>
          <a:noFill/>
        </p:spPr>
        <p:txBody>
          <a:bodyPr wrap="square" lIns="0" rIns="0" tIns="0" bIns="0">
            <a:spAutoFit/>
          </a:bodyPr>
          <a:lstStyle/>
          <a:p>
            <a:pPr algn="l">
              <a:spcAft>
                <a:spcPts val="0"/>
              </a:spcAft>
            </a:pPr>
            <a:r>
              <a:rPr sz="1814" b="1">
                <a:solidFill>
                  <a:srgbClr val="00948A"/>
                </a:solidFill>
                <a:latin typeface="Aptos"/>
              </a:rPr>
              <a:t>PARK ET AL. (2023)  /  §2.3, ALGORITHM 1, STEPS 1–4</a:t>
            </a:r>
          </a:p>
        </p:txBody>
      </p:sp>
      <p:sp>
        <p:nvSpPr>
          <p:cNvPr id="21" name="Slide 8 / step1 / panel"/>
          <p:cNvSpPr/>
          <p:nvPr/>
        </p:nvSpPr>
        <p:spPr>
          <a:xfrm>
            <a:off x="1069848"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ide 8 / step1 / heading"/>
          <p:cNvSpPr txBox="1"/>
          <p:nvPr/>
        </p:nvSpPr>
        <p:spPr>
          <a:xfrm>
            <a:off x="1412748" y="2578608"/>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01   Aggregation Across Channels</a:t>
            </a:r>
          </a:p>
        </p:txBody>
      </p:sp>
      <p:pic>
        <p:nvPicPr>
          <p:cNvPr id="23" name="Slide 8 / step1 / equation 1" descr="image.png"/>
          <p:cNvPicPr>
            <a:picLocks noChangeAspect="1"/>
          </p:cNvPicPr>
          <p:nvPr/>
        </p:nvPicPr>
        <p:blipFill>
          <a:blip r:embed="rId9"/>
          <a:stretch>
            <a:fillRect/>
          </a:stretch>
        </p:blipFill>
        <p:spPr>
          <a:xfrm>
            <a:off x="1481328" y="3182112"/>
            <a:ext cx="7159752" cy="548640"/>
          </a:xfrm>
          <a:prstGeom prst="rect">
            <a:avLst/>
          </a:prstGeom>
        </p:spPr>
      </p:pic>
      <p:pic>
        <p:nvPicPr>
          <p:cNvPr id="24" name="Slide 8 / step1 / equation 2" descr="image.png"/>
          <p:cNvPicPr>
            <a:picLocks noChangeAspect="1"/>
          </p:cNvPicPr>
          <p:nvPr/>
        </p:nvPicPr>
        <p:blipFill>
          <a:blip r:embed="rId10"/>
          <a:stretch>
            <a:fillRect/>
          </a:stretch>
        </p:blipFill>
        <p:spPr>
          <a:xfrm>
            <a:off x="1481328" y="3785616"/>
            <a:ext cx="7159752" cy="548640"/>
          </a:xfrm>
          <a:prstGeom prst="rect">
            <a:avLst/>
          </a:prstGeom>
        </p:spPr>
      </p:pic>
      <p:sp>
        <p:nvSpPr>
          <p:cNvPr id="25" name="Slide 8 / step1 / explanation"/>
          <p:cNvSpPr txBox="1"/>
          <p:nvPr/>
        </p:nvSpPr>
        <p:spPr>
          <a:xfrm>
            <a:off x="1440180" y="456742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Maximum and average combine channelwise mean-CUSUM evidence.</a:t>
            </a:r>
          </a:p>
        </p:txBody>
      </p:sp>
      <p:sp>
        <p:nvSpPr>
          <p:cNvPr id="26" name="Slide 8 / step2 / panel"/>
          <p:cNvSpPr/>
          <p:nvPr/>
        </p:nvSpPr>
        <p:spPr>
          <a:xfrm>
            <a:off x="9244584"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lide 8 / step2 / heading"/>
          <p:cNvSpPr txBox="1"/>
          <p:nvPr/>
        </p:nvSpPr>
        <p:spPr>
          <a:xfrm>
            <a:off x="9587484" y="2578608"/>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02   Smooth and Locate Peaks</a:t>
            </a:r>
          </a:p>
        </p:txBody>
      </p:sp>
      <p:pic>
        <p:nvPicPr>
          <p:cNvPr id="28" name="Slide 8 / step2 / equation 1" descr="image.png"/>
          <p:cNvPicPr>
            <a:picLocks noChangeAspect="1"/>
          </p:cNvPicPr>
          <p:nvPr/>
        </p:nvPicPr>
        <p:blipFill>
          <a:blip r:embed="rId11"/>
          <a:stretch>
            <a:fillRect/>
          </a:stretch>
        </p:blipFill>
        <p:spPr>
          <a:xfrm>
            <a:off x="9656064" y="3182112"/>
            <a:ext cx="7159752" cy="548640"/>
          </a:xfrm>
          <a:prstGeom prst="rect">
            <a:avLst/>
          </a:prstGeom>
        </p:spPr>
      </p:pic>
      <p:pic>
        <p:nvPicPr>
          <p:cNvPr id="29" name="Slide 8 / step2 / equation 2" descr="image.png"/>
          <p:cNvPicPr>
            <a:picLocks noChangeAspect="1"/>
          </p:cNvPicPr>
          <p:nvPr/>
        </p:nvPicPr>
        <p:blipFill>
          <a:blip r:embed="rId12"/>
          <a:stretch>
            <a:fillRect/>
          </a:stretch>
        </p:blipFill>
        <p:spPr>
          <a:xfrm>
            <a:off x="9656064" y="3785616"/>
            <a:ext cx="7159752" cy="548640"/>
          </a:xfrm>
          <a:prstGeom prst="rect">
            <a:avLst/>
          </a:prstGeom>
        </p:spPr>
      </p:pic>
      <p:sp>
        <p:nvSpPr>
          <p:cNvPr id="30" name="Slide 8 / step2 / explanation"/>
          <p:cNvSpPr txBox="1"/>
          <p:nvPr/>
        </p:nvSpPr>
        <p:spPr>
          <a:xfrm>
            <a:off x="9614916" y="456742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Local polynomial span 0.1; peak locations from smoothed curves.</a:t>
            </a:r>
          </a:p>
        </p:txBody>
      </p:sp>
      <p:sp>
        <p:nvSpPr>
          <p:cNvPr id="31" name="Slide 8 / step3 / panel"/>
          <p:cNvSpPr/>
          <p:nvPr/>
        </p:nvSpPr>
        <p:spPr>
          <a:xfrm>
            <a:off x="1069848"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Slide 8 / step3 / heading"/>
          <p:cNvSpPr txBox="1"/>
          <p:nvPr/>
        </p:nvSpPr>
        <p:spPr>
          <a:xfrm>
            <a:off x="1412748" y="5733286"/>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03   Check Unimodality</a:t>
            </a:r>
          </a:p>
        </p:txBody>
      </p:sp>
      <p:pic>
        <p:nvPicPr>
          <p:cNvPr id="33" name="Slide 8 / step3 / equation 1" descr="image.png"/>
          <p:cNvPicPr>
            <a:picLocks noChangeAspect="1"/>
          </p:cNvPicPr>
          <p:nvPr/>
        </p:nvPicPr>
        <p:blipFill>
          <a:blip r:embed="rId13"/>
          <a:stretch>
            <a:fillRect/>
          </a:stretch>
        </p:blipFill>
        <p:spPr>
          <a:xfrm>
            <a:off x="1481328" y="6419088"/>
            <a:ext cx="7159752" cy="548640"/>
          </a:xfrm>
          <a:prstGeom prst="rect">
            <a:avLst/>
          </a:prstGeom>
        </p:spPr>
      </p:pic>
      <p:sp>
        <p:nvSpPr>
          <p:cNvPr id="34" name="Slide 8 / step3 / explanation"/>
          <p:cNvSpPr txBox="1"/>
          <p:nvPr/>
        </p:nvSpPr>
        <p:spPr>
          <a:xfrm>
            <a:off x="1440180" y="772210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k = 10 interior positions per side; at least one A count must be 0.</a:t>
            </a:r>
          </a:p>
        </p:txBody>
      </p:sp>
      <p:sp>
        <p:nvSpPr>
          <p:cNvPr id="35" name="Slide 8 / step4 / panel"/>
          <p:cNvSpPr/>
          <p:nvPr/>
        </p:nvSpPr>
        <p:spPr>
          <a:xfrm>
            <a:off x="9244584"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lide 8 / step4 / heading"/>
          <p:cNvSpPr txBox="1"/>
          <p:nvPr/>
        </p:nvSpPr>
        <p:spPr>
          <a:xfrm>
            <a:off x="9587484" y="5733286"/>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04   Confirm and Estimate</a:t>
            </a:r>
          </a:p>
        </p:txBody>
      </p:sp>
      <p:pic>
        <p:nvPicPr>
          <p:cNvPr id="37" name="Slide 8 / step4 / equation 1" descr="image.png"/>
          <p:cNvPicPr>
            <a:picLocks noChangeAspect="1"/>
          </p:cNvPicPr>
          <p:nvPr/>
        </p:nvPicPr>
        <p:blipFill>
          <a:blip r:embed="rId14"/>
          <a:stretch>
            <a:fillRect/>
          </a:stretch>
        </p:blipFill>
        <p:spPr>
          <a:xfrm>
            <a:off x="9656064" y="6336792"/>
            <a:ext cx="7159752" cy="548640"/>
          </a:xfrm>
          <a:prstGeom prst="rect">
            <a:avLst/>
          </a:prstGeom>
        </p:spPr>
      </p:pic>
      <p:pic>
        <p:nvPicPr>
          <p:cNvPr id="38" name="Slide 8 / step4 / equation 2" descr="image.png"/>
          <p:cNvPicPr>
            <a:picLocks noChangeAspect="1"/>
          </p:cNvPicPr>
          <p:nvPr/>
        </p:nvPicPr>
        <p:blipFill>
          <a:blip r:embed="rId15"/>
          <a:stretch>
            <a:fillRect/>
          </a:stretch>
        </p:blipFill>
        <p:spPr>
          <a:xfrm>
            <a:off x="9656064" y="6940296"/>
            <a:ext cx="7159752" cy="548640"/>
          </a:xfrm>
          <a:prstGeom prst="rect">
            <a:avLst/>
          </a:prstGeom>
        </p:spPr>
      </p:pic>
      <p:sp>
        <p:nvSpPr>
          <p:cNvPr id="39" name="Slide 8 / step4 / explanation"/>
          <p:cNvSpPr txBox="1"/>
          <p:nvPr/>
        </p:nvSpPr>
        <p:spPr>
          <a:xfrm>
            <a:off x="9614916" y="772210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If both tests pass, estimate the mean change; else test second order.</a:t>
            </a:r>
          </a:p>
        </p:txBody>
      </p:sp>
      <p:sp>
        <p:nvSpPr>
          <p:cNvPr id="40" name="Slide 8 / status"/>
          <p:cNvSpPr txBox="1"/>
          <p:nvPr/>
        </p:nvSpPr>
        <p:spPr>
          <a:xfrm>
            <a:off x="1289304" y="8723376"/>
            <a:ext cx="16322041" cy="466344"/>
          </a:xfrm>
          <a:prstGeom prst="rect">
            <a:avLst/>
          </a:prstGeom>
          <a:noFill/>
        </p:spPr>
        <p:txBody>
          <a:bodyPr wrap="square" lIns="0" rIns="0" tIns="0" bIns="0">
            <a:spAutoFit/>
          </a:bodyPr>
          <a:lstStyle/>
          <a:p>
            <a:pPr algn="l">
              <a:spcAft>
                <a:spcPts val="0"/>
              </a:spcAft>
            </a:pPr>
            <a:r>
              <a:rPr sz="1950" b="1">
                <a:solidFill>
                  <a:srgbClr val="15263E"/>
                </a:solidFill>
                <a:latin typeface="Aptos"/>
              </a:rPr>
              <a:t>Implemented in Python: Steps 1–4  |  Statistical calibration &amp; second-order detection remain open.</a:t>
            </a:r>
          </a:p>
        </p:txBody>
      </p:sp>
      <p:sp>
        <p:nvSpPr>
          <p:cNvPr id="41" name="Slide 8 / citation"/>
          <p:cNvSpPr txBox="1"/>
          <p:nvPr/>
        </p:nvSpPr>
        <p:spPr>
          <a:xfrm>
            <a:off x="1138428" y="9313164"/>
            <a:ext cx="16390621" cy="301752"/>
          </a:xfrm>
          <a:prstGeom prst="rect">
            <a:avLst/>
          </a:prstGeom>
          <a:noFill/>
        </p:spPr>
        <p:txBody>
          <a:bodyPr wrap="square" lIns="0" rIns="0" tIns="0" bIns="0">
            <a:spAutoFit/>
          </a:bodyPr>
          <a:lstStyle/>
          <a:p>
            <a:pPr algn="l">
              <a:spcAft>
                <a:spcPts val="0"/>
              </a:spcAft>
            </a:pPr>
            <a:r>
              <a:rPr sz="1395" b="0">
                <a:solidFill>
                  <a:srgbClr val="465972"/>
                </a:solidFill>
                <a:latin typeface="Aptos"/>
              </a:rPr>
              <a:t>Source: Park et al. (2023), §2.3, Algorithm 1  |  Code: src/detection/stage1/park_mean_cusum.py</a:t>
            </a:r>
          </a:p>
        </p:txBody>
      </p:sp>
      <p:sp>
        <p:nvSpPr>
          <p:cNvPr id="42" name="Slide 8 / footer"/>
          <p:cNvSpPr txBox="1"/>
          <p:nvPr/>
        </p:nvSpPr>
        <p:spPr>
          <a:xfrm>
            <a:off x="1124712" y="9820656"/>
            <a:ext cx="16184881" cy="246888"/>
          </a:xfrm>
          <a:prstGeom prst="rect">
            <a:avLst/>
          </a:prstGeom>
          <a:noFill/>
        </p:spPr>
        <p:txBody>
          <a:bodyPr wrap="square" lIns="0" rIns="0" tIns="0" bIns="0">
            <a:spAutoFit/>
          </a:bodyPr>
          <a:lstStyle/>
          <a:p>
            <a:pPr algn="l">
              <a:spcAft>
                <a:spcPts val="0"/>
              </a:spcAft>
            </a:pPr>
            <a:r>
              <a:rPr sz="1335" b="0">
                <a:solidFill>
                  <a:srgbClr val="465972"/>
                </a:solidFill>
                <a:latin typeface="Aptos"/>
              </a:rPr>
              <a:t>Research progress  |  hlin863/ewma_covariate_shift_demo  |  Oct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mc:Choice xmlns:a14="http://schemas.microsoft.com/office/drawing/2010/main"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m:t>
                              </m:r>
                              <m:r>
                                <a:rPr lang="en-GB" sz="3200" b="0" i="1" smtClean="0">
                                  <a:latin typeface="Cambria Math" panose="02040503050406030204" pitchFamily="18" charset="0"/>
                                </a:rPr>
                                <m:t>,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a:latin typeface="Cambria Math" panose="02040503050406030204" pitchFamily="18" charset="0"/>
                            </a:rPr>
                          </m:ctrlPr>
                        </m:sSubSupPr>
                        <m:e>
                          <m:d>
                            <m:dPr>
                              <m:begChr m:val="⌈"/>
                              <m:endChr m:val="⌉"/>
                              <m:ctrlPr>
                                <a:rPr lang="en-GB" sz="2400" i="1" smtClean="0">
                                  <a:latin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1094</TotalTime>
  <Words>9237</Words>
  <Application>Microsoft Office PowerPoint</Application>
  <PresentationFormat>Custom</PresentationFormat>
  <Paragraphs>1093</Paragraphs>
  <Slides>44</Slides>
  <Notes>34</Notes>
  <HiddenSlides>0</HiddenSlides>
  <MMClips>0</MMClips>
  <ScaleCrop>false</ScaleCrop>
  <HeadingPairs>
    <vt:vector size="6" baseType="variant">
      <vt:variant>
        <vt:lpstr>Fonts Used</vt:lpstr>
      </vt:variant>
      <vt:variant>
        <vt:i4>18</vt:i4>
      </vt:variant>
      <vt:variant>
        <vt:lpstr>Theme</vt:lpstr>
      </vt:variant>
      <vt:variant>
        <vt:i4>1</vt:i4>
      </vt:variant>
      <vt:variant>
        <vt:lpstr>Slide Titles</vt:lpstr>
      </vt:variant>
      <vt:variant>
        <vt:i4>44</vt:i4>
      </vt:variant>
    </vt:vector>
  </HeadingPairs>
  <TitlesOfParts>
    <vt:vector size="63" baseType="lpstr">
      <vt:lpstr>Calibri (MS) Bold</vt:lpstr>
      <vt:lpstr>Roboto</vt:lpstr>
      <vt:lpstr>DejaVu Sans Bold</vt:lpstr>
      <vt:lpstr>Calibri (MS)</vt:lpstr>
      <vt:lpstr>DejaVu Sans Light</vt:lpstr>
      <vt:lpstr>Inter Semi-Bold</vt:lpstr>
      <vt:lpstr>Inter</vt:lpstr>
      <vt:lpstr>Inter Bold</vt:lpstr>
      <vt:lpstr>Aptos Bold</vt:lpstr>
      <vt:lpstr>Cambria Math</vt:lpstr>
      <vt:lpstr>Consolas</vt:lpstr>
      <vt:lpstr>Calibri (MS) Italics</vt:lpstr>
      <vt:lpstr>Calibri</vt:lpstr>
      <vt:lpstr>Arial</vt:lpstr>
      <vt:lpstr>Inter Medium</vt:lpstr>
      <vt:lpstr>Roboto Bold</vt:lpstr>
      <vt:lpstr>Aptos</vt:lpstr>
      <vt:lpstr>Inter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2026-10-17T15:42:53Z</dcterms:modified>
  <dc:identifier>DAHYBaR-K0c</dc:identifier>
</cp:coreProperties>
</file>