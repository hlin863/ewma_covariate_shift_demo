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panose="020B0004020202020204" pitchFamily="34" charset="0"/>
      <p:regular r:id="rId47"/>
    </p:embeddedFont>
    <p:embeddedFont>
      <p:font typeface="Aptos Bold" panose="020B0604020202020204" charset="0"/>
      <p:regular r:id="rId48"/>
    </p:embeddedFont>
    <p:embeddedFont>
      <p:font typeface="Calibri" panose="020F0502020204030204" pitchFamily="34" charset="0"/>
      <p:regular r:id="rId49"/>
      <p:bold r:id="rId50"/>
      <p:italic r:id="rId51"/>
      <p:boldItalic r:id="rId52"/>
    </p:embeddedFont>
    <p:embeddedFont>
      <p:font typeface="Calibri (MS)" panose="020B0604020202020204" charset="0"/>
      <p:regular r:id="rId53"/>
    </p:embeddedFont>
    <p:embeddedFont>
      <p:font typeface="Calibri (MS) Bold" panose="020B0604020202020204" charset="0"/>
      <p:regular r:id="rId54"/>
    </p:embeddedFont>
    <p:embeddedFont>
      <p:font typeface="Calibri (MS) Italics" panose="020B0604020202020204" charset="0"/>
      <p:regular r:id="rId55"/>
    </p:embeddedFont>
    <p:embeddedFont>
      <p:font typeface="Consolas" panose="020B0609020204030204" pitchFamily="49" charset="0"/>
      <p:regular r:id="rId56"/>
      <p:bold r:id="rId57"/>
      <p:italic r:id="rId58"/>
      <p:boldItalic r:id="rId59"/>
    </p:embeddedFont>
    <p:embeddedFont>
      <p:font typeface="DejaVu Sans Bold" panose="020B0604020202020204" charset="0"/>
      <p:regular r:id="rId60"/>
    </p:embeddedFont>
    <p:embeddedFont>
      <p:font typeface="DejaVu Sans Light" panose="020B0604020202020204" charset="0"/>
      <p:regular r:id="rId61"/>
    </p:embeddedFont>
    <p:embeddedFont>
      <p:font typeface="Inter" panose="020B0604020202020204" charset="0"/>
      <p:regular r:id="rId62"/>
    </p:embeddedFont>
    <p:embeddedFont>
      <p:font typeface="Inter Bold" panose="020B0604020202020204" charset="0"/>
      <p:regular r:id="rId63"/>
    </p:embeddedFont>
    <p:embeddedFont>
      <p:font typeface="Inter Italics" panose="020B0604020202020204" charset="0"/>
      <p:regular r:id="rId64"/>
    </p:embeddedFont>
    <p:embeddedFont>
      <p:font typeface="Inter Medium" panose="020B0604020202020204" charset="0"/>
      <p:regular r:id="rId65"/>
    </p:embeddedFont>
    <p:embeddedFont>
      <p:font typeface="Inter Semi-Bold" panose="020B0604020202020204" charset="0"/>
      <p:regular r:id="rId66"/>
    </p:embeddedFont>
    <p:embeddedFont>
      <p:font typeface="Roboto" panose="02000000000000000000" pitchFamily="2" charset="0"/>
      <p:regular r:id="rId67"/>
      <p:bold r:id="rId68"/>
      <p:italic r:id="rId69"/>
      <p:boldItalic r:id="rId70"/>
    </p:embeddedFont>
    <p:embeddedFont>
      <p:font typeface="Roboto Bold" panose="02000000000000000000" charset="0"/>
      <p:regular r:id="rId7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font" Target="fonts/font24.fntdata"/><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font" Target="fonts/font25.fntdata"/><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7.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41.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15" dirty="0">
                <a:solidFill>
                  <a:srgbClr val="5E6E84"/>
                </a:solidFill>
              </a:rPr>
              <a:t>Source: github.com/hlin863/ewma_covariate_shift_demo  ·  main at 15 Oct 2026</a:t>
            </a: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sp>
        <p:nvSpPr>
          <p:cNvPr id="36" name="Rectangle 35"/>
          <p:cNvSpPr/>
          <p:nvPr/>
        </p:nvSpPr>
        <p:spPr>
          <a:xfrm>
            <a:off x="11978640" y="6784848"/>
            <a:ext cx="4617720" cy="6583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EDITABLE POWERPOINT EQUATION | MSE over d dimensions"/>
          <p:cNvSpPr txBox="1"/>
          <p:nvPr/>
        </p:nvSpPr>
        <p:spPr>
          <a:xfrm>
            <a:off x="11978640" y="6784848"/>
            <a:ext cx="4617720" cy="658368"/>
          </a:xfrm>
          <a:prstGeom prst="rect">
            <a:avLst/>
          </a:prstGeom>
          <a:solidFill>
            <a:srgbClr val="DDEBF3"/>
          </a:solidFill>
        </p:spPr>
        <p:txBody>
          <a:bodyPr wrap="none" lIns="0" rIns="0" tIns="0" bIns="0" anchor="ctr">
            <a:spAutoFit/>
          </a:bodyPr>
          <a:lstStyle/>
          <a:p>
            <a:pPr algn="ctr"/>
            <a14:m xmlns:a14="http://schemas.microsoft.com/office/drawing/2010/main" xmlns:m="http://schemas.openxmlformats.org/officeDocument/2006/math">
              <m:oMathPara>
                <m:oMath>
                  <m:sSub>
                    <m:e>
                      <m:r>
                        <m:t>L</m:t>
                      </m:r>
                    </m:e>
                    <m:sub>
                      <m:r>
                        <m:t>t</m:t>
                      </m:r>
                    </m:sub>
                  </m:sSub>
                  <m:r>
                    <m:t> = MSE(</m:t>
                  </m:r>
                  <m:sSub>
                    <m:e>
                      <m:r>
                        <m:t>X</m:t>
                      </m:r>
                    </m:e>
                    <m:sub>
                      <m:r>
                        <m:t>t</m:t>
                      </m:r>
                    </m:sub>
                  </m:sSub>
                  <m:r>
                    <m:t>, </m:t>
                  </m:r>
                  <m:acc>
                    <m:accPr>
                      <m:chr m:val="̂"/>
                    </m:accPr>
                    <m:e>
                      <m:sSub>
                        <m:e>
                          <m:r>
                            <m:t>X</m:t>
                          </m:r>
                        </m:e>
                        <m:sub>
                          <m:r>
                            <m:t>t</m:t>
                          </m:r>
                        </m:sub>
                      </m:sSub>
                    </m:e>
                  </m:acc>
                  <m:r>
                    <m:t>) = </m:t>
                  </m:r>
                  <m:f>
                    <m:num>
                      <m:r>
                        <m:t>1</m:t>
                      </m:r>
                    </m:num>
                    <m:den>
                      <m:r>
                        <m:t>d</m:t>
                      </m:r>
                    </m:den>
                  </m:f>
                  <m:nary>
                    <m:naryPr>
                      <m:chr m:val="∑"/>
                    </m:naryPr>
                    <m:sub>
                      <m:r>
                        <m:t>j=1</m:t>
                      </m:r>
                    </m:sub>
                    <m:sup>
                      <m:r>
                        <m:t>d</m:t>
                      </m:r>
                    </m:sup>
                    <m:e>
                      <m:r>
                        <m:t>(</m:t>
                      </m:r>
                      <m:sSub>
                        <m:e>
                          <m:r>
                            <m:t>X</m:t>
                          </m:r>
                        </m:e>
                        <m:sub>
                          <m:r>
                            <m:t>t,j</m:t>
                          </m:r>
                        </m:sub>
                      </m:sSub>
                      <m:r>
                        <m:t> − </m:t>
                      </m:r>
                      <m:acc>
                        <m:accPr>
                          <m:chr m:val="̂"/>
                        </m:accPr>
                        <m:e>
                          <m:sSub>
                            <m:e>
                              <m:r>
                                <m:t>X</m:t>
                              </m:r>
                            </m:e>
                            <m:sub>
                              <m:r>
                                <m:t>t,j</m:t>
                              </m:r>
                            </m:sub>
                          </m:sSub>
                        </m:e>
                      </m:acc>
                      <m:sSup>
                        <m:e>
                          <m:r>
                            <m:t>)</m:t>
                          </m:r>
                        </m:e>
                        <m:sup>
                          <m:r>
                            <m:t>2</m:t>
                          </m:r>
                        </m:sup>
                      </m:sSup>
                    </m:e>
                  </m:nary>
                </m:oMath>
              </m:oMathPara>
            </a14:m>
            <a:endParaRPr sz="1800" lang="en-GB">
              <a:solidFill>
                <a:srgbClr val="14233B"/>
              </a:solidFill>
            </a:endParaRP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5458968"/>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742432"/>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sp>
        <p:nvSpPr>
          <p:cNvPr id="6070" name="EDITABLE POWERPOINT EQUATION | Park 2023 Eq 2.2 normalized CUSUM | ROW 1"/>
          <p:cNvSpPr txBox="1"/>
          <p:nvPr/>
        </p:nvSpPr>
        <p:spPr>
          <a:xfrm>
            <a:off x="1938528" y="6044184"/>
            <a:ext cx="6035040" cy="448056"/>
          </a:xfrm>
          <a:prstGeom prst="rect">
            <a:avLst/>
          </a:prstGeom>
          <a:noFill/>
        </p:spPr>
        <p:txBody>
          <a:bodyPr wrap="none" lIns="45720" rIns="45720" tIns="36576" bIns="36576" anchor="ctr">
            <a:spAutoFit/>
          </a:bodyPr>
          <a:lstStyle/>
          <a:p>
            <a:pPr algn="ctr">
              <a:spcAft>
                <a:spcPts val="400"/>
              </a:spcAft>
            </a:pPr>
            <a14:m xmlns:a14="http://schemas.microsoft.com/office/drawing/2010/main" xmlns:m="http://schemas.openxmlformats.org/officeDocument/2006/math">
              <m:oMathPara>
                <m:oMath>
                  <m:r>
                    <m:t>νₜ⁽ᵈ⁾ = (|Aₜ⁽ᵈ⁾ − Bₜ⁽ᵈ⁾|) / X̄⁽ᵈ⁾</m:t>
                  </m:r>
                </m:oMath>
              </m:oMathPara>
            </a14:m>
            <a:endParaRPr sz="1300"/>
          </a:p>
        </p:txBody>
      </p:sp>
      <p:sp>
        <p:nvSpPr>
          <p:cNvPr id="6071" name="EDITABLE POWERPOINT EQUATION | Park 2023 Eq 2.2 normalized CUSUM | ROW 2"/>
          <p:cNvSpPr txBox="1"/>
          <p:nvPr/>
        </p:nvSpPr>
        <p:spPr>
          <a:xfrm>
            <a:off x="1938528" y="6537960"/>
            <a:ext cx="6035040" cy="457200"/>
          </a:xfrm>
          <a:prstGeom prst="rect">
            <a:avLst/>
          </a:prstGeom>
          <a:noFill/>
        </p:spPr>
        <p:txBody>
          <a:bodyPr wrap="none" lIns="45720" rIns="45720" tIns="36576" bIns="36576" anchor="ctr">
            <a:spAutoFit/>
          </a:bodyPr>
          <a:lstStyle/>
          <a:p>
            <a:pPr algn="ctr">
              <a:spcAft>
                <a:spcPts val="400"/>
              </a:spcAft>
            </a:pPr>
            <a14:m xmlns:a14="http://schemas.microsoft.com/office/drawing/2010/main" xmlns:m="http://schemas.openxmlformats.org/officeDocument/2006/math">
              <m:oMathPara>
                <m:oMath>
                  <m:r>
                    <m:t>Aₜ⁽ᵈ⁾ = √[(T−t)/(Tt)] ∑ᵤ₌₀ᵗ⁻¹ Xᵤ⁽ᵈ⁾</m:t>
                  </m:r>
                </m:oMath>
              </m:oMathPara>
            </a14:m>
            <a:endParaRPr sz="1300"/>
          </a:p>
        </p:txBody>
      </p:sp>
      <p:sp>
        <p:nvSpPr>
          <p:cNvPr id="6072" name="EDITABLE POWERPOINT EQUATION | Park 2023 Eq 2.2 normalized CUSUM | ROW 3"/>
          <p:cNvSpPr txBox="1"/>
          <p:nvPr/>
        </p:nvSpPr>
        <p:spPr>
          <a:xfrm>
            <a:off x="1938528" y="7050024"/>
            <a:ext cx="6035040" cy="457200"/>
          </a:xfrm>
          <a:prstGeom prst="rect">
            <a:avLst/>
          </a:prstGeom>
          <a:noFill/>
        </p:spPr>
        <p:txBody>
          <a:bodyPr wrap="none" lIns="45720" rIns="45720" tIns="36576" bIns="36576" anchor="ctr">
            <a:spAutoFit/>
          </a:bodyPr>
          <a:lstStyle/>
          <a:p>
            <a:pPr algn="ctr">
              <a:spcAft>
                <a:spcPts val="400"/>
              </a:spcAft>
            </a:pPr>
            <a14:m xmlns:a14="http://schemas.microsoft.com/office/drawing/2010/main" xmlns:m="http://schemas.openxmlformats.org/officeDocument/2006/math">
              <m:oMathPara>
                <m:oMath>
                  <m:r>
                    <m:t>Bₜ⁽ᵈ⁾ = √[t/(T(T−t))] ∑ᵤ₌ₜᵀ⁻¹ Xᵤ⁽ᵈ⁾</m:t>
                  </m:r>
                </m:oMath>
              </m:oMathPara>
            </a14:m>
            <a:endParaRPr sz="1300"/>
          </a:p>
        </p:txBody>
      </p:sp>
      <p:sp>
        <p:nvSpPr>
          <p:cNvPr id="6073" name="EDITABLE POWERPOINT EQUATION | Park 2023 Eq 2.2 normalized CUSUM | ROW 4"/>
          <p:cNvSpPr txBox="1"/>
          <p:nvPr/>
        </p:nvSpPr>
        <p:spPr>
          <a:xfrm>
            <a:off x="1938528" y="7571231"/>
            <a:ext cx="6035040" cy="411480"/>
          </a:xfrm>
          <a:prstGeom prst="rect">
            <a:avLst/>
          </a:prstGeom>
          <a:noFill/>
        </p:spPr>
        <p:txBody>
          <a:bodyPr wrap="none" lIns="45720" rIns="45720" tIns="36576" bIns="36576" anchor="ctr">
            <a:spAutoFit/>
          </a:bodyPr>
          <a:lstStyle/>
          <a:p>
            <a:pPr algn="ctr">
              <a:spcAft>
                <a:spcPts val="400"/>
              </a:spcAft>
            </a:pPr>
            <a14:m xmlns:a14="http://schemas.microsoft.com/office/drawing/2010/main" xmlns:m="http://schemas.openxmlformats.org/officeDocument/2006/math">
              <m:oMathPara>
                <m:oMath>
                  <m:r>
                    <m:t>X̄⁽ᵈ⁾ = (1/T) ∑ᵤ₌₀ᵀ⁻¹ Xᵤ⁽ᵈ⁾</m:t>
                  </m:r>
                </m:oMath>
              </m:oMathPara>
            </a14:m>
            <a:endParaRPr sz="13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
        <p:nvSpPr>
          <p:cNvPr id="6080" name="EDITABLE POWERPOINT EQUATION | Park 2023 pointwise aggregation | ROW 1"/>
          <p:cNvSpPr txBox="1"/>
          <p:nvPr/>
        </p:nvSpPr>
        <p:spPr>
          <a:xfrm>
            <a:off x="2103120" y="4297680"/>
            <a:ext cx="5760720" cy="694944"/>
          </a:xfrm>
          <a:prstGeom prst="rect">
            <a:avLst/>
          </a:prstGeom>
          <a:noFill/>
        </p:spPr>
        <p:txBody>
          <a:bodyPr wrap="none" lIns="45720" rIns="45720" tIns="36576" bIns="36576" anchor="ctr">
            <a:spAutoFit/>
          </a:bodyPr>
          <a:lstStyle/>
          <a:p>
            <a:pPr algn="ctr">
              <a:spcAft>
                <a:spcPts val="800"/>
              </a:spcAft>
            </a:pPr>
            <a14:m xmlns:a14="http://schemas.microsoft.com/office/drawing/2010/main" xmlns:m="http://schemas.openxmlformats.org/officeDocument/2006/math">
              <m:oMathPara>
                <m:oMath>
                  <m:sSubSup>
                    <m:e>
                      <m:r>
                        <m:t>ν</m:t>
                      </m:r>
                    </m:e>
                    <m:sub>
                      <m:r>
                        <m:t>t</m:t>
                      </m:r>
                    </m:sub>
                    <m:sup>
                      <m:r>
                        <m:t>max</m:t>
                      </m:r>
                    </m:sup>
                  </m:sSubSup>
                  <m:r>
                    <m:t> = max₍₁≤d≤p₎ </m:t>
                  </m:r>
                  <m:sSubSup>
                    <m:e>
                      <m:r>
                        <m:t>ν</m:t>
                      </m:r>
                    </m:e>
                    <m:sub>
                      <m:r>
                        <m:t>t</m:t>
                      </m:r>
                    </m:sub>
                    <m:sup>
                      <m:r>
                        <m:t>(d)</m:t>
                      </m:r>
                    </m:sup>
                  </m:sSubSup>
                </m:oMath>
              </m:oMathPara>
            </a14:m>
            <a:endParaRPr sz="2400"/>
          </a:p>
        </p:txBody>
      </p:sp>
      <p:sp>
        <p:nvSpPr>
          <p:cNvPr id="6081" name="EDITABLE POWERPOINT EQUATION | Park 2023 pointwise aggregation | ROW 2"/>
          <p:cNvSpPr txBox="1"/>
          <p:nvPr/>
        </p:nvSpPr>
        <p:spPr>
          <a:xfrm>
            <a:off x="2103120" y="5577840"/>
            <a:ext cx="5486400" cy="694944"/>
          </a:xfrm>
          <a:prstGeom prst="rect">
            <a:avLst/>
          </a:prstGeom>
          <a:noFill/>
        </p:spPr>
        <p:txBody>
          <a:bodyPr wrap="none" lIns="45720" rIns="45720" tIns="36576" bIns="36576" anchor="ctr">
            <a:spAutoFit/>
          </a:bodyPr>
          <a:lstStyle/>
          <a:p>
            <a:pPr algn="ctr">
              <a:spcAft>
                <a:spcPts val="800"/>
              </a:spcAft>
            </a:pPr>
            <a14:m xmlns:a14="http://schemas.microsoft.com/office/drawing/2010/main" xmlns:m="http://schemas.openxmlformats.org/officeDocument/2006/math">
              <m:oMathPara>
                <m:oMath>
                  <m:sSubSup>
                    <m:e>
                      <m:r>
                        <m:t>ν</m:t>
                      </m:r>
                    </m:e>
                    <m:sub>
                      <m:r>
                        <m:t>t</m:t>
                      </m:r>
                    </m:sub>
                    <m:sup>
                      <m:r>
                        <m:t>avg</m:t>
                      </m:r>
                    </m:sup>
                  </m:sSubSup>
                  <m:r>
                    <m:t> = </m:t>
                  </m:r>
                  <m:f>
                    <m:num>
                      <m:r>
                        <m:t>1</m:t>
                      </m:r>
                    </m:num>
                    <m:den>
                      <m:r>
                        <m:t>p</m:t>
                      </m:r>
                    </m:den>
                  </m:f>
                  <m:r>
                    <m:t> ∑ᵈ₌₁ᵖ </m:t>
                  </m:r>
                  <m:sSubSup>
                    <m:e>
                      <m:r>
                        <m:t>ν</m:t>
                      </m:r>
                    </m:e>
                    <m:sub>
                      <m:r>
                        <m:t>t</m:t>
                      </m:r>
                    </m:sub>
                    <m:sup>
                      <m:r>
                        <m:t>(d)</m:t>
                      </m:r>
                    </m:sup>
                  </m:sSubSup>
                </m:oMath>
              </m:oMathPara>
            </a14:m>
            <a:endParaRPr sz="2400"/>
          </a:p>
        </p:txBody>
      </p:sp>
      <p:sp>
        <p:nvSpPr>
          <p:cNvPr id="6080" name="EDITABLE POWERPOINT EQUATION | Code-grounded LOESS and peak estimates | ROW 1"/>
          <p:cNvSpPr txBox="1"/>
          <p:nvPr/>
        </p:nvSpPr>
        <p:spPr>
          <a:xfrm>
            <a:off x="10168128" y="4297680"/>
            <a:ext cx="5989320" cy="512064"/>
          </a:xfrm>
          <a:prstGeom prst="rect">
            <a:avLst/>
          </a:prstGeom>
          <a:noFill/>
        </p:spPr>
        <p:txBody>
          <a:bodyPr wrap="none" lIns="45720" rIns="45720" tIns="36576" bIns="36576" anchor="ctr">
            <a:spAutoFit/>
          </a:bodyPr>
          <a:lstStyle/>
          <a:p>
            <a:pPr algn="ctr">
              <a:spcAft>
                <a:spcPts val="400"/>
              </a:spcAft>
            </a:pPr>
            <a14:m xmlns:a14="http://schemas.microsoft.com/office/drawing/2010/main" xmlns:m="http://schemas.openxmlformats.org/officeDocument/2006/math">
              <m:oMathPara>
                <m:oMath>
                  <m:r>
                    <m:t>ν̃ₜᵐᵃˣ = LOESS₀.₁(νₜᵐᵃˣ)</m:t>
                  </m:r>
                </m:oMath>
              </m:oMathPara>
            </a14:m>
            <a:endParaRPr sz="1900"/>
          </a:p>
        </p:txBody>
      </p:sp>
      <p:sp>
        <p:nvSpPr>
          <p:cNvPr id="6081" name="EDITABLE POWERPOINT EQUATION | Code-grounded LOESS and peak estimates | ROW 2"/>
          <p:cNvSpPr txBox="1"/>
          <p:nvPr/>
        </p:nvSpPr>
        <p:spPr>
          <a:xfrm>
            <a:off x="10168128" y="5047488"/>
            <a:ext cx="5989320" cy="512064"/>
          </a:xfrm>
          <a:prstGeom prst="rect">
            <a:avLst/>
          </a:prstGeom>
          <a:noFill/>
        </p:spPr>
        <p:txBody>
          <a:bodyPr wrap="none" lIns="45720" rIns="45720" tIns="36576" bIns="36576" anchor="ctr">
            <a:spAutoFit/>
          </a:bodyPr>
          <a:lstStyle/>
          <a:p>
            <a:pPr algn="ctr">
              <a:spcAft>
                <a:spcPts val="400"/>
              </a:spcAft>
            </a:pPr>
            <a14:m xmlns:a14="http://schemas.microsoft.com/office/drawing/2010/main" xmlns:m="http://schemas.openxmlformats.org/officeDocument/2006/math">
              <m:oMathPara>
                <m:oMath>
                  <m:r>
                    <m:t>ν̃ₜᵃᵛᵍ = LOESS₀.₁(νₜᵃᵛᵍ)</m:t>
                  </m:r>
                </m:oMath>
              </m:oMathPara>
            </a14:m>
            <a:endParaRPr sz="1900"/>
          </a:p>
        </p:txBody>
      </p:sp>
      <p:sp>
        <p:nvSpPr>
          <p:cNvPr id="6082" name="EDITABLE POWERPOINT EQUATION | Code-grounded LOESS and peak estimates | ROW 3"/>
          <p:cNvSpPr txBox="1"/>
          <p:nvPr/>
        </p:nvSpPr>
        <p:spPr>
          <a:xfrm>
            <a:off x="10168128" y="5797296"/>
            <a:ext cx="5989320" cy="512064"/>
          </a:xfrm>
          <a:prstGeom prst="rect">
            <a:avLst/>
          </a:prstGeom>
          <a:noFill/>
        </p:spPr>
        <p:txBody>
          <a:bodyPr wrap="none" lIns="45720" rIns="45720" tIns="36576" bIns="36576" anchor="ctr">
            <a:spAutoFit/>
          </a:bodyPr>
          <a:lstStyle/>
          <a:p>
            <a:pPr algn="ctr">
              <a:spcAft>
                <a:spcPts val="400"/>
              </a:spcAft>
            </a:pPr>
            <a14:m xmlns:a14="http://schemas.microsoft.com/office/drawing/2010/main" xmlns:m="http://schemas.openxmlformats.org/officeDocument/2006/math">
              <m:oMathPara>
                <m:oMath>
                  <m:r>
                    <m:t>bₘₐₓ = argmaxₜ ν̃ₜᵐᵃˣ</m:t>
                  </m:r>
                </m:oMath>
              </m:oMathPara>
            </a14:m>
            <a:endParaRPr sz="1900"/>
          </a:p>
        </p:txBody>
      </p:sp>
      <p:sp>
        <p:nvSpPr>
          <p:cNvPr id="6083" name="EDITABLE POWERPOINT EQUATION | Code-grounded LOESS and peak estimates | ROW 4"/>
          <p:cNvSpPr txBox="1"/>
          <p:nvPr/>
        </p:nvSpPr>
        <p:spPr>
          <a:xfrm>
            <a:off x="10168128" y="6547104"/>
            <a:ext cx="5989320" cy="512064"/>
          </a:xfrm>
          <a:prstGeom prst="rect">
            <a:avLst/>
          </a:prstGeom>
          <a:noFill/>
        </p:spPr>
        <p:txBody>
          <a:bodyPr wrap="none" lIns="45720" rIns="45720" tIns="36576" bIns="36576" anchor="ctr">
            <a:spAutoFit/>
          </a:bodyPr>
          <a:lstStyle/>
          <a:p>
            <a:pPr algn="ctr">
              <a:spcAft>
                <a:spcPts val="400"/>
              </a:spcAft>
            </a:pPr>
            <a14:m xmlns:a14="http://schemas.microsoft.com/office/drawing/2010/main" xmlns:m="http://schemas.openxmlformats.org/officeDocument/2006/math">
              <m:oMathPara>
                <m:oMath>
                  <m:r>
                    <m:t>bₐᵥg = argmaxₜ ν̃ₜᵃᵛᵍ</m:t>
                  </m:r>
                </m:oMath>
              </m:oMathPara>
            </a14:m>
            <a:endParaRPr sz="19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sp>
        <p:nvSpPr>
          <p:cNvPr id="10" name="EDITABLE POWERPOINT EQUATION | Kronecker delta"/>
          <p:cNvSpPr txBox="1"/>
          <p:nvPr/>
        </p:nvSpPr>
        <p:spPr>
          <a:xfrm>
            <a:off x="1234440" y="3566160"/>
            <a:ext cx="7260336" cy="822960"/>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sSub>
                    <m:e>
                      <m:r>
                        <m:t>δ</m:t>
                      </m:r>
                    </m:e>
                    <m:sub>
                      <m:r>
                        <m:t>ij</m:t>
                      </m:r>
                    </m:sub>
                  </m:sSub>
                  <m:r>
                    <m:t> = 1 (i = j),     </m:t>
                  </m:r>
                  <m:sSub>
                    <m:e>
                      <m:r>
                        <m:t>δ</m:t>
                      </m:r>
                    </m:e>
                    <m:sub>
                      <m:r>
                        <m:t>ij</m:t>
                      </m:r>
                    </m:sub>
                  </m:sSub>
                  <m:r>
                    <m:t> = 0 (i ≠ j)</m:t>
                  </m:r>
                </m:oMath>
              </m:oMathPara>
            </a14:m>
            <a:endParaRPr sz="2400" lang="en-GB">
              <a:solidFill>
                <a:srgbClr val="14233B"/>
              </a:solidFill>
            </a:endParaRPr>
          </a:p>
        </p:txBody>
      </p:sp>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sp>
        <p:nvSpPr>
          <p:cNvPr id="10" name="EDITABLE POWERPOINT EQUATION | Covariance and Kronecker identity"/>
          <p:cNvSpPr txBox="1"/>
          <p:nvPr/>
        </p:nvSpPr>
        <p:spPr>
          <a:xfrm>
            <a:off x="1234440" y="3429000"/>
            <a:ext cx="7150608" cy="960120"/>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r>
                    <m:t>Cov(</m:t>
                  </m:r>
                  <m:sSub>
                    <m:e>
                      <m:r>
                        <m:t>Z</m:t>
                      </m:r>
                    </m:e>
                    <m:sub>
                      <m:r>
                        <m:t>i</m:t>
                      </m:r>
                    </m:sub>
                  </m:sSub>
                  <m:r>
                    <m:t>,</m:t>
                  </m:r>
                  <m:sSub>
                    <m:e>
                      <m:r>
                        <m:t>Z</m:t>
                      </m:r>
                    </m:e>
                    <m:sub>
                      <m:r>
                        <m:t>j</m:t>
                      </m:r>
                    </m:sub>
                  </m:sSub>
                  <m:r>
                    <m:t>) = E[</m:t>
                  </m:r>
                  <m:sSub>
                    <m:e>
                      <m:r>
                        <m:t>Z</m:t>
                      </m:r>
                    </m:e>
                    <m:sub>
                      <m:r>
                        <m:t>i</m:t>
                      </m:r>
                    </m:sub>
                  </m:sSub>
                  <m:sSub>
                    <m:e>
                      <m:r>
                        <m:t>Z</m:t>
                      </m:r>
                    </m:e>
                    <m:sub>
                      <m:r>
                        <m:t>j</m:t>
                      </m:r>
                    </m:sub>
                  </m:sSub>
                  <m:r>
                    <m:t>] = </m:t>
                  </m:r>
                  <m:sSub>
                    <m:e>
                      <m:r>
                        <m:t>δ</m:t>
                      </m:r>
                    </m:e>
                    <m:sub>
                      <m:r>
                        <m:t>ij</m:t>
                      </m:r>
                    </m:sub>
                  </m:sSub>
                </m:oMath>
              </m:oMathPara>
            </a14:m>
            <a:endParaRPr sz="2800" lang="en-GB">
              <a:solidFill>
                <a:srgbClr val="14233B"/>
              </a:solidFill>
            </a:endParaRPr>
          </a:p>
        </p:txBody>
      </p:sp>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sp>
        <p:nvSpPr>
          <p:cNvPr id="15" name="EDITABLE POWERPOINT EQUATION | Partial derivative identity"/>
          <p:cNvSpPr txBox="1"/>
          <p:nvPr/>
        </p:nvSpPr>
        <p:spPr>
          <a:xfrm>
            <a:off x="1234440" y="3429000"/>
            <a:ext cx="2852928" cy="960120"/>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f>
                    <m:num>
                      <m:r>
                        <m:t>∂wᵢ</m:t>
                      </m:r>
                    </m:num>
                    <m:den>
                      <m:r>
                        <m:t>∂wⱼ</m:t>
                      </m:r>
                    </m:den>
                  </m:f>
                  <m:r>
                    <m:t> = </m:t>
                  </m:r>
                  <m:sSub>
                    <m:e>
                      <m:r>
                        <m:t>δ</m:t>
                      </m:r>
                    </m:e>
                    <m:sub>
                      <m:r>
                        <m:t>ij</m:t>
                      </m:r>
                    </m:sub>
                  </m:sSub>
                </m:oMath>
              </m:oMathPara>
            </a14:m>
            <a:endParaRPr sz="2800" lang="en-GB">
              <a:solidFill>
                <a:srgbClr val="14233B"/>
              </a:solidFill>
            </a:endParaRPr>
          </a:p>
        </p:txBody>
      </p:sp>
      <p:sp>
        <p:nvSpPr>
          <p:cNvPr id="16" name="EDITABLE POWERPOINT EQUATION | Variance identity"/>
          <p:cNvSpPr txBox="1"/>
          <p:nvPr/>
        </p:nvSpPr>
        <p:spPr>
          <a:xfrm>
            <a:off x="9326880" y="3429000"/>
            <a:ext cx="7205472" cy="960120"/>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r>
                    <m:t>Var(</m:t>
                  </m:r>
                  <m:sSub>
                    <m:e>
                      <m:r>
                        <m:t>Z</m:t>
                      </m:r>
                    </m:e>
                    <m:sub>
                      <m:r>
                        <m:t>i</m:t>
                      </m:r>
                    </m:sub>
                  </m:sSub>
                  <m:r>
                    <m:t>) = E[(</m:t>
                  </m:r>
                  <m:sSub>
                    <m:e>
                      <m:r>
                        <m:t>Z</m:t>
                      </m:r>
                    </m:e>
                    <m:sub>
                      <m:r>
                        <m:t>i</m:t>
                      </m:r>
                    </m:sub>
                  </m:sSub>
                  <m:r>
                    <m:t> − E[</m:t>
                  </m:r>
                  <m:sSub>
                    <m:e>
                      <m:r>
                        <m:t>Z</m:t>
                      </m:r>
                    </m:e>
                    <m:sub>
                      <m:r>
                        <m:t>i</m:t>
                      </m:r>
                    </m:sub>
                  </m:sSub>
                  <m:r>
                    <m:t>]</m:t>
                  </m:r>
                  <m:sSup>
                    <m:e>
                      <m:r>
                        <m:t>)</m:t>
                      </m:r>
                    </m:e>
                    <m:sup>
                      <m:r>
                        <m:t>2</m:t>
                      </m:r>
                    </m:sup>
                  </m:sSup>
                  <m:r>
                    <m:t>]</m:t>
                  </m:r>
                </m:oMath>
              </m:oMathPara>
            </a14:m>
            <a:endParaRPr sz="2800" lang="en-GB">
              <a:solidFill>
                <a:srgbClr val="14233B"/>
              </a:solidFill>
            </a:endParaRPr>
          </a:p>
        </p:txBody>
      </p:sp>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sp>
        <p:nvSpPr>
          <p:cNvPr id="17" name="EDITABLE POWERPOINT EQUATION | Online update"/>
          <p:cNvSpPr txBox="1"/>
          <p:nvPr/>
        </p:nvSpPr>
        <p:spPr>
          <a:xfrm>
            <a:off x="1234440" y="7269480"/>
            <a:ext cx="6080760" cy="685800"/>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sSub>
                    <m:e>
                      <m:r>
                        <m:t>w</m:t>
                      </m:r>
                    </m:e>
                    <m:sub>
                      <m:r>
                        <m:t>i</m:t>
                      </m:r>
                    </m:sub>
                  </m:sSub>
                  <m:r>
                    <m:t>(t+1) = </m:t>
                  </m:r>
                  <m:sSub>
                    <m:e>
                      <m:r>
                        <m:t>w</m:t>
                      </m:r>
                    </m:e>
                    <m:sub>
                      <m:r>
                        <m:t>i</m:t>
                      </m:r>
                    </m:sub>
                  </m:sSub>
                  <m:r>
                    <m:t>(t) + ηe(t)</m:t>
                  </m:r>
                  <m:sSub>
                    <m:e>
                      <m:r>
                        <m:t>x</m:t>
                      </m:r>
                    </m:e>
                    <m:sub>
                      <m:r>
                        <m:t>i</m:t>
                      </m:r>
                    </m:sub>
                  </m:sSub>
                  <m:r>
                    <m:t>(t)</m:t>
                  </m:r>
                </m:oMath>
              </m:oMathPara>
            </a14:m>
            <a:endParaRPr sz="2000" lang="en-GB">
              <a:solidFill>
                <a:srgbClr val="14233B"/>
              </a:solidFill>
            </a:endParaRPr>
          </a:p>
        </p:txBody>
      </p:sp>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sp>
        <p:nvSpPr>
          <p:cNvPr id="10" name="EDITABLE POWERPOINT EQUATION | Vanishing wavelet moments"/>
          <p:cNvSpPr txBox="1"/>
          <p:nvPr/>
        </p:nvSpPr>
        <p:spPr>
          <a:xfrm>
            <a:off x="1234440" y="3502152"/>
            <a:ext cx="7342631" cy="822960"/>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r>
                    <m:t>∫ </m:t>
                  </m:r>
                  <m:sSup>
                    <m:e>
                      <m:r>
                        <m:t>t</m:t>
                      </m:r>
                    </m:e>
                    <m:sup>
                      <m:r>
                        <m:t>m</m:t>
                      </m:r>
                    </m:sup>
                  </m:sSup>
                  <m:r>
                    <m:t>ψ(t)dt = 0,     m = 0,…,N − 1</m:t>
                  </m:r>
                </m:oMath>
              </m:oMathPara>
            </a14:m>
            <a:endParaRPr sz="2400" lang="en-GB">
              <a:solidFill>
                <a:srgbClr val="14233B"/>
              </a:solidFill>
            </a:endParaRPr>
          </a:p>
        </p:txBody>
      </p:sp>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sp>
        <p:nvSpPr>
          <p:cNvPr id="11" name="EDITABLE POWERPOINT EQUATION | Linear transformation and covariance"/>
          <p:cNvSpPr txBox="1"/>
          <p:nvPr/>
        </p:nvSpPr>
        <p:spPr>
          <a:xfrm>
            <a:off x="1234440" y="3355848"/>
            <a:ext cx="12088368" cy="960120"/>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r>
                    <m:t>Y = AZ,    Cov(Z) = I    ⇒    Cov(Y) = A</m:t>
                  </m:r>
                  <m:sSup>
                    <m:e>
                      <m:r>
                        <m:t>A</m:t>
                      </m:r>
                    </m:e>
                    <m:sup>
                      <m:r>
                        <m:t>T</m:t>
                      </m:r>
                    </m:sup>
                  </m:sSup>
                </m:oMath>
              </m:oMathPara>
            </a14:m>
            <a:endParaRPr sz="2300" lang="en-GB">
              <a:solidFill>
                <a:srgbClr val="14233B"/>
              </a:solidFill>
            </a:endParaRPr>
          </a:p>
        </p:txBody>
      </p:sp>
      <p:sp>
        <p:nvSpPr>
          <p:cNvPr id="12" name="EDITABLE POWERPOINT EQUATION | Correlation construction"/>
          <p:cNvSpPr txBox="1"/>
          <p:nvPr/>
        </p:nvSpPr>
        <p:spPr>
          <a:xfrm>
            <a:off x="1234440" y="4873752"/>
            <a:ext cx="13716000" cy="987552"/>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sSub>
                    <m:e>
                      <m:r>
                        <m:t>Y</m:t>
                      </m:r>
                    </m:e>
                    <m:sub>
                      <m:r>
                        <m:t>1</m:t>
                      </m:r>
                    </m:sub>
                  </m:sSub>
                  <m:r>
                    <m:t> = </m:t>
                  </m:r>
                  <m:sSub>
                    <m:e>
                      <m:r>
                        <m:t>Z</m:t>
                      </m:r>
                    </m:e>
                    <m:sub>
                      <m:r>
                        <m:t>1</m:t>
                      </m:r>
                    </m:sub>
                  </m:sSub>
                  <m:r>
                    <m:t>,    </m:t>
                  </m:r>
                  <m:sSub>
                    <m:e>
                      <m:r>
                        <m:t>Y</m:t>
                      </m:r>
                    </m:e>
                    <m:sub>
                      <m:r>
                        <m:t>2</m:t>
                      </m:r>
                    </m:sub>
                  </m:sSub>
                  <m:r>
                    <m:t> = a</m:t>
                  </m:r>
                  <m:sSub>
                    <m:e>
                      <m:r>
                        <m:t>Z</m:t>
                      </m:r>
                    </m:e>
                    <m:sub>
                      <m:r>
                        <m:t>1</m:t>
                      </m:r>
                    </m:sub>
                  </m:sSub>
                  <m:r>
                    <m:t> + </m:t>
                  </m:r>
                  <m:sSub>
                    <m:e>
                      <m:r>
                        <m:t>Z</m:t>
                      </m:r>
                    </m:e>
                    <m:sub>
                      <m:r>
                        <m:t>2</m:t>
                      </m:r>
                    </m:sub>
                  </m:sSub>
                  <m:r>
                    <m:t>,    Cov(</m:t>
                  </m:r>
                  <m:sSub>
                    <m:e>
                      <m:r>
                        <m:t>Y</m:t>
                      </m:r>
                    </m:e>
                    <m:sub>
                      <m:r>
                        <m:t>1</m:t>
                      </m:r>
                    </m:sub>
                  </m:sSub>
                  <m:r>
                    <m:t>,</m:t>
                  </m:r>
                  <m:sSub>
                    <m:e>
                      <m:r>
                        <m:t>Y</m:t>
                      </m:r>
                    </m:e>
                    <m:sub>
                      <m:r>
                        <m:t>2</m:t>
                      </m:r>
                    </m:sub>
                  </m:sSub>
                  <m:r>
                    <m:t>) = a</m:t>
                  </m:r>
                </m:oMath>
              </m:oMathPara>
            </a14:m>
            <a:endParaRPr sz="2300" lang="en-GB">
              <a:solidFill>
                <a:srgbClr val="14233B"/>
              </a:solidFill>
            </a:endParaRPr>
          </a:p>
        </p:txBody>
      </p:sp>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9" name="Rectangle 28"/>
          <p:cNvSpPr/>
          <p:nvPr/>
        </p:nvSpPr>
        <p:spPr>
          <a:xfrm>
            <a:off x="1033271" y="3703320"/>
            <a:ext cx="2423160" cy="40233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DITABLE POWERPOINT EQUATION | CSP spatial filter"/>
          <p:cNvSpPr txBox="1"/>
          <p:nvPr/>
        </p:nvSpPr>
        <p:spPr>
          <a:xfrm>
            <a:off x="1033271" y="3703320"/>
            <a:ext cx="2423160" cy="402336"/>
          </a:xfrm>
          <a:prstGeom prst="rect">
            <a:avLst/>
          </a:prstGeom>
          <a:solidFill>
            <a:srgbClr val="DDEBF3"/>
          </a:solidFill>
        </p:spPr>
        <p:txBody>
          <a:bodyPr wrap="none" lIns="0" rIns="0" tIns="0" bIns="0" anchor="ctr">
            <a:spAutoFit/>
          </a:bodyPr>
          <a:lstStyle/>
          <a:p>
            <a:pPr algn="ctr"/>
            <a14:m xmlns:a14="http://schemas.microsoft.com/office/drawing/2010/main" xmlns:m="http://schemas.openxmlformats.org/officeDocument/2006/math">
              <m:oMathPara>
                <m:oMath>
                  <m:r>
                    <m:t>Z = WE</m:t>
                  </m:r>
                </m:oMath>
              </m:oMathPara>
            </a14:m>
            <a:endParaRPr sz="1800" lang="en-GB">
              <a:solidFill>
                <a:srgbClr val="14233B"/>
              </a:solidFill>
            </a:endParaRPr>
          </a:p>
        </p:txBody>
      </p:sp>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30" name="Rectangle 29"/>
          <p:cNvSpPr/>
          <p:nvPr/>
        </p:nvSpPr>
        <p:spPr>
          <a:xfrm>
            <a:off x="1033271" y="5157216"/>
            <a:ext cx="5138928" cy="1115568"/>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DITABLE POWERPOINT EQUATION | Normalised CSP log-variance feature"/>
          <p:cNvSpPr txBox="1"/>
          <p:nvPr/>
        </p:nvSpPr>
        <p:spPr>
          <a:xfrm>
            <a:off x="1033271" y="5157216"/>
            <a:ext cx="5138928" cy="1115568"/>
          </a:xfrm>
          <a:prstGeom prst="rect">
            <a:avLst/>
          </a:prstGeom>
          <a:solidFill>
            <a:srgbClr val="DDEBF3"/>
          </a:solidFill>
        </p:spPr>
        <p:txBody>
          <a:bodyPr wrap="none" lIns="0" rIns="0" tIns="0" bIns="0" anchor="ctr">
            <a:spAutoFit/>
          </a:bodyPr>
          <a:lstStyle/>
          <a:p>
            <a:pPr algn="ctr"/>
            <a14:m xmlns:a14="http://schemas.microsoft.com/office/drawing/2010/main" xmlns:m="http://schemas.openxmlformats.org/officeDocument/2006/math">
              <m:oMathPara>
                <m:oMath>
                  <m:sSub>
                    <m:e>
                      <m:r>
                        <m:t>f</m:t>
                      </m:r>
                    </m:e>
                    <m:sub>
                      <m:r>
                        <m:t>j</m:t>
                      </m:r>
                    </m:sub>
                  </m:sSub>
                  <m:r>
                    <m:t> = log</m:t>
                  </m:r>
                  <m:r>
                    <m:t>(</m:t>
                  </m:r>
                  <m:f>
                    <m:num>
                      <m:r>
                        <m:t>Var(</m:t>
                      </m:r>
                      <m:sSub>
                        <m:e>
                          <m:r>
                            <m:t>Z</m:t>
                          </m:r>
                        </m:e>
                        <m:sub>
                          <m:r>
                            <m:t>j</m:t>
                          </m:r>
                        </m:sub>
                      </m:sSub>
                      <m:r>
                        <m:t>)</m:t>
                      </m:r>
                    </m:num>
                    <m:den>
                      <m:nary>
                        <m:naryPr>
                          <m:chr m:val="∑"/>
                        </m:naryPr>
                        <m:sub>
                          <m:r>
                            <m:t>k=1</m:t>
                          </m:r>
                        </m:sub>
                        <m:sup>
                          <m:r>
                            <m:t>2m</m:t>
                          </m:r>
                        </m:sup>
                        <m:e>
                          <m:r>
                            <m:t>Var(</m:t>
                          </m:r>
                          <m:sSub>
                            <m:e>
                              <m:r>
                                <m:t>Z</m:t>
                              </m:r>
                            </m:e>
                            <m:sub>
                              <m:r>
                                <m:t>k</m:t>
                              </m:r>
                            </m:sub>
                          </m:sSub>
                          <m:r>
                            <m:t>)</m:t>
                          </m:r>
                        </m:e>
                      </m:nary>
                    </m:den>
                  </m:f>
                  <m:r>
                    <m:t>)</m:t>
                  </m:r>
                </m:oMath>
              </m:oMathPara>
            </a14:m>
            <a:endParaRPr sz="2600" lang="en-GB">
              <a:solidFill>
                <a:srgbClr val="14233B"/>
              </a:solidFill>
            </a:endParaRPr>
          </a:p>
        </p:txBody>
      </p:sp>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31" name="Rectangle 30"/>
          <p:cNvSpPr/>
          <p:nvPr/>
        </p:nvSpPr>
        <p:spPr>
          <a:xfrm>
            <a:off x="1033271" y="7333488"/>
            <a:ext cx="5760720" cy="60350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EDITABLE POWERPOINT EQUATION | PCA projection and first component"/>
          <p:cNvSpPr txBox="1"/>
          <p:nvPr/>
        </p:nvSpPr>
        <p:spPr>
          <a:xfrm>
            <a:off x="1033271" y="7333488"/>
            <a:ext cx="5760720" cy="603504"/>
          </a:xfrm>
          <a:prstGeom prst="rect">
            <a:avLst/>
          </a:prstGeom>
          <a:solidFill>
            <a:srgbClr val="DDEBF3"/>
          </a:solidFill>
        </p:spPr>
        <p:txBody>
          <a:bodyPr wrap="none" lIns="0" rIns="0" tIns="0" bIns="0" anchor="ctr">
            <a:spAutoFit/>
          </a:bodyPr>
          <a:lstStyle/>
          <a:p>
            <a:pPr algn="ctr"/>
            <a14:m xmlns:a14="http://schemas.microsoft.com/office/drawing/2010/main" xmlns:m="http://schemas.openxmlformats.org/officeDocument/2006/math">
              <m:oMathPara>
                <m:oMath>
                  <m:sSub>
                    <m:e>
                      <m:r>
                        <m:t>s</m:t>
                      </m:r>
                    </m:e>
                    <m:sub>
                      <m:r>
                        <m:t>i</m:t>
                      </m:r>
                    </m:sub>
                  </m:sSub>
                  <m:r>
                    <m:t> = </m:t>
                  </m:r>
                  <m:sSup>
                    <m:e>
                      <m:r>
                        <m:t>P</m:t>
                      </m:r>
                    </m:e>
                    <m:sup>
                      <m:r>
                        <m:t>T</m:t>
                      </m:r>
                    </m:sup>
                  </m:sSup>
                  <m:r>
                    <m:t>(</m:t>
                  </m:r>
                  <m:sSub>
                    <m:e>
                      <m:r>
                        <m:t>f</m:t>
                      </m:r>
                    </m:e>
                    <m:sub>
                      <m:r>
                        <m:t>i</m:t>
                      </m:r>
                    </m:sub>
                  </m:sSub>
                  <m:r>
                    <m:t> − </m:t>
                  </m:r>
                  <m:sSub>
                    <m:e>
                      <m:r>
                        <m:t>μ</m:t>
                      </m:r>
                    </m:e>
                    <m:sub>
                      <m:r>
                        <m:t>cal</m:t>
                      </m:r>
                    </m:sub>
                  </m:sSub>
                  <m:r>
                    <m:t>),     </m:t>
                  </m:r>
                  <m:sSub>
                    <m:e>
                      <m:r>
                        <m:t>X</m:t>
                      </m:r>
                    </m:e>
                    <m:sub>
                      <m:r>
                        <m:t>i</m:t>
                      </m:r>
                    </m:sub>
                  </m:sSub>
                  <m:r>
                    <m:t> = </m:t>
                  </m:r>
                  <m:sSub>
                    <m:e>
                      <m:r>
                        <m:t>s</m:t>
                      </m:r>
                    </m:e>
                    <m:sub>
                      <m:r>
                        <m:t>i,1</m:t>
                      </m:r>
                    </m:sub>
                  </m:sSub>
                </m:oMath>
              </m:oMathPara>
            </a14:m>
            <a:endParaRPr sz="1800" lang="en-GB">
              <a:solidFill>
                <a:srgbClr val="14233B"/>
              </a:solidFill>
            </a:endParaRPr>
          </a:p>
        </p:txBody>
      </p:sp>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sp>
        <p:nvSpPr>
          <p:cNvPr id="22" name="EDITABLE POWERPOINT EQUATION | Representation and adaptation"/>
          <p:cNvSpPr txBox="1"/>
          <p:nvPr/>
        </p:nvSpPr>
        <p:spPr>
          <a:xfrm>
            <a:off x="1097280" y="2798064"/>
            <a:ext cx="16111728" cy="1344168"/>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sSub>
                    <m:e>
                      <m:r>
                        <m:t>f</m:t>
                      </m:r>
                    </m:e>
                    <m:sub>
                      <m:r>
                        <m:t>t</m:t>
                      </m:r>
                    </m:sub>
                  </m:sSub>
                  <m:r>
                    <m:t> = </m:t>
                  </m:r>
                  <m:sSub>
                    <m:e>
                      <m:r>
                        <m:t>ϕ</m:t>
                      </m:r>
                    </m:e>
                    <m:sub>
                      <m:r>
                        <m:t>0</m:t>
                      </m:r>
                    </m:sub>
                  </m:sSub>
                  <m:r>
                    <m:t>(</m:t>
                  </m:r>
                  <m:sSub>
                    <m:e>
                      <m:r>
                        <m:t>E</m:t>
                      </m:r>
                    </m:e>
                    <m:sub>
                      <m:r>
                        <m:t>t</m:t>
                      </m:r>
                    </m:sub>
                  </m:sSub>
                  <m:r>
                    <m:t>),    </m:t>
                  </m:r>
                  <m:sSub>
                    <m:e>
                      <m:r>
                        <m:t>q</m:t>
                      </m:r>
                    </m:e>
                    <m:sub>
                      <m:r>
                        <m:t>t</m:t>
                      </m:r>
                    </m:sub>
                  </m:sSub>
                  <m:r>
                    <m:t> = </m:t>
                  </m:r>
                  <m:sSup>
                    <m:e>
                      <m:sSub>
                        <m:e>
                          <m:r>
                            <m:t>P</m:t>
                          </m:r>
                        </m:e>
                        <m:sub>
                          <m:r>
                            <m:t>0</m:t>
                          </m:r>
                        </m:sub>
                      </m:sSub>
                    </m:e>
                    <m:sup>
                      <m:r>
                        <m:t>T</m:t>
                      </m:r>
                    </m:sup>
                  </m:sSup>
                  <m:r>
                    <m:t>(</m:t>
                  </m:r>
                  <m:sSub>
                    <m:e>
                      <m:r>
                        <m:t>f</m:t>
                      </m:r>
                    </m:e>
                    <m:sub>
                      <m:r>
                        <m:t>t</m:t>
                      </m:r>
                    </m:sub>
                  </m:sSub>
                  <m:r>
                    <m:t> − </m:t>
                  </m:r>
                  <m:sSub>
                    <m:e>
                      <m:r>
                        <m:t>u</m:t>
                      </m:r>
                    </m:e>
                    <m:sub>
                      <m:r>
                        <m:t>0</m:t>
                      </m:r>
                    </m:sub>
                  </m:sSub>
                  <m:r>
                    <m:t>),    </m:t>
                  </m:r>
                  <m:sSub>
                    <m:e>
                      <m:r>
                        <m:t>ŷ</m:t>
                      </m:r>
                    </m:e>
                    <m:sub>
                      <m:r>
                        <m:t>t</m:t>
                      </m:r>
                    </m:sub>
                  </m:sSub>
                  <m:r>
                    <m:t> = </m:t>
                  </m:r>
                  <m:sSub>
                    <m:e>
                      <m:r>
                        <m:t>g</m:t>
                      </m:r>
                    </m:e>
                    <m:sub>
                      <m:sSub>
                        <m:e>
                          <m:r>
                            <m:t>θ</m:t>
                          </m:r>
                        </m:e>
                        <m:sub>
                          <m:r>
                            <m:t>t</m:t>
                          </m:r>
                        </m:sub>
                      </m:sSub>
                    </m:sub>
                  </m:sSub>
                  <m:r>
                    <m:t>(</m:t>
                  </m:r>
                  <m:sSub>
                    <m:e>
                      <m:r>
                        <m:t>f</m:t>
                      </m:r>
                    </m:e>
                    <m:sub>
                      <m:r>
                        <m:t>t</m:t>
                      </m:r>
                    </m:sub>
                  </m:sSub>
                  <m:r>
                    <m:t>)</m:t>
                  </m:r>
                </m:oMath>
              </m:oMathPara>
            </a14:m>
            <a:endParaRPr sz="2300" lang="en-GB">
              <a:solidFill>
                <a:srgbClr val="14233B"/>
              </a:solidFill>
            </a:endParaRPr>
          </a:p>
        </p:txBody>
      </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36" name="Rectangle 35"/>
          <p:cNvSpPr/>
          <p:nvPr/>
        </p:nvSpPr>
        <p:spPr>
          <a:xfrm>
            <a:off x="1033271" y="3749039"/>
            <a:ext cx="7406640" cy="49377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DITABLE POWERPOINT EQUATION | EWMA statistic and innovation"/>
          <p:cNvSpPr txBox="1"/>
          <p:nvPr/>
        </p:nvSpPr>
        <p:spPr>
          <a:xfrm>
            <a:off x="1033271" y="3749039"/>
            <a:ext cx="7406640" cy="493776"/>
          </a:xfrm>
          <a:prstGeom prst="rect">
            <a:avLst/>
          </a:prstGeom>
          <a:solidFill>
            <a:srgbClr val="DDEBF3"/>
          </a:solidFill>
        </p:spPr>
        <p:txBody>
          <a:bodyPr wrap="none" lIns="0" rIns="0" tIns="0" bIns="0" anchor="ctr">
            <a:spAutoFit/>
          </a:bodyPr>
          <a:lstStyle/>
          <a:p>
            <a:pPr algn="ctr"/>
            <a14:m xmlns:a14="http://schemas.microsoft.com/office/drawing/2010/main" xmlns:m="http://schemas.openxmlformats.org/officeDocument/2006/math">
              <m:oMathPara>
                <m:oMath>
                  <m:sSub>
                    <m:e>
                      <m:r>
                        <m:t>z</m:t>
                      </m:r>
                    </m:e>
                    <m:sub>
                      <m:r>
                        <m:t>i</m:t>
                      </m:r>
                    </m:sub>
                  </m:sSub>
                  <m:r>
                    <m:t> = λ</m:t>
                  </m:r>
                  <m:sSub>
                    <m:e>
                      <m:r>
                        <m:t>x</m:t>
                      </m:r>
                    </m:e>
                    <m:sub>
                      <m:r>
                        <m:t>i</m:t>
                      </m:r>
                    </m:sub>
                  </m:sSub>
                  <m:r>
                    <m:t> + (1−λ)</m:t>
                  </m:r>
                  <m:sSub>
                    <m:e>
                      <m:r>
                        <m:t>z</m:t>
                      </m:r>
                    </m:e>
                    <m:sub>
                      <m:r>
                        <m:t>i−1</m:t>
                      </m:r>
                    </m:sub>
                  </m:sSub>
                  <m:r>
                    <m:t>,    </m:t>
                  </m:r>
                  <m:sSub>
                    <m:e>
                      <m:r>
                        <m:t>e</m:t>
                      </m:r>
                    </m:e>
                    <m:sub>
                      <m:r>
                        <m:t>i</m:t>
                      </m:r>
                    </m:sub>
                  </m:sSub>
                  <m:r>
                    <m:t> = </m:t>
                  </m:r>
                  <m:sSub>
                    <m:e>
                      <m:r>
                        <m:t>x</m:t>
                      </m:r>
                    </m:e>
                    <m:sub>
                      <m:r>
                        <m:t>i</m:t>
                      </m:r>
                    </m:sub>
                  </m:sSub>
                  <m:r>
                    <m:t> − </m:t>
                  </m:r>
                  <m:sSub>
                    <m:e>
                      <m:r>
                        <m:t>z</m:t>
                      </m:r>
                    </m:e>
                    <m:sub>
                      <m:r>
                        <m:t>i−1</m:t>
                      </m:r>
                    </m:sub>
                  </m:sSub>
                </m:oMath>
              </m:oMathPara>
            </a14:m>
            <a:endParaRPr sz="1800" lang="en-GB">
              <a:solidFill>
                <a:srgbClr val="14233B"/>
              </a:solidFill>
            </a:endParaRPr>
          </a:p>
        </p:txBody>
      </p:sp>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37" name="Rectangle 36"/>
          <p:cNvSpPr/>
          <p:nvPr/>
        </p:nvSpPr>
        <p:spPr>
          <a:xfrm>
            <a:off x="1033271" y="5193792"/>
            <a:ext cx="8641080" cy="484632"/>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DITABLE POWERPOINT EQUATION | EWMA upper and lower control limits"/>
          <p:cNvSpPr txBox="1"/>
          <p:nvPr/>
        </p:nvSpPr>
        <p:spPr>
          <a:xfrm>
            <a:off x="1033271" y="5193792"/>
            <a:ext cx="8641080" cy="484632"/>
          </a:xfrm>
          <a:prstGeom prst="rect">
            <a:avLst/>
          </a:prstGeom>
          <a:solidFill>
            <a:srgbClr val="DDEBF3"/>
          </a:solidFill>
        </p:spPr>
        <p:txBody>
          <a:bodyPr wrap="none" lIns="0" rIns="0" tIns="0" bIns="0" anchor="ctr">
            <a:spAutoFit/>
          </a:bodyPr>
          <a:lstStyle/>
          <a:p>
            <a:pPr algn="ctr"/>
            <a14:m xmlns:a14="http://schemas.microsoft.com/office/drawing/2010/main" xmlns:m="http://schemas.openxmlformats.org/officeDocument/2006/math">
              <m:oMathPara>
                <m:oMath>
                  <m:sSub>
                    <m:e>
                      <m:r>
                        <m:t>UCL</m:t>
                      </m:r>
                    </m:e>
                    <m:sub>
                      <m:r>
                        <m:t>i</m:t>
                      </m:r>
                    </m:sub>
                  </m:sSub>
                  <m:r>
                    <m:t> = </m:t>
                  </m:r>
                  <m:sSub>
                    <m:e>
                      <m:r>
                        <m:t>z</m:t>
                      </m:r>
                    </m:e>
                    <m:sub>
                      <m:r>
                        <m:t>i−1</m:t>
                      </m:r>
                    </m:sub>
                  </m:sSub>
                  <m:r>
                    <m:t> + L</m:t>
                  </m:r>
                  <m:sSub>
                    <m:e>
                      <m:r>
                        <m:t>σ</m:t>
                      </m:r>
                    </m:e>
                    <m:sub>
                      <m:r>
                        <m:t>e,i−1</m:t>
                      </m:r>
                    </m:sub>
                  </m:sSub>
                  <m:r>
                    <m:t>,    </m:t>
                  </m:r>
                  <m:sSub>
                    <m:e>
                      <m:r>
                        <m:t>LCL</m:t>
                      </m:r>
                    </m:e>
                    <m:sub>
                      <m:r>
                        <m:t>i</m:t>
                      </m:r>
                    </m:sub>
                  </m:sSub>
                  <m:r>
                    <m:t> = </m:t>
                  </m:r>
                  <m:sSub>
                    <m:e>
                      <m:r>
                        <m:t>z</m:t>
                      </m:r>
                    </m:e>
                    <m:sub>
                      <m:r>
                        <m:t>i−1</m:t>
                      </m:r>
                    </m:sub>
                  </m:sSub>
                  <m:r>
                    <m:t> − L</m:t>
                  </m:r>
                  <m:sSub>
                    <m:e>
                      <m:r>
                        <m:t>σ</m:t>
                      </m:r>
                    </m:e>
                    <m:sub>
                      <m:r>
                        <m:t>e,i−1</m:t>
                      </m:r>
                    </m:sub>
                  </m:sSub>
                </m:oMath>
              </m:oMathPara>
            </a14:m>
            <a:endParaRPr sz="1800" lang="en-GB">
              <a:solidFill>
                <a:srgbClr val="14233B"/>
              </a:solidFill>
            </a:endParaRPr>
          </a:p>
        </p:txBody>
      </p:sp>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38" name="Rectangle 37"/>
          <p:cNvSpPr/>
          <p:nvPr/>
        </p:nvSpPr>
        <p:spPr>
          <a:xfrm>
            <a:off x="1033271" y="6556248"/>
            <a:ext cx="5513832" cy="640080"/>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EDITABLE POWERPOINT EQUATION | Variance EWMA recurrence"/>
          <p:cNvSpPr txBox="1"/>
          <p:nvPr/>
        </p:nvSpPr>
        <p:spPr>
          <a:xfrm>
            <a:off x="1033271" y="6556248"/>
            <a:ext cx="5513832" cy="640080"/>
          </a:xfrm>
          <a:prstGeom prst="rect">
            <a:avLst/>
          </a:prstGeom>
          <a:solidFill>
            <a:srgbClr val="DDEBF3"/>
          </a:solidFill>
        </p:spPr>
        <p:txBody>
          <a:bodyPr wrap="none" lIns="0" rIns="0" tIns="0" bIns="0" anchor="ctr">
            <a:spAutoFit/>
          </a:bodyPr>
          <a:lstStyle/>
          <a:p>
            <a:pPr algn="ctr"/>
            <a14:m xmlns:a14="http://schemas.microsoft.com/office/drawing/2010/main" xmlns:m="http://schemas.openxmlformats.org/officeDocument/2006/math">
              <m:oMathPara>
                <m:oMath>
                  <m:sSubSup>
                    <m:e>
                      <m:r>
                        <m:t>σ</m:t>
                      </m:r>
                    </m:e>
                    <m:sub>
                      <m:r>
                        <m:t>e,i</m:t>
                      </m:r>
                    </m:sub>
                    <m:sup>
                      <m:r>
                        <m:t>2</m:t>
                      </m:r>
                    </m:sup>
                  </m:sSubSup>
                  <m:r>
                    <m:t> = </m:t>
                  </m:r>
                  <m:sSub>
                    <m:e>
                      <m:r>
                        <m:t>α</m:t>
                      </m:r>
                    </m:e>
                    <m:sub>
                      <m:r>
                        <m:t>v</m:t>
                      </m:r>
                    </m:sub>
                  </m:sSub>
                  <m:sSup>
                    <m:e>
                      <m:sSub>
                        <m:e>
                          <m:r>
                            <m:t>e</m:t>
                          </m:r>
                        </m:e>
                        <m:sub>
                          <m:r>
                            <m:t>i</m:t>
                          </m:r>
                        </m:sub>
                      </m:sSub>
                    </m:e>
                    <m:sup>
                      <m:r>
                        <m:t>2</m:t>
                      </m:r>
                    </m:sup>
                  </m:sSup>
                  <m:r>
                    <m:t> + (1−</m:t>
                  </m:r>
                  <m:sSub>
                    <m:e>
                      <m:r>
                        <m:t>α</m:t>
                      </m:r>
                    </m:e>
                    <m:sub>
                      <m:r>
                        <m:t>v</m:t>
                      </m:r>
                    </m:sub>
                  </m:sSub>
                  <m:r>
                    <m:t>)</m:t>
                  </m:r>
                  <m:sSubSup>
                    <m:e>
                      <m:r>
                        <m:t>σ</m:t>
                      </m:r>
                    </m:e>
                    <m:sub>
                      <m:r>
                        <m:t>e,i−1</m:t>
                      </m:r>
                    </m:sub>
                    <m:sup>
                      <m:r>
                        <m:t>2</m:t>
                      </m:r>
                    </m:sup>
                  </m:sSubSup>
                </m:oMath>
              </m:oMathPara>
            </a14:m>
            <a:endParaRPr sz="1800" lang="en-GB">
              <a:solidFill>
                <a:srgbClr val="14233B"/>
              </a:solidFill>
            </a:endParaRPr>
          </a:p>
        </p:txBody>
      </p:sp>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39" name="Rectangle 38"/>
          <p:cNvSpPr/>
          <p:nvPr/>
        </p:nvSpPr>
        <p:spPr>
          <a:xfrm>
            <a:off x="10085832" y="3977639"/>
            <a:ext cx="6620256" cy="676656"/>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EDITABLE POWERPOINT EQUATION | Two-sample Hotelling T squared"/>
          <p:cNvSpPr txBox="1"/>
          <p:nvPr/>
        </p:nvSpPr>
        <p:spPr>
          <a:xfrm>
            <a:off x="10085832" y="3977639"/>
            <a:ext cx="6620256" cy="676656"/>
          </a:xfrm>
          <a:prstGeom prst="rect">
            <a:avLst/>
          </a:prstGeom>
          <a:solidFill>
            <a:srgbClr val="DDEBF3"/>
          </a:solidFill>
        </p:spPr>
        <p:txBody>
          <a:bodyPr wrap="none" lIns="0" rIns="0" tIns="0" bIns="0" anchor="ctr">
            <a:spAutoFit/>
          </a:bodyPr>
          <a:lstStyle/>
          <a:p>
            <a:pPr algn="ctr"/>
            <a14:m xmlns:a14="http://schemas.microsoft.com/office/drawing/2010/main" xmlns:m="http://schemas.openxmlformats.org/officeDocument/2006/math">
              <m:oMathPara>
                <m:oMath>
                  <m:sSup>
                    <m:e>
                      <m:r>
                        <m:t>T</m:t>
                      </m:r>
                    </m:e>
                    <m:sup>
                      <m:r>
                        <m:t>2</m:t>
                      </m:r>
                    </m:sup>
                  </m:sSup>
                  <m:r>
                    <m:t> = </m:t>
                  </m:r>
                  <m:f>
                    <m:num>
                      <m:sSub>
                        <m:e>
                          <m:r>
                            <m:t>n</m:t>
                          </m:r>
                        </m:e>
                        <m:sub>
                          <m:r>
                            <m:t>1</m:t>
                          </m:r>
                        </m:sub>
                      </m:sSub>
                      <m:sSub>
                        <m:e>
                          <m:r>
                            <m:t>n</m:t>
                          </m:r>
                        </m:e>
                        <m:sub>
                          <m:r>
                            <m:t>2</m:t>
                          </m:r>
                        </m:sub>
                      </m:sSub>
                    </m:num>
                    <m:den>
                      <m:sSub>
                        <m:e>
                          <m:r>
                            <m:t>n</m:t>
                          </m:r>
                        </m:e>
                        <m:sub>
                          <m:r>
                            <m:t>1</m:t>
                          </m:r>
                        </m:sub>
                      </m:sSub>
                      <m:r>
                        <m:t>+</m:t>
                      </m:r>
                      <m:sSub>
                        <m:e>
                          <m:r>
                            <m:t>n</m:t>
                          </m:r>
                        </m:e>
                        <m:sub>
                          <m:r>
                            <m:t>2</m:t>
                          </m:r>
                        </m:sub>
                      </m:sSub>
                    </m:den>
                  </m:f>
                  <m:r>
                    <m:t>(</m:t>
                  </m:r>
                  <m:acc>
                    <m:accPr>
                      <m:chr m:val="̄"/>
                    </m:accPr>
                    <m:e>
                      <m:sSub>
                        <m:e>
                          <m:r>
                            <m:t>x</m:t>
                          </m:r>
                        </m:e>
                        <m:sub>
                          <m:r>
                            <m:t>1</m:t>
                          </m:r>
                        </m:sub>
                      </m:sSub>
                    </m:e>
                  </m:acc>
                  <m:r>
                    <m:t> − </m:t>
                  </m:r>
                  <m:acc>
                    <m:accPr>
                      <m:chr m:val="̄"/>
                    </m:accPr>
                    <m:e>
                      <m:sSub>
                        <m:e>
                          <m:r>
                            <m:t>x</m:t>
                          </m:r>
                        </m:e>
                        <m:sub>
                          <m:r>
                            <m:t>2</m:t>
                          </m:r>
                        </m:sub>
                      </m:sSub>
                    </m:e>
                  </m:acc>
                  <m:sSup>
                    <m:e>
                      <m:r>
                        <m:t>)</m:t>
                      </m:r>
                    </m:e>
                    <m:sup>
                      <m:r>
                        <m:t>T</m:t>
                      </m:r>
                    </m:sup>
                  </m:sSup>
                  <m:sSup>
                    <m:e>
                      <m:sSub>
                        <m:e>
                          <m:r>
                            <m:t>S</m:t>
                          </m:r>
                        </m:e>
                        <m:sub>
                          <m:r>
                            <m:t>p</m:t>
                          </m:r>
                        </m:sub>
                      </m:sSub>
                    </m:e>
                    <m:sup>
                      <m:r>
                        <m:t>−1</m:t>
                      </m:r>
                    </m:sup>
                  </m:sSup>
                  <m:r>
                    <m:t>(</m:t>
                  </m:r>
                  <m:acc>
                    <m:accPr>
                      <m:chr m:val="̄"/>
                    </m:accPr>
                    <m:e>
                      <m:sSub>
                        <m:e>
                          <m:r>
                            <m:t>x</m:t>
                          </m:r>
                        </m:e>
                        <m:sub>
                          <m:r>
                            <m:t>1</m:t>
                          </m:r>
                        </m:sub>
                      </m:sSub>
                    </m:e>
                  </m:acc>
                  <m:r>
                    <m:t> − </m:t>
                  </m:r>
                  <m:acc>
                    <m:accPr>
                      <m:chr m:val="̄"/>
                    </m:accPr>
                    <m:e>
                      <m:sSub>
                        <m:e>
                          <m:r>
                            <m:t>x</m:t>
                          </m:r>
                        </m:e>
                        <m:sub>
                          <m:r>
                            <m:t>2</m:t>
                          </m:r>
                        </m:sub>
                      </m:sSub>
                    </m:e>
                  </m:acc>
                  <m:r>
                    <m:t>)</m:t>
                  </m:r>
                </m:oMath>
              </m:oMathPara>
            </a14:m>
            <a:endParaRPr sz="2000" lang="en-GB">
              <a:solidFill>
                <a:srgbClr val="14233B"/>
              </a:solidFill>
            </a:endParaRPr>
          </a:p>
        </p:txBody>
      </p:sp>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40" name="Rectangle 39"/>
          <p:cNvSpPr/>
          <p:nvPr/>
        </p:nvSpPr>
        <p:spPr>
          <a:xfrm>
            <a:off x="10149840" y="5843016"/>
            <a:ext cx="5660136" cy="512064"/>
          </a:xfrm>
          <a:prstGeom prst="rect">
            <a:avLst/>
          </a:prstGeom>
          <a:solidFill>
            <a:srgbClr val="E1EE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DITABLE POWERPOINT EQUATION | Detection threshold and degrees of freedom"/>
          <p:cNvSpPr txBox="1"/>
          <p:nvPr/>
        </p:nvSpPr>
        <p:spPr>
          <a:xfrm>
            <a:off x="10149840" y="5843016"/>
            <a:ext cx="5660136" cy="512064"/>
          </a:xfrm>
          <a:prstGeom prst="rect">
            <a:avLst/>
          </a:prstGeom>
          <a:solidFill>
            <a:srgbClr val="DDEBF3"/>
          </a:solidFill>
        </p:spPr>
        <p:txBody>
          <a:bodyPr wrap="none" lIns="0" rIns="0" tIns="0" bIns="0" anchor="ctr">
            <a:spAutoFit/>
          </a:bodyPr>
          <a:lstStyle/>
          <a:p>
            <a:pPr algn="ctr"/>
            <a14:m xmlns:a14="http://schemas.microsoft.com/office/drawing/2010/main" xmlns:m="http://schemas.openxmlformats.org/officeDocument/2006/math">
              <m:oMathPara>
                <m:oMath>
                  <m:r>
                    <m:t>p &lt; </m:t>
                  </m:r>
                  <m:sSub>
                    <m:e>
                      <m:r>
                        <m:t>α</m:t>
                      </m:r>
                    </m:e>
                    <m:sub>
                      <m:r>
                        <m:t>test</m:t>
                      </m:r>
                    </m:sub>
                  </m:sSub>
                  <m:r>
                    <m:t>,     2H − d − 1 &gt; 0</m:t>
                  </m:r>
                </m:oMath>
              </m:oMathPara>
            </a14:m>
            <a:endParaRPr sz="1800" lang="en-GB">
              <a:solidFill>
                <a:srgbClr val="14233B"/>
              </a:solidFill>
            </a:endParaRPr>
          </a:p>
        </p:txBody>
      </p:sp>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sp>
        <p:nvSpPr>
          <p:cNvPr id="12" name="EDITABLE POWERPOINT EQUATION | One-sample online T squared"/>
          <p:cNvSpPr txBox="1"/>
          <p:nvPr/>
        </p:nvSpPr>
        <p:spPr>
          <a:xfrm>
            <a:off x="1234440" y="3502152"/>
            <a:ext cx="6364224" cy="886968"/>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sSubSup>
                    <m:e>
                      <m:r>
                        <m:t>T</m:t>
                      </m:r>
                    </m:e>
                    <m:sub>
                      <m:r>
                        <m:t>t</m:t>
                      </m:r>
                    </m:sub>
                    <m:sup>
                      <m:r>
                        <m:t>2</m:t>
                      </m:r>
                    </m:sup>
                  </m:sSubSup>
                  <m:r>
                    <m:t> = (</m:t>
                  </m:r>
                  <m:sSub>
                    <m:e>
                      <m:r>
                        <m:t>z</m:t>
                      </m:r>
                    </m:e>
                    <m:sub>
                      <m:r>
                        <m:t>t</m:t>
                      </m:r>
                    </m:sub>
                  </m:sSub>
                  <m:r>
                    <m:t> − </m:t>
                  </m:r>
                  <m:sSub>
                    <m:e>
                      <m:r>
                        <m:t>μ</m:t>
                      </m:r>
                    </m:e>
                    <m:sub>
                      <m:r>
                        <m:t>0</m:t>
                      </m:r>
                    </m:sub>
                  </m:sSub>
                  <m:sSup>
                    <m:e>
                      <m:r>
                        <m:t>)</m:t>
                      </m:r>
                    </m:e>
                    <m:sup>
                      <m:r>
                        <m:t>T</m:t>
                      </m:r>
                    </m:sup>
                  </m:sSup>
                  <m:sSup>
                    <m:e>
                      <m:sSub>
                        <m:e>
                          <m:r>
                            <m:t>Σ</m:t>
                          </m:r>
                        </m:e>
                        <m:sub>
                          <m:r>
                            <m:t>z,t</m:t>
                          </m:r>
                        </m:sub>
                      </m:sSub>
                    </m:e>
                    <m:sup>
                      <m:r>
                        <m:t>−1</m:t>
                      </m:r>
                    </m:sup>
                  </m:sSup>
                  <m:r>
                    <m:t>(</m:t>
                  </m:r>
                  <m:sSub>
                    <m:e>
                      <m:r>
                        <m:t>z</m:t>
                      </m:r>
                    </m:e>
                    <m:sub>
                      <m:r>
                        <m:t>t</m:t>
                      </m:r>
                    </m:sub>
                  </m:sSub>
                  <m:r>
                    <m:t> − </m:t>
                  </m:r>
                  <m:sSub>
                    <m:e>
                      <m:r>
                        <m:t>μ</m:t>
                      </m:r>
                    </m:e>
                    <m:sub>
                      <m:r>
                        <m:t>0</m:t>
                      </m:r>
                    </m:sub>
                  </m:sSub>
                  <m:r>
                    <m:t>)</m:t>
                  </m:r>
                </m:oMath>
              </m:oMathPara>
            </a14:m>
            <a:endParaRPr sz="2600" lang="en-GB">
              <a:solidFill>
                <a:srgbClr val="14233B"/>
              </a:solidFill>
            </a:endParaRPr>
          </a:p>
        </p:txBody>
      </p:sp>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sp>
        <p:nvSpPr>
          <p:cNvPr id="13" name="EDITABLE POWERPOINT EQUATION | Pooled two-sample Hotelling"/>
          <p:cNvSpPr txBox="1"/>
          <p:nvPr/>
        </p:nvSpPr>
        <p:spPr>
          <a:xfrm>
            <a:off x="1234440" y="6035040"/>
            <a:ext cx="7872983" cy="960120"/>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sSup>
                    <m:e>
                      <m:r>
                        <m:t>T</m:t>
                      </m:r>
                    </m:e>
                    <m:sup>
                      <m:r>
                        <m:t>2</m:t>
                      </m:r>
                    </m:sup>
                  </m:sSup>
                  <m:r>
                    <m:t> = </m:t>
                  </m:r>
                  <m:f>
                    <m:num>
                      <m:sSub>
                        <m:e>
                          <m:r>
                            <m:t>n</m:t>
                          </m:r>
                        </m:e>
                        <m:sub>
                          <m:r>
                            <m:t>1</m:t>
                          </m:r>
                        </m:sub>
                      </m:sSub>
                      <m:sSub>
                        <m:e>
                          <m:r>
                            <m:t>n</m:t>
                          </m:r>
                        </m:e>
                        <m:sub>
                          <m:r>
                            <m:t>2</m:t>
                          </m:r>
                        </m:sub>
                      </m:sSub>
                    </m:num>
                    <m:den>
                      <m:sSub>
                        <m:e>
                          <m:r>
                            <m:t>n</m:t>
                          </m:r>
                        </m:e>
                        <m:sub>
                          <m:r>
                            <m:t>1</m:t>
                          </m:r>
                        </m:sub>
                      </m:sSub>
                      <m:r>
                        <m:t> + </m:t>
                      </m:r>
                      <m:sSub>
                        <m:e>
                          <m:r>
                            <m:t>n</m:t>
                          </m:r>
                        </m:e>
                        <m:sub>
                          <m:r>
                            <m:t>2</m:t>
                          </m:r>
                        </m:sub>
                      </m:sSub>
                    </m:den>
                  </m:f>
                  <m:r>
                    <m:t>(</m:t>
                  </m:r>
                  <m:acc>
                    <m:accPr>
                      <m:chr m:val="̄"/>
                    </m:accPr>
                    <m:e>
                      <m:sSub>
                        <m:e>
                          <m:r>
                            <m:t>x</m:t>
                          </m:r>
                        </m:e>
                        <m:sub>
                          <m:r>
                            <m:t>1</m:t>
                          </m:r>
                        </m:sub>
                      </m:sSub>
                    </m:e>
                  </m:acc>
                  <m:r>
                    <m:t> − </m:t>
                  </m:r>
                  <m:acc>
                    <m:accPr>
                      <m:chr m:val="̄"/>
                    </m:accPr>
                    <m:e>
                      <m:sSub>
                        <m:e>
                          <m:r>
                            <m:t>x</m:t>
                          </m:r>
                        </m:e>
                        <m:sub>
                          <m:r>
                            <m:t>2</m:t>
                          </m:r>
                        </m:sub>
                      </m:sSub>
                    </m:e>
                  </m:acc>
                  <m:sSup>
                    <m:e>
                      <m:r>
                        <m:t>)</m:t>
                      </m:r>
                    </m:e>
                    <m:sup>
                      <m:r>
                        <m:t>T</m:t>
                      </m:r>
                    </m:sup>
                  </m:sSup>
                  <m:sSup>
                    <m:e>
                      <m:sSub>
                        <m:e>
                          <m:r>
                            <m:t>S</m:t>
                          </m:r>
                        </m:e>
                        <m:sub>
                          <m:r>
                            <m:t>p</m:t>
                          </m:r>
                        </m:sub>
                      </m:sSub>
                    </m:e>
                    <m:sup>
                      <m:r>
                        <m:t>−1</m:t>
                      </m:r>
                    </m:sup>
                  </m:sSup>
                  <m:r>
                    <m:t>(</m:t>
                  </m:r>
                  <m:acc>
                    <m:accPr>
                      <m:chr m:val="̄"/>
                    </m:accPr>
                    <m:e>
                      <m:sSub>
                        <m:e>
                          <m:r>
                            <m:t>x</m:t>
                          </m:r>
                        </m:e>
                        <m:sub>
                          <m:r>
                            <m:t>1</m:t>
                          </m:r>
                        </m:sub>
                      </m:sSub>
                    </m:e>
                  </m:acc>
                  <m:r>
                    <m:t> − </m:t>
                  </m:r>
                  <m:acc>
                    <m:accPr>
                      <m:chr m:val="̄"/>
                    </m:accPr>
                    <m:e>
                      <m:sSub>
                        <m:e>
                          <m:r>
                            <m:t>x</m:t>
                          </m:r>
                        </m:e>
                        <m:sub>
                          <m:r>
                            <m:t>2</m:t>
                          </m:r>
                        </m:sub>
                      </m:sSub>
                    </m:e>
                  </m:acc>
                  <m:r>
                    <m:t>)</m:t>
                  </m:r>
                </m:oMath>
              </m:oMathPara>
            </a14:m>
            <a:endParaRPr sz="2800" lang="en-GB">
              <a:solidFill>
                <a:srgbClr val="14233B"/>
              </a:solidFill>
            </a:endParaRPr>
          </a:p>
        </p:txBody>
      </p:sp>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sp>
        <p:nvSpPr>
          <p:cNvPr id="10" name="EDITABLE POWERPOINT EQUATION | Unpooled covariance weighted mean difference"/>
          <p:cNvSpPr txBox="1"/>
          <p:nvPr/>
        </p:nvSpPr>
        <p:spPr>
          <a:xfrm>
            <a:off x="1234440" y="3429000"/>
            <a:ext cx="8257031" cy="1024128"/>
          </a:xfrm>
          <a:prstGeom prst="rect">
            <a:avLst/>
          </a:prstGeom>
          <a:noFill/>
        </p:spPr>
        <p:txBody>
          <a:bodyPr wrap="none" lIns="0" rIns="0" tIns="0" bIns="0" anchor="ctr">
            <a:spAutoFit/>
          </a:bodyPr>
          <a:lstStyle/>
          <a:p>
            <a:pPr algn="ctr"/>
            <a14:m xmlns:a14="http://schemas.microsoft.com/office/drawing/2010/main" xmlns:m="http://schemas.openxmlformats.org/officeDocument/2006/math">
              <m:oMathPara>
                <m:oMath>
                  <m:r>
                    <m:t>Q = (</m:t>
                  </m:r>
                  <m:acc>
                    <m:accPr>
                      <m:chr m:val="̄"/>
                    </m:accPr>
                    <m:e>
                      <m:sSub>
                        <m:e>
                          <m:r>
                            <m:t>x</m:t>
                          </m:r>
                        </m:e>
                        <m:sub>
                          <m:r>
                            <m:t>1</m:t>
                          </m:r>
                        </m:sub>
                      </m:sSub>
                    </m:e>
                  </m:acc>
                  <m:r>
                    <m:t> − </m:t>
                  </m:r>
                  <m:acc>
                    <m:accPr>
                      <m:chr m:val="̄"/>
                    </m:accPr>
                    <m:e>
                      <m:sSub>
                        <m:e>
                          <m:r>
                            <m:t>x</m:t>
                          </m:r>
                        </m:e>
                        <m:sub>
                          <m:r>
                            <m:t>2</m:t>
                          </m:r>
                        </m:sub>
                      </m:sSub>
                    </m:e>
                  </m:acc>
                  <m:sSup>
                    <m:e>
                      <m:r>
                        <m:t>)</m:t>
                      </m:r>
                    </m:e>
                    <m:sup>
                      <m:r>
                        <m:t>T</m:t>
                      </m:r>
                    </m:sup>
                  </m:sSup>
                  <m:sSup>
                    <m:e>
                      <m:r>
                        <m:t>(</m:t>
                      </m:r>
                      <m:f>
                        <m:num>
                          <m:sSub>
                            <m:e>
                              <m:r>
                                <m:t>S</m:t>
                              </m:r>
                            </m:e>
                            <m:sub>
                              <m:r>
                                <m:t>1</m:t>
                              </m:r>
                            </m:sub>
                          </m:sSub>
                        </m:num>
                        <m:den>
                          <m:sSub>
                            <m:e>
                              <m:r>
                                <m:t>n</m:t>
                              </m:r>
                            </m:e>
                            <m:sub>
                              <m:r>
                                <m:t>1</m:t>
                              </m:r>
                            </m:sub>
                          </m:sSub>
                        </m:den>
                      </m:f>
                      <m:r>
                        <m:t> + </m:t>
                      </m:r>
                      <m:f>
                        <m:num>
                          <m:sSub>
                            <m:e>
                              <m:r>
                                <m:t>S</m:t>
                              </m:r>
                            </m:e>
                            <m:sub>
                              <m:r>
                                <m:t>2</m:t>
                              </m:r>
                            </m:sub>
                          </m:sSub>
                        </m:num>
                        <m:den>
                          <m:sSub>
                            <m:e>
                              <m:r>
                                <m:t>n</m:t>
                              </m:r>
                            </m:e>
                            <m:sub>
                              <m:r>
                                <m:t>2</m:t>
                              </m:r>
                            </m:sub>
                          </m:sSub>
                        </m:den>
                      </m:f>
                      <m:r>
                        <m:t>)</m:t>
                      </m:r>
                    </m:e>
                    <m:sup>
                      <m:r>
                        <m:t>−1</m:t>
                      </m:r>
                    </m:sup>
                  </m:sSup>
                  <m:r>
                    <m:t>(</m:t>
                  </m:r>
                  <m:acc>
                    <m:accPr>
                      <m:chr m:val="̄"/>
                    </m:accPr>
                    <m:e>
                      <m:sSub>
                        <m:e>
                          <m:r>
                            <m:t>x</m:t>
                          </m:r>
                        </m:e>
                        <m:sub>
                          <m:r>
                            <m:t>1</m:t>
                          </m:r>
                        </m:sub>
                      </m:sSub>
                    </m:e>
                  </m:acc>
                  <m:r>
                    <m:t> − </m:t>
                  </m:r>
                  <m:acc>
                    <m:accPr>
                      <m:chr m:val="̄"/>
                    </m:accPr>
                    <m:e>
                      <m:sSub>
                        <m:e>
                          <m:r>
                            <m:t>x</m:t>
                          </m:r>
                        </m:e>
                        <m:sub>
                          <m:r>
                            <m:t>2</m:t>
                          </m:r>
                        </m:sub>
                      </m:sSub>
                    </m:e>
                  </m:acc>
                  <m:r>
                    <m:t>)</m:t>
                  </m:r>
                </m:oMath>
              </m:oMathPara>
            </a14:m>
            <a:endParaRPr sz="3000" lang="en-GB">
              <a:solidFill>
                <a:srgbClr val="14233B"/>
              </a:solidFill>
            </a:endParaRPr>
          </a:p>
        </p:txBody>
      </p:sp>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sp>
        <p:nvSpPr>
          <p:cNvPr id="22" name="EDITABLE POWERPOINT EQUATION | CUSUM auxiliary quantity"/>
          <p:cNvSpPr txBox="1"/>
          <p:nvPr/>
        </p:nvSpPr>
        <p:spPr>
          <a:xfrm>
            <a:off x="14785848" y="8732520"/>
            <a:ext cx="1216152" cy="365760"/>
          </a:xfrm>
          <a:prstGeom prst="rect">
            <a:avLst/>
          </a:prstGeom>
          <a:solidFill>
            <a:srgbClr val="D5F6F1"/>
          </a:solidFill>
        </p:spPr>
        <p:txBody>
          <a:bodyPr wrap="none" lIns="0" rIns="0" tIns="0" bIns="0" anchor="ctr">
            <a:spAutoFit/>
          </a:bodyPr>
          <a:lstStyle/>
          <a:p>
            <a:pPr algn="ctr"/>
            <a14:m xmlns:a14="http://schemas.microsoft.com/office/drawing/2010/main" xmlns:m="http://schemas.openxmlformats.org/officeDocument/2006/math">
              <m:oMathPara>
                <m:oMath>
                  <m:sSub>
                    <m:e>
                      <m:r>
                        <m:t>Q</m:t>
                      </m:r>
                    </m:e>
                    <m:sub>
                      <m:r>
                        <m:t>t</m:t>
                      </m:r>
                    </m:sub>
                  </m:sSub>
                  <m:r>
                    <m:t> = d</m:t>
                  </m:r>
                  <m:sSub>
                    <m:e>
                      <m:r>
                        <m:t>L</m:t>
                      </m:r>
                    </m:e>
                    <m:sub>
                      <m:r>
                        <m:t>t</m:t>
                      </m:r>
                    </m:sub>
                  </m:sSub>
                </m:oMath>
              </m:oMathPara>
            </a14:m>
            <a:endParaRPr sz="1800" lang="en-GB">
              <a:solidFill>
                <a:srgbClr val="075F57"/>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TotalTime>
  <Words>8820</Words>
  <Application>Microsoft Office PowerPoint</Application>
  <PresentationFormat>Custom</PresentationFormat>
  <Paragraphs>1043</Paragraphs>
  <Slides>44</Slides>
  <Notes>34</Notes>
  <HiddenSlides>0</HiddenSlides>
  <MMClips>0</MMClips>
  <ScaleCrop>false</ScaleCrop>
  <HeadingPairs>
    <vt:vector size="6" baseType="variant">
      <vt:variant>
        <vt:lpstr>Fonts Used</vt:lpstr>
      </vt:variant>
      <vt:variant>
        <vt:i4>17</vt:i4>
      </vt:variant>
      <vt:variant>
        <vt:lpstr>Theme</vt:lpstr>
      </vt:variant>
      <vt:variant>
        <vt:i4>1</vt:i4>
      </vt:variant>
      <vt:variant>
        <vt:lpstr>Slide Titles</vt:lpstr>
      </vt:variant>
      <vt:variant>
        <vt:i4>44</vt:i4>
      </vt:variant>
    </vt:vector>
  </HeadingPairs>
  <TitlesOfParts>
    <vt:vector size="62" baseType="lpstr">
      <vt:lpstr>Calibri (MS) Bold</vt:lpstr>
      <vt:lpstr>Calibri (MS)</vt:lpstr>
      <vt:lpstr>Roboto Bold</vt:lpstr>
      <vt:lpstr>Calibri (MS) Italics</vt:lpstr>
      <vt:lpstr>Calibri</vt:lpstr>
      <vt:lpstr>Inter Bold</vt:lpstr>
      <vt:lpstr>Inter Italics</vt:lpstr>
      <vt:lpstr>Consolas</vt:lpstr>
      <vt:lpstr>Arial</vt:lpstr>
      <vt:lpstr>Inter Semi-Bold</vt:lpstr>
      <vt:lpstr>DejaVu Sans Bold</vt:lpstr>
      <vt:lpstr>Aptos</vt:lpstr>
      <vt:lpstr>Inter Medium</vt:lpstr>
      <vt:lpstr>DejaVu Sans Light</vt:lpstr>
      <vt:lpstr>Aptos Bold</vt:lpstr>
      <vt:lpstr>Inter</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20</cp:revision>
  <dcterms:created xsi:type="dcterms:W3CDTF">2006-08-16T00:00:00Z</dcterms:created>
  <dcterms:modified xsi:type="dcterms:W3CDTF">2026-10-15T10:38:23Z</dcterms:modified>
  <dc:identifier>DAHYBaR-K0c</dc:identifier>
</cp:coreProperties>
</file>