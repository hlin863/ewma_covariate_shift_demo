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embeddedFont>
    <p:embeddedFont>
      <p:font typeface="Roboto Bold" panose="02000000000000000000" charset="0"/>
      <p:regular r:id="rId65"/>
      <p:bold r:id="rId6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486E0C-B03F-E6B6-D148-CBF2EF1C8897}" v="477" dt="2026-10-16T15:01:18.635"/>
    <p1510:client id="{D12FD3ED-16D1-43BC-838C-0295E8DA5E05}" v="6" dt="2026-10-17T12:08:40.7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1" d="100"/>
          <a:sy n="61" d="100"/>
        </p:scale>
        <p:origin x="3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5.fntdata"/><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custSel addSld delSld modSld">
      <pc:chgData name="Haocheng Lin" userId="3c9af17cd41df8cf" providerId="LiveId" clId="{E85DCD58-ED75-4D29-A2F4-F018EE94DF03}" dt="2026-10-17T12:12:32.434" v="54" actId="108"/>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7T12:12:32.434" v="54" actId="108"/>
        <pc:sldMkLst>
          <pc:docMk/>
          <pc:sldMk cId="0" sldId="261"/>
        </pc:sldMkLst>
        <pc:spChg chg="mod">
          <ac:chgData name="Haocheng Lin" userId="3c9af17cd41df8cf" providerId="LiveId" clId="{E85DCD58-ED75-4D29-A2F4-F018EE94DF03}" dt="2026-10-17T12:12:32.434" v="54" actId="108"/>
          <ac:spMkLst>
            <pc:docMk/>
            <pc:sldMk cId="0" sldId="261"/>
            <ac:spMk id="13"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16.10.2026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4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dirty="0">
                <a:solidFill>
                  <a:srgbClr val="12233B"/>
                </a:solidFill>
                <a:latin typeface="Aptos"/>
                <a:ea typeface="Aptos"/>
                <a:cs typeface="Aptos"/>
                <a:sym typeface="Aptos"/>
              </a:rPr>
              <a:t>Positive-mean input validation and </a:t>
            </a:r>
            <a:r>
              <a:rPr lang="en-US" sz="1800" dirty="0" err="1">
                <a:solidFill>
                  <a:srgbClr val="12233B"/>
                </a:solidFill>
                <a:latin typeface="Aptos"/>
                <a:ea typeface="Aptos"/>
                <a:cs typeface="Aptos"/>
                <a:sym typeface="Aptos"/>
              </a:rPr>
              <a:t>channelwise</a:t>
            </a:r>
            <a:r>
              <a:rPr lang="en-US" sz="1800" dirty="0">
                <a:solidFill>
                  <a:srgbClr val="12233B"/>
                </a:solidFill>
                <a:latin typeface="Aptos"/>
                <a:ea typeface="Aptos"/>
                <a:cs typeface="Aptos"/>
                <a:sym typeface="Aptos"/>
              </a:rPr>
              <a:t> normalised mean-CUSUM </a:t>
            </a:r>
          </a:p>
          <a:p>
            <a:pPr algn="l">
              <a:lnSpc>
                <a:spcPts val="2160"/>
              </a:lnSpc>
            </a:pPr>
            <a:r>
              <a:rPr lang="en-US" sz="1800" dirty="0">
                <a:solidFill>
                  <a:srgbClr val="12233B"/>
                </a:solidFill>
                <a:latin typeface="Aptos"/>
                <a:ea typeface="Aptos"/>
                <a:cs typeface="Aptos"/>
                <a:sym typeface="Aptos"/>
              </a:rPr>
              <a:t>Maximum and average aggregation across channels </a:t>
            </a:r>
          </a:p>
          <a:p>
            <a:pPr algn="l">
              <a:lnSpc>
                <a:spcPts val="2160"/>
              </a:lnSpc>
            </a:pPr>
            <a:r>
              <a:rPr lang="en-US" sz="1800" dirty="0">
                <a:solidFill>
                  <a:srgbClr val="12233B"/>
                </a:solidFill>
                <a:latin typeface="Aptos"/>
                <a:ea typeface="Aptos"/>
                <a:cs typeface="Aptos"/>
                <a:sym typeface="Aptos"/>
              </a:rPr>
              <a:t>Raw and LOESS-style smoothed peak estimates (span=0.1) </a:t>
            </a:r>
          </a:p>
          <a:p>
            <a:pPr algn="l">
              <a:lnSpc>
                <a:spcPts val="2160"/>
              </a:lnSpc>
            </a:pPr>
            <a:r>
              <a:rPr lang="en-US" sz="1800" dirty="0">
                <a:solidFill>
                  <a:srgbClr val="12233B"/>
                </a:solidFill>
                <a:latin typeface="Aptos"/>
                <a:ea typeface="Aptos"/>
                <a:cs typeface="Aptos"/>
                <a:sym typeface="Aptos"/>
              </a:rPr>
              <a:t>Peak-location agreement gaps and exploratory </a:t>
            </a:r>
            <a:r>
              <a:rPr lang="en-US" sz="1800" dirty="0" err="1">
                <a:solidFill>
                  <a:srgbClr val="12233B"/>
                </a:solidFill>
                <a:latin typeface="Aptos"/>
                <a:ea typeface="Aptos"/>
                <a:cs typeface="Aptos"/>
                <a:sym typeface="Aptos"/>
              </a:rPr>
              <a:t>visualisation</a:t>
            </a:r>
            <a:endParaRPr lang="en-US" sz="1800" dirty="0">
              <a:solidFill>
                <a:srgbClr val="12233B"/>
              </a:solidFill>
              <a:latin typeface="Aptos"/>
              <a:ea typeface="Aptos"/>
              <a:cs typeface="Aptos"/>
              <a:sym typeface="Aptos"/>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1711815"/>
          </a:xfrm>
          <a:prstGeom prst="rect">
            <a:avLst/>
          </a:prstGeom>
        </p:spPr>
        <p:txBody>
          <a:bodyPr lIns="0" tIns="0" rIns="0" bIns="0" rtlCol="0" anchor="t">
            <a:spAutoFit/>
          </a:bodyPr>
          <a:lstStyle/>
          <a:p>
            <a:pPr>
              <a:lnSpc>
                <a:spcPts val="2160"/>
              </a:lnSpc>
              <a:spcAft>
                <a:spcPts val="600"/>
              </a:spcAft>
            </a:pPr>
            <a:r>
              <a:rPr lang="en-US" dirty="0">
                <a:solidFill>
                  <a:srgbClr val="12233B"/>
                </a:solidFill>
                <a:latin typeface="Aptos"/>
                <a:sym typeface="Aptos"/>
              </a:rPr>
              <a:t>Park unimodality and peak-agreement confirmation.</a:t>
            </a:r>
          </a:p>
          <a:p>
            <a:pPr>
              <a:lnSpc>
                <a:spcPts val="2160"/>
              </a:lnSpc>
              <a:spcAft>
                <a:spcPts val="600"/>
              </a:spcAft>
            </a:pPr>
            <a:r>
              <a:rPr lang="en-US" dirty="0">
                <a:solidFill>
                  <a:srgbClr val="12233B"/>
                </a:solidFill>
                <a:latin typeface="Aptos"/>
                <a:sym typeface="Aptos"/>
              </a:rPr>
              <a:t>Multiple-change-point detection.</a:t>
            </a:r>
          </a:p>
          <a:p>
            <a:pPr>
              <a:lnSpc>
                <a:spcPts val="2160"/>
              </a:lnSpc>
              <a:spcAft>
                <a:spcPts val="600"/>
              </a:spcAft>
            </a:pPr>
            <a:r>
              <a:rPr lang="en-US" dirty="0">
                <a:solidFill>
                  <a:srgbClr val="12233B"/>
                </a:solidFill>
                <a:latin typeface="Aptos"/>
                <a:sym typeface="Aptos"/>
              </a:rPr>
              <a:t>Calibrated false-alarm control.</a:t>
            </a:r>
          </a:p>
          <a:p>
            <a:pPr>
              <a:lnSpc>
                <a:spcPts val="2160"/>
              </a:lnSpc>
              <a:spcAft>
                <a:spcPts val="600"/>
              </a:spcAft>
            </a:pPr>
            <a:r>
              <a:rPr lang="en-US" dirty="0">
                <a:solidFill>
                  <a:srgbClr val="12233B"/>
                </a:solidFill>
                <a:latin typeface="Aptos"/>
                <a:sym typeface="Aptos"/>
              </a:rPr>
              <a:t>Matched EEG feature-space comparisons.</a:t>
            </a:r>
          </a:p>
          <a:p>
            <a:pPr>
              <a:lnSpc>
                <a:spcPts val="2160"/>
              </a:lnSpc>
              <a:spcAft>
                <a:spcPts val="600"/>
              </a:spcAft>
            </a:pPr>
            <a:r>
              <a:rPr lang="en-US" dirty="0">
                <a:solidFill>
                  <a:srgbClr val="12233B"/>
                </a:solidFill>
                <a:latin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361966" y="6355442"/>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ar-AE" i="1" smtClean="0">
                              <a:latin typeface="Cambria Math" panose="02040503050406030204" pitchFamily="18" charset="0"/>
                            </a:rPr>
                          </m:ctrlPr>
                        </m:sSupPr>
                        <m:e>
                          <m:d>
                            <m:dPr>
                              <m:ctrlPr>
                                <a:rPr lang="ar-AE"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361966" y="6355442"/>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mc:AlternateContent xmlns:mc="http://schemas.openxmlformats.org/markup-compatibility/2006" xmlns:a14="http://schemas.microsoft.com/office/drawing/2010/main">
        <mc:Choice Requires="a14">
          <p:sp>
            <p:nvSpPr>
              <p:cNvPr id="6080" name="EDITABLE POWERPOINT EQUATION | Park 2023 pointwise aggregation | ROW 1"/>
              <p:cNvSpPr txBox="1"/>
              <p:nvPr/>
            </p:nvSpPr>
            <p:spPr>
              <a:xfrm>
                <a:off x="2103120" y="4297680"/>
                <a:ext cx="576072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 </m:t>
                      </m:r>
                      <m:r>
                        <a:rPr>
                          <a:latin typeface="Cambria Math" panose="02040503050406030204" pitchFamily="18" charset="0"/>
                        </a:rPr>
                        <m:t>𝑚𝑎𝑥</m:t>
                      </m:r>
                      <m:r>
                        <a:rPr>
                          <a:latin typeface="Cambria Math" panose="02040503050406030204" pitchFamily="18" charset="0"/>
                        </a:rPr>
                        <m:t>₍₁≤</m:t>
                      </m:r>
                      <m:r>
                        <a:rPr>
                          <a:latin typeface="Cambria Math" panose="02040503050406030204" pitchFamily="18" charset="0"/>
                        </a:rPr>
                        <m:t>𝑑</m:t>
                      </m:r>
                      <m:r>
                        <a:rPr>
                          <a:latin typeface="Cambria Math" panose="02040503050406030204" pitchFamily="18" charset="0"/>
                        </a:rPr>
                        <m:t>≤</m:t>
                      </m:r>
                      <m:r>
                        <a:rPr>
                          <a:latin typeface="Cambria Math" panose="02040503050406030204" pitchFamily="18" charset="0"/>
                        </a:rPr>
                        <m:t>𝑝</m:t>
                      </m:r>
                      <m:r>
                        <a:rPr>
                          <a:latin typeface="Cambria Math" panose="02040503050406030204" pitchFamily="18" charset="0"/>
                        </a:rPr>
                        <m:t>₎ </m:t>
                      </m:r>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xmlns="">
          <p:sp>
            <p:nvSpPr>
              <p:cNvPr id="6080" name="EDITABLE POWERPOINT EQUATION | Park 2023 pointwise aggregation | ROW 1"/>
              <p:cNvSpPr txBox="1">
                <a:spLocks noRot="1" noChangeAspect="1" noMove="1" noResize="1" noEditPoints="1" noAdjustHandles="1" noChangeArrowheads="1" noChangeShapeType="1" noTextEdit="1"/>
              </p:cNvSpPr>
              <p:nvPr/>
            </p:nvSpPr>
            <p:spPr>
              <a:xfrm>
                <a:off x="2103120" y="4297680"/>
                <a:ext cx="5760720" cy="69494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1" name="EDITABLE POWERPOINT EQUATION | Park 2023 pointwise aggregation | ROW 2"/>
              <p:cNvSpPr txBox="1"/>
              <p:nvPr/>
            </p:nvSpPr>
            <p:spPr>
              <a:xfrm>
                <a:off x="2103120" y="5577840"/>
                <a:ext cx="548640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∑ᵈ₌₁ᵖ </m:t>
                      </m:r>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xmlns="">
          <p:sp>
            <p:nvSpPr>
              <p:cNvPr id="6081" name="EDITABLE POWERPOINT EQUATION | Park 2023 pointwise aggregation | ROW 2"/>
              <p:cNvSpPr txBox="1">
                <a:spLocks noRot="1" noChangeAspect="1" noMove="1" noResize="1" noEditPoints="1" noAdjustHandles="1" noChangeArrowheads="1" noChangeShapeType="1" noTextEdit="1"/>
              </p:cNvSpPr>
              <p:nvPr/>
            </p:nvSpPr>
            <p:spPr>
              <a:xfrm>
                <a:off x="2103120" y="5577840"/>
                <a:ext cx="5486400" cy="694944"/>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2" name="EDITABLE POWERPOINT EQUATION | Code-grounded LOESS and peak estimates | ROW 3"/>
              <p:cNvSpPr txBox="1"/>
              <p:nvPr/>
            </p:nvSpPr>
            <p:spPr>
              <a:xfrm>
                <a:off x="10168128" y="5797296"/>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𝑏</m:t>
                      </m:r>
                      <m:r>
                        <a:rPr>
                          <a:latin typeface="Cambria Math" panose="02040503050406030204" pitchFamily="18" charset="0"/>
                        </a:rPr>
                        <m:t>ₘₐₓ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xmlns="">
          <p:sp>
            <p:nvSpPr>
              <p:cNvPr id="6082" name="EDITABLE POWERPOINT EQUATION | Code-grounded LOESS and peak estimates | ROW 3"/>
              <p:cNvSpPr txBox="1">
                <a:spLocks noRot="1" noChangeAspect="1" noMove="1" noResize="1" noEditPoints="1" noAdjustHandles="1" noChangeArrowheads="1" noChangeShapeType="1" noTextEdit="1"/>
              </p:cNvSpPr>
              <p:nvPr/>
            </p:nvSpPr>
            <p:spPr>
              <a:xfrm>
                <a:off x="10168128" y="5797296"/>
                <a:ext cx="5989320" cy="5120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083" name="EDITABLE POWERPOINT EQUATION | Code-grounded LOESS and peak estimates | ROW 4"/>
              <p:cNvSpPr txBox="1"/>
              <p:nvPr/>
            </p:nvSpPr>
            <p:spPr>
              <a:xfrm>
                <a:off x="10168128" y="6547104"/>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𝑏</m:t>
                      </m:r>
                      <m:r>
                        <a:rPr>
                          <a:latin typeface="Cambria Math" panose="02040503050406030204" pitchFamily="18" charset="0"/>
                        </a:rPr>
                        <m:t>ₐᵥ</m:t>
                      </m:r>
                      <m:r>
                        <a:rPr>
                          <a:latin typeface="Cambria Math" panose="02040503050406030204" pitchFamily="18" charset="0"/>
                        </a:rPr>
                        <m:t>𝑔</m:t>
                      </m:r>
                      <m:r>
                        <a:rPr>
                          <a:latin typeface="Cambria Math" panose="02040503050406030204" pitchFamily="18" charset="0"/>
                        </a:rPr>
                        <m:t>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6083" name="EDITABLE POWERPOINT EQUATION | Code-grounded LOESS and peak estimates | ROW 4"/>
              <p:cNvSpPr txBox="1">
                <a:spLocks noRot="1" noChangeAspect="1" noMove="1" noResize="1" noEditPoints="1" noAdjustHandles="1" noChangeArrowheads="1" noChangeShapeType="1" noTextEdit="1"/>
              </p:cNvSpPr>
              <p:nvPr/>
            </p:nvSpPr>
            <p:spPr>
              <a:xfrm>
                <a:off x="10168128" y="6547104"/>
                <a:ext cx="5989320" cy="512064"/>
              </a:xfrm>
              <a:prstGeom prst="rect">
                <a:avLst/>
              </a:prstGeom>
              <a:blipFill>
                <a:blip r:embed="rId7"/>
                <a:stretch>
                  <a:fillRect/>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1234440" y="3566160"/>
                <a:ext cx="7260336" cy="82296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1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0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m:t>
                      </m:r>
                    </m:oMath>
                  </m:oMathPara>
                </a14:m>
                <a:endParaRPr lang="en-GB" sz="240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1234440" y="3566160"/>
                <a:ext cx="7260336"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891</TotalTime>
  <Words>9254</Words>
  <Application>Microsoft Office PowerPoint</Application>
  <PresentationFormat>Custom</PresentationFormat>
  <Paragraphs>1088</Paragraphs>
  <Slides>44</Slides>
  <Notes>34</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44</vt:i4>
      </vt:variant>
    </vt:vector>
  </HeadingPairs>
  <TitlesOfParts>
    <vt:vector size="63" baseType="lpstr">
      <vt:lpstr>Inter Bold</vt:lpstr>
      <vt:lpstr>Aptos Bold</vt:lpstr>
      <vt:lpstr>Calibri (MS) Italics</vt:lpstr>
      <vt:lpstr>Cambria Math</vt:lpstr>
      <vt:lpstr>Inter Medium</vt:lpstr>
      <vt:lpstr>Roboto Bold</vt:lpstr>
      <vt:lpstr>Inter Italics</vt:lpstr>
      <vt:lpstr>Consolas</vt:lpstr>
      <vt:lpstr>Calibri (MS) Bold</vt:lpstr>
      <vt:lpstr>Roboto</vt:lpstr>
      <vt:lpstr>DejaVu Sans Bold</vt:lpstr>
      <vt:lpstr>Calibri (MS)</vt:lpstr>
      <vt:lpstr>Inter Semi-Bold</vt:lpstr>
      <vt:lpstr>DejaVu Sans Light</vt:lpstr>
      <vt:lpstr>Calibri</vt:lpstr>
      <vt:lpstr>Arial</vt:lpstr>
      <vt:lpstr>Inter</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2026-10-17T12:12:35Z</dcterms:modified>
  <dc:identifier>DAHYBaR-K0c</dc:identifier>
</cp:coreProperties>
</file>