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25"/>
  </p:notesMasterIdLst>
  <p:sldIdLst>
    <p:sldId id="256" r:id="rId3"/>
    <p:sldId id="2005" r:id="rId33"/>
    <p:sldId id="258" r:id="rId5"/>
    <p:sldId id="2008" r:id="rId36"/>
    <p:sldId id="2009" r:id="rId37"/>
    <p:sldId id="2010" r:id="rId38"/>
    <p:sldId id="1000" r:id="rId6"/>
    <p:sldId id="1001" r:id="rId7"/>
    <p:sldId id="1002" r:id="rId8"/>
    <p:sldId id="1003" r:id="rId9"/>
    <p:sldId id="1004" r:id="rId10"/>
    <p:sldId id="1005" r:id="rId11"/>
    <p:sldId id="2003" r:id="rId13"/>
    <p:sldId id="2006" r:id="rId34"/>
    <p:sldId id="266" r:id="rId14"/>
    <p:sldId id="259" r:id="rId12"/>
    <p:sldId id="260" r:id="rId15"/>
    <p:sldId id="265" r:id="rId19"/>
    <p:sldId id="2000" r:id="rId20"/>
    <p:sldId id="2007" r:id="rId35"/>
    <p:sldId id="2001" r:id="rId21"/>
    <p:sldId id="2011" r:id="rId39"/>
    <p:sldId id="2004" r:id="rId32"/>
    <p:sldId id="2002" r:id="rId22"/>
    <p:sldId id="261" r:id="rId16"/>
    <p:sldId id="267" r:id="rId17"/>
    <p:sldId id="262" r:id="rId18"/>
    <p:sldId id="257" r:id="rId4"/>
    <p:sldId id="263" r:id="rId23"/>
    <p:sldId id="264" r:id="rId24"/>
    <p:sldId id="2012" r:id="rId40"/>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835" autoAdjust="0"/>
  </p:normalViewPr>
  <p:slideViewPr>
    <p:cSldViewPr snapToGrid="0">
      <p:cViewPr varScale="1">
        <p:scale>
          <a:sx n="60" d="100"/>
          <a:sy n="60" d="100"/>
        </p:scale>
        <p:origin x="1530"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4.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3.xml"/><Relationship Id="rId13" Type="http://schemas.openxmlformats.org/officeDocument/2006/relationships/slide" Target="slides/slide10.xml"/><Relationship Id="rId14"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6/11/relationships/changesInfo" Target="changesInfos/changesInfo1.xml"/><Relationship Id="rId31" Type="http://schemas.microsoft.com/office/2015/10/relationships/revisionInfo" Target="revisionInfo.xml"/><Relationship Id="rId32" Type="http://schemas.openxmlformats.org/officeDocument/2006/relationships/slide" Target="slides/slide19.xml"/><Relationship Id="rId33" Type="http://schemas.openxmlformats.org/officeDocument/2006/relationships/slide" Target="slides/slide2.xml"/><Relationship Id="rId34" Type="http://schemas.openxmlformats.org/officeDocument/2006/relationships/slide" Target="slides/slide11.xml"/><Relationship Id="rId35" Type="http://schemas.openxmlformats.org/officeDocument/2006/relationships/slide" Target="slides/slide17.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7:49:26.227" v="827" actId="33524"/>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Research lineage</a:t>
            </a:r>
          </a:p>
          <a:p>
            <a:endParaRPr/>
          </a:p>
          <a:p>
            <a:r>
              <a:t>Suggested explanation (30–60 seconds):</a:t>
            </a:r>
          </a:p>
          <a:p>
            <a:r>
              <a:t>Raza motivates detector reconstruction. Chowdhury demonstrates online supervised BCI adaptation. The later CSE-UAEL work motivates transductive updates and ensembles. Rao and Heyden motivate the subspace question. Diethe provides a maintenance architecture.</a:t>
            </a:r>
          </a:p>
          <a:p>
            <a:endParaRPr/>
          </a:p>
          <a:p>
            <a:r>
              <a:t>Likely question and answer:</a:t>
            </a:r>
          </a:p>
          <a:p>
            <a:r>
              <a:t>Why Diethe 2019 when Notion says 2018? The supplied PDF identifies a 2018 workshop and arXiv v2 dated March 2019. State the version being cited consistently.</a:t>
            </a:r>
          </a:p>
          <a:p>
            <a:endParaRPr/>
          </a:p>
          <a:p>
            <a:r>
              <a:t>Evidence and cautions:</a:t>
            </a:r>
          </a:p>
          <a:p>
            <a:r>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Published accuracy</a:t>
            </a:r>
          </a:p>
          <a:p>
            <a:endParaRPr/>
          </a:p>
          <a:p>
            <a:r>
              <a:t>Suggested explanation (30–60 seconds):</a:t>
            </a:r>
          </a:p>
          <a:p>
            <a:r>
              <a:t>The reported healthy-group gain is 6.25 percentage points and stroke-group gain is 5.50 points. Both paired comparisons were significant. These are paper results, not my repository results.</a:t>
            </a:r>
          </a:p>
          <a:p>
            <a:endParaRPr/>
          </a:p>
          <a:p>
            <a:r>
              <a:t>Likely question and answer:</a:t>
            </a:r>
          </a:p>
          <a:p>
            <a:r>
              <a:t>Does this prove recovery? No. It demonstrates better decoding and online feasibility, without longitudinal motor-recovery outcomes.</a:t>
            </a:r>
          </a:p>
          <a:p>
            <a:endParaRPr/>
          </a:p>
          <a:p>
            <a:r>
              <a:t>Evidence and cautions:</a:t>
            </a:r>
          </a:p>
          <a:p>
            <a:r>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Paper-to-project bridge</a:t>
            </a:r>
          </a:p>
          <a:p>
            <a:endParaRPr/>
          </a:p>
          <a:p>
            <a:r>
              <a:t>Suggested explanation (30–60 seconds):</a:t>
            </a:r>
          </a:p>
          <a:p>
            <a:r>
              <a:t>The shared mechanism is warning, validation and selective adaptation. The paper uses two bands and four CSP features; the repository uses ten-band FBCSP for its Competition protocols. I preserve those distinctions when interpreting reproduction.</a:t>
            </a:r>
          </a:p>
          <a:p>
            <a:endParaRPr/>
          </a:p>
          <a:p>
            <a:r>
              <a:t>Likely question and answer:</a:t>
            </a:r>
          </a:p>
          <a:p>
            <a:r>
              <a:t>Why not copy every paper detail? Some temporal sample and update-batch choices are underspecified; alternatives should be named and tested.</a:t>
            </a:r>
          </a:p>
          <a:p>
            <a:endParaRPr/>
          </a:p>
          <a:p>
            <a:r>
              <a:t>Evidence and cautions:</a:t>
            </a:r>
          </a:p>
          <a:p>
            <a:r>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918342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6.png"/><Relationship Id="rId17" Type="http://schemas.openxmlformats.org/officeDocument/2006/relationships/image" Target="../media/image27.png"/><Relationship Id="rId18" Type="http://schemas.openxmlformats.org/officeDocument/2006/relationships/image" Target="../media/image28.png"/><Relationship Id="rId19" Type="http://schemas.openxmlformats.org/officeDocument/2006/relationships/image" Target="../media/image29.png"/><Relationship Id="rId20"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t>10</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t>01  Spatial filtering</a:t>
            </a:r>
          </a:p>
        </p:txBody>
      </p:sp>
      <p:pic>
        <p:nvPicPr>
          <p:cNvPr id="8" name="Picture 7" descr="image.png"/>
          <p:cNvPicPr>
            <a:picLocks noChangeAspect="1"/>
          </p:cNvPicPr>
          <p:nvPr/>
        </p:nvPicPr>
        <p:blipFill>
          <a:blip r:embed="rId9"/>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t>02  Log-variance features</a:t>
            </a:r>
          </a:p>
        </p:txBody>
      </p:sp>
      <p:pic>
        <p:nvPicPr>
          <p:cNvPr id="12" name="Picture 11" descr="image.png"/>
          <p:cNvPicPr>
            <a:picLocks noChangeAspect="1"/>
          </p:cNvPicPr>
          <p:nvPr/>
        </p:nvPicPr>
        <p:blipFill>
          <a:blip r:embed="rId10"/>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t>03  PCA and PC1 selection</a:t>
            </a:r>
          </a:p>
        </p:txBody>
      </p:sp>
      <p:pic>
        <p:nvPicPr>
          <p:cNvPr id="16" name="Picture 15" descr="image.png"/>
          <p:cNvPicPr>
            <a:picLocks noChangeAspect="1"/>
          </p:cNvPicPr>
          <p:nvPr/>
        </p:nvPicPr>
        <p:blipFill>
          <a:blip r:embed="rId11"/>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t>Chowdhury et al. (2018), §II.E.1 and §II.E.3, Eqs. (1), (2), (4), pp. 1073–1074.</a:t>
            </a:r>
          </a:p>
          <a:p>
            <a:pPr>
              <a:defRPr sz="1100" b="0">
                <a:solidFill>
                  <a:srgbClr val="9CB0C3"/>
                </a:solidFill>
                <a:latin typeface="DejaVu Sans"/>
              </a:defRPr>
            </a:pPr>
            <a:r>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pic>
        <p:nvPicPr>
          <p:cNvPr id="6" name="Picture 5" descr="ewma_representation_equation.png"/>
          <p:cNvPicPr>
            <a:picLocks noChangeAspect="1"/>
          </p:cNvPicPr>
          <p:nvPr/>
        </p:nvPicPr>
        <p:blipFill>
          <a:blip r:embed="rId2"/>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t>Fixed mapping means fixed fitted parameters — not constant features or scores over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t>State and one-step prediction error</a:t>
            </a:r>
          </a:p>
        </p:txBody>
      </p:sp>
      <p:pic>
        <p:nvPicPr>
          <p:cNvPr id="8" name="Picture 7" descr="image.png"/>
          <p:cNvPicPr>
            <a:picLocks noChangeAspect="1"/>
          </p:cNvPicPr>
          <p:nvPr/>
        </p:nvPicPr>
        <p:blipFill>
          <a:blip r:embed="rId16"/>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t>Control limits use the previous variance</a:t>
            </a:r>
          </a:p>
        </p:txBody>
      </p:sp>
      <p:pic>
        <p:nvPicPr>
          <p:cNvPr id="10" name="Picture 9" descr="image.png"/>
          <p:cNvPicPr>
            <a:picLocks noChangeAspect="1"/>
          </p:cNvPicPr>
          <p:nvPr/>
        </p:nvPicPr>
        <p:blipFill>
          <a:blip r:embed="rId17"/>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t>Smoothed error variance • Eq. (8)</a:t>
            </a:r>
          </a:p>
        </p:txBody>
      </p:sp>
      <p:pic>
        <p:nvPicPr>
          <p:cNvPr id="12" name="Picture 11" descr="image.png"/>
          <p:cNvPicPr>
            <a:picLocks noChangeAspect="1"/>
          </p:cNvPicPr>
          <p:nvPr/>
        </p:nvPicPr>
        <p:blipFill>
          <a:blip r:embed="rId18"/>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t>Check current limits first; update state and variance afterwards.</a:t>
            </a:r>
          </a:p>
          <a:p>
            <a:pPr>
              <a:defRPr sz="1400" b="0">
                <a:solidFill>
                  <a:srgbClr val="9CB0C3"/>
                </a:solidFill>
                <a:latin typeface="DejaVu Sans"/>
              </a:defRPr>
            </a:pPr>
            <a:r>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t>Repository pooled two-sample mode</a:t>
            </a:r>
          </a:p>
        </p:txBody>
      </p:sp>
      <p:pic>
        <p:nvPicPr>
          <p:cNvPr id="16" name="Picture 15" descr="image.png"/>
          <p:cNvPicPr>
            <a:picLocks noChangeAspect="1"/>
          </p:cNvPicPr>
          <p:nvPr/>
        </p:nvPicPr>
        <p:blipFill>
          <a:blip r:embed="rId19"/>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t>Decision and dimensionality condition</a:t>
            </a:r>
          </a:p>
        </p:txBody>
      </p:sp>
      <p:pic>
        <p:nvPicPr>
          <p:cNvPr id="18" name="Picture 17" descr="image.png"/>
          <p:cNvPicPr>
            <a:picLocks noChangeAspect="1"/>
          </p:cNvPicPr>
          <p:nvPr/>
        </p:nvPicPr>
        <p:blipFill>
          <a:blip r:embed="rId20"/>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t>H: observations per window; d: retained dimensions.</a:t>
            </a:r>
          </a:p>
          <a:p>
            <a:pPr>
              <a:defRPr sz="1400" b="0">
                <a:solidFill>
                  <a:srgbClr val="9CB0C3"/>
                </a:solidFill>
                <a:latin typeface="DejaVu Sans"/>
              </a:defRPr>
            </a:pPr>
            <a:r>
              <a:t>αtest is distinct from variance smoothing.</a:t>
            </a:r>
          </a:p>
          <a:p>
            <a:pPr>
              <a:defRPr sz="1400" b="0">
                <a:solidFill>
                  <a:srgbClr val="9CB0C3"/>
                </a:solidFill>
                <a:latin typeface="DejaVu Sans"/>
              </a:defRPr>
            </a:pPr>
            <a:r>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t>Chowdhury §II.E.3, Eqs. (3), (5)–(9). Eq. (9) uses separate covariance terms; pooled mode is a repository choice.</a:t>
            </a:r>
          </a:p>
          <a:p>
            <a:pPr>
              <a:defRPr sz="1100" b="0">
                <a:solidFill>
                  <a:srgbClr val="9CB0C3"/>
                </a:solidFill>
                <a:latin typeface="DejaVu Sans"/>
              </a:defRPr>
            </a:pPr>
            <a:r>
              <a:t>Eq. (8) describes the always-update variance mode. The Diethe pilot uses frozen variance.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t>13</a:t>
            </a:r>
          </a:p>
        </p:txBody>
      </p:sp>
    </p:spTree>
    <p:extLst>
      <p:ext uri="{BB962C8B-B14F-4D97-AF65-F5344CB8AC3E}">
        <p14:creationId xmlns:p14="http://schemas.microsoft.com/office/powerpoint/2010/main" val="1926805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14</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t>15</a:t>
            </a:r>
          </a:p>
        </p:txBody>
      </p:sp>
    </p:spTree>
    <p:extLst>
      <p:ext uri="{BB962C8B-B14F-4D97-AF65-F5344CB8AC3E}">
        <p14:creationId xmlns:p14="http://schemas.microsoft.com/office/powerpoint/2010/main" val="3443722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92608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t>Initial five-policy pilot is historical; a sixth evidence-sufficiency policy is now implemented.</a:t>
            </a:r>
          </a:p>
          <a:p>
            <a:r>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t>EEG trial → calibrated FBCSP → feature vector fₜ</a:t>
            </a:r>
          </a:p>
          <a:p>
            <a:pPr>
              <a:spcAft>
                <a:spcPts val="800"/>
              </a:spcAft>
              <a:defRPr sz="1600" b="0">
                <a:solidFill>
                  <a:srgbClr val="53657C"/>
                </a:solidFill>
                <a:latin typeface="Aptos"/>
              </a:defRPr>
            </a:pPr>
            <a:r>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t>Supplied / synthetic features → classifier and CSE detector</a:t>
            </a:r>
          </a:p>
          <a:p>
            <a:pPr>
              <a:spcAft>
                <a:spcPts val="800"/>
              </a:spcAft>
              <a:defRPr sz="1600" b="0">
                <a:solidFill>
                  <a:srgbClr val="53657C"/>
                </a:solidFill>
                <a:latin typeface="Aptos"/>
              </a:defRPr>
            </a:pPr>
            <a:r>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t>Repository interpretation: run_policy_comparison(); the five-policy comparison is a controlled laboratory, not proof of clinical BCI benefit.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12648" y="292608"/>
            <a:ext cx="10881360" cy="310896"/>
          </a:xfrm>
          <a:prstGeom prst="rect">
            <a:avLst/>
          </a:prstGeom>
          <a:noFill/>
        </p:spPr>
        <p:txBody>
          <a:bodyPr wrap="none" lIns="18288" rIns="18288" tIns="9144" bIns="9144" anchor="t">
            <a:spAutoFit/>
          </a:bodyPr>
          <a:lstStyle/>
          <a:p>
            <a:pPr algn="l"/>
            <a:r>
              <a:rPr sz="1900" b="1">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rIns="18288" tIns="9144" bIns="9144" anchor="t">
            <a:spAutoFit/>
          </a:bodyPr>
          <a:lstStyle/>
          <a:p>
            <a:pPr algn="l"/>
            <a:r>
              <a:rPr sz="2200" b="1">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rIns="18288" tIns="9144" bIns="9144" anchor="t">
            <a:spAutoFit/>
          </a:bodyPr>
          <a:lstStyle/>
          <a:p>
            <a:pPr algn="l"/>
            <a:r>
              <a:rPr sz="1150" b="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48256"/>
            <a:ext cx="2560320" cy="256032"/>
          </a:xfrm>
          <a:prstGeom prst="rect">
            <a:avLst/>
          </a:prstGeom>
          <a:noFill/>
        </p:spPr>
        <p:txBody>
          <a:bodyPr wrap="none" lIns="18288" rIns="18288" tIns="9144" bIns="9144" anchor="t">
            <a:spAutoFit/>
          </a:bodyPr>
          <a:lstStyle/>
          <a:p>
            <a:pPr algn="l"/>
            <a:r>
              <a:rPr sz="1200" b="1">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rIns="18288" tIns="9144" bIns="9144" anchor="t">
            <a:spAutoFit/>
          </a:bodyPr>
          <a:lstStyle/>
          <a:p>
            <a:pPr algn="l"/>
            <a:r>
              <a:rPr sz="1600" b="1">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rIns="18288" tIns="9144" bIns="9144" anchor="t">
            <a:spAutoFit/>
          </a:bodyPr>
          <a:lstStyle/>
          <a:p>
            <a:pPr algn="l"/>
            <a:r>
              <a:rPr sz="1550" b="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rIns="45720" tIns="36576" bIns="36576">
            <a:spAutoFit/>
          </a:bodyPr>
          <a:lstStyle/>
          <a:p>
            <a:pPr algn="l">
              <a:spcAft>
                <a:spcPts val="500"/>
              </a:spcAft>
            </a:pPr>
            <a:r>
              <a:rPr sz="125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rIns="18288" tIns="9144" bIns="9144" anchor="t">
            <a:spAutoFit/>
          </a:bodyPr>
          <a:lstStyle/>
          <a:p>
            <a:pPr algn="l"/>
            <a:r>
              <a:rPr sz="1200" b="1">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rIns="18288" tIns="9144" bIns="9144" anchor="t">
            <a:spAutoFit/>
          </a:bodyPr>
          <a:lstStyle/>
          <a:p>
            <a:pPr algn="l"/>
            <a:r>
              <a:rPr sz="1600" b="1">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rIns="18288" tIns="9144" bIns="9144" anchor="t">
            <a:spAutoFit/>
          </a:bodyPr>
          <a:lstStyle/>
          <a:p>
            <a:pPr algn="l"/>
            <a:r>
              <a:rPr sz="1550" b="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rIns="45720" tIns="36576" bIns="36576">
            <a:spAutoFit/>
          </a:bodyPr>
          <a:lstStyle/>
          <a:p>
            <a:pPr algn="l">
              <a:spcAft>
                <a:spcPts val="500"/>
              </a:spcAft>
            </a:pPr>
            <a:r>
              <a:rPr sz="125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3246120"/>
            <a:ext cx="1920240" cy="384048"/>
          </a:xfrm>
          <a:prstGeom prst="rect">
            <a:avLst/>
          </a:prstGeom>
          <a:noFill/>
        </p:spPr>
        <p:txBody>
          <a:bodyPr wrap="none" lIns="18288" rIns="18288" tIns="9144" bIns="9144" anchor="t">
            <a:spAutoFit/>
          </a:bodyPr>
          <a:lstStyle/>
          <a:p>
            <a:pPr algn="ctr"/>
            <a:r>
              <a:rPr sz="1300" b="1">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rIns="18288" tIns="9144" bIns="9144" anchor="t">
            <a:spAutoFit/>
          </a:bodyPr>
          <a:lstStyle/>
          <a:p>
            <a:pPr algn="ctr"/>
            <a:r>
              <a:rPr sz="1300" b="1">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270248"/>
            <a:ext cx="3108960" cy="320040"/>
          </a:xfrm>
          <a:prstGeom prst="rect">
            <a:avLst/>
          </a:prstGeom>
          <a:noFill/>
        </p:spPr>
        <p:txBody>
          <a:bodyPr wrap="none" lIns="18288" rIns="18288" tIns="9144" bIns="9144" anchor="t">
            <a:spAutoFit/>
          </a:bodyPr>
          <a:lstStyle/>
          <a:p>
            <a:pPr algn="l"/>
            <a:r>
              <a:rPr sz="1600" b="1">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rIns="45720" tIns="36576" bIns="36576">
            <a:spAutoFit/>
          </a:bodyPr>
          <a:lstStyle/>
          <a:p>
            <a:pPr algn="l">
              <a:spcAft>
                <a:spcPts val="500"/>
              </a:spcAft>
            </a:pPr>
            <a:r>
              <a:rPr sz="125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rIns="18288" tIns="9144" bIns="9144" anchor="t">
            <a:spAutoFit/>
          </a:bodyPr>
          <a:lstStyle/>
          <a:p>
            <a:pPr algn="l"/>
            <a:r>
              <a:rPr sz="1600" b="1">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rIns="45720" tIns="36576" bIns="36576">
            <a:spAutoFit/>
          </a:bodyPr>
          <a:lstStyle/>
          <a:p>
            <a:pPr algn="l">
              <a:spcAft>
                <a:spcPts val="500"/>
              </a:spcAft>
            </a:pPr>
            <a:r>
              <a:rPr sz="125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rIns="18288" tIns="9144" bIns="9144" anchor="t">
            <a:spAutoFit/>
          </a:bodyPr>
          <a:lstStyle/>
          <a:p>
            <a:pPr algn="l"/>
            <a:r>
              <a:rPr sz="1600" b="1">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rIns="45720" tIns="36576" bIns="36576">
            <a:spAutoFit/>
          </a:bodyPr>
          <a:lstStyle/>
          <a:p>
            <a:pPr algn="l">
              <a:spcAft>
                <a:spcPts val="500"/>
              </a:spcAft>
            </a:pPr>
            <a:r>
              <a:rPr sz="125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rIns="18288" tIns="9144" bIns="9144" anchor="t">
            <a:spAutoFit/>
          </a:bodyPr>
          <a:lstStyle/>
          <a:p>
            <a:pPr algn="l"/>
            <a:r>
              <a:rPr sz="1180" b="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rIns="18288" tIns="9144" bIns="9144" anchor="t">
            <a:spAutoFit/>
          </a:bodyPr>
          <a:lstStyle/>
          <a:p>
            <a:pPr algn="l"/>
            <a:r>
              <a:rPr sz="1050" b="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rIns="18288" tIns="9144" bIns="9144" anchor="t">
            <a:spAutoFit/>
          </a:bodyPr>
          <a:lstStyle/>
          <a:p>
            <a: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21</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t>22</a:t>
            </a:r>
          </a:p>
        </p:txBody>
      </p:sp>
    </p:spTree>
    <p:extLst>
      <p:ext uri="{BB962C8B-B14F-4D97-AF65-F5344CB8AC3E}">
        <p14:creationId xmlns:p14="http://schemas.microsoft.com/office/powerpoint/2010/main" val="34239414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t>23</a:t>
            </a:r>
          </a:p>
        </p:txBody>
      </p:sp>
    </p:spTree>
    <p:extLst>
      <p:ext uri="{BB962C8B-B14F-4D97-AF65-F5344CB8AC3E}">
        <p14:creationId xmlns:p14="http://schemas.microsoft.com/office/powerpoint/2010/main" val="1001070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t>24</a:t>
            </a:r>
          </a:p>
        </p:txBody>
      </p:sp>
    </p:spTree>
    <p:extLst>
      <p:ext uri="{BB962C8B-B14F-4D97-AF65-F5344CB8AC3E}">
        <p14:creationId xmlns:p14="http://schemas.microsoft.com/office/powerpoint/2010/main" val="3821001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25</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t>26</a:t>
            </a:r>
          </a:p>
        </p:txBody>
      </p:sp>
    </p:spTree>
    <p:extLst>
      <p:ext uri="{BB962C8B-B14F-4D97-AF65-F5344CB8AC3E}">
        <p14:creationId xmlns:p14="http://schemas.microsoft.com/office/powerpoint/2010/main" val="1903319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t>Step 1: aggregated feature-wise mean-CUSUM; estimate candidate split locations.</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If mean change is not established: investigate second-order structure using wavelets and dynamic PCA.</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t>Stage I: sequential EWMA score and control-limit warnings.</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Stage II: statistical validation (Hotelling T² or two-sample K–S, depending on formulation).</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t>Key boundary: retrospective CUSUM peak ≠ calibrated online alarm; EWMA warning ≠ confirmed shift.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PARK READING INSIGHT</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Several CUSUM peaks ≠ several confirmed changes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Interpret peak structure as competing change-point evidence, not as a multimodal EEG probability distribution.</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What the curves provide</a:t>
            </a:r>
          </a:p>
        </p:txBody>
      </p:sp>
      <p:sp>
        <p:nvSpPr>
          <p:cNvPr id="8" name="TextBox 7"/>
          <p:cNvSpPr txBox="1"/>
          <p:nvPr/>
        </p:nvSpPr>
        <p:spPr>
          <a:xfrm>
            <a:off x="795528" y="2551176"/>
            <a:ext cx="5038344" cy="2798063"/>
          </a:xfrm>
          <a:prstGeom prst="rect">
            <a:avLst/>
          </a:prstGeom>
          <a:noFill/>
        </p:spPr>
        <p:txBody>
          <a:bodyPr wrap="square" lIns="27432" tIns="18288">
            <a:spAutoFit/>
          </a:bodyPr>
          <a:lstStyle/>
          <a:p>
            <a:pPr>
              <a:spcAft>
                <a:spcPts val="600"/>
              </a:spcAft>
              <a:defRPr sz="1300" b="0">
                <a:solidFill>
                  <a:srgbClr val="12233B"/>
                </a:solidFill>
                <a:latin typeface="Aptos"/>
              </a:defRPr>
            </a:pPr>
            <a:r>
              <a:t>ν_max(t): strongest feature-wise normalised mean contrast at candidate t.</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ν_avg(t): mean contrast across features.</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Both identify candidate locations; their global maxima can disagree.</a:t>
            </a:r>
          </a:p>
        </p:txBody>
      </p:sp>
      <p:sp>
        <p:nvSpPr>
          <p:cNvPr id="9" name="Rounded Rectangle 8"/>
          <p:cNvSpPr/>
          <p:nvPr/>
        </p:nvSpPr>
        <p:spPr>
          <a:xfrm>
            <a:off x="621792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What needs investigation</a:t>
            </a:r>
          </a:p>
        </p:txBody>
      </p:sp>
      <p:sp>
        <p:nvSpPr>
          <p:cNvPr id="11" name="TextBox 10"/>
          <p:cNvSpPr txBox="1"/>
          <p:nvPr/>
        </p:nvSpPr>
        <p:spPr>
          <a:xfrm>
            <a:off x="6373368" y="2551176"/>
            <a:ext cx="5038344" cy="2798063"/>
          </a:xfrm>
          <a:prstGeom prst="rect">
            <a:avLst/>
          </a:prstGeom>
          <a:noFill/>
        </p:spPr>
        <p:txBody>
          <a:bodyPr wrap="square" lIns="27432" tIns="18288">
            <a:spAutoFit/>
          </a:bodyPr>
          <a:lstStyle/>
          <a:p>
            <a:pPr>
              <a:spcAft>
                <a:spcPts val="600"/>
              </a:spcAft>
              <a:defRPr sz="1300" b="0">
                <a:solidFill>
                  <a:srgbClr val="12233B"/>
                </a:solidFill>
                <a:latin typeface="Aptos"/>
              </a:defRPr>
            </a:pPr>
            <a:r>
              <a:t>Several local peaks could reflect heterogeneous feature responses, multiple changes, or stochastic fluctuations.</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Inspect feature-wise traces, segmentation, dependence and metadata; do not infer an external cause from peaks alone.</a:t>
            </a:r>
          </a:p>
        </p:txBody>
      </p:sp>
      <p:sp>
        <p:nvSpPr>
          <p:cNvPr id="12" name="TextBox 11"/>
          <p:cNvSpPr txBox="1"/>
          <p:nvPr/>
        </p:nvSpPr>
        <p:spPr>
          <a:xfrm>
            <a:off x="822960" y="5669280"/>
            <a:ext cx="10972800" cy="411480"/>
          </a:xfrm>
          <a:prstGeom prst="rect">
            <a:avLst/>
          </a:prstGeom>
          <a:noFill/>
        </p:spPr>
        <p:txBody>
          <a:bodyPr wrap="square" lIns="27432" tIns="18288">
            <a:spAutoFit/>
          </a:bodyPr>
          <a:lstStyle/>
          <a:p>
            <a:pPr>
              <a:spcAft>
                <a:spcPts val="600"/>
              </a:spcAft>
              <a:defRPr sz="1000" b="0">
                <a:solidFill>
                  <a:srgbClr val="516377"/>
                </a:solidFill>
                <a:latin typeface="Aptos"/>
              </a:defRPr>
            </a:pPr>
            <a:r>
              <a:t>Sources: Park et al. (2023), DOI 10.29220/CSAM.2023.30.4.369; Fearnhead &amp; Rigaill (2020), DOI 10.1002/sta4.291.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IMPLEMENTED</a:t>
            </a:r>
          </a:p>
        </p:txBody>
      </p:sp>
      <p:sp>
        <p:nvSpPr>
          <p:cNvPr id="8" name="TextBox 7"/>
          <p:cNvSpPr txBox="1"/>
          <p:nvPr/>
        </p:nvSpPr>
        <p:spPr>
          <a:xfrm>
            <a:off x="79552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t>Positive-mean input validation.</a:t>
            </a:r>
          </a:p>
          <a:p>
            <a:pPr>
              <a:spcAft>
                <a:spcPts val="600"/>
              </a:spcAft>
              <a:defRPr sz="1300" b="0">
                <a:solidFill>
                  <a:srgbClr val="12233B"/>
                </a:solidFill>
                <a:latin typeface="Aptos"/>
              </a:defRPr>
            </a:pPr>
            <a:r>
              <a:t>Feature-wise normalised mean-CUSUM.</a:t>
            </a:r>
          </a:p>
          <a:p>
            <a:pPr>
              <a:spcAft>
                <a:spcPts val="600"/>
              </a:spcAft>
              <a:defRPr sz="1300" b="0">
                <a:solidFill>
                  <a:srgbClr val="12233B"/>
                </a:solidFill>
                <a:latin typeface="Aptos"/>
              </a:defRPr>
            </a:pPr>
            <a:r>
              <a:t>Maximum/average aggregation.</a:t>
            </a:r>
          </a:p>
          <a:p>
            <a:pPr>
              <a:spcAft>
                <a:spcPts val="600"/>
              </a:spcAft>
              <a:defRPr sz="1300" b="0">
                <a:solidFill>
                  <a:srgbClr val="12233B"/>
                </a:solidFill>
                <a:latin typeface="Aptos"/>
              </a:defRPr>
            </a:pPr>
            <a:r>
              <a:t>Global peak locations and separation.</a:t>
            </a:r>
          </a:p>
          <a:p>
            <a:pPr>
              <a:spcAft>
                <a:spcPts val="600"/>
              </a:spcAft>
              <a:defRPr sz="1300" b="0">
                <a:solidFill>
                  <a:srgbClr val="12233B"/>
                </a:solidFill>
                <a:latin typeface="Aptos"/>
              </a:defRPr>
            </a:pPr>
            <a:r>
              <a:t>Python visualisation + MATLAB feature export.</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t>Park unimodality and peak-agreement confirmation.</a:t>
            </a:r>
          </a:p>
          <a:p>
            <a:pPr>
              <a:spcAft>
                <a:spcPts val="600"/>
              </a:spcAft>
              <a:defRPr sz="1300" b="0">
                <a:solidFill>
                  <a:srgbClr val="12233B"/>
                </a:solidFill>
                <a:latin typeface="Aptos"/>
              </a:defRPr>
            </a:pPr>
            <a:r>
              <a:t>Multiple-change-point detection.</a:t>
            </a:r>
          </a:p>
          <a:p>
            <a:pPr>
              <a:spcAft>
                <a:spcPts val="600"/>
              </a:spcAft>
              <a:defRPr sz="1300" b="0">
                <a:solidFill>
                  <a:srgbClr val="12233B"/>
                </a:solidFill>
                <a:latin typeface="Aptos"/>
              </a:defRPr>
            </a:pPr>
            <a:r>
              <a:t>Calibrated false-alarm control.</a:t>
            </a:r>
          </a:p>
          <a:p>
            <a:pPr>
              <a:spcAft>
                <a:spcPts val="600"/>
              </a:spcAft>
              <a:defRPr sz="1300" b="0">
                <a:solidFill>
                  <a:srgbClr val="12233B"/>
                </a:solidFill>
                <a:latin typeface="Aptos"/>
              </a:defRPr>
            </a:pPr>
            <a:r>
              <a:t>Matched EEG feature-space comparisons.</a:t>
            </a:r>
          </a:p>
          <a:p>
            <a:pPr>
              <a:spcAft>
                <a:spcPts val="600"/>
              </a:spcAft>
              <a:defRPr sz="1300" b="0">
                <a:solidFill>
                  <a:srgbClr val="12233B"/>
                </a:solidFill>
                <a:latin typeface="Aptos"/>
              </a:defRPr>
            </a:pPr>
            <a:r>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t>Research question RQ4: candidate localisation is implemented; confirmation and statistical validity remain open.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1. Never update (baseline)</a:t>
            </a:r>
          </a:p>
          <a:p>
            <a:pPr>
              <a:spcAft>
                <a:spcPts val="600"/>
              </a:spcAft>
              <a:defRPr sz="1300" b="0">
                <a:solidFill>
                  <a:srgbClr val="12233B"/>
                </a:solidFill>
                <a:latin typeface="Aptos"/>
              </a:defRPr>
            </a:pPr>
            <a:r>
              <a:t>2. Periodic retraining (passive)</a:t>
            </a:r>
          </a:p>
          <a:p>
            <a:pPr>
              <a:spcAft>
                <a:spcPts val="600"/>
              </a:spcAft>
              <a:defRPr sz="1300" b="0">
                <a:solidFill>
                  <a:srgbClr val="12233B"/>
                </a:solidFill>
                <a:latin typeface="Aptos"/>
              </a:defRPr>
            </a:pPr>
            <a:r>
              <a:t>3. EWMA warning-triggered update</a:t>
            </a:r>
          </a:p>
          <a:p>
            <a:pPr>
              <a:spcAft>
                <a:spcPts val="600"/>
              </a:spcAft>
              <a:defRPr sz="1300" b="0">
                <a:solidFill>
                  <a:srgbClr val="12233B"/>
                </a:solidFill>
                <a:latin typeface="Aptos"/>
              </a:defRPr>
            </a:pPr>
            <a:r>
              <a:t>4. Validated shift-triggered update</a:t>
            </a:r>
          </a:p>
          <a:p>
            <a:pPr>
              <a:spcAft>
                <a:spcPts val="600"/>
              </a:spcAft>
              <a:defRPr sz="1300" b="0">
                <a:solidFill>
                  <a:srgbClr val="12233B"/>
                </a:solidFill>
                <a:latin typeface="Aptos"/>
              </a:defRPr>
            </a:pPr>
            <a:r>
              <a:t>5. Performance-drop-triggered update</a:t>
            </a:r>
          </a:p>
          <a:p>
            <a:pPr>
              <a:spcAft>
                <a:spcPts val="600"/>
              </a:spcAft>
              <a:defRPr sz="1300" b="0">
                <a:solidFill>
                  <a:srgbClr val="12233B"/>
                </a:solidFill>
                <a:latin typeface="Aptos"/>
              </a:defRPr>
            </a:pPr>
            <a:r>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Three scenarios: stationary, marginal feature shift, changed label relationship.</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Labels arrive immediately after prediction; historical training data accumulate.</a:t>
            </a:r>
          </a:p>
          <a:p>
            <a:pPr>
              <a:spcAft>
                <a:spcPts val="600"/>
              </a:spcAft>
              <a:defRPr sz="1300" b="0">
                <a:solidFill>
                  <a:srgbClr val="12233B"/>
                </a:solidFill>
                <a:latin typeface="Aptos"/>
              </a:defRPr>
            </a:pPr>
          </a:p>
          <a:p>
            <a:pPr>
              <a:spcAft>
                <a:spcPts val="600"/>
              </a:spcAft>
              <a:defRPr sz="1300" b="0">
                <a:solidFill>
                  <a:srgbClr val="12233B"/>
                </a:solidFill>
                <a:latin typeface="Aptos"/>
              </a:defRPr>
            </a:pPr>
            <a:r>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t>Sources: docs/diethe_experiments.md; src/adaptation/evidence_value.py; Diethe et al. (2019).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Raza et al. (2015, 2019): CSE and adaptive ensemble.</a:t>
            </a:r>
          </a:p>
          <a:p>
            <a:pPr>
              <a:spcAft>
                <a:spcPts val="600"/>
              </a:spcAft>
              <a:defRPr sz="1300" b="0">
                <a:solidFill>
                  <a:srgbClr val="12233B"/>
                </a:solidFill>
                <a:latin typeface="Aptos"/>
              </a:defRPr>
            </a:pPr>
            <a:r>
              <a:t>Chowdhury et al. (2018): online BCI, validated EWMA warnings.</a:t>
            </a:r>
          </a:p>
          <a:p>
            <a:pPr>
              <a:spcAft>
                <a:spcPts val="600"/>
              </a:spcAft>
              <a:defRPr sz="1300" b="0">
                <a:solidFill>
                  <a:srgbClr val="12233B"/>
                </a:solidFill>
                <a:latin typeface="Aptos"/>
              </a:defRPr>
            </a:pPr>
            <a:r>
              <a:t>Park et al. (2023): mean versus second-order changes.</a:t>
            </a:r>
          </a:p>
          <a:p>
            <a:pPr>
              <a:spcAft>
                <a:spcPts val="600"/>
              </a:spcAft>
              <a:defRPr sz="1300" b="0">
                <a:solidFill>
                  <a:srgbClr val="12233B"/>
                </a:solidFill>
                <a:latin typeface="Aptos"/>
              </a:defRPr>
            </a:pPr>
            <a:r>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Reconstructed CSE, multiple Stage-II options.</a:t>
            </a:r>
          </a:p>
          <a:p>
            <a:pPr>
              <a:spcAft>
                <a:spcPts val="600"/>
              </a:spcAft>
              <a:defRPr sz="1300" b="0">
                <a:solidFill>
                  <a:srgbClr val="12233B"/>
                </a:solidFill>
                <a:latin typeface="Aptos"/>
              </a:defRPr>
            </a:pPr>
            <a:r>
              <a:t>Park candidate curves, not confirmation.</a:t>
            </a:r>
          </a:p>
          <a:p>
            <a:pPr>
              <a:spcAft>
                <a:spcPts val="600"/>
              </a:spcAft>
              <a:defRPr sz="1300" b="0">
                <a:solidFill>
                  <a:srgbClr val="12233B"/>
                </a:solidFill>
                <a:latin typeface="Aptos"/>
              </a:defRPr>
            </a:pPr>
            <a:r>
              <a:t>Six-policy supervised lab, not conclusive rankings.</a:t>
            </a:r>
          </a:p>
          <a:p>
            <a:pPr>
              <a:spcAft>
                <a:spcPts val="600"/>
              </a:spcAft>
              <a:defRPr sz="1300" b="0">
                <a:solidFill>
                  <a:srgbClr val="12233B"/>
                </a:solidFill>
                <a:latin typeface="Aptos"/>
              </a:defRPr>
            </a:pPr>
            <a:r>
              <a:t>Published EEG subject-level count agreement unresolved.</a:t>
            </a:r>
          </a:p>
          <a:p>
            <a:pPr>
              <a:spcAft>
                <a:spcPts val="600"/>
              </a:spcAft>
              <a:defRPr sz="1300" b="0">
                <a:solidFill>
                  <a:srgbClr val="12233B"/>
                </a:solidFill>
                <a:latin typeface="Aptos"/>
              </a:defRPr>
            </a:pPr>
            <a:r>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293</TotalTime>
  <Words>4653</Words>
  <Application>Microsoft Office PowerPoint</Application>
  <DocSecurity>0</DocSecurity>
  <PresentationFormat>Widescreen</PresentationFormat>
  <Paragraphs>656</Paragraphs>
  <Slides>22</Slides>
  <Notes>22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22</vt:i4>
      </vt:variant>
    </vt:vector>
  </HeadingPairs>
  <TitlesOfParts>
    <vt:vector size="28" baseType="lpstr">
      <vt:lpstr>DejaVu Sans</vt:lpstr>
      <vt:lpstr>Aptos</vt:lpstr>
      <vt:lpstr>Calibri</vt:lpstr>
      <vt:lpstr>Cambria Math</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Feature Extraction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23</cp:revision>
  <dcterms:created xsi:type="dcterms:W3CDTF">2026-09-28T11:03:11Z</dcterms:created>
  <dcterms:modified xsi:type="dcterms:W3CDTF">2026-10-04T17:49:28Z</dcterms:modified>
</cp:coreProperties>
</file>