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58" r:id="rId4"/>
    <p:sldId id="259" r:id="rId5"/>
    <p:sldId id="266" r:id="rId6"/>
    <p:sldId id="260" r:id="rId7"/>
    <p:sldId id="261" r:id="rId8"/>
    <p:sldId id="262" r:id="rId9"/>
    <p:sldId id="265" r:id="rId10"/>
    <p:sldId id="263" r:id="rId11"/>
    <p:sldId id="264" r:id="rId12"/>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7" d="100"/>
          <a:sy n="107" d="100"/>
        </p:scale>
        <p:origin x="71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Updated evidence includes complementary 20-seed and 100-seed synthetic experiments and a magnitude-6 comparison. Stored results are an evidence snapshot, not proof that every output was regenerated at this commit.</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https://github.com/hlin863/ewma_covariate_shift_demo/blob/a3271c24b2aefebeaa45ca805536a6a76c17d0e6/outputs/complementary_100/summary.csv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current pipeline covers CSE reconstruction, separate supervised and bagging components, and complementary score/residual monitoring. Full CSE-UAEL integration remains open. The listed session splits describe Table-I CSE, not the separate classifier benchmark.</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https://github.com/hlin863/ewma_covariate_shift_demo/blob/a3271c24b2aefebeaa45ca805536a6a76c17d0e6/outputs/complementary_100/summary.csv</a:t>
            </a:r>
          </a:p>
          <a:p>
            <a:r>
              <a:t>https://github.com/hlin863/ewma_covariate_shift_demo/blob/a3271c24b2aefebeaa45ca805536a6a76c17d0e6/outputs/metrics/bagging_bci_real.csv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Literature chain: Raza et al. (2015), EWMA model based shift-detection methods; Chowdhury et al. (2018), Online Covariate Shift Detection-Based Adaptive Brain–Computer Interface to Trigger Hand Exoskeleton Feedback for Neuro-Rehabilitation; Raza et al. (2019), Covariate shift estimation based adaptive ensemble learning; Rao (2013), Brain–Computer Interfacing; Heyden et al. (2024), ABCD; Alippi et al. (2017), Hierarchical Change-Detection Tests. Chowdhury uses CSP features from μ/β bands and linear SVM. It should not be conflated with the 2019 ten-band FBCSP implementation. HCDT is related literature, not an assertion that the ICI-CDT baseline is the same algorithm.</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https://github.com/hlin863/ewma_covariate_shift_demo/blob/a3271c24b2aefebeaa45ca805536a6a76c17d0e6/src/detection/stage1/complementary.py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Main BCI CSE path: ten-band FBCSP, training-fitted PCA, PC1 EWMA warning and multivariate Hotelling validation. Stage II has three explicit modes. K–S and ICI-CDT support 2015 D2 comparisons. Complementary monitoring is an experimental Stage-I route. Supervised adaptation exists separately, while PWKNN pseudo-labelling, dynamic LDA ensemble growth and weighted classification remain unintegrated.</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https://github.com/hlin863/ewma_covariate_shift_demo/blob/a3271c24b2aefebeaa45ca805536a6a76c17d0e6/src/detection/stage1/complementary.py</a:t>
            </a:r>
          </a:p>
          <a:p>
            <a:r>
              <a:t>https://github.com/hlin863/ewma_covariate_shift_demo/blob/a3271c24b2aefebeaa45ca805536a6a76c17d0e6/src/adaptation/supervised.py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CSE uses the Session-I (2A) and Sessions-I–III (2B) development pools with stratified 70/30 splitting before feature fitting. The paper does not report exact partition membership or seed. Published lambda overrides remain the default Table-I runner choice. The classifier benchmark has a separate protocol: 2A fits Session I and tests II; stored 2B metrics use I–II fitting and Session III GDF-only holdout. Optional released-label 2B evaluation is not the source of the shown benchmark numbers.</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https://github.com/hlin863/ewma_covariate_shift_demo/blob/a3271c24b2aefebeaa45ca805536a6a76c17d0e6/src/adaptation/experiments/bagging_bci.py</a:t>
            </a:r>
          </a:p>
          <a:p>
            <a:r>
              <a:t>https://github.com/hlin863/ewma_covariate_shift_demo/blob/a3271c24b2aefebeaa45ca805536a6a76c17d0e6/outputs/metrics/bagging_bci_real.csv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Classifier accuracies are unweighted means of nine subject accuracies per dataset, calculated from bagging_bci_real.csv. Changes are percentage points using unrounded values. Bagging uses 30 linear SVM members and sample fraction 0.8. No statistical significance or universal gain is claimed.</a:t>
            </a:r>
          </a:p>
          <a:p>
            <a:r>
              <a:t>Synthetic table: outputs/complementary_100/summary.csv, 100 seeds, alpha 0.01, lambda 0.2, magnitude 3, detection horizon 20. Detection means at least one alarm within the 20-sample post-shift window. No-shift matched-window alarm rates are 21% score, 21% residual, 26% combined; full no-shift per-sample rates are 0.991%, 1.052%, 1.060%. This prevents interpreting the 1% calibration alpha as a 1% window-level rate. Magnitude-6 PC1 detection: score 88%, residual 21%, combined 82%. These controlled synthetic results do not establish real EEG shift-detection accuracy.</a:t>
            </a:r>
          </a:p>
          <a:p>
            <a:r>
              <a:t>The committed pytest report dates to 22 September and contains 216 tests with one path-format assertion failure. It is not current-HEAD verification.</a:t>
            </a:r>
          </a:p>
          <a:p>
            <a:endParaRPr/>
          </a:p>
          <a:p>
            <a:r>
              <a:t>Repository snapshot: a3271c2, 30 September 2026.</a:t>
            </a:r>
          </a:p>
          <a:p>
            <a:r>
              <a:t>https://github.com/hlin863/ewma_covariate_shift_demo/blob/a3271c24b2aefebeaa45ca805536a6a76c17d0e6/outputs/metrics/bagging_bci_real.csv</a:t>
            </a:r>
          </a:p>
          <a:p>
            <a:r>
              <a:t>https://github.com/hlin863/ewma_covariate_shift_demo/blob/a3271c24b2aefebeaa45ca805536a6a76c17d0e6/outputs/complementary_100/summary.csv</a:t>
            </a:r>
          </a:p>
          <a:p>
            <a:r>
              <a:t>https://github.com/hlin863/ewma_covariate_shift_demo/blob/a3271c24b2aefebeaa45ca805536a6a76c17d0e6/outputs/complementary_100/config.json</a:t>
            </a:r>
          </a:p>
          <a:p>
            <a:r>
              <a:t>https://github.com/hlin863/ewma_covariate_shift_demo/blob/a3271c24b2aefebeaa45ca805536a6a76c17d0e6/outputs/complementary_magnitude6/summary.csv</a:t>
            </a:r>
          </a:p>
          <a:p>
            <a:r>
              <a:t>https://github.com/hlin863/ewma_covariate_shift_demo/blob/a3271c24b2aefebeaa45ca805536a6a76c17d0e6/scripts/run_complementary_monitoring.py</a:t>
            </a:r>
          </a:p>
          <a:p>
            <a:r>
              <a:t>https://github.com/hlin863/ewma_covariate_shift_demo/blob/a3271c24b2aefebeaa45ca805536a6a76c17d0e6/outputs/metrics/pytest_results.xml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Tracked results supersede the deck wording that basic subject-level comparison and classifier outputs were still future work. Table-I means: CSW 5.78 vs published 10.78 and CSV 0.33 vs 5.56 for 2A; CSW 14.11 vs 17.56 and CSV 0.67 vs 10.33 for 2B. Values come from the combined Table-I output. Other separately generated files may use different settings and must not be merged as if identical runs. Stage-II confirmations remain low. The repository tree at this commit contains complementary, complementary_100 and complementary_magnitude6 output folders, but no outputs/complementary_bci/traces.csv. D2/D3/D4 also show material FP/FN differences, so successful execution is not exact numerical reproduction.</a:t>
            </a:r>
          </a:p>
          <a:p>
            <a:endParaRPr/>
          </a:p>
          <a:p>
            <a:r>
              <a:t>Repository snapshot: a3271c2, 30 September 2026.</a:t>
            </a:r>
          </a:p>
          <a:p>
            <a:r>
              <a:t>https://github.com/hlin863/ewma_covariate_shift_demo/blob/a3271c24b2aefebeaa45ca805536a6a76c17d0e6/outputs/metrics/bci_table1_reproduction.md</a:t>
            </a:r>
          </a:p>
          <a:p>
            <a:r>
              <a:t>https://github.com/hlin863/ewma_covariate_shift_demo/blob/a3271c24b2aefebeaa45ca805536a6a76c17d0e6/outputs/metrics/bci_table1_comparison.csv</a:t>
            </a:r>
          </a:p>
          <a:p>
            <a:r>
              <a:t>https://github.com/hlin863/ewma_covariate_shift_demo/blob/a3271c24b2aefebeaa45ca805536a6a76c17d0e6/outputs/metrics/paper2015/d2/table3_comparison.csv</a:t>
            </a:r>
          </a:p>
          <a:p>
            <a:r>
              <a:t>https://github.com/hlin863/ewma_covariate_shift_demo/blob/a3271c24b2aefebeaa45ca805536a6a76c17d0e6/outputs/metrics/paper2015/table4/table4_comparison.csv</a:t>
            </a:r>
          </a:p>
          <a:p>
            <a:r>
              <a:t>https://github.com/hlin863/ewma_covariate_shift_demo/blob/a3271c24b2aefebeaa45ca805536a6a76c17d0e6/scripts/run_complementary_bci.py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synthetic category includes both 2015 D2/D3/D4 reproduction streams and the separate complementary PCA-subspace scenarios. Twenty-seed magnitude-3, 100-seed magnitude-3 and 100-seed magnitude-6 outputs now exist. Real EEG complementary exports remain absent from the tracked tree. Classifier benchmark protocols differ from CSE, especially Dataset 2B.</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https://github.com/hlin863/ewma_covariate_shift_demo/blob/a3271c24b2aefebeaa45ca805536a6a76c17d0e6/outputs/complementary/config.json</a:t>
            </a:r>
          </a:p>
          <a:p>
            <a:r>
              <a:t>https://github.com/hlin863/ewma_covariate_shift_demo/blob/a3271c24b2aefebeaa45ca805536a6a76c17d0e6/outputs/complementary_100/config.json</a:t>
            </a:r>
          </a:p>
          <a:p>
            <a:r>
              <a:t>https://github.com/hlin863/ewma_covariate_shift_demo/blob/a3271c24b2aefebeaa45ca805536a6a76c17d0e6/outputs/complementary_magnitude6/config.json</a:t>
            </a:r>
          </a:p>
          <a:p>
            <a:r>
              <a:t>https://github.com/hlin863/ewma_covariate_shift_demo/blob/a3271c24b2aefebeaa45ca805536a6a76c17d0e6/outputs/metrics/bagging_bci_real.csv</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16936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twelve-month work-package schedule remains a proposed research plan. It does not claim that CUSUM, BOCPD, density-ratio methods, digital twins or photonic maintenance evaluation are already implemented. Current repository outputs form an initial EWMA, hierarchical-detection and classifier baseline. The immediate October emphasis is configuration provenance, Stage-II discrepancy analysis and real EEG complementary export.</a:t>
            </a:r>
          </a:p>
          <a:p>
            <a:endParaRPr/>
          </a:p>
          <a:p>
            <a:r>
              <a:t>Repository snapshot: a3271c2, 30 September 2026.</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Basic subject tables, classifier benchmarks and complementary synthetic outputs now exist. The next milestone therefore focuses on locked experimental configurations, discrepancies, real EEG exports and current verification. The real EEG complementary view has no ground-truth shift times, so alarm trajectories and counts cannot be labelled detector accuracy. The dashboard defaults to outputs/complementary (20 seeds); the 100-seed and magnitude-6 folders are separate stored experiments.</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https://github.com/hlin863/ewma_covariate_shift_demo/blob/a3271c24b2aefebeaa45ca805536a6a76c17d0e6/scripts/run_complementary_bci.py</a:t>
            </a:r>
          </a:p>
          <a:p>
            <a:r>
              <a:t>https://github.com/hlin863/ewma_covariate_shift_demo/blob/a3271c24b2aefebeaa45ca805536a6a76c17d0e6/src/web/dashboard.py</a:t>
            </a:r>
          </a:p>
          <a:p>
            <a:r>
              <a:t>https://github.com/hlin863/ewma_covariate_shift_demo/blob/a3271c24b2aefebeaa45ca805536a6a76c17d0e6/outputs/complementary_100/summary.csv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5FB7A1BC-9F50-412C-AD08-6A0907BD5F8D}"/>
              </a:ext>
            </a:extLst>
          </p:cNvPr>
          <p:cNvSpPr>
            <a:spLocks noGrp="1"/>
          </p:cNvSpPr>
          <p:nvPr/>
        </p:nvSpPr>
        <p:spPr>
          <a:xfrm>
            <a:off x="609600" y="666750"/>
            <a:ext cx="95250" cy="4953000"/>
          </a:xfrm>
          <a:prstGeom prst="rect">
            <a:avLst/>
          </a:prstGeom>
          <a:solidFill>
            <a:srgbClr val="2DD4BF"/>
          </a:solidFill>
          <a:ln w="0">
            <a:noFill/>
          </a:ln>
        </p:spPr>
        <p:txBody>
          <a:bodyPr/>
          <a:lstStyle/>
          <a:p>
            <a:endParaRPr/>
          </a:p>
        </p:txBody>
      </p:sp>
      <p:sp>
        <p:nvSpPr>
          <p:cNvPr id="2" name="Rectangle 1">
            <a:extLst>
              <a:ext uri="{FF2B5EF4-FFF2-40B4-BE49-F238E27FC236}">
                <a16:creationId xmlns:a16="http://schemas.microsoft.com/office/drawing/2014/main" id="{15D122F1-24A1-464A-9263-EC7D882DFD91}"/>
              </a:ext>
            </a:extLst>
          </p:cNvPr>
          <p:cNvSpPr>
            <a:spLocks noGrp="1"/>
          </p:cNvSpPr>
          <p:nvPr/>
        </p:nvSpPr>
        <p:spPr>
          <a:xfrm>
            <a:off x="1047750" y="1047750"/>
            <a:ext cx="7239000" cy="1524000"/>
          </a:xfrm>
          <a:prstGeom prst="rect">
            <a:avLst/>
          </a:prstGeom>
          <a:noFill/>
          <a:ln w="0">
            <a:noFill/>
          </a:ln>
        </p:spPr>
        <p:txBody>
          <a:bodyPr wrap="square" lIns="0" tIns="0" rIns="0" bIns="0" anchor="t">
            <a:normAutofit/>
          </a:bodyPr>
          <a:lstStyle/>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EWMA Covariate</a:t>
            </a:r>
          </a:p>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Shift Demo</a:t>
            </a:r>
          </a:p>
        </p:txBody>
      </p:sp>
      <p:sp>
        <p:nvSpPr>
          <p:cNvPr id="3" name="Rectangle 2">
            <a:extLst>
              <a:ext uri="{FF2B5EF4-FFF2-40B4-BE49-F238E27FC236}">
                <a16:creationId xmlns:a16="http://schemas.microsoft.com/office/drawing/2014/main" id="{38CA1C25-D797-45EF-8E63-B3F29F301C6D}"/>
              </a:ext>
            </a:extLst>
          </p:cNvPr>
          <p:cNvSpPr>
            <a:spLocks noGrp="1"/>
          </p:cNvSpPr>
          <p:nvPr/>
        </p:nvSpPr>
        <p:spPr>
          <a:xfrm>
            <a:off x="1066800" y="2800350"/>
            <a:ext cx="7524750" cy="428625"/>
          </a:xfrm>
          <a:prstGeom prst="rect">
            <a:avLst/>
          </a:prstGeom>
          <a:noFill/>
          <a:ln w="0">
            <a:noFill/>
          </a:ln>
        </p:spPr>
        <p:txBody>
          <a:bodyPr wrap="square" lIns="0" tIns="0" rIns="0" bIns="0" anchor="t">
            <a:noAutofit/>
          </a:bodyPr>
          <a:lstStyle/>
          <a:p>
            <a:pPr algn="l">
              <a:buNone/>
              <a:defRPr sz="1800" b="1">
                <a:solidFill>
                  <a:srgbClr val="2DD4BF"/>
                </a:solidFill>
                <a:latin typeface="DejaVu Sans"/>
                <a:ea typeface="DejaVu Sans"/>
                <a:cs typeface="DejaVu Sans"/>
              </a:defRPr>
            </a:pPr>
            <a:r>
              <a:rPr sz="1800" b="1">
                <a:solidFill>
                  <a:srgbClr val="2DD4BF"/>
                </a:solidFill>
                <a:latin typeface="DejaVu Sans"/>
                <a:ea typeface="DejaVu Sans"/>
                <a:cs typeface="DejaVu Sans"/>
              </a:rPr>
              <a:t>Research progress review, updated 30 September 2026</a:t>
            </a:r>
          </a:p>
        </p:txBody>
      </p:sp>
      <p:sp>
        <p:nvSpPr>
          <p:cNvPr id="4" name="Rectangle 3">
            <a:extLst>
              <a:ext uri="{FF2B5EF4-FFF2-40B4-BE49-F238E27FC236}">
                <a16:creationId xmlns:a16="http://schemas.microsoft.com/office/drawing/2014/main" id="{93AA9472-82BB-48BB-A352-5C29C535E8AC}"/>
              </a:ext>
            </a:extLst>
          </p:cNvPr>
          <p:cNvSpPr>
            <a:spLocks noGrp="1"/>
          </p:cNvSpPr>
          <p:nvPr/>
        </p:nvSpPr>
        <p:spPr>
          <a:xfrm>
            <a:off x="1066800" y="3371850"/>
            <a:ext cx="7239000" cy="781050"/>
          </a:xfrm>
          <a:prstGeom prst="rect">
            <a:avLst/>
          </a:prstGeom>
          <a:noFill/>
          <a:ln w="0">
            <a:noFill/>
          </a:ln>
        </p:spPr>
        <p:txBody>
          <a:bodyPr wrap="square" lIns="0" tIns="0" rIns="0" bIns="0" anchor="t">
            <a:noAutofit/>
          </a:bodyPr>
          <a:lstStyle/>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Auditable CSE reconstruction for motor-imagery EEG</a:t>
            </a:r>
          </a:p>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Classifier benchmarks and complementary PCA monitoring</a:t>
            </a:r>
          </a:p>
        </p:txBody>
      </p:sp>
      <p:sp>
        <p:nvSpPr>
          <p:cNvPr id="5" name="Rectangle 4">
            <a:extLst>
              <a:ext uri="{FF2B5EF4-FFF2-40B4-BE49-F238E27FC236}">
                <a16:creationId xmlns:a16="http://schemas.microsoft.com/office/drawing/2014/main" id="{2C9C5016-122B-4D29-A204-F4E2046D950A}"/>
              </a:ext>
            </a:extLst>
          </p:cNvPr>
          <p:cNvSpPr>
            <a:spLocks noGrp="1"/>
          </p:cNvSpPr>
          <p:nvPr/>
        </p:nvSpPr>
        <p:spPr>
          <a:xfrm>
            <a:off x="1066800" y="5086350"/>
            <a:ext cx="3238500" cy="28575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lang="en-US" sz="1200" b="1" dirty="0">
                <a:solidFill>
                  <a:srgbClr val="EAF2F8"/>
                </a:solidFill>
                <a:latin typeface="DejaVu Sans"/>
                <a:ea typeface="DejaVu Sans"/>
                <a:cs typeface="DejaVu Sans"/>
              </a:rPr>
              <a:t>Haocheng Lin</a:t>
            </a:r>
          </a:p>
        </p:txBody>
      </p:sp>
      <p:sp>
        <p:nvSpPr>
          <p:cNvPr id="6" name="Rectangle 5">
            <a:extLst>
              <a:ext uri="{FF2B5EF4-FFF2-40B4-BE49-F238E27FC236}">
                <a16:creationId xmlns:a16="http://schemas.microsoft.com/office/drawing/2014/main" id="{2DB14461-27EF-40B7-8E78-A43C62DE7991}"/>
              </a:ext>
            </a:extLst>
          </p:cNvPr>
          <p:cNvSpPr>
            <a:spLocks noGrp="1"/>
          </p:cNvSpPr>
          <p:nvPr/>
        </p:nvSpPr>
        <p:spPr>
          <a:xfrm>
            <a:off x="1066800" y="5448300"/>
            <a:ext cx="5810250" cy="228600"/>
          </a:xfrm>
          <a:prstGeom prst="rect">
            <a:avLst/>
          </a:prstGeom>
          <a:noFill/>
          <a:ln w="0">
            <a:noFill/>
          </a:ln>
        </p:spPr>
        <p:txBody>
          <a:bodyPr wrap="square" lIns="0" tIns="0" rIns="0" bIns="0" anchor="t">
            <a:noAutofit/>
          </a:bodyPr>
          <a:lstStyle/>
          <a:p>
            <a:pPr algn="l">
              <a:buNone/>
              <a:defRPr sz="1050" b="0">
                <a:solidFill>
                  <a:srgbClr val="9CB0C3"/>
                </a:solidFill>
                <a:latin typeface="DejaVu Sans"/>
                <a:ea typeface="DejaVu Sans"/>
                <a:cs typeface="DejaVu Sans"/>
              </a:defRPr>
            </a:pPr>
            <a:r>
              <a:rPr sz="1050" b="0">
                <a:solidFill>
                  <a:srgbClr val="9CB0C3"/>
                </a:solidFill>
                <a:latin typeface="DejaVu Sans"/>
                <a:ea typeface="DejaVu Sans"/>
                <a:cs typeface="DejaVu Sans"/>
              </a:rPr>
              <a:t>Repository snapshot: a3271c2 (30 September 2026)</a:t>
            </a:r>
          </a:p>
        </p:txBody>
      </p:sp>
      <p:sp>
        <p:nvSpPr>
          <p:cNvPr id="7" name="Straight Connector 6">
            <a:extLst>
              <a:ext uri="{FF2B5EF4-FFF2-40B4-BE49-F238E27FC236}">
                <a16:creationId xmlns:a16="http://schemas.microsoft.com/office/drawing/2014/main" id="{17DC29CC-1D2C-4B14-8435-1D09CBA58E14}"/>
              </a:ext>
            </a:extLst>
          </p:cNvPr>
          <p:cNvSpPr>
            <a:spLocks noGrp="1"/>
          </p:cNvSpPr>
          <p:nvPr/>
        </p:nvSpPr>
        <p:spPr>
          <a:xfrm flipV="1">
            <a:off x="8572500" y="1219200"/>
            <a:ext cx="647700" cy="400050"/>
          </a:xfrm>
          <a:prstGeom prst="line">
            <a:avLst/>
          </a:prstGeom>
          <a:noFill/>
          <a:ln w="28575">
            <a:solidFill>
              <a:srgbClr val="2DD4BF"/>
            </a:solidFill>
            <a:prstDash val="solid"/>
          </a:ln>
        </p:spPr>
        <p:txBody>
          <a:bodyPr/>
          <a:lstStyle/>
          <a:p>
            <a:endParaRPr/>
          </a:p>
        </p:txBody>
      </p:sp>
      <p:sp>
        <p:nvSpPr>
          <p:cNvPr id="8" name="Straight Connector 7">
            <a:extLst>
              <a:ext uri="{FF2B5EF4-FFF2-40B4-BE49-F238E27FC236}">
                <a16:creationId xmlns:a16="http://schemas.microsoft.com/office/drawing/2014/main" id="{16F07650-6530-4543-9433-EA373012096E}"/>
              </a:ext>
            </a:extLst>
          </p:cNvPr>
          <p:cNvSpPr>
            <a:spLocks noGrp="1"/>
          </p:cNvSpPr>
          <p:nvPr/>
        </p:nvSpPr>
        <p:spPr>
          <a:xfrm>
            <a:off x="9220200" y="1219200"/>
            <a:ext cx="666750" cy="971550"/>
          </a:xfrm>
          <a:prstGeom prst="line">
            <a:avLst/>
          </a:prstGeom>
          <a:noFill/>
          <a:ln w="28575">
            <a:solidFill>
              <a:srgbClr val="4EA1FF"/>
            </a:solidFill>
            <a:prstDash val="solid"/>
          </a:ln>
        </p:spPr>
        <p:txBody>
          <a:bodyPr/>
          <a:lstStyle/>
          <a:p>
            <a:endParaRPr/>
          </a:p>
        </p:txBody>
      </p:sp>
      <p:sp>
        <p:nvSpPr>
          <p:cNvPr id="9" name="Straight Connector 8">
            <a:extLst>
              <a:ext uri="{FF2B5EF4-FFF2-40B4-BE49-F238E27FC236}">
                <a16:creationId xmlns:a16="http://schemas.microsoft.com/office/drawing/2014/main" id="{78903F61-9ED7-484C-8B3B-095EB461B443}"/>
              </a:ext>
            </a:extLst>
          </p:cNvPr>
          <p:cNvSpPr>
            <a:spLocks noGrp="1"/>
          </p:cNvSpPr>
          <p:nvPr/>
        </p:nvSpPr>
        <p:spPr>
          <a:xfrm flipV="1">
            <a:off x="9886950" y="1733550"/>
            <a:ext cx="628650" cy="457200"/>
          </a:xfrm>
          <a:prstGeom prst="line">
            <a:avLst/>
          </a:prstGeom>
          <a:noFill/>
          <a:ln w="28575">
            <a:solidFill>
              <a:srgbClr val="2DD4BF"/>
            </a:solidFill>
            <a:prstDash val="solid"/>
          </a:ln>
        </p:spPr>
        <p:txBody>
          <a:bodyPr/>
          <a:lstStyle/>
          <a:p>
            <a:endParaRPr/>
          </a:p>
        </p:txBody>
      </p:sp>
      <p:sp>
        <p:nvSpPr>
          <p:cNvPr id="10" name="Straight Connector 9">
            <a:extLst>
              <a:ext uri="{FF2B5EF4-FFF2-40B4-BE49-F238E27FC236}">
                <a16:creationId xmlns:a16="http://schemas.microsoft.com/office/drawing/2014/main" id="{5AA64371-039C-466E-916C-B117BEA3E6CC}"/>
              </a:ext>
            </a:extLst>
          </p:cNvPr>
          <p:cNvSpPr>
            <a:spLocks noGrp="1"/>
          </p:cNvSpPr>
          <p:nvPr/>
        </p:nvSpPr>
        <p:spPr>
          <a:xfrm>
            <a:off x="10515600" y="1733550"/>
            <a:ext cx="647700" cy="952500"/>
          </a:xfrm>
          <a:prstGeom prst="line">
            <a:avLst/>
          </a:prstGeom>
          <a:noFill/>
          <a:ln w="28575">
            <a:solidFill>
              <a:srgbClr val="4EA1FF"/>
            </a:solidFill>
            <a:prstDash val="solid"/>
          </a:ln>
        </p:spPr>
        <p:txBody>
          <a:bodyPr/>
          <a:lstStyle/>
          <a:p>
            <a:endParaRPr/>
          </a:p>
        </p:txBody>
      </p:sp>
      <p:sp>
        <p:nvSpPr>
          <p:cNvPr id="11" name="Straight Connector 10">
            <a:extLst>
              <a:ext uri="{FF2B5EF4-FFF2-40B4-BE49-F238E27FC236}">
                <a16:creationId xmlns:a16="http://schemas.microsoft.com/office/drawing/2014/main" id="{FF7FE505-030C-432A-9D5C-E15B74B8AF64}"/>
              </a:ext>
            </a:extLst>
          </p:cNvPr>
          <p:cNvSpPr>
            <a:spLocks noGrp="1"/>
          </p:cNvSpPr>
          <p:nvPr/>
        </p:nvSpPr>
        <p:spPr>
          <a:xfrm flipH="1">
            <a:off x="10325100" y="2686050"/>
            <a:ext cx="838200" cy="704850"/>
          </a:xfrm>
          <a:prstGeom prst="line">
            <a:avLst/>
          </a:prstGeom>
          <a:noFill/>
          <a:ln w="28575">
            <a:solidFill>
              <a:srgbClr val="2DD4BF"/>
            </a:solidFill>
            <a:prstDash val="solid"/>
          </a:ln>
        </p:spPr>
        <p:txBody>
          <a:bodyPr/>
          <a:lstStyle/>
          <a:p>
            <a:endParaRPr/>
          </a:p>
        </p:txBody>
      </p:sp>
      <p:sp>
        <p:nvSpPr>
          <p:cNvPr id="12" name="Straight Connector 11">
            <a:extLst>
              <a:ext uri="{FF2B5EF4-FFF2-40B4-BE49-F238E27FC236}">
                <a16:creationId xmlns:a16="http://schemas.microsoft.com/office/drawing/2014/main" id="{47BD7E3D-F20C-467A-8236-AACCFBA5D4B1}"/>
              </a:ext>
            </a:extLst>
          </p:cNvPr>
          <p:cNvSpPr>
            <a:spLocks noGrp="1"/>
          </p:cNvSpPr>
          <p:nvPr/>
        </p:nvSpPr>
        <p:spPr>
          <a:xfrm flipH="1" flipV="1">
            <a:off x="9353550" y="3009900"/>
            <a:ext cx="971550" cy="381000"/>
          </a:xfrm>
          <a:prstGeom prst="line">
            <a:avLst/>
          </a:prstGeom>
          <a:noFill/>
          <a:ln w="28575">
            <a:solidFill>
              <a:srgbClr val="4EA1FF"/>
            </a:solidFill>
            <a:prstDash val="solid"/>
          </a:ln>
        </p:spPr>
        <p:txBody>
          <a:bodyPr/>
          <a:lstStyle/>
          <a:p>
            <a:endParaRPr/>
          </a:p>
        </p:txBody>
      </p:sp>
      <p:sp>
        <p:nvSpPr>
          <p:cNvPr id="13" name="Straight Connector 12">
            <a:extLst>
              <a:ext uri="{FF2B5EF4-FFF2-40B4-BE49-F238E27FC236}">
                <a16:creationId xmlns:a16="http://schemas.microsoft.com/office/drawing/2014/main" id="{1EA5F974-D9BE-4707-AFC1-1496231FD398}"/>
              </a:ext>
            </a:extLst>
          </p:cNvPr>
          <p:cNvSpPr>
            <a:spLocks noGrp="1"/>
          </p:cNvSpPr>
          <p:nvPr/>
        </p:nvSpPr>
        <p:spPr>
          <a:xfrm flipH="1">
            <a:off x="8686800" y="3009900"/>
            <a:ext cx="666750" cy="895350"/>
          </a:xfrm>
          <a:prstGeom prst="line">
            <a:avLst/>
          </a:prstGeom>
          <a:noFill/>
          <a:ln w="28575">
            <a:solidFill>
              <a:srgbClr val="2DD4BF"/>
            </a:solidFill>
            <a:prstDash val="solid"/>
          </a:ln>
        </p:spPr>
        <p:txBody>
          <a:bodyPr/>
          <a:lstStyle/>
          <a:p>
            <a:endParaRPr/>
          </a:p>
        </p:txBody>
      </p:sp>
      <p:sp>
        <p:nvSpPr>
          <p:cNvPr id="14" name="Rectangle: Rounded Corners 13">
            <a:extLst>
              <a:ext uri="{FF2B5EF4-FFF2-40B4-BE49-F238E27FC236}">
                <a16:creationId xmlns:a16="http://schemas.microsoft.com/office/drawing/2014/main" id="{05E14B93-7F85-4455-8048-9406362F7CC7}"/>
              </a:ext>
            </a:extLst>
          </p:cNvPr>
          <p:cNvSpPr>
            <a:spLocks noGrp="1"/>
          </p:cNvSpPr>
          <p:nvPr/>
        </p:nvSpPr>
        <p:spPr>
          <a:xfrm>
            <a:off x="8515350" y="1562100"/>
            <a:ext cx="114300" cy="114300"/>
          </a:xfrm>
          <a:prstGeom prst="roundRect">
            <a:avLst>
              <a:gd name="adj" fmla="val 50000"/>
            </a:avLst>
          </a:prstGeom>
          <a:solidFill>
            <a:srgbClr val="2DD4BF"/>
          </a:solidFill>
          <a:ln w="0">
            <a:noFill/>
          </a:ln>
        </p:spPr>
        <p:txBody>
          <a:bodyPr/>
          <a:lstStyle/>
          <a:p>
            <a:endParaRPr/>
          </a:p>
        </p:txBody>
      </p:sp>
      <p:sp>
        <p:nvSpPr>
          <p:cNvPr id="15" name="Rectangle: Rounded Corners 14">
            <a:extLst>
              <a:ext uri="{FF2B5EF4-FFF2-40B4-BE49-F238E27FC236}">
                <a16:creationId xmlns:a16="http://schemas.microsoft.com/office/drawing/2014/main" id="{72680F17-AE51-430B-A782-B2D55F386D1F}"/>
              </a:ext>
            </a:extLst>
          </p:cNvPr>
          <p:cNvSpPr>
            <a:spLocks noGrp="1"/>
          </p:cNvSpPr>
          <p:nvPr/>
        </p:nvSpPr>
        <p:spPr>
          <a:xfrm>
            <a:off x="9163050" y="1162050"/>
            <a:ext cx="114300" cy="114300"/>
          </a:xfrm>
          <a:prstGeom prst="roundRect">
            <a:avLst>
              <a:gd name="adj" fmla="val 50000"/>
            </a:avLst>
          </a:prstGeom>
          <a:solidFill>
            <a:srgbClr val="2DD4BF"/>
          </a:solidFill>
          <a:ln w="0">
            <a:noFill/>
          </a:ln>
        </p:spPr>
        <p:txBody>
          <a:bodyPr/>
          <a:lstStyle/>
          <a:p>
            <a:endParaRPr/>
          </a:p>
        </p:txBody>
      </p:sp>
      <p:sp>
        <p:nvSpPr>
          <p:cNvPr id="16" name="Rectangle: Rounded Corners 15">
            <a:extLst>
              <a:ext uri="{FF2B5EF4-FFF2-40B4-BE49-F238E27FC236}">
                <a16:creationId xmlns:a16="http://schemas.microsoft.com/office/drawing/2014/main" id="{E767A00D-09BD-49C4-8743-4F50945C2B4B}"/>
              </a:ext>
            </a:extLst>
          </p:cNvPr>
          <p:cNvSpPr>
            <a:spLocks noGrp="1"/>
          </p:cNvSpPr>
          <p:nvPr/>
        </p:nvSpPr>
        <p:spPr>
          <a:xfrm>
            <a:off x="9829800" y="2133600"/>
            <a:ext cx="114300" cy="114300"/>
          </a:xfrm>
          <a:prstGeom prst="roundRect">
            <a:avLst>
              <a:gd name="adj" fmla="val 50000"/>
            </a:avLst>
          </a:prstGeom>
          <a:solidFill>
            <a:srgbClr val="2DD4BF"/>
          </a:solidFill>
          <a:ln w="0">
            <a:noFill/>
          </a:ln>
        </p:spPr>
        <p:txBody>
          <a:bodyPr/>
          <a:lstStyle/>
          <a:p>
            <a:endParaRPr/>
          </a:p>
        </p:txBody>
      </p:sp>
      <p:sp>
        <p:nvSpPr>
          <p:cNvPr id="17" name="Rectangle: Rounded Corners 16">
            <a:extLst>
              <a:ext uri="{FF2B5EF4-FFF2-40B4-BE49-F238E27FC236}">
                <a16:creationId xmlns:a16="http://schemas.microsoft.com/office/drawing/2014/main" id="{BBD805D9-E3C8-4713-AE6D-B22F85B683A7}"/>
              </a:ext>
            </a:extLst>
          </p:cNvPr>
          <p:cNvSpPr>
            <a:spLocks noGrp="1"/>
          </p:cNvSpPr>
          <p:nvPr/>
        </p:nvSpPr>
        <p:spPr>
          <a:xfrm>
            <a:off x="10458450" y="1676400"/>
            <a:ext cx="114300" cy="114300"/>
          </a:xfrm>
          <a:prstGeom prst="roundRect">
            <a:avLst>
              <a:gd name="adj" fmla="val 50000"/>
            </a:avLst>
          </a:prstGeom>
          <a:solidFill>
            <a:srgbClr val="2DD4BF"/>
          </a:solidFill>
          <a:ln w="0">
            <a:noFill/>
          </a:ln>
        </p:spPr>
        <p:txBody>
          <a:bodyPr/>
          <a:lstStyle/>
          <a:p>
            <a:endParaRPr/>
          </a:p>
        </p:txBody>
      </p:sp>
      <p:sp>
        <p:nvSpPr>
          <p:cNvPr id="18" name="Rectangle: Rounded Corners 17">
            <a:extLst>
              <a:ext uri="{FF2B5EF4-FFF2-40B4-BE49-F238E27FC236}">
                <a16:creationId xmlns:a16="http://schemas.microsoft.com/office/drawing/2014/main" id="{4810B203-C9DC-4405-A7A9-21298EF454C6}"/>
              </a:ext>
            </a:extLst>
          </p:cNvPr>
          <p:cNvSpPr>
            <a:spLocks noGrp="1"/>
          </p:cNvSpPr>
          <p:nvPr/>
        </p:nvSpPr>
        <p:spPr>
          <a:xfrm>
            <a:off x="11106150" y="2628900"/>
            <a:ext cx="114300" cy="114300"/>
          </a:xfrm>
          <a:prstGeom prst="roundRect">
            <a:avLst>
              <a:gd name="adj" fmla="val 50000"/>
            </a:avLst>
          </a:prstGeom>
          <a:solidFill>
            <a:srgbClr val="F5B942"/>
          </a:solidFill>
          <a:ln w="0">
            <a:noFill/>
          </a:ln>
        </p:spPr>
        <p:txBody>
          <a:bodyPr/>
          <a:lstStyle/>
          <a:p>
            <a:endParaRPr/>
          </a:p>
        </p:txBody>
      </p:sp>
      <p:sp>
        <p:nvSpPr>
          <p:cNvPr id="19" name="Rectangle: Rounded Corners 18">
            <a:extLst>
              <a:ext uri="{FF2B5EF4-FFF2-40B4-BE49-F238E27FC236}">
                <a16:creationId xmlns:a16="http://schemas.microsoft.com/office/drawing/2014/main" id="{34352F27-3D12-46B5-ADB7-7BD751194200}"/>
              </a:ext>
            </a:extLst>
          </p:cNvPr>
          <p:cNvSpPr>
            <a:spLocks noGrp="1"/>
          </p:cNvSpPr>
          <p:nvPr/>
        </p:nvSpPr>
        <p:spPr>
          <a:xfrm>
            <a:off x="10267950" y="3333750"/>
            <a:ext cx="114300" cy="114300"/>
          </a:xfrm>
          <a:prstGeom prst="roundRect">
            <a:avLst>
              <a:gd name="adj" fmla="val 50000"/>
            </a:avLst>
          </a:prstGeom>
          <a:solidFill>
            <a:srgbClr val="2DD4BF"/>
          </a:solidFill>
          <a:ln w="0">
            <a:noFill/>
          </a:ln>
        </p:spPr>
        <p:txBody>
          <a:bodyPr/>
          <a:lstStyle/>
          <a:p>
            <a:endParaRPr/>
          </a:p>
        </p:txBody>
      </p:sp>
      <p:sp>
        <p:nvSpPr>
          <p:cNvPr id="20" name="Rectangle: Rounded Corners 19">
            <a:extLst>
              <a:ext uri="{FF2B5EF4-FFF2-40B4-BE49-F238E27FC236}">
                <a16:creationId xmlns:a16="http://schemas.microsoft.com/office/drawing/2014/main" id="{3ED7F06F-E0D5-49C1-A526-EC90A7866E18}"/>
              </a:ext>
            </a:extLst>
          </p:cNvPr>
          <p:cNvSpPr>
            <a:spLocks noGrp="1"/>
          </p:cNvSpPr>
          <p:nvPr/>
        </p:nvSpPr>
        <p:spPr>
          <a:xfrm>
            <a:off x="9296400" y="2952750"/>
            <a:ext cx="114300" cy="114300"/>
          </a:xfrm>
          <a:prstGeom prst="roundRect">
            <a:avLst>
              <a:gd name="adj" fmla="val 50000"/>
            </a:avLst>
          </a:prstGeom>
          <a:solidFill>
            <a:srgbClr val="2DD4BF"/>
          </a:solidFill>
          <a:ln w="0">
            <a:noFill/>
          </a:ln>
        </p:spPr>
        <p:txBody>
          <a:bodyPr/>
          <a:lstStyle/>
          <a:p>
            <a:endParaRPr/>
          </a:p>
        </p:txBody>
      </p:sp>
      <p:sp>
        <p:nvSpPr>
          <p:cNvPr id="21" name="Rectangle: Rounded Corners 20">
            <a:extLst>
              <a:ext uri="{FF2B5EF4-FFF2-40B4-BE49-F238E27FC236}">
                <a16:creationId xmlns:a16="http://schemas.microsoft.com/office/drawing/2014/main" id="{AB6AAE89-9F53-45FB-91C5-CC373DD2AE64}"/>
              </a:ext>
            </a:extLst>
          </p:cNvPr>
          <p:cNvSpPr>
            <a:spLocks noGrp="1"/>
          </p:cNvSpPr>
          <p:nvPr/>
        </p:nvSpPr>
        <p:spPr>
          <a:xfrm>
            <a:off x="8629650" y="3848100"/>
            <a:ext cx="114300" cy="114300"/>
          </a:xfrm>
          <a:prstGeom prst="roundRect">
            <a:avLst>
              <a:gd name="adj" fmla="val 50000"/>
            </a:avLst>
          </a:prstGeom>
          <a:solidFill>
            <a:srgbClr val="2DD4BF"/>
          </a:solidFill>
          <a:ln w="0">
            <a:noFill/>
          </a:ln>
        </p:spPr>
        <p:txBody>
          <a:bodyPr/>
          <a:lstStyle/>
          <a:p>
            <a:endParaRPr/>
          </a:p>
        </p:txBody>
      </p:sp>
      <p:pic>
        <p:nvPicPr>
          <p:cNvPr id="27" name="Picture 26">
            <a:extLst>
              <a:ext uri="{FF2B5EF4-FFF2-40B4-BE49-F238E27FC236}">
                <a16:creationId xmlns:a16="http://schemas.microsoft.com/office/drawing/2014/main" id="{64B7A778-1F53-4BDB-9587-61D271DA34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53258" y="5315817"/>
            <a:ext cx="2172383" cy="1440000"/>
          </a:xfrm>
          <a:prstGeom prst="rect">
            <a:avLst/>
          </a:prstGeom>
        </p:spPr>
      </p:pic>
    </p:spTree>
    <p:extLst>
      <p:ext uri="{BB962C8B-B14F-4D97-AF65-F5344CB8AC3E}">
        <p14:creationId xmlns:p14="http://schemas.microsoft.com/office/powerpoint/2010/main" val="21346543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CBC2B8F1-18B9-4945-BFFE-9CCB3FD66329}"/>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PROGRESS SNAPSHOT</a:t>
            </a:r>
          </a:p>
        </p:txBody>
      </p:sp>
      <p:sp>
        <p:nvSpPr>
          <p:cNvPr id="2" name="Rectangle 1">
            <a:extLst>
              <a:ext uri="{FF2B5EF4-FFF2-40B4-BE49-F238E27FC236}">
                <a16:creationId xmlns:a16="http://schemas.microsoft.com/office/drawing/2014/main" id="{C411661D-9052-49DA-B402-934639008CF5}"/>
              </a:ext>
            </a:extLst>
          </p:cNvPr>
          <p:cNvSpPr>
            <a:spLocks noGrp="1"/>
          </p:cNvSpPr>
          <p:nvPr/>
        </p:nvSpPr>
        <p:spPr>
          <a:xfrm>
            <a:off x="609600" y="685800"/>
            <a:ext cx="10953750" cy="552450"/>
          </a:xfrm>
          <a:prstGeom prst="rect">
            <a:avLst/>
          </a:prstGeom>
          <a:noFill/>
          <a:ln w="0">
            <a:noFill/>
          </a:ln>
        </p:spPr>
        <p:txBody>
          <a:bodyPr wrap="square" lIns="0" tIns="0" rIns="0" bIns="0" anchor="t">
            <a:normAutofit/>
          </a:bodyPr>
          <a:lstStyle/>
          <a:p>
            <a:pPr algn="l">
              <a:buNone/>
              <a:defRPr sz="2550" b="1">
                <a:solidFill>
                  <a:srgbClr val="EAF2F8"/>
                </a:solidFill>
                <a:latin typeface="DejaVu Sans"/>
                <a:ea typeface="DejaVu Sans"/>
                <a:cs typeface="DejaVu Sans"/>
              </a:defRPr>
            </a:pPr>
            <a:r>
              <a:rPr lang="en-US" sz="2550" b="1" dirty="0">
                <a:solidFill>
                  <a:srgbClr val="EAF2F8"/>
                </a:solidFill>
                <a:latin typeface="DejaVu Sans"/>
                <a:ea typeface="DejaVu Sans"/>
                <a:cs typeface="DejaVu Sans"/>
              </a:rPr>
              <a:t>Reconstruction, benchmarking and audit</a:t>
            </a:r>
            <a:endParaRPr sz="2550" b="1" dirty="0">
              <a:solidFill>
                <a:srgbClr val="EAF2F8"/>
              </a:solidFill>
              <a:latin typeface="DejaVu Sans"/>
              <a:ea typeface="DejaVu Sans"/>
              <a:cs typeface="DejaVu Sans"/>
            </a:endParaRPr>
          </a:p>
        </p:txBody>
      </p:sp>
      <p:sp>
        <p:nvSpPr>
          <p:cNvPr id="3" name="Straight Connector 2">
            <a:extLst>
              <a:ext uri="{FF2B5EF4-FFF2-40B4-BE49-F238E27FC236}">
                <a16:creationId xmlns:a16="http://schemas.microsoft.com/office/drawing/2014/main" id="{BCCA5901-7295-4811-8038-7916C9D934F0}"/>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3">
            <a:extLst>
              <a:ext uri="{FF2B5EF4-FFF2-40B4-BE49-F238E27FC236}">
                <a16:creationId xmlns:a16="http://schemas.microsoft.com/office/drawing/2014/main" id="{66F1878A-14E8-4D79-946F-18CAA775C681}"/>
              </a:ext>
            </a:extLst>
          </p:cNvPr>
          <p:cNvSpPr>
            <a:spLocks noGrp="1"/>
          </p:cNvSpPr>
          <p:nvPr/>
        </p:nvSpPr>
        <p:spPr>
          <a:xfrm>
            <a:off x="609599" y="1676400"/>
            <a:ext cx="10972799" cy="590550"/>
          </a:xfrm>
          <a:prstGeom prst="rect">
            <a:avLst/>
          </a:prstGeom>
          <a:noFill/>
          <a:ln w="0">
            <a:noFill/>
          </a:ln>
        </p:spPr>
        <p:txBody>
          <a:bodyPr wrap="square" lIns="0" tIns="0" rIns="0" bIns="0" anchor="t">
            <a:noAutofit/>
          </a:bodyPr>
          <a:lstStyle/>
          <a:p>
            <a:pPr algn="l">
              <a:buNone/>
              <a:defRPr sz="1777" b="1">
                <a:solidFill>
                  <a:srgbClr val="EAF2F8"/>
                </a:solidFill>
                <a:latin typeface="DejaVu Sans"/>
                <a:ea typeface="DejaVu Sans"/>
                <a:cs typeface="DejaVu Sans"/>
              </a:defRPr>
            </a:pPr>
            <a:r>
              <a:rPr sz="1777" b="1">
                <a:solidFill>
                  <a:srgbClr val="EAF2F8"/>
                </a:solidFill>
                <a:latin typeface="DejaVu Sans"/>
                <a:ea typeface="DejaVu Sans"/>
                <a:cs typeface="DejaVu Sans"/>
              </a:rPr>
              <a:t>The CSE pipeline runs on BCI Competition IV 2A/2B, with reproduction outputs,</a:t>
            </a:r>
            <a:endParaRPr sz="2250" b="1">
              <a:solidFill>
                <a:srgbClr val="EAF2F8"/>
              </a:solidFill>
              <a:latin typeface="DejaVu Sans"/>
              <a:ea typeface="DejaVu Sans"/>
              <a:cs typeface="DejaVu Sans"/>
            </a:endParaRPr>
          </a:p>
          <a:p>
            <a:pPr algn="l">
              <a:buNone/>
              <a:defRPr sz="1777" b="1">
                <a:solidFill>
                  <a:srgbClr val="EAF2F8"/>
                </a:solidFill>
                <a:latin typeface="DejaVu Sans"/>
                <a:ea typeface="DejaVu Sans"/>
                <a:cs typeface="DejaVu Sans"/>
              </a:defRPr>
            </a:pPr>
            <a:r>
              <a:rPr sz="1777" b="1">
                <a:solidFill>
                  <a:srgbClr val="EAF2F8"/>
                </a:solidFill>
                <a:latin typeface="DejaVu Sans"/>
                <a:ea typeface="DejaVu Sans"/>
                <a:cs typeface="DejaVu Sans"/>
              </a:rPr>
              <a:t>sensitivity analysis and a separate classifier benchmark now stored in the repository.</a:t>
            </a:r>
            <a:endParaRPr sz="2250" b="1">
              <a:solidFill>
                <a:srgbClr val="EAF2F8"/>
              </a:solidFill>
              <a:latin typeface="DejaVu Sans"/>
              <a:ea typeface="DejaVu Sans"/>
              <a:cs typeface="DejaVu Sans"/>
            </a:endParaRPr>
          </a:p>
        </p:txBody>
      </p:sp>
      <p:sp>
        <p:nvSpPr>
          <p:cNvPr id="5" name="Rectangle 4">
            <a:extLst>
              <a:ext uri="{FF2B5EF4-FFF2-40B4-BE49-F238E27FC236}">
                <a16:creationId xmlns:a16="http://schemas.microsoft.com/office/drawing/2014/main" id="{7128F4EB-BF37-4DE7-BC90-3A6AE7BC7ACB}"/>
              </a:ext>
            </a:extLst>
          </p:cNvPr>
          <p:cNvSpPr>
            <a:spLocks noGrp="1"/>
          </p:cNvSpPr>
          <p:nvPr/>
        </p:nvSpPr>
        <p:spPr>
          <a:xfrm>
            <a:off x="609600" y="2486025"/>
            <a:ext cx="10972800" cy="514350"/>
          </a:xfrm>
          <a:prstGeom prst="rect">
            <a:avLst/>
          </a:prstGeom>
          <a:noFill/>
          <a:ln w="0">
            <a:noFill/>
          </a:ln>
        </p:spPr>
        <p:txBody>
          <a:bodyPr wrap="square" lIns="0" tIns="0" rIns="0" bIns="0" anchor="t">
            <a:noAutofit/>
          </a:bodyPr>
          <a:lstStyle/>
          <a:p>
            <a:pPr algn="l">
              <a:buNone/>
              <a:defRPr sz="1425" b="0">
                <a:solidFill>
                  <a:srgbClr val="9CB0C3"/>
                </a:solidFill>
                <a:latin typeface="DejaVu Sans"/>
                <a:ea typeface="DejaVu Sans"/>
                <a:cs typeface="DejaVu Sans"/>
              </a:defRPr>
            </a:pPr>
            <a:r>
              <a:rPr sz="1425" b="0">
                <a:solidFill>
                  <a:srgbClr val="9CB0C3"/>
                </a:solidFill>
                <a:latin typeface="DejaVu Sans"/>
                <a:ea typeface="DejaVu Sans"/>
                <a:cs typeface="DejaVu Sans"/>
              </a:rPr>
              <a:t>Tracked evidence: CSW/CSV counts, D2/D3/D4 comparisons, SVM/bagging and complementary synthetic runs.</a:t>
            </a:r>
          </a:p>
        </p:txBody>
      </p:sp>
      <p:sp>
        <p:nvSpPr>
          <p:cNvPr id="6" name="Rectangle 5">
            <a:extLst>
              <a:ext uri="{FF2B5EF4-FFF2-40B4-BE49-F238E27FC236}">
                <a16:creationId xmlns:a16="http://schemas.microsoft.com/office/drawing/2014/main" id="{359229B1-C09A-4F43-AD2F-5340A4205DA5}"/>
              </a:ext>
            </a:extLst>
          </p:cNvPr>
          <p:cNvSpPr>
            <a:spLocks noGrp="1"/>
          </p:cNvSpPr>
          <p:nvPr/>
        </p:nvSpPr>
        <p:spPr>
          <a:xfrm>
            <a:off x="609600" y="3352800"/>
            <a:ext cx="2667000" cy="704850"/>
          </a:xfrm>
          <a:prstGeom prst="rect">
            <a:avLst/>
          </a:prstGeom>
          <a:noFill/>
          <a:ln w="0">
            <a:noFill/>
          </a:ln>
        </p:spPr>
        <p:txBody>
          <a:bodyPr wrap="square" lIns="0" tIns="0" rIns="0" bIns="0" anchor="t">
            <a:normAutofit/>
          </a:bodyPr>
          <a:lstStyle/>
          <a:p>
            <a:pPr algn="l">
              <a:buNone/>
              <a:defRPr sz="3600" b="1">
                <a:solidFill>
                  <a:srgbClr val="64D98B"/>
                </a:solidFill>
                <a:latin typeface="DejaVu Sans"/>
                <a:ea typeface="DejaVu Sans"/>
                <a:cs typeface="DejaVu Sans"/>
              </a:defRPr>
            </a:pPr>
            <a:r>
              <a:rPr sz="3600" b="1">
                <a:solidFill>
                  <a:srgbClr val="64D98B"/>
                </a:solidFill>
                <a:latin typeface="DejaVu Sans"/>
                <a:ea typeface="DejaVu Sans"/>
                <a:cs typeface="DejaVu Sans"/>
              </a:rPr>
              <a:t>2A</a:t>
            </a:r>
          </a:p>
        </p:txBody>
      </p:sp>
      <p:sp>
        <p:nvSpPr>
          <p:cNvPr id="7" name="Straight Connector 6">
            <a:extLst>
              <a:ext uri="{FF2B5EF4-FFF2-40B4-BE49-F238E27FC236}">
                <a16:creationId xmlns:a16="http://schemas.microsoft.com/office/drawing/2014/main" id="{CA868DD3-83BD-4184-B707-142373396464}"/>
              </a:ext>
            </a:extLst>
          </p:cNvPr>
          <p:cNvSpPr>
            <a:spLocks noGrp="1"/>
          </p:cNvSpPr>
          <p:nvPr/>
        </p:nvSpPr>
        <p:spPr>
          <a:xfrm>
            <a:off x="609600" y="4171950"/>
            <a:ext cx="2667000" cy="0"/>
          </a:xfrm>
          <a:prstGeom prst="line">
            <a:avLst/>
          </a:prstGeom>
          <a:noFill/>
          <a:ln w="47625">
            <a:solidFill>
              <a:srgbClr val="64D98B"/>
            </a:solidFill>
            <a:prstDash val="solid"/>
          </a:ln>
        </p:spPr>
        <p:txBody>
          <a:bodyPr/>
          <a:lstStyle/>
          <a:p>
            <a:endParaRPr/>
          </a:p>
        </p:txBody>
      </p:sp>
      <p:sp>
        <p:nvSpPr>
          <p:cNvPr id="8" name="Rectangle 7">
            <a:extLst>
              <a:ext uri="{FF2B5EF4-FFF2-40B4-BE49-F238E27FC236}">
                <a16:creationId xmlns:a16="http://schemas.microsoft.com/office/drawing/2014/main" id="{3DB497ED-56FB-4098-BF7B-0EDA46529131}"/>
              </a:ext>
            </a:extLst>
          </p:cNvPr>
          <p:cNvSpPr>
            <a:spLocks noGrp="1"/>
          </p:cNvSpPr>
          <p:nvPr/>
        </p:nvSpPr>
        <p:spPr>
          <a:xfrm>
            <a:off x="609600" y="4362450"/>
            <a:ext cx="2667000" cy="49530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Session I development</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Session II held out</a:t>
            </a:r>
          </a:p>
        </p:txBody>
      </p:sp>
      <p:sp>
        <p:nvSpPr>
          <p:cNvPr id="9" name="Rectangle 8">
            <a:extLst>
              <a:ext uri="{FF2B5EF4-FFF2-40B4-BE49-F238E27FC236}">
                <a16:creationId xmlns:a16="http://schemas.microsoft.com/office/drawing/2014/main" id="{A2DEAC82-5ED2-4320-A49F-5FA6C294BA79}"/>
              </a:ext>
            </a:extLst>
          </p:cNvPr>
          <p:cNvSpPr>
            <a:spLocks noGrp="1"/>
          </p:cNvSpPr>
          <p:nvPr/>
        </p:nvSpPr>
        <p:spPr>
          <a:xfrm>
            <a:off x="4095750" y="3352800"/>
            <a:ext cx="2667000" cy="704850"/>
          </a:xfrm>
          <a:prstGeom prst="rect">
            <a:avLst/>
          </a:prstGeom>
          <a:noFill/>
          <a:ln w="0">
            <a:noFill/>
          </a:ln>
        </p:spPr>
        <p:txBody>
          <a:bodyPr wrap="square" lIns="0" tIns="0" rIns="0" bIns="0" anchor="t">
            <a:normAutofit/>
          </a:bodyPr>
          <a:lstStyle/>
          <a:p>
            <a:pPr algn="l">
              <a:buNone/>
              <a:defRPr sz="3600" b="1">
                <a:solidFill>
                  <a:srgbClr val="4EA1FF"/>
                </a:solidFill>
                <a:latin typeface="DejaVu Sans"/>
                <a:ea typeface="DejaVu Sans"/>
                <a:cs typeface="DejaVu Sans"/>
              </a:defRPr>
            </a:pPr>
            <a:r>
              <a:rPr sz="3600" b="1">
                <a:solidFill>
                  <a:srgbClr val="4EA1FF"/>
                </a:solidFill>
                <a:latin typeface="DejaVu Sans"/>
                <a:ea typeface="DejaVu Sans"/>
                <a:cs typeface="DejaVu Sans"/>
              </a:rPr>
              <a:t>2B</a:t>
            </a:r>
          </a:p>
        </p:txBody>
      </p:sp>
      <p:sp>
        <p:nvSpPr>
          <p:cNvPr id="10" name="Straight Connector 9">
            <a:extLst>
              <a:ext uri="{FF2B5EF4-FFF2-40B4-BE49-F238E27FC236}">
                <a16:creationId xmlns:a16="http://schemas.microsoft.com/office/drawing/2014/main" id="{6F0C69DE-9945-424D-85E3-C85D56722F63}"/>
              </a:ext>
            </a:extLst>
          </p:cNvPr>
          <p:cNvSpPr>
            <a:spLocks noGrp="1"/>
          </p:cNvSpPr>
          <p:nvPr/>
        </p:nvSpPr>
        <p:spPr>
          <a:xfrm>
            <a:off x="4095750" y="4171950"/>
            <a:ext cx="2667000" cy="0"/>
          </a:xfrm>
          <a:prstGeom prst="line">
            <a:avLst/>
          </a:prstGeom>
          <a:noFill/>
          <a:ln w="47625">
            <a:solidFill>
              <a:srgbClr val="4EA1FF"/>
            </a:solidFill>
            <a:prstDash val="solid"/>
          </a:ln>
        </p:spPr>
        <p:txBody>
          <a:bodyPr/>
          <a:lstStyle/>
          <a:p>
            <a:endParaRPr/>
          </a:p>
        </p:txBody>
      </p:sp>
      <p:sp>
        <p:nvSpPr>
          <p:cNvPr id="11" name="Rectangle 10">
            <a:extLst>
              <a:ext uri="{FF2B5EF4-FFF2-40B4-BE49-F238E27FC236}">
                <a16:creationId xmlns:a16="http://schemas.microsoft.com/office/drawing/2014/main" id="{4365A4B9-4806-4A0D-9D15-A18D22D28C19}"/>
              </a:ext>
            </a:extLst>
          </p:cNvPr>
          <p:cNvSpPr>
            <a:spLocks noGrp="1"/>
          </p:cNvSpPr>
          <p:nvPr/>
        </p:nvSpPr>
        <p:spPr>
          <a:xfrm>
            <a:off x="4095750" y="4362450"/>
            <a:ext cx="2667000" cy="49530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Sessions I–III development</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Sessions IV–V held out</a:t>
            </a:r>
          </a:p>
        </p:txBody>
      </p:sp>
      <p:sp>
        <p:nvSpPr>
          <p:cNvPr id="12" name="Rectangle 11">
            <a:extLst>
              <a:ext uri="{FF2B5EF4-FFF2-40B4-BE49-F238E27FC236}">
                <a16:creationId xmlns:a16="http://schemas.microsoft.com/office/drawing/2014/main" id="{87F64875-636B-46EB-9393-5788B975E374}"/>
              </a:ext>
            </a:extLst>
          </p:cNvPr>
          <p:cNvSpPr>
            <a:spLocks noGrp="1"/>
          </p:cNvSpPr>
          <p:nvPr/>
        </p:nvSpPr>
        <p:spPr>
          <a:xfrm>
            <a:off x="7581900" y="3352800"/>
            <a:ext cx="2667000" cy="704850"/>
          </a:xfrm>
          <a:prstGeom prst="rect">
            <a:avLst/>
          </a:prstGeom>
          <a:noFill/>
          <a:ln w="0">
            <a:noFill/>
          </a:ln>
        </p:spPr>
        <p:txBody>
          <a:bodyPr wrap="square" lIns="0" tIns="0" rIns="0" bIns="0" anchor="t">
            <a:normAutofit fontScale="85000" lnSpcReduction="10000"/>
          </a:bodyPr>
          <a:lstStyle/>
          <a:p>
            <a:pPr algn="l">
              <a:buNone/>
              <a:defRPr sz="3600" b="1">
                <a:solidFill>
                  <a:srgbClr val="2DD4BF"/>
                </a:solidFill>
                <a:latin typeface="DejaVu Sans"/>
                <a:ea typeface="DejaVu Sans"/>
                <a:cs typeface="DejaVu Sans"/>
              </a:defRPr>
            </a:pPr>
            <a:r>
              <a:rPr sz="3600" b="1" dirty="0">
                <a:solidFill>
                  <a:srgbClr val="2DD4BF"/>
                </a:solidFill>
                <a:latin typeface="DejaVu Sans"/>
                <a:ea typeface="DejaVu Sans"/>
                <a:cs typeface="DejaVu Sans"/>
              </a:rPr>
              <a:t>2</a:t>
            </a:r>
            <a:r>
              <a:rPr lang="en-US" sz="3600" b="1" dirty="0">
                <a:solidFill>
                  <a:srgbClr val="2DD4BF"/>
                </a:solidFill>
                <a:latin typeface="DejaVu Sans"/>
                <a:ea typeface="DejaVu Sans"/>
                <a:cs typeface="DejaVu Sans"/>
              </a:rPr>
              <a:t>-stage CSE</a:t>
            </a:r>
            <a:endParaRPr sz="3600" b="1" dirty="0">
              <a:solidFill>
                <a:srgbClr val="2DD4BF"/>
              </a:solidFill>
              <a:latin typeface="DejaVu Sans"/>
              <a:ea typeface="DejaVu Sans"/>
              <a:cs typeface="DejaVu Sans"/>
            </a:endParaRPr>
          </a:p>
        </p:txBody>
      </p:sp>
      <p:sp>
        <p:nvSpPr>
          <p:cNvPr id="13" name="Straight Connector 12">
            <a:extLst>
              <a:ext uri="{FF2B5EF4-FFF2-40B4-BE49-F238E27FC236}">
                <a16:creationId xmlns:a16="http://schemas.microsoft.com/office/drawing/2014/main" id="{229578C5-8E1C-4718-BD61-44C2B40D3491}"/>
              </a:ext>
            </a:extLst>
          </p:cNvPr>
          <p:cNvSpPr>
            <a:spLocks noGrp="1"/>
          </p:cNvSpPr>
          <p:nvPr/>
        </p:nvSpPr>
        <p:spPr>
          <a:xfrm>
            <a:off x="7581900" y="4171950"/>
            <a:ext cx="2667000" cy="0"/>
          </a:xfrm>
          <a:prstGeom prst="line">
            <a:avLst/>
          </a:prstGeom>
          <a:noFill/>
          <a:ln w="47625">
            <a:solidFill>
              <a:srgbClr val="2DD4BF"/>
            </a:solidFill>
            <a:prstDash val="solid"/>
          </a:ln>
        </p:spPr>
        <p:txBody>
          <a:bodyPr/>
          <a:lstStyle/>
          <a:p>
            <a:endParaRPr/>
          </a:p>
        </p:txBody>
      </p:sp>
      <p:sp>
        <p:nvSpPr>
          <p:cNvPr id="14" name="Rectangle 13">
            <a:extLst>
              <a:ext uri="{FF2B5EF4-FFF2-40B4-BE49-F238E27FC236}">
                <a16:creationId xmlns:a16="http://schemas.microsoft.com/office/drawing/2014/main" id="{82DD15D8-CAE4-4B08-8C2F-BC7B60878CA2}"/>
              </a:ext>
            </a:extLst>
          </p:cNvPr>
          <p:cNvSpPr>
            <a:spLocks noGrp="1"/>
          </p:cNvSpPr>
          <p:nvPr/>
        </p:nvSpPr>
        <p:spPr>
          <a:xfrm>
            <a:off x="7581900" y="4362450"/>
            <a:ext cx="2667000" cy="49530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EWMA warnings</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Hotelling T² validation</a:t>
            </a:r>
          </a:p>
        </p:txBody>
      </p:sp>
      <p:sp>
        <p:nvSpPr>
          <p:cNvPr id="15" name="Rectangle 14">
            <a:extLst>
              <a:ext uri="{FF2B5EF4-FFF2-40B4-BE49-F238E27FC236}">
                <a16:creationId xmlns:a16="http://schemas.microsoft.com/office/drawing/2014/main" id="{A1488553-F45B-4FF1-A081-BE3236ACA1C2}"/>
              </a:ext>
            </a:extLst>
          </p:cNvPr>
          <p:cNvSpPr>
            <a:spLocks noGrp="1"/>
          </p:cNvSpPr>
          <p:nvPr/>
        </p:nvSpPr>
        <p:spPr>
          <a:xfrm>
            <a:off x="609600" y="5467350"/>
            <a:ext cx="2095500" cy="228600"/>
          </a:xfrm>
          <a:prstGeom prst="rect">
            <a:avLst/>
          </a:prstGeom>
          <a:noFill/>
          <a:ln w="0">
            <a:noFill/>
          </a:ln>
        </p:spPr>
        <p:txBody>
          <a:bodyPr wrap="square" lIns="0" tIns="0" rIns="0" bIns="0" anchor="t">
            <a:normAutofit/>
          </a:bodyPr>
          <a:lstStyle/>
          <a:p>
            <a:pPr algn="l">
              <a:buNone/>
              <a:defRPr sz="1050" b="1">
                <a:solidFill>
                  <a:srgbClr val="9CB0C3"/>
                </a:solidFill>
                <a:latin typeface="DejaVu Sans"/>
                <a:ea typeface="DejaVu Sans"/>
                <a:cs typeface="DejaVu Sans"/>
              </a:defRPr>
            </a:pPr>
            <a:r>
              <a:rPr sz="1050" b="1">
                <a:solidFill>
                  <a:srgbClr val="9CB0C3"/>
                </a:solidFill>
                <a:latin typeface="DejaVu Sans"/>
                <a:ea typeface="DejaVu Sans"/>
                <a:cs typeface="DejaVu Sans"/>
              </a:rPr>
              <a:t>Current maturity</a:t>
            </a:r>
          </a:p>
        </p:txBody>
      </p:sp>
      <p:sp>
        <p:nvSpPr>
          <p:cNvPr id="16" name="Straight Connector 15">
            <a:extLst>
              <a:ext uri="{FF2B5EF4-FFF2-40B4-BE49-F238E27FC236}">
                <a16:creationId xmlns:a16="http://schemas.microsoft.com/office/drawing/2014/main" id="{05E1E5F8-1D28-4E29-9631-64C41F2B2F33}"/>
              </a:ext>
            </a:extLst>
          </p:cNvPr>
          <p:cNvSpPr>
            <a:spLocks noGrp="1"/>
          </p:cNvSpPr>
          <p:nvPr/>
        </p:nvSpPr>
        <p:spPr>
          <a:xfrm>
            <a:off x="2857500" y="5581650"/>
            <a:ext cx="7239000" cy="0"/>
          </a:xfrm>
          <a:prstGeom prst="line">
            <a:avLst/>
          </a:prstGeom>
          <a:noFill/>
          <a:ln w="76200">
            <a:solidFill>
              <a:srgbClr val="294057"/>
            </a:solidFill>
            <a:prstDash val="solid"/>
          </a:ln>
        </p:spPr>
        <p:txBody>
          <a:bodyPr/>
          <a:lstStyle/>
          <a:p>
            <a:endParaRPr/>
          </a:p>
        </p:txBody>
      </p:sp>
      <p:sp>
        <p:nvSpPr>
          <p:cNvPr id="17" name="Straight Connector 16">
            <a:extLst>
              <a:ext uri="{FF2B5EF4-FFF2-40B4-BE49-F238E27FC236}">
                <a16:creationId xmlns:a16="http://schemas.microsoft.com/office/drawing/2014/main" id="{49989D87-5AC9-490D-B5B2-269F48142E0B}"/>
              </a:ext>
            </a:extLst>
          </p:cNvPr>
          <p:cNvSpPr>
            <a:spLocks noGrp="1"/>
          </p:cNvSpPr>
          <p:nvPr/>
        </p:nvSpPr>
        <p:spPr>
          <a:xfrm>
            <a:off x="2857500" y="5581650"/>
            <a:ext cx="5476875" cy="0"/>
          </a:xfrm>
          <a:prstGeom prst="line">
            <a:avLst/>
          </a:prstGeom>
          <a:noFill/>
          <a:ln w="76200">
            <a:solidFill>
              <a:srgbClr val="2DD4BF"/>
            </a:solidFill>
            <a:prstDash val="solid"/>
          </a:ln>
        </p:spPr>
        <p:txBody>
          <a:bodyPr/>
          <a:lstStyle/>
          <a:p>
            <a:endParaRPr/>
          </a:p>
        </p:txBody>
      </p:sp>
      <p:sp>
        <p:nvSpPr>
          <p:cNvPr id="18" name="Rectangle: Rounded Corners 17">
            <a:extLst>
              <a:ext uri="{FF2B5EF4-FFF2-40B4-BE49-F238E27FC236}">
                <a16:creationId xmlns:a16="http://schemas.microsoft.com/office/drawing/2014/main" id="{6B6FE5F0-D115-4322-9E74-28246F7E442E}"/>
              </a:ext>
            </a:extLst>
          </p:cNvPr>
          <p:cNvSpPr>
            <a:spLocks noGrp="1"/>
          </p:cNvSpPr>
          <p:nvPr/>
        </p:nvSpPr>
        <p:spPr>
          <a:xfrm>
            <a:off x="8258175" y="5505450"/>
            <a:ext cx="152400" cy="152400"/>
          </a:xfrm>
          <a:prstGeom prst="roundRect">
            <a:avLst>
              <a:gd name="adj" fmla="val 50000"/>
            </a:avLst>
          </a:prstGeom>
          <a:solidFill>
            <a:srgbClr val="F5B942"/>
          </a:solidFill>
          <a:ln w="0">
            <a:noFill/>
          </a:ln>
        </p:spPr>
        <p:txBody>
          <a:bodyPr/>
          <a:lstStyle/>
          <a:p>
            <a:endParaRPr/>
          </a:p>
        </p:txBody>
      </p:sp>
      <p:sp>
        <p:nvSpPr>
          <p:cNvPr id="19" name="Rectangle 18">
            <a:extLst>
              <a:ext uri="{FF2B5EF4-FFF2-40B4-BE49-F238E27FC236}">
                <a16:creationId xmlns:a16="http://schemas.microsoft.com/office/drawing/2014/main" id="{13C826AB-809A-4F14-B9FE-5880AEAEB0D9}"/>
              </a:ext>
            </a:extLst>
          </p:cNvPr>
          <p:cNvSpPr>
            <a:spLocks noGrp="1"/>
          </p:cNvSpPr>
          <p:nvPr/>
        </p:nvSpPr>
        <p:spPr>
          <a:xfrm>
            <a:off x="8382000" y="5048250"/>
            <a:ext cx="3200400" cy="47625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Reproduction and discrepancy audit</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Classifier benchmarking</a:t>
            </a:r>
          </a:p>
        </p:txBody>
      </p:sp>
      <p:sp>
        <p:nvSpPr>
          <p:cNvPr id="20" name="Rectangle 19">
            <a:extLst>
              <a:ext uri="{FF2B5EF4-FFF2-40B4-BE49-F238E27FC236}">
                <a16:creationId xmlns:a16="http://schemas.microsoft.com/office/drawing/2014/main" id="{409F4DC8-4D8E-490A-BBCF-F27362E87563}"/>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1" name="Rectangle 20">
            <a:extLst>
              <a:ext uri="{FF2B5EF4-FFF2-40B4-BE49-F238E27FC236}">
                <a16:creationId xmlns:a16="http://schemas.microsoft.com/office/drawing/2014/main" id="{E7445EB6-2F24-48F3-965C-9A2925AC5349}"/>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r>
              <a:t>02</a:t>
            </a:r>
          </a:p>
        </p:txBody>
      </p:sp>
      <p:sp>
        <p:nvSpPr>
          <p:cNvPr id="23" name="Protocol clarification">
            <a:extLst>
              <a:ext uri="{FF2B5EF4-FFF2-40B4-BE49-F238E27FC236}">
                <a16:creationId xmlns:a16="http://schemas.microsoft.com/office/drawing/2014/main" id="{8CD10810-E012-468A-8084-77462D919940}"/>
              </a:ext>
            </a:extLst>
          </p:cNvPr>
          <p:cNvSpPr>
            <a:spLocks noGrp="1"/>
          </p:cNvSpPr>
          <p:nvPr/>
        </p:nvSpPr>
        <p:spPr>
          <a:xfrm>
            <a:off x="609600" y="4895850"/>
            <a:ext cx="7334250" cy="257175"/>
          </a:xfrm>
          <a:prstGeom prst="rect">
            <a:avLst/>
          </a:prstGeom>
          <a:noFill/>
          <a:ln w="0">
            <a:noFill/>
          </a:ln>
        </p:spPr>
        <p:txBody>
          <a:bodyPr>
            <a:noAutofit/>
          </a:bodyPr>
          <a:lstStyle/>
          <a:p>
            <a:pPr>
              <a:defRPr sz="1050">
                <a:solidFill>
                  <a:srgbClr val="9CB0C3"/>
                </a:solidFill>
                <a:latin typeface="DejaVu Sans"/>
                <a:ea typeface="DejaVu Sans"/>
                <a:cs typeface="DejaVu Sans"/>
              </a:defRPr>
            </a:pPr>
            <a:r>
              <a:rPr sz="1050">
                <a:solidFill>
                  <a:srgbClr val="9CB0C3"/>
                </a:solidFill>
                <a:latin typeface="DejaVu Sans"/>
                <a:ea typeface="DejaVu Sans"/>
                <a:cs typeface="DejaVu Sans"/>
              </a:rPr>
              <a:t>CSE splits shown above. Classifier benchmarking uses a separate held-out protocol.</a:t>
            </a:r>
          </a:p>
        </p:txBody>
      </p:sp>
      <p:sp>
        <p:nvSpPr>
          <p:cNvPr id="24" name="Integration boundary">
            <a:extLst>
              <a:ext uri="{FF2B5EF4-FFF2-40B4-BE49-F238E27FC236}">
                <a16:creationId xmlns:a16="http://schemas.microsoft.com/office/drawing/2014/main" id="{429C7B4D-AB5E-4F20-AA71-6F5A9BD1570B}"/>
              </a:ext>
            </a:extLst>
          </p:cNvPr>
          <p:cNvSpPr>
            <a:spLocks noGrp="1"/>
          </p:cNvSpPr>
          <p:nvPr/>
        </p:nvSpPr>
        <p:spPr>
          <a:xfrm>
            <a:off x="609600" y="5953125"/>
            <a:ext cx="10972800" cy="428625"/>
          </a:xfrm>
          <a:prstGeom prst="rect">
            <a:avLst/>
          </a:prstGeom>
          <a:noFill/>
          <a:ln w="0">
            <a:noFill/>
          </a:ln>
        </p:spPr>
        <p:txBody>
          <a:bodyPr>
            <a:noAutofit/>
          </a:bodyPr>
          <a:lstStyle/>
          <a:p>
            <a:pPr>
              <a:defRPr sz="1200">
                <a:solidFill>
                  <a:srgbClr val="EAF2F8"/>
                </a:solidFill>
                <a:latin typeface="DejaVu Sans"/>
                <a:ea typeface="DejaVu Sans"/>
                <a:cs typeface="DejaVu Sans"/>
              </a:defRPr>
            </a:pPr>
            <a:r>
              <a:rPr sz="1200">
                <a:solidFill>
                  <a:srgbClr val="EAF2F8"/>
                </a:solidFill>
                <a:latin typeface="DejaVu Sans"/>
                <a:ea typeface="DejaVu Sans"/>
                <a:cs typeface="DejaVu Sans"/>
              </a:rPr>
              <a:t>Research boundary: full CSE-UAEL integration remains open, including PWKNN pseudo-labelling</a:t>
            </a:r>
          </a:p>
          <a:p>
            <a:pPr>
              <a:defRPr sz="1200">
                <a:solidFill>
                  <a:srgbClr val="EAF2F8"/>
                </a:solidFill>
                <a:latin typeface="DejaVu Sans"/>
                <a:ea typeface="DejaVu Sans"/>
                <a:cs typeface="DejaVu Sans"/>
              </a:defRPr>
            </a:pPr>
            <a:r>
              <a:rPr sz="1200">
                <a:solidFill>
                  <a:srgbClr val="EAF2F8"/>
                </a:solidFill>
                <a:latin typeface="DejaVu Sans"/>
                <a:ea typeface="DejaVu Sans"/>
                <a:cs typeface="DejaVu Sans"/>
              </a:rPr>
              <a:t>and dynamic ensemble growth.</a:t>
            </a:r>
          </a:p>
        </p:txBody>
      </p:sp>
    </p:spTree>
    <p:extLst>
      <p:ext uri="{BB962C8B-B14F-4D97-AF65-F5344CB8AC3E}">
        <p14:creationId xmlns:p14="http://schemas.microsoft.com/office/powerpoint/2010/main" val="3821001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6ED0F0C5-6845-4817-BDB0-68B77FB68801}"/>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LITERATURE REVIEW</a:t>
            </a:r>
          </a:p>
        </p:txBody>
      </p:sp>
      <p:sp>
        <p:nvSpPr>
          <p:cNvPr id="2" name="Rectangle 1">
            <a:extLst>
              <a:ext uri="{FF2B5EF4-FFF2-40B4-BE49-F238E27FC236}">
                <a16:creationId xmlns:a16="http://schemas.microsoft.com/office/drawing/2014/main" id="{B86C294D-CD02-4989-878B-778A0AFD6CF2}"/>
              </a:ext>
            </a:extLst>
          </p:cNvPr>
          <p:cNvSpPr>
            <a:spLocks noGrp="1"/>
          </p:cNvSpPr>
          <p:nvPr/>
        </p:nvSpPr>
        <p:spPr>
          <a:xfrm>
            <a:off x="609600" y="685800"/>
            <a:ext cx="10953750" cy="552450"/>
          </a:xfrm>
          <a:prstGeom prst="rect">
            <a:avLst/>
          </a:prstGeom>
          <a:noFill/>
          <a:ln w="0">
            <a:noFill/>
          </a:ln>
        </p:spPr>
        <p:txBody>
          <a:bodyPr wrap="square" lIns="0" tIns="0" rIns="0" bIns="0" anchor="t">
            <a:norm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Reading informs the reconstruction and its limits</a:t>
            </a:r>
          </a:p>
        </p:txBody>
      </p:sp>
      <p:sp>
        <p:nvSpPr>
          <p:cNvPr id="3" name="Straight Connector 2">
            <a:extLst>
              <a:ext uri="{FF2B5EF4-FFF2-40B4-BE49-F238E27FC236}">
                <a16:creationId xmlns:a16="http://schemas.microsoft.com/office/drawing/2014/main" id="{15952200-5E6E-468B-8B3A-4C220229AAB4}"/>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Straight Connector 3">
            <a:extLst>
              <a:ext uri="{FF2B5EF4-FFF2-40B4-BE49-F238E27FC236}">
                <a16:creationId xmlns:a16="http://schemas.microsoft.com/office/drawing/2014/main" id="{9A2AC98A-F2B5-41D3-A0B8-2FC04CE4AC64}"/>
              </a:ext>
            </a:extLst>
          </p:cNvPr>
          <p:cNvSpPr>
            <a:spLocks noGrp="1"/>
          </p:cNvSpPr>
          <p:nvPr/>
        </p:nvSpPr>
        <p:spPr>
          <a:xfrm>
            <a:off x="1143000" y="3143250"/>
            <a:ext cx="9906000" cy="0"/>
          </a:xfrm>
          <a:prstGeom prst="line">
            <a:avLst/>
          </a:prstGeom>
          <a:noFill/>
          <a:ln w="47625">
            <a:solidFill>
              <a:srgbClr val="294057"/>
            </a:solidFill>
            <a:prstDash val="solid"/>
          </a:ln>
        </p:spPr>
        <p:txBody>
          <a:bodyPr/>
          <a:lstStyle/>
          <a:p>
            <a:endParaRPr/>
          </a:p>
        </p:txBody>
      </p:sp>
      <p:sp>
        <p:nvSpPr>
          <p:cNvPr id="5" name="Rectangle: Rounded Corners 4">
            <a:extLst>
              <a:ext uri="{FF2B5EF4-FFF2-40B4-BE49-F238E27FC236}">
                <a16:creationId xmlns:a16="http://schemas.microsoft.com/office/drawing/2014/main" id="{0C0F15E2-E046-4F78-9DEE-0924199ED7FC}"/>
              </a:ext>
            </a:extLst>
          </p:cNvPr>
          <p:cNvSpPr>
            <a:spLocks noGrp="1"/>
          </p:cNvSpPr>
          <p:nvPr/>
        </p:nvSpPr>
        <p:spPr>
          <a:xfrm>
            <a:off x="1238250" y="3009900"/>
            <a:ext cx="266700" cy="266700"/>
          </a:xfrm>
          <a:prstGeom prst="roundRect">
            <a:avLst>
              <a:gd name="adj" fmla="val 50000"/>
            </a:avLst>
          </a:prstGeom>
          <a:solidFill>
            <a:srgbClr val="4EA1FF"/>
          </a:solidFill>
          <a:ln w="0">
            <a:noFill/>
          </a:ln>
        </p:spPr>
        <p:txBody>
          <a:bodyPr/>
          <a:lstStyle/>
          <a:p>
            <a:endParaRPr/>
          </a:p>
        </p:txBody>
      </p:sp>
      <p:sp>
        <p:nvSpPr>
          <p:cNvPr id="6" name="Rectangle 5">
            <a:extLst>
              <a:ext uri="{FF2B5EF4-FFF2-40B4-BE49-F238E27FC236}">
                <a16:creationId xmlns:a16="http://schemas.microsoft.com/office/drawing/2014/main" id="{B3EF8275-D142-4976-B9CE-AC1189FF3F56}"/>
              </a:ext>
            </a:extLst>
          </p:cNvPr>
          <p:cNvSpPr>
            <a:spLocks noGrp="1"/>
          </p:cNvSpPr>
          <p:nvPr/>
        </p:nvSpPr>
        <p:spPr>
          <a:xfrm>
            <a:off x="990600" y="2019300"/>
            <a:ext cx="1143000" cy="342900"/>
          </a:xfrm>
          <a:prstGeom prst="rect">
            <a:avLst/>
          </a:prstGeom>
          <a:noFill/>
          <a:ln w="0">
            <a:noFill/>
          </a:ln>
        </p:spPr>
        <p:txBody>
          <a:bodyPr wrap="square" lIns="0" tIns="0" rIns="0" bIns="0" anchor="t">
            <a:normAutofit/>
          </a:bodyPr>
          <a:lstStyle/>
          <a:p>
            <a:pPr algn="ctr">
              <a:buNone/>
              <a:defRPr sz="1650" b="1">
                <a:solidFill>
                  <a:srgbClr val="4EA1FF"/>
                </a:solidFill>
                <a:latin typeface="DejaVu Sans"/>
                <a:ea typeface="DejaVu Sans"/>
                <a:cs typeface="DejaVu Sans"/>
              </a:defRPr>
            </a:pPr>
            <a:r>
              <a:rPr sz="1650" b="1">
                <a:solidFill>
                  <a:srgbClr val="4EA1FF"/>
                </a:solidFill>
                <a:latin typeface="DejaVu Sans"/>
                <a:ea typeface="DejaVu Sans"/>
                <a:cs typeface="DejaVu Sans"/>
              </a:rPr>
              <a:t>2015</a:t>
            </a:r>
          </a:p>
        </p:txBody>
      </p:sp>
      <p:sp>
        <p:nvSpPr>
          <p:cNvPr id="7" name="Rectangle 6">
            <a:extLst>
              <a:ext uri="{FF2B5EF4-FFF2-40B4-BE49-F238E27FC236}">
                <a16:creationId xmlns:a16="http://schemas.microsoft.com/office/drawing/2014/main" id="{9973316C-A27B-4BBD-AA8B-E09882FD6172}"/>
              </a:ext>
            </a:extLst>
          </p:cNvPr>
          <p:cNvSpPr>
            <a:spLocks noGrp="1"/>
          </p:cNvSpPr>
          <p:nvPr/>
        </p:nvSpPr>
        <p:spPr>
          <a:xfrm>
            <a:off x="571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detector basis</a:t>
            </a:r>
          </a:p>
        </p:txBody>
      </p:sp>
      <p:sp>
        <p:nvSpPr>
          <p:cNvPr id="8" name="Rectangle 7">
            <a:extLst>
              <a:ext uri="{FF2B5EF4-FFF2-40B4-BE49-F238E27FC236}">
                <a16:creationId xmlns:a16="http://schemas.microsoft.com/office/drawing/2014/main" id="{AE29DA93-D443-4AE2-A341-E0C200D5A253}"/>
              </a:ext>
            </a:extLst>
          </p:cNvPr>
          <p:cNvSpPr>
            <a:spLocks noGrp="1"/>
          </p:cNvSpPr>
          <p:nvPr/>
        </p:nvSpPr>
        <p:spPr>
          <a:xfrm>
            <a:off x="571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EWMA warning logic</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D2/D3/D4 audit</a:t>
            </a:r>
          </a:p>
        </p:txBody>
      </p:sp>
      <p:sp>
        <p:nvSpPr>
          <p:cNvPr id="10" name="Rectangle: Rounded Corners 9">
            <a:extLst>
              <a:ext uri="{FF2B5EF4-FFF2-40B4-BE49-F238E27FC236}">
                <a16:creationId xmlns:a16="http://schemas.microsoft.com/office/drawing/2014/main" id="{286E4705-6593-4CAC-876E-EBF3C80A9C36}"/>
              </a:ext>
            </a:extLst>
          </p:cNvPr>
          <p:cNvSpPr>
            <a:spLocks noGrp="1"/>
          </p:cNvSpPr>
          <p:nvPr/>
        </p:nvSpPr>
        <p:spPr>
          <a:xfrm>
            <a:off x="3905250" y="3009900"/>
            <a:ext cx="266700" cy="266700"/>
          </a:xfrm>
          <a:prstGeom prst="roundRect">
            <a:avLst>
              <a:gd name="adj" fmla="val 50000"/>
            </a:avLst>
          </a:prstGeom>
          <a:solidFill>
            <a:srgbClr val="2DD4BF"/>
          </a:solidFill>
          <a:ln w="0">
            <a:noFill/>
          </a:ln>
        </p:spPr>
        <p:txBody>
          <a:bodyPr/>
          <a:lstStyle/>
          <a:p>
            <a:endParaRPr/>
          </a:p>
        </p:txBody>
      </p:sp>
      <p:sp>
        <p:nvSpPr>
          <p:cNvPr id="11" name="Rectangle 10">
            <a:extLst>
              <a:ext uri="{FF2B5EF4-FFF2-40B4-BE49-F238E27FC236}">
                <a16:creationId xmlns:a16="http://schemas.microsoft.com/office/drawing/2014/main" id="{5224A723-3CD5-48B0-89AA-D2F0E7EFAAD0}"/>
              </a:ext>
            </a:extLst>
          </p:cNvPr>
          <p:cNvSpPr>
            <a:spLocks noGrp="1"/>
          </p:cNvSpPr>
          <p:nvPr/>
        </p:nvSpPr>
        <p:spPr>
          <a:xfrm>
            <a:off x="3657600" y="2019300"/>
            <a:ext cx="1143000" cy="342900"/>
          </a:xfrm>
          <a:prstGeom prst="rect">
            <a:avLst/>
          </a:prstGeom>
          <a:noFill/>
          <a:ln w="0">
            <a:noFill/>
          </a:ln>
        </p:spPr>
        <p:txBody>
          <a:bodyPr wrap="square" lIns="0" tIns="0" rIns="0" bIns="0" anchor="t">
            <a:normAutofit/>
          </a:bodyPr>
          <a:lstStyle/>
          <a:p>
            <a:pPr algn="ctr">
              <a:buNone/>
              <a:defRPr sz="1650" b="1">
                <a:solidFill>
                  <a:srgbClr val="2DD4BF"/>
                </a:solidFill>
                <a:latin typeface="DejaVu Sans"/>
                <a:ea typeface="DejaVu Sans"/>
                <a:cs typeface="DejaVu Sans"/>
              </a:defRPr>
            </a:pPr>
            <a:r>
              <a:rPr sz="1650" b="1">
                <a:solidFill>
                  <a:srgbClr val="2DD4BF"/>
                </a:solidFill>
                <a:latin typeface="DejaVu Sans"/>
                <a:ea typeface="DejaVu Sans"/>
                <a:cs typeface="DejaVu Sans"/>
              </a:rPr>
              <a:t>2018</a:t>
            </a:r>
          </a:p>
        </p:txBody>
      </p:sp>
      <p:sp>
        <p:nvSpPr>
          <p:cNvPr id="12" name="Rectangle 11">
            <a:extLst>
              <a:ext uri="{FF2B5EF4-FFF2-40B4-BE49-F238E27FC236}">
                <a16:creationId xmlns:a16="http://schemas.microsoft.com/office/drawing/2014/main" id="{6E815300-B5F2-4A41-ACCC-52F5F2A6DDE7}"/>
              </a:ext>
            </a:extLst>
          </p:cNvPr>
          <p:cNvSpPr>
            <a:spLocks noGrp="1"/>
          </p:cNvSpPr>
          <p:nvPr/>
        </p:nvSpPr>
        <p:spPr>
          <a:xfrm>
            <a:off x="3238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Chowdhury: online BCI</a:t>
            </a:r>
          </a:p>
        </p:txBody>
      </p:sp>
      <p:sp>
        <p:nvSpPr>
          <p:cNvPr id="13" name="Rectangle 12">
            <a:extLst>
              <a:ext uri="{FF2B5EF4-FFF2-40B4-BE49-F238E27FC236}">
                <a16:creationId xmlns:a16="http://schemas.microsoft.com/office/drawing/2014/main" id="{D5742545-4578-44F5-80CF-38F0769CAA90}"/>
              </a:ext>
            </a:extLst>
          </p:cNvPr>
          <p:cNvSpPr>
            <a:spLocks noGrp="1"/>
          </p:cNvSpPr>
          <p:nvPr/>
        </p:nvSpPr>
        <p:spPr>
          <a:xfrm>
            <a:off x="3238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μ/β-band CSP</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SVM and feedback</a:t>
            </a:r>
          </a:p>
        </p:txBody>
      </p:sp>
      <p:sp>
        <p:nvSpPr>
          <p:cNvPr id="15" name="Rectangle: Rounded Corners 14">
            <a:extLst>
              <a:ext uri="{FF2B5EF4-FFF2-40B4-BE49-F238E27FC236}">
                <a16:creationId xmlns:a16="http://schemas.microsoft.com/office/drawing/2014/main" id="{834A2043-F901-4D00-BD49-C1083559860F}"/>
              </a:ext>
            </a:extLst>
          </p:cNvPr>
          <p:cNvSpPr>
            <a:spLocks noGrp="1"/>
          </p:cNvSpPr>
          <p:nvPr/>
        </p:nvSpPr>
        <p:spPr>
          <a:xfrm>
            <a:off x="6572250" y="3009900"/>
            <a:ext cx="266700" cy="266700"/>
          </a:xfrm>
          <a:prstGeom prst="roundRect">
            <a:avLst>
              <a:gd name="adj" fmla="val 50000"/>
            </a:avLst>
          </a:prstGeom>
          <a:solidFill>
            <a:srgbClr val="F5B942"/>
          </a:solidFill>
          <a:ln w="0">
            <a:noFill/>
          </a:ln>
        </p:spPr>
        <p:txBody>
          <a:bodyPr/>
          <a:lstStyle/>
          <a:p>
            <a:endParaRPr/>
          </a:p>
        </p:txBody>
      </p:sp>
      <p:sp>
        <p:nvSpPr>
          <p:cNvPr id="16" name="Rectangle 15">
            <a:extLst>
              <a:ext uri="{FF2B5EF4-FFF2-40B4-BE49-F238E27FC236}">
                <a16:creationId xmlns:a16="http://schemas.microsoft.com/office/drawing/2014/main" id="{2BAB5777-D390-4DF4-AFD8-4999AC3FD30E}"/>
              </a:ext>
            </a:extLst>
          </p:cNvPr>
          <p:cNvSpPr>
            <a:spLocks noGrp="1"/>
          </p:cNvSpPr>
          <p:nvPr/>
        </p:nvSpPr>
        <p:spPr>
          <a:xfrm>
            <a:off x="6324600" y="2019300"/>
            <a:ext cx="1143000" cy="342900"/>
          </a:xfrm>
          <a:prstGeom prst="rect">
            <a:avLst/>
          </a:prstGeom>
          <a:noFill/>
          <a:ln w="0">
            <a:noFill/>
          </a:ln>
        </p:spPr>
        <p:txBody>
          <a:bodyPr wrap="square" lIns="0" tIns="0" rIns="0" bIns="0" anchor="t">
            <a:normAutofit/>
          </a:bodyPr>
          <a:lstStyle/>
          <a:p>
            <a:pPr algn="ctr">
              <a:buNone/>
              <a:defRPr sz="1650" b="1">
                <a:solidFill>
                  <a:srgbClr val="F5B942"/>
                </a:solidFill>
                <a:latin typeface="DejaVu Sans"/>
                <a:ea typeface="DejaVu Sans"/>
                <a:cs typeface="DejaVu Sans"/>
              </a:defRPr>
            </a:pPr>
            <a:r>
              <a:rPr sz="1650" b="1">
                <a:solidFill>
                  <a:srgbClr val="F5B942"/>
                </a:solidFill>
                <a:latin typeface="DejaVu Sans"/>
                <a:ea typeface="DejaVu Sans"/>
                <a:cs typeface="DejaVu Sans"/>
              </a:rPr>
              <a:t>2019</a:t>
            </a:r>
          </a:p>
        </p:txBody>
      </p:sp>
      <p:sp>
        <p:nvSpPr>
          <p:cNvPr id="17" name="Rectangle 16">
            <a:extLst>
              <a:ext uri="{FF2B5EF4-FFF2-40B4-BE49-F238E27FC236}">
                <a16:creationId xmlns:a16="http://schemas.microsoft.com/office/drawing/2014/main" id="{1EF414CB-02B1-41C4-A8EA-5B48624BABD1}"/>
              </a:ext>
            </a:extLst>
          </p:cNvPr>
          <p:cNvSpPr>
            <a:spLocks noGrp="1"/>
          </p:cNvSpPr>
          <p:nvPr/>
        </p:nvSpPr>
        <p:spPr>
          <a:xfrm>
            <a:off x="5905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CSE-UAEL</a:t>
            </a:r>
          </a:p>
        </p:txBody>
      </p:sp>
      <p:sp>
        <p:nvSpPr>
          <p:cNvPr id="18" name="Rectangle 17">
            <a:extLst>
              <a:ext uri="{FF2B5EF4-FFF2-40B4-BE49-F238E27FC236}">
                <a16:creationId xmlns:a16="http://schemas.microsoft.com/office/drawing/2014/main" id="{7C4F5BBC-F4DA-4621-BA7D-23F869B359D5}"/>
              </a:ext>
            </a:extLst>
          </p:cNvPr>
          <p:cNvSpPr>
            <a:spLocks noGrp="1"/>
          </p:cNvSpPr>
          <p:nvPr/>
        </p:nvSpPr>
        <p:spPr>
          <a:xfrm>
            <a:off x="5905500" y="3562350"/>
            <a:ext cx="1619250" cy="60960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Two-stage CSE</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Adaptation context</a:t>
            </a:r>
          </a:p>
        </p:txBody>
      </p:sp>
      <p:sp>
        <p:nvSpPr>
          <p:cNvPr id="20" name="Rectangle: Rounded Corners 19">
            <a:extLst>
              <a:ext uri="{FF2B5EF4-FFF2-40B4-BE49-F238E27FC236}">
                <a16:creationId xmlns:a16="http://schemas.microsoft.com/office/drawing/2014/main" id="{2A1CE66C-8D1F-45A4-ADCD-66FB6EDD99F9}"/>
              </a:ext>
            </a:extLst>
          </p:cNvPr>
          <p:cNvSpPr>
            <a:spLocks noGrp="1"/>
          </p:cNvSpPr>
          <p:nvPr/>
        </p:nvSpPr>
        <p:spPr>
          <a:xfrm>
            <a:off x="9239250" y="3009900"/>
            <a:ext cx="266700" cy="266700"/>
          </a:xfrm>
          <a:prstGeom prst="roundRect">
            <a:avLst>
              <a:gd name="adj" fmla="val 50000"/>
            </a:avLst>
          </a:prstGeom>
          <a:solidFill>
            <a:srgbClr val="64D98B"/>
          </a:solidFill>
          <a:ln w="0">
            <a:noFill/>
          </a:ln>
        </p:spPr>
        <p:txBody>
          <a:bodyPr/>
          <a:lstStyle/>
          <a:p>
            <a:endParaRPr/>
          </a:p>
        </p:txBody>
      </p:sp>
      <p:sp>
        <p:nvSpPr>
          <p:cNvPr id="21" name="Rectangle 20">
            <a:extLst>
              <a:ext uri="{FF2B5EF4-FFF2-40B4-BE49-F238E27FC236}">
                <a16:creationId xmlns:a16="http://schemas.microsoft.com/office/drawing/2014/main" id="{57E7A475-CDCA-424D-A222-FA271DE91E17}"/>
              </a:ext>
            </a:extLst>
          </p:cNvPr>
          <p:cNvSpPr>
            <a:spLocks noGrp="1"/>
          </p:cNvSpPr>
          <p:nvPr/>
        </p:nvSpPr>
        <p:spPr>
          <a:xfrm>
            <a:off x="8991600" y="2019300"/>
            <a:ext cx="1143000" cy="342900"/>
          </a:xfrm>
          <a:prstGeom prst="rect">
            <a:avLst/>
          </a:prstGeom>
          <a:noFill/>
          <a:ln w="0">
            <a:noFill/>
          </a:ln>
        </p:spPr>
        <p:txBody>
          <a:bodyPr wrap="square" lIns="0" tIns="0" rIns="0" bIns="0" anchor="t">
            <a:normAutofit/>
          </a:bodyPr>
          <a:lstStyle/>
          <a:p>
            <a:pPr algn="ctr">
              <a:buNone/>
              <a:defRPr sz="1650" b="1">
                <a:solidFill>
                  <a:srgbClr val="64D98B"/>
                </a:solidFill>
                <a:latin typeface="DejaVu Sans"/>
                <a:ea typeface="DejaVu Sans"/>
                <a:cs typeface="DejaVu Sans"/>
              </a:defRPr>
            </a:pPr>
            <a:r>
              <a:rPr sz="1650" b="1">
                <a:solidFill>
                  <a:srgbClr val="64D98B"/>
                </a:solidFill>
                <a:latin typeface="DejaVu Sans"/>
                <a:ea typeface="DejaVu Sans"/>
                <a:cs typeface="DejaVu Sans"/>
              </a:rPr>
              <a:t>Related</a:t>
            </a:r>
          </a:p>
        </p:txBody>
      </p:sp>
      <p:sp>
        <p:nvSpPr>
          <p:cNvPr id="22" name="Rectangle 21">
            <a:extLst>
              <a:ext uri="{FF2B5EF4-FFF2-40B4-BE49-F238E27FC236}">
                <a16:creationId xmlns:a16="http://schemas.microsoft.com/office/drawing/2014/main" id="{07A2A7A9-3216-4C86-B2EE-21E658798DE2}"/>
              </a:ext>
            </a:extLst>
          </p:cNvPr>
          <p:cNvSpPr>
            <a:spLocks noGrp="1"/>
          </p:cNvSpPr>
          <p:nvPr/>
        </p:nvSpPr>
        <p:spPr>
          <a:xfrm>
            <a:off x="8572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Rao and Heyden</a:t>
            </a:r>
          </a:p>
        </p:txBody>
      </p:sp>
      <p:sp>
        <p:nvSpPr>
          <p:cNvPr id="23" name="Rectangle 22">
            <a:extLst>
              <a:ext uri="{FF2B5EF4-FFF2-40B4-BE49-F238E27FC236}">
                <a16:creationId xmlns:a16="http://schemas.microsoft.com/office/drawing/2014/main" id="{225067DC-03F2-4010-AB52-596DC08C1CD3}"/>
              </a:ext>
            </a:extLst>
          </p:cNvPr>
          <p:cNvSpPr>
            <a:spLocks noGrp="1"/>
          </p:cNvSpPr>
          <p:nvPr/>
        </p:nvSpPr>
        <p:spPr>
          <a:xfrm>
            <a:off x="8572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PCA subspaces</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Residual monitoring</a:t>
            </a:r>
          </a:p>
        </p:txBody>
      </p:sp>
      <p:sp>
        <p:nvSpPr>
          <p:cNvPr id="24" name="Rectangle 23">
            <a:extLst>
              <a:ext uri="{FF2B5EF4-FFF2-40B4-BE49-F238E27FC236}">
                <a16:creationId xmlns:a16="http://schemas.microsoft.com/office/drawing/2014/main" id="{863455E8-C60A-401F-AF94-B3849E580544}"/>
              </a:ext>
            </a:extLst>
          </p:cNvPr>
          <p:cNvSpPr>
            <a:spLocks noGrp="1"/>
          </p:cNvSpPr>
          <p:nvPr/>
        </p:nvSpPr>
        <p:spPr>
          <a:xfrm>
            <a:off x="1238250" y="5504688"/>
            <a:ext cx="9715500" cy="502920"/>
          </a:xfrm>
          <a:prstGeom prst="rect">
            <a:avLst/>
          </a:prstGeom>
          <a:noFill/>
          <a:ln w="0">
            <a:noFill/>
          </a:ln>
        </p:spPr>
        <p:txBody>
          <a:bodyPr wrap="square" lIns="0" tIns="0" rIns="0" bIns="0" anchor="t">
            <a:noAutofit/>
          </a:bodyPr>
          <a:lstStyle/>
          <a:p>
            <a:pPr algn="l">
              <a:buNone/>
              <a:defRPr sz="1500" b="1">
                <a:solidFill>
                  <a:srgbClr val="EAF2F8"/>
                </a:solidFill>
                <a:latin typeface="DejaVu Sans"/>
                <a:ea typeface="DejaVu Sans"/>
                <a:cs typeface="DejaVu Sans"/>
              </a:defRPr>
            </a:pPr>
            <a:r>
              <a:rPr sz="1500" b="1">
                <a:solidFill>
                  <a:srgbClr val="EAF2F8"/>
                </a:solidFill>
                <a:latin typeface="DejaVu Sans"/>
                <a:ea typeface="DejaVu Sans"/>
                <a:cs typeface="DejaVu Sans"/>
              </a:rPr>
              <a:t>Alippi et al. (2017): hierarchical detection provides a related framework for warning and validation.</a:t>
            </a:r>
          </a:p>
        </p:txBody>
      </p:sp>
      <p:sp>
        <p:nvSpPr>
          <p:cNvPr id="25" name="Rectangle 24">
            <a:extLst>
              <a:ext uri="{FF2B5EF4-FFF2-40B4-BE49-F238E27FC236}">
                <a16:creationId xmlns:a16="http://schemas.microsoft.com/office/drawing/2014/main" id="{83AD054A-77DD-438F-B1A2-CEAD38F2A1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6" name="Rectangle 25">
            <a:extLst>
              <a:ext uri="{FF2B5EF4-FFF2-40B4-BE49-F238E27FC236}">
                <a16:creationId xmlns:a16="http://schemas.microsoft.com/office/drawing/2014/main" id="{76AF4919-C33C-49E3-9215-D84C4C44FE12}"/>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r>
              <a:t>03</a:t>
            </a:r>
          </a:p>
        </p:txBody>
      </p:sp>
      <p:sp>
        <p:nvSpPr>
          <p:cNvPr id="28" name="Rounded Rectangle 27"/>
          <p:cNvSpPr/>
          <p:nvPr/>
        </p:nvSpPr>
        <p:spPr>
          <a:xfrm>
            <a:off x="7498079" y="4297680"/>
            <a:ext cx="3794760" cy="658368"/>
          </a:xfrm>
          <a:prstGeom prst="roundRect">
            <a:avLst/>
          </a:prstGeom>
          <a:solidFill>
            <a:srgbClr val="091A2B"/>
          </a:solidFill>
          <a:ln w="12700">
            <a:solidFill>
              <a:srgbClr val="A56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62672" y="4389120"/>
            <a:ext cx="3429000" cy="146304"/>
          </a:xfrm>
          <a:prstGeom prst="rect">
            <a:avLst/>
          </a:prstGeom>
          <a:noFill/>
        </p:spPr>
        <p:txBody>
          <a:bodyPr wrap="none" lIns="0" tIns="0" rIns="0" bIns="0">
            <a:spAutoFit/>
          </a:bodyPr>
          <a:lstStyle/>
          <a:p>
            <a:r>
              <a:rPr sz="840" b="1">
                <a:solidFill>
                  <a:srgbClr val="A56AFF"/>
                </a:solidFill>
                <a:latin typeface="Aptos"/>
              </a:rPr>
              <a:t>Heyden et al. (2024): reconstruction loss basis</a:t>
            </a:r>
          </a:p>
        </p:txBody>
      </p:sp>
      <p:pic>
        <p:nvPicPr>
          <p:cNvPr id="30" name="Picture 29" descr="formula_loss.png"/>
          <p:cNvPicPr>
            <a:picLocks noChangeAspect="1"/>
          </p:cNvPicPr>
          <p:nvPr/>
        </p:nvPicPr>
        <p:blipFill>
          <a:blip r:embed="rId3"/>
          <a:stretch>
            <a:fillRect/>
          </a:stretch>
        </p:blipFill>
        <p:spPr>
          <a:xfrm>
            <a:off x="8243720" y="4543501"/>
            <a:ext cx="2257760" cy="417589"/>
          </a:xfrm>
          <a:prstGeom prst="rect">
            <a:avLst/>
          </a:prstGeom>
        </p:spPr>
      </p:pic>
    </p:spTree>
    <p:extLst>
      <p:ext uri="{BB962C8B-B14F-4D97-AF65-F5344CB8AC3E}">
        <p14:creationId xmlns:p14="http://schemas.microsoft.com/office/powerpoint/2010/main" val="2137863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82CFBA0D-6112-421A-BC28-280695CB3CB5}"/>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IMPLEMENTED PIPELINE</a:t>
            </a:r>
          </a:p>
        </p:txBody>
      </p:sp>
      <p:sp>
        <p:nvSpPr>
          <p:cNvPr id="2" name="Rectangle 1">
            <a:extLst>
              <a:ext uri="{FF2B5EF4-FFF2-40B4-BE49-F238E27FC236}">
                <a16:creationId xmlns:a16="http://schemas.microsoft.com/office/drawing/2014/main" id="{946253F7-B0B1-4872-99CB-51F07E8BF15F}"/>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Implemented CSE pipeline and extension methods</a:t>
            </a:r>
          </a:p>
        </p:txBody>
      </p:sp>
      <p:sp>
        <p:nvSpPr>
          <p:cNvPr id="3" name="Straight Connector 2">
            <a:extLst>
              <a:ext uri="{FF2B5EF4-FFF2-40B4-BE49-F238E27FC236}">
                <a16:creationId xmlns:a16="http://schemas.microsoft.com/office/drawing/2014/main" id="{13DAD4E1-E0F7-4B44-8710-B2D906C687C3}"/>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Rounded Corners 3">
            <a:extLst>
              <a:ext uri="{FF2B5EF4-FFF2-40B4-BE49-F238E27FC236}">
                <a16:creationId xmlns:a16="http://schemas.microsoft.com/office/drawing/2014/main" id="{0E33D50E-54B6-4BCD-9DDA-D5F7B88E127D}"/>
              </a:ext>
            </a:extLst>
          </p:cNvPr>
          <p:cNvSpPr>
            <a:spLocks noGrp="1"/>
          </p:cNvSpPr>
          <p:nvPr/>
        </p:nvSpPr>
        <p:spPr>
          <a:xfrm>
            <a:off x="523875" y="2333625"/>
            <a:ext cx="1952625" cy="1714500"/>
          </a:xfrm>
          <a:prstGeom prst="roundRect">
            <a:avLst>
              <a:gd name="adj" fmla="val 7778"/>
            </a:avLst>
          </a:prstGeom>
          <a:solidFill>
            <a:srgbClr val="0F1C2B"/>
          </a:solidFill>
          <a:ln w="9525">
            <a:solidFill>
              <a:srgbClr val="4EA1FF"/>
            </a:solidFill>
            <a:prstDash val="solid"/>
          </a:ln>
        </p:spPr>
        <p:txBody>
          <a:bodyPr/>
          <a:lstStyle/>
          <a:p>
            <a:endParaRPr/>
          </a:p>
        </p:txBody>
      </p:sp>
      <p:sp>
        <p:nvSpPr>
          <p:cNvPr id="5" name="Rectangle: Rounded Corners 4">
            <a:extLst>
              <a:ext uri="{FF2B5EF4-FFF2-40B4-BE49-F238E27FC236}">
                <a16:creationId xmlns:a16="http://schemas.microsoft.com/office/drawing/2014/main" id="{DB6F5169-2F31-40E1-8E95-BD7D7D8A7A3D}"/>
              </a:ext>
            </a:extLst>
          </p:cNvPr>
          <p:cNvSpPr>
            <a:spLocks noGrp="1"/>
          </p:cNvSpPr>
          <p:nvPr/>
        </p:nvSpPr>
        <p:spPr>
          <a:xfrm>
            <a:off x="523875" y="2333625"/>
            <a:ext cx="1952625" cy="76200"/>
          </a:xfrm>
          <a:prstGeom prst="roundRect">
            <a:avLst>
              <a:gd name="adj" fmla="val 50000"/>
            </a:avLst>
          </a:prstGeom>
          <a:solidFill>
            <a:srgbClr val="4EA1FF"/>
          </a:solidFill>
          <a:ln w="0">
            <a:noFill/>
          </a:ln>
        </p:spPr>
        <p:txBody>
          <a:bodyPr/>
          <a:lstStyle/>
          <a:p>
            <a:endParaRPr/>
          </a:p>
        </p:txBody>
      </p:sp>
      <p:sp>
        <p:nvSpPr>
          <p:cNvPr id="6" name="Rectangle 5">
            <a:extLst>
              <a:ext uri="{FF2B5EF4-FFF2-40B4-BE49-F238E27FC236}">
                <a16:creationId xmlns:a16="http://schemas.microsoft.com/office/drawing/2014/main" id="{89787917-756E-4DE7-A943-7B2E39CC3794}"/>
              </a:ext>
            </a:extLst>
          </p:cNvPr>
          <p:cNvSpPr>
            <a:spLocks noGrp="1"/>
          </p:cNvSpPr>
          <p:nvPr/>
        </p:nvSpPr>
        <p:spPr>
          <a:xfrm>
            <a:off x="695325" y="2647950"/>
            <a:ext cx="1609725" cy="323850"/>
          </a:xfrm>
          <a:prstGeom prst="rect">
            <a:avLst/>
          </a:prstGeom>
          <a:noFill/>
          <a:ln w="0">
            <a:noFill/>
          </a:ln>
        </p:spPr>
        <p:txBody>
          <a:bodyPr wrap="square" lIns="0" tIns="0" rIns="0" bIns="0" anchor="t">
            <a:normAutofit/>
          </a:bodyPr>
          <a:lstStyle/>
          <a:p>
            <a:pPr algn="ctr">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BCI data</a:t>
            </a:r>
          </a:p>
        </p:txBody>
      </p:sp>
      <p:sp>
        <p:nvSpPr>
          <p:cNvPr id="7" name="Rectangle 6">
            <a:extLst>
              <a:ext uri="{FF2B5EF4-FFF2-40B4-BE49-F238E27FC236}">
                <a16:creationId xmlns:a16="http://schemas.microsoft.com/office/drawing/2014/main" id="{100DD980-736E-4443-897A-07B160D9FC4E}"/>
              </a:ext>
            </a:extLst>
          </p:cNvPr>
          <p:cNvSpPr>
            <a:spLocks noGrp="1"/>
          </p:cNvSpPr>
          <p:nvPr/>
        </p:nvSpPr>
        <p:spPr>
          <a:xfrm>
            <a:off x="695325" y="3143250"/>
            <a:ext cx="1609725" cy="51435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Cue-aligned trials</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2A and 2B</a:t>
            </a:r>
          </a:p>
        </p:txBody>
      </p:sp>
      <p:sp>
        <p:nvSpPr>
          <p:cNvPr id="8" name="Rectangle: Rounded Corners 7">
            <a:extLst>
              <a:ext uri="{FF2B5EF4-FFF2-40B4-BE49-F238E27FC236}">
                <a16:creationId xmlns:a16="http://schemas.microsoft.com/office/drawing/2014/main" id="{FE1B088C-7DF6-4BC5-87B0-30AA61FFAE3B}"/>
              </a:ext>
            </a:extLst>
          </p:cNvPr>
          <p:cNvSpPr>
            <a:spLocks noGrp="1"/>
          </p:cNvSpPr>
          <p:nvPr/>
        </p:nvSpPr>
        <p:spPr>
          <a:xfrm>
            <a:off x="2857500" y="2333625"/>
            <a:ext cx="1952625" cy="1714500"/>
          </a:xfrm>
          <a:prstGeom prst="roundRect">
            <a:avLst>
              <a:gd name="adj" fmla="val 7778"/>
            </a:avLst>
          </a:prstGeom>
          <a:solidFill>
            <a:srgbClr val="0F1C2B"/>
          </a:solidFill>
          <a:ln w="9525">
            <a:solidFill>
              <a:srgbClr val="2DD4BF"/>
            </a:solidFill>
            <a:prstDash val="solid"/>
          </a:ln>
        </p:spPr>
        <p:txBody>
          <a:bodyPr/>
          <a:lstStyle/>
          <a:p>
            <a:endParaRPr/>
          </a:p>
        </p:txBody>
      </p:sp>
      <p:sp>
        <p:nvSpPr>
          <p:cNvPr id="9" name="Rectangle: Rounded Corners 8">
            <a:extLst>
              <a:ext uri="{FF2B5EF4-FFF2-40B4-BE49-F238E27FC236}">
                <a16:creationId xmlns:a16="http://schemas.microsoft.com/office/drawing/2014/main" id="{CB0761D9-BC45-4001-89F9-1CB9667564A6}"/>
              </a:ext>
            </a:extLst>
          </p:cNvPr>
          <p:cNvSpPr>
            <a:spLocks noGrp="1"/>
          </p:cNvSpPr>
          <p:nvPr/>
        </p:nvSpPr>
        <p:spPr>
          <a:xfrm>
            <a:off x="2857500" y="2333625"/>
            <a:ext cx="1952625" cy="76200"/>
          </a:xfrm>
          <a:prstGeom prst="roundRect">
            <a:avLst>
              <a:gd name="adj" fmla="val 50000"/>
            </a:avLst>
          </a:prstGeom>
          <a:solidFill>
            <a:srgbClr val="2DD4BF"/>
          </a:solidFill>
          <a:ln w="0">
            <a:noFill/>
          </a:ln>
        </p:spPr>
        <p:txBody>
          <a:bodyPr/>
          <a:lstStyle/>
          <a:p>
            <a:endParaRPr/>
          </a:p>
        </p:txBody>
      </p:sp>
      <p:sp>
        <p:nvSpPr>
          <p:cNvPr id="10" name="Rectangle 9">
            <a:extLst>
              <a:ext uri="{FF2B5EF4-FFF2-40B4-BE49-F238E27FC236}">
                <a16:creationId xmlns:a16="http://schemas.microsoft.com/office/drawing/2014/main" id="{CC508D3D-4808-409C-8F24-1069D4701E73}"/>
              </a:ext>
            </a:extLst>
          </p:cNvPr>
          <p:cNvSpPr>
            <a:spLocks noGrp="1"/>
          </p:cNvSpPr>
          <p:nvPr/>
        </p:nvSpPr>
        <p:spPr>
          <a:xfrm>
            <a:off x="3028950" y="2647950"/>
            <a:ext cx="1609725" cy="323850"/>
          </a:xfrm>
          <a:prstGeom prst="rect">
            <a:avLst/>
          </a:prstGeom>
          <a:noFill/>
          <a:ln w="0">
            <a:noFill/>
          </a:ln>
        </p:spPr>
        <p:txBody>
          <a:bodyPr wrap="square" lIns="0" tIns="0" rIns="0" bIns="0" anchor="t">
            <a:normAutofit fontScale="74561" lnSpcReduction="10000"/>
          </a:bodyPr>
          <a:lstStyle/>
          <a:p>
            <a:pPr algn="ctr">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Signal representation</a:t>
            </a:r>
          </a:p>
        </p:txBody>
      </p:sp>
      <p:sp>
        <p:nvSpPr>
          <p:cNvPr id="11" name="Rectangle 10">
            <a:extLst>
              <a:ext uri="{FF2B5EF4-FFF2-40B4-BE49-F238E27FC236}">
                <a16:creationId xmlns:a16="http://schemas.microsoft.com/office/drawing/2014/main" id="{D1C417B5-D9AC-4E94-A11E-0D416955D595}"/>
              </a:ext>
            </a:extLst>
          </p:cNvPr>
          <p:cNvSpPr>
            <a:spLocks noGrp="1"/>
          </p:cNvSpPr>
          <p:nvPr/>
        </p:nvSpPr>
        <p:spPr>
          <a:xfrm>
            <a:off x="3028950" y="3143250"/>
            <a:ext cx="1609725" cy="51435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10-band FBCSP</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PCA scores</a:t>
            </a:r>
          </a:p>
        </p:txBody>
      </p:sp>
      <p:sp>
        <p:nvSpPr>
          <p:cNvPr id="12" name="Rectangle: Rounded Corners 11">
            <a:extLst>
              <a:ext uri="{FF2B5EF4-FFF2-40B4-BE49-F238E27FC236}">
                <a16:creationId xmlns:a16="http://schemas.microsoft.com/office/drawing/2014/main" id="{33ADF653-1DF6-40D3-B03A-CC413A5E7CA5}"/>
              </a:ext>
            </a:extLst>
          </p:cNvPr>
          <p:cNvSpPr>
            <a:spLocks noGrp="1"/>
          </p:cNvSpPr>
          <p:nvPr/>
        </p:nvSpPr>
        <p:spPr>
          <a:xfrm>
            <a:off x="5191125" y="2333625"/>
            <a:ext cx="1952625" cy="1714500"/>
          </a:xfrm>
          <a:prstGeom prst="roundRect">
            <a:avLst>
              <a:gd name="adj" fmla="val 7778"/>
            </a:avLst>
          </a:prstGeom>
          <a:solidFill>
            <a:srgbClr val="0F1C2B"/>
          </a:solidFill>
          <a:ln w="9525">
            <a:solidFill>
              <a:srgbClr val="4EA1FF"/>
            </a:solidFill>
            <a:prstDash val="solid"/>
          </a:ln>
        </p:spPr>
        <p:txBody>
          <a:bodyPr/>
          <a:lstStyle/>
          <a:p>
            <a:endParaRPr/>
          </a:p>
        </p:txBody>
      </p:sp>
      <p:sp>
        <p:nvSpPr>
          <p:cNvPr id="13" name="Rectangle: Rounded Corners 12">
            <a:extLst>
              <a:ext uri="{FF2B5EF4-FFF2-40B4-BE49-F238E27FC236}">
                <a16:creationId xmlns:a16="http://schemas.microsoft.com/office/drawing/2014/main" id="{9257ED36-0B70-43AC-932E-9A8FA68D1A60}"/>
              </a:ext>
            </a:extLst>
          </p:cNvPr>
          <p:cNvSpPr>
            <a:spLocks noGrp="1"/>
          </p:cNvSpPr>
          <p:nvPr/>
        </p:nvSpPr>
        <p:spPr>
          <a:xfrm>
            <a:off x="5191125" y="2333625"/>
            <a:ext cx="1952625" cy="76200"/>
          </a:xfrm>
          <a:prstGeom prst="roundRect">
            <a:avLst>
              <a:gd name="adj" fmla="val 50000"/>
            </a:avLst>
          </a:prstGeom>
          <a:solidFill>
            <a:srgbClr val="4EA1FF"/>
          </a:solidFill>
          <a:ln w="0">
            <a:noFill/>
          </a:ln>
        </p:spPr>
        <p:txBody>
          <a:bodyPr/>
          <a:lstStyle/>
          <a:p>
            <a:endParaRPr/>
          </a:p>
        </p:txBody>
      </p:sp>
      <p:sp>
        <p:nvSpPr>
          <p:cNvPr id="14" name="Rectangle 13">
            <a:extLst>
              <a:ext uri="{FF2B5EF4-FFF2-40B4-BE49-F238E27FC236}">
                <a16:creationId xmlns:a16="http://schemas.microsoft.com/office/drawing/2014/main" id="{EA72B680-B357-4457-87CB-CEB0C6360E38}"/>
              </a:ext>
            </a:extLst>
          </p:cNvPr>
          <p:cNvSpPr>
            <a:spLocks noGrp="1"/>
          </p:cNvSpPr>
          <p:nvPr/>
        </p:nvSpPr>
        <p:spPr>
          <a:xfrm>
            <a:off x="5362575" y="2647950"/>
            <a:ext cx="1609725" cy="323850"/>
          </a:xfrm>
          <a:prstGeom prst="rect">
            <a:avLst/>
          </a:prstGeom>
          <a:noFill/>
          <a:ln w="0">
            <a:noFill/>
          </a:ln>
        </p:spPr>
        <p:txBody>
          <a:bodyPr wrap="square" lIns="0" tIns="0" rIns="0" bIns="0" anchor="t">
            <a:normAutofit/>
          </a:bodyPr>
          <a:lstStyle/>
          <a:p>
            <a:pPr algn="ctr">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Stage I</a:t>
            </a:r>
          </a:p>
        </p:txBody>
      </p:sp>
      <p:sp>
        <p:nvSpPr>
          <p:cNvPr id="15" name="Rectangle 14">
            <a:extLst>
              <a:ext uri="{FF2B5EF4-FFF2-40B4-BE49-F238E27FC236}">
                <a16:creationId xmlns:a16="http://schemas.microsoft.com/office/drawing/2014/main" id="{766B272C-9671-42CF-A33C-8FD98C50470F}"/>
              </a:ext>
            </a:extLst>
          </p:cNvPr>
          <p:cNvSpPr>
            <a:spLocks noGrp="1"/>
          </p:cNvSpPr>
          <p:nvPr/>
        </p:nvSpPr>
        <p:spPr>
          <a:xfrm>
            <a:off x="5362575" y="3143250"/>
            <a:ext cx="1609725" cy="51435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PC1 EWMA</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candidate warnings</a:t>
            </a:r>
          </a:p>
        </p:txBody>
      </p:sp>
      <p:sp>
        <p:nvSpPr>
          <p:cNvPr id="16" name="Rectangle: Rounded Corners 15">
            <a:extLst>
              <a:ext uri="{FF2B5EF4-FFF2-40B4-BE49-F238E27FC236}">
                <a16:creationId xmlns:a16="http://schemas.microsoft.com/office/drawing/2014/main" id="{A3E7FE36-87E0-4AB6-A7C1-4B48092CF03C}"/>
              </a:ext>
            </a:extLst>
          </p:cNvPr>
          <p:cNvSpPr>
            <a:spLocks noGrp="1"/>
          </p:cNvSpPr>
          <p:nvPr/>
        </p:nvSpPr>
        <p:spPr>
          <a:xfrm>
            <a:off x="7524750" y="2333625"/>
            <a:ext cx="1952625" cy="1714500"/>
          </a:xfrm>
          <a:prstGeom prst="roundRect">
            <a:avLst>
              <a:gd name="adj" fmla="val 7778"/>
            </a:avLst>
          </a:prstGeom>
          <a:solidFill>
            <a:srgbClr val="0F1C2B"/>
          </a:solidFill>
          <a:ln w="9525">
            <a:solidFill>
              <a:srgbClr val="F5B942"/>
            </a:solidFill>
            <a:prstDash val="solid"/>
          </a:ln>
        </p:spPr>
        <p:txBody>
          <a:bodyPr/>
          <a:lstStyle/>
          <a:p>
            <a:endParaRPr/>
          </a:p>
        </p:txBody>
      </p:sp>
      <p:sp>
        <p:nvSpPr>
          <p:cNvPr id="17" name="Rectangle: Rounded Corners 16">
            <a:extLst>
              <a:ext uri="{FF2B5EF4-FFF2-40B4-BE49-F238E27FC236}">
                <a16:creationId xmlns:a16="http://schemas.microsoft.com/office/drawing/2014/main" id="{93E09973-00CE-408A-90EB-6E3C0F114EE7}"/>
              </a:ext>
            </a:extLst>
          </p:cNvPr>
          <p:cNvSpPr>
            <a:spLocks noGrp="1"/>
          </p:cNvSpPr>
          <p:nvPr/>
        </p:nvSpPr>
        <p:spPr>
          <a:xfrm>
            <a:off x="7524750" y="2333625"/>
            <a:ext cx="1952625" cy="76200"/>
          </a:xfrm>
          <a:prstGeom prst="roundRect">
            <a:avLst>
              <a:gd name="adj" fmla="val 50000"/>
            </a:avLst>
          </a:prstGeom>
          <a:solidFill>
            <a:srgbClr val="F5B942"/>
          </a:solidFill>
          <a:ln w="0">
            <a:noFill/>
          </a:ln>
        </p:spPr>
        <p:txBody>
          <a:bodyPr/>
          <a:lstStyle/>
          <a:p>
            <a:endParaRPr/>
          </a:p>
        </p:txBody>
      </p:sp>
      <p:sp>
        <p:nvSpPr>
          <p:cNvPr id="18" name="Rectangle 17">
            <a:extLst>
              <a:ext uri="{FF2B5EF4-FFF2-40B4-BE49-F238E27FC236}">
                <a16:creationId xmlns:a16="http://schemas.microsoft.com/office/drawing/2014/main" id="{3D877F8F-991B-4571-8C36-5F530C5AE841}"/>
              </a:ext>
            </a:extLst>
          </p:cNvPr>
          <p:cNvSpPr>
            <a:spLocks noGrp="1"/>
          </p:cNvSpPr>
          <p:nvPr/>
        </p:nvSpPr>
        <p:spPr>
          <a:xfrm>
            <a:off x="7696200" y="2647950"/>
            <a:ext cx="1609725" cy="323850"/>
          </a:xfrm>
          <a:prstGeom prst="rect">
            <a:avLst/>
          </a:prstGeom>
          <a:noFill/>
          <a:ln w="0">
            <a:noFill/>
          </a:ln>
        </p:spPr>
        <p:txBody>
          <a:bodyPr wrap="square" lIns="0" tIns="0" rIns="0" bIns="0" anchor="t">
            <a:normAutofit/>
          </a:bodyPr>
          <a:lstStyle/>
          <a:p>
            <a:pPr algn="ctr">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Stage II</a:t>
            </a:r>
          </a:p>
        </p:txBody>
      </p:sp>
      <p:sp>
        <p:nvSpPr>
          <p:cNvPr id="19" name="Rectangle 18">
            <a:extLst>
              <a:ext uri="{FF2B5EF4-FFF2-40B4-BE49-F238E27FC236}">
                <a16:creationId xmlns:a16="http://schemas.microsoft.com/office/drawing/2014/main" id="{09740D74-0B36-46AE-B787-30B18AED69A9}"/>
              </a:ext>
            </a:extLst>
          </p:cNvPr>
          <p:cNvSpPr>
            <a:spLocks noGrp="1"/>
          </p:cNvSpPr>
          <p:nvPr/>
        </p:nvSpPr>
        <p:spPr>
          <a:xfrm>
            <a:off x="7696200" y="3143250"/>
            <a:ext cx="1609725" cy="51435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Hotelling T²</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validation</a:t>
            </a:r>
          </a:p>
        </p:txBody>
      </p:sp>
      <p:sp>
        <p:nvSpPr>
          <p:cNvPr id="20" name="Rectangle: Rounded Corners 19">
            <a:extLst>
              <a:ext uri="{FF2B5EF4-FFF2-40B4-BE49-F238E27FC236}">
                <a16:creationId xmlns:a16="http://schemas.microsoft.com/office/drawing/2014/main" id="{5D8CDCE0-8F99-4397-8AB5-BECE7661AE01}"/>
              </a:ext>
            </a:extLst>
          </p:cNvPr>
          <p:cNvSpPr>
            <a:spLocks noGrp="1"/>
          </p:cNvSpPr>
          <p:nvPr/>
        </p:nvSpPr>
        <p:spPr>
          <a:xfrm>
            <a:off x="9858375" y="2333625"/>
            <a:ext cx="1809750" cy="1714500"/>
          </a:xfrm>
          <a:prstGeom prst="roundRect">
            <a:avLst>
              <a:gd name="adj" fmla="val 7778"/>
            </a:avLst>
          </a:prstGeom>
          <a:solidFill>
            <a:srgbClr val="0F1C2B"/>
          </a:solidFill>
          <a:ln w="9525">
            <a:solidFill>
              <a:srgbClr val="64D98B"/>
            </a:solidFill>
            <a:prstDash val="solid"/>
          </a:ln>
        </p:spPr>
        <p:txBody>
          <a:bodyPr/>
          <a:lstStyle/>
          <a:p>
            <a:endParaRPr/>
          </a:p>
        </p:txBody>
      </p:sp>
      <p:sp>
        <p:nvSpPr>
          <p:cNvPr id="21" name="Rectangle: Rounded Corners 20">
            <a:extLst>
              <a:ext uri="{FF2B5EF4-FFF2-40B4-BE49-F238E27FC236}">
                <a16:creationId xmlns:a16="http://schemas.microsoft.com/office/drawing/2014/main" id="{827A085D-5169-47AB-8BCC-D1115AC8DA4D}"/>
              </a:ext>
            </a:extLst>
          </p:cNvPr>
          <p:cNvSpPr>
            <a:spLocks noGrp="1"/>
          </p:cNvSpPr>
          <p:nvPr/>
        </p:nvSpPr>
        <p:spPr>
          <a:xfrm>
            <a:off x="9858375" y="2333625"/>
            <a:ext cx="1809750" cy="76200"/>
          </a:xfrm>
          <a:prstGeom prst="roundRect">
            <a:avLst>
              <a:gd name="adj" fmla="val 50000"/>
            </a:avLst>
          </a:prstGeom>
          <a:solidFill>
            <a:srgbClr val="64D98B"/>
          </a:solidFill>
          <a:ln w="0">
            <a:noFill/>
          </a:ln>
        </p:spPr>
        <p:txBody>
          <a:bodyPr/>
          <a:lstStyle/>
          <a:p>
            <a:endParaRPr/>
          </a:p>
        </p:txBody>
      </p:sp>
      <p:sp>
        <p:nvSpPr>
          <p:cNvPr id="22" name="Rectangle 21">
            <a:extLst>
              <a:ext uri="{FF2B5EF4-FFF2-40B4-BE49-F238E27FC236}">
                <a16:creationId xmlns:a16="http://schemas.microsoft.com/office/drawing/2014/main" id="{62CECF4B-8574-40EA-90A0-A7E8703A2566}"/>
              </a:ext>
            </a:extLst>
          </p:cNvPr>
          <p:cNvSpPr>
            <a:spLocks noGrp="1"/>
          </p:cNvSpPr>
          <p:nvPr/>
        </p:nvSpPr>
        <p:spPr>
          <a:xfrm>
            <a:off x="10029825" y="2647950"/>
            <a:ext cx="1466850" cy="323850"/>
          </a:xfrm>
          <a:prstGeom prst="rect">
            <a:avLst/>
          </a:prstGeom>
          <a:noFill/>
          <a:ln w="0">
            <a:noFill/>
          </a:ln>
        </p:spPr>
        <p:txBody>
          <a:bodyPr wrap="square" lIns="0" tIns="0" rIns="0" bIns="0" anchor="t">
            <a:normAutofit/>
          </a:bodyPr>
          <a:lstStyle/>
          <a:p>
            <a:pPr algn="ctr">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Evidence</a:t>
            </a:r>
          </a:p>
        </p:txBody>
      </p:sp>
      <p:sp>
        <p:nvSpPr>
          <p:cNvPr id="23" name="Rectangle 22">
            <a:extLst>
              <a:ext uri="{FF2B5EF4-FFF2-40B4-BE49-F238E27FC236}">
                <a16:creationId xmlns:a16="http://schemas.microsoft.com/office/drawing/2014/main" id="{4FB05B4A-1948-46C5-862D-B714ACCED87E}"/>
              </a:ext>
            </a:extLst>
          </p:cNvPr>
          <p:cNvSpPr>
            <a:spLocks noGrp="1"/>
          </p:cNvSpPr>
          <p:nvPr/>
        </p:nvSpPr>
        <p:spPr>
          <a:xfrm>
            <a:off x="10029825" y="3143250"/>
            <a:ext cx="1466850" cy="51435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Counts, diagnostics</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and provenance</a:t>
            </a:r>
          </a:p>
        </p:txBody>
      </p:sp>
      <p:cxnSp>
        <p:nvCxnSpPr>
          <p:cNvPr id="110" name="Straight Arrow Connector 82"/>
          <p:cNvCxnSpPr>
            <a:stCxn id="4" idx="3"/>
            <a:endCxn id="8" idx="1"/>
          </p:cNvCxnSpPr>
          <p:nvPr/>
        </p:nvCxnSpPr>
        <p:spPr>
          <a:xfrm>
            <a:off x="2476500" y="3190875"/>
            <a:ext cx="381000" cy="0"/>
          </a:xfrm>
          <a:prstGeom prst="straightConnector1">
            <a:avLst/>
          </a:prstGeom>
          <a:ln w="28575">
            <a:solidFill>
              <a:srgbClr val="294057"/>
            </a:solidFill>
            <a:prstDash val="solid"/>
            <a:tailEnd type="triangle" w="sm" len="sm"/>
          </a:ln>
        </p:spPr>
      </p:cxnSp>
      <p:cxnSp>
        <p:nvCxnSpPr>
          <p:cNvPr id="111" name="Straight Arrow Connector 83"/>
          <p:cNvCxnSpPr>
            <a:stCxn id="8" idx="3"/>
            <a:endCxn id="12" idx="1"/>
          </p:cNvCxnSpPr>
          <p:nvPr/>
        </p:nvCxnSpPr>
        <p:spPr>
          <a:xfrm>
            <a:off x="4810125" y="3190875"/>
            <a:ext cx="381000" cy="0"/>
          </a:xfrm>
          <a:prstGeom prst="straightConnector1">
            <a:avLst/>
          </a:prstGeom>
          <a:ln w="28575">
            <a:solidFill>
              <a:srgbClr val="294057"/>
            </a:solidFill>
            <a:prstDash val="solid"/>
            <a:tailEnd type="triangle" w="sm" len="sm"/>
          </a:ln>
        </p:spPr>
      </p:cxnSp>
      <p:cxnSp>
        <p:nvCxnSpPr>
          <p:cNvPr id="112" name="Straight Arrow Connector 84"/>
          <p:cNvCxnSpPr>
            <a:stCxn id="12" idx="3"/>
            <a:endCxn id="16" idx="1"/>
          </p:cNvCxnSpPr>
          <p:nvPr/>
        </p:nvCxnSpPr>
        <p:spPr>
          <a:xfrm>
            <a:off x="7143750" y="3190875"/>
            <a:ext cx="381000" cy="0"/>
          </a:xfrm>
          <a:prstGeom prst="straightConnector1">
            <a:avLst/>
          </a:prstGeom>
          <a:ln w="28575">
            <a:solidFill>
              <a:srgbClr val="294057"/>
            </a:solidFill>
            <a:prstDash val="solid"/>
            <a:tailEnd type="triangle" w="sm" len="sm"/>
          </a:ln>
        </p:spPr>
      </p:cxnSp>
      <p:cxnSp>
        <p:nvCxnSpPr>
          <p:cNvPr id="113" name="Straight Arrow Connector 85"/>
          <p:cNvCxnSpPr>
            <a:stCxn id="16" idx="3"/>
            <a:endCxn id="20" idx="1"/>
          </p:cNvCxnSpPr>
          <p:nvPr/>
        </p:nvCxnSpPr>
        <p:spPr>
          <a:xfrm>
            <a:off x="9477375" y="3190875"/>
            <a:ext cx="381000" cy="0"/>
          </a:xfrm>
          <a:prstGeom prst="straightConnector1">
            <a:avLst/>
          </a:prstGeom>
          <a:ln w="28575">
            <a:solidFill>
              <a:srgbClr val="294057"/>
            </a:solidFill>
            <a:prstDash val="solid"/>
            <a:tailEnd type="triangle" w="sm" len="sm"/>
          </a:ln>
        </p:spPr>
      </p:cxnSp>
      <p:sp>
        <p:nvSpPr>
          <p:cNvPr id="28" name="Rectangle 27">
            <a:extLst>
              <a:ext uri="{FF2B5EF4-FFF2-40B4-BE49-F238E27FC236}">
                <a16:creationId xmlns:a16="http://schemas.microsoft.com/office/drawing/2014/main" id="{8B931D16-7FB5-4AA1-B865-35E61D8911D1}"/>
              </a:ext>
            </a:extLst>
          </p:cNvPr>
          <p:cNvSpPr>
            <a:spLocks noGrp="1"/>
          </p:cNvSpPr>
          <p:nvPr/>
        </p:nvSpPr>
        <p:spPr>
          <a:xfrm>
            <a:off x="5191125" y="4476750"/>
            <a:ext cx="4286250" cy="285750"/>
          </a:xfrm>
          <a:prstGeom prst="rect">
            <a:avLst/>
          </a:prstGeom>
          <a:noFill/>
          <a:ln w="0">
            <a:noFill/>
          </a:ln>
        </p:spPr>
        <p:txBody>
          <a:bodyPr wrap="square" lIns="0" tIns="0" rIns="0" bIns="0" anchor="t">
            <a:normAutofit/>
          </a:bodyPr>
          <a:lstStyle/>
          <a:p>
            <a:pPr algn="ctr">
              <a:buNone/>
              <a:defRPr sz="1125" b="1">
                <a:solidFill>
                  <a:srgbClr val="F5B942"/>
                </a:solidFill>
                <a:latin typeface="DejaVu Sans"/>
                <a:ea typeface="DejaVu Sans"/>
                <a:cs typeface="DejaVu Sans"/>
              </a:defRPr>
            </a:pPr>
            <a:r>
              <a:rPr sz="1125" b="1">
                <a:solidFill>
                  <a:srgbClr val="F5B942"/>
                </a:solidFill>
                <a:latin typeface="DejaVu Sans"/>
                <a:ea typeface="DejaVu Sans"/>
                <a:cs typeface="DejaVu Sans"/>
              </a:rPr>
              <a:t>CSE subsystem boundary</a:t>
            </a:r>
          </a:p>
        </p:txBody>
      </p:sp>
      <p:sp>
        <p:nvSpPr>
          <p:cNvPr id="29" name="Straight Connector 28">
            <a:extLst>
              <a:ext uri="{FF2B5EF4-FFF2-40B4-BE49-F238E27FC236}">
                <a16:creationId xmlns:a16="http://schemas.microsoft.com/office/drawing/2014/main" id="{0D322409-6D7A-4985-8A67-4EF94F897E6A}"/>
              </a:ext>
            </a:extLst>
          </p:cNvPr>
          <p:cNvSpPr>
            <a:spLocks noGrp="1"/>
          </p:cNvSpPr>
          <p:nvPr/>
        </p:nvSpPr>
        <p:spPr>
          <a:xfrm>
            <a:off x="5400675" y="4857750"/>
            <a:ext cx="3857625" cy="0"/>
          </a:xfrm>
          <a:prstGeom prst="line">
            <a:avLst/>
          </a:prstGeom>
          <a:noFill/>
          <a:ln w="28575">
            <a:solidFill>
              <a:srgbClr val="F5B942"/>
            </a:solidFill>
            <a:prstDash val="solid"/>
          </a:ln>
        </p:spPr>
        <p:txBody>
          <a:bodyPr/>
          <a:lstStyle/>
          <a:p>
            <a:endParaRPr/>
          </a:p>
        </p:txBody>
      </p:sp>
      <p:sp>
        <p:nvSpPr>
          <p:cNvPr id="30" name="Rectangle 29">
            <a:extLst>
              <a:ext uri="{FF2B5EF4-FFF2-40B4-BE49-F238E27FC236}">
                <a16:creationId xmlns:a16="http://schemas.microsoft.com/office/drawing/2014/main" id="{8819A1DC-8EC0-47CD-A6E5-4832549F86BF}"/>
              </a:ext>
            </a:extLst>
          </p:cNvPr>
          <p:cNvSpPr>
            <a:spLocks noGrp="1"/>
          </p:cNvSpPr>
          <p:nvPr/>
        </p:nvSpPr>
        <p:spPr>
          <a:xfrm>
            <a:off x="1238250" y="5524500"/>
            <a:ext cx="9810750" cy="609600"/>
          </a:xfrm>
          <a:prstGeom prst="rect">
            <a:avLst/>
          </a:prstGeom>
          <a:noFill/>
          <a:ln w="0">
            <a:noFill/>
          </a:ln>
        </p:spPr>
        <p:txBody>
          <a:bodyPr wrap="square" lIns="0" tIns="0" rIns="0" bIns="0" anchor="t">
            <a:no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Separate classifier components: linear SVM, bagging and supervised adaptation.</a:t>
            </a:r>
          </a:p>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Full PWKNN and dynamic-ensemble integration remains open.</a:t>
            </a:r>
          </a:p>
        </p:txBody>
      </p:sp>
      <p:sp>
        <p:nvSpPr>
          <p:cNvPr id="31" name="Rectangle 30">
            <a:extLst>
              <a:ext uri="{FF2B5EF4-FFF2-40B4-BE49-F238E27FC236}">
                <a16:creationId xmlns:a16="http://schemas.microsoft.com/office/drawing/2014/main" id="{6008A090-4643-4F7F-B8D3-F29933ED9F55}"/>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32" name="Rectangle 31">
            <a:extLst>
              <a:ext uri="{FF2B5EF4-FFF2-40B4-BE49-F238E27FC236}">
                <a16:creationId xmlns:a16="http://schemas.microsoft.com/office/drawing/2014/main" id="{A8AE9E2D-37CD-4F1E-942F-9B6D3090B189}"/>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r>
              <a:t>04</a:t>
            </a:r>
          </a:p>
        </p:txBody>
      </p:sp>
      <p:sp>
        <p:nvSpPr>
          <p:cNvPr id="114" name="Extension methods">
            <a:extLst>
              <a:ext uri="{FF2B5EF4-FFF2-40B4-BE49-F238E27FC236}">
                <a16:creationId xmlns:a16="http://schemas.microsoft.com/office/drawing/2014/main" id="{37B6F045-BB02-477B-A018-931618D34297}"/>
              </a:ext>
            </a:extLst>
          </p:cNvPr>
          <p:cNvSpPr>
            <a:spLocks noGrp="1"/>
          </p:cNvSpPr>
          <p:nvPr/>
        </p:nvSpPr>
        <p:spPr>
          <a:xfrm>
            <a:off x="800100" y="5019675"/>
            <a:ext cx="10572750" cy="438150"/>
          </a:xfrm>
          <a:prstGeom prst="rect">
            <a:avLst/>
          </a:prstGeom>
          <a:noFill/>
          <a:ln w="0">
            <a:noFill/>
          </a:ln>
        </p:spPr>
        <p:txBody>
          <a:bodyPr>
            <a:noAutofit/>
          </a:bodyPr>
          <a:lstStyle/>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Audit and extension methods: PCA score/residual monitoring, K–S validation, ICI-CDT and multivariate PCA/ICA.</a:t>
            </a:r>
          </a:p>
        </p:txBody>
      </p:sp>
      <p:sp>
        <p:nvSpPr>
          <p:cNvPr id="115" name="Rounded Rectangle 114"/>
          <p:cNvSpPr/>
          <p:nvPr/>
        </p:nvSpPr>
        <p:spPr>
          <a:xfrm>
            <a:off x="2148840" y="1572768"/>
            <a:ext cx="7882127" cy="576072"/>
          </a:xfrm>
          <a:prstGeom prst="roundRect">
            <a:avLst/>
          </a:prstGeom>
          <a:solidFill>
            <a:srgbClr val="091A2B"/>
          </a:solidFill>
          <a:ln w="12700">
            <a:solidFill>
              <a:srgbClr val="1DE7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p:cNvSpPr txBox="1"/>
          <p:nvPr/>
        </p:nvSpPr>
        <p:spPr>
          <a:xfrm>
            <a:off x="2331720" y="1664208"/>
            <a:ext cx="3566160" cy="146304"/>
          </a:xfrm>
          <a:prstGeom prst="rect">
            <a:avLst/>
          </a:prstGeom>
          <a:noFill/>
        </p:spPr>
        <p:txBody>
          <a:bodyPr wrap="none" lIns="0" tIns="0" rIns="0" bIns="0">
            <a:spAutoFit/>
          </a:bodyPr>
          <a:lstStyle/>
          <a:p>
            <a:r>
              <a:rPr sz="860" b="1">
                <a:solidFill>
                  <a:srgbClr val="1DE7D5"/>
                </a:solidFill>
                <a:latin typeface="Aptos"/>
              </a:rPr>
              <a:t>Complementary Stage-I extension: score route + residual route</a:t>
            </a:r>
          </a:p>
        </p:txBody>
      </p:sp>
      <p:pic>
        <p:nvPicPr>
          <p:cNvPr id="117" name="Picture 116" descr="formula_compact.png"/>
          <p:cNvPicPr>
            <a:picLocks noChangeAspect="1"/>
          </p:cNvPicPr>
          <p:nvPr/>
        </p:nvPicPr>
        <p:blipFill>
          <a:blip r:embed="rId3"/>
          <a:stretch>
            <a:fillRect/>
          </a:stretch>
        </p:blipFill>
        <p:spPr>
          <a:xfrm>
            <a:off x="5867400" y="1710030"/>
            <a:ext cx="3657600" cy="290981"/>
          </a:xfrm>
          <a:prstGeom prst="rect">
            <a:avLst/>
          </a:prstGeom>
        </p:spPr>
      </p:pic>
      <p:sp>
        <p:nvSpPr>
          <p:cNvPr id="118" name="TextBox 117"/>
          <p:cNvSpPr txBox="1"/>
          <p:nvPr/>
        </p:nvSpPr>
        <p:spPr>
          <a:xfrm>
            <a:off x="2331720" y="1901952"/>
            <a:ext cx="7223760" cy="146304"/>
          </a:xfrm>
          <a:prstGeom prst="rect">
            <a:avLst/>
          </a:prstGeom>
          <a:noFill/>
        </p:spPr>
        <p:txBody>
          <a:bodyPr wrap="none" lIns="0" tIns="0" rIns="0" bIns="0">
            <a:spAutoFit/>
          </a:bodyPr>
          <a:lstStyle/>
          <a:p>
            <a:r>
              <a:rPr sz="640" b="0">
                <a:solidFill>
                  <a:srgbClr val="A8B7C4"/>
                </a:solidFill>
                <a:latin typeface="Aptos"/>
              </a:rPr>
              <a:t>Score monitors retained PC1; residual monitors information outside the retained PCA subspace.</a:t>
            </a:r>
          </a:p>
        </p:txBody>
      </p:sp>
    </p:spTree>
    <p:extLst>
      <p:ext uri="{BB962C8B-B14F-4D97-AF65-F5344CB8AC3E}">
        <p14:creationId xmlns:p14="http://schemas.microsoft.com/office/powerpoint/2010/main" val="1926805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31223"/>
        </a:solidFill>
        <a:effectLst/>
      </p:bgPr>
    </p:bg>
    <p:spTree>
      <p:nvGrpSpPr>
        <p:cNvPr id="1" name=""/>
        <p:cNvGrpSpPr/>
        <p:nvPr/>
      </p:nvGrpSpPr>
      <p:grpSpPr>
        <a:xfrm>
          <a:off x="0" y="0"/>
          <a:ext cx="0" cy="0"/>
          <a:chOff x="0" y="0"/>
          <a:chExt cx="0" cy="0"/>
        </a:xfrm>
      </p:grpSpPr>
      <p:sp>
        <p:nvSpPr>
          <p:cNvPr id="2" name="TextBox 1"/>
          <p:cNvSpPr txBox="1"/>
          <p:nvPr/>
        </p:nvSpPr>
        <p:spPr>
          <a:xfrm>
            <a:off x="609600" y="400050"/>
            <a:ext cx="3300000" cy="240000"/>
          </a:xfrm>
          <a:prstGeom prst="rect">
            <a:avLst/>
          </a:prstGeom>
          <a:noFill/>
        </p:spPr>
        <p:txBody>
          <a:bodyPr wrap="square" lIns="0" tIns="0" rIns="0" bIns="0">
            <a:spAutoFit/>
          </a:bodyPr>
          <a:lstStyle/>
          <a:p>
            <a:pPr algn="l"/>
            <a:r>
              <a:rPr sz="1600" b="1">
                <a:solidFill>
                  <a:srgbClr val="3FEEE0"/>
                </a:solidFill>
                <a:latin typeface="Aptos"/>
              </a:rPr>
              <a:t>DETECTOR MATHEMATICS</a:t>
            </a:r>
          </a:p>
        </p:txBody>
      </p:sp>
      <p:sp>
        <p:nvSpPr>
          <p:cNvPr id="3" name="TextBox 2"/>
          <p:cNvSpPr txBox="1"/>
          <p:nvPr/>
        </p:nvSpPr>
        <p:spPr>
          <a:xfrm>
            <a:off x="609600" y="685800"/>
            <a:ext cx="10953750" cy="552450"/>
          </a:xfrm>
          <a:prstGeom prst="rect">
            <a:avLst/>
          </a:prstGeom>
          <a:noFill/>
        </p:spPr>
        <p:txBody>
          <a:bodyPr wrap="square" lIns="0" tIns="0" rIns="0" bIns="0">
            <a:spAutoFit/>
          </a:bodyPr>
          <a:lstStyle/>
          <a:p>
            <a:pPr algn="l"/>
            <a:r>
              <a:rPr sz="2700" b="1">
                <a:solidFill>
                  <a:srgbClr val="EAF0F6"/>
                </a:solidFill>
                <a:latin typeface="Aptos"/>
              </a:rPr>
              <a:t>Stage-I and Stage-II equations</a:t>
            </a:r>
          </a:p>
        </p:txBody>
      </p:sp>
      <p:cxnSp>
        <p:nvCxnSpPr>
          <p:cNvPr id="4" name="Connector 3"/>
          <p:cNvCxnSpPr/>
          <p:nvPr/>
        </p:nvCxnSpPr>
        <p:spPr>
          <a:xfrm>
            <a:off x="609600" y="1371600"/>
            <a:ext cx="10972800" cy="0"/>
          </a:xfrm>
          <a:prstGeom prst="line">
            <a:avLst/>
          </a:prstGeom>
          <a:ln w="12700">
            <a:solidFill>
              <a:srgbClr val="46628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09600" y="1510000"/>
            <a:ext cx="10900000" cy="250000"/>
          </a:xfrm>
          <a:prstGeom prst="rect">
            <a:avLst/>
          </a:prstGeom>
          <a:noFill/>
        </p:spPr>
        <p:txBody>
          <a:bodyPr wrap="square" lIns="0" tIns="0" rIns="0" bIns="0">
            <a:spAutoFit/>
          </a:bodyPr>
          <a:lstStyle/>
          <a:p>
            <a:pPr algn="l"/>
            <a:r>
              <a:rPr sz="1400" b="0">
                <a:solidFill>
                  <a:srgbClr val="ACBCD2"/>
                </a:solidFill>
                <a:latin typeface="Aptos"/>
              </a:rPr>
              <a:t>A compact equation view of how PCA scores become warnings, and how warnings become validated shifts.</a:t>
            </a:r>
          </a:p>
        </p:txBody>
      </p:sp>
      <p:sp>
        <p:nvSpPr>
          <p:cNvPr id="6" name="Rounded Rectangle 5"/>
          <p:cNvSpPr/>
          <p:nvPr/>
        </p:nvSpPr>
        <p:spPr>
          <a:xfrm>
            <a:off x="950000" y="1810000"/>
            <a:ext cx="10200000" cy="680000"/>
          </a:xfrm>
          <a:prstGeom prst="roundRect">
            <a:avLst>
              <a:gd name="adj" fmla="val 3000"/>
            </a:avLst>
          </a:prstGeom>
          <a:solidFill>
            <a:srgbClr val="052036"/>
          </a:solidFill>
          <a:ln w="13970">
            <a:solidFill>
              <a:srgbClr val="3FEE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70000" y="1920000"/>
            <a:ext cx="3200000" cy="160000"/>
          </a:xfrm>
          <a:prstGeom prst="rect">
            <a:avLst/>
          </a:prstGeom>
          <a:noFill/>
        </p:spPr>
        <p:txBody>
          <a:bodyPr wrap="square" lIns="0" tIns="0" rIns="0" bIns="0">
            <a:spAutoFit/>
          </a:bodyPr>
          <a:lstStyle/>
          <a:p>
            <a:pPr algn="l"/>
            <a:r>
              <a:rPr sz="1400" b="1">
                <a:solidFill>
                  <a:srgbClr val="3FEEE0"/>
                </a:solidFill>
                <a:latin typeface="Aptos"/>
              </a:rPr>
              <a:t>Representation input</a:t>
            </a:r>
          </a:p>
        </p:txBody>
      </p:sp>
      <p:pic>
        <p:nvPicPr>
          <p:cNvPr id="8" name="Picture 7" descr="image.png"/>
          <p:cNvPicPr>
            <a:picLocks noChangeAspect="1"/>
          </p:cNvPicPr>
          <p:nvPr/>
        </p:nvPicPr>
        <p:blipFill>
          <a:blip r:embed="rId2"/>
          <a:stretch>
            <a:fillRect/>
          </a:stretch>
        </p:blipFill>
        <p:spPr>
          <a:xfrm>
            <a:off x="1170000" y="2150000"/>
            <a:ext cx="1645912" cy="310000"/>
          </a:xfrm>
          <a:prstGeom prst="rect">
            <a:avLst/>
          </a:prstGeom>
        </p:spPr>
      </p:pic>
      <p:sp>
        <p:nvSpPr>
          <p:cNvPr id="9" name="TextBox 8"/>
          <p:cNvSpPr txBox="1"/>
          <p:nvPr/>
        </p:nvSpPr>
        <p:spPr>
          <a:xfrm>
            <a:off x="2920000" y="2170000"/>
            <a:ext cx="6700000" cy="220000"/>
          </a:xfrm>
          <a:prstGeom prst="rect">
            <a:avLst/>
          </a:prstGeom>
          <a:noFill/>
        </p:spPr>
        <p:txBody>
          <a:bodyPr wrap="square" lIns="0" tIns="0" rIns="0" bIns="0">
            <a:spAutoFit/>
          </a:bodyPr>
          <a:lstStyle/>
          <a:p>
            <a:pPr algn="l"/>
            <a:r>
              <a:rPr sz="1700" b="0">
                <a:solidFill>
                  <a:srgbClr val="EAF0F6"/>
                </a:solidFill>
                <a:latin typeface="Aptos"/>
              </a:rPr>
              <a:t>retained PC1 score passed to Stage-I EWMA</a:t>
            </a:r>
          </a:p>
        </p:txBody>
      </p:sp>
      <p:sp>
        <p:nvSpPr>
          <p:cNvPr id="10" name="Rounded Rectangle 9"/>
          <p:cNvSpPr/>
          <p:nvPr/>
        </p:nvSpPr>
        <p:spPr>
          <a:xfrm>
            <a:off x="900000" y="2760000"/>
            <a:ext cx="4650000" cy="2600000"/>
          </a:xfrm>
          <a:prstGeom prst="roundRect">
            <a:avLst>
              <a:gd name="adj" fmla="val 2000"/>
            </a:avLst>
          </a:prstGeom>
          <a:solidFill>
            <a:srgbClr val="08182C"/>
          </a:solidFill>
          <a:ln w="15240">
            <a:solidFill>
              <a:srgbClr val="56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850000" y="2760000"/>
            <a:ext cx="5100000" cy="2600000"/>
          </a:xfrm>
          <a:prstGeom prst="roundRect">
            <a:avLst>
              <a:gd name="adj" fmla="val 2000"/>
            </a:avLst>
          </a:prstGeom>
          <a:solidFill>
            <a:srgbClr val="08182C"/>
          </a:solidFill>
          <a:ln w="15240">
            <a:solidFill>
              <a:srgbClr val="F5BF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00000" y="2760000"/>
            <a:ext cx="4650000" cy="70000"/>
          </a:xfrm>
          <a:prstGeom prst="rect">
            <a:avLst/>
          </a:prstGeom>
          <a:solidFill>
            <a:srgbClr val="56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850000" y="2760000"/>
            <a:ext cx="5100000" cy="70000"/>
          </a:xfrm>
          <a:prstGeom prst="rect">
            <a:avLst/>
          </a:prstGeom>
          <a:solidFill>
            <a:srgbClr val="F5BF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00000" y="2990000"/>
            <a:ext cx="3350000" cy="250000"/>
          </a:xfrm>
          <a:prstGeom prst="rect">
            <a:avLst/>
          </a:prstGeom>
          <a:noFill/>
        </p:spPr>
        <p:txBody>
          <a:bodyPr wrap="square" lIns="0" tIns="0" rIns="0" bIns="0">
            <a:spAutoFit/>
          </a:bodyPr>
          <a:lstStyle/>
          <a:p>
            <a:pPr algn="l"/>
            <a:r>
              <a:rPr sz="2000" b="1">
                <a:solidFill>
                  <a:srgbClr val="EAF0F6"/>
                </a:solidFill>
                <a:latin typeface="Aptos"/>
              </a:rPr>
              <a:t>Stage I: EWMA warning</a:t>
            </a:r>
          </a:p>
        </p:txBody>
      </p:sp>
      <p:sp>
        <p:nvSpPr>
          <p:cNvPr id="15" name="TextBox 14"/>
          <p:cNvSpPr txBox="1"/>
          <p:nvPr/>
        </p:nvSpPr>
        <p:spPr>
          <a:xfrm>
            <a:off x="1100000" y="3370000"/>
            <a:ext cx="3200000" cy="150000"/>
          </a:xfrm>
          <a:prstGeom prst="rect">
            <a:avLst/>
          </a:prstGeom>
          <a:noFill/>
        </p:spPr>
        <p:txBody>
          <a:bodyPr wrap="square" lIns="0" tIns="0" rIns="0" bIns="0">
            <a:spAutoFit/>
          </a:bodyPr>
          <a:lstStyle/>
          <a:p>
            <a:pPr algn="l"/>
            <a:r>
              <a:rPr sz="1300" b="1">
                <a:solidFill>
                  <a:srgbClr val="3FEEE0"/>
                </a:solidFill>
                <a:latin typeface="Aptos"/>
              </a:rPr>
              <a:t>EWMA state update</a:t>
            </a:r>
          </a:p>
        </p:txBody>
      </p:sp>
      <p:pic>
        <p:nvPicPr>
          <p:cNvPr id="16" name="Picture 15" descr="image.png"/>
          <p:cNvPicPr>
            <a:picLocks noChangeAspect="1"/>
          </p:cNvPicPr>
          <p:nvPr/>
        </p:nvPicPr>
        <p:blipFill>
          <a:blip r:embed="rId3"/>
          <a:stretch>
            <a:fillRect/>
          </a:stretch>
        </p:blipFill>
        <p:spPr>
          <a:xfrm>
            <a:off x="1100000" y="3540000"/>
            <a:ext cx="2052239" cy="250000"/>
          </a:xfrm>
          <a:prstGeom prst="rect">
            <a:avLst/>
          </a:prstGeom>
        </p:spPr>
      </p:pic>
      <p:sp>
        <p:nvSpPr>
          <p:cNvPr id="17" name="TextBox 16"/>
          <p:cNvSpPr txBox="1"/>
          <p:nvPr/>
        </p:nvSpPr>
        <p:spPr>
          <a:xfrm>
            <a:off x="1100000" y="3890000"/>
            <a:ext cx="3200000" cy="150000"/>
          </a:xfrm>
          <a:prstGeom prst="rect">
            <a:avLst/>
          </a:prstGeom>
          <a:noFill/>
        </p:spPr>
        <p:txBody>
          <a:bodyPr wrap="square" lIns="0" tIns="0" rIns="0" bIns="0">
            <a:spAutoFit/>
          </a:bodyPr>
          <a:lstStyle/>
          <a:p>
            <a:pPr algn="l"/>
            <a:r>
              <a:rPr sz="1300" b="1">
                <a:solidFill>
                  <a:srgbClr val="3FEEE0"/>
                </a:solidFill>
                <a:latin typeface="Aptos"/>
              </a:rPr>
              <a:t>One-step-ahead prediction error</a:t>
            </a:r>
          </a:p>
        </p:txBody>
      </p:sp>
      <p:pic>
        <p:nvPicPr>
          <p:cNvPr id="18" name="Picture 17" descr="image.png"/>
          <p:cNvPicPr>
            <a:picLocks noChangeAspect="1"/>
          </p:cNvPicPr>
          <p:nvPr/>
        </p:nvPicPr>
        <p:blipFill>
          <a:blip r:embed="rId4"/>
          <a:stretch>
            <a:fillRect/>
          </a:stretch>
        </p:blipFill>
        <p:spPr>
          <a:xfrm>
            <a:off x="1100000" y="4060000"/>
            <a:ext cx="1253130" cy="240000"/>
          </a:xfrm>
          <a:prstGeom prst="rect">
            <a:avLst/>
          </a:prstGeom>
        </p:spPr>
      </p:pic>
      <p:sp>
        <p:nvSpPr>
          <p:cNvPr id="19" name="TextBox 18"/>
          <p:cNvSpPr txBox="1"/>
          <p:nvPr/>
        </p:nvSpPr>
        <p:spPr>
          <a:xfrm>
            <a:off x="1100000" y="4390000"/>
            <a:ext cx="3200000" cy="150000"/>
          </a:xfrm>
          <a:prstGeom prst="rect">
            <a:avLst/>
          </a:prstGeom>
          <a:noFill/>
        </p:spPr>
        <p:txBody>
          <a:bodyPr wrap="square" lIns="0" tIns="0" rIns="0" bIns="0">
            <a:spAutoFit/>
          </a:bodyPr>
          <a:lstStyle/>
          <a:p>
            <a:pPr algn="l"/>
            <a:r>
              <a:rPr sz="1300" b="1">
                <a:solidFill>
                  <a:srgbClr val="3FEEE0"/>
                </a:solidFill>
                <a:latin typeface="Aptos"/>
              </a:rPr>
              <a:t>Warning boundaries</a:t>
            </a:r>
          </a:p>
        </p:txBody>
      </p:sp>
      <p:pic>
        <p:nvPicPr>
          <p:cNvPr id="20" name="Picture 19" descr="image.png"/>
          <p:cNvPicPr>
            <a:picLocks noChangeAspect="1"/>
          </p:cNvPicPr>
          <p:nvPr/>
        </p:nvPicPr>
        <p:blipFill>
          <a:blip r:embed="rId5"/>
          <a:stretch>
            <a:fillRect/>
          </a:stretch>
        </p:blipFill>
        <p:spPr>
          <a:xfrm>
            <a:off x="1100000" y="4560000"/>
            <a:ext cx="3219847" cy="185000"/>
          </a:xfrm>
          <a:prstGeom prst="rect">
            <a:avLst/>
          </a:prstGeom>
        </p:spPr>
      </p:pic>
      <p:pic>
        <p:nvPicPr>
          <p:cNvPr id="21" name="Picture 20" descr="image.png"/>
          <p:cNvPicPr>
            <a:picLocks noChangeAspect="1"/>
          </p:cNvPicPr>
          <p:nvPr/>
        </p:nvPicPr>
        <p:blipFill>
          <a:blip r:embed="rId6"/>
          <a:stretch>
            <a:fillRect/>
          </a:stretch>
        </p:blipFill>
        <p:spPr>
          <a:xfrm>
            <a:off x="1100000" y="4935000"/>
            <a:ext cx="2252240" cy="235000"/>
          </a:xfrm>
          <a:prstGeom prst="rect">
            <a:avLst/>
          </a:prstGeom>
        </p:spPr>
      </p:pic>
      <p:sp>
        <p:nvSpPr>
          <p:cNvPr id="22" name="TextBox 21"/>
          <p:cNvSpPr txBox="1"/>
          <p:nvPr/>
        </p:nvSpPr>
        <p:spPr>
          <a:xfrm>
            <a:off x="6050000" y="2990000"/>
            <a:ext cx="4550000" cy="250000"/>
          </a:xfrm>
          <a:prstGeom prst="rect">
            <a:avLst/>
          </a:prstGeom>
          <a:noFill/>
        </p:spPr>
        <p:txBody>
          <a:bodyPr wrap="square" lIns="0" tIns="0" rIns="0" bIns="0">
            <a:spAutoFit/>
          </a:bodyPr>
          <a:lstStyle/>
          <a:p>
            <a:pPr algn="l"/>
            <a:r>
              <a:rPr sz="2000" b="1">
                <a:solidFill>
                  <a:srgbClr val="EAF0F6"/>
                </a:solidFill>
                <a:latin typeface="Aptos"/>
              </a:rPr>
              <a:t>Stage II: Hotelling validation</a:t>
            </a:r>
          </a:p>
        </p:txBody>
      </p:sp>
      <p:sp>
        <p:nvSpPr>
          <p:cNvPr id="23" name="TextBox 22"/>
          <p:cNvSpPr txBox="1"/>
          <p:nvPr/>
        </p:nvSpPr>
        <p:spPr>
          <a:xfrm>
            <a:off x="6050000" y="3450000"/>
            <a:ext cx="3400000" cy="150000"/>
          </a:xfrm>
          <a:prstGeom prst="rect">
            <a:avLst/>
          </a:prstGeom>
          <a:noFill/>
        </p:spPr>
        <p:txBody>
          <a:bodyPr wrap="square" lIns="0" tIns="0" rIns="0" bIns="0">
            <a:spAutoFit/>
          </a:bodyPr>
          <a:lstStyle/>
          <a:p>
            <a:pPr algn="l"/>
            <a:r>
              <a:rPr sz="1300" b="1">
                <a:solidFill>
                  <a:srgbClr val="F5BF42"/>
                </a:solidFill>
                <a:latin typeface="Aptos"/>
              </a:rPr>
              <a:t>Two-sample validation statistic</a:t>
            </a:r>
          </a:p>
        </p:txBody>
      </p:sp>
      <p:pic>
        <p:nvPicPr>
          <p:cNvPr id="24" name="Picture 23" descr="image.png"/>
          <p:cNvPicPr>
            <a:picLocks noChangeAspect="1"/>
          </p:cNvPicPr>
          <p:nvPr/>
        </p:nvPicPr>
        <p:blipFill>
          <a:blip r:embed="rId7"/>
          <a:stretch>
            <a:fillRect/>
          </a:stretch>
        </p:blipFill>
        <p:spPr>
          <a:xfrm>
            <a:off x="6050000" y="3650000"/>
            <a:ext cx="2656667" cy="285000"/>
          </a:xfrm>
          <a:prstGeom prst="rect">
            <a:avLst/>
          </a:prstGeom>
        </p:spPr>
      </p:pic>
      <p:sp>
        <p:nvSpPr>
          <p:cNvPr id="25" name="TextBox 24"/>
          <p:cNvSpPr txBox="1"/>
          <p:nvPr/>
        </p:nvSpPr>
        <p:spPr>
          <a:xfrm>
            <a:off x="6050000" y="4230000"/>
            <a:ext cx="3300000" cy="150000"/>
          </a:xfrm>
          <a:prstGeom prst="rect">
            <a:avLst/>
          </a:prstGeom>
          <a:noFill/>
        </p:spPr>
        <p:txBody>
          <a:bodyPr wrap="square" lIns="0" tIns="0" rIns="0" bIns="0">
            <a:spAutoFit/>
          </a:bodyPr>
          <a:lstStyle/>
          <a:p>
            <a:pPr algn="l"/>
            <a:r>
              <a:rPr sz="1300" b="1">
                <a:solidFill>
                  <a:srgbClr val="F5BF42"/>
                </a:solidFill>
                <a:latin typeface="Aptos"/>
              </a:rPr>
              <a:t>Decision rule</a:t>
            </a:r>
          </a:p>
        </p:txBody>
      </p:sp>
      <p:pic>
        <p:nvPicPr>
          <p:cNvPr id="26" name="Picture 25" descr="image.png"/>
          <p:cNvPicPr>
            <a:picLocks noChangeAspect="1"/>
          </p:cNvPicPr>
          <p:nvPr/>
        </p:nvPicPr>
        <p:blipFill>
          <a:blip r:embed="rId8"/>
          <a:stretch>
            <a:fillRect/>
          </a:stretch>
        </p:blipFill>
        <p:spPr>
          <a:xfrm>
            <a:off x="6050000" y="4410000"/>
            <a:ext cx="1173134" cy="240000"/>
          </a:xfrm>
          <a:prstGeom prst="rect">
            <a:avLst/>
          </a:prstGeom>
        </p:spPr>
      </p:pic>
      <p:sp>
        <p:nvSpPr>
          <p:cNvPr id="27" name="TextBox 26"/>
          <p:cNvSpPr txBox="1"/>
          <p:nvPr/>
        </p:nvSpPr>
        <p:spPr>
          <a:xfrm>
            <a:off x="6050000" y="4740000"/>
            <a:ext cx="3300000" cy="150000"/>
          </a:xfrm>
          <a:prstGeom prst="rect">
            <a:avLst/>
          </a:prstGeom>
          <a:noFill/>
        </p:spPr>
        <p:txBody>
          <a:bodyPr wrap="square" lIns="0" tIns="0" rIns="0" bIns="0">
            <a:spAutoFit/>
          </a:bodyPr>
          <a:lstStyle/>
          <a:p>
            <a:pPr algn="l"/>
            <a:r>
              <a:rPr sz="1300" b="1">
                <a:solidFill>
                  <a:srgbClr val="F5BF42"/>
                </a:solidFill>
                <a:latin typeface="Aptos"/>
              </a:rPr>
              <a:t>Stage-II admissibility</a:t>
            </a:r>
          </a:p>
        </p:txBody>
      </p:sp>
      <p:pic>
        <p:nvPicPr>
          <p:cNvPr id="28" name="Picture 27" descr="image.png"/>
          <p:cNvPicPr>
            <a:picLocks noChangeAspect="1"/>
          </p:cNvPicPr>
          <p:nvPr/>
        </p:nvPicPr>
        <p:blipFill>
          <a:blip r:embed="rId9"/>
          <a:stretch>
            <a:fillRect/>
          </a:stretch>
        </p:blipFill>
        <p:spPr>
          <a:xfrm>
            <a:off x="6050000" y="4920000"/>
            <a:ext cx="1351908" cy="230000"/>
          </a:xfrm>
          <a:prstGeom prst="rect">
            <a:avLst/>
          </a:prstGeom>
        </p:spPr>
      </p:pic>
      <p:sp>
        <p:nvSpPr>
          <p:cNvPr id="29" name="TextBox 28"/>
          <p:cNvSpPr txBox="1"/>
          <p:nvPr/>
        </p:nvSpPr>
        <p:spPr>
          <a:xfrm>
            <a:off x="7900000" y="4935000"/>
            <a:ext cx="2800000" cy="320000"/>
          </a:xfrm>
          <a:prstGeom prst="rect">
            <a:avLst/>
          </a:prstGeom>
          <a:noFill/>
        </p:spPr>
        <p:txBody>
          <a:bodyPr wrap="square" lIns="0" tIns="0" rIns="0" bIns="0">
            <a:spAutoFit/>
          </a:bodyPr>
          <a:lstStyle/>
          <a:p>
            <a:pPr algn="l"/>
            <a:r>
              <a:rPr sz="1100" b="0">
                <a:solidFill>
                  <a:srgbClr val="ACBCD2"/>
                </a:solidFill>
                <a:latin typeface="Aptos"/>
              </a:rPr>
              <a:t>H = validation-window size
d = retained PCA dimension</a:t>
            </a:r>
          </a:p>
        </p:txBody>
      </p:sp>
      <p:sp>
        <p:nvSpPr>
          <p:cNvPr id="30" name="TextBox 29"/>
          <p:cNvSpPr txBox="1"/>
          <p:nvPr/>
        </p:nvSpPr>
        <p:spPr>
          <a:xfrm>
            <a:off x="609600" y="6515100"/>
            <a:ext cx="4095750" cy="171450"/>
          </a:xfrm>
          <a:prstGeom prst="rect">
            <a:avLst/>
          </a:prstGeom>
          <a:noFill/>
        </p:spPr>
        <p:txBody>
          <a:bodyPr wrap="square" lIns="0" tIns="0" rIns="0" bIns="0">
            <a:spAutoFit/>
          </a:bodyPr>
          <a:lstStyle/>
          <a:p>
            <a:pPr algn="l"/>
            <a:r>
              <a:rPr sz="1000" b="0">
                <a:solidFill>
                  <a:srgbClr val="ACBCD2"/>
                </a:solidFill>
                <a:latin typeface="Aptos"/>
              </a:rPr>
              <a:t>hlin863/ewma_covariate_shift_demo</a:t>
            </a:r>
          </a:p>
        </p:txBody>
      </p:sp>
      <p:sp>
        <p:nvSpPr>
          <p:cNvPr id="31" name="TextBox 30"/>
          <p:cNvSpPr txBox="1"/>
          <p:nvPr/>
        </p:nvSpPr>
        <p:spPr>
          <a:xfrm>
            <a:off x="11049000" y="6515100"/>
            <a:ext cx="533400" cy="171450"/>
          </a:xfrm>
          <a:prstGeom prst="rect">
            <a:avLst/>
          </a:prstGeom>
          <a:noFill/>
        </p:spPr>
        <p:txBody>
          <a:bodyPr wrap="square" lIns="0" tIns="0" rIns="0" bIns="0">
            <a:spAutoFit/>
          </a:bodyPr>
          <a:lstStyle/>
          <a:p>
            <a: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8F54C9D-1E96-45E4-8CDE-790A15820514}"/>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CSE TABLE-I DATA PROTOCOL</a:t>
            </a:r>
          </a:p>
        </p:txBody>
      </p:sp>
      <p:sp>
        <p:nvSpPr>
          <p:cNvPr id="2" name="Rectangle 1">
            <a:extLst>
              <a:ext uri="{FF2B5EF4-FFF2-40B4-BE49-F238E27FC236}">
                <a16:creationId xmlns:a16="http://schemas.microsoft.com/office/drawing/2014/main" id="{DB90596F-2066-46B0-B963-6E599B63C83C}"/>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CSE development and held-out evaluation</a:t>
            </a:r>
          </a:p>
        </p:txBody>
      </p:sp>
      <p:sp>
        <p:nvSpPr>
          <p:cNvPr id="3" name="Straight Connector 2">
            <a:extLst>
              <a:ext uri="{FF2B5EF4-FFF2-40B4-BE49-F238E27FC236}">
                <a16:creationId xmlns:a16="http://schemas.microsoft.com/office/drawing/2014/main" id="{72D2C2F6-86A3-49D5-89D3-6A9C6351D79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3">
            <a:extLst>
              <a:ext uri="{FF2B5EF4-FFF2-40B4-BE49-F238E27FC236}">
                <a16:creationId xmlns:a16="http://schemas.microsoft.com/office/drawing/2014/main" id="{1CB363F9-BC47-4B28-A454-090BB368AB48}"/>
              </a:ext>
            </a:extLst>
          </p:cNvPr>
          <p:cNvSpPr>
            <a:spLocks noGrp="1"/>
          </p:cNvSpPr>
          <p:nvPr/>
        </p:nvSpPr>
        <p:spPr>
          <a:xfrm>
            <a:off x="609600" y="1714500"/>
            <a:ext cx="4476750" cy="381000"/>
          </a:xfrm>
          <a:prstGeom prst="rect">
            <a:avLst/>
          </a:prstGeom>
          <a:noFill/>
          <a:ln w="0">
            <a:noFill/>
          </a:ln>
        </p:spPr>
        <p:txBody>
          <a:bodyPr wrap="square" lIns="0" tIns="0" rIns="0" bIns="0" anchor="t">
            <a:normAutofit/>
          </a:bodyPr>
          <a:lstStyle/>
          <a:p>
            <a:pPr algn="l">
              <a:buNone/>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BCI Competition IV 2A</a:t>
            </a:r>
          </a:p>
        </p:txBody>
      </p:sp>
      <p:sp>
        <p:nvSpPr>
          <p:cNvPr id="5" name="Rectangle 4">
            <a:extLst>
              <a:ext uri="{FF2B5EF4-FFF2-40B4-BE49-F238E27FC236}">
                <a16:creationId xmlns:a16="http://schemas.microsoft.com/office/drawing/2014/main" id="{415EC4BF-6FEE-4A91-AEAD-D3C148653231}"/>
              </a:ext>
            </a:extLst>
          </p:cNvPr>
          <p:cNvSpPr>
            <a:spLocks noGrp="1"/>
          </p:cNvSpPr>
          <p:nvPr/>
        </p:nvSpPr>
        <p:spPr>
          <a:xfrm>
            <a:off x="60960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 I develops the model</a:t>
            </a:r>
          </a:p>
        </p:txBody>
      </p:sp>
      <p:sp>
        <p:nvSpPr>
          <p:cNvPr id="6" name="Rectangle 5">
            <a:extLst>
              <a:ext uri="{FF2B5EF4-FFF2-40B4-BE49-F238E27FC236}">
                <a16:creationId xmlns:a16="http://schemas.microsoft.com/office/drawing/2014/main" id="{2D2C6BCC-6841-42A3-AE4B-8F5D735C1333}"/>
              </a:ext>
            </a:extLst>
          </p:cNvPr>
          <p:cNvSpPr>
            <a:spLocks noGrp="1"/>
          </p:cNvSpPr>
          <p:nvPr/>
        </p:nvSpPr>
        <p:spPr>
          <a:xfrm>
            <a:off x="60960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 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 II, left/right trials</a:t>
            </a:r>
          </a:p>
        </p:txBody>
      </p:sp>
      <p:sp>
        <p:nvSpPr>
          <p:cNvPr id="7" name="Straight Connector 6">
            <a:extLst>
              <a:ext uri="{FF2B5EF4-FFF2-40B4-BE49-F238E27FC236}">
                <a16:creationId xmlns:a16="http://schemas.microsoft.com/office/drawing/2014/main" id="{CC28E0FF-26C5-4466-A775-C0F1E5112F6C}"/>
              </a:ext>
            </a:extLst>
          </p:cNvPr>
          <p:cNvSpPr>
            <a:spLocks noGrp="1"/>
          </p:cNvSpPr>
          <p:nvPr/>
        </p:nvSpPr>
        <p:spPr>
          <a:xfrm>
            <a:off x="5810250" y="1733550"/>
            <a:ext cx="0" cy="3429000"/>
          </a:xfrm>
          <a:prstGeom prst="line">
            <a:avLst/>
          </a:prstGeom>
          <a:noFill/>
          <a:ln w="19050">
            <a:solidFill>
              <a:srgbClr val="294057"/>
            </a:solidFill>
            <a:prstDash val="solid"/>
          </a:ln>
        </p:spPr>
        <p:txBody>
          <a:bodyPr/>
          <a:lstStyle/>
          <a:p>
            <a:endParaRPr/>
          </a:p>
        </p:txBody>
      </p:sp>
      <p:sp>
        <p:nvSpPr>
          <p:cNvPr id="8" name="Rectangle 7">
            <a:extLst>
              <a:ext uri="{FF2B5EF4-FFF2-40B4-BE49-F238E27FC236}">
                <a16:creationId xmlns:a16="http://schemas.microsoft.com/office/drawing/2014/main" id="{67D14E88-1583-4468-ADF4-3F6272715EF5}"/>
              </a:ext>
            </a:extLst>
          </p:cNvPr>
          <p:cNvSpPr>
            <a:spLocks noGrp="1"/>
          </p:cNvSpPr>
          <p:nvPr/>
        </p:nvSpPr>
        <p:spPr>
          <a:xfrm>
            <a:off x="6572250" y="1714500"/>
            <a:ext cx="4476750" cy="381000"/>
          </a:xfrm>
          <a:prstGeom prst="rect">
            <a:avLst/>
          </a:prstGeom>
          <a:noFill/>
          <a:ln w="0">
            <a:noFill/>
          </a:ln>
        </p:spPr>
        <p:txBody>
          <a:bodyPr wrap="square" lIns="0" tIns="0" rIns="0" bIns="0" anchor="t">
            <a:normAutofit/>
          </a:bodyPr>
          <a:lstStyle/>
          <a:p>
            <a:pPr algn="l">
              <a:buNone/>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BCI Competition IV 2B</a:t>
            </a:r>
          </a:p>
        </p:txBody>
      </p:sp>
      <p:sp>
        <p:nvSpPr>
          <p:cNvPr id="9" name="Rectangle 8">
            <a:extLst>
              <a:ext uri="{FF2B5EF4-FFF2-40B4-BE49-F238E27FC236}">
                <a16:creationId xmlns:a16="http://schemas.microsoft.com/office/drawing/2014/main" id="{DA09DE3D-873D-45A1-A54D-3F145758972B}"/>
              </a:ext>
            </a:extLst>
          </p:cNvPr>
          <p:cNvSpPr>
            <a:spLocks noGrp="1"/>
          </p:cNvSpPr>
          <p:nvPr/>
        </p:nvSpPr>
        <p:spPr>
          <a:xfrm>
            <a:off x="657225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Sessions I–III develop the model</a:t>
            </a:r>
          </a:p>
        </p:txBody>
      </p:sp>
      <p:sp>
        <p:nvSpPr>
          <p:cNvPr id="10" name="Rectangle 9">
            <a:extLst>
              <a:ext uri="{FF2B5EF4-FFF2-40B4-BE49-F238E27FC236}">
                <a16:creationId xmlns:a16="http://schemas.microsoft.com/office/drawing/2014/main" id="{79EDB97E-2B69-4691-B5C6-8BE87573EDB4}"/>
              </a:ext>
            </a:extLst>
          </p:cNvPr>
          <p:cNvSpPr>
            <a:spLocks noGrp="1"/>
          </p:cNvSpPr>
          <p:nvPr/>
        </p:nvSpPr>
        <p:spPr>
          <a:xfrm>
            <a:off x="657225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Sessions I–III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Sessions IV–V</a:t>
            </a:r>
          </a:p>
        </p:txBody>
      </p:sp>
      <p:sp>
        <p:nvSpPr>
          <p:cNvPr id="11" name="Rectangle: Rounded Corners 10">
            <a:extLst>
              <a:ext uri="{FF2B5EF4-FFF2-40B4-BE49-F238E27FC236}">
                <a16:creationId xmlns:a16="http://schemas.microsoft.com/office/drawing/2014/main" id="{10101867-1F8A-439D-A88E-D31865E6AD0A}"/>
              </a:ext>
            </a:extLst>
          </p:cNvPr>
          <p:cNvSpPr>
            <a:spLocks noGrp="1"/>
          </p:cNvSpPr>
          <p:nvPr/>
        </p:nvSpPr>
        <p:spPr>
          <a:xfrm>
            <a:off x="609600" y="4810125"/>
            <a:ext cx="10572750" cy="685800"/>
          </a:xfrm>
          <a:prstGeom prst="roundRect">
            <a:avLst>
              <a:gd name="adj" fmla="val 13889"/>
            </a:avLst>
          </a:prstGeom>
          <a:solidFill>
            <a:srgbClr val="0F1C2B"/>
          </a:solidFill>
          <a:ln w="9525">
            <a:solidFill>
              <a:srgbClr val="294057"/>
            </a:solidFill>
            <a:prstDash val="solid"/>
          </a:ln>
        </p:spPr>
        <p:txBody>
          <a:bodyPr/>
          <a:lstStyle/>
          <a:p>
            <a:endParaRPr/>
          </a:p>
        </p:txBody>
      </p:sp>
      <p:sp>
        <p:nvSpPr>
          <p:cNvPr id="12" name="Rectangle 11">
            <a:extLst>
              <a:ext uri="{FF2B5EF4-FFF2-40B4-BE49-F238E27FC236}">
                <a16:creationId xmlns:a16="http://schemas.microsoft.com/office/drawing/2014/main" id="{0A15745C-1BA2-4735-BB56-2BED47890316}"/>
              </a:ext>
            </a:extLst>
          </p:cNvPr>
          <p:cNvSpPr>
            <a:spLocks noGrp="1"/>
          </p:cNvSpPr>
          <p:nvPr/>
        </p:nvSpPr>
        <p:spPr>
          <a:xfrm>
            <a:off x="819150" y="4991100"/>
            <a:ext cx="2095500" cy="228600"/>
          </a:xfrm>
          <a:prstGeom prst="rect">
            <a:avLst/>
          </a:prstGeom>
          <a:noFill/>
          <a:ln w="0">
            <a:noFill/>
          </a:ln>
        </p:spPr>
        <p:txBody>
          <a:bodyPr wrap="square" lIns="0" tIns="0" rIns="0" bIns="0" anchor="t">
            <a:normAutofit/>
          </a:bodyPr>
          <a:lstStyle/>
          <a:p>
            <a:pPr algn="l">
              <a:buNone/>
              <a:defRPr sz="1050" b="1">
                <a:solidFill>
                  <a:srgbClr val="F5B942"/>
                </a:solidFill>
                <a:latin typeface="DejaVu Sans"/>
                <a:ea typeface="DejaVu Sans"/>
                <a:cs typeface="DejaVu Sans"/>
              </a:defRPr>
            </a:pPr>
            <a:r>
              <a:rPr sz="1050" b="1">
                <a:solidFill>
                  <a:srgbClr val="F5B942"/>
                </a:solidFill>
                <a:latin typeface="DejaVu Sans"/>
                <a:ea typeface="DejaVu Sans"/>
                <a:cs typeface="DejaVu Sans"/>
              </a:rPr>
              <a:t>Shared rule</a:t>
            </a:r>
          </a:p>
        </p:txBody>
      </p:sp>
      <p:sp>
        <p:nvSpPr>
          <p:cNvPr id="13" name="Rectangle 12">
            <a:extLst>
              <a:ext uri="{FF2B5EF4-FFF2-40B4-BE49-F238E27FC236}">
                <a16:creationId xmlns:a16="http://schemas.microsoft.com/office/drawing/2014/main" id="{F08AD596-C1F7-4D0E-AE1C-70F38E40AE54}"/>
              </a:ext>
            </a:extLst>
          </p:cNvPr>
          <p:cNvSpPr>
            <a:spLocks noGrp="1"/>
          </p:cNvSpPr>
          <p:nvPr/>
        </p:nvSpPr>
        <p:spPr>
          <a:xfrm>
            <a:off x="3028950" y="4914900"/>
            <a:ext cx="7858125" cy="400050"/>
          </a:xfrm>
          <a:prstGeom prst="rect">
            <a:avLst/>
          </a:prstGeom>
          <a:noFill/>
          <a:ln w="0">
            <a:noFill/>
          </a:ln>
        </p:spPr>
        <p:txBody>
          <a:bodyPr wrap="square" lIns="0" tIns="0" rIns="0" bIns="0" anchor="t">
            <a:no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Evaluation trials do not enter feature-model fitting.</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Record the split seed and effective detector configuration.</a:t>
            </a:r>
            <a:endParaRPr sz="1425" b="1">
              <a:solidFill>
                <a:srgbClr val="EAF2F8"/>
              </a:solidFill>
              <a:latin typeface="DejaVu Sans"/>
              <a:ea typeface="DejaVu Sans"/>
              <a:cs typeface="DejaVu Sans"/>
            </a:endParaRPr>
          </a:p>
        </p:txBody>
      </p:sp>
      <p:sp>
        <p:nvSpPr>
          <p:cNvPr id="14" name="Rectangle 13">
            <a:extLst>
              <a:ext uri="{FF2B5EF4-FFF2-40B4-BE49-F238E27FC236}">
                <a16:creationId xmlns:a16="http://schemas.microsoft.com/office/drawing/2014/main" id="{0E25EFAE-20EA-4B23-A584-EA109F6639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15" name="Rectangle 14">
            <a:extLst>
              <a:ext uri="{FF2B5EF4-FFF2-40B4-BE49-F238E27FC236}">
                <a16:creationId xmlns:a16="http://schemas.microsoft.com/office/drawing/2014/main" id="{3247F094-C46B-4595-A723-4047FC00996C}"/>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r>
              <a:t>06</a:t>
            </a:r>
          </a:p>
        </p:txBody>
      </p:sp>
      <p:sp>
        <p:nvSpPr>
          <p:cNvPr id="17" name="Separate benchmark protocol">
            <a:extLst>
              <a:ext uri="{FF2B5EF4-FFF2-40B4-BE49-F238E27FC236}">
                <a16:creationId xmlns:a16="http://schemas.microsoft.com/office/drawing/2014/main" id="{01F97631-6B21-4707-B35D-298B5E7C6B5F}"/>
              </a:ext>
            </a:extLst>
          </p:cNvPr>
          <p:cNvSpPr>
            <a:spLocks noGrp="1"/>
          </p:cNvSpPr>
          <p:nvPr/>
        </p:nvSpPr>
        <p:spPr>
          <a:xfrm>
            <a:off x="609600" y="5715000"/>
            <a:ext cx="10763250" cy="495300"/>
          </a:xfrm>
          <a:prstGeom prst="rect">
            <a:avLst/>
          </a:prstGeom>
          <a:noFill/>
          <a:ln w="0">
            <a:noFill/>
          </a:ln>
        </p:spPr>
        <p:txBody>
          <a:bodyPr>
            <a:noAutofit/>
          </a:bodyPr>
          <a:lstStyle/>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Classifier benchmark: 2A fits Session I and tests II.</a:t>
            </a:r>
          </a:p>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The stored 2B benchmark fits I–II and tests labelled Session III.</a:t>
            </a:r>
          </a:p>
        </p:txBody>
      </p:sp>
    </p:spTree>
    <p:extLst>
      <p:ext uri="{BB962C8B-B14F-4D97-AF65-F5344CB8AC3E}">
        <p14:creationId xmlns:p14="http://schemas.microsoft.com/office/powerpoint/2010/main" val="16731952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AA9D904-5262-45AB-ADD9-F297578434DC}"/>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TRACKED EXPERIMENT RESULTS</a:t>
            </a:r>
          </a:p>
        </p:txBody>
      </p:sp>
      <p:sp>
        <p:nvSpPr>
          <p:cNvPr id="2" name="Rectangle 1">
            <a:extLst>
              <a:ext uri="{FF2B5EF4-FFF2-40B4-BE49-F238E27FC236}">
                <a16:creationId xmlns:a16="http://schemas.microsoft.com/office/drawing/2014/main" id="{90E829DA-45E0-4ACE-ABE3-77ABCDA0C90E}"/>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Classifier and complementary-monitoring results</a:t>
            </a:r>
          </a:p>
        </p:txBody>
      </p:sp>
      <p:sp>
        <p:nvSpPr>
          <p:cNvPr id="3" name="Straight Connector 2">
            <a:extLst>
              <a:ext uri="{FF2B5EF4-FFF2-40B4-BE49-F238E27FC236}">
                <a16:creationId xmlns:a16="http://schemas.microsoft.com/office/drawing/2014/main" id="{D9EBF67B-0780-415B-8D50-0CB4B5C6AD3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24" name="Rectangle 23">
            <a:extLst>
              <a:ext uri="{FF2B5EF4-FFF2-40B4-BE49-F238E27FC236}">
                <a16:creationId xmlns:a16="http://schemas.microsoft.com/office/drawing/2014/main" id="{CDDBF32D-3294-4B4E-9CBD-0955D992EA27}"/>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5" name="Rectangle 24">
            <a:extLst>
              <a:ext uri="{FF2B5EF4-FFF2-40B4-BE49-F238E27FC236}">
                <a16:creationId xmlns:a16="http://schemas.microsoft.com/office/drawing/2014/main" id="{B610C229-9FB6-427F-AA31-1012D15E91D3}"/>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r>
              <a:t>07</a:t>
            </a:r>
          </a:p>
        </p:txBody>
      </p:sp>
      <p:sp>
        <p:nvSpPr>
          <p:cNvPr id="27" name="Classifier heading">
            <a:extLst>
              <a:ext uri="{FF2B5EF4-FFF2-40B4-BE49-F238E27FC236}">
                <a16:creationId xmlns:a16="http://schemas.microsoft.com/office/drawing/2014/main" id="{DD2AF170-29D2-415C-A234-54A7F1A57653}"/>
              </a:ext>
            </a:extLst>
          </p:cNvPr>
          <p:cNvSpPr>
            <a:spLocks noGrp="1"/>
          </p:cNvSpPr>
          <p:nvPr/>
        </p:nvSpPr>
        <p:spPr>
          <a:xfrm>
            <a:off x="609600" y="1695450"/>
            <a:ext cx="4667250" cy="333375"/>
          </a:xfrm>
          <a:prstGeom prst="rect">
            <a:avLst/>
          </a:prstGeom>
          <a:noFill/>
          <a:ln w="0">
            <a:noFill/>
          </a:ln>
        </p:spPr>
        <p:txBody>
          <a:bodyPr>
            <a:noAutofit/>
          </a:bodyPr>
          <a:lstStyle/>
          <a:p>
            <a:pPr>
              <a:defRPr sz="1725" b="1">
                <a:solidFill>
                  <a:srgbClr val="64D98B"/>
                </a:solidFill>
                <a:latin typeface="DejaVu Sans"/>
                <a:ea typeface="DejaVu Sans"/>
                <a:cs typeface="DejaVu Sans"/>
              </a:defRPr>
            </a:pPr>
            <a:r>
              <a:rPr sz="1725" b="1">
                <a:solidFill>
                  <a:srgbClr val="64D98B"/>
                </a:solidFill>
                <a:latin typeface="DejaVu Sans"/>
                <a:ea typeface="DejaVu Sans"/>
                <a:cs typeface="DejaVu Sans"/>
              </a:rPr>
              <a:t>Real EEG classifier benchmark</a:t>
            </a:r>
          </a:p>
        </p:txBody>
      </p:sp>
      <p:sp>
        <p:nvSpPr>
          <p:cNvPr id="28" name="Classifier scope">
            <a:extLst>
              <a:ext uri="{FF2B5EF4-FFF2-40B4-BE49-F238E27FC236}">
                <a16:creationId xmlns:a16="http://schemas.microsoft.com/office/drawing/2014/main" id="{D61F919C-77F3-4B5F-8F80-7ACFCCB47C33}"/>
              </a:ext>
            </a:extLst>
          </p:cNvPr>
          <p:cNvSpPr>
            <a:spLocks noGrp="1"/>
          </p:cNvSpPr>
          <p:nvPr/>
        </p:nvSpPr>
        <p:spPr>
          <a:xfrm>
            <a:off x="609600" y="2095500"/>
            <a:ext cx="4762500" cy="26670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Mean accuracy across 9 subjects per dataset</a:t>
            </a:r>
          </a:p>
        </p:txBody>
      </p:sp>
      <p:sp>
        <p:nvSpPr>
          <p:cNvPr id="29" name="Complement heading">
            <a:extLst>
              <a:ext uri="{FF2B5EF4-FFF2-40B4-BE49-F238E27FC236}">
                <a16:creationId xmlns:a16="http://schemas.microsoft.com/office/drawing/2014/main" id="{35553F8E-FC12-46E5-B918-E0D0D659CC95}"/>
              </a:ext>
            </a:extLst>
          </p:cNvPr>
          <p:cNvSpPr>
            <a:spLocks noGrp="1"/>
          </p:cNvSpPr>
          <p:nvPr/>
        </p:nvSpPr>
        <p:spPr>
          <a:xfrm>
            <a:off x="6238875" y="1695450"/>
            <a:ext cx="5238750" cy="333375"/>
          </a:xfrm>
          <a:prstGeom prst="rect">
            <a:avLst/>
          </a:prstGeom>
          <a:noFill/>
          <a:ln w="0">
            <a:noFill/>
          </a:ln>
        </p:spPr>
        <p:txBody>
          <a:bodyPr>
            <a:noAutofit/>
          </a:bodyPr>
          <a:lstStyle/>
          <a:p>
            <a:pPr>
              <a:defRPr sz="1725" b="1">
                <a:solidFill>
                  <a:srgbClr val="2DD4BF"/>
                </a:solidFill>
                <a:latin typeface="DejaVu Sans"/>
                <a:ea typeface="DejaVu Sans"/>
                <a:cs typeface="DejaVu Sans"/>
              </a:defRPr>
            </a:pPr>
            <a:r>
              <a:rPr sz="1725" b="1">
                <a:solidFill>
                  <a:srgbClr val="2DD4BF"/>
                </a:solidFill>
                <a:latin typeface="DejaVu Sans"/>
                <a:ea typeface="DejaVu Sans"/>
                <a:cs typeface="DejaVu Sans"/>
              </a:rPr>
              <a:t>Complementary Stage-I monitoring</a:t>
            </a:r>
          </a:p>
        </p:txBody>
      </p:sp>
      <p:sp>
        <p:nvSpPr>
          <p:cNvPr id="30" name="Complement scope">
            <a:extLst>
              <a:ext uri="{FF2B5EF4-FFF2-40B4-BE49-F238E27FC236}">
                <a16:creationId xmlns:a16="http://schemas.microsoft.com/office/drawing/2014/main" id="{4FF0B49B-D860-41A6-88D5-859F9A1BA670}"/>
              </a:ext>
            </a:extLst>
          </p:cNvPr>
          <p:cNvSpPr>
            <a:spLocks noGrp="1"/>
          </p:cNvSpPr>
          <p:nvPr/>
        </p:nvSpPr>
        <p:spPr>
          <a:xfrm>
            <a:off x="6238875" y="2095500"/>
            <a:ext cx="5238750" cy="428625"/>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Detection within 20 samples, 100 seeds, magnitude 3</a:t>
            </a:r>
          </a:p>
        </p:txBody>
      </p:sp>
      <p:sp>
        <p:nvSpPr>
          <p:cNvPr id="31" name="Classifier finding">
            <a:extLst>
              <a:ext uri="{FF2B5EF4-FFF2-40B4-BE49-F238E27FC236}">
                <a16:creationId xmlns:a16="http://schemas.microsoft.com/office/drawing/2014/main" id="{587AC99E-88FD-440A-A4A1-649AEDB6D578}"/>
              </a:ext>
            </a:extLst>
          </p:cNvPr>
          <p:cNvSpPr>
            <a:spLocks noGrp="1"/>
          </p:cNvSpPr>
          <p:nvPr/>
        </p:nvSpPr>
        <p:spPr>
          <a:xfrm>
            <a:off x="609600" y="4276725"/>
            <a:ext cx="5143500" cy="552450"/>
          </a:xfrm>
          <a:prstGeom prst="rect">
            <a:avLst/>
          </a:prstGeom>
          <a:noFill/>
          <a:ln w="0">
            <a:noFill/>
          </a:ln>
        </p:spPr>
        <p:txBody>
          <a:bodyPr>
            <a:noAutofit/>
          </a:bodyPr>
          <a:lstStyle/>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Mean change: −0.15 pp (2A), +0.56 pp (2B).</a:t>
            </a:r>
          </a:p>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No consistent gain across both datasets.</a:t>
            </a:r>
          </a:p>
        </p:txBody>
      </p:sp>
      <p:sp>
        <p:nvSpPr>
          <p:cNvPr id="32" name="Classifier protocol">
            <a:extLst>
              <a:ext uri="{FF2B5EF4-FFF2-40B4-BE49-F238E27FC236}">
                <a16:creationId xmlns:a16="http://schemas.microsoft.com/office/drawing/2014/main" id="{9BC295B5-4069-4AA4-ABEC-B1ADE8DF77EC}"/>
              </a:ext>
            </a:extLst>
          </p:cNvPr>
          <p:cNvSpPr>
            <a:spLocks noGrp="1"/>
          </p:cNvSpPr>
          <p:nvPr/>
        </p:nvSpPr>
        <p:spPr>
          <a:xfrm>
            <a:off x="609600" y="4981575"/>
            <a:ext cx="5143500" cy="5143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2A: Session II evaluation</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2B: Session III GDF-only holdout</a:t>
            </a:r>
          </a:p>
        </p:txBody>
      </p:sp>
      <p:sp>
        <p:nvSpPr>
          <p:cNvPr id="33" name="Complement finding">
            <a:extLst>
              <a:ext uri="{FF2B5EF4-FFF2-40B4-BE49-F238E27FC236}">
                <a16:creationId xmlns:a16="http://schemas.microsoft.com/office/drawing/2014/main" id="{351786D7-5D11-4607-BD6B-4224ECD86DE5}"/>
              </a:ext>
            </a:extLst>
          </p:cNvPr>
          <p:cNvSpPr>
            <a:spLocks noGrp="1"/>
          </p:cNvSpPr>
          <p:nvPr/>
        </p:nvSpPr>
        <p:spPr>
          <a:xfrm>
            <a:off x="6238875" y="4714875"/>
            <a:ext cx="5286375" cy="50482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Magnitude 6: PC1 detection rises to 88%</a:t>
            </a:r>
          </a:p>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(score) and 82% (combined).</a:t>
            </a:r>
          </a:p>
        </p:txBody>
      </p:sp>
      <p:sp>
        <p:nvSpPr>
          <p:cNvPr id="34" name="Complement caution">
            <a:extLst>
              <a:ext uri="{FF2B5EF4-FFF2-40B4-BE49-F238E27FC236}">
                <a16:creationId xmlns:a16="http://schemas.microsoft.com/office/drawing/2014/main" id="{74646E58-883C-4989-BF93-46CDEA34BED4}"/>
              </a:ext>
            </a:extLst>
          </p:cNvPr>
          <p:cNvSpPr>
            <a:spLocks noGrp="1"/>
          </p:cNvSpPr>
          <p:nvPr/>
        </p:nvSpPr>
        <p:spPr>
          <a:xfrm>
            <a:off x="6238875" y="5314950"/>
            <a:ext cx="5286375" cy="4762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No-shift 20-sample alarm rate: 21–26%.</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Per-sample false-alarm rate: about 1%.</a:t>
            </a:r>
          </a:p>
        </p:txBody>
      </p:sp>
      <p:sp>
        <p:nvSpPr>
          <p:cNvPr id="35" name="Verification status">
            <a:extLst>
              <a:ext uri="{FF2B5EF4-FFF2-40B4-BE49-F238E27FC236}">
                <a16:creationId xmlns:a16="http://schemas.microsoft.com/office/drawing/2014/main" id="{181E837D-FAF4-4ED6-A7B2-3EC89CF19AA7}"/>
              </a:ext>
            </a:extLst>
          </p:cNvPr>
          <p:cNvSpPr>
            <a:spLocks noGrp="1"/>
          </p:cNvSpPr>
          <p:nvPr/>
        </p:nvSpPr>
        <p:spPr>
          <a:xfrm>
            <a:off x="609600" y="6057900"/>
            <a:ext cx="10858500" cy="266700"/>
          </a:xfrm>
          <a:prstGeom prst="rect">
            <a:avLst/>
          </a:prstGeom>
          <a:noFill/>
          <a:ln w="0">
            <a:noFill/>
          </a:ln>
        </p:spPr>
        <p:txBody>
          <a:bodyPr>
            <a:noAutofit/>
          </a:bodyPr>
          <a:lstStyle/>
          <a:p>
            <a:pPr>
              <a:defRPr sz="1200" b="0">
                <a:solidFill>
                  <a:srgbClr val="F5B942"/>
                </a:solidFill>
                <a:latin typeface="DejaVu Sans"/>
                <a:ea typeface="DejaVu Sans"/>
                <a:cs typeface="DejaVu Sans"/>
              </a:defRPr>
            </a:pPr>
            <a:r>
              <a:rPr sz="1200" b="0">
                <a:solidFill>
                  <a:srgbClr val="F5B942"/>
                </a:solidFill>
                <a:latin typeface="DejaVu Sans"/>
                <a:ea typeface="DejaVu Sans"/>
                <a:cs typeface="DejaVu Sans"/>
              </a:rPr>
              <a:t>Verification snapshot: 216 tests, 1 failure (22 Sep). Refresh the report against current code.</a:t>
            </a:r>
          </a:p>
        </p:txBody>
      </p:sp>
      <p:graphicFrame>
        <p:nvGraphicFramePr>
          <p:cNvPr id="36" name="Table 35"/>
          <p:cNvGraphicFramePr/>
          <p:nvPr/>
        </p:nvGraphicFramePr>
        <p:xfrm>
          <a:off x="609600" y="2647950"/>
          <a:ext cx="4762500" cy="1428750"/>
        </p:xfrm>
        <a:graphic>
          <a:graphicData uri="http://schemas.openxmlformats.org/drawingml/2006/table">
            <a:tbl>
              <a:tblPr/>
              <a:tblGrid>
                <a:gridCol w="123825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tblGrid>
              <a:tr h="476250">
                <a:tc>
                  <a:txBody>
                    <a:bodyPr/>
                    <a:lstStyle/>
                    <a:p>
                      <a:r>
                        <a:rPr sz="1275" b="1">
                          <a:solidFill>
                            <a:srgbClr val="2DD4BF"/>
                          </a:solidFill>
                          <a:latin typeface="DejaVu Sans"/>
                          <a:ea typeface="DejaVu Sans"/>
                          <a:cs typeface="DejaVu Sans"/>
                        </a:rPr>
                        <a:t>Dataset</a:t>
                      </a:r>
                    </a:p>
                  </a:txBody>
                  <a:tcPr>
                    <a:solidFill>
                      <a:srgbClr val="122B3E"/>
                    </a:solidFill>
                  </a:tcPr>
                </a:tc>
                <a:tc>
                  <a:txBody>
                    <a:bodyPr/>
                    <a:lstStyle/>
                    <a:p>
                      <a:r>
                        <a:rPr sz="1275" b="1">
                          <a:solidFill>
                            <a:srgbClr val="2DD4BF"/>
                          </a:solidFill>
                          <a:latin typeface="DejaVu Sans"/>
                          <a:ea typeface="DejaVu Sans"/>
                          <a:cs typeface="DejaVu Sans"/>
                        </a:rPr>
                        <a:t>Single SVM</a:t>
                      </a:r>
                    </a:p>
                  </a:txBody>
                  <a:tcPr>
                    <a:solidFill>
                      <a:srgbClr val="122B3E"/>
                    </a:solidFill>
                  </a:tcPr>
                </a:tc>
                <a:tc>
                  <a:txBody>
                    <a:bodyPr/>
                    <a:lstStyle/>
                    <a:p>
                      <a:r>
                        <a:rPr sz="1275" b="1">
                          <a:solidFill>
                            <a:srgbClr val="2DD4BF"/>
                          </a:solidFill>
                          <a:latin typeface="DejaVu Sans"/>
                          <a:ea typeface="DejaVu Sans"/>
                          <a:cs typeface="DejaVu Sans"/>
                        </a:rPr>
                        <a:t>Bagged SVM</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2A</a:t>
                      </a:r>
                    </a:p>
                  </a:txBody>
                  <a:tcPr>
                    <a:solidFill>
                      <a:srgbClr val="0E1D2C"/>
                    </a:solidFill>
                  </a:tcPr>
                </a:tc>
                <a:tc>
                  <a:txBody>
                    <a:bodyPr/>
                    <a:lstStyle/>
                    <a:p>
                      <a:r>
                        <a:rPr sz="1275" b="0">
                          <a:solidFill>
                            <a:srgbClr val="EAF2F8"/>
                          </a:solidFill>
                          <a:latin typeface="DejaVu Sans"/>
                          <a:ea typeface="DejaVu Sans"/>
                          <a:cs typeface="DejaVu Sans"/>
                        </a:rPr>
                        <a:t>76.00%</a:t>
                      </a:r>
                    </a:p>
                  </a:txBody>
                  <a:tcPr>
                    <a:solidFill>
                      <a:srgbClr val="0E1D2C"/>
                    </a:solidFill>
                  </a:tcPr>
                </a:tc>
                <a:tc>
                  <a:txBody>
                    <a:bodyPr/>
                    <a:lstStyle/>
                    <a:p>
                      <a:r>
                        <a:rPr sz="1275" b="0">
                          <a:solidFill>
                            <a:srgbClr val="EAF2F8"/>
                          </a:solidFill>
                          <a:latin typeface="DejaVu Sans"/>
                          <a:ea typeface="DejaVu Sans"/>
                          <a:cs typeface="DejaVu Sans"/>
                        </a:rPr>
                        <a:t>75.85%</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2B</a:t>
                      </a:r>
                    </a:p>
                  </a:txBody>
                  <a:tcPr>
                    <a:solidFill>
                      <a:srgbClr val="0E1D2C"/>
                    </a:solidFill>
                  </a:tcPr>
                </a:tc>
                <a:tc>
                  <a:txBody>
                    <a:bodyPr/>
                    <a:lstStyle/>
                    <a:p>
                      <a:r>
                        <a:rPr sz="1275" b="0">
                          <a:solidFill>
                            <a:srgbClr val="EAF2F8"/>
                          </a:solidFill>
                          <a:latin typeface="DejaVu Sans"/>
                          <a:ea typeface="DejaVu Sans"/>
                          <a:cs typeface="DejaVu Sans"/>
                        </a:rPr>
                        <a:t>74.86%</a:t>
                      </a:r>
                    </a:p>
                  </a:txBody>
                  <a:tcPr>
                    <a:solidFill>
                      <a:srgbClr val="0E1D2C"/>
                    </a:solidFill>
                  </a:tcPr>
                </a:tc>
                <a:tc>
                  <a:txBody>
                    <a:bodyPr/>
                    <a:lstStyle/>
                    <a:p>
                      <a:r>
                        <a:rPr sz="1275" b="0">
                          <a:solidFill>
                            <a:srgbClr val="EAF2F8"/>
                          </a:solidFill>
                          <a:latin typeface="DejaVu Sans"/>
                          <a:ea typeface="DejaVu Sans"/>
                          <a:cs typeface="DejaVu Sans"/>
                        </a:rPr>
                        <a:t>75.42%</a:t>
                      </a:r>
                    </a:p>
                  </a:txBody>
                  <a:tcPr>
                    <a:solidFill>
                      <a:srgbClr val="0E1D2C"/>
                    </a:solidFill>
                  </a:tcPr>
                </a:tc>
                <a:extLst>
                  <a:ext uri="{0D108BD9-81ED-4DB2-BD59-A6C34878D82A}">
                    <a16:rowId xmlns:a16="http://schemas.microsoft.com/office/drawing/2014/main" val="10002"/>
                  </a:ext>
                </a:extLst>
              </a:tr>
            </a:tbl>
          </a:graphicData>
        </a:graphic>
      </p:graphicFrame>
      <p:graphicFrame>
        <p:nvGraphicFramePr>
          <p:cNvPr id="37" name="Table 36"/>
          <p:cNvGraphicFramePr/>
          <p:nvPr/>
        </p:nvGraphicFramePr>
        <p:xfrm>
          <a:off x="6238875" y="2647950"/>
          <a:ext cx="5286375" cy="1905000"/>
        </p:xfrm>
        <a:graphic>
          <a:graphicData uri="http://schemas.openxmlformats.org/drawingml/2006/table">
            <a:tbl>
              <a:tblPr/>
              <a:tblGrid>
                <a:gridCol w="1095375">
                  <a:extLst>
                    <a:ext uri="{9D8B030D-6E8A-4147-A177-3AD203B41FA5}">
                      <a16:colId xmlns:a16="http://schemas.microsoft.com/office/drawing/2014/main" val="20000"/>
                    </a:ext>
                  </a:extLst>
                </a:gridCol>
                <a:gridCol w="1190625">
                  <a:extLst>
                    <a:ext uri="{9D8B030D-6E8A-4147-A177-3AD203B41FA5}">
                      <a16:colId xmlns:a16="http://schemas.microsoft.com/office/drawing/2014/main" val="20001"/>
                    </a:ext>
                  </a:extLst>
                </a:gridCol>
                <a:gridCol w="1428750">
                  <a:extLst>
                    <a:ext uri="{9D8B030D-6E8A-4147-A177-3AD203B41FA5}">
                      <a16:colId xmlns:a16="http://schemas.microsoft.com/office/drawing/2014/main" val="20002"/>
                    </a:ext>
                  </a:extLst>
                </a:gridCol>
                <a:gridCol w="1571625">
                  <a:extLst>
                    <a:ext uri="{9D8B030D-6E8A-4147-A177-3AD203B41FA5}">
                      <a16:colId xmlns:a16="http://schemas.microsoft.com/office/drawing/2014/main" val="20003"/>
                    </a:ext>
                  </a:extLst>
                </a:gridCol>
              </a:tblGrid>
              <a:tr h="476250">
                <a:tc>
                  <a:txBody>
                    <a:bodyPr/>
                    <a:lstStyle/>
                    <a:p>
                      <a:r>
                        <a:rPr sz="1275" b="1">
                          <a:solidFill>
                            <a:srgbClr val="2DD4BF"/>
                          </a:solidFill>
                          <a:latin typeface="DejaVu Sans"/>
                          <a:ea typeface="DejaVu Sans"/>
                          <a:cs typeface="DejaVu Sans"/>
                        </a:rPr>
                        <a:t>Shift</a:t>
                      </a:r>
                    </a:p>
                  </a:txBody>
                  <a:tcPr>
                    <a:solidFill>
                      <a:srgbClr val="122B3E"/>
                    </a:solidFill>
                  </a:tcPr>
                </a:tc>
                <a:tc>
                  <a:txBody>
                    <a:bodyPr/>
                    <a:lstStyle/>
                    <a:p>
                      <a:r>
                        <a:rPr sz="1275" b="1">
                          <a:solidFill>
                            <a:srgbClr val="2DD4BF"/>
                          </a:solidFill>
                          <a:latin typeface="DejaVu Sans"/>
                          <a:ea typeface="DejaVu Sans"/>
                          <a:cs typeface="DejaVu Sans"/>
                        </a:rPr>
                        <a:t>Score</a:t>
                      </a:r>
                    </a:p>
                  </a:txBody>
                  <a:tcPr>
                    <a:solidFill>
                      <a:srgbClr val="122B3E"/>
                    </a:solidFill>
                  </a:tcPr>
                </a:tc>
                <a:tc>
                  <a:txBody>
                    <a:bodyPr/>
                    <a:lstStyle/>
                    <a:p>
                      <a:r>
                        <a:rPr sz="1275" b="1">
                          <a:solidFill>
                            <a:srgbClr val="2DD4BF"/>
                          </a:solidFill>
                          <a:latin typeface="DejaVu Sans"/>
                          <a:ea typeface="DejaVu Sans"/>
                          <a:cs typeface="DejaVu Sans"/>
                        </a:rPr>
                        <a:t>Residual</a:t>
                      </a:r>
                    </a:p>
                  </a:txBody>
                  <a:tcPr>
                    <a:solidFill>
                      <a:srgbClr val="122B3E"/>
                    </a:solidFill>
                  </a:tcPr>
                </a:tc>
                <a:tc>
                  <a:txBody>
                    <a:bodyPr/>
                    <a:lstStyle/>
                    <a:p>
                      <a:r>
                        <a:rPr sz="1275" b="1">
                          <a:solidFill>
                            <a:srgbClr val="2DD4BF"/>
                          </a:solidFill>
                          <a:latin typeface="DejaVu Sans"/>
                          <a:ea typeface="DejaVu Sans"/>
                          <a:cs typeface="DejaVu Sans"/>
                        </a:rPr>
                        <a:t>Combined</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PC1</a:t>
                      </a:r>
                    </a:p>
                  </a:txBody>
                  <a:tcPr>
                    <a:solidFill>
                      <a:srgbClr val="0E1D2C"/>
                    </a:solidFill>
                  </a:tcPr>
                </a:tc>
                <a:tc>
                  <a:txBody>
                    <a:bodyPr/>
                    <a:lstStyle/>
                    <a:p>
                      <a:r>
                        <a:rPr sz="1275" b="0">
                          <a:solidFill>
                            <a:srgbClr val="EAF2F8"/>
                          </a:solidFill>
                          <a:latin typeface="DejaVu Sans"/>
                          <a:ea typeface="DejaVu Sans"/>
                          <a:cs typeface="DejaVu Sans"/>
                        </a:rPr>
                        <a:t>35%</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31%</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PC2</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extLst>
                  <a:ext uri="{0D108BD9-81ED-4DB2-BD59-A6C34878D82A}">
                    <a16:rowId xmlns:a16="http://schemas.microsoft.com/office/drawing/2014/main" val="10002"/>
                  </a:ext>
                </a:extLst>
              </a:tr>
              <a:tr h="476250">
                <a:tc>
                  <a:txBody>
                    <a:bodyPr/>
                    <a:lstStyle/>
                    <a:p>
                      <a:r>
                        <a:rPr sz="1275" b="0">
                          <a:solidFill>
                            <a:srgbClr val="EAF2F8"/>
                          </a:solidFill>
                          <a:latin typeface="DejaVu Sans"/>
                          <a:ea typeface="DejaVu Sans"/>
                          <a:cs typeface="DejaVu Sans"/>
                        </a:rPr>
                        <a:t>Both</a:t>
                      </a:r>
                    </a:p>
                  </a:txBody>
                  <a:tcPr>
                    <a:solidFill>
                      <a:srgbClr val="0E1D2C"/>
                    </a:solidFill>
                  </a:tcPr>
                </a:tc>
                <a:tc>
                  <a:txBody>
                    <a:bodyPr/>
                    <a:lstStyle/>
                    <a:p>
                      <a:r>
                        <a:rPr sz="1275" b="0">
                          <a:solidFill>
                            <a:srgbClr val="EAF2F8"/>
                          </a:solidFill>
                          <a:latin typeface="DejaVu Sans"/>
                          <a:ea typeface="DejaVu Sans"/>
                          <a:cs typeface="DejaVu Sans"/>
                        </a:rPr>
                        <a:t>26%</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99%</a:t>
                      </a:r>
                    </a:p>
                  </a:txBody>
                  <a:tcPr>
                    <a:solidFill>
                      <a:srgbClr val="0E1D2C"/>
                    </a:solidFill>
                  </a:tcPr>
                </a:tc>
                <a:extLst>
                  <a:ext uri="{0D108BD9-81ED-4DB2-BD59-A6C34878D82A}">
                    <a16:rowId xmlns:a16="http://schemas.microsoft.com/office/drawing/2014/main" val="10003"/>
                  </a:ext>
                </a:extLst>
              </a:tr>
            </a:tbl>
          </a:graphicData>
        </a:graphic>
      </p:graphicFrame>
      <p:sp>
        <p:nvSpPr>
          <p:cNvPr id="38" name="Rounded Rectangle 37"/>
          <p:cNvSpPr/>
          <p:nvPr/>
        </p:nvSpPr>
        <p:spPr>
          <a:xfrm>
            <a:off x="8732520" y="5779008"/>
            <a:ext cx="2542032" cy="228600"/>
          </a:xfrm>
          <a:prstGeom prst="roundRect">
            <a:avLst/>
          </a:prstGeom>
          <a:solidFill>
            <a:srgbClr val="071422"/>
          </a:solidFill>
          <a:ln w="12700">
            <a:solidFill>
              <a:srgbClr val="1DE7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851392" y="5843016"/>
            <a:ext cx="1005840" cy="73152"/>
          </a:xfrm>
          <a:prstGeom prst="rect">
            <a:avLst/>
          </a:prstGeom>
          <a:noFill/>
        </p:spPr>
        <p:txBody>
          <a:bodyPr wrap="none" lIns="0" tIns="0" rIns="0" bIns="0">
            <a:spAutoFit/>
          </a:bodyPr>
          <a:lstStyle/>
          <a:p>
            <a:r>
              <a:rPr sz="560" b="1">
                <a:solidFill>
                  <a:srgbClr val="1DE7D5"/>
                </a:solidFill>
                <a:latin typeface="Aptos"/>
              </a:rPr>
              <a:t>residual relation</a:t>
            </a:r>
          </a:p>
        </p:txBody>
      </p:sp>
      <p:pic>
        <p:nvPicPr>
          <p:cNvPr id="40" name="Picture 39" descr="formula_relation.png"/>
          <p:cNvPicPr>
            <a:picLocks noChangeAspect="1"/>
          </p:cNvPicPr>
          <p:nvPr/>
        </p:nvPicPr>
        <p:blipFill>
          <a:blip r:embed="rId3"/>
          <a:stretch>
            <a:fillRect/>
          </a:stretch>
        </p:blipFill>
        <p:spPr>
          <a:xfrm>
            <a:off x="9838944" y="5792724"/>
            <a:ext cx="1143000" cy="312668"/>
          </a:xfrm>
          <a:prstGeom prst="rect">
            <a:avLst/>
          </a:prstGeom>
        </p:spPr>
      </p:pic>
    </p:spTree>
    <p:extLst>
      <p:ext uri="{BB962C8B-B14F-4D97-AF65-F5344CB8AC3E}">
        <p14:creationId xmlns:p14="http://schemas.microsoft.com/office/powerpoint/2010/main" val="9040942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740CA694-4EF1-4040-A776-44BC817FB09E}"/>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MANUSCRIPT STATUS</a:t>
            </a:r>
          </a:p>
        </p:txBody>
      </p:sp>
      <p:sp>
        <p:nvSpPr>
          <p:cNvPr id="2" name="Rectangle 1">
            <a:extLst>
              <a:ext uri="{FF2B5EF4-FFF2-40B4-BE49-F238E27FC236}">
                <a16:creationId xmlns:a16="http://schemas.microsoft.com/office/drawing/2014/main" id="{98EEA367-8366-4CB3-950C-B636B7DEA4FC}"/>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Evidence available for the manuscript and open gaps</a:t>
            </a:r>
          </a:p>
        </p:txBody>
      </p:sp>
      <p:sp>
        <p:nvSpPr>
          <p:cNvPr id="3" name="Straight Connector 2">
            <a:extLst>
              <a:ext uri="{FF2B5EF4-FFF2-40B4-BE49-F238E27FC236}">
                <a16:creationId xmlns:a16="http://schemas.microsoft.com/office/drawing/2014/main" id="{6FF91CC9-E811-40C0-9741-F322C58C33E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3">
            <a:extLst>
              <a:ext uri="{FF2B5EF4-FFF2-40B4-BE49-F238E27FC236}">
                <a16:creationId xmlns:a16="http://schemas.microsoft.com/office/drawing/2014/main" id="{889A6C85-7B71-4BA8-9906-A308140E6F64}"/>
              </a:ext>
            </a:extLst>
          </p:cNvPr>
          <p:cNvSpPr>
            <a:spLocks noGrp="1"/>
          </p:cNvSpPr>
          <p:nvPr/>
        </p:nvSpPr>
        <p:spPr>
          <a:xfrm>
            <a:off x="609600" y="1790700"/>
            <a:ext cx="3048000" cy="361950"/>
          </a:xfrm>
          <a:prstGeom prst="rect">
            <a:avLst/>
          </a:prstGeom>
          <a:noFill/>
          <a:ln w="0">
            <a:noFill/>
          </a:ln>
        </p:spPr>
        <p:txBody>
          <a:bodyPr wrap="square" lIns="0" tIns="0" rIns="0" bIns="0" anchor="t">
            <a:noAutofit/>
          </a:bodyPr>
          <a:lstStyle/>
          <a:p>
            <a:pPr algn="l">
              <a:buNone/>
              <a:defRPr sz="1725" b="1">
                <a:solidFill>
                  <a:srgbClr val="64D98B"/>
                </a:solidFill>
                <a:latin typeface="DejaVu Sans"/>
                <a:ea typeface="DejaVu Sans"/>
                <a:cs typeface="DejaVu Sans"/>
              </a:defRPr>
            </a:pPr>
            <a:r>
              <a:rPr sz="1725" b="1">
                <a:solidFill>
                  <a:srgbClr val="64D98B"/>
                </a:solidFill>
                <a:latin typeface="DejaVu Sans"/>
                <a:ea typeface="DejaVu Sans"/>
                <a:cs typeface="DejaVu Sans"/>
              </a:rPr>
              <a:t>Evidence now tracked</a:t>
            </a:r>
          </a:p>
        </p:txBody>
      </p:sp>
      <p:sp>
        <p:nvSpPr>
          <p:cNvPr id="5" name="Straight Connector 4">
            <a:extLst>
              <a:ext uri="{FF2B5EF4-FFF2-40B4-BE49-F238E27FC236}">
                <a16:creationId xmlns:a16="http://schemas.microsoft.com/office/drawing/2014/main" id="{D1F38080-B796-481E-B793-376A2E256E5D}"/>
              </a:ext>
            </a:extLst>
          </p:cNvPr>
          <p:cNvSpPr>
            <a:spLocks noGrp="1"/>
          </p:cNvSpPr>
          <p:nvPr/>
        </p:nvSpPr>
        <p:spPr>
          <a:xfrm>
            <a:off x="609600" y="2266950"/>
            <a:ext cx="3048000" cy="0"/>
          </a:xfrm>
          <a:prstGeom prst="line">
            <a:avLst/>
          </a:prstGeom>
          <a:noFill/>
          <a:ln w="47625">
            <a:solidFill>
              <a:srgbClr val="64D98B"/>
            </a:solidFill>
            <a:prstDash val="solid"/>
          </a:ln>
        </p:spPr>
        <p:txBody>
          <a:bodyPr/>
          <a:lstStyle/>
          <a:p>
            <a:endParaRPr/>
          </a:p>
        </p:txBody>
      </p:sp>
      <p:sp>
        <p:nvSpPr>
          <p:cNvPr id="6" name="Rectangle 5">
            <a:extLst>
              <a:ext uri="{FF2B5EF4-FFF2-40B4-BE49-F238E27FC236}">
                <a16:creationId xmlns:a16="http://schemas.microsoft.com/office/drawing/2014/main" id="{27225BA0-BCAC-4B62-A8CD-CE52987DA288}"/>
              </a:ext>
            </a:extLst>
          </p:cNvPr>
          <p:cNvSpPr>
            <a:spLocks noGrp="1"/>
          </p:cNvSpPr>
          <p:nvPr/>
        </p:nvSpPr>
        <p:spPr>
          <a:xfrm>
            <a:off x="609600" y="2552700"/>
            <a:ext cx="3048000" cy="2286000"/>
          </a:xfrm>
          <a:prstGeom prst="rect">
            <a:avLst/>
          </a:prstGeom>
          <a:noFill/>
          <a:ln w="0">
            <a:noFill/>
          </a:ln>
        </p:spPr>
        <p:txBody>
          <a:bodyPr wrap="square" lIns="0" tIns="0" rIns="0" bIns="0" anchor="t">
            <a:noAutofit/>
          </a:bodyPr>
          <a:lstStyle/>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Table-I subject counts</a:t>
            </a:r>
          </a:p>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2B L / variance sensitivity</a:t>
            </a:r>
          </a:p>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D2/D3/D4 comparisons</a:t>
            </a:r>
          </a:p>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Real EEG SVM / bagging</a:t>
            </a:r>
          </a:p>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Complementary synthetic runs</a:t>
            </a:r>
          </a:p>
        </p:txBody>
      </p:sp>
      <p:sp>
        <p:nvSpPr>
          <p:cNvPr id="7" name="Rectangle 6">
            <a:extLst>
              <a:ext uri="{FF2B5EF4-FFF2-40B4-BE49-F238E27FC236}">
                <a16:creationId xmlns:a16="http://schemas.microsoft.com/office/drawing/2014/main" id="{2D0AF876-13D6-4BD8-A726-33D988E0E5A1}"/>
              </a:ext>
            </a:extLst>
          </p:cNvPr>
          <p:cNvSpPr>
            <a:spLocks noGrp="1"/>
          </p:cNvSpPr>
          <p:nvPr/>
        </p:nvSpPr>
        <p:spPr>
          <a:xfrm>
            <a:off x="4133850" y="1790700"/>
            <a:ext cx="3048000" cy="361950"/>
          </a:xfrm>
          <a:prstGeom prst="rect">
            <a:avLst/>
          </a:prstGeom>
          <a:noFill/>
          <a:ln w="0">
            <a:noFill/>
          </a:ln>
        </p:spPr>
        <p:txBody>
          <a:bodyPr wrap="square" lIns="0" tIns="0" rIns="0" bIns="0" anchor="t">
            <a:noAutofit/>
          </a:bodyPr>
          <a:lstStyle/>
          <a:p>
            <a:pPr algn="l">
              <a:buNone/>
              <a:defRPr sz="1725" b="1">
                <a:solidFill>
                  <a:srgbClr val="F5B942"/>
                </a:solidFill>
                <a:latin typeface="DejaVu Sans"/>
                <a:ea typeface="DejaVu Sans"/>
                <a:cs typeface="DejaVu Sans"/>
              </a:defRPr>
            </a:pPr>
            <a:r>
              <a:rPr sz="1725" b="1">
                <a:solidFill>
                  <a:srgbClr val="F5B942"/>
                </a:solidFill>
                <a:latin typeface="DejaVu Sans"/>
                <a:ea typeface="DejaVu Sans"/>
                <a:cs typeface="DejaVu Sans"/>
              </a:rPr>
              <a:t>Reproduction gap</a:t>
            </a:r>
          </a:p>
        </p:txBody>
      </p:sp>
      <p:sp>
        <p:nvSpPr>
          <p:cNvPr id="8" name="Straight Connector 7">
            <a:extLst>
              <a:ext uri="{FF2B5EF4-FFF2-40B4-BE49-F238E27FC236}">
                <a16:creationId xmlns:a16="http://schemas.microsoft.com/office/drawing/2014/main" id="{55EA8BD3-880D-46AD-9312-AE0EBFF4CE79}"/>
              </a:ext>
            </a:extLst>
          </p:cNvPr>
          <p:cNvSpPr>
            <a:spLocks noGrp="1"/>
          </p:cNvSpPr>
          <p:nvPr/>
        </p:nvSpPr>
        <p:spPr>
          <a:xfrm>
            <a:off x="4133850" y="2266950"/>
            <a:ext cx="3048000" cy="0"/>
          </a:xfrm>
          <a:prstGeom prst="line">
            <a:avLst/>
          </a:prstGeom>
          <a:noFill/>
          <a:ln w="47625">
            <a:solidFill>
              <a:srgbClr val="F5B942"/>
            </a:solidFill>
            <a:prstDash val="solid"/>
          </a:ln>
        </p:spPr>
        <p:txBody>
          <a:bodyPr/>
          <a:lstStyle/>
          <a:p>
            <a:endParaRPr/>
          </a:p>
        </p:txBody>
      </p:sp>
      <p:sp>
        <p:nvSpPr>
          <p:cNvPr id="9" name="Rectangle 8">
            <a:extLst>
              <a:ext uri="{FF2B5EF4-FFF2-40B4-BE49-F238E27FC236}">
                <a16:creationId xmlns:a16="http://schemas.microsoft.com/office/drawing/2014/main" id="{37D71A6D-529B-4C3D-B747-A5F59E6E5FC4}"/>
              </a:ext>
            </a:extLst>
          </p:cNvPr>
          <p:cNvSpPr>
            <a:spLocks noGrp="1"/>
          </p:cNvSpPr>
          <p:nvPr/>
        </p:nvSpPr>
        <p:spPr>
          <a:xfrm>
            <a:off x="4133850" y="2552700"/>
            <a:ext cx="3048000" cy="2286000"/>
          </a:xfrm>
          <a:prstGeom prst="rect">
            <a:avLst/>
          </a:prstGeom>
          <a:noFill/>
          <a:ln w="0">
            <a:noFill/>
          </a:ln>
        </p:spPr>
        <p:txBody>
          <a:bodyPr wrap="square" lIns="0" tIns="0" rIns="0" bIns="0" anchor="t">
            <a:noAutofit/>
          </a:bodyPr>
          <a:lstStyle/>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Mean CSV, computed / published</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2A: 0.33 / 5.56</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2B: 0.67 / 10.33</a:t>
            </a:r>
          </a:p>
          <a:p>
            <a:pPr algn="l">
              <a:buNone/>
              <a:defRPr sz="1350" b="0">
                <a:solidFill>
                  <a:srgbClr val="EAF2F8"/>
                </a:solidFill>
                <a:latin typeface="DejaVu Sans"/>
                <a:ea typeface="DejaVu Sans"/>
                <a:cs typeface="DejaVu Sans"/>
              </a:defRPr>
            </a:pPr>
            <a:endParaRPr sz="1275" b="0">
              <a:solidFill>
                <a:srgbClr val="EAF2F8"/>
              </a:solidFill>
              <a:latin typeface="DejaVu Sans"/>
              <a:ea typeface="DejaVu Sans"/>
              <a:cs typeface="DejaVu Sans"/>
            </a:endParaRP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Audit Stage-II windows and modes</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Trace PCA and variance settings</a:t>
            </a:r>
          </a:p>
        </p:txBody>
      </p:sp>
      <p:sp>
        <p:nvSpPr>
          <p:cNvPr id="10" name="Rectangle 9">
            <a:extLst>
              <a:ext uri="{FF2B5EF4-FFF2-40B4-BE49-F238E27FC236}">
                <a16:creationId xmlns:a16="http://schemas.microsoft.com/office/drawing/2014/main" id="{450CA87D-0D93-4568-9357-BF44E8EF64BB}"/>
              </a:ext>
            </a:extLst>
          </p:cNvPr>
          <p:cNvSpPr>
            <a:spLocks noGrp="1"/>
          </p:cNvSpPr>
          <p:nvPr/>
        </p:nvSpPr>
        <p:spPr>
          <a:xfrm>
            <a:off x="7658100" y="1790700"/>
            <a:ext cx="3048000" cy="361950"/>
          </a:xfrm>
          <a:prstGeom prst="rect">
            <a:avLst/>
          </a:prstGeom>
          <a:noFill/>
          <a:ln w="0">
            <a:noFill/>
          </a:ln>
        </p:spPr>
        <p:txBody>
          <a:bodyPr wrap="square" lIns="0" tIns="0" rIns="0" bIns="0" anchor="t">
            <a:noAutofit/>
          </a:bodyPr>
          <a:lstStyle/>
          <a:p>
            <a:pPr algn="l">
              <a:buNone/>
              <a:defRPr sz="1725" b="1">
                <a:solidFill>
                  <a:srgbClr val="F07178"/>
                </a:solidFill>
                <a:latin typeface="DejaVu Sans"/>
                <a:ea typeface="DejaVu Sans"/>
                <a:cs typeface="DejaVu Sans"/>
              </a:defRPr>
            </a:pPr>
            <a:r>
              <a:rPr sz="1725" b="1">
                <a:solidFill>
                  <a:srgbClr val="F07178"/>
                </a:solidFill>
                <a:latin typeface="DejaVu Sans"/>
                <a:ea typeface="DejaVu Sans"/>
                <a:cs typeface="DejaVu Sans"/>
              </a:rPr>
              <a:t>Next evidence</a:t>
            </a:r>
          </a:p>
        </p:txBody>
      </p:sp>
      <p:sp>
        <p:nvSpPr>
          <p:cNvPr id="11" name="Straight Connector 10">
            <a:extLst>
              <a:ext uri="{FF2B5EF4-FFF2-40B4-BE49-F238E27FC236}">
                <a16:creationId xmlns:a16="http://schemas.microsoft.com/office/drawing/2014/main" id="{893686EC-B82B-429F-90B0-A4C2F5D68238}"/>
              </a:ext>
            </a:extLst>
          </p:cNvPr>
          <p:cNvSpPr>
            <a:spLocks noGrp="1"/>
          </p:cNvSpPr>
          <p:nvPr/>
        </p:nvSpPr>
        <p:spPr>
          <a:xfrm>
            <a:off x="7658100" y="2266950"/>
            <a:ext cx="3048000" cy="0"/>
          </a:xfrm>
          <a:prstGeom prst="line">
            <a:avLst/>
          </a:prstGeom>
          <a:noFill/>
          <a:ln w="47625">
            <a:solidFill>
              <a:srgbClr val="F07178"/>
            </a:solidFill>
            <a:prstDash val="solid"/>
          </a:ln>
        </p:spPr>
        <p:txBody>
          <a:bodyPr/>
          <a:lstStyle/>
          <a:p>
            <a:endParaRPr/>
          </a:p>
        </p:txBody>
      </p:sp>
      <p:sp>
        <p:nvSpPr>
          <p:cNvPr id="12" name="Rectangle 11">
            <a:extLst>
              <a:ext uri="{FF2B5EF4-FFF2-40B4-BE49-F238E27FC236}">
                <a16:creationId xmlns:a16="http://schemas.microsoft.com/office/drawing/2014/main" id="{22F1C060-C217-4890-A9D2-ADA75D697F07}"/>
              </a:ext>
            </a:extLst>
          </p:cNvPr>
          <p:cNvSpPr>
            <a:spLocks noGrp="1"/>
          </p:cNvSpPr>
          <p:nvPr/>
        </p:nvSpPr>
        <p:spPr>
          <a:xfrm>
            <a:off x="7658100" y="2552700"/>
            <a:ext cx="3048000" cy="2286000"/>
          </a:xfrm>
          <a:prstGeom prst="rect">
            <a:avLst/>
          </a:prstGeom>
          <a:noFill/>
          <a:ln w="0">
            <a:noFill/>
          </a:ln>
        </p:spPr>
        <p:txBody>
          <a:bodyPr wrap="square" lIns="0" tIns="0" rIns="0" bIns="0" anchor="t">
            <a:noAutofit/>
          </a:bodyPr>
          <a:lstStyle/>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Configuration-locked rerun</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Stage-II event diagnostics</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Real EEG complementary traces</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Window-level false-alarm audit</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Current test report</a:t>
            </a:r>
          </a:p>
        </p:txBody>
      </p:sp>
      <p:sp>
        <p:nvSpPr>
          <p:cNvPr id="13" name="Rectangle: Rounded Corners 12">
            <a:extLst>
              <a:ext uri="{FF2B5EF4-FFF2-40B4-BE49-F238E27FC236}">
                <a16:creationId xmlns:a16="http://schemas.microsoft.com/office/drawing/2014/main" id="{9251CEAA-F8F5-42CE-ABA3-B9E4D7243892}"/>
              </a:ext>
            </a:extLst>
          </p:cNvPr>
          <p:cNvSpPr>
            <a:spLocks noGrp="1"/>
          </p:cNvSpPr>
          <p:nvPr/>
        </p:nvSpPr>
        <p:spPr>
          <a:xfrm>
            <a:off x="609600" y="5191125"/>
            <a:ext cx="10096500" cy="647700"/>
          </a:xfrm>
          <a:prstGeom prst="roundRect">
            <a:avLst>
              <a:gd name="adj" fmla="val 14706"/>
            </a:avLst>
          </a:prstGeom>
          <a:solidFill>
            <a:srgbClr val="0F1C2B"/>
          </a:solidFill>
          <a:ln w="9525">
            <a:solidFill>
              <a:srgbClr val="294057"/>
            </a:solidFill>
            <a:prstDash val="solid"/>
          </a:ln>
        </p:spPr>
        <p:txBody>
          <a:bodyPr/>
          <a:lstStyle/>
          <a:p>
            <a:endParaRPr/>
          </a:p>
        </p:txBody>
      </p:sp>
      <p:sp>
        <p:nvSpPr>
          <p:cNvPr id="14" name="Rectangle 13">
            <a:extLst>
              <a:ext uri="{FF2B5EF4-FFF2-40B4-BE49-F238E27FC236}">
                <a16:creationId xmlns:a16="http://schemas.microsoft.com/office/drawing/2014/main" id="{C4EB26C4-B90D-43F1-B6CF-61E12A7E49BB}"/>
              </a:ext>
            </a:extLst>
          </p:cNvPr>
          <p:cNvSpPr>
            <a:spLocks noGrp="1"/>
          </p:cNvSpPr>
          <p:nvPr/>
        </p:nvSpPr>
        <p:spPr>
          <a:xfrm>
            <a:off x="800100" y="5381625"/>
            <a:ext cx="2000250" cy="20955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Current claim</a:t>
            </a:r>
          </a:p>
        </p:txBody>
      </p:sp>
      <p:sp>
        <p:nvSpPr>
          <p:cNvPr id="15" name="Rectangle 14">
            <a:extLst>
              <a:ext uri="{FF2B5EF4-FFF2-40B4-BE49-F238E27FC236}">
                <a16:creationId xmlns:a16="http://schemas.microsoft.com/office/drawing/2014/main" id="{655ECF7B-62D0-41B8-A889-B455D227A1F1}"/>
              </a:ext>
            </a:extLst>
          </p:cNvPr>
          <p:cNvSpPr>
            <a:spLocks noGrp="1"/>
          </p:cNvSpPr>
          <p:nvPr/>
        </p:nvSpPr>
        <p:spPr>
          <a:xfrm>
            <a:off x="2952750" y="5286375"/>
            <a:ext cx="7524750" cy="381000"/>
          </a:xfrm>
          <a:prstGeom prst="rect">
            <a:avLst/>
          </a:prstGeom>
          <a:noFill/>
          <a:ln w="0">
            <a:noFill/>
          </a:ln>
        </p:spPr>
        <p:txBody>
          <a:bodyPr wrap="square" lIns="0" tIns="0" rIns="0" bIns="0" anchor="t">
            <a:noAutofit/>
          </a:bodyPr>
          <a:lstStyle/>
          <a:p>
            <a:pPr algn="l">
              <a:buNone/>
              <a:defRPr sz="1238" b="1">
                <a:solidFill>
                  <a:srgbClr val="EAF2F8"/>
                </a:solidFill>
                <a:latin typeface="DejaVu Sans"/>
                <a:ea typeface="DejaVu Sans"/>
                <a:cs typeface="DejaVu Sans"/>
              </a:defRPr>
            </a:pPr>
            <a:r>
              <a:rPr sz="1238" b="1">
                <a:solidFill>
                  <a:srgbClr val="EAF2F8"/>
                </a:solidFill>
                <a:latin typeface="DejaVu Sans"/>
                <a:ea typeface="DejaVu Sans"/>
                <a:cs typeface="DejaVu Sans"/>
              </a:rPr>
              <a:t>The reconstruction produces auditable results. Numerical reproduction and</a:t>
            </a:r>
          </a:p>
          <a:p>
            <a:pPr algn="l">
              <a:buNone/>
              <a:defRPr sz="1238" b="1">
                <a:solidFill>
                  <a:srgbClr val="EAF2F8"/>
                </a:solidFill>
                <a:latin typeface="DejaVu Sans"/>
                <a:ea typeface="DejaVu Sans"/>
                <a:cs typeface="DejaVu Sans"/>
              </a:defRPr>
            </a:pPr>
            <a:r>
              <a:rPr sz="1238" b="1">
                <a:solidFill>
                  <a:srgbClr val="EAF2F8"/>
                </a:solidFill>
                <a:latin typeface="DejaVu Sans"/>
                <a:ea typeface="DejaVu Sans"/>
                <a:cs typeface="DejaVu Sans"/>
              </a:rPr>
              <a:t>real EEG complementary-monitoring evidence remain incomplete.</a:t>
            </a:r>
          </a:p>
        </p:txBody>
      </p:sp>
      <p:sp>
        <p:nvSpPr>
          <p:cNvPr id="16" name="Rectangle 15">
            <a:extLst>
              <a:ext uri="{FF2B5EF4-FFF2-40B4-BE49-F238E27FC236}">
                <a16:creationId xmlns:a16="http://schemas.microsoft.com/office/drawing/2014/main" id="{9D3A75AB-491C-4D94-BB99-C282ABB21604}"/>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17" name="Rectangle 16">
            <a:extLst>
              <a:ext uri="{FF2B5EF4-FFF2-40B4-BE49-F238E27FC236}">
                <a16:creationId xmlns:a16="http://schemas.microsoft.com/office/drawing/2014/main" id="{36C0CBE6-7E9C-4BAF-BC9C-CE87E40A0E23}"/>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r>
              <a:t>08</a:t>
            </a:r>
          </a:p>
        </p:txBody>
      </p:sp>
    </p:spTree>
    <p:extLst>
      <p:ext uri="{BB962C8B-B14F-4D97-AF65-F5344CB8AC3E}">
        <p14:creationId xmlns:p14="http://schemas.microsoft.com/office/powerpoint/2010/main" val="10010702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71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484632"/>
            <a:ext cx="4023360" cy="201168"/>
          </a:xfrm>
          <a:prstGeom prst="rect">
            <a:avLst/>
          </a:prstGeom>
          <a:noFill/>
        </p:spPr>
        <p:txBody>
          <a:bodyPr wrap="square" lIns="36576" tIns="18288" rIns="36576" bIns="18288">
            <a:normAutofit/>
          </a:bodyPr>
          <a:lstStyle/>
          <a:p>
            <a:pPr algn="l"/>
            <a:r>
              <a:rPr sz="1050" b="1">
                <a:solidFill>
                  <a:srgbClr val="35D0C2"/>
                </a:solidFill>
                <a:latin typeface="Aptos"/>
              </a:rPr>
              <a:t>DATA PROTOCOL</a:t>
            </a:r>
          </a:p>
        </p:txBody>
      </p:sp>
      <p:sp>
        <p:nvSpPr>
          <p:cNvPr id="4" name="TextBox 3"/>
          <p:cNvSpPr txBox="1"/>
          <p:nvPr/>
        </p:nvSpPr>
        <p:spPr>
          <a:xfrm>
            <a:off x="621792" y="804672"/>
            <a:ext cx="10789920" cy="502920"/>
          </a:xfrm>
          <a:prstGeom prst="rect">
            <a:avLst/>
          </a:prstGeom>
          <a:noFill/>
        </p:spPr>
        <p:txBody>
          <a:bodyPr wrap="square" lIns="36576" tIns="18288" rIns="36576" bIns="18288">
            <a:normAutofit/>
          </a:bodyPr>
          <a:lstStyle/>
          <a:p>
            <a:pPr algn="l"/>
            <a:r>
              <a:rPr sz="2950" b="1">
                <a:solidFill>
                  <a:srgbClr val="EEF4FF"/>
                </a:solidFill>
                <a:latin typeface="Aptos"/>
              </a:rPr>
              <a:t>Dataset roles and current evidence map</a:t>
            </a:r>
          </a:p>
        </p:txBody>
      </p:sp>
      <p:sp>
        <p:nvSpPr>
          <p:cNvPr id="5" name="TextBox 4"/>
          <p:cNvSpPr txBox="1"/>
          <p:nvPr/>
        </p:nvSpPr>
        <p:spPr>
          <a:xfrm>
            <a:off x="621792" y="1344168"/>
            <a:ext cx="10789920" cy="256032"/>
          </a:xfrm>
          <a:prstGeom prst="rect">
            <a:avLst/>
          </a:prstGeom>
          <a:noFill/>
        </p:spPr>
        <p:txBody>
          <a:bodyPr wrap="square" lIns="36576" tIns="18288" rIns="36576" bIns="18288">
            <a:normAutofit lnSpcReduction="10000"/>
          </a:bodyPr>
          <a:lstStyle/>
          <a:p>
            <a:pPr algn="l"/>
            <a:r>
              <a:rPr sz="1450" b="0">
                <a:solidFill>
                  <a:srgbClr val="AFC0D2"/>
                </a:solidFill>
                <a:latin typeface="Aptos"/>
              </a:rPr>
              <a:t>Where each dataset sits in the reconstruction, benchmark, and next-stage audit.</a:t>
            </a:r>
          </a:p>
        </p:txBody>
      </p:sp>
      <p:sp>
        <p:nvSpPr>
          <p:cNvPr id="6" name="Rectangle 5"/>
          <p:cNvSpPr/>
          <p:nvPr/>
        </p:nvSpPr>
        <p:spPr>
          <a:xfrm>
            <a:off x="621792" y="1554480"/>
            <a:ext cx="10972800" cy="22860"/>
          </a:xfrm>
          <a:prstGeom prst="rect">
            <a:avLst/>
          </a:prstGeom>
          <a:solidFill>
            <a:srgbClr val="35D0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21792" y="1755648"/>
            <a:ext cx="1417320" cy="402336"/>
          </a:xfrm>
          <a:prstGeom prst="rect">
            <a:avLst/>
          </a:prstGeom>
          <a:solidFill>
            <a:srgbClr val="102A40"/>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4944" y="1828800"/>
            <a:ext cx="1271016" cy="292608"/>
          </a:xfrm>
          <a:prstGeom prst="rect">
            <a:avLst/>
          </a:prstGeom>
          <a:noFill/>
        </p:spPr>
        <p:txBody>
          <a:bodyPr wrap="square" lIns="36576" tIns="18288" rIns="36576" bIns="18288" anchor="ctr">
            <a:normAutofit/>
          </a:bodyPr>
          <a:lstStyle/>
          <a:p>
            <a:pPr algn="l"/>
            <a:r>
              <a:rPr sz="1060" b="1">
                <a:solidFill>
                  <a:srgbClr val="35D0C2"/>
                </a:solidFill>
                <a:latin typeface="Aptos"/>
              </a:rPr>
              <a:t>Dataset</a:t>
            </a:r>
          </a:p>
        </p:txBody>
      </p:sp>
      <p:sp>
        <p:nvSpPr>
          <p:cNvPr id="9" name="Rectangle 8"/>
          <p:cNvSpPr/>
          <p:nvPr/>
        </p:nvSpPr>
        <p:spPr>
          <a:xfrm>
            <a:off x="2039112" y="1755648"/>
            <a:ext cx="2971800" cy="402336"/>
          </a:xfrm>
          <a:prstGeom prst="rect">
            <a:avLst/>
          </a:prstGeom>
          <a:solidFill>
            <a:srgbClr val="102A40"/>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112264" y="1828800"/>
            <a:ext cx="2825496" cy="292608"/>
          </a:xfrm>
          <a:prstGeom prst="rect">
            <a:avLst/>
          </a:prstGeom>
          <a:noFill/>
        </p:spPr>
        <p:txBody>
          <a:bodyPr wrap="square" lIns="36576" tIns="18288" rIns="36576" bIns="18288" anchor="ctr">
            <a:normAutofit/>
          </a:bodyPr>
          <a:lstStyle/>
          <a:p>
            <a:pPr algn="l"/>
            <a:r>
              <a:rPr sz="1060" b="1">
                <a:solidFill>
                  <a:srgbClr val="35D0C2"/>
                </a:solidFill>
                <a:latin typeface="Aptos"/>
              </a:rPr>
              <a:t>Protocol role</a:t>
            </a:r>
          </a:p>
        </p:txBody>
      </p:sp>
      <p:sp>
        <p:nvSpPr>
          <p:cNvPr id="11" name="Rectangle 10"/>
          <p:cNvSpPr/>
          <p:nvPr/>
        </p:nvSpPr>
        <p:spPr>
          <a:xfrm>
            <a:off x="5010912" y="1755648"/>
            <a:ext cx="3429000" cy="402336"/>
          </a:xfrm>
          <a:prstGeom prst="rect">
            <a:avLst/>
          </a:prstGeom>
          <a:solidFill>
            <a:srgbClr val="102A40"/>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84064" y="1828800"/>
            <a:ext cx="3282696" cy="292608"/>
          </a:xfrm>
          <a:prstGeom prst="rect">
            <a:avLst/>
          </a:prstGeom>
          <a:noFill/>
        </p:spPr>
        <p:txBody>
          <a:bodyPr wrap="square" lIns="36576" tIns="18288" rIns="36576" bIns="18288" anchor="ctr">
            <a:normAutofit/>
          </a:bodyPr>
          <a:lstStyle/>
          <a:p>
            <a:pPr algn="l"/>
            <a:r>
              <a:rPr sz="1060" b="1">
                <a:solidFill>
                  <a:srgbClr val="35D0C2"/>
                </a:solidFill>
                <a:latin typeface="Aptos"/>
              </a:rPr>
              <a:t>Current tracked evidence</a:t>
            </a:r>
          </a:p>
        </p:txBody>
      </p:sp>
      <p:sp>
        <p:nvSpPr>
          <p:cNvPr id="13" name="Rectangle 12"/>
          <p:cNvSpPr/>
          <p:nvPr/>
        </p:nvSpPr>
        <p:spPr>
          <a:xfrm>
            <a:off x="8439912" y="1755648"/>
            <a:ext cx="3154680" cy="402336"/>
          </a:xfrm>
          <a:prstGeom prst="rect">
            <a:avLst/>
          </a:prstGeom>
          <a:solidFill>
            <a:srgbClr val="102A40"/>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513064" y="1828800"/>
            <a:ext cx="3008376" cy="292608"/>
          </a:xfrm>
          <a:prstGeom prst="rect">
            <a:avLst/>
          </a:prstGeom>
          <a:noFill/>
        </p:spPr>
        <p:txBody>
          <a:bodyPr wrap="square" lIns="36576" tIns="18288" rIns="36576" bIns="18288" anchor="ctr">
            <a:normAutofit/>
          </a:bodyPr>
          <a:lstStyle/>
          <a:p>
            <a:pPr algn="l"/>
            <a:r>
              <a:rPr sz="1060" b="1">
                <a:solidFill>
                  <a:srgbClr val="35D0C2"/>
                </a:solidFill>
                <a:latin typeface="Aptos"/>
              </a:rPr>
              <a:t>Progress signal</a:t>
            </a:r>
          </a:p>
        </p:txBody>
      </p:sp>
      <p:sp>
        <p:nvSpPr>
          <p:cNvPr id="15" name="Rectangle 14"/>
          <p:cNvSpPr/>
          <p:nvPr/>
        </p:nvSpPr>
        <p:spPr>
          <a:xfrm>
            <a:off x="621792" y="2157984"/>
            <a:ext cx="141732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1792" y="2157984"/>
            <a:ext cx="73152" cy="749808"/>
          </a:xfrm>
          <a:prstGeom prst="rect">
            <a:avLst/>
          </a:prstGeom>
          <a:solidFill>
            <a:srgbClr val="35D0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68096" y="2322576"/>
            <a:ext cx="1188720" cy="521207"/>
          </a:xfrm>
          <a:prstGeom prst="rect">
            <a:avLst/>
          </a:prstGeom>
          <a:noFill/>
        </p:spPr>
        <p:txBody>
          <a:bodyPr wrap="square" lIns="36576" tIns="18288" rIns="36576" bIns="18288" anchor="ctr">
            <a:normAutofit/>
          </a:bodyPr>
          <a:lstStyle/>
          <a:p>
            <a:pPr algn="l"/>
            <a:r>
              <a:rPr sz="1320" b="1">
                <a:solidFill>
                  <a:srgbClr val="EEF4FF"/>
                </a:solidFill>
                <a:latin typeface="Aptos"/>
              </a:rPr>
              <a:t>BCI IV 2A</a:t>
            </a:r>
          </a:p>
        </p:txBody>
      </p:sp>
      <p:sp>
        <p:nvSpPr>
          <p:cNvPr id="18" name="Rectangle 17"/>
          <p:cNvSpPr/>
          <p:nvPr/>
        </p:nvSpPr>
        <p:spPr>
          <a:xfrm>
            <a:off x="2039112" y="2157984"/>
            <a:ext cx="297180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130552" y="2258568"/>
            <a:ext cx="2788920" cy="585215"/>
          </a:xfrm>
          <a:prstGeom prst="rect">
            <a:avLst/>
          </a:prstGeom>
          <a:noFill/>
        </p:spPr>
        <p:txBody>
          <a:bodyPr wrap="square" lIns="36576" tIns="18288" rIns="36576" bIns="18288" anchor="ctr">
            <a:normAutofit/>
          </a:bodyPr>
          <a:lstStyle/>
          <a:p>
            <a:pPr algn="l"/>
            <a:r>
              <a:rPr sz="1060" b="0">
                <a:solidFill>
                  <a:srgbClr val="EEF4FF"/>
                </a:solidFill>
                <a:latin typeface="Aptos"/>
              </a:rPr>
              <a:t>Session I: train / validation</a:t>
            </a:r>
            <a:br/>
            <a:r>
              <a:rPr sz="1060" b="0">
                <a:solidFill>
                  <a:srgbClr val="EEF4FF"/>
                </a:solidFill>
                <a:latin typeface="Aptos"/>
              </a:rPr>
              <a:t>Session II: held-out evaluation</a:t>
            </a:r>
          </a:p>
        </p:txBody>
      </p:sp>
      <p:sp>
        <p:nvSpPr>
          <p:cNvPr id="20" name="Rectangle 19"/>
          <p:cNvSpPr/>
          <p:nvPr/>
        </p:nvSpPr>
        <p:spPr>
          <a:xfrm>
            <a:off x="5010912" y="2157984"/>
            <a:ext cx="342900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102352" y="2258568"/>
            <a:ext cx="3246120" cy="585215"/>
          </a:xfrm>
          <a:prstGeom prst="rect">
            <a:avLst/>
          </a:prstGeom>
          <a:noFill/>
        </p:spPr>
        <p:txBody>
          <a:bodyPr wrap="square" lIns="36576" tIns="18288" rIns="36576" bIns="18288" anchor="ctr">
            <a:normAutofit/>
          </a:bodyPr>
          <a:lstStyle/>
          <a:p>
            <a:pPr algn="l"/>
            <a:r>
              <a:rPr sz="1060" b="0">
                <a:solidFill>
                  <a:srgbClr val="EEF4FF"/>
                </a:solidFill>
                <a:latin typeface="Aptos"/>
              </a:rPr>
              <a:t>Table I warning / validation counts</a:t>
            </a:r>
            <a:br/>
            <a:r>
              <a:rPr sz="1060" b="0">
                <a:solidFill>
                  <a:srgbClr val="EEF4FF"/>
                </a:solidFill>
                <a:latin typeface="Aptos"/>
              </a:rPr>
              <a:t>Real BCI bagging benchmark</a:t>
            </a:r>
          </a:p>
        </p:txBody>
      </p:sp>
      <p:sp>
        <p:nvSpPr>
          <p:cNvPr id="22" name="Rectangle 21"/>
          <p:cNvSpPr/>
          <p:nvPr/>
        </p:nvSpPr>
        <p:spPr>
          <a:xfrm>
            <a:off x="8439912" y="2157984"/>
            <a:ext cx="315468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31352" y="2258568"/>
            <a:ext cx="2971800" cy="585215"/>
          </a:xfrm>
          <a:prstGeom prst="rect">
            <a:avLst/>
          </a:prstGeom>
          <a:noFill/>
        </p:spPr>
        <p:txBody>
          <a:bodyPr wrap="square" lIns="36576" tIns="18288" rIns="36576" bIns="18288" anchor="ctr">
            <a:normAutofit/>
          </a:bodyPr>
          <a:lstStyle/>
          <a:p>
            <a:pPr algn="l"/>
            <a:r>
              <a:rPr sz="1060" b="0">
                <a:solidFill>
                  <a:srgbClr val="AFC0D2"/>
                </a:solidFill>
                <a:latin typeface="Aptos"/>
              </a:rPr>
              <a:t>Split boundary implemented</a:t>
            </a:r>
            <a:br/>
            <a:r>
              <a:rPr sz="1060" b="0">
                <a:solidFill>
                  <a:srgbClr val="AFC0D2"/>
                </a:solidFill>
                <a:latin typeface="Aptos"/>
              </a:rPr>
              <a:t>Numerical agreement still open</a:t>
            </a:r>
          </a:p>
        </p:txBody>
      </p:sp>
      <p:sp>
        <p:nvSpPr>
          <p:cNvPr id="24" name="Rectangle 23"/>
          <p:cNvSpPr/>
          <p:nvPr/>
        </p:nvSpPr>
        <p:spPr>
          <a:xfrm>
            <a:off x="621792" y="2907791"/>
            <a:ext cx="141732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21792" y="2907791"/>
            <a:ext cx="73152" cy="749808"/>
          </a:xfrm>
          <a:prstGeom prst="rect">
            <a:avLst/>
          </a:prstGeom>
          <a:solidFill>
            <a:srgbClr val="4FA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68096" y="3072384"/>
            <a:ext cx="1188720" cy="521207"/>
          </a:xfrm>
          <a:prstGeom prst="rect">
            <a:avLst/>
          </a:prstGeom>
          <a:noFill/>
        </p:spPr>
        <p:txBody>
          <a:bodyPr wrap="square" lIns="36576" tIns="18288" rIns="36576" bIns="18288" anchor="ctr">
            <a:normAutofit/>
          </a:bodyPr>
          <a:lstStyle/>
          <a:p>
            <a:pPr algn="l"/>
            <a:r>
              <a:rPr sz="1320" b="1">
                <a:solidFill>
                  <a:srgbClr val="EEF4FF"/>
                </a:solidFill>
                <a:latin typeface="Aptos"/>
              </a:rPr>
              <a:t>BCI IV 2B</a:t>
            </a:r>
          </a:p>
        </p:txBody>
      </p:sp>
      <p:sp>
        <p:nvSpPr>
          <p:cNvPr id="27" name="Rectangle 26"/>
          <p:cNvSpPr/>
          <p:nvPr/>
        </p:nvSpPr>
        <p:spPr>
          <a:xfrm>
            <a:off x="2039112" y="2907791"/>
            <a:ext cx="297180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130552" y="3008375"/>
            <a:ext cx="2788920" cy="585215"/>
          </a:xfrm>
          <a:prstGeom prst="rect">
            <a:avLst/>
          </a:prstGeom>
          <a:noFill/>
        </p:spPr>
        <p:txBody>
          <a:bodyPr wrap="square" lIns="36576" tIns="18288" rIns="36576" bIns="18288" anchor="ctr">
            <a:normAutofit/>
          </a:bodyPr>
          <a:lstStyle/>
          <a:p>
            <a:pPr algn="l"/>
            <a:r>
              <a:rPr sz="1060" b="0">
                <a:solidFill>
                  <a:srgbClr val="EEF4FF"/>
                </a:solidFill>
                <a:latin typeface="Aptos"/>
              </a:rPr>
              <a:t>Sessions I–III: development</a:t>
            </a:r>
            <a:br/>
            <a:r>
              <a:rPr sz="1060" b="0">
                <a:solidFill>
                  <a:srgbClr val="EEF4FF"/>
                </a:solidFill>
                <a:latin typeface="Aptos"/>
              </a:rPr>
              <a:t>Sessions IV–V: held-out evaluation</a:t>
            </a:r>
          </a:p>
        </p:txBody>
      </p:sp>
      <p:sp>
        <p:nvSpPr>
          <p:cNvPr id="29" name="Rectangle 28"/>
          <p:cNvSpPr/>
          <p:nvPr/>
        </p:nvSpPr>
        <p:spPr>
          <a:xfrm>
            <a:off x="5010912" y="2907791"/>
            <a:ext cx="342900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102352" y="3008375"/>
            <a:ext cx="3246120" cy="585215"/>
          </a:xfrm>
          <a:prstGeom prst="rect">
            <a:avLst/>
          </a:prstGeom>
          <a:noFill/>
        </p:spPr>
        <p:txBody>
          <a:bodyPr wrap="square" lIns="36576" tIns="18288" rIns="36576" bIns="18288" anchor="ctr">
            <a:normAutofit/>
          </a:bodyPr>
          <a:lstStyle/>
          <a:p>
            <a:pPr algn="l"/>
            <a:r>
              <a:rPr sz="1060" b="0" dirty="0">
                <a:solidFill>
                  <a:srgbClr val="EEF4FF"/>
                </a:solidFill>
                <a:latin typeface="Aptos"/>
              </a:rPr>
              <a:t>Table I counts; L / variance sweep</a:t>
            </a:r>
            <a:br>
              <a:rPr dirty="0"/>
            </a:br>
            <a:r>
              <a:rPr sz="1060" b="0" dirty="0">
                <a:solidFill>
                  <a:srgbClr val="EEF4FF"/>
                </a:solidFill>
                <a:latin typeface="Aptos"/>
              </a:rPr>
              <a:t>Stage-I warning event trace</a:t>
            </a:r>
          </a:p>
        </p:txBody>
      </p:sp>
      <p:sp>
        <p:nvSpPr>
          <p:cNvPr id="31" name="Rectangle 30"/>
          <p:cNvSpPr/>
          <p:nvPr/>
        </p:nvSpPr>
        <p:spPr>
          <a:xfrm>
            <a:off x="8439912" y="2907791"/>
            <a:ext cx="315468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531352" y="3008375"/>
            <a:ext cx="2971800" cy="585215"/>
          </a:xfrm>
          <a:prstGeom prst="rect">
            <a:avLst/>
          </a:prstGeom>
          <a:noFill/>
        </p:spPr>
        <p:txBody>
          <a:bodyPr wrap="square" lIns="36576" tIns="18288" rIns="36576" bIns="18288" anchor="ctr">
            <a:normAutofit/>
          </a:bodyPr>
          <a:lstStyle/>
          <a:p>
            <a:pPr algn="l"/>
            <a:r>
              <a:rPr sz="1060" b="0">
                <a:solidFill>
                  <a:srgbClr val="AFC0D2"/>
                </a:solidFill>
                <a:latin typeface="Aptos"/>
              </a:rPr>
              <a:t>Stage I close in places</a:t>
            </a:r>
            <a:br/>
            <a:r>
              <a:rPr sz="1060" b="0">
                <a:solidFill>
                  <a:srgbClr val="AFC0D2"/>
                </a:solidFill>
                <a:latin typeface="Aptos"/>
              </a:rPr>
              <a:t>Stage II gap under audit</a:t>
            </a:r>
          </a:p>
        </p:txBody>
      </p:sp>
      <p:sp>
        <p:nvSpPr>
          <p:cNvPr id="33" name="Rectangle 32"/>
          <p:cNvSpPr/>
          <p:nvPr/>
        </p:nvSpPr>
        <p:spPr>
          <a:xfrm>
            <a:off x="621792" y="3657600"/>
            <a:ext cx="141732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21792" y="3657600"/>
            <a:ext cx="73152" cy="749808"/>
          </a:xfrm>
          <a:prstGeom prst="rect">
            <a:avLst/>
          </a:prstGeom>
          <a:solidFill>
            <a:srgbClr val="E4C6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68096" y="3822191"/>
            <a:ext cx="1188720" cy="521207"/>
          </a:xfrm>
          <a:prstGeom prst="rect">
            <a:avLst/>
          </a:prstGeom>
          <a:noFill/>
        </p:spPr>
        <p:txBody>
          <a:bodyPr wrap="square" lIns="36576" tIns="18288" rIns="36576" bIns="18288" anchor="ctr">
            <a:noAutofit/>
          </a:bodyPr>
          <a:lstStyle/>
          <a:p>
            <a:pPr algn="l">
              <a:buNone/>
              <a:defRPr sz="1320" b="1">
                <a:solidFill>
                  <a:srgbClr val="EEF4FF"/>
                </a:solidFill>
                <a:latin typeface="Aptos"/>
                <a:ea typeface="Aptos"/>
                <a:cs typeface="Aptos"/>
              </a:defRPr>
            </a:pPr>
            <a:r>
              <a:rPr sz="1320" b="1">
                <a:solidFill>
                  <a:srgbClr val="EEF4FF"/>
                </a:solidFill>
                <a:latin typeface="Aptos"/>
                <a:ea typeface="Aptos"/>
                <a:cs typeface="Aptos"/>
              </a:rPr>
              <a:t>Synthetic</a:t>
            </a:r>
          </a:p>
          <a:p>
            <a:pPr algn="l">
              <a:buNone/>
              <a:defRPr sz="1320" b="1">
                <a:solidFill>
                  <a:srgbClr val="EEF4FF"/>
                </a:solidFill>
                <a:latin typeface="Aptos"/>
                <a:ea typeface="Aptos"/>
                <a:cs typeface="Aptos"/>
              </a:defRPr>
            </a:pPr>
            <a:r>
              <a:rPr sz="1320" b="1">
                <a:solidFill>
                  <a:srgbClr val="EEF4FF"/>
                </a:solidFill>
                <a:latin typeface="Aptos"/>
                <a:ea typeface="Aptos"/>
                <a:cs typeface="Aptos"/>
              </a:rPr>
              <a:t>streams</a:t>
            </a:r>
          </a:p>
        </p:txBody>
      </p:sp>
      <p:sp>
        <p:nvSpPr>
          <p:cNvPr id="36" name="Rectangle 35"/>
          <p:cNvSpPr/>
          <p:nvPr/>
        </p:nvSpPr>
        <p:spPr>
          <a:xfrm>
            <a:off x="2039112" y="3657600"/>
            <a:ext cx="297180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130552" y="3758184"/>
            <a:ext cx="2788920" cy="585215"/>
          </a:xfrm>
          <a:prstGeom prst="rect">
            <a:avLst/>
          </a:prstGeom>
          <a:noFill/>
        </p:spPr>
        <p:txBody>
          <a:bodyPr wrap="square" lIns="36576" tIns="18288" rIns="36576" bIns="18288" anchor="ctr">
            <a:noAutofit/>
          </a:bodyPr>
          <a:lstStyle/>
          <a:p>
            <a:pPr algn="l">
              <a:buNone/>
              <a:defRPr sz="1060">
                <a:solidFill>
                  <a:srgbClr val="EEF4FF"/>
                </a:solidFill>
                <a:latin typeface="Aptos"/>
                <a:ea typeface="Aptos"/>
                <a:cs typeface="Aptos"/>
              </a:defRPr>
            </a:pPr>
            <a:r>
              <a:rPr sz="1060" b="0">
                <a:solidFill>
                  <a:srgbClr val="EEF4FF"/>
                </a:solidFill>
                <a:latin typeface="Aptos"/>
                <a:ea typeface="Aptos"/>
                <a:cs typeface="Aptos"/>
              </a:rPr>
              <a:t>D2/D3/D4 known shifts</a:t>
            </a:r>
          </a:p>
          <a:p>
            <a:pPr algn="l">
              <a:buNone/>
              <a:defRPr sz="1060">
                <a:solidFill>
                  <a:srgbClr val="EEF4FF"/>
                </a:solidFill>
                <a:latin typeface="Aptos"/>
                <a:ea typeface="Aptos"/>
                <a:cs typeface="Aptos"/>
              </a:defRPr>
            </a:pPr>
            <a:r>
              <a:rPr sz="1060" b="0">
                <a:solidFill>
                  <a:srgbClr val="EEF4FF"/>
                </a:solidFill>
                <a:latin typeface="Aptos"/>
                <a:ea typeface="Aptos"/>
                <a:cs typeface="Aptos"/>
              </a:rPr>
              <a:t>PCA score / residual scenarios</a:t>
            </a:r>
          </a:p>
        </p:txBody>
      </p:sp>
      <p:sp>
        <p:nvSpPr>
          <p:cNvPr id="38" name="Rectangle 37"/>
          <p:cNvSpPr/>
          <p:nvPr/>
        </p:nvSpPr>
        <p:spPr>
          <a:xfrm>
            <a:off x="5010912" y="3657600"/>
            <a:ext cx="342900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02352" y="3758184"/>
            <a:ext cx="3246120" cy="585215"/>
          </a:xfrm>
          <a:prstGeom prst="rect">
            <a:avLst/>
          </a:prstGeom>
          <a:noFill/>
        </p:spPr>
        <p:txBody>
          <a:bodyPr wrap="square" lIns="36576" tIns="18288" rIns="36576" bIns="18288" anchor="ctr">
            <a:noAutofit/>
          </a:bodyPr>
          <a:lstStyle/>
          <a:p>
            <a:pPr algn="l">
              <a:buNone/>
              <a:defRPr sz="1060">
                <a:solidFill>
                  <a:srgbClr val="EEF4FF"/>
                </a:solidFill>
                <a:latin typeface="Aptos"/>
                <a:ea typeface="Aptos"/>
                <a:cs typeface="Aptos"/>
              </a:defRPr>
            </a:pPr>
            <a:r>
              <a:rPr sz="1060" b="0">
                <a:solidFill>
                  <a:srgbClr val="EEF4FF"/>
                </a:solidFill>
                <a:latin typeface="Aptos"/>
                <a:ea typeface="Aptos"/>
                <a:cs typeface="Aptos"/>
              </a:rPr>
              <a:t>Table III / IV traces and metrics</a:t>
            </a:r>
          </a:p>
          <a:p>
            <a:pPr algn="l">
              <a:buNone/>
              <a:defRPr sz="1060">
                <a:solidFill>
                  <a:srgbClr val="EEF4FF"/>
                </a:solidFill>
                <a:latin typeface="Aptos"/>
                <a:ea typeface="Aptos"/>
                <a:cs typeface="Aptos"/>
              </a:defRPr>
            </a:pPr>
            <a:r>
              <a:rPr sz="1060" b="0">
                <a:solidFill>
                  <a:srgbClr val="EEF4FF"/>
                </a:solidFill>
                <a:latin typeface="Aptos"/>
                <a:ea typeface="Aptos"/>
                <a:cs typeface="Aptos"/>
              </a:rPr>
              <a:t>20 / 100-seed complementary runs</a:t>
            </a:r>
          </a:p>
        </p:txBody>
      </p:sp>
      <p:sp>
        <p:nvSpPr>
          <p:cNvPr id="40" name="Rectangle 39"/>
          <p:cNvSpPr/>
          <p:nvPr/>
        </p:nvSpPr>
        <p:spPr>
          <a:xfrm>
            <a:off x="8439912" y="3657600"/>
            <a:ext cx="315468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531352" y="3758184"/>
            <a:ext cx="2971800" cy="585215"/>
          </a:xfrm>
          <a:prstGeom prst="rect">
            <a:avLst/>
          </a:prstGeom>
          <a:noFill/>
        </p:spPr>
        <p:txBody>
          <a:bodyPr wrap="square" lIns="36576" tIns="18288" rIns="36576" bIns="18288" anchor="ctr">
            <a:noAutofit/>
          </a:bodyPr>
          <a:lstStyle/>
          <a:p>
            <a:pPr algn="l">
              <a:buNone/>
              <a:defRPr sz="1060">
                <a:solidFill>
                  <a:srgbClr val="AFC0D2"/>
                </a:solidFill>
                <a:latin typeface="Aptos"/>
                <a:ea typeface="Aptos"/>
                <a:cs typeface="Aptos"/>
              </a:defRPr>
            </a:pPr>
            <a:r>
              <a:rPr sz="1060" b="0">
                <a:solidFill>
                  <a:srgbClr val="AFC0D2"/>
                </a:solidFill>
                <a:latin typeface="Aptos"/>
                <a:ea typeface="Aptos"/>
                <a:cs typeface="Aptos"/>
              </a:rPr>
              <a:t>Magnitude sensitivity now stored</a:t>
            </a:r>
          </a:p>
          <a:p>
            <a:pPr algn="l">
              <a:buNone/>
              <a:defRPr sz="1060">
                <a:solidFill>
                  <a:srgbClr val="AFC0D2"/>
                </a:solidFill>
                <a:latin typeface="Aptos"/>
                <a:ea typeface="Aptos"/>
                <a:cs typeface="Aptos"/>
              </a:defRPr>
            </a:pPr>
            <a:r>
              <a:rPr sz="1060" b="0">
                <a:solidFill>
                  <a:srgbClr val="AFC0D2"/>
                </a:solidFill>
                <a:latin typeface="Aptos"/>
                <a:ea typeface="Aptos"/>
                <a:cs typeface="Aptos"/>
              </a:rPr>
              <a:t>Real EEG extension outputs pending</a:t>
            </a:r>
          </a:p>
        </p:txBody>
      </p:sp>
      <p:sp>
        <p:nvSpPr>
          <p:cNvPr id="42" name="Rectangle 41"/>
          <p:cNvSpPr/>
          <p:nvPr/>
        </p:nvSpPr>
        <p:spPr>
          <a:xfrm>
            <a:off x="621792" y="4407408"/>
            <a:ext cx="141732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621792" y="4407408"/>
            <a:ext cx="73152" cy="749808"/>
          </a:xfrm>
          <a:prstGeom prst="rect">
            <a:avLst/>
          </a:prstGeom>
          <a:solidFill>
            <a:srgbClr val="35D0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68096" y="4572000"/>
            <a:ext cx="1188720" cy="521207"/>
          </a:xfrm>
          <a:prstGeom prst="rect">
            <a:avLst/>
          </a:prstGeom>
          <a:noFill/>
        </p:spPr>
        <p:txBody>
          <a:bodyPr wrap="square" lIns="36576" tIns="18288" rIns="36576" bIns="18288" anchor="ctr">
            <a:normAutofit/>
          </a:bodyPr>
          <a:lstStyle/>
          <a:p>
            <a:pPr algn="l"/>
            <a:r>
              <a:rPr sz="1320" b="1">
                <a:solidFill>
                  <a:srgbClr val="EEF4FF"/>
                </a:solidFill>
                <a:latin typeface="Aptos"/>
              </a:rPr>
              <a:t>Classifier benchmark</a:t>
            </a:r>
          </a:p>
        </p:txBody>
      </p:sp>
      <p:sp>
        <p:nvSpPr>
          <p:cNvPr id="45" name="Rectangle 44"/>
          <p:cNvSpPr/>
          <p:nvPr/>
        </p:nvSpPr>
        <p:spPr>
          <a:xfrm>
            <a:off x="2039112" y="4407408"/>
            <a:ext cx="297180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2130552" y="4507992"/>
            <a:ext cx="2788920" cy="585215"/>
          </a:xfrm>
          <a:prstGeom prst="rect">
            <a:avLst/>
          </a:prstGeom>
          <a:noFill/>
        </p:spPr>
        <p:txBody>
          <a:bodyPr wrap="square" lIns="36576" tIns="18288" rIns="36576" bIns="18288" anchor="ctr">
            <a:noAutofit/>
          </a:bodyPr>
          <a:lstStyle/>
          <a:p>
            <a:pPr algn="l">
              <a:buNone/>
              <a:defRPr sz="1060">
                <a:solidFill>
                  <a:srgbClr val="EEF4FF"/>
                </a:solidFill>
                <a:latin typeface="Aptos"/>
                <a:ea typeface="Aptos"/>
                <a:cs typeface="Aptos"/>
              </a:defRPr>
            </a:pPr>
            <a:r>
              <a:rPr sz="1060" b="0">
                <a:solidFill>
                  <a:srgbClr val="EEF4FF"/>
                </a:solidFill>
                <a:latin typeface="Aptos"/>
                <a:ea typeface="Aptos"/>
                <a:cs typeface="Aptos"/>
              </a:rPr>
              <a:t>Separate classifier protocol</a:t>
            </a:r>
          </a:p>
          <a:p>
            <a:pPr algn="l">
              <a:buNone/>
              <a:defRPr sz="1060">
                <a:solidFill>
                  <a:srgbClr val="EEF4FF"/>
                </a:solidFill>
                <a:latin typeface="Aptos"/>
                <a:ea typeface="Aptos"/>
                <a:cs typeface="Aptos"/>
              </a:defRPr>
            </a:pPr>
            <a:r>
              <a:rPr sz="1060" b="0">
                <a:solidFill>
                  <a:srgbClr val="EEF4FF"/>
                </a:solidFill>
                <a:latin typeface="Aptos"/>
                <a:ea typeface="Aptos"/>
                <a:cs typeface="Aptos"/>
              </a:rPr>
              <a:t>2B: fit I–II, evaluate III</a:t>
            </a:r>
          </a:p>
        </p:txBody>
      </p:sp>
      <p:sp>
        <p:nvSpPr>
          <p:cNvPr id="47" name="Rectangle 46"/>
          <p:cNvSpPr/>
          <p:nvPr/>
        </p:nvSpPr>
        <p:spPr>
          <a:xfrm>
            <a:off x="5010912" y="4407408"/>
            <a:ext cx="342900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102352" y="4507992"/>
            <a:ext cx="3246120" cy="585215"/>
          </a:xfrm>
          <a:prstGeom prst="rect">
            <a:avLst/>
          </a:prstGeom>
          <a:noFill/>
        </p:spPr>
        <p:txBody>
          <a:bodyPr wrap="square" lIns="36576" tIns="18288" rIns="36576" bIns="18288" anchor="ctr">
            <a:normAutofit/>
          </a:bodyPr>
          <a:lstStyle/>
          <a:p>
            <a:pPr algn="l"/>
            <a:r>
              <a:rPr sz="1060" b="0">
                <a:solidFill>
                  <a:srgbClr val="EEF4FF"/>
                </a:solidFill>
                <a:latin typeface="Aptos"/>
              </a:rPr>
              <a:t>Single SVM versus bagged linear SVM</a:t>
            </a:r>
            <a:br/>
            <a:r>
              <a:rPr sz="1060" b="0">
                <a:solidFill>
                  <a:srgbClr val="EEF4FF"/>
                </a:solidFill>
                <a:latin typeface="Aptos"/>
              </a:rPr>
              <a:t>Subject-level held-out metrics</a:t>
            </a:r>
          </a:p>
        </p:txBody>
      </p:sp>
      <p:sp>
        <p:nvSpPr>
          <p:cNvPr id="49" name="Rectangle 48"/>
          <p:cNvSpPr/>
          <p:nvPr/>
        </p:nvSpPr>
        <p:spPr>
          <a:xfrm>
            <a:off x="8439912" y="4407408"/>
            <a:ext cx="315468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531352" y="4507992"/>
            <a:ext cx="2971800" cy="585215"/>
          </a:xfrm>
          <a:prstGeom prst="rect">
            <a:avLst/>
          </a:prstGeom>
          <a:noFill/>
        </p:spPr>
        <p:txBody>
          <a:bodyPr wrap="square" lIns="36576" tIns="18288" rIns="36576" bIns="18288" anchor="ctr">
            <a:noAutofit/>
          </a:bodyPr>
          <a:lstStyle/>
          <a:p>
            <a:pPr algn="l">
              <a:buNone/>
              <a:defRPr sz="1060">
                <a:solidFill>
                  <a:srgbClr val="AFC0D2"/>
                </a:solidFill>
                <a:latin typeface="Aptos"/>
                <a:ea typeface="Aptos"/>
                <a:cs typeface="Aptos"/>
              </a:defRPr>
            </a:pPr>
            <a:r>
              <a:rPr sz="1060" b="0">
                <a:solidFill>
                  <a:srgbClr val="AFC0D2"/>
                </a:solidFill>
                <a:latin typeface="Aptos"/>
                <a:ea typeface="Aptos"/>
                <a:cs typeface="Aptos"/>
              </a:rPr>
              <a:t>Metrics stored for 18 subjects</a:t>
            </a:r>
          </a:p>
          <a:p>
            <a:pPr algn="l">
              <a:buNone/>
              <a:defRPr sz="1060">
                <a:solidFill>
                  <a:srgbClr val="AFC0D2"/>
                </a:solidFill>
                <a:latin typeface="Aptos"/>
                <a:ea typeface="Aptos"/>
                <a:cs typeface="Aptos"/>
              </a:defRPr>
            </a:pPr>
            <a:r>
              <a:rPr sz="1060" b="0">
                <a:solidFill>
                  <a:srgbClr val="AFC0D2"/>
                </a:solidFill>
                <a:latin typeface="Aptos"/>
                <a:ea typeface="Aptos"/>
                <a:cs typeface="Aptos"/>
              </a:rPr>
              <a:t>Full CSE-UAEL integration open</a:t>
            </a:r>
          </a:p>
        </p:txBody>
      </p:sp>
      <p:sp>
        <p:nvSpPr>
          <p:cNvPr id="51" name="Rounded Rectangle 50"/>
          <p:cNvSpPr/>
          <p:nvPr/>
        </p:nvSpPr>
        <p:spPr>
          <a:xfrm>
            <a:off x="621792" y="5413248"/>
            <a:ext cx="10972800" cy="566928"/>
          </a:xfrm>
          <a:prstGeom prst="roundRect">
            <a:avLst/>
          </a:prstGeom>
          <a:solidFill>
            <a:srgbClr val="102A40"/>
          </a:solidFill>
          <a:ln w="7620">
            <a:solidFill>
              <a:srgbClr val="23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841248" y="5559552"/>
            <a:ext cx="1554480" cy="256032"/>
          </a:xfrm>
          <a:prstGeom prst="rect">
            <a:avLst/>
          </a:prstGeom>
          <a:noFill/>
        </p:spPr>
        <p:txBody>
          <a:bodyPr wrap="square" lIns="36576" tIns="18288" rIns="36576" bIns="18288" anchor="ctr">
            <a:normAutofit/>
          </a:bodyPr>
          <a:lstStyle/>
          <a:p>
            <a:pPr algn="l"/>
            <a:r>
              <a:rPr sz="1120" b="1">
                <a:solidFill>
                  <a:srgbClr val="35D0C2"/>
                </a:solidFill>
                <a:latin typeface="Aptos"/>
              </a:rPr>
              <a:t>Shared rule</a:t>
            </a:r>
          </a:p>
        </p:txBody>
      </p:sp>
      <p:sp>
        <p:nvSpPr>
          <p:cNvPr id="53" name="TextBox 52"/>
          <p:cNvSpPr txBox="1"/>
          <p:nvPr/>
        </p:nvSpPr>
        <p:spPr>
          <a:xfrm>
            <a:off x="2331720" y="5509260"/>
            <a:ext cx="8915400" cy="384048"/>
          </a:xfrm>
          <a:prstGeom prst="rect">
            <a:avLst/>
          </a:prstGeom>
          <a:noFill/>
        </p:spPr>
        <p:txBody>
          <a:bodyPr wrap="square" lIns="36576" tIns="18288" rIns="36576" bIns="18288" anchor="ctr">
            <a:noAutofit/>
          </a:bodyPr>
          <a:lstStyle/>
          <a:p>
            <a:pPr algn="l">
              <a:buNone/>
              <a:defRPr sz="1240">
                <a:solidFill>
                  <a:srgbClr val="EEF4FF"/>
                </a:solidFill>
                <a:latin typeface="Aptos"/>
                <a:ea typeface="Aptos"/>
                <a:cs typeface="Aptos"/>
              </a:defRPr>
            </a:pPr>
            <a:r>
              <a:rPr sz="1240" b="0">
                <a:solidFill>
                  <a:srgbClr val="EEF4FF"/>
                </a:solidFill>
                <a:latin typeface="Aptos"/>
                <a:ea typeface="Aptos"/>
                <a:cs typeface="Aptos"/>
              </a:rPr>
              <a:t>Evaluation trials do not enter feature-model fitting. Every result should identify its split, code version and detector configuration.</a:t>
            </a:r>
          </a:p>
        </p:txBody>
      </p:sp>
      <p:sp>
        <p:nvSpPr>
          <p:cNvPr id="54" name="TextBox 53"/>
          <p:cNvSpPr txBox="1"/>
          <p:nvPr/>
        </p:nvSpPr>
        <p:spPr>
          <a:xfrm>
            <a:off x="621792" y="6464808"/>
            <a:ext cx="3840480" cy="182880"/>
          </a:xfrm>
          <a:prstGeom prst="rect">
            <a:avLst/>
          </a:prstGeom>
          <a:noFill/>
        </p:spPr>
        <p:txBody>
          <a:bodyPr wrap="square" lIns="36576" tIns="18288" rIns="36576" bIns="18288">
            <a:normAutofit/>
          </a:bodyPr>
          <a:lstStyle/>
          <a:p>
            <a:pPr algn="l"/>
            <a:r>
              <a:rPr sz="860" b="0">
                <a:solidFill>
                  <a:srgbClr val="AFC0D2"/>
                </a:solidFill>
                <a:latin typeface="Aptos"/>
              </a:rPr>
              <a:t>hlin863/ewma_covariate_shift_demo</a:t>
            </a:r>
          </a:p>
        </p:txBody>
      </p:sp>
      <p:sp>
        <p:nvSpPr>
          <p:cNvPr id="55" name="TextBox 54"/>
          <p:cNvSpPr txBox="1"/>
          <p:nvPr/>
        </p:nvSpPr>
        <p:spPr>
          <a:xfrm>
            <a:off x="11430000" y="6464808"/>
            <a:ext cx="292608" cy="182880"/>
          </a:xfrm>
          <a:prstGeom prst="rect">
            <a:avLst/>
          </a:prstGeom>
          <a:noFill/>
        </p:spPr>
        <p:txBody>
          <a:bodyPr wrap="square" lIns="36576" tIns="18288" rIns="36576" bIns="18288">
            <a:normAutofit/>
          </a:bodyPr>
          <a:lstStyle/>
          <a:p>
            <a:r>
              <a:t>09</a:t>
            </a:r>
          </a:p>
        </p:txBody>
      </p:sp>
    </p:spTree>
    <p:extLst>
      <p:ext uri="{BB962C8B-B14F-4D97-AF65-F5344CB8AC3E}">
        <p14:creationId xmlns:p14="http://schemas.microsoft.com/office/powerpoint/2010/main" val="3443722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240E5E7D-C5A2-4E44-9F48-607BD6A5C5AF}"/>
              </a:ext>
            </a:extLst>
          </p:cNvPr>
          <p:cNvSpPr>
            <a:spLocks noGrp="1"/>
          </p:cNvSpPr>
          <p:nvPr/>
        </p:nvSpPr>
        <p:spPr>
          <a:xfrm>
            <a:off x="609600" y="400050"/>
            <a:ext cx="5715000" cy="228600"/>
          </a:xfrm>
          <a:prstGeom prst="rect">
            <a:avLst/>
          </a:prstGeom>
          <a:noFill/>
          <a:ln w="0">
            <a:noFill/>
          </a:ln>
        </p:spPr>
        <p:txBody>
          <a:bodyPr>
            <a:noAutofit/>
          </a:bodyPr>
          <a:lstStyle/>
          <a:p>
            <a:pPr>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PROJECT TIMELINE</a:t>
            </a:r>
          </a:p>
        </p:txBody>
      </p:sp>
      <p:sp>
        <p:nvSpPr>
          <p:cNvPr id="2" name="Rectangle 1">
            <a:extLst>
              <a:ext uri="{FF2B5EF4-FFF2-40B4-BE49-F238E27FC236}">
                <a16:creationId xmlns:a16="http://schemas.microsoft.com/office/drawing/2014/main" id="{8ABAC0B4-B39A-4482-95EF-D4853F6A4C28}"/>
              </a:ext>
            </a:extLst>
          </p:cNvPr>
          <p:cNvSpPr>
            <a:spLocks noGrp="1"/>
          </p:cNvSpPr>
          <p:nvPr/>
        </p:nvSpPr>
        <p:spPr>
          <a:xfrm>
            <a:off x="609600" y="685800"/>
            <a:ext cx="11049000" cy="552450"/>
          </a:xfrm>
          <a:prstGeom prst="rect">
            <a:avLst/>
          </a:prstGeom>
          <a:noFill/>
          <a:ln w="0">
            <a:noFill/>
          </a:ln>
        </p:spPr>
        <p:txBody>
          <a:bodyPr>
            <a:noAutofit/>
          </a:bodyPr>
          <a:lstStyle/>
          <a:p>
            <a:pPr>
              <a:buNone/>
              <a:defRPr sz="2400" b="1">
                <a:solidFill>
                  <a:srgbClr val="EAF2F8"/>
                </a:solidFill>
                <a:latin typeface="DejaVu Sans"/>
                <a:ea typeface="DejaVu Sans"/>
                <a:cs typeface="DejaVu Sans"/>
              </a:defRPr>
            </a:pPr>
            <a:r>
              <a:rPr sz="2400" b="1">
                <a:solidFill>
                  <a:srgbClr val="EAF2F8"/>
                </a:solidFill>
                <a:latin typeface="DejaVu Sans"/>
                <a:ea typeface="DejaVu Sans"/>
                <a:cs typeface="DejaVu Sans"/>
              </a:rPr>
              <a:t>First-year objectives across twelve months</a:t>
            </a:r>
          </a:p>
        </p:txBody>
      </p:sp>
      <p:sp>
        <p:nvSpPr>
          <p:cNvPr id="3" name="Rectangle 2">
            <a:extLst>
              <a:ext uri="{FF2B5EF4-FFF2-40B4-BE49-F238E27FC236}">
                <a16:creationId xmlns:a16="http://schemas.microsoft.com/office/drawing/2014/main" id="{13388DC5-D2F3-4DFC-BEBE-2C3AA555E256}"/>
              </a:ext>
            </a:extLst>
          </p:cNvPr>
          <p:cNvSpPr>
            <a:spLocks noGrp="1"/>
          </p:cNvSpPr>
          <p:nvPr/>
        </p:nvSpPr>
        <p:spPr>
          <a:xfrm>
            <a:off x="609600" y="1352550"/>
            <a:ext cx="10953750" cy="304800"/>
          </a:xfrm>
          <a:prstGeom prst="rect">
            <a:avLst/>
          </a:prstGeom>
          <a:noFill/>
          <a:ln w="0">
            <a:noFill/>
          </a:ln>
        </p:spPr>
        <p:txBody>
          <a:bodyPr>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Proposed October 2026 to September 2027 plan. Existing outputs provide the initial baseline.</a:t>
            </a:r>
          </a:p>
        </p:txBody>
      </p:sp>
      <p:sp>
        <p:nvSpPr>
          <p:cNvPr id="38" name="Rectangle 37">
            <a:extLst>
              <a:ext uri="{FF2B5EF4-FFF2-40B4-BE49-F238E27FC236}">
                <a16:creationId xmlns:a16="http://schemas.microsoft.com/office/drawing/2014/main" id="{4FFF46D4-5C7A-4DAB-80D9-8CE11351F7BA}"/>
              </a:ext>
            </a:extLst>
          </p:cNvPr>
          <p:cNvSpPr>
            <a:spLocks noGrp="1"/>
          </p:cNvSpPr>
          <p:nvPr/>
        </p:nvSpPr>
        <p:spPr>
          <a:xfrm>
            <a:off x="609600" y="6515100"/>
            <a:ext cx="5238750" cy="190500"/>
          </a:xfrm>
          <a:prstGeom prst="rect">
            <a:avLst/>
          </a:prstGeom>
          <a:noFill/>
          <a:ln w="0">
            <a:noFill/>
          </a:ln>
        </p:spPr>
        <p:txBody>
          <a:bodyPr>
            <a:noAutofit/>
          </a:bodyPr>
          <a:lstStyle/>
          <a:p>
            <a:pPr>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39" name="Rectangle 38">
            <a:extLst>
              <a:ext uri="{FF2B5EF4-FFF2-40B4-BE49-F238E27FC236}">
                <a16:creationId xmlns:a16="http://schemas.microsoft.com/office/drawing/2014/main" id="{F0C3E7CB-BF47-4DA1-84C8-329232745D2F}"/>
              </a:ext>
            </a:extLst>
          </p:cNvPr>
          <p:cNvSpPr>
            <a:spLocks noGrp="1"/>
          </p:cNvSpPr>
          <p:nvPr/>
        </p:nvSpPr>
        <p:spPr>
          <a:xfrm>
            <a:off x="11430000" y="6515100"/>
            <a:ext cx="381000" cy="190500"/>
          </a:xfrm>
          <a:prstGeom prst="rect">
            <a:avLst/>
          </a:prstGeom>
          <a:noFill/>
          <a:ln w="0">
            <a:noFill/>
          </a:ln>
        </p:spPr>
        <p:txBody>
          <a:bodyPr>
            <a:noAutofit/>
          </a:bodyPr>
          <a:lstStyle/>
          <a:p>
            <a:r>
              <a:t>10</a:t>
            </a:r>
          </a:p>
        </p:txBody>
      </p:sp>
      <p:graphicFrame>
        <p:nvGraphicFramePr>
          <p:cNvPr id="47" name="Table 46"/>
          <p:cNvGraphicFramePr/>
          <p:nvPr/>
        </p:nvGraphicFramePr>
        <p:xfrm>
          <a:off x="609600" y="1885950"/>
          <a:ext cx="10972800" cy="3810000"/>
        </p:xfrm>
        <a:graphic>
          <a:graphicData uri="http://schemas.openxmlformats.org/drawingml/2006/table">
            <a:tbl>
              <a:tblPr/>
              <a:tblGrid>
                <a:gridCol w="2905125">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4572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gridCol w="457200">
                  <a:extLst>
                    <a:ext uri="{9D8B030D-6E8A-4147-A177-3AD203B41FA5}">
                      <a16:colId xmlns:a16="http://schemas.microsoft.com/office/drawing/2014/main" val="20009"/>
                    </a:ext>
                  </a:extLst>
                </a:gridCol>
                <a:gridCol w="457200">
                  <a:extLst>
                    <a:ext uri="{9D8B030D-6E8A-4147-A177-3AD203B41FA5}">
                      <a16:colId xmlns:a16="http://schemas.microsoft.com/office/drawing/2014/main" val="20010"/>
                    </a:ext>
                  </a:extLst>
                </a:gridCol>
                <a:gridCol w="457200">
                  <a:extLst>
                    <a:ext uri="{9D8B030D-6E8A-4147-A177-3AD203B41FA5}">
                      <a16:colId xmlns:a16="http://schemas.microsoft.com/office/drawing/2014/main" val="20011"/>
                    </a:ext>
                  </a:extLst>
                </a:gridCol>
                <a:gridCol w="457200">
                  <a:extLst>
                    <a:ext uri="{9D8B030D-6E8A-4147-A177-3AD203B41FA5}">
                      <a16:colId xmlns:a16="http://schemas.microsoft.com/office/drawing/2014/main" val="20012"/>
                    </a:ext>
                  </a:extLst>
                </a:gridCol>
                <a:gridCol w="2581275">
                  <a:extLst>
                    <a:ext uri="{9D8B030D-6E8A-4147-A177-3AD203B41FA5}">
                      <a16:colId xmlns:a16="http://schemas.microsoft.com/office/drawing/2014/main" val="20013"/>
                    </a:ext>
                  </a:extLst>
                </a:gridCol>
              </a:tblGrid>
              <a:tr h="419100">
                <a:tc>
                  <a:txBody>
                    <a:bodyPr/>
                    <a:lstStyle/>
                    <a:p>
                      <a:pPr algn="l"/>
                      <a:r>
                        <a:rPr sz="975" b="1">
                          <a:solidFill>
                            <a:srgbClr val="2DD4BF"/>
                          </a:solidFill>
                          <a:latin typeface="DejaVu Sans"/>
                          <a:ea typeface="DejaVu Sans"/>
                          <a:cs typeface="DejaVu Sans"/>
                        </a:rPr>
                        <a:t>WORK PACKAGE</a:t>
                      </a:r>
                    </a:p>
                  </a:txBody>
                  <a:tcPr anchor="ctr">
                    <a:solidFill>
                      <a:srgbClr val="10253A"/>
                    </a:solidFill>
                  </a:tcPr>
                </a:tc>
                <a:tc>
                  <a:txBody>
                    <a:bodyPr/>
                    <a:lstStyle/>
                    <a:p>
                      <a:pPr algn="ctr"/>
                      <a:r>
                        <a:rPr sz="825" b="1">
                          <a:solidFill>
                            <a:srgbClr val="2DD4BF"/>
                          </a:solidFill>
                          <a:latin typeface="DejaVu Sans"/>
                          <a:ea typeface="DejaVu Sans"/>
                          <a:cs typeface="DejaVu Sans"/>
                        </a:rPr>
                        <a:t>Oct</a:t>
                      </a:r>
                    </a:p>
                  </a:txBody>
                  <a:tcPr anchor="ctr">
                    <a:solidFill>
                      <a:srgbClr val="10253A"/>
                    </a:solidFill>
                  </a:tcPr>
                </a:tc>
                <a:tc>
                  <a:txBody>
                    <a:bodyPr/>
                    <a:lstStyle/>
                    <a:p>
                      <a:pPr algn="ctr"/>
                      <a:r>
                        <a:rPr sz="825" b="1">
                          <a:solidFill>
                            <a:srgbClr val="2DD4BF"/>
                          </a:solidFill>
                          <a:latin typeface="DejaVu Sans"/>
                          <a:ea typeface="DejaVu Sans"/>
                          <a:cs typeface="DejaVu Sans"/>
                        </a:rPr>
                        <a:t>Nov</a:t>
                      </a:r>
                    </a:p>
                  </a:txBody>
                  <a:tcPr anchor="ctr">
                    <a:solidFill>
                      <a:srgbClr val="10253A"/>
                    </a:solidFill>
                  </a:tcPr>
                </a:tc>
                <a:tc>
                  <a:txBody>
                    <a:bodyPr/>
                    <a:lstStyle/>
                    <a:p>
                      <a:pPr algn="ctr"/>
                      <a:r>
                        <a:rPr sz="825" b="1">
                          <a:solidFill>
                            <a:srgbClr val="2DD4BF"/>
                          </a:solidFill>
                          <a:latin typeface="DejaVu Sans"/>
                          <a:ea typeface="DejaVu Sans"/>
                          <a:cs typeface="DejaVu Sans"/>
                        </a:rPr>
                        <a:t>Dec</a:t>
                      </a:r>
                    </a:p>
                  </a:txBody>
                  <a:tcPr anchor="ctr">
                    <a:solidFill>
                      <a:srgbClr val="10253A"/>
                    </a:solidFill>
                  </a:tcPr>
                </a:tc>
                <a:tc>
                  <a:txBody>
                    <a:bodyPr/>
                    <a:lstStyle/>
                    <a:p>
                      <a:pPr algn="ctr"/>
                      <a:r>
                        <a:rPr sz="825" b="1">
                          <a:solidFill>
                            <a:srgbClr val="2DD4BF"/>
                          </a:solidFill>
                          <a:latin typeface="DejaVu Sans"/>
                          <a:ea typeface="DejaVu Sans"/>
                          <a:cs typeface="DejaVu Sans"/>
                        </a:rPr>
                        <a:t>Jan</a:t>
                      </a:r>
                    </a:p>
                  </a:txBody>
                  <a:tcPr anchor="ctr">
                    <a:solidFill>
                      <a:srgbClr val="10253A"/>
                    </a:solidFill>
                  </a:tcPr>
                </a:tc>
                <a:tc>
                  <a:txBody>
                    <a:bodyPr/>
                    <a:lstStyle/>
                    <a:p>
                      <a:pPr algn="ctr"/>
                      <a:r>
                        <a:rPr sz="825" b="1">
                          <a:solidFill>
                            <a:srgbClr val="2DD4BF"/>
                          </a:solidFill>
                          <a:latin typeface="DejaVu Sans"/>
                          <a:ea typeface="DejaVu Sans"/>
                          <a:cs typeface="DejaVu Sans"/>
                        </a:rPr>
                        <a:t>Feb</a:t>
                      </a:r>
                    </a:p>
                  </a:txBody>
                  <a:tcPr anchor="ctr">
                    <a:solidFill>
                      <a:srgbClr val="10253A"/>
                    </a:solidFill>
                  </a:tcPr>
                </a:tc>
                <a:tc>
                  <a:txBody>
                    <a:bodyPr/>
                    <a:lstStyle/>
                    <a:p>
                      <a:pPr algn="ctr"/>
                      <a:r>
                        <a:rPr sz="825" b="1">
                          <a:solidFill>
                            <a:srgbClr val="2DD4BF"/>
                          </a:solidFill>
                          <a:latin typeface="DejaVu Sans"/>
                          <a:ea typeface="DejaVu Sans"/>
                          <a:cs typeface="DejaVu Sans"/>
                        </a:rPr>
                        <a:t>Mar</a:t>
                      </a:r>
                    </a:p>
                  </a:txBody>
                  <a:tcPr anchor="ctr">
                    <a:solidFill>
                      <a:srgbClr val="10253A"/>
                    </a:solidFill>
                  </a:tcPr>
                </a:tc>
                <a:tc>
                  <a:txBody>
                    <a:bodyPr/>
                    <a:lstStyle/>
                    <a:p>
                      <a:pPr algn="ctr"/>
                      <a:r>
                        <a:rPr sz="825" b="1">
                          <a:solidFill>
                            <a:srgbClr val="2DD4BF"/>
                          </a:solidFill>
                          <a:latin typeface="DejaVu Sans"/>
                          <a:ea typeface="DejaVu Sans"/>
                          <a:cs typeface="DejaVu Sans"/>
                        </a:rPr>
                        <a:t>Apr</a:t>
                      </a:r>
                    </a:p>
                  </a:txBody>
                  <a:tcPr anchor="ctr">
                    <a:solidFill>
                      <a:srgbClr val="10253A"/>
                    </a:solidFill>
                  </a:tcPr>
                </a:tc>
                <a:tc>
                  <a:txBody>
                    <a:bodyPr/>
                    <a:lstStyle/>
                    <a:p>
                      <a:pPr algn="ctr"/>
                      <a:r>
                        <a:rPr sz="825" b="1">
                          <a:solidFill>
                            <a:srgbClr val="2DD4BF"/>
                          </a:solidFill>
                          <a:latin typeface="DejaVu Sans"/>
                          <a:ea typeface="DejaVu Sans"/>
                          <a:cs typeface="DejaVu Sans"/>
                        </a:rPr>
                        <a:t>May</a:t>
                      </a:r>
                    </a:p>
                  </a:txBody>
                  <a:tcPr anchor="ctr">
                    <a:solidFill>
                      <a:srgbClr val="10253A"/>
                    </a:solidFill>
                  </a:tcPr>
                </a:tc>
                <a:tc>
                  <a:txBody>
                    <a:bodyPr/>
                    <a:lstStyle/>
                    <a:p>
                      <a:pPr algn="ctr"/>
                      <a:r>
                        <a:rPr sz="825" b="1">
                          <a:solidFill>
                            <a:srgbClr val="2DD4BF"/>
                          </a:solidFill>
                          <a:latin typeface="DejaVu Sans"/>
                          <a:ea typeface="DejaVu Sans"/>
                          <a:cs typeface="DejaVu Sans"/>
                        </a:rPr>
                        <a:t>Jun</a:t>
                      </a:r>
                    </a:p>
                  </a:txBody>
                  <a:tcPr anchor="ctr">
                    <a:solidFill>
                      <a:srgbClr val="10253A"/>
                    </a:solidFill>
                  </a:tcPr>
                </a:tc>
                <a:tc>
                  <a:txBody>
                    <a:bodyPr/>
                    <a:lstStyle/>
                    <a:p>
                      <a:pPr algn="ctr"/>
                      <a:r>
                        <a:rPr sz="825" b="1">
                          <a:solidFill>
                            <a:srgbClr val="2DD4BF"/>
                          </a:solidFill>
                          <a:latin typeface="DejaVu Sans"/>
                          <a:ea typeface="DejaVu Sans"/>
                          <a:cs typeface="DejaVu Sans"/>
                        </a:rPr>
                        <a:t>Jul</a:t>
                      </a:r>
                    </a:p>
                  </a:txBody>
                  <a:tcPr anchor="ctr">
                    <a:solidFill>
                      <a:srgbClr val="10253A"/>
                    </a:solidFill>
                  </a:tcPr>
                </a:tc>
                <a:tc>
                  <a:txBody>
                    <a:bodyPr/>
                    <a:lstStyle/>
                    <a:p>
                      <a:pPr algn="ctr"/>
                      <a:r>
                        <a:rPr sz="825" b="1">
                          <a:solidFill>
                            <a:srgbClr val="2DD4BF"/>
                          </a:solidFill>
                          <a:latin typeface="DejaVu Sans"/>
                          <a:ea typeface="DejaVu Sans"/>
                          <a:cs typeface="DejaVu Sans"/>
                        </a:rPr>
                        <a:t>Aug</a:t>
                      </a:r>
                    </a:p>
                  </a:txBody>
                  <a:tcPr anchor="ctr">
                    <a:solidFill>
                      <a:srgbClr val="10253A"/>
                    </a:solidFill>
                  </a:tcPr>
                </a:tc>
                <a:tc>
                  <a:txBody>
                    <a:bodyPr/>
                    <a:lstStyle/>
                    <a:p>
                      <a:pPr algn="ctr"/>
                      <a:r>
                        <a:rPr sz="825" b="1">
                          <a:solidFill>
                            <a:srgbClr val="2DD4BF"/>
                          </a:solidFill>
                          <a:latin typeface="DejaVu Sans"/>
                          <a:ea typeface="DejaVu Sans"/>
                          <a:cs typeface="DejaVu Sans"/>
                        </a:rPr>
                        <a:t>Sep</a:t>
                      </a:r>
                    </a:p>
                  </a:txBody>
                  <a:tcPr anchor="ctr">
                    <a:solidFill>
                      <a:srgbClr val="10253A"/>
                    </a:solidFill>
                  </a:tcPr>
                </a:tc>
                <a:tc>
                  <a:txBody>
                    <a:bodyPr/>
                    <a:lstStyle/>
                    <a:p>
                      <a:pPr algn="l"/>
                      <a:r>
                        <a:rPr sz="975" b="1">
                          <a:solidFill>
                            <a:srgbClr val="2DD4BF"/>
                          </a:solidFill>
                          <a:latin typeface="DejaVu Sans"/>
                          <a:ea typeface="DejaVu Sans"/>
                          <a:cs typeface="DejaVu Sans"/>
                        </a:rPr>
                        <a:t>EXPECTED OUTPUT</a:t>
                      </a:r>
                    </a:p>
                  </a:txBody>
                  <a:tcPr anchor="ctr">
                    <a:solidFill>
                      <a:srgbClr val="10253A"/>
                    </a:solidFill>
                  </a:tcPr>
                </a:tc>
                <a:extLst>
                  <a:ext uri="{0D108BD9-81ED-4DB2-BD59-A6C34878D82A}">
                    <a16:rowId xmlns:a16="http://schemas.microsoft.com/office/drawing/2014/main" val="10000"/>
                  </a:ext>
                </a:extLst>
              </a:tr>
              <a:tr h="561975">
                <a:tc>
                  <a:txBody>
                    <a:bodyPr/>
                    <a:lstStyle/>
                    <a:p>
                      <a:pPr algn="l"/>
                      <a:r>
                        <a:rPr sz="1050" b="1">
                          <a:solidFill>
                            <a:srgbClr val="EAF2F8"/>
                          </a:solidFill>
                          <a:latin typeface="DejaVu Sans"/>
                          <a:ea typeface="DejaVu Sans"/>
                          <a:cs typeface="DejaVu Sans"/>
                        </a:rPr>
                        <a:t>WP1  Theory and architecture</a:t>
                      </a:r>
                    </a:p>
                    <a:p>
                      <a:pPr algn="l"/>
                      <a:r>
                        <a:rPr sz="1050" b="1">
                          <a:solidFill>
                            <a:srgbClr val="EAF2F8"/>
                          </a:solidFill>
                          <a:latin typeface="DejaVu Sans"/>
                          <a:ea typeface="DejaVu Sans"/>
                          <a:cs typeface="DejaVu Sans"/>
                        </a:rPr>
                        <a:t>CPD, CL and twin design</a:t>
                      </a: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Architecture specification</a:t>
                      </a:r>
                    </a:p>
                  </a:txBody>
                  <a:tcPr anchor="ctr">
                    <a:solidFill>
                      <a:srgbClr val="0B1A2A"/>
                    </a:solidFill>
                  </a:tcPr>
                </a:tc>
                <a:extLst>
                  <a:ext uri="{0D108BD9-81ED-4DB2-BD59-A6C34878D82A}">
                    <a16:rowId xmlns:a16="http://schemas.microsoft.com/office/drawing/2014/main" val="10001"/>
                  </a:ext>
                </a:extLst>
              </a:tr>
              <a:tr h="561975">
                <a:tc>
                  <a:txBody>
                    <a:bodyPr/>
                    <a:lstStyle/>
                    <a:p>
                      <a:pPr algn="l"/>
                      <a:r>
                        <a:rPr sz="1050" b="1">
                          <a:solidFill>
                            <a:srgbClr val="EAF2F8"/>
                          </a:solidFill>
                          <a:latin typeface="DejaVu Sans"/>
                          <a:ea typeface="DejaVu Sans"/>
                          <a:cs typeface="DejaVu Sans"/>
                        </a:rPr>
                        <a:t>WP2  CPD benchmarking</a:t>
                      </a:r>
                    </a:p>
                    <a:p>
                      <a:pPr algn="l"/>
                      <a:r>
                        <a:rPr sz="1050" b="1">
                          <a:solidFill>
                            <a:srgbClr val="EAF2F8"/>
                          </a:solidFill>
                          <a:latin typeface="DejaVu Sans"/>
                          <a:ea typeface="DejaVu Sans"/>
                          <a:cs typeface="DejaVu Sans"/>
                        </a:rPr>
                        <a:t>EWMA, CUSUM, BOCPD, density ratios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Benchmark suite and report</a:t>
                      </a:r>
                    </a:p>
                  </a:txBody>
                  <a:tcPr anchor="ctr">
                    <a:solidFill>
                      <a:srgbClr val="0E2031"/>
                    </a:solidFill>
                  </a:tcPr>
                </a:tc>
                <a:extLst>
                  <a:ext uri="{0D108BD9-81ED-4DB2-BD59-A6C34878D82A}">
                    <a16:rowId xmlns:a16="http://schemas.microsoft.com/office/drawing/2014/main" val="10002"/>
                  </a:ext>
                </a:extLst>
              </a:tr>
              <a:tr h="561975">
                <a:tc>
                  <a:txBody>
                    <a:bodyPr/>
                    <a:lstStyle/>
                    <a:p>
                      <a:pPr algn="l"/>
                      <a:r>
                        <a:rPr sz="1050" b="1">
                          <a:solidFill>
                            <a:srgbClr val="EAF2F8"/>
                          </a:solidFill>
                          <a:latin typeface="DejaVu Sans"/>
                          <a:ea typeface="DejaVu Sans"/>
                          <a:cs typeface="DejaVu Sans"/>
                        </a:rPr>
                        <a:t>WP3  Continual learning and sustainability</a:t>
                      </a:r>
                    </a:p>
                    <a:p>
                      <a:pPr algn="l"/>
                      <a:r>
                        <a:rPr sz="1050" b="1">
                          <a:solidFill>
                            <a:srgbClr val="EAF2F8"/>
                          </a:solidFill>
                          <a:latin typeface="DejaVu Sans"/>
                          <a:ea typeface="DejaVu Sans"/>
                          <a:cs typeface="DejaVu Sans"/>
                        </a:rPr>
                        <a:t>Replay, forgetting, energy costs</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CL module and cost analysis</a:t>
                      </a:r>
                    </a:p>
                  </a:txBody>
                  <a:tcPr anchor="ctr">
                    <a:solidFill>
                      <a:srgbClr val="0B1A2A"/>
                    </a:solidFill>
                  </a:tcPr>
                </a:tc>
                <a:extLst>
                  <a:ext uri="{0D108BD9-81ED-4DB2-BD59-A6C34878D82A}">
                    <a16:rowId xmlns:a16="http://schemas.microsoft.com/office/drawing/2014/main" val="10003"/>
                  </a:ext>
                </a:extLst>
              </a:tr>
              <a:tr h="561975">
                <a:tc>
                  <a:txBody>
                    <a:bodyPr/>
                    <a:lstStyle/>
                    <a:p>
                      <a:pPr algn="l"/>
                      <a:r>
                        <a:rPr sz="1050" b="1">
                          <a:solidFill>
                            <a:srgbClr val="EAF2F8"/>
                          </a:solidFill>
                          <a:latin typeface="DejaVu Sans"/>
                          <a:ea typeface="DejaVu Sans"/>
                          <a:cs typeface="DejaVu Sans"/>
                        </a:rPr>
                        <a:t>WP4  Digital twin co-evolution</a:t>
                      </a:r>
                    </a:p>
                    <a:p>
                      <a:pPr algn="l"/>
                      <a:r>
                        <a:rPr sz="1050" b="1">
                          <a:solidFill>
                            <a:srgbClr val="EAF2F8"/>
                          </a:solidFill>
                          <a:latin typeface="DejaVu Sans"/>
                          <a:ea typeface="DejaVu Sans"/>
                          <a:cs typeface="DejaVu Sans"/>
                        </a:rPr>
                        <a:t>Disagreement, joint updates, safety</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Twin framework and testbed</a:t>
                      </a:r>
                    </a:p>
                  </a:txBody>
                  <a:tcPr anchor="ctr">
                    <a:solidFill>
                      <a:srgbClr val="0E2031"/>
                    </a:solidFill>
                  </a:tcPr>
                </a:tc>
                <a:extLst>
                  <a:ext uri="{0D108BD9-81ED-4DB2-BD59-A6C34878D82A}">
                    <a16:rowId xmlns:a16="http://schemas.microsoft.com/office/drawing/2014/main" val="10004"/>
                  </a:ext>
                </a:extLst>
              </a:tr>
              <a:tr h="561975">
                <a:tc>
                  <a:txBody>
                    <a:bodyPr/>
                    <a:lstStyle/>
                    <a:p>
                      <a:pPr algn="l"/>
                      <a:r>
                        <a:rPr sz="1050" b="1">
                          <a:solidFill>
                            <a:srgbClr val="EAF2F8"/>
                          </a:solidFill>
                          <a:latin typeface="DejaVu Sans"/>
                          <a:ea typeface="DejaVu Sans"/>
                          <a:cs typeface="DejaVu Sans"/>
                        </a:rPr>
                        <a:t>WP5  Cross-domain evaluation</a:t>
                      </a:r>
                    </a:p>
                    <a:p>
                      <a:pPr algn="l"/>
                      <a:r>
                        <a:rPr sz="1050" b="1">
                          <a:solidFill>
                            <a:srgbClr val="EAF2F8"/>
                          </a:solidFill>
                          <a:latin typeface="DejaVu Sans"/>
                          <a:ea typeface="DejaVu Sans"/>
                          <a:cs typeface="DejaVu Sans"/>
                        </a:rPr>
                        <a:t>BCI and photonic maintenance</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Compare retraining and periodic updates</a:t>
                      </a:r>
                    </a:p>
                  </a:txBody>
                  <a:tcPr anchor="ctr">
                    <a:solidFill>
                      <a:srgbClr val="0B1A2A"/>
                    </a:solidFill>
                  </a:tcPr>
                </a:tc>
                <a:extLst>
                  <a:ext uri="{0D108BD9-81ED-4DB2-BD59-A6C34878D82A}">
                    <a16:rowId xmlns:a16="http://schemas.microsoft.com/office/drawing/2014/main" val="10005"/>
                  </a:ext>
                </a:extLst>
              </a:tr>
              <a:tr h="561975">
                <a:tc>
                  <a:txBody>
                    <a:bodyPr/>
                    <a:lstStyle/>
                    <a:p>
                      <a:pPr algn="l"/>
                      <a:r>
                        <a:rPr sz="1050" b="1">
                          <a:solidFill>
                            <a:srgbClr val="EAF2F8"/>
                          </a:solidFill>
                          <a:latin typeface="DejaVu Sans"/>
                          <a:ea typeface="DejaVu Sans"/>
                          <a:cs typeface="DejaVu Sans"/>
                        </a:rPr>
                        <a:t>WP6  Synthesis and engagement</a:t>
                      </a:r>
                    </a:p>
                    <a:p>
                      <a:pPr algn="l"/>
                      <a:r>
                        <a:rPr sz="1050" b="1">
                          <a:solidFill>
                            <a:srgbClr val="EAF2F8"/>
                          </a:solidFill>
                          <a:latin typeface="DejaVu Sans"/>
                          <a:ea typeface="DejaVu Sans"/>
                          <a:cs typeface="DejaVu Sans"/>
                        </a:rPr>
                        <a:t>Manuscripts, release, stakeholders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pPr algn="l"/>
                      <a:r>
                        <a:rPr sz="975" b="0">
                          <a:solidFill>
                            <a:srgbClr val="B9CAD9"/>
                          </a:solidFill>
                          <a:latin typeface="DejaVu Sans"/>
                          <a:ea typeface="DejaVu Sans"/>
                          <a:cs typeface="DejaVu Sans"/>
                        </a:rPr>
                        <a:t>Submissions and adoption roadmap</a:t>
                      </a:r>
                    </a:p>
                  </a:txBody>
                  <a:tcPr anchor="ctr">
                    <a:solidFill>
                      <a:srgbClr val="0E2031"/>
                    </a:solidFill>
                  </a:tcPr>
                </a:tc>
                <a:extLst>
                  <a:ext uri="{0D108BD9-81ED-4DB2-BD59-A6C34878D82A}">
                    <a16:rowId xmlns:a16="http://schemas.microsoft.com/office/drawing/2014/main" val="10006"/>
                  </a:ext>
                </a:extLst>
              </a:tr>
            </a:tbl>
          </a:graphicData>
        </a:graphic>
      </p:graphicFrame>
      <p:sp>
        <p:nvSpPr>
          <p:cNvPr id="48" name="Current starting point">
            <a:extLst>
              <a:ext uri="{FF2B5EF4-FFF2-40B4-BE49-F238E27FC236}">
                <a16:creationId xmlns:a16="http://schemas.microsoft.com/office/drawing/2014/main" id="{1321C9A0-D91F-45A7-936F-AF03CA8A91D8}"/>
              </a:ext>
            </a:extLst>
          </p:cNvPr>
          <p:cNvSpPr>
            <a:spLocks noGrp="1"/>
          </p:cNvSpPr>
          <p:nvPr/>
        </p:nvSpPr>
        <p:spPr>
          <a:xfrm>
            <a:off x="685800" y="5905500"/>
            <a:ext cx="10763250" cy="40957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October priority: lock reproduction settings, explain Stage-II gaps and export real EEG complementary traces.</a:t>
            </a:r>
          </a:p>
        </p:txBody>
      </p:sp>
    </p:spTree>
    <p:extLst>
      <p:ext uri="{BB962C8B-B14F-4D97-AF65-F5344CB8AC3E}">
        <p14:creationId xmlns:p14="http://schemas.microsoft.com/office/powerpoint/2010/main" val="9265544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94EAA4EB-FEBD-4901-8CC9-064ECD7B5C84}"/>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NEXT MILESTONE</a:t>
            </a:r>
          </a:p>
        </p:txBody>
      </p:sp>
      <p:sp>
        <p:nvSpPr>
          <p:cNvPr id="2" name="Rectangle 1">
            <a:extLst>
              <a:ext uri="{FF2B5EF4-FFF2-40B4-BE49-F238E27FC236}">
                <a16:creationId xmlns:a16="http://schemas.microsoft.com/office/drawing/2014/main" id="{91DF3786-B3B6-40B4-B840-DDCC9E669D63}"/>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325" b="1">
                <a:solidFill>
                  <a:srgbClr val="EAF2F8"/>
                </a:solidFill>
                <a:latin typeface="DejaVu Sans"/>
                <a:ea typeface="DejaVu Sans"/>
                <a:cs typeface="DejaVu Sans"/>
              </a:defRPr>
            </a:pPr>
            <a:r>
              <a:rPr sz="2325" b="1">
                <a:solidFill>
                  <a:srgbClr val="EAF2F8"/>
                </a:solidFill>
                <a:latin typeface="DejaVu Sans"/>
                <a:ea typeface="DejaVu Sans"/>
                <a:cs typeface="DejaVu Sans"/>
              </a:rPr>
              <a:t>Configuration-locked reproduction and discrepancy analysis</a:t>
            </a:r>
          </a:p>
        </p:txBody>
      </p:sp>
      <p:sp>
        <p:nvSpPr>
          <p:cNvPr id="3" name="Straight Connector 2">
            <a:extLst>
              <a:ext uri="{FF2B5EF4-FFF2-40B4-BE49-F238E27FC236}">
                <a16:creationId xmlns:a16="http://schemas.microsoft.com/office/drawing/2014/main" id="{1B0D9617-62FF-4524-A142-960C9B3CBDAD}"/>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3">
            <a:extLst>
              <a:ext uri="{FF2B5EF4-FFF2-40B4-BE49-F238E27FC236}">
                <a16:creationId xmlns:a16="http://schemas.microsoft.com/office/drawing/2014/main" id="{5C0511BD-9D7E-4AEC-8682-1E59C4CE78DD}"/>
              </a:ext>
            </a:extLst>
          </p:cNvPr>
          <p:cNvSpPr>
            <a:spLocks noGrp="1"/>
          </p:cNvSpPr>
          <p:nvPr/>
        </p:nvSpPr>
        <p:spPr>
          <a:xfrm>
            <a:off x="609600" y="1714500"/>
            <a:ext cx="4953000" cy="342900"/>
          </a:xfrm>
          <a:prstGeom prst="rect">
            <a:avLst/>
          </a:prstGeom>
          <a:noFill/>
          <a:ln w="0">
            <a:noFill/>
          </a:ln>
        </p:spPr>
        <p:txBody>
          <a:bodyPr wrap="square" lIns="0" tIns="0" rIns="0" bIns="0" anchor="t">
            <a:noAutofit/>
          </a:bodyPr>
          <a:lstStyle/>
          <a:p>
            <a:pPr algn="l">
              <a:buNone/>
              <a:defRPr sz="1800" b="1">
                <a:solidFill>
                  <a:srgbClr val="2DD4BF"/>
                </a:solidFill>
                <a:latin typeface="DejaVu Sans"/>
                <a:ea typeface="DejaVu Sans"/>
                <a:cs typeface="DejaVu Sans"/>
              </a:defRPr>
            </a:pPr>
            <a:r>
              <a:rPr sz="1800" b="1">
                <a:solidFill>
                  <a:srgbClr val="2DD4BF"/>
                </a:solidFill>
                <a:latin typeface="DejaVu Sans"/>
                <a:ea typeface="DejaVu Sans"/>
                <a:cs typeface="DejaVu Sans"/>
              </a:rPr>
              <a:t>Next experimental steps</a:t>
            </a:r>
          </a:p>
        </p:txBody>
      </p:sp>
      <p:sp>
        <p:nvSpPr>
          <p:cNvPr id="5" name="Rectangle 4">
            <a:extLst>
              <a:ext uri="{FF2B5EF4-FFF2-40B4-BE49-F238E27FC236}">
                <a16:creationId xmlns:a16="http://schemas.microsoft.com/office/drawing/2014/main" id="{A3A9A73B-CBBB-4D35-8A11-E8BAD2EC47AA}"/>
              </a:ext>
            </a:extLst>
          </p:cNvPr>
          <p:cNvSpPr>
            <a:spLocks noGrp="1"/>
          </p:cNvSpPr>
          <p:nvPr/>
        </p:nvSpPr>
        <p:spPr>
          <a:xfrm>
            <a:off x="609600" y="2247900"/>
            <a:ext cx="4953000" cy="1790700"/>
          </a:xfrm>
          <a:prstGeom prst="rect">
            <a:avLst/>
          </a:prstGeom>
          <a:noFill/>
          <a:ln w="0">
            <a:noFill/>
          </a:ln>
        </p:spPr>
        <p:txBody>
          <a:bodyPr wrap="square" lIns="0" tIns="0" rIns="0" bIns="0" anchor="t">
            <a:noAutofit/>
          </a:bodyPr>
          <a:lstStyle/>
          <a:p>
            <a:pPr algn="l">
              <a:buNone/>
              <a:defRPr sz="1425" b="0">
                <a:solidFill>
                  <a:srgbClr val="EAF2F8"/>
                </a:solidFill>
                <a:latin typeface="DejaVu Sans"/>
                <a:ea typeface="DejaVu Sans"/>
                <a:cs typeface="DejaVu Sans"/>
              </a:defRPr>
            </a:pPr>
            <a:r>
              <a:rPr sz="1425" b="0">
                <a:solidFill>
                  <a:srgbClr val="EAF2F8"/>
                </a:solidFill>
                <a:latin typeface="DejaVu Sans"/>
                <a:ea typeface="DejaVu Sans"/>
                <a:cs typeface="DejaVu Sans"/>
              </a:rPr>
              <a:t>Lock splits, PCA, λ and variance settings</a:t>
            </a:r>
          </a:p>
          <a:p>
            <a:pPr algn="l">
              <a:buNone/>
              <a:defRPr sz="1425" b="0">
                <a:solidFill>
                  <a:srgbClr val="EAF2F8"/>
                </a:solidFill>
                <a:latin typeface="DejaVu Sans"/>
                <a:ea typeface="DejaVu Sans"/>
                <a:cs typeface="DejaVu Sans"/>
              </a:defRPr>
            </a:pPr>
            <a:r>
              <a:rPr sz="1425" b="0">
                <a:solidFill>
                  <a:srgbClr val="EAF2F8"/>
                </a:solidFill>
                <a:latin typeface="DejaVu Sans"/>
                <a:ea typeface="DejaVu Sans"/>
                <a:cs typeface="DejaVu Sans"/>
              </a:rPr>
              <a:t>Explain rejected Stage-II warnings</a:t>
            </a:r>
          </a:p>
          <a:p>
            <a:pPr algn="l">
              <a:buNone/>
              <a:defRPr sz="1425" b="0">
                <a:solidFill>
                  <a:srgbClr val="EAF2F8"/>
                </a:solidFill>
                <a:latin typeface="DejaVu Sans"/>
                <a:ea typeface="DejaVu Sans"/>
                <a:cs typeface="DejaVu Sans"/>
              </a:defRPr>
            </a:pPr>
            <a:r>
              <a:rPr sz="1425" b="0">
                <a:solidFill>
                  <a:srgbClr val="EAF2F8"/>
                </a:solidFill>
                <a:latin typeface="DejaVu Sans"/>
                <a:ea typeface="DejaVu Sans"/>
                <a:cs typeface="DejaVu Sans"/>
              </a:rPr>
              <a:t>Audit window-level false alarms and delay</a:t>
            </a:r>
          </a:p>
          <a:p>
            <a:pPr algn="l">
              <a:buNone/>
              <a:defRPr sz="1425" b="0">
                <a:solidFill>
                  <a:srgbClr val="EAF2F8"/>
                </a:solidFill>
                <a:latin typeface="DejaVu Sans"/>
                <a:ea typeface="DejaVu Sans"/>
                <a:cs typeface="DejaVu Sans"/>
              </a:defRPr>
            </a:pPr>
            <a:r>
              <a:rPr sz="1425" b="0">
                <a:solidFill>
                  <a:srgbClr val="EAF2F8"/>
                </a:solidFill>
                <a:latin typeface="DejaVu Sans"/>
                <a:ea typeface="DejaVu Sans"/>
                <a:cs typeface="DejaVu Sans"/>
              </a:rPr>
              <a:t>Export complementary traces for 2A/2B</a:t>
            </a:r>
          </a:p>
          <a:p>
            <a:pPr algn="l">
              <a:buNone/>
              <a:defRPr sz="1425" b="0">
                <a:solidFill>
                  <a:srgbClr val="EAF2F8"/>
                </a:solidFill>
                <a:latin typeface="DejaVu Sans"/>
                <a:ea typeface="DejaVu Sans"/>
                <a:cs typeface="DejaVu Sans"/>
              </a:defRPr>
            </a:pPr>
            <a:r>
              <a:rPr sz="1425" b="0">
                <a:solidFill>
                  <a:srgbClr val="EAF2F8"/>
                </a:solidFill>
                <a:latin typeface="DejaVu Sans"/>
                <a:ea typeface="DejaVu Sans"/>
                <a:cs typeface="DejaVu Sans"/>
              </a:rPr>
              <a:t>Refresh tests and link outputs to code</a:t>
            </a:r>
          </a:p>
        </p:txBody>
      </p:sp>
      <p:sp>
        <p:nvSpPr>
          <p:cNvPr id="6" name="Rectangle 5">
            <a:extLst>
              <a:ext uri="{FF2B5EF4-FFF2-40B4-BE49-F238E27FC236}">
                <a16:creationId xmlns:a16="http://schemas.microsoft.com/office/drawing/2014/main" id="{2962312C-EF52-41A1-8BA5-12CA8185F3DE}"/>
              </a:ext>
            </a:extLst>
          </p:cNvPr>
          <p:cNvSpPr>
            <a:spLocks noGrp="1"/>
          </p:cNvSpPr>
          <p:nvPr/>
        </p:nvSpPr>
        <p:spPr>
          <a:xfrm>
            <a:off x="6572250" y="1714500"/>
            <a:ext cx="4095750" cy="342900"/>
          </a:xfrm>
          <a:prstGeom prst="rect">
            <a:avLst/>
          </a:prstGeom>
          <a:noFill/>
          <a:ln w="0">
            <a:noFill/>
          </a:ln>
        </p:spPr>
        <p:txBody>
          <a:bodyPr wrap="square" lIns="0" tIns="0" rIns="0" bIns="0" anchor="t">
            <a:normAutofit/>
          </a:bodyPr>
          <a:lstStyle/>
          <a:p>
            <a:pPr algn="l">
              <a:buNone/>
              <a:defRPr sz="1800" b="1">
                <a:solidFill>
                  <a:srgbClr val="F5B942"/>
                </a:solidFill>
                <a:latin typeface="DejaVu Sans"/>
                <a:ea typeface="DejaVu Sans"/>
                <a:cs typeface="DejaVu Sans"/>
              </a:defRPr>
            </a:pPr>
            <a:r>
              <a:rPr sz="1800" b="1">
                <a:solidFill>
                  <a:srgbClr val="F5B942"/>
                </a:solidFill>
                <a:latin typeface="DejaVu Sans"/>
                <a:ea typeface="DejaVu Sans"/>
                <a:cs typeface="DejaVu Sans"/>
              </a:rPr>
              <a:t>Next manuscript result</a:t>
            </a:r>
          </a:p>
        </p:txBody>
      </p:sp>
      <p:sp>
        <p:nvSpPr>
          <p:cNvPr id="7" name="Rectangle 6">
            <a:extLst>
              <a:ext uri="{FF2B5EF4-FFF2-40B4-BE49-F238E27FC236}">
                <a16:creationId xmlns:a16="http://schemas.microsoft.com/office/drawing/2014/main" id="{0FB67F24-51CF-4578-91D9-84921A93DE3F}"/>
              </a:ext>
            </a:extLst>
          </p:cNvPr>
          <p:cNvSpPr>
            <a:spLocks noGrp="1"/>
          </p:cNvSpPr>
          <p:nvPr/>
        </p:nvSpPr>
        <p:spPr>
          <a:xfrm>
            <a:off x="6572250" y="2247900"/>
            <a:ext cx="4667250" cy="628650"/>
          </a:xfrm>
          <a:prstGeom prst="rect">
            <a:avLst/>
          </a:prstGeom>
          <a:noFill/>
          <a:ln w="0">
            <a:noFill/>
          </a:ln>
        </p:spPr>
        <p:txBody>
          <a:bodyPr wrap="square" lIns="0" tIns="0" rIns="0" bIns="0" anchor="t">
            <a:noAutofit/>
          </a:bodyPr>
          <a:lstStyle/>
          <a:p>
            <a:pPr algn="l">
              <a:buNone/>
              <a:defRPr sz="1575" b="1">
                <a:solidFill>
                  <a:srgbClr val="EAF2F8"/>
                </a:solidFill>
                <a:latin typeface="DejaVu Sans"/>
                <a:ea typeface="DejaVu Sans"/>
                <a:cs typeface="DejaVu Sans"/>
              </a:defRPr>
            </a:pPr>
            <a:r>
              <a:rPr sz="1575" b="1">
                <a:solidFill>
                  <a:srgbClr val="EAF2F8"/>
                </a:solidFill>
                <a:latin typeface="DejaVu Sans"/>
                <a:ea typeface="DejaVu Sans"/>
                <a:cs typeface="DejaVu Sans"/>
              </a:rPr>
              <a:t>Reproduction-gap analysis with</a:t>
            </a:r>
          </a:p>
          <a:p>
            <a:pPr algn="l">
              <a:buNone/>
              <a:defRPr sz="1575" b="1">
                <a:solidFill>
                  <a:srgbClr val="EAF2F8"/>
                </a:solidFill>
                <a:latin typeface="DejaVu Sans"/>
                <a:ea typeface="DejaVu Sans"/>
                <a:cs typeface="DejaVu Sans"/>
              </a:defRPr>
            </a:pPr>
            <a:r>
              <a:rPr sz="1575" b="1">
                <a:solidFill>
                  <a:srgbClr val="EAF2F8"/>
                </a:solidFill>
                <a:latin typeface="DejaVu Sans"/>
                <a:ea typeface="DejaVu Sans"/>
                <a:cs typeface="DejaVu Sans"/>
              </a:rPr>
              <a:t>complementary-monitoring evidence</a:t>
            </a:r>
          </a:p>
        </p:txBody>
      </p:sp>
      <p:sp>
        <p:nvSpPr>
          <p:cNvPr id="8" name="Rectangle: Rounded Corners 7">
            <a:extLst>
              <a:ext uri="{FF2B5EF4-FFF2-40B4-BE49-F238E27FC236}">
                <a16:creationId xmlns:a16="http://schemas.microsoft.com/office/drawing/2014/main" id="{155B8B96-1541-469B-A908-010D60F4DD2D}"/>
              </a:ext>
            </a:extLst>
          </p:cNvPr>
          <p:cNvSpPr>
            <a:spLocks noGrp="1"/>
          </p:cNvSpPr>
          <p:nvPr/>
        </p:nvSpPr>
        <p:spPr>
          <a:xfrm>
            <a:off x="5905500" y="3143250"/>
            <a:ext cx="1047750" cy="704850"/>
          </a:xfrm>
          <a:prstGeom prst="roundRect">
            <a:avLst>
              <a:gd name="adj" fmla="val 13514"/>
            </a:avLst>
          </a:prstGeom>
          <a:solidFill>
            <a:srgbClr val="0F1C2B"/>
          </a:solidFill>
          <a:ln w="9525">
            <a:solidFill>
              <a:srgbClr val="294057"/>
            </a:solidFill>
            <a:prstDash val="solid"/>
          </a:ln>
        </p:spPr>
        <p:txBody>
          <a:bodyPr/>
          <a:lstStyle/>
          <a:p>
            <a:endParaRPr/>
          </a:p>
        </p:txBody>
      </p:sp>
      <p:sp>
        <p:nvSpPr>
          <p:cNvPr id="9" name="Rectangle 8">
            <a:extLst>
              <a:ext uri="{FF2B5EF4-FFF2-40B4-BE49-F238E27FC236}">
                <a16:creationId xmlns:a16="http://schemas.microsoft.com/office/drawing/2014/main" id="{76A030A6-634D-4314-A7B1-52A5F3243F70}"/>
              </a:ext>
            </a:extLst>
          </p:cNvPr>
          <p:cNvSpPr>
            <a:spLocks noGrp="1"/>
          </p:cNvSpPr>
          <p:nvPr/>
        </p:nvSpPr>
        <p:spPr>
          <a:xfrm>
            <a:off x="5972175" y="3295650"/>
            <a:ext cx="914400" cy="361950"/>
          </a:xfrm>
          <a:prstGeom prst="rect">
            <a:avLst/>
          </a:prstGeom>
          <a:noFill/>
          <a:ln w="0">
            <a:noFill/>
          </a:ln>
        </p:spPr>
        <p:txBody>
          <a:bodyPr wrap="square" lIns="0" tIns="0" rIns="0" bIns="0" anchor="ctr">
            <a:normAutofit/>
          </a:bodyPr>
          <a:lstStyle/>
          <a:p>
            <a:pPr algn="ctr">
              <a:buNone/>
              <a:defRPr sz="975" b="1">
                <a:solidFill>
                  <a:srgbClr val="EAF2F8"/>
                </a:solidFill>
                <a:latin typeface="DejaVu Sans"/>
                <a:ea typeface="DejaVu Sans"/>
                <a:cs typeface="DejaVu Sans"/>
              </a:defRPr>
            </a:pPr>
            <a:r>
              <a:rPr sz="975" b="1">
                <a:solidFill>
                  <a:srgbClr val="EAF2F8"/>
                </a:solidFill>
                <a:latin typeface="DejaVu Sans"/>
                <a:ea typeface="DejaVu Sans"/>
                <a:cs typeface="DejaVu Sans"/>
              </a:rPr>
              <a:t>Paper section</a:t>
            </a:r>
          </a:p>
        </p:txBody>
      </p:sp>
      <p:sp>
        <p:nvSpPr>
          <p:cNvPr id="10" name="Rectangle: Rounded Corners 9">
            <a:extLst>
              <a:ext uri="{FF2B5EF4-FFF2-40B4-BE49-F238E27FC236}">
                <a16:creationId xmlns:a16="http://schemas.microsoft.com/office/drawing/2014/main" id="{93EDC707-26E7-4D31-B629-54941EDE6F75}"/>
              </a:ext>
            </a:extLst>
          </p:cNvPr>
          <p:cNvSpPr>
            <a:spLocks noGrp="1"/>
          </p:cNvSpPr>
          <p:nvPr/>
        </p:nvSpPr>
        <p:spPr>
          <a:xfrm>
            <a:off x="7010400" y="3143250"/>
            <a:ext cx="1047750" cy="704850"/>
          </a:xfrm>
          <a:prstGeom prst="roundRect">
            <a:avLst>
              <a:gd name="adj" fmla="val 13514"/>
            </a:avLst>
          </a:prstGeom>
          <a:solidFill>
            <a:srgbClr val="0F1C2B"/>
          </a:solidFill>
          <a:ln w="9525">
            <a:solidFill>
              <a:srgbClr val="294057"/>
            </a:solidFill>
            <a:prstDash val="solid"/>
          </a:ln>
        </p:spPr>
        <p:txBody>
          <a:bodyPr/>
          <a:lstStyle/>
          <a:p>
            <a:endParaRPr/>
          </a:p>
        </p:txBody>
      </p:sp>
      <p:sp>
        <p:nvSpPr>
          <p:cNvPr id="11" name="Rectangle 10">
            <a:extLst>
              <a:ext uri="{FF2B5EF4-FFF2-40B4-BE49-F238E27FC236}">
                <a16:creationId xmlns:a16="http://schemas.microsoft.com/office/drawing/2014/main" id="{CBC61DDE-AB5D-4C86-A323-A6BFA4A9033E}"/>
              </a:ext>
            </a:extLst>
          </p:cNvPr>
          <p:cNvSpPr>
            <a:spLocks noGrp="1"/>
          </p:cNvSpPr>
          <p:nvPr/>
        </p:nvSpPr>
        <p:spPr>
          <a:xfrm>
            <a:off x="7077075" y="3295650"/>
            <a:ext cx="914400" cy="361950"/>
          </a:xfrm>
          <a:prstGeom prst="rect">
            <a:avLst/>
          </a:prstGeom>
          <a:noFill/>
          <a:ln w="0">
            <a:noFill/>
          </a:ln>
        </p:spPr>
        <p:txBody>
          <a:bodyPr wrap="square" lIns="0" tIns="0" rIns="0" bIns="0" anchor="ctr">
            <a:normAutofit/>
          </a:bodyPr>
          <a:lstStyle/>
          <a:p>
            <a:pPr algn="ctr">
              <a:buNone/>
              <a:defRPr sz="975" b="1">
                <a:solidFill>
                  <a:srgbClr val="EAF2F8"/>
                </a:solidFill>
                <a:latin typeface="DejaVu Sans"/>
                <a:ea typeface="DejaVu Sans"/>
                <a:cs typeface="DejaVu Sans"/>
              </a:defRPr>
            </a:pPr>
            <a:r>
              <a:rPr sz="975" b="1">
                <a:solidFill>
                  <a:srgbClr val="EAF2F8"/>
                </a:solidFill>
                <a:latin typeface="DejaVu Sans"/>
                <a:ea typeface="DejaVu Sans"/>
                <a:cs typeface="DejaVu Sans"/>
              </a:rPr>
              <a:t>Method</a:t>
            </a:r>
          </a:p>
        </p:txBody>
      </p:sp>
      <p:sp>
        <p:nvSpPr>
          <p:cNvPr id="12" name="Rectangle: Rounded Corners 11">
            <a:extLst>
              <a:ext uri="{FF2B5EF4-FFF2-40B4-BE49-F238E27FC236}">
                <a16:creationId xmlns:a16="http://schemas.microsoft.com/office/drawing/2014/main" id="{73005D66-8086-4BB1-A37D-EE4F0C8D009F}"/>
              </a:ext>
            </a:extLst>
          </p:cNvPr>
          <p:cNvSpPr>
            <a:spLocks noGrp="1"/>
          </p:cNvSpPr>
          <p:nvPr/>
        </p:nvSpPr>
        <p:spPr>
          <a:xfrm>
            <a:off x="8115300" y="3143250"/>
            <a:ext cx="1047750" cy="704850"/>
          </a:xfrm>
          <a:prstGeom prst="roundRect">
            <a:avLst>
              <a:gd name="adj" fmla="val 13514"/>
            </a:avLst>
          </a:prstGeom>
          <a:solidFill>
            <a:srgbClr val="0F1C2B"/>
          </a:solidFill>
          <a:ln w="9525">
            <a:solidFill>
              <a:srgbClr val="294057"/>
            </a:solidFill>
            <a:prstDash val="solid"/>
          </a:ln>
        </p:spPr>
        <p:txBody>
          <a:bodyPr/>
          <a:lstStyle/>
          <a:p>
            <a:endParaRPr/>
          </a:p>
        </p:txBody>
      </p:sp>
      <p:sp>
        <p:nvSpPr>
          <p:cNvPr id="13" name="Rectangle 12">
            <a:extLst>
              <a:ext uri="{FF2B5EF4-FFF2-40B4-BE49-F238E27FC236}">
                <a16:creationId xmlns:a16="http://schemas.microsoft.com/office/drawing/2014/main" id="{34518549-575C-4556-97A3-C688B1ED4633}"/>
              </a:ext>
            </a:extLst>
          </p:cNvPr>
          <p:cNvSpPr>
            <a:spLocks noGrp="1"/>
          </p:cNvSpPr>
          <p:nvPr/>
        </p:nvSpPr>
        <p:spPr>
          <a:xfrm>
            <a:off x="8181975" y="3295650"/>
            <a:ext cx="914400" cy="361950"/>
          </a:xfrm>
          <a:prstGeom prst="rect">
            <a:avLst/>
          </a:prstGeom>
          <a:noFill/>
          <a:ln w="0">
            <a:noFill/>
          </a:ln>
        </p:spPr>
        <p:txBody>
          <a:bodyPr wrap="square" lIns="0" tIns="0" rIns="0" bIns="0" anchor="ctr">
            <a:normAutofit/>
          </a:bodyPr>
          <a:lstStyle/>
          <a:p>
            <a:pPr algn="ctr">
              <a:buNone/>
              <a:defRPr sz="975" b="1">
                <a:solidFill>
                  <a:srgbClr val="EAF2F8"/>
                </a:solidFill>
                <a:latin typeface="DejaVu Sans"/>
                <a:ea typeface="DejaVu Sans"/>
                <a:cs typeface="DejaVu Sans"/>
              </a:defRPr>
            </a:pPr>
            <a:r>
              <a:rPr sz="975" b="1">
                <a:solidFill>
                  <a:srgbClr val="EAF2F8"/>
                </a:solidFill>
                <a:latin typeface="DejaVu Sans"/>
                <a:ea typeface="DejaVu Sans"/>
                <a:cs typeface="DejaVu Sans"/>
              </a:rPr>
              <a:t>Code</a:t>
            </a:r>
          </a:p>
        </p:txBody>
      </p:sp>
      <p:sp>
        <p:nvSpPr>
          <p:cNvPr id="14" name="Rectangle: Rounded Corners 13">
            <a:extLst>
              <a:ext uri="{FF2B5EF4-FFF2-40B4-BE49-F238E27FC236}">
                <a16:creationId xmlns:a16="http://schemas.microsoft.com/office/drawing/2014/main" id="{80CC7966-A606-48D0-925F-B58F1AC75835}"/>
              </a:ext>
            </a:extLst>
          </p:cNvPr>
          <p:cNvSpPr>
            <a:spLocks noGrp="1"/>
          </p:cNvSpPr>
          <p:nvPr/>
        </p:nvSpPr>
        <p:spPr>
          <a:xfrm>
            <a:off x="9220200" y="3143250"/>
            <a:ext cx="1047750" cy="704850"/>
          </a:xfrm>
          <a:prstGeom prst="roundRect">
            <a:avLst>
              <a:gd name="adj" fmla="val 13514"/>
            </a:avLst>
          </a:prstGeom>
          <a:solidFill>
            <a:srgbClr val="0F1C2B"/>
          </a:solidFill>
          <a:ln w="9525">
            <a:solidFill>
              <a:srgbClr val="294057"/>
            </a:solidFill>
            <a:prstDash val="solid"/>
          </a:ln>
        </p:spPr>
        <p:txBody>
          <a:bodyPr/>
          <a:lstStyle/>
          <a:p>
            <a:endParaRPr/>
          </a:p>
        </p:txBody>
      </p:sp>
      <p:sp>
        <p:nvSpPr>
          <p:cNvPr id="15" name="Rectangle 14">
            <a:extLst>
              <a:ext uri="{FF2B5EF4-FFF2-40B4-BE49-F238E27FC236}">
                <a16:creationId xmlns:a16="http://schemas.microsoft.com/office/drawing/2014/main" id="{D2D45FCF-68C4-49AD-839F-7B684DD6C0D3}"/>
              </a:ext>
            </a:extLst>
          </p:cNvPr>
          <p:cNvSpPr>
            <a:spLocks noGrp="1"/>
          </p:cNvSpPr>
          <p:nvPr/>
        </p:nvSpPr>
        <p:spPr>
          <a:xfrm>
            <a:off x="9286875" y="3295650"/>
            <a:ext cx="914400" cy="361950"/>
          </a:xfrm>
          <a:prstGeom prst="rect">
            <a:avLst/>
          </a:prstGeom>
          <a:noFill/>
          <a:ln w="0">
            <a:noFill/>
          </a:ln>
        </p:spPr>
        <p:txBody>
          <a:bodyPr wrap="square" lIns="0" tIns="0" rIns="0" bIns="0" anchor="ctr">
            <a:normAutofit/>
          </a:bodyPr>
          <a:lstStyle/>
          <a:p>
            <a:pPr algn="ctr">
              <a:buNone/>
              <a:defRPr sz="975" b="1">
                <a:solidFill>
                  <a:srgbClr val="EAF2F8"/>
                </a:solidFill>
                <a:latin typeface="DejaVu Sans"/>
                <a:ea typeface="DejaVu Sans"/>
                <a:cs typeface="DejaVu Sans"/>
              </a:defRPr>
            </a:pPr>
            <a:r>
              <a:rPr sz="975" b="1">
                <a:solidFill>
                  <a:srgbClr val="EAF2F8"/>
                </a:solidFill>
                <a:latin typeface="DejaVu Sans"/>
                <a:ea typeface="DejaVu Sans"/>
                <a:cs typeface="DejaVu Sans"/>
              </a:rPr>
              <a:t>Experiment</a:t>
            </a:r>
          </a:p>
        </p:txBody>
      </p:sp>
      <p:sp>
        <p:nvSpPr>
          <p:cNvPr id="16" name="Rectangle: Rounded Corners 15">
            <a:extLst>
              <a:ext uri="{FF2B5EF4-FFF2-40B4-BE49-F238E27FC236}">
                <a16:creationId xmlns:a16="http://schemas.microsoft.com/office/drawing/2014/main" id="{F8548B37-C182-4593-AC06-C504519B5FF7}"/>
              </a:ext>
            </a:extLst>
          </p:cNvPr>
          <p:cNvSpPr>
            <a:spLocks noGrp="1"/>
          </p:cNvSpPr>
          <p:nvPr/>
        </p:nvSpPr>
        <p:spPr>
          <a:xfrm>
            <a:off x="10325100" y="3143250"/>
            <a:ext cx="1047750" cy="704850"/>
          </a:xfrm>
          <a:prstGeom prst="roundRect">
            <a:avLst>
              <a:gd name="adj" fmla="val 13514"/>
            </a:avLst>
          </a:prstGeom>
          <a:solidFill>
            <a:srgbClr val="0F1C2B"/>
          </a:solidFill>
          <a:ln w="9525">
            <a:solidFill>
              <a:srgbClr val="64D98B"/>
            </a:solidFill>
            <a:prstDash val="solid"/>
          </a:ln>
        </p:spPr>
        <p:txBody>
          <a:bodyPr/>
          <a:lstStyle/>
          <a:p>
            <a:endParaRPr/>
          </a:p>
        </p:txBody>
      </p:sp>
      <p:sp>
        <p:nvSpPr>
          <p:cNvPr id="17" name="Rectangle 16">
            <a:extLst>
              <a:ext uri="{FF2B5EF4-FFF2-40B4-BE49-F238E27FC236}">
                <a16:creationId xmlns:a16="http://schemas.microsoft.com/office/drawing/2014/main" id="{031466FF-846B-4992-ADB0-FCDFC6F5E081}"/>
              </a:ext>
            </a:extLst>
          </p:cNvPr>
          <p:cNvSpPr>
            <a:spLocks noGrp="1"/>
          </p:cNvSpPr>
          <p:nvPr/>
        </p:nvSpPr>
        <p:spPr>
          <a:xfrm>
            <a:off x="10391775" y="3295650"/>
            <a:ext cx="914400" cy="361950"/>
          </a:xfrm>
          <a:prstGeom prst="rect">
            <a:avLst/>
          </a:prstGeom>
          <a:noFill/>
          <a:ln w="0">
            <a:noFill/>
          </a:ln>
        </p:spPr>
        <p:txBody>
          <a:bodyPr wrap="square" lIns="0" tIns="0" rIns="0" bIns="0" anchor="ctr">
            <a:normAutofit/>
          </a:bodyPr>
          <a:lstStyle/>
          <a:p>
            <a:pPr algn="ctr">
              <a:buNone/>
              <a:defRPr sz="975" b="1">
                <a:solidFill>
                  <a:srgbClr val="64D98B"/>
                </a:solidFill>
                <a:latin typeface="DejaVu Sans"/>
                <a:ea typeface="DejaVu Sans"/>
                <a:cs typeface="DejaVu Sans"/>
              </a:defRPr>
            </a:pPr>
            <a:r>
              <a:rPr sz="975" b="1">
                <a:solidFill>
                  <a:srgbClr val="64D98B"/>
                </a:solidFill>
                <a:latin typeface="DejaVu Sans"/>
                <a:ea typeface="DejaVu Sans"/>
                <a:cs typeface="DejaVu Sans"/>
              </a:rPr>
              <a:t>Result</a:t>
            </a:r>
          </a:p>
        </p:txBody>
      </p:sp>
      <p:cxnSp>
        <p:nvCxnSpPr>
          <p:cNvPr id="86" name="Straight Arrow Connector 64"/>
          <p:cNvCxnSpPr>
            <a:stCxn id="8" idx="3"/>
            <a:endCxn id="10" idx="1"/>
          </p:cNvCxnSpPr>
          <p:nvPr/>
        </p:nvCxnSpPr>
        <p:spPr>
          <a:xfrm>
            <a:off x="6953250" y="3495675"/>
            <a:ext cx="57150" cy="0"/>
          </a:xfrm>
          <a:prstGeom prst="straightConnector1">
            <a:avLst/>
          </a:prstGeom>
          <a:ln w="19050">
            <a:solidFill>
              <a:srgbClr val="9CB0C3"/>
            </a:solidFill>
            <a:prstDash val="solid"/>
            <a:tailEnd type="triangle" w="sm" len="sm"/>
          </a:ln>
        </p:spPr>
      </p:cxnSp>
      <p:cxnSp>
        <p:nvCxnSpPr>
          <p:cNvPr id="87" name="Straight Arrow Connector 65"/>
          <p:cNvCxnSpPr>
            <a:stCxn id="10" idx="3"/>
            <a:endCxn id="12" idx="1"/>
          </p:cNvCxnSpPr>
          <p:nvPr/>
        </p:nvCxnSpPr>
        <p:spPr>
          <a:xfrm>
            <a:off x="8058150" y="3495675"/>
            <a:ext cx="57150" cy="0"/>
          </a:xfrm>
          <a:prstGeom prst="straightConnector1">
            <a:avLst/>
          </a:prstGeom>
          <a:ln w="19050">
            <a:solidFill>
              <a:srgbClr val="9CB0C3"/>
            </a:solidFill>
            <a:prstDash val="solid"/>
            <a:tailEnd type="triangle" w="sm" len="sm"/>
          </a:ln>
        </p:spPr>
      </p:cxnSp>
      <p:cxnSp>
        <p:nvCxnSpPr>
          <p:cNvPr id="88" name="Straight Arrow Connector 66"/>
          <p:cNvCxnSpPr>
            <a:stCxn id="12" idx="3"/>
            <a:endCxn id="14" idx="1"/>
          </p:cNvCxnSpPr>
          <p:nvPr/>
        </p:nvCxnSpPr>
        <p:spPr>
          <a:xfrm>
            <a:off x="9163050" y="3495675"/>
            <a:ext cx="57150" cy="0"/>
          </a:xfrm>
          <a:prstGeom prst="straightConnector1">
            <a:avLst/>
          </a:prstGeom>
          <a:ln w="19050">
            <a:solidFill>
              <a:srgbClr val="9CB0C3"/>
            </a:solidFill>
            <a:prstDash val="solid"/>
            <a:tailEnd type="triangle" w="sm" len="sm"/>
          </a:ln>
        </p:spPr>
      </p:cxnSp>
      <p:cxnSp>
        <p:nvCxnSpPr>
          <p:cNvPr id="89" name="Straight Arrow Connector 67"/>
          <p:cNvCxnSpPr>
            <a:stCxn id="14" idx="3"/>
            <a:endCxn id="16" idx="1"/>
          </p:cNvCxnSpPr>
          <p:nvPr/>
        </p:nvCxnSpPr>
        <p:spPr>
          <a:xfrm>
            <a:off x="10267950" y="3495675"/>
            <a:ext cx="57150" cy="0"/>
          </a:xfrm>
          <a:prstGeom prst="straightConnector1">
            <a:avLst/>
          </a:prstGeom>
          <a:ln w="19050">
            <a:solidFill>
              <a:srgbClr val="9CB0C3"/>
            </a:solidFill>
            <a:prstDash val="solid"/>
            <a:tailEnd type="triangle" w="sm" len="sm"/>
          </a:ln>
        </p:spPr>
      </p:cxnSp>
      <p:sp>
        <p:nvSpPr>
          <p:cNvPr id="22" name="Rectangle: Rounded Corners 21">
            <a:extLst>
              <a:ext uri="{FF2B5EF4-FFF2-40B4-BE49-F238E27FC236}">
                <a16:creationId xmlns:a16="http://schemas.microsoft.com/office/drawing/2014/main" id="{7E703C61-2B59-47C1-8645-665214A1877A}"/>
              </a:ext>
            </a:extLst>
          </p:cNvPr>
          <p:cNvSpPr>
            <a:spLocks noGrp="1"/>
          </p:cNvSpPr>
          <p:nvPr/>
        </p:nvSpPr>
        <p:spPr>
          <a:xfrm>
            <a:off x="609600" y="4762500"/>
            <a:ext cx="10572750" cy="742950"/>
          </a:xfrm>
          <a:prstGeom prst="roundRect">
            <a:avLst>
              <a:gd name="adj" fmla="val 15385"/>
            </a:avLst>
          </a:prstGeom>
          <a:solidFill>
            <a:srgbClr val="0F1C2B"/>
          </a:solidFill>
          <a:ln w="9525">
            <a:solidFill>
              <a:srgbClr val="294057"/>
            </a:solidFill>
            <a:prstDash val="solid"/>
          </a:ln>
        </p:spPr>
        <p:txBody>
          <a:bodyPr/>
          <a:lstStyle/>
          <a:p>
            <a:endParaRPr/>
          </a:p>
        </p:txBody>
      </p:sp>
      <p:sp>
        <p:nvSpPr>
          <p:cNvPr id="23" name="Rectangle 22">
            <a:extLst>
              <a:ext uri="{FF2B5EF4-FFF2-40B4-BE49-F238E27FC236}">
                <a16:creationId xmlns:a16="http://schemas.microsoft.com/office/drawing/2014/main" id="{4750DB69-2FBD-4FF2-826C-8509971FED4E}"/>
              </a:ext>
            </a:extLst>
          </p:cNvPr>
          <p:cNvSpPr>
            <a:spLocks noGrp="1"/>
          </p:cNvSpPr>
          <p:nvPr/>
        </p:nvSpPr>
        <p:spPr>
          <a:xfrm>
            <a:off x="819150" y="4953000"/>
            <a:ext cx="1809750" cy="228600"/>
          </a:xfrm>
          <a:prstGeom prst="rect">
            <a:avLst/>
          </a:prstGeom>
          <a:noFill/>
          <a:ln w="0">
            <a:noFill/>
          </a:ln>
        </p:spPr>
        <p:txBody>
          <a:bodyPr wrap="square" lIns="0" tIns="0" rIns="0" bIns="0" anchor="t">
            <a:normAutofit/>
          </a:bodyPr>
          <a:lstStyle/>
          <a:p>
            <a:pPr algn="l">
              <a:buNone/>
              <a:defRPr sz="1050" b="1">
                <a:solidFill>
                  <a:srgbClr val="F5B942"/>
                </a:solidFill>
                <a:latin typeface="DejaVu Sans"/>
                <a:ea typeface="DejaVu Sans"/>
                <a:cs typeface="DejaVu Sans"/>
              </a:defRPr>
            </a:pPr>
            <a:r>
              <a:rPr sz="1050" b="1">
                <a:solidFill>
                  <a:srgbClr val="F5B942"/>
                </a:solidFill>
                <a:latin typeface="DejaVu Sans"/>
                <a:ea typeface="DejaVu Sans"/>
                <a:cs typeface="DejaVu Sans"/>
              </a:rPr>
              <a:t>Immediate action</a:t>
            </a:r>
          </a:p>
        </p:txBody>
      </p:sp>
      <p:sp>
        <p:nvSpPr>
          <p:cNvPr id="24" name="Rectangle 23">
            <a:extLst>
              <a:ext uri="{FF2B5EF4-FFF2-40B4-BE49-F238E27FC236}">
                <a16:creationId xmlns:a16="http://schemas.microsoft.com/office/drawing/2014/main" id="{80D53AEE-FC43-4DB9-B2B1-4C9DA461F787}"/>
              </a:ext>
            </a:extLst>
          </p:cNvPr>
          <p:cNvSpPr>
            <a:spLocks noGrp="1"/>
          </p:cNvSpPr>
          <p:nvPr/>
        </p:nvSpPr>
        <p:spPr>
          <a:xfrm>
            <a:off x="2667000" y="4838700"/>
            <a:ext cx="8239125" cy="619125"/>
          </a:xfrm>
          <a:prstGeom prst="rect">
            <a:avLst/>
          </a:prstGeom>
          <a:noFill/>
          <a:ln w="0">
            <a:noFill/>
          </a:ln>
        </p:spPr>
        <p:txBody>
          <a:bodyPr wrap="square" lIns="0" tIns="0" rIns="0" bIns="0" anchor="t">
            <a:noAutofit/>
          </a:bodyPr>
          <a:lstStyle/>
          <a:p>
            <a:pPr algn="l">
              <a:buNone/>
              <a:defRPr sz="1313" b="1">
                <a:solidFill>
                  <a:srgbClr val="EAF2F8"/>
                </a:solidFill>
                <a:latin typeface="DejaVu Sans"/>
                <a:ea typeface="DejaVu Sans"/>
                <a:cs typeface="DejaVu Sans"/>
              </a:defRPr>
            </a:pPr>
            <a:r>
              <a:rPr sz="1313" b="1">
                <a:solidFill>
                  <a:srgbClr val="EAF2F8"/>
                </a:solidFill>
                <a:latin typeface="DejaVu Sans"/>
                <a:ea typeface="DejaVu Sans"/>
                <a:cs typeface="DejaVu Sans"/>
              </a:rPr>
              <a:t>Trace each claim to a stored result, configuration and code version.</a:t>
            </a:r>
          </a:p>
          <a:p>
            <a:pPr algn="l">
              <a:buNone/>
              <a:defRPr sz="1313" b="1">
                <a:solidFill>
                  <a:srgbClr val="EAF2F8"/>
                </a:solidFill>
                <a:latin typeface="DejaVu Sans"/>
                <a:ea typeface="DejaVu Sans"/>
                <a:cs typeface="DejaVu Sans"/>
              </a:defRPr>
            </a:pPr>
            <a:r>
              <a:rPr sz="1313" b="1">
                <a:solidFill>
                  <a:srgbClr val="EAF2F8"/>
                </a:solidFill>
                <a:latin typeface="DejaVu Sans"/>
                <a:ea typeface="DejaVu Sans"/>
                <a:cs typeface="DejaVu Sans"/>
              </a:rPr>
              <a:t>Use synthetic shift labels for detection metrics and EEG traces for descriptive analysis.</a:t>
            </a:r>
          </a:p>
        </p:txBody>
      </p:sp>
      <p:sp>
        <p:nvSpPr>
          <p:cNvPr id="25" name="Rectangle 24">
            <a:extLst>
              <a:ext uri="{FF2B5EF4-FFF2-40B4-BE49-F238E27FC236}">
                <a16:creationId xmlns:a16="http://schemas.microsoft.com/office/drawing/2014/main" id="{39458723-FBFB-4B4E-87B4-4C298F154E19}"/>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6" name="Rectangle 25">
            <a:extLst>
              <a:ext uri="{FF2B5EF4-FFF2-40B4-BE49-F238E27FC236}">
                <a16:creationId xmlns:a16="http://schemas.microsoft.com/office/drawing/2014/main" id="{B5A4D4A7-FEA9-4B08-9513-6705B8A8BF93}"/>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r>
              <a:t>11</a:t>
            </a:r>
          </a:p>
        </p:txBody>
      </p:sp>
    </p:spTree>
    <p:extLst>
      <p:ext uri="{BB962C8B-B14F-4D97-AF65-F5344CB8AC3E}">
        <p14:creationId xmlns:p14="http://schemas.microsoft.com/office/powerpoint/2010/main" val="19033191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102</TotalTime>
  <Words>3189</Words>
  <Application>Microsoft Office PowerPoint</Application>
  <DocSecurity>0</DocSecurity>
  <PresentationFormat>Widescreen</PresentationFormat>
  <Paragraphs>339</Paragraphs>
  <Slides>11</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Calibri</vt:lpstr>
      <vt:lpstr>DejaVu Sans</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Haocheng Lin</cp:lastModifiedBy>
  <cp:revision>15</cp:revision>
  <dcterms:created xsi:type="dcterms:W3CDTF">2026-09-28T11:03:11Z</dcterms:created>
  <dcterms:modified xsi:type="dcterms:W3CDTF">2026-10-01T15:52:51Z</dcterms:modified>
</cp:coreProperties>
</file>