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theme/theme8.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slides/slide29.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4.xml" ContentType="application/vnd.openxmlformats-officedocument.presentationml.slide+xml"/>
  <Override PartName="/ppt/slides/slide9.xml" ContentType="application/vnd.openxmlformats-officedocument.presentationml.slide+xml"/>
  <Override PartName="/ppt/slides/slide31.xml" ContentType="application/vnd.openxmlformats-officedocument.presentationml.slide+xml"/>
  <Override PartName="/ppt/slides/slide24.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1.xml" ContentType="application/vnd.openxmlformats-officedocument.presentationml.slide+xml"/>
  <Override PartName="/ppt/slides/slide34.xml" ContentType="application/vnd.openxmlformats-officedocument.presentationml.slide+xml"/>
  <Override PartName="/ppt/slides/slide3.xml" ContentType="application/vnd.openxmlformats-officedocument.presentationml.slide+xml"/>
  <Override PartName="/ppt/slides/slide28.xml" ContentType="application/vnd.openxmlformats-officedocument.presentationml.slide+xml"/>
  <Override PartName="/ppt/slides/slide12.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17.xml" ContentType="application/vnd.openxmlformats-officedocument.presentationml.slide+xml"/>
  <Override PartName="/ppt/slides/slide10.xml" ContentType="application/vnd.openxmlformats-officedocument.presentationml.slide+xml"/>
  <Override PartName="/ppt/slides/slide23.xml" ContentType="application/vnd.openxmlformats-officedocument.presentationml.slide+xml"/>
  <Override PartName="/ppt/slides/slide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16.xml" ContentType="application/vnd.openxmlformats-officedocument.presentationml.slide+xml"/>
  <Override PartName="/ppt/slides/slide15.xml" ContentType="application/vnd.openxmlformats-officedocument.presentationml.slide+xml"/>
  <Override PartName="/ppt/slides/slide6.xml" ContentType="application/vnd.openxmlformats-officedocument.presentationml.slide+xml"/>
  <Override PartName="/ppt/notesSlides/notesSlide18.xml" ContentType="application/vnd.openxmlformats-officedocument.presentationml.notesSlide+xml"/>
  <Override PartName="/ppt/notesSlides/notesSlide31.xml" ContentType="application/vnd.openxmlformats-officedocument.presentationml.notesSlide+xml"/>
  <Override PartName="/ppt/notesSlides/notesSlide20.xml" ContentType="application/vnd.openxmlformats-officedocument.presentationml.notesSlide+xml"/>
  <Override PartName="/ppt/notesSlides/notesSlide19.xml" ContentType="application/vnd.openxmlformats-officedocument.presentationml.notesSlide+xml"/>
  <Override PartName="/ppt/notesSlides/notesSlide32.xml" ContentType="application/vnd.openxmlformats-officedocument.presentationml.notesSlide+xml"/>
  <Override PartName="/ppt/notesSlides/notesSlide10.xml" ContentType="application/vnd.openxmlformats-officedocument.presentationml.notesSlide+xml"/>
  <Override PartName="/ppt/notesSlides/notesSlide30.xml" ContentType="application/vnd.openxmlformats-officedocument.presentationml.notesSlide+xml"/>
  <Override PartName="/ppt/notesSlides/notesSlide21.xml" ContentType="application/vnd.openxmlformats-officedocument.presentationml.notesSlide+xml"/>
  <Override PartName="/ppt/notesSlides/notesSlide16.xml" ContentType="application/vnd.openxmlformats-officedocument.presentationml.notesSlide+xml"/>
  <Override PartName="/ppt/notesSlides/notesSlide23.xml" ContentType="application/vnd.openxmlformats-officedocument.presentationml.notesSlide+xml"/>
  <Override PartName="/ppt/notesSlides/notesSlide26.xml" ContentType="application/vnd.openxmlformats-officedocument.presentationml.notesSlide+xml"/>
  <Override PartName="/ppt/notesSlides/notesSlide22.xml" ContentType="application/vnd.openxmlformats-officedocument.presentationml.notesSlide+xml"/>
  <Override PartName="/ppt/notesSlides/notesSlide6.xml" ContentType="application/vnd.openxmlformats-officedocument.presentationml.notesSlide+xml"/>
  <Override PartName="/ppt/notesSlides/notesSlide15.xml" ContentType="application/vnd.openxmlformats-officedocument.presentationml.notesSlide+xml"/>
  <Override PartName="/ppt/notesSlides/notesSlide13.xml" ContentType="application/vnd.openxmlformats-officedocument.presentationml.notesSlide+xml"/>
  <Override PartName="/ppt/notesSlides/notesSlide27.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4.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29.xml" ContentType="application/vnd.openxmlformats-officedocument.presentationml.notesSlide+xml"/>
  <Override PartName="/ppt/notesSlides/notesSlide8.xml" ContentType="application/vnd.openxmlformats-officedocument.presentationml.notesSlide+xml"/>
  <Override PartName="/ppt/notesSlides/notesSlide11.xml" ContentType="application/vnd.openxmlformats-officedocument.presentationml.notesSlide+xml"/>
  <Override PartName="/ppt/notesSlides/notesSlide1.xml" ContentType="application/vnd.openxmlformats-officedocument.presentationml.notesSlide+xml"/>
  <Override PartName="/ppt/notesSlides/notesSlide5.xml" ContentType="application/vnd.openxmlformats-officedocument.presentationml.notesSlide+xml"/>
  <Override PartName="/ppt/notesSlides/notesSlide9.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1"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8.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 name="PlaceHolder 1"/>
          <p:cNvSpPr>
            <a:spLocks noGrp="1"/>
          </p:cNvSpPr>
          <p:nvPr>
            <p:ph type="sldImg"/>
          </p:nvPr>
        </p:nvSpPr>
        <p:spPr>
          <a:xfrm>
            <a:off x="216000" y="812520"/>
            <a:ext cx="7127280" cy="4008960"/>
          </a:xfrm>
          <a:prstGeom prst="rect">
            <a:avLst/>
          </a:prstGeom>
          <a:noFill/>
          <a:ln w="0">
            <a:noFill/>
          </a:ln>
        </p:spPr>
        <p:txBody>
          <a:bodyPr lIns="0" tIns="0" rIns="0" bIns="0" anchor="ctr">
            <a:noAutofit/>
          </a:bodyPr>
          <a:p>
            <a:r>
              <a:rPr lang="en-US" sz="1800" b="0" u="none" strike="noStrike">
                <a:solidFill>
                  <a:schemeClr val="dk1"/>
                </a:solidFill>
                <a:effectLst/>
                <a:uFillTx/>
                <a:latin typeface="Calibri"/>
              </a:rPr>
              <a:t>Click to move the slide</a:t>
            </a:r>
            <a:endParaRPr lang="en-US" sz="1800" b="0" u="none" strike="noStrike">
              <a:solidFill>
                <a:schemeClr val="dk1"/>
              </a:solidFill>
              <a:effectLst/>
              <a:uFillTx/>
              <a:latin typeface="Calibri"/>
            </a:endParaRPr>
          </a:p>
        </p:txBody>
      </p:sp>
      <p:sp>
        <p:nvSpPr>
          <p:cNvPr id="23"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24"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25"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26"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7"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38A6016E-DE19-4BC6-993A-96CCF53BB65F}"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2" name="PlaceHolder 1"/>
          <p:cNvSpPr>
            <a:spLocks noGrp="1"/>
          </p:cNvSpPr>
          <p:nvPr>
            <p:ph type="sldImg"/>
          </p:nvPr>
        </p:nvSpPr>
        <p:spPr>
          <a:xfrm>
            <a:off x="0" y="0"/>
            <a:ext cx="0" cy="0"/>
          </a:xfrm>
          <a:prstGeom prst="rect">
            <a:avLst/>
          </a:prstGeom>
          <a:ln w="0">
            <a:noFill/>
          </a:ln>
        </p:spPr>
      </p:sp>
      <p:sp>
        <p:nvSpPr>
          <p:cNvPr id="46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PRESENTER PREPARATION — Opening</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Suggested explanation (30–60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Likely question and answer:</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What is the contribution? An auditable reconstruction and experimental framework; validated novelty and general adaptive gains are still research goals.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Evidence and cautions: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Roadmap: literature, implementation, evidence, next experiment.</a:t>
            </a:r>
            <a:endParaRPr lang="en-US" sz="2000" b="0" u="none" strike="noStrike">
              <a:solidFill>
                <a:srgbClr val="000000"/>
              </a:solidFill>
              <a:effectLst/>
              <a:uFillTx/>
              <a:latin typeface="Arial"/>
            </a:endParaRPr>
          </a:p>
        </p:txBody>
      </p:sp>
      <p:sp>
        <p:nvSpPr>
          <p:cNvPr id="464" name="PlaceHolder 3"/>
          <p:cNvSpPr>
            <a:spLocks noGrp="1"/>
          </p:cNvSpPr>
          <p:nvPr>
            <p:ph type="sldNum" idx="4"/>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5" name="PlaceHolder 1"/>
          <p:cNvSpPr>
            <a:spLocks noGrp="1"/>
          </p:cNvSpPr>
          <p:nvPr>
            <p:ph type="sldImg"/>
          </p:nvPr>
        </p:nvSpPr>
        <p:spPr>
          <a:xfrm>
            <a:off x="0" y="0"/>
            <a:ext cx="0" cy="0"/>
          </a:xfrm>
          <a:prstGeom prst="rect">
            <a:avLst/>
          </a:prstGeom>
          <a:ln w="0">
            <a:noFill/>
          </a:ln>
        </p:spPr>
      </p:sp>
      <p:sp>
        <p:nvSpPr>
          <p:cNvPr id="46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Topic-led ordering for a PhD progress discussion. Distinguish published findings, implemented components, saved experiment evidence, and unvalidated research goals.</a:t>
            </a:r>
            <a:endParaRPr lang="en-US" sz="2000" b="0" u="none" strike="noStrike">
              <a:solidFill>
                <a:srgbClr val="000000"/>
              </a:solidFill>
              <a:effectLst/>
              <a:uFillTx/>
              <a:latin typeface="Arial"/>
            </a:endParaRPr>
          </a:p>
        </p:txBody>
      </p:sp>
      <p:sp>
        <p:nvSpPr>
          <p:cNvPr id="467" name="PlaceHolder 3"/>
          <p:cNvSpPr>
            <a:spLocks noGrp="1"/>
          </p:cNvSpPr>
          <p:nvPr>
            <p:ph type="sldNum" idx="5"/>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8" name="PlaceHolder 1"/>
          <p:cNvSpPr>
            <a:spLocks noGrp="1"/>
          </p:cNvSpPr>
          <p:nvPr>
            <p:ph type="sldImg"/>
          </p:nvPr>
        </p:nvSpPr>
        <p:spPr>
          <a:xfrm>
            <a:off x="0" y="0"/>
            <a:ext cx="0" cy="0"/>
          </a:xfrm>
          <a:prstGeom prst="rect">
            <a:avLst/>
          </a:prstGeom>
          <a:ln w="0">
            <a:noFill/>
          </a:ln>
        </p:spPr>
      </p:sp>
      <p:sp>
        <p:nvSpPr>
          <p:cNvPr id="46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PRESENTER PREPARATION — Research lineage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Suggested explanation (30–60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Raza motivates detector reconstruction. Chowdhury demonstrates online supervised BCI adaptation. The later CSE-UAEL work motivates transductive updates and ensembles. Rao and Heyden motivate the subspace question. Diethe provides a maintenance architecture.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Likely question and answer:</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Why Diethe 2019 when Notion says 2018? The supplied PDF identifies a 2018 workshop and arXiv v2 dated March 2019. State the version being cited consistently.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Evidence and cautions: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 first explain what the clinical BCI paper established.</a:t>
            </a:r>
            <a:endParaRPr lang="en-US" sz="2000" b="0" u="none" strike="noStrike">
              <a:solidFill>
                <a:srgbClr val="000000"/>
              </a:solidFill>
              <a:effectLst/>
              <a:uFillTx/>
              <a:latin typeface="Arial"/>
            </a:endParaRPr>
          </a:p>
        </p:txBody>
      </p:sp>
      <p:sp>
        <p:nvSpPr>
          <p:cNvPr id="470" name="PlaceHolder 3"/>
          <p:cNvSpPr>
            <a:spLocks noGrp="1"/>
          </p:cNvSpPr>
          <p:nvPr>
            <p:ph type="sldNum" idx="6"/>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1" name="PlaceHolder 1"/>
          <p:cNvSpPr>
            <a:spLocks noGrp="1"/>
          </p:cNvSpPr>
          <p:nvPr>
            <p:ph type="sldImg"/>
          </p:nvPr>
        </p:nvSpPr>
        <p:spPr>
          <a:xfrm>
            <a:off x="0" y="0"/>
            <a:ext cx="0" cy="0"/>
          </a:xfrm>
          <a:prstGeom prst="rect">
            <a:avLst/>
          </a:prstGeom>
          <a:ln w="0">
            <a:noFill/>
          </a:ln>
        </p:spPr>
      </p:sp>
      <p:sp>
        <p:nvSpPr>
          <p:cNvPr id="47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Source: Park, Im &amp; Lim (2023), Equation (2.2), DOI 10.29220/CSAM.2023.30.4.369. Notion equation reference: https://app.notion.com/p/3f1410db31c8815a83afddf720c3edd1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LaTeX: v_t^{(d)}=\left(\frac{1}{T}\sum_{u=0}^{T-1}X_{u,T}^{(d)}\right)^{-1}\left|\sqrt{\frac{T-t}{Tt}}\sum_{u=0}^{t-1}X_{u,T}^{(d)}-\sqrt{\frac{t}{T(T-t)}}\sum_{u=t}^{T-1}X_{u,T}^{(d)}\right|</a:t>
            </a:r>
            <a:endParaRPr lang="en-US" sz="2000" b="0" u="none" strike="noStrike">
              <a:solidFill>
                <a:srgbClr val="000000"/>
              </a:solidFill>
              <a:effectLst/>
              <a:uFillTx/>
              <a:latin typeface="Arial"/>
            </a:endParaRPr>
          </a:p>
        </p:txBody>
      </p:sp>
      <p:sp>
        <p:nvSpPr>
          <p:cNvPr id="473" name="PlaceHolder 3"/>
          <p:cNvSpPr>
            <a:spLocks noGrp="1"/>
          </p:cNvSpPr>
          <p:nvPr>
            <p:ph type="sldNum" idx="7"/>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4" name="PlaceHolder 1"/>
          <p:cNvSpPr>
            <a:spLocks noGrp="1"/>
          </p:cNvSpPr>
          <p:nvPr>
            <p:ph type="sldImg"/>
          </p:nvPr>
        </p:nvSpPr>
        <p:spPr>
          <a:xfrm>
            <a:off x="0" y="0"/>
            <a:ext cx="0" cy="0"/>
          </a:xfrm>
          <a:prstGeom prst="rect">
            <a:avLst/>
          </a:prstGeom>
          <a:ln w="0">
            <a:noFill/>
          </a:ln>
        </p:spPr>
      </p:sp>
      <p:sp>
        <p:nvSpPr>
          <p:cNvPr id="47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Source: Park et al. (2023), Section 2.1; existing presentation discussion of maximum/average aggregation. D denotes feature count. Argmax expressions explicitly describe the candidate peak locations; ties are represented by set membership. Retain existing interpretation: peaks are not a multimodal EEG probability distribution or independently confirmed changes. Fearnhead &amp; Rigaill (2020), DOI 10.1002/sta4.291.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v_{\max}(t)=\max_{1\leq d\leq D}v_t^{(d)},\qquad v_{\mathrm{avg}}(t)=\frac{1}{D}\sum_{d=1}^{D}v_t^{(d)}</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\hat{t}_{\max}\in\mathrm{arg\,max}_{0&lt;t&lt;T}\,v_{\max}(t),\qquad\hat{t}_{\mathrm{avg}}\in\mathrm{arg\,max}_{0&lt;t&lt;T}\,v_{\mathrm{avg}}(t)</a:t>
            </a:r>
            <a:endParaRPr lang="en-US" sz="2000" b="0" u="none" strike="noStrike">
              <a:solidFill>
                <a:srgbClr val="000000"/>
              </a:solidFill>
              <a:effectLst/>
              <a:uFillTx/>
              <a:latin typeface="Arial"/>
            </a:endParaRPr>
          </a:p>
        </p:txBody>
      </p:sp>
      <p:sp>
        <p:nvSpPr>
          <p:cNvPr id="476" name="PlaceHolder 3"/>
          <p:cNvSpPr>
            <a:spLocks noGrp="1"/>
          </p:cNvSpPr>
          <p:nvPr>
            <p:ph type="sldNum" idx="8"/>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7" name="PlaceHolder 1"/>
          <p:cNvSpPr>
            <a:spLocks noGrp="1"/>
          </p:cNvSpPr>
          <p:nvPr>
            <p:ph type="sldImg"/>
          </p:nvPr>
        </p:nvSpPr>
        <p:spPr>
          <a:xfrm>
            <a:off x="0" y="0"/>
            <a:ext cx="0" cy="0"/>
          </a:xfrm>
          <a:prstGeom prst="rect">
            <a:avLst/>
          </a:prstGeom>
          <a:ln w="0">
            <a:noFill/>
          </a:ln>
        </p:spPr>
      </p:sp>
      <p:sp>
        <p:nvSpPr>
          <p:cNvPr id="47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PRESENTER PREPARATION — Chowdhury protocol</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Suggested explanation (30–60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Each participant completed 80 calibration trials and 40 online trials. The classifier distinguishes left versus right imagery, not healthy versus stroke participants. The adaptive system ran online; the nonadaptive comparator replayed the recorded data offline.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Likely question and answer:</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Did your repository reproduce the clinical system? No. It uses BCI Competition data and a different feature pipeline; the paper provides methodological context.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Evidence and cautions: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Chowdhury II.B p1072; II.D–E p1073; II.E.3 pp1074–1075.</a:t>
            </a:r>
            <a:endParaRPr lang="en-US" sz="2000" b="0" u="none" strike="noStrike">
              <a:solidFill>
                <a:srgbClr val="000000"/>
              </a:solidFill>
              <a:effectLst/>
              <a:uFillTx/>
              <a:latin typeface="Arial"/>
            </a:endParaRPr>
          </a:p>
        </p:txBody>
      </p:sp>
      <p:sp>
        <p:nvSpPr>
          <p:cNvPr id="479" name="PlaceHolder 3"/>
          <p:cNvSpPr>
            <a:spLocks noGrp="1"/>
          </p:cNvSpPr>
          <p:nvPr>
            <p:ph type="sldNum" idx="9"/>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0" name="PlaceHolder 1"/>
          <p:cNvSpPr>
            <a:spLocks noGrp="1"/>
          </p:cNvSpPr>
          <p:nvPr>
            <p:ph type="sldImg"/>
          </p:nvPr>
        </p:nvSpPr>
        <p:spPr>
          <a:xfrm>
            <a:off x="0" y="0"/>
            <a:ext cx="0" cy="0"/>
          </a:xfrm>
          <a:prstGeom prst="rect">
            <a:avLst/>
          </a:prstGeom>
          <a:ln w="0">
            <a:noFill/>
          </a:ln>
        </p:spPr>
      </p:sp>
      <p:sp>
        <p:nvSpPr>
          <p:cNvPr id="48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PRESENTER PREPARATION — Published accuracy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Suggested explanation (30–60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reported healthy-group gain is 6.25 percentage points and stroke-group gain is 5.50 points. Both paired comparisons were significant. These are paper results, not my repository results.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Likely question and answer:</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Does this prove recovery? No. It demonstrates better decoding and online feasibility, without longitudinal motor-recovery outcomes.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Evidence and cautions: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Chowdhury III p1076 Tables II–IV. Mean ± SD; paired Wilcoxon significance.</a:t>
            </a:r>
            <a:endParaRPr lang="en-US" sz="2000" b="0" u="none" strike="noStrike">
              <a:solidFill>
                <a:srgbClr val="000000"/>
              </a:solidFill>
              <a:effectLst/>
              <a:uFillTx/>
              <a:latin typeface="Arial"/>
            </a:endParaRPr>
          </a:p>
        </p:txBody>
      </p:sp>
      <p:sp>
        <p:nvSpPr>
          <p:cNvPr id="482" name="PlaceHolder 3"/>
          <p:cNvSpPr>
            <a:spLocks noGrp="1"/>
          </p:cNvSpPr>
          <p:nvPr>
            <p:ph type="sldNum" idx="10"/>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3" name="PlaceHolder 1"/>
          <p:cNvSpPr>
            <a:spLocks noGrp="1"/>
          </p:cNvSpPr>
          <p:nvPr>
            <p:ph type="sldImg"/>
          </p:nvPr>
        </p:nvSpPr>
        <p:spPr>
          <a:xfrm>
            <a:off x="0" y="0"/>
            <a:ext cx="0" cy="0"/>
          </a:xfrm>
          <a:prstGeom prst="rect">
            <a:avLst/>
          </a:prstGeom>
          <a:ln w="0">
            <a:noFill/>
          </a:ln>
        </p:spPr>
      </p:sp>
      <p:sp>
        <p:nvSpPr>
          <p:cNvPr id="48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PRESENTER PREPARATION — Validation evidence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Suggested explanation (30–60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CSW and CSV here are percentages of trials. Validation reduces the fraction triggering retraining. The correlation with accuracy gain is an association, not an isolated causal effect of the detector.</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Likely question and answer:</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Were rejected warnings false alarms? We cannot determine that without independent shift truth. Rejection is a statistical outcome, not a ground-truth label.</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Evidence and cautions: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Chowdhury II.E.4 Eqs10–11 p1075; III p1077 Tables VI–VIII and Fig7.</a:t>
            </a:r>
            <a:endParaRPr lang="en-US" sz="2000" b="0" u="none" strike="noStrike">
              <a:solidFill>
                <a:srgbClr val="000000"/>
              </a:solidFill>
              <a:effectLst/>
              <a:uFillTx/>
              <a:latin typeface="Arial"/>
            </a:endParaRPr>
          </a:p>
        </p:txBody>
      </p:sp>
      <p:sp>
        <p:nvSpPr>
          <p:cNvPr id="485" name="PlaceHolder 3"/>
          <p:cNvSpPr>
            <a:spLocks noGrp="1"/>
          </p:cNvSpPr>
          <p:nvPr>
            <p:ph type="sldNum" idx="11"/>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6" name="PlaceHolder 1"/>
          <p:cNvSpPr>
            <a:spLocks noGrp="1"/>
          </p:cNvSpPr>
          <p:nvPr>
            <p:ph type="sldImg"/>
          </p:nvPr>
        </p:nvSpPr>
        <p:spPr>
          <a:xfrm>
            <a:off x="0" y="0"/>
            <a:ext cx="0" cy="0"/>
          </a:xfrm>
          <a:prstGeom prst="rect">
            <a:avLst/>
          </a:prstGeom>
          <a:ln w="0">
            <a:noFill/>
          </a:ln>
        </p:spPr>
      </p:sp>
      <p:sp>
        <p:nvSpPr>
          <p:cNvPr id="48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PRESENTER PREPARATION — Author-stated limitations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Suggested explanation (30–60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Fixed bands, binary tasks and known cue labels constrain transfer to other settings. The authors also discuss continuous and asynchronous operation as extensions.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Likely question and answer:</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Why are cue labels imperfect? The intended task is known, but actual participant compliance is assumed.</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Evidence and cautions: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Chowdhury IV pp1078–1079. Transition: distinguish these statements from my design-derived critique.</a:t>
            </a:r>
            <a:endParaRPr lang="en-US" sz="2000" b="0" u="none" strike="noStrike">
              <a:solidFill>
                <a:srgbClr val="000000"/>
              </a:solidFill>
              <a:effectLst/>
              <a:uFillTx/>
              <a:latin typeface="Arial"/>
            </a:endParaRPr>
          </a:p>
        </p:txBody>
      </p:sp>
      <p:sp>
        <p:nvSpPr>
          <p:cNvPr id="488" name="PlaceHolder 3"/>
          <p:cNvSpPr>
            <a:spLocks noGrp="1"/>
          </p:cNvSpPr>
          <p:nvPr>
            <p:ph type="sldNum" idx="12"/>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9" name="PlaceHolder 1"/>
          <p:cNvSpPr>
            <a:spLocks noGrp="1"/>
          </p:cNvSpPr>
          <p:nvPr>
            <p:ph type="sldImg"/>
          </p:nvPr>
        </p:nvSpPr>
        <p:spPr>
          <a:xfrm>
            <a:off x="0" y="0"/>
            <a:ext cx="0" cy="0"/>
          </a:xfrm>
          <a:prstGeom prst="rect">
            <a:avLst/>
          </a:prstGeom>
          <a:ln w="0">
            <a:noFill/>
          </a:ln>
        </p:spPr>
      </p:sp>
      <p:sp>
        <p:nvSpPr>
          <p:cNvPr id="49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PRESENTER PREPARATION — Design-derived limitations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Suggested explanation (30–60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My critical interpretation concerns small cohorts, a short feedback run and the offline baseline. The study supports short-term feasibility; it leaves generalisation and therapeutic efficacy unresolved.</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Likely question and answer:</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Are these author admissions? These are inferences from the protocol and outcome measures, not all direct limitations stated by the authors.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Evidence and cautions: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Chowdhury II.B p1072; II.D–E p1073; III pp1075–1077. Notion limitations page reviewed.</a:t>
            </a:r>
            <a:endParaRPr lang="en-US" sz="2000" b="0" u="none" strike="noStrike">
              <a:solidFill>
                <a:srgbClr val="000000"/>
              </a:solidFill>
              <a:effectLst/>
              <a:uFillTx/>
              <a:latin typeface="Arial"/>
            </a:endParaRPr>
          </a:p>
        </p:txBody>
      </p:sp>
      <p:sp>
        <p:nvSpPr>
          <p:cNvPr id="491" name="PlaceHolder 3"/>
          <p:cNvSpPr>
            <a:spLocks noGrp="1"/>
          </p:cNvSpPr>
          <p:nvPr>
            <p:ph type="sldNum" idx="13"/>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2" name="PlaceHolder 1"/>
          <p:cNvSpPr>
            <a:spLocks noGrp="1"/>
          </p:cNvSpPr>
          <p:nvPr>
            <p:ph type="sldImg"/>
          </p:nvPr>
        </p:nvSpPr>
        <p:spPr>
          <a:xfrm>
            <a:off x="0" y="0"/>
            <a:ext cx="0" cy="0"/>
          </a:xfrm>
          <a:prstGeom prst="rect">
            <a:avLst/>
          </a:prstGeom>
          <a:ln w="0">
            <a:noFill/>
          </a:ln>
        </p:spPr>
      </p:sp>
      <p:sp>
        <p:nvSpPr>
          <p:cNvPr id="49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PRESENTER PREPARATION — Paper-to-project bridge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Suggested explanation (30–60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shared mechanism is warning, validation and selective adaptation. The paper uses two bands and four CSP features; the repository uses ten-band FBCSP for its Competition protocols. I preserve those distinctions when interpreting reproduction.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Likely question and answer:</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Why not copy every paper detail? Some temporal sample and update-batch choices are underspecified; alternatives should be named and tested.</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Evidence and cautions: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Notion Methods &amp; equation evidence audit; PhD questions &amp; repository connections.</a:t>
            </a:r>
            <a:endParaRPr lang="en-US" sz="2000" b="0" u="none" strike="noStrike">
              <a:solidFill>
                <a:srgbClr val="000000"/>
              </a:solidFill>
              <a:effectLst/>
              <a:uFillTx/>
              <a:latin typeface="Arial"/>
            </a:endParaRPr>
          </a:p>
        </p:txBody>
      </p:sp>
      <p:sp>
        <p:nvSpPr>
          <p:cNvPr id="494" name="PlaceHolder 3"/>
          <p:cNvSpPr>
            <a:spLocks noGrp="1"/>
          </p:cNvSpPr>
          <p:nvPr>
            <p:ph type="sldNum" idx="14"/>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5" name="PlaceHolder 1"/>
          <p:cNvSpPr>
            <a:spLocks noGrp="1"/>
          </p:cNvSpPr>
          <p:nvPr>
            <p:ph type="sldImg"/>
          </p:nvPr>
        </p:nvSpPr>
        <p:spPr>
          <a:xfrm>
            <a:off x="0" y="0"/>
            <a:ext cx="0" cy="0"/>
          </a:xfrm>
          <a:prstGeom prst="rect">
            <a:avLst/>
          </a:prstGeom>
          <a:ln w="0">
            <a:noFill/>
          </a:ln>
        </p:spPr>
      </p:sp>
      <p:sp>
        <p:nvSpPr>
          <p:cNvPr id="49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Equation references: CSP/PCA, slide 14. Z=WE; log-normalised variance; centred PCA projection. Notion methods: https://app.notion.com/p/3ee410db31c8819598cee6b34381701c</a:t>
            </a:r>
            <a:endParaRPr lang="en-US" sz="2000" b="0" u="none" strike="noStrike">
              <a:solidFill>
                <a:srgbClr val="000000"/>
              </a:solidFill>
              <a:effectLst/>
              <a:uFillTx/>
              <a:latin typeface="Arial"/>
            </a:endParaRPr>
          </a:p>
        </p:txBody>
      </p:sp>
      <p:sp>
        <p:nvSpPr>
          <p:cNvPr id="497" name="PlaceHolder 3"/>
          <p:cNvSpPr>
            <a:spLocks noGrp="1"/>
          </p:cNvSpPr>
          <p:nvPr>
            <p:ph type="sldNum" idx="15"/>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8" name="PlaceHolder 1"/>
          <p:cNvSpPr>
            <a:spLocks noGrp="1"/>
          </p:cNvSpPr>
          <p:nvPr>
            <p:ph type="sldImg"/>
          </p:nvPr>
        </p:nvSpPr>
        <p:spPr>
          <a:xfrm>
            <a:off x="0" y="0"/>
            <a:ext cx="0" cy="0"/>
          </a:xfrm>
          <a:prstGeom prst="rect">
            <a:avLst/>
          </a:prstGeom>
          <a:ln w="0">
            <a:noFill/>
          </a:ln>
        </p:spPr>
      </p:sp>
      <p:sp>
        <p:nvSpPr>
          <p:cNvPr id="49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Notation alignment: q_t here and s_i on the feature-extraction slide denote the same PCA score vector; x_i is its first component. P_0 and mu_0 correspond to P and mu_cal. Equation label: FIXED-MAPPING.</a:t>
            </a:r>
            <a:endParaRPr lang="en-US" sz="2000" b="0" u="none" strike="noStrike">
              <a:solidFill>
                <a:srgbClr val="000000"/>
              </a:solidFill>
              <a:effectLst/>
              <a:uFillTx/>
              <a:latin typeface="Arial"/>
            </a:endParaRPr>
          </a:p>
        </p:txBody>
      </p:sp>
      <p:sp>
        <p:nvSpPr>
          <p:cNvPr id="500" name="PlaceHolder 3"/>
          <p:cNvSpPr>
            <a:spLocks noGrp="1"/>
          </p:cNvSpPr>
          <p:nvPr>
            <p:ph type="sldNum" idx="16"/>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1" name="PlaceHolder 1"/>
          <p:cNvSpPr>
            <a:spLocks noGrp="1"/>
          </p:cNvSpPr>
          <p:nvPr>
            <p:ph type="sldImg"/>
          </p:nvPr>
        </p:nvSpPr>
        <p:spPr>
          <a:xfrm>
            <a:off x="0" y="0"/>
            <a:ext cx="0" cy="0"/>
          </a:xfrm>
          <a:prstGeom prst="rect">
            <a:avLst/>
          </a:prstGeom>
          <a:ln w="0">
            <a:noFill/>
          </a:ln>
        </p:spPr>
      </p:sp>
      <p:sp>
        <p:nvSpPr>
          <p:cNvPr id="50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Chowdhury et al. (2018), §II.E.3(a), Eqs. (3), (5)–(8), pp. 1074–1075. Notion methods audit: https://app.notion.com/p/3ee410db31c8819598cee6b34381701c. x_i is a scalar PC1 score; e_i is a score prediction error. Paper L=2 and alpha=0.05. The paper uses strict outside-limit warnings. Repository inclusive boundaries and always/frozen/non_alarm variance modes are configuration details. The historic Diethe pilot uses frozen variance.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z_i=\lambda x_i+(1-\lambda)z_{i-1},\qquad e_i=x_i-z_{i-1}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\mathrm{UCL}_i=z_{i-1}+L\sigma_{e,i-1},\qquad\mathrm{LCL}_i=z_{i-1}-L\sigma_{e,i-1}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\sigma^2_{e,i}=\alpha_v e_i^2+(1-\alpha_v)\sigma^2_{e,i-1}</a:t>
            </a:r>
            <a:endParaRPr lang="en-US" sz="2000" b="0" u="none" strike="noStrike">
              <a:solidFill>
                <a:srgbClr val="000000"/>
              </a:solidFill>
              <a:effectLst/>
              <a:uFillTx/>
              <a:latin typeface="Arial"/>
            </a:endParaRPr>
          </a:p>
        </p:txBody>
      </p:sp>
      <p:sp>
        <p:nvSpPr>
          <p:cNvPr id="503" name="PlaceHolder 3"/>
          <p:cNvSpPr>
            <a:spLocks noGrp="1"/>
          </p:cNvSpPr>
          <p:nvPr>
            <p:ph type="sldNum" idx="17"/>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4" name="PlaceHolder 1"/>
          <p:cNvSpPr>
            <a:spLocks noGrp="1"/>
          </p:cNvSpPr>
          <p:nvPr>
            <p:ph type="sldImg"/>
          </p:nvPr>
        </p:nvSpPr>
        <p:spPr>
          <a:xfrm>
            <a:off x="0" y="0"/>
            <a:ext cx="0" cy="0"/>
          </a:xfrm>
          <a:prstGeom prst="rect">
            <a:avLst/>
          </a:prstGeom>
          <a:ln w="0">
            <a:noFill/>
          </a:ln>
        </p:spPr>
      </p:sp>
      <p:sp>
        <p:nvSpPr>
          <p:cNvPr id="50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Sources: Notion W3 and W4, https://app.notion.com/p/3f1410db31c8815a83afddf720c3edd1. Raza (2015), Eq. (10), pp. 664–665; Chowdhury (2018), Eq. (9), p. 1075. W3 classical pooled calibration assumes independent multivariate normal samples and common population covariance. The equal-window algebraic identity holds with matching covariance estimates and inversion conventions. H is observations per window; d is retained dimension. alpha_test differs from variance smoothing. Repository confirmation becomes available after the second window.</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HT^2=\delta^{\mathsf{T}}\left(\frac{S_1}{n_1}+\frac{S_2}{n_2}\right)^{-1}\delta,\qquad\delta=\bar{\mathbf{x}}_1-\bar{\mathbf{x}}_2</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S_p=\frac{(n_1-1)S_1+(n_2-1)S_2}{n_1+n_2-2},\qquad T^2_{\mathrm{pooled}}=\frac{n_1n_2}{n_1+n_2}\delta^{\mathsf{T}}S_p^{-1}\delta</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n_1=n_2=H:\qquad S_p=\frac{S_1+S_2}{2},\qquad HT^2=\frac{H}{2}\delta^{\mathsf{T}}S_p^{-1}\delta=T^2_{\mathrm{pooled}}</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F=\frac{n_1+n_2-d-1}{d(n_1+n_2-2)}T^2_{\mathrm{pooled}},\qquad p=\Pr(F_{d,n_1+n_2-d-1}\geq F_{\mathrm{obs}})</a:t>
            </a:r>
            <a:endParaRPr lang="en-US" sz="2000" b="0" u="none" strike="noStrike">
              <a:solidFill>
                <a:srgbClr val="000000"/>
              </a:solidFill>
              <a:effectLst/>
              <a:uFillTx/>
              <a:latin typeface="Arial"/>
            </a:endParaRPr>
          </a:p>
        </p:txBody>
      </p:sp>
      <p:sp>
        <p:nvSpPr>
          <p:cNvPr id="506" name="PlaceHolder 3"/>
          <p:cNvSpPr>
            <a:spLocks noGrp="1"/>
          </p:cNvSpPr>
          <p:nvPr>
            <p:ph type="sldNum" idx="18"/>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7" name="PlaceHolder 1"/>
          <p:cNvSpPr>
            <a:spLocks noGrp="1"/>
          </p:cNvSpPr>
          <p:nvPr>
            <p:ph type="sldImg"/>
          </p:nvPr>
        </p:nvSpPr>
        <p:spPr>
          <a:xfrm>
            <a:off x="0" y="0"/>
            <a:ext cx="0" cy="0"/>
          </a:xfrm>
          <a:prstGeom prst="rect">
            <a:avLst/>
          </a:prstGeom>
          <a:ln w="0">
            <a:noFill/>
          </a:ln>
        </p:spPr>
      </p:sp>
      <p:sp>
        <p:nvSpPr>
          <p:cNvPr id="50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PRESENTER PREPARATION — Implementation responsibilities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Suggested explanation (30–60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update policy consumes evidence. A warning, a confirmation and performance deterioration are different signals. Labels can be supervised or pseudo-labelled. The current Diethe experiment uses fixed CSE, not the complementary score/residual extension.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Likely question and answer:</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Is the whole model continuously learning? The current loop appends data and retrains; representation and detector stay fixed in Diethe.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Evidence and cautions: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src/adaptation/experiments/diethe.py and docs/diethe_experiments.md.</a:t>
            </a:r>
            <a:endParaRPr lang="en-US" sz="2000" b="0" u="none" strike="noStrike">
              <a:solidFill>
                <a:srgbClr val="000000"/>
              </a:solidFill>
              <a:effectLst/>
              <a:uFillTx/>
              <a:latin typeface="Arial"/>
            </a:endParaRPr>
          </a:p>
        </p:txBody>
      </p:sp>
      <p:sp>
        <p:nvSpPr>
          <p:cNvPr id="509" name="PlaceHolder 3"/>
          <p:cNvSpPr>
            <a:spLocks noGrp="1"/>
          </p:cNvSpPr>
          <p:nvPr>
            <p:ph type="sldNum" idx="19"/>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0" name="PlaceHolder 1"/>
          <p:cNvSpPr>
            <a:spLocks noGrp="1"/>
          </p:cNvSpPr>
          <p:nvPr>
            <p:ph type="sldImg"/>
          </p:nvPr>
        </p:nvSpPr>
        <p:spPr>
          <a:xfrm>
            <a:off x="0" y="0"/>
            <a:ext cx="0" cy="0"/>
          </a:xfrm>
          <a:prstGeom prst="rect">
            <a:avLst/>
          </a:prstGeom>
          <a:ln w="0">
            <a:noFill/>
          </a:ln>
        </p:spPr>
      </p:sp>
      <p:sp>
        <p:nvSpPr>
          <p:cNvPr id="51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PRESENTER PREPARATION — Protocol separation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Suggested explanation (30–60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Fit preprocessing only on development training data and reuse it for held-out evaluation. CSE reproduction and classifier benchmarking have distinct split contracts.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Likely question and answer:</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Why does 2B use different sessions in different slides? Different experiments answer different questions. Use the protocol table on slide 20 to keep them explicit.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Evidence and cautions: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Repository dataset runners and stored bagging evaluation_scope fields.</a:t>
            </a:r>
            <a:endParaRPr lang="en-US" sz="2000" b="0" u="none" strike="noStrike">
              <a:solidFill>
                <a:srgbClr val="000000"/>
              </a:solidFill>
              <a:effectLst/>
              <a:uFillTx/>
              <a:latin typeface="Arial"/>
            </a:endParaRPr>
          </a:p>
        </p:txBody>
      </p:sp>
      <p:sp>
        <p:nvSpPr>
          <p:cNvPr id="512" name="PlaceHolder 3"/>
          <p:cNvSpPr>
            <a:spLocks noGrp="1"/>
          </p:cNvSpPr>
          <p:nvPr>
            <p:ph type="sldNum" idx="20"/>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3" name="PlaceHolder 1"/>
          <p:cNvSpPr>
            <a:spLocks noGrp="1"/>
          </p:cNvSpPr>
          <p:nvPr>
            <p:ph type="sldImg"/>
          </p:nvPr>
        </p:nvSpPr>
        <p:spPr>
          <a:xfrm>
            <a:off x="0" y="0"/>
            <a:ext cx="0" cy="0"/>
          </a:xfrm>
          <a:prstGeom prst="rect">
            <a:avLst/>
          </a:prstGeom>
          <a:ln w="0">
            <a:noFill/>
          </a:ln>
        </p:spPr>
      </p:sp>
      <p:sp>
        <p:nvSpPr>
          <p:cNvPr id="51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PRESENTER PREPARATION — Dataset roles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Suggested explanation (30–60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 this as a protocol map. For complementary 2B, I–II fit the representation, III calibrates thresholds, and IV–V evaluate. That differs from the classifier benchmark and Table-I path.</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Likely question and answer:</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Are real EEG warnings true detections? They are descriptive alarms unless independently annotated or experimentally injected shifts provide ground truth.</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Evidence and cautions: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scripts/run_complementary_bci.py. Prepared Diethe arrays require the caller to enforce non-overlapping splits.</a:t>
            </a:r>
            <a:endParaRPr lang="en-US" sz="2000" b="0" u="none" strike="noStrike">
              <a:solidFill>
                <a:srgbClr val="000000"/>
              </a:solidFill>
              <a:effectLst/>
              <a:uFillTx/>
              <a:latin typeface="Arial"/>
            </a:endParaRPr>
          </a:p>
        </p:txBody>
      </p:sp>
      <p:sp>
        <p:nvSpPr>
          <p:cNvPr id="515" name="PlaceHolder 3"/>
          <p:cNvSpPr>
            <a:spLocks noGrp="1"/>
          </p:cNvSpPr>
          <p:nvPr>
            <p:ph type="sldNum" idx="21"/>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6" name="PlaceHolder 1"/>
          <p:cNvSpPr>
            <a:spLocks noGrp="1"/>
          </p:cNvSpPr>
          <p:nvPr>
            <p:ph type="sldImg"/>
          </p:nvPr>
        </p:nvSpPr>
        <p:spPr>
          <a:xfrm>
            <a:off x="0" y="0"/>
            <a:ext cx="0" cy="0"/>
          </a:xfrm>
          <a:prstGeom prst="rect">
            <a:avLst/>
          </a:prstGeom>
          <a:ln w="0">
            <a:noFill/>
          </a:ln>
        </p:spPr>
      </p:sp>
      <p:sp>
        <p:nvSpPr>
          <p:cNvPr id="51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PRESENTER PREPARATION — Diethe architecture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Suggested explanation (30–60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Diethe separates data monitoring, prediction monitoring and update policy. My implementation operationalises part of this architecture using five explicit rules and saved evidence.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Likely question and answer:</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Have you implemented Diethe completely? No. The paper discusses much broader state, actions, provenance and policy learning. My rules do not implement rollback, learned policy optimisation or energy accounting.</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Evidence and cautions: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Supplied Diethe PDF: §4.1–4.2 and §5 p4; §5.2 p5; §3.3 p3. First run now saved.</a:t>
            </a:r>
            <a:endParaRPr lang="en-US" sz="2000" b="0" u="none" strike="noStrike">
              <a:solidFill>
                <a:srgbClr val="000000"/>
              </a:solidFill>
              <a:effectLst/>
              <a:uFillTx/>
              <a:latin typeface="Arial"/>
            </a:endParaRPr>
          </a:p>
        </p:txBody>
      </p:sp>
      <p:sp>
        <p:nvSpPr>
          <p:cNvPr id="518" name="PlaceHolder 3"/>
          <p:cNvSpPr>
            <a:spLocks noGrp="1"/>
          </p:cNvSpPr>
          <p:nvPr>
            <p:ph type="sldNum" idx="22"/>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9" name="PlaceHolder 1"/>
          <p:cNvSpPr>
            <a:spLocks noGrp="1"/>
          </p:cNvSpPr>
          <p:nvPr>
            <p:ph type="sldImg"/>
          </p:nvPr>
        </p:nvSpPr>
        <p:spPr>
          <a:xfrm>
            <a:off x="0" y="0"/>
            <a:ext cx="0" cy="0"/>
          </a:xfrm>
          <a:prstGeom prst="rect">
            <a:avLst/>
          </a:prstGeom>
          <a:ln w="0">
            <a:noFill/>
          </a:ln>
        </p:spPr>
      </p:sp>
      <p:sp>
        <p:nvSpPr>
          <p:cNvPr id="52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Synthetic feature vectors are provided directly to the Diethe policy comparison. PCA belongs to a detector branch; do not claim that the comparison passed through EEG or FBCSP. Clearly separate current repository implementation from the cited reference architecture.</a:t>
            </a:r>
            <a:endParaRPr lang="en-US" sz="2000" b="0" u="none" strike="noStrike">
              <a:solidFill>
                <a:srgbClr val="000000"/>
              </a:solidFill>
              <a:effectLst/>
              <a:uFillTx/>
              <a:latin typeface="Arial"/>
            </a:endParaRPr>
          </a:p>
        </p:txBody>
      </p:sp>
      <p:sp>
        <p:nvSpPr>
          <p:cNvPr id="521" name="PlaceHolder 3"/>
          <p:cNvSpPr>
            <a:spLocks noGrp="1"/>
          </p:cNvSpPr>
          <p:nvPr>
            <p:ph type="sldNum" idx="23"/>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2" name="PlaceHolder 1"/>
          <p:cNvSpPr>
            <a:spLocks noGrp="1"/>
          </p:cNvSpPr>
          <p:nvPr>
            <p:ph type="sldImg"/>
          </p:nvPr>
        </p:nvSpPr>
        <p:spPr>
          <a:xfrm>
            <a:off x="0" y="0"/>
            <a:ext cx="0" cy="0"/>
          </a:xfrm>
          <a:prstGeom prst="rect">
            <a:avLst/>
          </a:prstGeom>
          <a:ln w="0">
            <a:noFill/>
          </a:ln>
        </p:spPr>
      </p:sp>
      <p:sp>
        <p:nvSpPr>
          <p:cNvPr id="52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PRESENTER PREPARATION — Controlled scenarios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Suggested explanation (30–60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No shift measures baseline burden. Feature shift changes inputs while preserving the label rule. Relationship shift changes the label rule with the same input stream, so input monitoring can miss performance deterioration.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Likely question and answer:</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When are labels available? Immediately after prediction, before any update. The validated policy waits for validation_time, not the earlier warning time.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Evidence and cautions: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DietheConfig: 120 training, 80 validation, 240 evaluation observations by default. These are feature vectors, not raw EEG.</a:t>
            </a:r>
            <a:endParaRPr lang="en-US" sz="2000" b="0" u="none" strike="noStrike">
              <a:solidFill>
                <a:srgbClr val="000000"/>
              </a:solidFill>
              <a:effectLst/>
              <a:uFillTx/>
              <a:latin typeface="Arial"/>
            </a:endParaRPr>
          </a:p>
        </p:txBody>
      </p:sp>
      <p:sp>
        <p:nvSpPr>
          <p:cNvPr id="524" name="PlaceHolder 3"/>
          <p:cNvSpPr>
            <a:spLocks noGrp="1"/>
          </p:cNvSpPr>
          <p:nvPr>
            <p:ph type="sldNum" idx="24"/>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5" name="PlaceHolder 1"/>
          <p:cNvSpPr>
            <a:spLocks noGrp="1"/>
          </p:cNvSpPr>
          <p:nvPr>
            <p:ph type="sldImg"/>
          </p:nvPr>
        </p:nvSpPr>
        <p:spPr>
          <a:xfrm>
            <a:off x="0" y="0"/>
            <a:ext cx="0" cy="0"/>
          </a:xfrm>
          <a:prstGeom prst="rect">
            <a:avLst/>
          </a:prstGeom>
          <a:ln w="0">
            <a:noFill/>
          </a:ln>
        </p:spPr>
      </p:sp>
      <p:sp>
        <p:nvSpPr>
          <p:cNvPr id="52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PRESENTER PREPARATION — First Diethe result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Suggested explanation (30–60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unchanged model gets 235 of 240 predictions correct. Periodic updating gets 236 with 12 updates. Warning and validated policies get 234; performance-drop matches never with zero updates. This illustrates why detection and update utility should be assessed separately.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Likely question and answer:</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Is periodic best? Not established from one seed. Post-change accuracy is 99.17% for never and performance-drop versus 98.33% for the other three. The one-prediction overall advantage does not establish post-shift benefit.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Evidence and cautions: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endParaRPr lang="en-US" sz="2000" b="0" u="none" strike="noStrike">
              <a:solidFill>
                <a:srgbClr val="000000"/>
              </a:solidFill>
              <a:effectLst/>
              <a:uFillTx/>
              <a:latin typeface="Arial"/>
            </a:endParaRPr>
          </a:p>
        </p:txBody>
      </p:sp>
      <p:sp>
        <p:nvSpPr>
          <p:cNvPr id="527" name="PlaceHolder 3"/>
          <p:cNvSpPr>
            <a:spLocks noGrp="1"/>
          </p:cNvSpPr>
          <p:nvPr>
            <p:ph type="sldNum" idx="25"/>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8" name="PlaceHolder 1"/>
          <p:cNvSpPr>
            <a:spLocks noGrp="1"/>
          </p:cNvSpPr>
          <p:nvPr>
            <p:ph type="sldImg"/>
          </p:nvPr>
        </p:nvSpPr>
        <p:spPr>
          <a:xfrm>
            <a:off x="0" y="0"/>
            <a:ext cx="0" cy="0"/>
          </a:xfrm>
          <a:prstGeom prst="rect">
            <a:avLst/>
          </a:prstGeom>
          <a:ln w="0">
            <a:noFill/>
          </a:ln>
        </p:spPr>
      </p:sp>
      <p:sp>
        <p:nvSpPr>
          <p:cNvPr id="52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PRESENTER PREPARATION — Stored benchmark evidence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Suggested explanation (30–60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Bagging changes accuracy only slightly and inconsistently across datasets. In synthetic monitoring, residuals detect orthogonal shifts missed by PC1, but combination has sensitivity and alarm-burden trade-offs.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Likely question and answer:</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Does 100% PC2 detection establish superiority? Only for the specified synthetic conditions. The no-change window alarm rate and PC1 trade-off must also be reported.</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Evidence and cautions: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outputs/metrics/bagging_bci_real.csv; outputs/complementary_100/summary.csv; magnitude6 summary. CI numbers on slide are explicitly the 2a8d20b snapshot, not a new test run.</a:t>
            </a:r>
            <a:endParaRPr lang="en-US" sz="2000" b="0" u="none" strike="noStrike">
              <a:solidFill>
                <a:srgbClr val="000000"/>
              </a:solidFill>
              <a:effectLst/>
              <a:uFillTx/>
              <a:latin typeface="Arial"/>
            </a:endParaRPr>
          </a:p>
        </p:txBody>
      </p:sp>
      <p:sp>
        <p:nvSpPr>
          <p:cNvPr id="530" name="PlaceHolder 3"/>
          <p:cNvSpPr>
            <a:spLocks noGrp="1"/>
          </p:cNvSpPr>
          <p:nvPr>
            <p:ph type="sldNum" idx="26"/>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1" name="PlaceHolder 1"/>
          <p:cNvSpPr>
            <a:spLocks noGrp="1"/>
          </p:cNvSpPr>
          <p:nvPr>
            <p:ph type="sldImg"/>
          </p:nvPr>
        </p:nvSpPr>
        <p:spPr>
          <a:xfrm>
            <a:off x="0" y="0"/>
            <a:ext cx="0" cy="0"/>
          </a:xfrm>
          <a:prstGeom prst="rect">
            <a:avLst/>
          </a:prstGeom>
          <a:ln w="0">
            <a:noFill/>
          </a:ln>
        </p:spPr>
      </p:sp>
      <p:sp>
        <p:nvSpPr>
          <p:cNvPr id="53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PRESENTER PREPARATION — B01 discrepancy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Suggested explanation (30–60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Two committed files agree on 17 warnings but disagree on validated totals, five versus zero. This is why result provenance matters. I cannot infer that one run supersedes the other from these tables alone.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Likely question and answer:</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What caused the difference? Not established by the saved CSVs. Check validation mode, windows, covariance, input representation and generating configuration.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Evidence and cautions: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outputs/metrics/bci_2b_table1_results.csv and bci_table1_comparison.csv.</a:t>
            </a:r>
            <a:endParaRPr lang="en-US" sz="2000" b="0" u="none" strike="noStrike">
              <a:solidFill>
                <a:srgbClr val="000000"/>
              </a:solidFill>
              <a:effectLst/>
              <a:uFillTx/>
              <a:latin typeface="Arial"/>
            </a:endParaRPr>
          </a:p>
        </p:txBody>
      </p:sp>
      <p:sp>
        <p:nvSpPr>
          <p:cNvPr id="533" name="PlaceHolder 3"/>
          <p:cNvSpPr>
            <a:spLocks noGrp="1"/>
          </p:cNvSpPr>
          <p:nvPr>
            <p:ph type="sldNum" idx="27"/>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4" name="PlaceHolder 1"/>
          <p:cNvSpPr>
            <a:spLocks noGrp="1"/>
          </p:cNvSpPr>
          <p:nvPr>
            <p:ph type="sldImg"/>
          </p:nvPr>
        </p:nvSpPr>
        <p:spPr>
          <a:xfrm>
            <a:off x="0" y="0"/>
            <a:ext cx="0" cy="0"/>
          </a:xfrm>
          <a:prstGeom prst="rect">
            <a:avLst/>
          </a:prstGeom>
          <a:ln w="0">
            <a:noFill/>
          </a:ln>
        </p:spPr>
      </p:sp>
      <p:sp>
        <p:nvSpPr>
          <p:cNvPr id="53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PRESENTER PREPARATION — Reproduction boundary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Suggested explanation (30–60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combined results remain far below published validation counts. I can claim an executable reconstruction with measured discrepancies, but cannot claim numerical reproduction.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Likely question and answer:</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Should parameters be tuned to match published test counts? That would risk fitting to the evaluation target. Select on development data and report sensitivity separately.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Evidence and cautions: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Combined Table-I file; means across nine subjects in each dataset. Not the standalone B01 result.</a:t>
            </a:r>
            <a:endParaRPr lang="en-US" sz="2000" b="0" u="none" strike="noStrike">
              <a:solidFill>
                <a:srgbClr val="000000"/>
              </a:solidFill>
              <a:effectLst/>
              <a:uFillTx/>
              <a:latin typeface="Arial"/>
            </a:endParaRPr>
          </a:p>
        </p:txBody>
      </p:sp>
      <p:sp>
        <p:nvSpPr>
          <p:cNvPr id="536" name="PlaceHolder 3"/>
          <p:cNvSpPr>
            <a:spLocks noGrp="1"/>
          </p:cNvSpPr>
          <p:nvPr>
            <p:ph type="sldNum" idx="28"/>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7" name="PlaceHolder 1"/>
          <p:cNvSpPr>
            <a:spLocks noGrp="1"/>
          </p:cNvSpPr>
          <p:nvPr>
            <p:ph type="sldImg"/>
          </p:nvPr>
        </p:nvSpPr>
        <p:spPr>
          <a:xfrm>
            <a:off x="0" y="0"/>
            <a:ext cx="0" cy="0"/>
          </a:xfrm>
          <a:prstGeom prst="rect">
            <a:avLst/>
          </a:prstGeom>
          <a:ln w="0">
            <a:noFill/>
          </a:ln>
        </p:spPr>
      </p:sp>
      <p:sp>
        <p:nvSpPr>
          <p:cNvPr id="53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PRESENTER PREPARATION — Implemented achievements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Suggested explanation (30–60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main engineering milestone is the separation of representation, detection, validation and adaptation. Supervised updates use revealed labels; the transductive path uses confidence-gated pseudo-labels. Neither is yet the full dynamic CSE-UAEL ensemble.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Likely question and answer:</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Does implemented mean validated? No. Code and tests support behaviour; experiments must establish scientific benefit.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Evidence and cautions: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Repository README and src/adaptation/transductive.py; inspected at f3ef2e8.</a:t>
            </a:r>
            <a:endParaRPr lang="en-US" sz="2000" b="0" u="none" strike="noStrike">
              <a:solidFill>
                <a:srgbClr val="000000"/>
              </a:solidFill>
              <a:effectLst/>
              <a:uFillTx/>
              <a:latin typeface="Arial"/>
            </a:endParaRPr>
          </a:p>
        </p:txBody>
      </p:sp>
      <p:sp>
        <p:nvSpPr>
          <p:cNvPr id="539" name="PlaceHolder 3"/>
          <p:cNvSpPr>
            <a:spLocks noGrp="1"/>
          </p:cNvSpPr>
          <p:nvPr>
            <p:ph type="sldNum" idx="29"/>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0" name="PlaceHolder 1"/>
          <p:cNvSpPr>
            <a:spLocks noGrp="1"/>
          </p:cNvSpPr>
          <p:nvPr>
            <p:ph type="sldImg"/>
          </p:nvPr>
        </p:nvSpPr>
        <p:spPr>
          <a:xfrm>
            <a:off x="0" y="0"/>
            <a:ext cx="0" cy="0"/>
          </a:xfrm>
          <a:prstGeom prst="rect">
            <a:avLst/>
          </a:prstGeom>
          <a:ln w="0">
            <a:noFill/>
          </a:ln>
        </p:spPr>
      </p:sp>
      <p:sp>
        <p:nvSpPr>
          <p:cNvPr id="54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PRESENTER PREPARATION — Timeline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Suggested explanation (30–60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This is a proposed first-year plan. The current reconstruction and pilot experiments provide starting evidence for early work packages; the digital twin, sustainability and cross-domain work are future objectives.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Likely question and answer:</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Are these packages already completed? No. Distinguish the existing benchmark foundation from planned research outcomes.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Evidence and cautions: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Proposed October2026–September2027 timeline retained from the source deck.</a:t>
            </a:r>
            <a:endParaRPr lang="en-US" sz="2000" b="0" u="none" strike="noStrike">
              <a:solidFill>
                <a:srgbClr val="000000"/>
              </a:solidFill>
              <a:effectLst/>
              <a:uFillTx/>
              <a:latin typeface="Arial"/>
            </a:endParaRPr>
          </a:p>
        </p:txBody>
      </p:sp>
      <p:sp>
        <p:nvSpPr>
          <p:cNvPr id="542" name="PlaceHolder 3"/>
          <p:cNvSpPr>
            <a:spLocks noGrp="1"/>
          </p:cNvSpPr>
          <p:nvPr>
            <p:ph type="sldNum" idx="30"/>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3" name="PlaceHolder 1"/>
          <p:cNvSpPr>
            <a:spLocks noGrp="1"/>
          </p:cNvSpPr>
          <p:nvPr>
            <p:ph type="sldImg"/>
          </p:nvPr>
        </p:nvSpPr>
        <p:spPr>
          <a:xfrm>
            <a:off x="0" y="0"/>
            <a:ext cx="0" cy="0"/>
          </a:xfrm>
          <a:prstGeom prst="rect">
            <a:avLst/>
          </a:prstGeom>
          <a:ln w="0">
            <a:noFill/>
          </a:ln>
        </p:spPr>
      </p:sp>
      <p:sp>
        <p:nvSpPr>
          <p:cNvPr id="54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PRESENTER PREPARATION — Closing</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Suggested explanation (30–60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next milestone is a reproducible evidence package: reconcile detector runs, repeat the policy experiment across scenarios and seeds, and generate real EEG complementary traces. Then judge benefit alongside update burden and uncertainty.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Likely question and answer:</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What would count as success? Traceable configurations, repeated results with variability, a clear failure analysis, and evidence supporting a specific update policy under stated assumptions.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Evidence and cautions: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Closing question: when does a detected change justify updating the model? Return to this rather than claiming the full problem is solved.</a:t>
            </a:r>
            <a:endParaRPr lang="en-US" sz="2000" b="0" u="none" strike="noStrike">
              <a:solidFill>
                <a:srgbClr val="000000"/>
              </a:solidFill>
              <a:effectLst/>
              <a:uFillTx/>
              <a:latin typeface="Arial"/>
            </a:endParaRPr>
          </a:p>
        </p:txBody>
      </p:sp>
      <p:sp>
        <p:nvSpPr>
          <p:cNvPr id="545" name="PlaceHolder 3"/>
          <p:cNvSpPr>
            <a:spLocks noGrp="1"/>
          </p:cNvSpPr>
          <p:nvPr>
            <p:ph type="sldNum" idx="31"/>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6" name="PlaceHolder 1"/>
          <p:cNvSpPr>
            <a:spLocks noGrp="1"/>
          </p:cNvSpPr>
          <p:nvPr>
            <p:ph type="sldImg"/>
          </p:nvPr>
        </p:nvSpPr>
        <p:spPr>
          <a:xfrm>
            <a:off x="0" y="0"/>
            <a:ext cx="0" cy="0"/>
          </a:xfrm>
          <a:prstGeom prst="rect">
            <a:avLst/>
          </a:prstGeom>
          <a:ln w="0">
            <a:noFill/>
          </a:ln>
        </p:spPr>
      </p:sp>
      <p:sp>
        <p:nvSpPr>
          <p:cNvPr id="54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Notion equation register: https://app.notion.com/p/3f1410db31c8815a83afddf720c3edd1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Chowdhury methods and source equations: https://app.notion.com/p/3ee410db31c8819598cee6b34381701c</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W1–W2 provide supporting Wishart theory. Slide-specific labels supplement the existing Notion identifiers.</a:t>
            </a:r>
            <a:endParaRPr lang="en-US" sz="2000" b="0" u="none" strike="noStrike">
              <a:solidFill>
                <a:srgbClr val="000000"/>
              </a:solidFill>
              <a:effectLst/>
              <a:uFillTx/>
              <a:latin typeface="Arial"/>
            </a:endParaRPr>
          </a:p>
        </p:txBody>
      </p:sp>
      <p:sp>
        <p:nvSpPr>
          <p:cNvPr id="548" name="PlaceHolder 3"/>
          <p:cNvSpPr>
            <a:spLocks noGrp="1"/>
          </p:cNvSpPr>
          <p:nvPr>
            <p:ph type="sldNum" idx="32"/>
          </p:nvPr>
        </p:nvSpPr>
        <p:spPr>
          <a:xfrm>
            <a:off x="0" y="0"/>
            <a:ext cx="0" cy="0"/>
          </a:xfrm>
          <a:prstGeom prst="rect">
            <a:avLst/>
          </a:prstGeom>
          <a:noFill/>
          <a:ln w="0">
            <a:noFill/>
          </a:ln>
        </p:spPr>
        <p:txBody>
          <a:bodyPr lIns="90000" tIns="-45000" rIns="90000" bIns="-45000" anchor="t">
            <a:noAutofit/>
          </a:bodyPr>
          <a:p>
            <a:pPr indent="0" algn="l">
              <a:buNone/>
            </a:pPr>
            <a:endParaRPr lang="en-US" sz="18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tIns="0" rIns="0" bIns="0" anchor="ctr">
            <a:spAutoFit/>
          </a:bodyPr>
          <a:p>
            <a:pPr indent="0" algn="l">
              <a:buNone/>
            </a:pPr>
            <a:endParaRPr lang="en-US" sz="1800" b="0" u="none" strike="noStrike">
              <a:solidFill>
                <a:schemeClr val="dk1"/>
              </a:solidFill>
              <a:effectLst/>
              <a:uFillTx/>
              <a:latin typeface="Calibri"/>
            </a:endParaRPr>
          </a:p>
        </p:txBody>
      </p:sp>
      <p:sp>
        <p:nvSpPr>
          <p:cNvPr id="5" name="PlaceHolder 2"/>
          <p:cNvSpPr>
            <a:spLocks noGrp="1"/>
          </p:cNvSpPr>
          <p:nvPr>
            <p:ph type="subTitle"/>
          </p:nvPr>
        </p:nvSpPr>
        <p:spPr>
          <a:xfrm>
            <a:off x="609480" y="1604520"/>
            <a:ext cx="10972440" cy="39772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Master">
    <p:bg>
      <p:bgPr>
        <a:solidFill>
          <a:srgbClr val="FFFFFF"/>
        </a:solidFill>
      </p:bgPr>
    </p:bg>
    <p:spTree>
      <p:nvGrpSpPr>
        <p:cNvPr id="1" name=""/>
        <p:cNvGrpSpPr/>
        <p:nvPr/>
      </p:nvGrpSpPr>
      <p:grpSpPr>
        <a:xfrm>
          <a:off x="0" y="0"/>
          <a:ext cx="0" cy="0"/>
          <a:chOff x="0" y="0"/>
          <a:chExt cx="0" cy="0"/>
        </a:xfrm>
      </p:grpSpPr>
      <p:sp>
        <p:nvSpPr>
          <p:cNvPr id="6" name="Accent rule"/>
          <p:cNvSpPr/>
          <p:nvPr/>
        </p:nvSpPr>
        <p:spPr>
          <a:xfrm>
            <a:off x="5791320" y="2209680"/>
            <a:ext cx="609120" cy="37800"/>
          </a:xfrm>
          <a:prstGeom prst="rect">
            <a:avLst/>
          </a:prstGeom>
          <a:solidFill>
            <a:schemeClr val="accent1"/>
          </a:solidFill>
          <a:ln w="0">
            <a:noFill/>
          </a:ln>
        </p:spPr>
        <p:style>
          <a:lnRef idx="0"/>
          <a:fillRef idx="0"/>
          <a:effectRef idx="0"/>
          <a:fontRef idx="minor"/>
        </p:style>
        <p:txBody>
          <a:bodyPr lIns="90000" tIns="-6840" rIns="90000" bIns="-6840" anchor="t">
            <a:noAutofit/>
          </a:bodyPr>
          <a:p>
            <a:pPr/>
            <a:endParaRPr lang="en-US" sz="1800" b="0" u="none" strike="noStrike">
              <a:solidFill>
                <a:srgbClr val="FFFFFF"/>
              </a:solidFill>
              <a:effectLst/>
              <a:uFillTx/>
              <a:latin typeface="Arial"/>
            </a:endParaRPr>
          </a:p>
        </p:txBody>
      </p:sp>
      <p:sp>
        <p:nvSpPr>
          <p:cNvPr id="7" name="PlaceHolder 1"/>
          <p:cNvSpPr>
            <a:spLocks noGrp="1"/>
          </p:cNvSpPr>
          <p:nvPr>
            <p:ph type="title"/>
          </p:nvPr>
        </p:nvSpPr>
        <p:spPr>
          <a:xfrm>
            <a:off x="1219320" y="2590920"/>
            <a:ext cx="9753120" cy="990360"/>
          </a:xfrm>
          <a:prstGeom prst="rect">
            <a:avLst/>
          </a:prstGeom>
          <a:noFill/>
          <a:ln w="0">
            <a:noFill/>
          </a:ln>
        </p:spPr>
        <p:txBody>
          <a:bodyPr lIns="0" tIns="0" rIns="0" bIns="0" anchor="ctr">
            <a:normAutofit/>
          </a:bodyPr>
          <a:lstStyle>
            <a:lvl1pPr indent="0" algn="l">
              <a:buNone/>
              <a:defRPr lang="en-US" sz="4400" b="0" u="none" strike="noStrike">
                <a:solidFill>
                  <a:schemeClr val="dk1"/>
                </a:solidFill>
                <a:effectLst/>
                <a:uFillTx/>
                <a:latin typeface="Aptos"/>
              </a:defRPr>
            </a:lvl1pPr>
          </a:lstStyle>
          <a:p>
            <a:pPr indent="0" algn="l">
              <a:buNone/>
            </a:pPr>
            <a:r>
              <a:rPr lang="en-US" sz="4400" b="0" u="none" strike="noStrike">
                <a:solidFill>
                  <a:schemeClr val="dk1"/>
                </a:solidFill>
                <a:effectLst/>
                <a:uFillTx/>
                <a:latin typeface="Aptos"/>
              </a:rPr>
              <a:t>Click to edit the title text format</a:t>
            </a:r>
            <a:endParaRPr lang="en-US" sz="4400" b="0" u="none" strike="noStrike">
              <a:solidFill>
                <a:schemeClr val="dk1"/>
              </a:solidFill>
              <a:effectLst/>
              <a:uFillTx/>
              <a:latin typeface="Aptos"/>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8" name="Accent rule"/>
          <p:cNvSpPr/>
          <p:nvPr/>
        </p:nvSpPr>
        <p:spPr>
          <a:xfrm>
            <a:off x="5791320" y="2476440"/>
            <a:ext cx="609120" cy="37800"/>
          </a:xfrm>
          <a:prstGeom prst="rect">
            <a:avLst/>
          </a:prstGeom>
          <a:solidFill>
            <a:schemeClr val="accent1"/>
          </a:solidFill>
          <a:ln w="0">
            <a:noFill/>
          </a:ln>
        </p:spPr>
        <p:style>
          <a:lnRef idx="0"/>
          <a:fillRef idx="0"/>
          <a:effectRef idx="0"/>
          <a:fontRef idx="minor"/>
        </p:style>
        <p:txBody>
          <a:bodyPr lIns="90000" tIns="-6840" rIns="90000" bIns="-6840" anchor="t">
            <a:noAutofit/>
          </a:bodyPr>
          <a:p>
            <a:pPr/>
            <a:endParaRPr lang="en-US" sz="1800" b="0" u="none" strike="noStrike">
              <a:solidFill>
                <a:srgbClr val="FFFFFF"/>
              </a:solidFill>
              <a:effectLst/>
              <a:uFillTx/>
              <a:latin typeface="Arial"/>
            </a:endParaRPr>
          </a:p>
        </p:txBody>
      </p:sp>
      <p:sp>
        <p:nvSpPr>
          <p:cNvPr id="9" name="PlaceHolder 1"/>
          <p:cNvSpPr>
            <a:spLocks noGrp="1"/>
          </p:cNvSpPr>
          <p:nvPr>
            <p:ph type="title"/>
          </p:nvPr>
        </p:nvSpPr>
        <p:spPr>
          <a:xfrm>
            <a:off x="1219320" y="2857680"/>
            <a:ext cx="9753120" cy="1142640"/>
          </a:xfrm>
          <a:prstGeom prst="rect">
            <a:avLst/>
          </a:prstGeom>
          <a:noFill/>
          <a:ln w="0">
            <a:noFill/>
          </a:ln>
        </p:spPr>
        <p:txBody>
          <a:bodyPr lIns="0" tIns="0" rIns="0" bIns="0" anchor="ctr">
            <a:normAutofit/>
          </a:bodyPr>
          <a:lstStyle>
            <a:lvl1pPr indent="0" algn="l">
              <a:buNone/>
              <a:defRPr lang="en-US" sz="4400" b="0" u="none" strike="noStrike">
                <a:solidFill>
                  <a:schemeClr val="dk1"/>
                </a:solidFill>
                <a:effectLst/>
                <a:uFillTx/>
                <a:latin typeface="Aptos"/>
              </a:defRPr>
            </a:lvl1pPr>
          </a:lstStyle>
          <a:p>
            <a:pPr indent="0" algn="l">
              <a:buNone/>
            </a:pPr>
            <a:r>
              <a:rPr lang="en-US" sz="4400" b="0" u="none" strike="noStrike">
                <a:solidFill>
                  <a:schemeClr val="dk1"/>
                </a:solidFill>
                <a:effectLst/>
                <a:uFillTx/>
                <a:latin typeface="Aptos"/>
              </a:rPr>
              <a:t>Click to edit the title text format</a:t>
            </a:r>
            <a:endParaRPr lang="en-US" sz="4400" b="0" u="none" strike="noStrike">
              <a:solidFill>
                <a:schemeClr val="dk1"/>
              </a:solidFill>
              <a:effectLst/>
              <a:uFillTx/>
              <a:latin typeface="Aptos"/>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and Body">
    <p:bg>
      <p:bgPr>
        <a:solidFill>
          <a:srgbClr val="FFFFFF"/>
        </a:solidFill>
      </p:bgPr>
    </p:bg>
    <p:spTree>
      <p:nvGrpSpPr>
        <p:cNvPr id="1" name=""/>
        <p:cNvGrpSpPr/>
        <p:nvPr/>
      </p:nvGrpSpPr>
      <p:grpSpPr>
        <a:xfrm>
          <a:off x="0" y="0"/>
          <a:ext cx="0" cy="0"/>
          <a:chOff x="0" y="0"/>
          <a:chExt cx="0" cy="0"/>
        </a:xfrm>
      </p:grpSpPr>
      <p:sp>
        <p:nvSpPr>
          <p:cNvPr id="10" name="Accent rule"/>
          <p:cNvSpPr/>
          <p:nvPr/>
        </p:nvSpPr>
        <p:spPr>
          <a:xfrm>
            <a:off x="685800" y="1523880"/>
            <a:ext cx="609120" cy="37800"/>
          </a:xfrm>
          <a:prstGeom prst="rect">
            <a:avLst/>
          </a:prstGeom>
          <a:solidFill>
            <a:schemeClr val="accent1"/>
          </a:solidFill>
          <a:ln w="0">
            <a:noFill/>
          </a:ln>
        </p:spPr>
        <p:style>
          <a:lnRef idx="0"/>
          <a:fillRef idx="0"/>
          <a:effectRef idx="0"/>
          <a:fontRef idx="minor"/>
        </p:style>
        <p:txBody>
          <a:bodyPr lIns="90000" tIns="-6840" rIns="90000" bIns="-6840" anchor="t">
            <a:noAutofit/>
          </a:bodyPr>
          <a:p>
            <a:pPr/>
            <a:endParaRPr lang="en-GB" sz="1800" b="0" u="none" strike="noStrike">
              <a:solidFill>
                <a:schemeClr val="dk1"/>
              </a:solidFill>
              <a:effectLst/>
              <a:uFillTx/>
              <a:latin typeface="Aptos"/>
            </a:endParaRPr>
          </a:p>
        </p:txBody>
      </p:sp>
      <p:sp>
        <p:nvSpPr>
          <p:cNvPr id="11" name="PlaceHolder 1"/>
          <p:cNvSpPr>
            <a:spLocks noGrp="1"/>
          </p:cNvSpPr>
          <p:nvPr>
            <p:ph type="title"/>
          </p:nvPr>
        </p:nvSpPr>
        <p:spPr>
          <a:xfrm>
            <a:off x="685800" y="533520"/>
            <a:ext cx="10820160" cy="837720"/>
          </a:xfrm>
          <a:prstGeom prst="rect">
            <a:avLst/>
          </a:prstGeom>
          <a:noFill/>
          <a:ln w="0">
            <a:noFill/>
          </a:ln>
        </p:spPr>
        <p:txBody>
          <a:bodyPr lIns="0" tIns="0" rIns="0" bIns="0" anchor="t">
            <a:normAutofit/>
          </a:bodyPr>
          <a:lstStyle>
            <a:lvl1pPr indent="0" algn="l">
              <a:buNone/>
              <a:defRPr lang="en-US" sz="4400" b="0" u="none" strike="noStrike">
                <a:solidFill>
                  <a:schemeClr val="dk1"/>
                </a:solidFill>
                <a:effectLst/>
                <a:uFillTx/>
                <a:latin typeface="Aptos"/>
              </a:defRPr>
            </a:lvl1pPr>
          </a:lstStyle>
          <a:p>
            <a:pPr indent="0" algn="l">
              <a:buNone/>
            </a:pPr>
            <a:r>
              <a:rPr lang="en-US" sz="4400" b="0" u="none" strike="noStrike">
                <a:solidFill>
                  <a:schemeClr val="dk1"/>
                </a:solidFill>
                <a:effectLst/>
                <a:uFillTx/>
                <a:latin typeface="Aptos"/>
              </a:rPr>
              <a:t>Click to edit the title text format</a:t>
            </a:r>
            <a:endParaRPr lang="en-US" sz="4400" b="0" u="none" strike="noStrike">
              <a:solidFill>
                <a:schemeClr val="dk1"/>
              </a:solidFill>
              <a:effectLst/>
              <a:uFillTx/>
              <a:latin typeface="Aptos"/>
            </a:endParaRPr>
          </a:p>
        </p:txBody>
      </p:sp>
      <p:sp>
        <p:nvSpPr>
          <p:cNvPr id="12" name="PlaceHolder 2"/>
          <p:cNvSpPr>
            <a:spLocks noGrp="1"/>
          </p:cNvSpPr>
          <p:nvPr>
            <p:ph type="body"/>
          </p:nvPr>
        </p:nvSpPr>
        <p:spPr>
          <a:xfrm>
            <a:off x="685800" y="1905120"/>
            <a:ext cx="10820160" cy="4266720"/>
          </a:xfrm>
          <a:prstGeom prst="rect">
            <a:avLst/>
          </a:prstGeom>
          <a:noFill/>
          <a:ln w="0">
            <a:noFill/>
          </a:ln>
        </p:spPr>
        <p:txBody>
          <a:bodyPr lIns="0" tIns="0" rIns="0" bIns="0" anchor="t">
            <a:normAutofit/>
          </a:bodyPr>
          <a:lstStyle>
            <a:lvl1pPr algn="l">
              <a:lnSpc>
                <a:spcPct val="90000"/>
              </a:lnSpc>
              <a:spcBef>
                <a:spcPts val="1417"/>
              </a:spcBef>
              <a:buClr>
                <a:srgbClr val="000000"/>
              </a:buClr>
              <a:buSzPct val="45000"/>
              <a:buFont typeface="Wingdings" charset="2"/>
              <a:buChar char=""/>
              <a:defRPr lang="en-US" sz="2800" b="0" u="none" strike="noStrike">
                <a:solidFill>
                  <a:schemeClr val="dk1"/>
                </a:solidFill>
                <a:effectLst/>
                <a:uFillTx/>
                <a:latin typeface="Aptos"/>
              </a:defRPr>
            </a:lvl1pPr>
            <a:lvl2pPr lvl="1" algn="l">
              <a:lnSpc>
                <a:spcPct val="90000"/>
              </a:lnSpc>
              <a:spcBef>
                <a:spcPts val="1134"/>
              </a:spcBef>
              <a:buClr>
                <a:srgbClr val="000000"/>
              </a:buClr>
              <a:buSzPct val="75000"/>
              <a:buFont typeface="Symbol" charset="2"/>
              <a:buChar char=""/>
              <a:defRPr lang="en-US" sz="2800" b="0" u="none" strike="noStrike">
                <a:solidFill>
                  <a:schemeClr val="dk1"/>
                </a:solidFill>
                <a:effectLst/>
                <a:uFillTx/>
                <a:latin typeface="Aptos"/>
              </a:defRPr>
            </a:lvl2pPr>
            <a:lvl3pPr lvl="2" algn="l">
              <a:lnSpc>
                <a:spcPct val="90000"/>
              </a:lnSpc>
              <a:spcBef>
                <a:spcPts val="850"/>
              </a:spcBef>
              <a:buClr>
                <a:srgbClr val="000000"/>
              </a:buClr>
              <a:buSzPct val="45000"/>
              <a:buFont typeface="Wingdings" charset="2"/>
              <a:buChar char=""/>
              <a:defRPr lang="en-US" sz="2800" b="0" u="none" strike="noStrike">
                <a:solidFill>
                  <a:schemeClr val="dk1"/>
                </a:solidFill>
                <a:effectLst/>
                <a:uFillTx/>
                <a:latin typeface="Aptos"/>
              </a:defRPr>
            </a:lvl3pPr>
            <a:lvl4pPr lvl="3" algn="l">
              <a:lnSpc>
                <a:spcPct val="90000"/>
              </a:lnSpc>
              <a:spcBef>
                <a:spcPts val="567"/>
              </a:spcBef>
              <a:buClr>
                <a:srgbClr val="000000"/>
              </a:buClr>
              <a:buSzPct val="75000"/>
              <a:buFont typeface="Symbol" charset="2"/>
              <a:buChar char=""/>
              <a:defRPr lang="en-US" sz="2800" b="0" u="none" strike="noStrike">
                <a:solidFill>
                  <a:schemeClr val="dk1"/>
                </a:solidFill>
                <a:effectLst/>
                <a:uFillTx/>
                <a:latin typeface="Aptos"/>
              </a:defRPr>
            </a:lvl4pPr>
            <a:lvl5pPr lvl="4" algn="l">
              <a:lnSpc>
                <a:spcPct val="90000"/>
              </a:lnSpc>
              <a:spcBef>
                <a:spcPts val="283"/>
              </a:spcBef>
              <a:buClr>
                <a:srgbClr val="000000"/>
              </a:buClr>
              <a:buSzPct val="45000"/>
              <a:buFont typeface="Wingdings" charset="2"/>
              <a:buChar char=""/>
              <a:defRPr lang="en-US" sz="2800" b="0" u="none" strike="noStrike">
                <a:solidFill>
                  <a:schemeClr val="dk1"/>
                </a:solidFill>
                <a:effectLst/>
                <a:uFillTx/>
                <a:latin typeface="Aptos"/>
              </a:defRPr>
            </a:lvl5pPr>
            <a:lvl6pPr lvl="5" algn="l">
              <a:lnSpc>
                <a:spcPct val="90000"/>
              </a:lnSpc>
              <a:spcBef>
                <a:spcPts val="283"/>
              </a:spcBef>
              <a:buClr>
                <a:srgbClr val="000000"/>
              </a:buClr>
              <a:buSzPct val="45000"/>
              <a:buFont typeface="Wingdings" charset="2"/>
              <a:buChar char=""/>
              <a:defRPr lang="en-US" sz="2800" b="0" u="none" strike="noStrike">
                <a:solidFill>
                  <a:schemeClr val="dk1"/>
                </a:solidFill>
                <a:effectLst/>
                <a:uFillTx/>
                <a:latin typeface="Aptos"/>
              </a:defRPr>
            </a:lvl6pPr>
            <a:lvl7pPr lvl="6" algn="l">
              <a:lnSpc>
                <a:spcPct val="90000"/>
              </a:lnSpc>
              <a:spcBef>
                <a:spcPts val="283"/>
              </a:spcBef>
              <a:buClr>
                <a:srgbClr val="000000"/>
              </a:buClr>
              <a:buSzPct val="45000"/>
              <a:buFont typeface="Wingdings" charset="2"/>
              <a:buChar char=""/>
              <a:defRPr lang="en-US" sz="2800" b="0" u="none" strike="noStrike">
                <a:solidFill>
                  <a:schemeClr val="dk1"/>
                </a:solidFill>
                <a:effectLst/>
                <a:uFillTx/>
                <a:latin typeface="Aptos"/>
              </a:defRPr>
            </a:lvl7pPr>
          </a:lstStyle>
          <a:p>
            <a:pPr marL="228600" indent="-228600" algn="l">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Aptos"/>
              </a:rPr>
              <a:t>Click to edit the outline text format</a:t>
            </a:r>
            <a:endParaRPr lang="en-US" sz="2800" b="0" u="none" strike="noStrike">
              <a:solidFill>
                <a:schemeClr val="dk1"/>
              </a:solidFill>
              <a:effectLst/>
              <a:uFillTx/>
              <a:latin typeface="Aptos"/>
            </a:endParaRPr>
          </a:p>
          <a:p>
            <a:pPr marL="533520" lvl="1" indent="-228600" algn="l">
              <a:lnSpc>
                <a:spcPct val="90000"/>
              </a:lnSpc>
              <a:spcBef>
                <a:spcPts val="1134"/>
              </a:spcBef>
              <a:buClr>
                <a:srgbClr val="000000"/>
              </a:buClr>
              <a:buSzPct val="75000"/>
              <a:buFont typeface="Symbol" charset="2"/>
              <a:buChar char=""/>
            </a:pPr>
            <a:r>
              <a:rPr lang="en-US" sz="2800" b="0" u="none" strike="noStrike">
                <a:solidFill>
                  <a:schemeClr val="dk1"/>
                </a:solidFill>
                <a:effectLst/>
                <a:uFillTx/>
                <a:latin typeface="Aptos"/>
              </a:rPr>
              <a:t>Second Outline Level</a:t>
            </a:r>
            <a:endParaRPr lang="en-US" sz="2800" b="0" u="none" strike="noStrike">
              <a:solidFill>
                <a:schemeClr val="dk1"/>
              </a:solidFill>
              <a:effectLst/>
              <a:uFillTx/>
              <a:latin typeface="Aptos"/>
            </a:endParaRPr>
          </a:p>
          <a:p>
            <a:pPr marL="838080" lvl="2" indent="-228600" algn="l">
              <a:lnSpc>
                <a:spcPct val="90000"/>
              </a:lnSpc>
              <a:spcBef>
                <a:spcPts val="850"/>
              </a:spcBef>
              <a:buClr>
                <a:srgbClr val="000000"/>
              </a:buClr>
              <a:buSzPct val="45000"/>
              <a:buFont typeface="Wingdings" charset="2"/>
              <a:buChar char=""/>
            </a:pPr>
            <a:r>
              <a:rPr lang="en-US" sz="2800" b="0" u="none" strike="noStrike">
                <a:solidFill>
                  <a:schemeClr val="dk1"/>
                </a:solidFill>
                <a:effectLst/>
                <a:uFillTx/>
                <a:latin typeface="Aptos"/>
              </a:rPr>
              <a:t>Third Outline Level</a:t>
            </a:r>
            <a:endParaRPr lang="en-US" sz="2800" b="0" u="none" strike="noStrike">
              <a:solidFill>
                <a:schemeClr val="dk1"/>
              </a:solidFill>
              <a:effectLst/>
              <a:uFillTx/>
              <a:latin typeface="Aptos"/>
            </a:endParaRPr>
          </a:p>
          <a:p>
            <a:pPr marL="1143000" lvl="3" indent="-228600" algn="l">
              <a:lnSpc>
                <a:spcPct val="90000"/>
              </a:lnSpc>
              <a:spcBef>
                <a:spcPts val="567"/>
              </a:spcBef>
              <a:buClr>
                <a:srgbClr val="000000"/>
              </a:buClr>
              <a:buSzPct val="75000"/>
              <a:buFont typeface="Symbol" charset="2"/>
              <a:buChar char=""/>
            </a:pPr>
            <a:r>
              <a:rPr lang="en-US" sz="2800" b="0" u="none" strike="noStrike">
                <a:solidFill>
                  <a:schemeClr val="dk1"/>
                </a:solidFill>
                <a:effectLst/>
                <a:uFillTx/>
                <a:latin typeface="Aptos"/>
              </a:rPr>
              <a:t>Fourth Outline Level</a:t>
            </a:r>
            <a:endParaRPr lang="en-US" sz="2800" b="0" u="none" strike="noStrike">
              <a:solidFill>
                <a:schemeClr val="dk1"/>
              </a:solidFill>
              <a:effectLst/>
              <a:uFillTx/>
              <a:latin typeface="Aptos"/>
            </a:endParaRPr>
          </a:p>
          <a:p>
            <a:pPr marL="1447920" lvl="4" indent="-228600" algn="l">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Aptos"/>
              </a:rPr>
              <a:t>Fifth Outline Level</a:t>
            </a:r>
            <a:endParaRPr lang="en-US" sz="2800" b="0" u="none" strike="noStrike">
              <a:solidFill>
                <a:schemeClr val="dk1"/>
              </a:solidFill>
              <a:effectLst/>
              <a:uFillTx/>
              <a:latin typeface="Aptos"/>
            </a:endParaRPr>
          </a:p>
          <a:p>
            <a:pPr marL="1752480" lvl="5" indent="-228600" algn="l">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Aptos"/>
              </a:rPr>
              <a:t>Sixth Outline Level</a:t>
            </a:r>
            <a:endParaRPr lang="en-US" sz="2800" b="0" u="none" strike="noStrike">
              <a:solidFill>
                <a:schemeClr val="dk1"/>
              </a:solidFill>
              <a:effectLst/>
              <a:uFillTx/>
              <a:latin typeface="Aptos"/>
            </a:endParaRPr>
          </a:p>
          <a:p>
            <a:pPr marL="2057400" lvl="6" indent="-228600" algn="l">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Aptos"/>
              </a:rPr>
              <a:t>Seventh Outline Level</a:t>
            </a:r>
            <a:endParaRPr lang="en-US" sz="2800" b="0" u="none" strike="noStrike">
              <a:solidFill>
                <a:schemeClr val="dk1"/>
              </a:solidFill>
              <a:effectLst/>
              <a:uFillTx/>
              <a:latin typeface="Aptos"/>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and Two Column">
    <p:bg>
      <p:bgPr>
        <a:solidFill>
          <a:srgbClr val="FFFFFF"/>
        </a:solidFill>
      </p:bgPr>
    </p:bg>
    <p:spTree>
      <p:nvGrpSpPr>
        <p:cNvPr id="1" name=""/>
        <p:cNvGrpSpPr/>
        <p:nvPr/>
      </p:nvGrpSpPr>
      <p:grpSpPr>
        <a:xfrm>
          <a:off x="0" y="0"/>
          <a:ext cx="0" cy="0"/>
          <a:chOff x="0" y="0"/>
          <a:chExt cx="0" cy="0"/>
        </a:xfrm>
      </p:grpSpPr>
      <p:sp>
        <p:nvSpPr>
          <p:cNvPr id="13" name="Accent rule"/>
          <p:cNvSpPr/>
          <p:nvPr/>
        </p:nvSpPr>
        <p:spPr>
          <a:xfrm>
            <a:off x="685800" y="1523880"/>
            <a:ext cx="609120" cy="37800"/>
          </a:xfrm>
          <a:prstGeom prst="rect">
            <a:avLst/>
          </a:prstGeom>
          <a:solidFill>
            <a:schemeClr val="accent1"/>
          </a:solidFill>
          <a:ln w="0">
            <a:noFill/>
          </a:ln>
        </p:spPr>
        <p:style>
          <a:lnRef idx="0"/>
          <a:fillRef idx="0"/>
          <a:effectRef idx="0"/>
          <a:fontRef idx="minor"/>
        </p:style>
        <p:txBody>
          <a:bodyPr lIns="90000" tIns="-6840" rIns="90000" bIns="-6840" anchor="t">
            <a:noAutofit/>
          </a:bodyPr>
          <a:p>
            <a:pPr/>
            <a:endParaRPr lang="en-US" sz="1800" b="0" u="none" strike="noStrike">
              <a:solidFill>
                <a:srgbClr val="FFFFFF"/>
              </a:solidFill>
              <a:effectLst/>
              <a:uFillTx/>
              <a:latin typeface="Arial"/>
            </a:endParaRPr>
          </a:p>
        </p:txBody>
      </p:sp>
      <p:sp>
        <p:nvSpPr>
          <p:cNvPr id="14" name="PlaceHolder 1"/>
          <p:cNvSpPr>
            <a:spLocks noGrp="1"/>
          </p:cNvSpPr>
          <p:nvPr>
            <p:ph type="title"/>
          </p:nvPr>
        </p:nvSpPr>
        <p:spPr>
          <a:xfrm>
            <a:off x="685800" y="533520"/>
            <a:ext cx="10820160" cy="837720"/>
          </a:xfrm>
          <a:prstGeom prst="rect">
            <a:avLst/>
          </a:prstGeom>
          <a:noFill/>
          <a:ln w="0">
            <a:noFill/>
          </a:ln>
        </p:spPr>
        <p:txBody>
          <a:bodyPr lIns="0" tIns="0" rIns="0" bIns="0" anchor="t">
            <a:normAutofit/>
          </a:bodyPr>
          <a:lstStyle>
            <a:lvl1pPr indent="0" algn="l">
              <a:buNone/>
              <a:defRPr lang="en-US" sz="4400" b="0" u="none" strike="noStrike">
                <a:solidFill>
                  <a:schemeClr val="dk1"/>
                </a:solidFill>
                <a:effectLst/>
                <a:uFillTx/>
                <a:latin typeface="Aptos"/>
              </a:defRPr>
            </a:lvl1pPr>
          </a:lstStyle>
          <a:p>
            <a:pPr indent="0" algn="l">
              <a:buNone/>
            </a:pPr>
            <a:r>
              <a:rPr lang="en-US" sz="4400" b="0" u="none" strike="noStrike">
                <a:solidFill>
                  <a:schemeClr val="dk1"/>
                </a:solidFill>
                <a:effectLst/>
                <a:uFillTx/>
                <a:latin typeface="Aptos"/>
              </a:rPr>
              <a:t>Click to edit the title text format</a:t>
            </a:r>
            <a:endParaRPr lang="en-US" sz="4400" b="0" u="none" strike="noStrike">
              <a:solidFill>
                <a:schemeClr val="dk1"/>
              </a:solidFill>
              <a:effectLst/>
              <a:uFillTx/>
              <a:latin typeface="Aptos"/>
            </a:endParaRPr>
          </a:p>
        </p:txBody>
      </p:sp>
      <p:sp>
        <p:nvSpPr>
          <p:cNvPr id="15" name="PlaceHolder 2"/>
          <p:cNvSpPr>
            <a:spLocks noGrp="1"/>
          </p:cNvSpPr>
          <p:nvPr>
            <p:ph type="body"/>
          </p:nvPr>
        </p:nvSpPr>
        <p:spPr>
          <a:xfrm>
            <a:off x="685800" y="1905120"/>
            <a:ext cx="5028840" cy="4266720"/>
          </a:xfrm>
          <a:prstGeom prst="rect">
            <a:avLst/>
          </a:prstGeom>
          <a:noFill/>
          <a:ln w="0">
            <a:noFill/>
          </a:ln>
        </p:spPr>
        <p:txBody>
          <a:bodyPr lIns="0" tIns="0" rIns="0" bIns="0" anchor="t">
            <a:normAutofit/>
          </a:bodyPr>
          <a:lstStyle>
            <a:lvl1pPr algn="l">
              <a:lnSpc>
                <a:spcPct val="90000"/>
              </a:lnSpc>
              <a:spcBef>
                <a:spcPts val="1417"/>
              </a:spcBef>
              <a:buClr>
                <a:srgbClr val="000000"/>
              </a:buClr>
              <a:buSzPct val="45000"/>
              <a:buFont typeface="Wingdings" charset="2"/>
              <a:buChar char=""/>
              <a:defRPr lang="en-US" sz="2800" b="0" u="none" strike="noStrike">
                <a:solidFill>
                  <a:schemeClr val="dk1"/>
                </a:solidFill>
                <a:effectLst/>
                <a:uFillTx/>
                <a:latin typeface="Aptos"/>
              </a:defRPr>
            </a:lvl1pPr>
            <a:lvl2pPr lvl="1" algn="l">
              <a:lnSpc>
                <a:spcPct val="90000"/>
              </a:lnSpc>
              <a:spcBef>
                <a:spcPts val="1134"/>
              </a:spcBef>
              <a:buClr>
                <a:srgbClr val="000000"/>
              </a:buClr>
              <a:buSzPct val="75000"/>
              <a:buFont typeface="Symbol" charset="2"/>
              <a:buChar char=""/>
              <a:defRPr lang="en-US" sz="2800" b="0" u="none" strike="noStrike">
                <a:solidFill>
                  <a:schemeClr val="dk1"/>
                </a:solidFill>
                <a:effectLst/>
                <a:uFillTx/>
                <a:latin typeface="Aptos"/>
              </a:defRPr>
            </a:lvl2pPr>
            <a:lvl3pPr lvl="2" algn="l">
              <a:lnSpc>
                <a:spcPct val="90000"/>
              </a:lnSpc>
              <a:spcBef>
                <a:spcPts val="850"/>
              </a:spcBef>
              <a:buClr>
                <a:srgbClr val="000000"/>
              </a:buClr>
              <a:buSzPct val="45000"/>
              <a:buFont typeface="Wingdings" charset="2"/>
              <a:buChar char=""/>
              <a:defRPr lang="en-US" sz="2800" b="0" u="none" strike="noStrike">
                <a:solidFill>
                  <a:schemeClr val="dk1"/>
                </a:solidFill>
                <a:effectLst/>
                <a:uFillTx/>
                <a:latin typeface="Aptos"/>
              </a:defRPr>
            </a:lvl3pPr>
            <a:lvl4pPr lvl="3" algn="l">
              <a:lnSpc>
                <a:spcPct val="90000"/>
              </a:lnSpc>
              <a:spcBef>
                <a:spcPts val="567"/>
              </a:spcBef>
              <a:buClr>
                <a:srgbClr val="000000"/>
              </a:buClr>
              <a:buSzPct val="75000"/>
              <a:buFont typeface="Symbol" charset="2"/>
              <a:buChar char=""/>
              <a:defRPr lang="en-US" sz="2800" b="0" u="none" strike="noStrike">
                <a:solidFill>
                  <a:schemeClr val="dk1"/>
                </a:solidFill>
                <a:effectLst/>
                <a:uFillTx/>
                <a:latin typeface="Aptos"/>
              </a:defRPr>
            </a:lvl4pPr>
            <a:lvl5pPr lvl="4" algn="l">
              <a:lnSpc>
                <a:spcPct val="90000"/>
              </a:lnSpc>
              <a:spcBef>
                <a:spcPts val="283"/>
              </a:spcBef>
              <a:buClr>
                <a:srgbClr val="000000"/>
              </a:buClr>
              <a:buSzPct val="45000"/>
              <a:buFont typeface="Wingdings" charset="2"/>
              <a:buChar char=""/>
              <a:defRPr lang="en-US" sz="2800" b="0" u="none" strike="noStrike">
                <a:solidFill>
                  <a:schemeClr val="dk1"/>
                </a:solidFill>
                <a:effectLst/>
                <a:uFillTx/>
                <a:latin typeface="Aptos"/>
              </a:defRPr>
            </a:lvl5pPr>
            <a:lvl6pPr lvl="5" algn="l">
              <a:lnSpc>
                <a:spcPct val="90000"/>
              </a:lnSpc>
              <a:spcBef>
                <a:spcPts val="283"/>
              </a:spcBef>
              <a:buClr>
                <a:srgbClr val="000000"/>
              </a:buClr>
              <a:buSzPct val="45000"/>
              <a:buFont typeface="Wingdings" charset="2"/>
              <a:buChar char=""/>
              <a:defRPr lang="en-US" sz="2800" b="0" u="none" strike="noStrike">
                <a:solidFill>
                  <a:schemeClr val="dk1"/>
                </a:solidFill>
                <a:effectLst/>
                <a:uFillTx/>
                <a:latin typeface="Aptos"/>
              </a:defRPr>
            </a:lvl6pPr>
            <a:lvl7pPr lvl="6" algn="l">
              <a:lnSpc>
                <a:spcPct val="90000"/>
              </a:lnSpc>
              <a:spcBef>
                <a:spcPts val="283"/>
              </a:spcBef>
              <a:buClr>
                <a:srgbClr val="000000"/>
              </a:buClr>
              <a:buSzPct val="45000"/>
              <a:buFont typeface="Wingdings" charset="2"/>
              <a:buChar char=""/>
              <a:defRPr lang="en-US" sz="2800" b="0" u="none" strike="noStrike">
                <a:solidFill>
                  <a:schemeClr val="dk1"/>
                </a:solidFill>
                <a:effectLst/>
                <a:uFillTx/>
                <a:latin typeface="Aptos"/>
              </a:defRPr>
            </a:lvl7pPr>
          </a:lstStyle>
          <a:p>
            <a:pPr marL="228600" indent="-228600" algn="l">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Aptos"/>
              </a:rPr>
              <a:t>Click to edit the outline text format</a:t>
            </a:r>
            <a:endParaRPr lang="en-US" sz="2800" b="0" u="none" strike="noStrike">
              <a:solidFill>
                <a:schemeClr val="dk1"/>
              </a:solidFill>
              <a:effectLst/>
              <a:uFillTx/>
              <a:latin typeface="Aptos"/>
            </a:endParaRPr>
          </a:p>
          <a:p>
            <a:pPr marL="533520" lvl="1" indent="-228600" algn="l">
              <a:lnSpc>
                <a:spcPct val="90000"/>
              </a:lnSpc>
              <a:spcBef>
                <a:spcPts val="1134"/>
              </a:spcBef>
              <a:buClr>
                <a:srgbClr val="000000"/>
              </a:buClr>
              <a:buSzPct val="75000"/>
              <a:buFont typeface="Symbol" charset="2"/>
              <a:buChar char=""/>
            </a:pPr>
            <a:r>
              <a:rPr lang="en-US" sz="2800" b="0" u="none" strike="noStrike">
                <a:solidFill>
                  <a:schemeClr val="dk1"/>
                </a:solidFill>
                <a:effectLst/>
                <a:uFillTx/>
                <a:latin typeface="Aptos"/>
              </a:rPr>
              <a:t>Second Outline Level</a:t>
            </a:r>
            <a:endParaRPr lang="en-US" sz="2800" b="0" u="none" strike="noStrike">
              <a:solidFill>
                <a:schemeClr val="dk1"/>
              </a:solidFill>
              <a:effectLst/>
              <a:uFillTx/>
              <a:latin typeface="Aptos"/>
            </a:endParaRPr>
          </a:p>
          <a:p>
            <a:pPr marL="838080" lvl="2" indent="-228600" algn="l">
              <a:lnSpc>
                <a:spcPct val="90000"/>
              </a:lnSpc>
              <a:spcBef>
                <a:spcPts val="850"/>
              </a:spcBef>
              <a:buClr>
                <a:srgbClr val="000000"/>
              </a:buClr>
              <a:buSzPct val="45000"/>
              <a:buFont typeface="Wingdings" charset="2"/>
              <a:buChar char=""/>
            </a:pPr>
            <a:r>
              <a:rPr lang="en-US" sz="2800" b="0" u="none" strike="noStrike">
                <a:solidFill>
                  <a:schemeClr val="dk1"/>
                </a:solidFill>
                <a:effectLst/>
                <a:uFillTx/>
                <a:latin typeface="Aptos"/>
              </a:rPr>
              <a:t>Third Outline Level</a:t>
            </a:r>
            <a:endParaRPr lang="en-US" sz="2800" b="0" u="none" strike="noStrike">
              <a:solidFill>
                <a:schemeClr val="dk1"/>
              </a:solidFill>
              <a:effectLst/>
              <a:uFillTx/>
              <a:latin typeface="Aptos"/>
            </a:endParaRPr>
          </a:p>
          <a:p>
            <a:pPr marL="1143000" lvl="3" indent="-228600" algn="l">
              <a:lnSpc>
                <a:spcPct val="90000"/>
              </a:lnSpc>
              <a:spcBef>
                <a:spcPts val="567"/>
              </a:spcBef>
              <a:buClr>
                <a:srgbClr val="000000"/>
              </a:buClr>
              <a:buSzPct val="75000"/>
              <a:buFont typeface="Symbol" charset="2"/>
              <a:buChar char=""/>
            </a:pPr>
            <a:r>
              <a:rPr lang="en-US" sz="2800" b="0" u="none" strike="noStrike">
                <a:solidFill>
                  <a:schemeClr val="dk1"/>
                </a:solidFill>
                <a:effectLst/>
                <a:uFillTx/>
                <a:latin typeface="Aptos"/>
              </a:rPr>
              <a:t>Fourth Outline Level</a:t>
            </a:r>
            <a:endParaRPr lang="en-US" sz="2800" b="0" u="none" strike="noStrike">
              <a:solidFill>
                <a:schemeClr val="dk1"/>
              </a:solidFill>
              <a:effectLst/>
              <a:uFillTx/>
              <a:latin typeface="Aptos"/>
            </a:endParaRPr>
          </a:p>
          <a:p>
            <a:pPr marL="1447920" lvl="4" indent="-228600" algn="l">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Aptos"/>
              </a:rPr>
              <a:t>Fifth Outline Level</a:t>
            </a:r>
            <a:endParaRPr lang="en-US" sz="2800" b="0" u="none" strike="noStrike">
              <a:solidFill>
                <a:schemeClr val="dk1"/>
              </a:solidFill>
              <a:effectLst/>
              <a:uFillTx/>
              <a:latin typeface="Aptos"/>
            </a:endParaRPr>
          </a:p>
          <a:p>
            <a:pPr marL="1752480" lvl="5" indent="-228600" algn="l">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Aptos"/>
              </a:rPr>
              <a:t>Sixth Outline Level</a:t>
            </a:r>
            <a:endParaRPr lang="en-US" sz="2800" b="0" u="none" strike="noStrike">
              <a:solidFill>
                <a:schemeClr val="dk1"/>
              </a:solidFill>
              <a:effectLst/>
              <a:uFillTx/>
              <a:latin typeface="Aptos"/>
            </a:endParaRPr>
          </a:p>
          <a:p>
            <a:pPr marL="2057400" lvl="6" indent="-228600" algn="l">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Aptos"/>
              </a:rPr>
              <a:t>Seventh Outline Level</a:t>
            </a:r>
            <a:endParaRPr lang="en-US" sz="2800" b="0" u="none" strike="noStrike">
              <a:solidFill>
                <a:schemeClr val="dk1"/>
              </a:solidFill>
              <a:effectLst/>
              <a:uFillTx/>
              <a:latin typeface="Aptos"/>
            </a:endParaRPr>
          </a:p>
        </p:txBody>
      </p:sp>
      <p:sp>
        <p:nvSpPr>
          <p:cNvPr id="16" name="PlaceHolder 3"/>
          <p:cNvSpPr>
            <a:spLocks noGrp="1"/>
          </p:cNvSpPr>
          <p:nvPr>
            <p:ph type="body"/>
          </p:nvPr>
        </p:nvSpPr>
        <p:spPr>
          <a:xfrm>
            <a:off x="6477120" y="1905120"/>
            <a:ext cx="5028840" cy="4266720"/>
          </a:xfrm>
          <a:prstGeom prst="rect">
            <a:avLst/>
          </a:prstGeom>
          <a:noFill/>
          <a:ln w="0">
            <a:noFill/>
          </a:ln>
        </p:spPr>
        <p:txBody>
          <a:bodyPr lIns="0" tIns="0" rIns="0" bIns="0" anchor="t">
            <a:normAutofit/>
          </a:bodyPr>
          <a:lstStyle>
            <a:lvl1pPr algn="l">
              <a:lnSpc>
                <a:spcPct val="90000"/>
              </a:lnSpc>
              <a:spcBef>
                <a:spcPts val="1417"/>
              </a:spcBef>
              <a:buClr>
                <a:srgbClr val="000000"/>
              </a:buClr>
              <a:buSzPct val="45000"/>
              <a:buFont typeface="Wingdings" charset="2"/>
              <a:buChar char=""/>
              <a:defRPr lang="en-US" sz="2800" b="0" u="none" strike="noStrike">
                <a:solidFill>
                  <a:schemeClr val="dk1"/>
                </a:solidFill>
                <a:effectLst/>
                <a:uFillTx/>
                <a:latin typeface="Aptos"/>
              </a:defRPr>
            </a:lvl1pPr>
            <a:lvl2pPr lvl="1" algn="l">
              <a:lnSpc>
                <a:spcPct val="90000"/>
              </a:lnSpc>
              <a:spcBef>
                <a:spcPts val="1134"/>
              </a:spcBef>
              <a:buClr>
                <a:srgbClr val="000000"/>
              </a:buClr>
              <a:buSzPct val="75000"/>
              <a:buFont typeface="Symbol" charset="2"/>
              <a:buChar char=""/>
              <a:defRPr lang="en-US" sz="2800" b="0" u="none" strike="noStrike">
                <a:solidFill>
                  <a:schemeClr val="dk1"/>
                </a:solidFill>
                <a:effectLst/>
                <a:uFillTx/>
                <a:latin typeface="Aptos"/>
              </a:defRPr>
            </a:lvl2pPr>
            <a:lvl3pPr lvl="2" algn="l">
              <a:lnSpc>
                <a:spcPct val="90000"/>
              </a:lnSpc>
              <a:spcBef>
                <a:spcPts val="850"/>
              </a:spcBef>
              <a:buClr>
                <a:srgbClr val="000000"/>
              </a:buClr>
              <a:buSzPct val="45000"/>
              <a:buFont typeface="Wingdings" charset="2"/>
              <a:buChar char=""/>
              <a:defRPr lang="en-US" sz="2800" b="0" u="none" strike="noStrike">
                <a:solidFill>
                  <a:schemeClr val="dk1"/>
                </a:solidFill>
                <a:effectLst/>
                <a:uFillTx/>
                <a:latin typeface="Aptos"/>
              </a:defRPr>
            </a:lvl3pPr>
            <a:lvl4pPr lvl="3" algn="l">
              <a:lnSpc>
                <a:spcPct val="90000"/>
              </a:lnSpc>
              <a:spcBef>
                <a:spcPts val="567"/>
              </a:spcBef>
              <a:buClr>
                <a:srgbClr val="000000"/>
              </a:buClr>
              <a:buSzPct val="75000"/>
              <a:buFont typeface="Symbol" charset="2"/>
              <a:buChar char=""/>
              <a:defRPr lang="en-US" sz="2800" b="0" u="none" strike="noStrike">
                <a:solidFill>
                  <a:schemeClr val="dk1"/>
                </a:solidFill>
                <a:effectLst/>
                <a:uFillTx/>
                <a:latin typeface="Aptos"/>
              </a:defRPr>
            </a:lvl4pPr>
            <a:lvl5pPr lvl="4" algn="l">
              <a:lnSpc>
                <a:spcPct val="90000"/>
              </a:lnSpc>
              <a:spcBef>
                <a:spcPts val="283"/>
              </a:spcBef>
              <a:buClr>
                <a:srgbClr val="000000"/>
              </a:buClr>
              <a:buSzPct val="45000"/>
              <a:buFont typeface="Wingdings" charset="2"/>
              <a:buChar char=""/>
              <a:defRPr lang="en-US" sz="2800" b="0" u="none" strike="noStrike">
                <a:solidFill>
                  <a:schemeClr val="dk1"/>
                </a:solidFill>
                <a:effectLst/>
                <a:uFillTx/>
                <a:latin typeface="Aptos"/>
              </a:defRPr>
            </a:lvl5pPr>
            <a:lvl6pPr lvl="5" algn="l">
              <a:lnSpc>
                <a:spcPct val="90000"/>
              </a:lnSpc>
              <a:spcBef>
                <a:spcPts val="283"/>
              </a:spcBef>
              <a:buClr>
                <a:srgbClr val="000000"/>
              </a:buClr>
              <a:buSzPct val="45000"/>
              <a:buFont typeface="Wingdings" charset="2"/>
              <a:buChar char=""/>
              <a:defRPr lang="en-US" sz="2800" b="0" u="none" strike="noStrike">
                <a:solidFill>
                  <a:schemeClr val="dk1"/>
                </a:solidFill>
                <a:effectLst/>
                <a:uFillTx/>
                <a:latin typeface="Aptos"/>
              </a:defRPr>
            </a:lvl6pPr>
            <a:lvl7pPr lvl="6" algn="l">
              <a:lnSpc>
                <a:spcPct val="90000"/>
              </a:lnSpc>
              <a:spcBef>
                <a:spcPts val="283"/>
              </a:spcBef>
              <a:buClr>
                <a:srgbClr val="000000"/>
              </a:buClr>
              <a:buSzPct val="45000"/>
              <a:buFont typeface="Wingdings" charset="2"/>
              <a:buChar char=""/>
              <a:defRPr lang="en-US" sz="2800" b="0" u="none" strike="noStrike">
                <a:solidFill>
                  <a:schemeClr val="dk1"/>
                </a:solidFill>
                <a:effectLst/>
                <a:uFillTx/>
                <a:latin typeface="Aptos"/>
              </a:defRPr>
            </a:lvl7pPr>
          </a:lstStyle>
          <a:p>
            <a:pPr marL="228600" indent="-228600" algn="l">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Aptos"/>
              </a:rPr>
              <a:t>Click to edit the outline text format</a:t>
            </a:r>
            <a:endParaRPr lang="en-US" sz="2800" b="0" u="none" strike="noStrike">
              <a:solidFill>
                <a:schemeClr val="dk1"/>
              </a:solidFill>
              <a:effectLst/>
              <a:uFillTx/>
              <a:latin typeface="Aptos"/>
            </a:endParaRPr>
          </a:p>
          <a:p>
            <a:pPr marL="533520" lvl="1" indent="-228600" algn="l">
              <a:lnSpc>
                <a:spcPct val="90000"/>
              </a:lnSpc>
              <a:spcBef>
                <a:spcPts val="1134"/>
              </a:spcBef>
              <a:buClr>
                <a:srgbClr val="000000"/>
              </a:buClr>
              <a:buSzPct val="75000"/>
              <a:buFont typeface="Symbol" charset="2"/>
              <a:buChar char=""/>
            </a:pPr>
            <a:r>
              <a:rPr lang="en-US" sz="2800" b="0" u="none" strike="noStrike">
                <a:solidFill>
                  <a:schemeClr val="dk1"/>
                </a:solidFill>
                <a:effectLst/>
                <a:uFillTx/>
                <a:latin typeface="Aptos"/>
              </a:rPr>
              <a:t>Second Outline Level</a:t>
            </a:r>
            <a:endParaRPr lang="en-US" sz="2800" b="0" u="none" strike="noStrike">
              <a:solidFill>
                <a:schemeClr val="dk1"/>
              </a:solidFill>
              <a:effectLst/>
              <a:uFillTx/>
              <a:latin typeface="Aptos"/>
            </a:endParaRPr>
          </a:p>
          <a:p>
            <a:pPr marL="838080" lvl="2" indent="-228600" algn="l">
              <a:lnSpc>
                <a:spcPct val="90000"/>
              </a:lnSpc>
              <a:spcBef>
                <a:spcPts val="850"/>
              </a:spcBef>
              <a:buClr>
                <a:srgbClr val="000000"/>
              </a:buClr>
              <a:buSzPct val="45000"/>
              <a:buFont typeface="Wingdings" charset="2"/>
              <a:buChar char=""/>
            </a:pPr>
            <a:r>
              <a:rPr lang="en-US" sz="2800" b="0" u="none" strike="noStrike">
                <a:solidFill>
                  <a:schemeClr val="dk1"/>
                </a:solidFill>
                <a:effectLst/>
                <a:uFillTx/>
                <a:latin typeface="Aptos"/>
              </a:rPr>
              <a:t>Third Outline Level</a:t>
            </a:r>
            <a:endParaRPr lang="en-US" sz="2800" b="0" u="none" strike="noStrike">
              <a:solidFill>
                <a:schemeClr val="dk1"/>
              </a:solidFill>
              <a:effectLst/>
              <a:uFillTx/>
              <a:latin typeface="Aptos"/>
            </a:endParaRPr>
          </a:p>
          <a:p>
            <a:pPr marL="1143000" lvl="3" indent="-228600" algn="l">
              <a:lnSpc>
                <a:spcPct val="90000"/>
              </a:lnSpc>
              <a:spcBef>
                <a:spcPts val="567"/>
              </a:spcBef>
              <a:buClr>
                <a:srgbClr val="000000"/>
              </a:buClr>
              <a:buSzPct val="75000"/>
              <a:buFont typeface="Symbol" charset="2"/>
              <a:buChar char=""/>
            </a:pPr>
            <a:r>
              <a:rPr lang="en-US" sz="2800" b="0" u="none" strike="noStrike">
                <a:solidFill>
                  <a:schemeClr val="dk1"/>
                </a:solidFill>
                <a:effectLst/>
                <a:uFillTx/>
                <a:latin typeface="Aptos"/>
              </a:rPr>
              <a:t>Fourth Outline Level</a:t>
            </a:r>
            <a:endParaRPr lang="en-US" sz="2800" b="0" u="none" strike="noStrike">
              <a:solidFill>
                <a:schemeClr val="dk1"/>
              </a:solidFill>
              <a:effectLst/>
              <a:uFillTx/>
              <a:latin typeface="Aptos"/>
            </a:endParaRPr>
          </a:p>
          <a:p>
            <a:pPr marL="1447920" lvl="4" indent="-228600" algn="l">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Aptos"/>
              </a:rPr>
              <a:t>Fifth Outline Level</a:t>
            </a:r>
            <a:endParaRPr lang="en-US" sz="2800" b="0" u="none" strike="noStrike">
              <a:solidFill>
                <a:schemeClr val="dk1"/>
              </a:solidFill>
              <a:effectLst/>
              <a:uFillTx/>
              <a:latin typeface="Aptos"/>
            </a:endParaRPr>
          </a:p>
          <a:p>
            <a:pPr marL="1752480" lvl="5" indent="-228600" algn="l">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Aptos"/>
              </a:rPr>
              <a:t>Sixth Outline Level</a:t>
            </a:r>
            <a:endParaRPr lang="en-US" sz="2800" b="0" u="none" strike="noStrike">
              <a:solidFill>
                <a:schemeClr val="dk1"/>
              </a:solidFill>
              <a:effectLst/>
              <a:uFillTx/>
              <a:latin typeface="Aptos"/>
            </a:endParaRPr>
          </a:p>
          <a:p>
            <a:pPr marL="2057400" lvl="6" indent="-228600" algn="l">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Aptos"/>
              </a:rPr>
              <a:t>Seventh Outline Level</a:t>
            </a:r>
            <a:endParaRPr lang="en-US" sz="2800" b="0" u="none" strike="noStrike">
              <a:solidFill>
                <a:schemeClr val="dk1"/>
              </a:solidFill>
              <a:effectLst/>
              <a:uFillTx/>
              <a:latin typeface="Aptos"/>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and One Column">
    <p:bg>
      <p:bgPr>
        <a:solidFill>
          <a:srgbClr val="FFFFFF"/>
        </a:solidFill>
      </p:bgPr>
    </p:bg>
    <p:spTree>
      <p:nvGrpSpPr>
        <p:cNvPr id="1" name=""/>
        <p:cNvGrpSpPr/>
        <p:nvPr/>
      </p:nvGrpSpPr>
      <p:grpSpPr>
        <a:xfrm>
          <a:off x="0" y="0"/>
          <a:ext cx="0" cy="0"/>
          <a:chOff x="0" y="0"/>
          <a:chExt cx="0" cy="0"/>
        </a:xfrm>
      </p:grpSpPr>
      <p:sp>
        <p:nvSpPr>
          <p:cNvPr id="17" name="Accent rule"/>
          <p:cNvSpPr/>
          <p:nvPr/>
        </p:nvSpPr>
        <p:spPr>
          <a:xfrm>
            <a:off x="685800" y="1523880"/>
            <a:ext cx="609120" cy="37800"/>
          </a:xfrm>
          <a:prstGeom prst="rect">
            <a:avLst/>
          </a:prstGeom>
          <a:solidFill>
            <a:schemeClr val="accent1"/>
          </a:solidFill>
          <a:ln w="0">
            <a:noFill/>
          </a:ln>
        </p:spPr>
        <p:style>
          <a:lnRef idx="0"/>
          <a:fillRef idx="0"/>
          <a:effectRef idx="0"/>
          <a:fontRef idx="minor"/>
        </p:style>
        <p:txBody>
          <a:bodyPr lIns="90000" tIns="-6840" rIns="90000" bIns="-6840" anchor="t">
            <a:noAutofit/>
          </a:bodyPr>
          <a:p>
            <a:pPr/>
            <a:endParaRPr lang="en-US" sz="1800" b="0" u="none" strike="noStrike">
              <a:solidFill>
                <a:srgbClr val="FFFFFF"/>
              </a:solidFill>
              <a:effectLst/>
              <a:uFillTx/>
              <a:latin typeface="Arial"/>
            </a:endParaRPr>
          </a:p>
        </p:txBody>
      </p:sp>
      <p:sp>
        <p:nvSpPr>
          <p:cNvPr id="18" name="PlaceHolder 1"/>
          <p:cNvSpPr>
            <a:spLocks noGrp="1"/>
          </p:cNvSpPr>
          <p:nvPr>
            <p:ph type="title"/>
          </p:nvPr>
        </p:nvSpPr>
        <p:spPr>
          <a:xfrm>
            <a:off x="685800" y="533520"/>
            <a:ext cx="10820160" cy="837720"/>
          </a:xfrm>
          <a:prstGeom prst="rect">
            <a:avLst/>
          </a:prstGeom>
          <a:noFill/>
          <a:ln w="0">
            <a:noFill/>
          </a:ln>
        </p:spPr>
        <p:txBody>
          <a:bodyPr lIns="0" tIns="0" rIns="0" bIns="0" anchor="t">
            <a:normAutofit/>
          </a:bodyPr>
          <a:lstStyle>
            <a:lvl1pPr indent="0" algn="l">
              <a:buNone/>
              <a:defRPr lang="en-US" sz="4400" b="0" u="none" strike="noStrike">
                <a:solidFill>
                  <a:schemeClr val="dk1"/>
                </a:solidFill>
                <a:effectLst/>
                <a:uFillTx/>
                <a:latin typeface="Aptos"/>
              </a:defRPr>
            </a:lvl1pPr>
          </a:lstStyle>
          <a:p>
            <a:pPr indent="0" algn="l">
              <a:buNone/>
            </a:pPr>
            <a:r>
              <a:rPr lang="en-US" sz="4400" b="0" u="none" strike="noStrike">
                <a:solidFill>
                  <a:schemeClr val="dk1"/>
                </a:solidFill>
                <a:effectLst/>
                <a:uFillTx/>
                <a:latin typeface="Aptos"/>
              </a:rPr>
              <a:t>Click to edit the title text format</a:t>
            </a:r>
            <a:endParaRPr lang="en-US" sz="4400" b="0" u="none" strike="noStrike">
              <a:solidFill>
                <a:schemeClr val="dk1"/>
              </a:solidFill>
              <a:effectLst/>
              <a:uFillTx/>
              <a:latin typeface="Aptos"/>
            </a:endParaRPr>
          </a:p>
        </p:txBody>
      </p:sp>
      <p:sp>
        <p:nvSpPr>
          <p:cNvPr id="19" name="PlaceHolder 2"/>
          <p:cNvSpPr>
            <a:spLocks noGrp="1"/>
          </p:cNvSpPr>
          <p:nvPr>
            <p:ph type="body"/>
          </p:nvPr>
        </p:nvSpPr>
        <p:spPr>
          <a:xfrm>
            <a:off x="685800" y="1905120"/>
            <a:ext cx="5028840" cy="4266720"/>
          </a:xfrm>
          <a:prstGeom prst="rect">
            <a:avLst/>
          </a:prstGeom>
          <a:noFill/>
          <a:ln w="0">
            <a:noFill/>
          </a:ln>
        </p:spPr>
        <p:txBody>
          <a:bodyPr lIns="0" tIns="0" rIns="0" bIns="0" anchor="t">
            <a:normAutofit/>
          </a:bodyPr>
          <a:lstStyle>
            <a:lvl1pPr algn="l">
              <a:lnSpc>
                <a:spcPct val="90000"/>
              </a:lnSpc>
              <a:spcBef>
                <a:spcPts val="1417"/>
              </a:spcBef>
              <a:buClr>
                <a:srgbClr val="000000"/>
              </a:buClr>
              <a:buSzPct val="45000"/>
              <a:buFont typeface="Wingdings" charset="2"/>
              <a:buChar char=""/>
              <a:defRPr lang="en-US" sz="2800" b="0" u="none" strike="noStrike">
                <a:solidFill>
                  <a:schemeClr val="dk1"/>
                </a:solidFill>
                <a:effectLst/>
                <a:uFillTx/>
                <a:latin typeface="Aptos"/>
              </a:defRPr>
            </a:lvl1pPr>
            <a:lvl2pPr lvl="1" algn="l">
              <a:lnSpc>
                <a:spcPct val="90000"/>
              </a:lnSpc>
              <a:spcBef>
                <a:spcPts val="1134"/>
              </a:spcBef>
              <a:buClr>
                <a:srgbClr val="000000"/>
              </a:buClr>
              <a:buSzPct val="75000"/>
              <a:buFont typeface="Symbol" charset="2"/>
              <a:buChar char=""/>
              <a:defRPr lang="en-US" sz="2800" b="0" u="none" strike="noStrike">
                <a:solidFill>
                  <a:schemeClr val="dk1"/>
                </a:solidFill>
                <a:effectLst/>
                <a:uFillTx/>
                <a:latin typeface="Aptos"/>
              </a:defRPr>
            </a:lvl2pPr>
            <a:lvl3pPr lvl="2" algn="l">
              <a:lnSpc>
                <a:spcPct val="90000"/>
              </a:lnSpc>
              <a:spcBef>
                <a:spcPts val="850"/>
              </a:spcBef>
              <a:buClr>
                <a:srgbClr val="000000"/>
              </a:buClr>
              <a:buSzPct val="45000"/>
              <a:buFont typeface="Wingdings" charset="2"/>
              <a:buChar char=""/>
              <a:defRPr lang="en-US" sz="2800" b="0" u="none" strike="noStrike">
                <a:solidFill>
                  <a:schemeClr val="dk1"/>
                </a:solidFill>
                <a:effectLst/>
                <a:uFillTx/>
                <a:latin typeface="Aptos"/>
              </a:defRPr>
            </a:lvl3pPr>
            <a:lvl4pPr lvl="3" algn="l">
              <a:lnSpc>
                <a:spcPct val="90000"/>
              </a:lnSpc>
              <a:spcBef>
                <a:spcPts val="567"/>
              </a:spcBef>
              <a:buClr>
                <a:srgbClr val="000000"/>
              </a:buClr>
              <a:buSzPct val="75000"/>
              <a:buFont typeface="Symbol" charset="2"/>
              <a:buChar char=""/>
              <a:defRPr lang="en-US" sz="2800" b="0" u="none" strike="noStrike">
                <a:solidFill>
                  <a:schemeClr val="dk1"/>
                </a:solidFill>
                <a:effectLst/>
                <a:uFillTx/>
                <a:latin typeface="Aptos"/>
              </a:defRPr>
            </a:lvl4pPr>
            <a:lvl5pPr lvl="4" algn="l">
              <a:lnSpc>
                <a:spcPct val="90000"/>
              </a:lnSpc>
              <a:spcBef>
                <a:spcPts val="283"/>
              </a:spcBef>
              <a:buClr>
                <a:srgbClr val="000000"/>
              </a:buClr>
              <a:buSzPct val="45000"/>
              <a:buFont typeface="Wingdings" charset="2"/>
              <a:buChar char=""/>
              <a:defRPr lang="en-US" sz="2800" b="0" u="none" strike="noStrike">
                <a:solidFill>
                  <a:schemeClr val="dk1"/>
                </a:solidFill>
                <a:effectLst/>
                <a:uFillTx/>
                <a:latin typeface="Aptos"/>
              </a:defRPr>
            </a:lvl5pPr>
            <a:lvl6pPr lvl="5" algn="l">
              <a:lnSpc>
                <a:spcPct val="90000"/>
              </a:lnSpc>
              <a:spcBef>
                <a:spcPts val="283"/>
              </a:spcBef>
              <a:buClr>
                <a:srgbClr val="000000"/>
              </a:buClr>
              <a:buSzPct val="45000"/>
              <a:buFont typeface="Wingdings" charset="2"/>
              <a:buChar char=""/>
              <a:defRPr lang="en-US" sz="2800" b="0" u="none" strike="noStrike">
                <a:solidFill>
                  <a:schemeClr val="dk1"/>
                </a:solidFill>
                <a:effectLst/>
                <a:uFillTx/>
                <a:latin typeface="Aptos"/>
              </a:defRPr>
            </a:lvl6pPr>
            <a:lvl7pPr lvl="6" algn="l">
              <a:lnSpc>
                <a:spcPct val="90000"/>
              </a:lnSpc>
              <a:spcBef>
                <a:spcPts val="283"/>
              </a:spcBef>
              <a:buClr>
                <a:srgbClr val="000000"/>
              </a:buClr>
              <a:buSzPct val="45000"/>
              <a:buFont typeface="Wingdings" charset="2"/>
              <a:buChar char=""/>
              <a:defRPr lang="en-US" sz="2800" b="0" u="none" strike="noStrike">
                <a:solidFill>
                  <a:schemeClr val="dk1"/>
                </a:solidFill>
                <a:effectLst/>
                <a:uFillTx/>
                <a:latin typeface="Aptos"/>
              </a:defRPr>
            </a:lvl7pPr>
          </a:lstStyle>
          <a:p>
            <a:pPr marL="228600" indent="-228600" algn="l">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Aptos"/>
              </a:rPr>
              <a:t>Click to edit the outline text format</a:t>
            </a:r>
            <a:endParaRPr lang="en-US" sz="2800" b="0" u="none" strike="noStrike">
              <a:solidFill>
                <a:schemeClr val="dk1"/>
              </a:solidFill>
              <a:effectLst/>
              <a:uFillTx/>
              <a:latin typeface="Aptos"/>
            </a:endParaRPr>
          </a:p>
          <a:p>
            <a:pPr marL="533520" lvl="1" indent="-228600" algn="l">
              <a:lnSpc>
                <a:spcPct val="90000"/>
              </a:lnSpc>
              <a:spcBef>
                <a:spcPts val="1134"/>
              </a:spcBef>
              <a:buClr>
                <a:srgbClr val="000000"/>
              </a:buClr>
              <a:buSzPct val="75000"/>
              <a:buFont typeface="Symbol" charset="2"/>
              <a:buChar char=""/>
            </a:pPr>
            <a:r>
              <a:rPr lang="en-US" sz="2800" b="0" u="none" strike="noStrike">
                <a:solidFill>
                  <a:schemeClr val="dk1"/>
                </a:solidFill>
                <a:effectLst/>
                <a:uFillTx/>
                <a:latin typeface="Aptos"/>
              </a:rPr>
              <a:t>Second Outline Level</a:t>
            </a:r>
            <a:endParaRPr lang="en-US" sz="2800" b="0" u="none" strike="noStrike">
              <a:solidFill>
                <a:schemeClr val="dk1"/>
              </a:solidFill>
              <a:effectLst/>
              <a:uFillTx/>
              <a:latin typeface="Aptos"/>
            </a:endParaRPr>
          </a:p>
          <a:p>
            <a:pPr marL="838080" lvl="2" indent="-228600" algn="l">
              <a:lnSpc>
                <a:spcPct val="90000"/>
              </a:lnSpc>
              <a:spcBef>
                <a:spcPts val="850"/>
              </a:spcBef>
              <a:buClr>
                <a:srgbClr val="000000"/>
              </a:buClr>
              <a:buSzPct val="45000"/>
              <a:buFont typeface="Wingdings" charset="2"/>
              <a:buChar char=""/>
            </a:pPr>
            <a:r>
              <a:rPr lang="en-US" sz="2800" b="0" u="none" strike="noStrike">
                <a:solidFill>
                  <a:schemeClr val="dk1"/>
                </a:solidFill>
                <a:effectLst/>
                <a:uFillTx/>
                <a:latin typeface="Aptos"/>
              </a:rPr>
              <a:t>Third Outline Level</a:t>
            </a:r>
            <a:endParaRPr lang="en-US" sz="2800" b="0" u="none" strike="noStrike">
              <a:solidFill>
                <a:schemeClr val="dk1"/>
              </a:solidFill>
              <a:effectLst/>
              <a:uFillTx/>
              <a:latin typeface="Aptos"/>
            </a:endParaRPr>
          </a:p>
          <a:p>
            <a:pPr marL="1143000" lvl="3" indent="-228600" algn="l">
              <a:lnSpc>
                <a:spcPct val="90000"/>
              </a:lnSpc>
              <a:spcBef>
                <a:spcPts val="567"/>
              </a:spcBef>
              <a:buClr>
                <a:srgbClr val="000000"/>
              </a:buClr>
              <a:buSzPct val="75000"/>
              <a:buFont typeface="Symbol" charset="2"/>
              <a:buChar char=""/>
            </a:pPr>
            <a:r>
              <a:rPr lang="en-US" sz="2800" b="0" u="none" strike="noStrike">
                <a:solidFill>
                  <a:schemeClr val="dk1"/>
                </a:solidFill>
                <a:effectLst/>
                <a:uFillTx/>
                <a:latin typeface="Aptos"/>
              </a:rPr>
              <a:t>Fourth Outline Level</a:t>
            </a:r>
            <a:endParaRPr lang="en-US" sz="2800" b="0" u="none" strike="noStrike">
              <a:solidFill>
                <a:schemeClr val="dk1"/>
              </a:solidFill>
              <a:effectLst/>
              <a:uFillTx/>
              <a:latin typeface="Aptos"/>
            </a:endParaRPr>
          </a:p>
          <a:p>
            <a:pPr marL="1447920" lvl="4" indent="-228600" algn="l">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Aptos"/>
              </a:rPr>
              <a:t>Fifth Outline Level</a:t>
            </a:r>
            <a:endParaRPr lang="en-US" sz="2800" b="0" u="none" strike="noStrike">
              <a:solidFill>
                <a:schemeClr val="dk1"/>
              </a:solidFill>
              <a:effectLst/>
              <a:uFillTx/>
              <a:latin typeface="Aptos"/>
            </a:endParaRPr>
          </a:p>
          <a:p>
            <a:pPr marL="1752480" lvl="5" indent="-228600" algn="l">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Aptos"/>
              </a:rPr>
              <a:t>Sixth Outline Level</a:t>
            </a:r>
            <a:endParaRPr lang="en-US" sz="2800" b="0" u="none" strike="noStrike">
              <a:solidFill>
                <a:schemeClr val="dk1"/>
              </a:solidFill>
              <a:effectLst/>
              <a:uFillTx/>
              <a:latin typeface="Aptos"/>
            </a:endParaRPr>
          </a:p>
          <a:p>
            <a:pPr marL="2057400" lvl="6" indent="-228600" algn="l">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Aptos"/>
              </a:rPr>
              <a:t>Seventh Outline Level</a:t>
            </a:r>
            <a:endParaRPr lang="en-US" sz="2800" b="0" u="none" strike="noStrike">
              <a:solidFill>
                <a:schemeClr val="dk1"/>
              </a:solidFill>
              <a:effectLst/>
              <a:uFillTx/>
              <a:latin typeface="Aptos"/>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20"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en-US" sz="1800" b="0" u="none" strike="noStrike">
                <a:solidFill>
                  <a:schemeClr val="dk1"/>
                </a:solidFill>
                <a:effectLst/>
                <a:uFillTx/>
                <a:latin typeface="Aptos"/>
              </a:defRPr>
            </a:lvl1pPr>
          </a:lstStyle>
          <a:p>
            <a:pPr indent="0" algn="l">
              <a:buNone/>
            </a:pPr>
            <a:r>
              <a:rPr lang="en-US" sz="1800" b="0" u="none" strike="noStrike">
                <a:solidFill>
                  <a:schemeClr val="dk1"/>
                </a:solidFill>
                <a:effectLst/>
                <a:uFillTx/>
                <a:latin typeface="Aptos"/>
              </a:rPr>
              <a:t>Click to edit the title text format</a:t>
            </a:r>
            <a:endParaRPr lang="en-US" sz="1800" b="0" u="none" strike="noStrike">
              <a:solidFill>
                <a:schemeClr val="dk1"/>
              </a:solidFill>
              <a:effectLst/>
              <a:uFillTx/>
              <a:latin typeface="Aptos"/>
            </a:endParaRPr>
          </a:p>
        </p:txBody>
      </p:sp>
      <p:sp>
        <p:nvSpPr>
          <p:cNvPr id="21"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lnSpc>
                <a:spcPct val="90000"/>
              </a:lnSpc>
              <a:spcBef>
                <a:spcPts val="1417"/>
              </a:spcBef>
              <a:buClr>
                <a:srgbClr val="000000"/>
              </a:buClr>
              <a:buSzPct val="45000"/>
              <a:buFont typeface="Wingdings" charset="2"/>
              <a:buChar char=""/>
              <a:defRPr lang="en-US" sz="2800" b="0" u="none" strike="noStrike">
                <a:solidFill>
                  <a:schemeClr val="dk1"/>
                </a:solidFill>
                <a:effectLst/>
                <a:uFillTx/>
                <a:latin typeface="Aptos"/>
              </a:defRPr>
            </a:lvl1pPr>
            <a:lvl2pPr lvl="1" algn="l">
              <a:lnSpc>
                <a:spcPct val="90000"/>
              </a:lnSpc>
              <a:spcBef>
                <a:spcPts val="1134"/>
              </a:spcBef>
              <a:buClr>
                <a:srgbClr val="000000"/>
              </a:buClr>
              <a:buSzPct val="75000"/>
              <a:buFont typeface="Symbol" charset="2"/>
              <a:buChar char=""/>
              <a:defRPr lang="en-US" sz="2000" b="0" u="none" strike="noStrike">
                <a:solidFill>
                  <a:schemeClr val="dk1"/>
                </a:solidFill>
                <a:effectLst/>
                <a:uFillTx/>
                <a:latin typeface="Aptos"/>
              </a:defRPr>
            </a:lvl2pPr>
            <a:lvl3pPr lvl="2" algn="l">
              <a:lnSpc>
                <a:spcPct val="90000"/>
              </a:lnSpc>
              <a:spcBef>
                <a:spcPts val="850"/>
              </a:spcBef>
              <a:buClr>
                <a:srgbClr val="000000"/>
              </a:buClr>
              <a:buSzPct val="45000"/>
              <a:buFont typeface="Wingdings" charset="2"/>
              <a:buChar char=""/>
              <a:defRPr lang="en-US" sz="1800" b="0" u="none" strike="noStrike">
                <a:solidFill>
                  <a:schemeClr val="dk1"/>
                </a:solidFill>
                <a:effectLst/>
                <a:uFillTx/>
                <a:latin typeface="Aptos"/>
              </a:defRPr>
            </a:lvl3pPr>
            <a:lvl4pPr lvl="3" algn="l">
              <a:lnSpc>
                <a:spcPct val="90000"/>
              </a:lnSpc>
              <a:spcBef>
                <a:spcPts val="567"/>
              </a:spcBef>
              <a:buClr>
                <a:srgbClr val="000000"/>
              </a:buClr>
              <a:buSzPct val="75000"/>
              <a:buFont typeface="Symbol" charset="2"/>
              <a:buChar char=""/>
              <a:defRPr lang="en-US" sz="1800" b="0" u="none" strike="noStrike">
                <a:solidFill>
                  <a:schemeClr val="dk1"/>
                </a:solidFill>
                <a:effectLst/>
                <a:uFillTx/>
                <a:latin typeface="Aptos"/>
              </a:defRPr>
            </a:lvl4pPr>
            <a:lvl5pPr lvl="4"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5pPr>
            <a:lvl6pPr lvl="5"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6pPr>
            <a:lvl7pPr lvl="6"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7pPr>
          </a:lstStyle>
          <a:p>
            <a:pPr marL="432000" indent="-324000" algn="l">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Aptos"/>
              </a:rPr>
              <a:t>Click to edit the outline text format</a:t>
            </a:r>
            <a:endParaRPr lang="en-US" sz="2800" b="0" u="none" strike="noStrike">
              <a:solidFill>
                <a:schemeClr val="dk1"/>
              </a:solidFill>
              <a:effectLst/>
              <a:uFillTx/>
              <a:latin typeface="Aptos"/>
            </a:endParaRPr>
          </a:p>
          <a:p>
            <a:pPr marL="864000" lvl="1" indent="-324000" algn="l">
              <a:lnSpc>
                <a:spcPct val="90000"/>
              </a:lnSpc>
              <a:spcBef>
                <a:spcPts val="1134"/>
              </a:spcBef>
              <a:buClr>
                <a:srgbClr val="000000"/>
              </a:buClr>
              <a:buSzPct val="75000"/>
              <a:buFont typeface="Symbol" charset="2"/>
              <a:buChar char=""/>
            </a:pPr>
            <a:r>
              <a:rPr lang="en-US" sz="2000" b="0" u="none" strike="noStrike">
                <a:solidFill>
                  <a:schemeClr val="dk1"/>
                </a:solidFill>
                <a:effectLst/>
                <a:uFillTx/>
                <a:latin typeface="Aptos"/>
              </a:rPr>
              <a:t>Second Outline Level</a:t>
            </a:r>
            <a:endParaRPr lang="en-US" sz="2000" b="0" u="none" strike="noStrike">
              <a:solidFill>
                <a:schemeClr val="dk1"/>
              </a:solidFill>
              <a:effectLst/>
              <a:uFillTx/>
              <a:latin typeface="Aptos"/>
            </a:endParaRPr>
          </a:p>
          <a:p>
            <a:pPr marL="1296000" lvl="2" indent="-288000" algn="l">
              <a:lnSpc>
                <a:spcPct val="90000"/>
              </a:lnSpc>
              <a:spcBef>
                <a:spcPts val="850"/>
              </a:spcBef>
              <a:buClr>
                <a:srgbClr val="000000"/>
              </a:buClr>
              <a:buSzPct val="45000"/>
              <a:buFont typeface="Wingdings" charset="2"/>
              <a:buChar char=""/>
            </a:pPr>
            <a:r>
              <a:rPr lang="en-US" sz="1800" b="0" u="none" strike="noStrike">
                <a:solidFill>
                  <a:schemeClr val="dk1"/>
                </a:solidFill>
                <a:effectLst/>
                <a:uFillTx/>
                <a:latin typeface="Aptos"/>
              </a:rPr>
              <a:t>Third Outline Level</a:t>
            </a:r>
            <a:endParaRPr lang="en-US" sz="1800" b="0" u="none" strike="noStrike">
              <a:solidFill>
                <a:schemeClr val="dk1"/>
              </a:solidFill>
              <a:effectLst/>
              <a:uFillTx/>
              <a:latin typeface="Aptos"/>
            </a:endParaRPr>
          </a:p>
          <a:p>
            <a:pPr marL="1728000" lvl="3" indent="-216000" algn="l">
              <a:lnSpc>
                <a:spcPct val="90000"/>
              </a:lnSpc>
              <a:spcBef>
                <a:spcPts val="567"/>
              </a:spcBef>
              <a:buClr>
                <a:srgbClr val="000000"/>
              </a:buClr>
              <a:buSzPct val="75000"/>
              <a:buFont typeface="Symbol" charset="2"/>
              <a:buChar char=""/>
            </a:pPr>
            <a:r>
              <a:rPr lang="en-US" sz="1800" b="0" u="none" strike="noStrike">
                <a:solidFill>
                  <a:schemeClr val="dk1"/>
                </a:solidFill>
                <a:effectLst/>
                <a:uFillTx/>
                <a:latin typeface="Aptos"/>
              </a:rPr>
              <a:t>Fourth Outline Level</a:t>
            </a:r>
            <a:endParaRPr lang="en-US" sz="1800" b="0" u="none" strike="noStrike">
              <a:solidFill>
                <a:schemeClr val="dk1"/>
              </a:solidFill>
              <a:effectLst/>
              <a:uFillTx/>
              <a:latin typeface="Aptos"/>
            </a:endParaRPr>
          </a:p>
          <a:p>
            <a:pPr marL="2160000" lvl="4"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Fifth Outline Level</a:t>
            </a:r>
            <a:endParaRPr lang="en-US" sz="2000" b="0" u="none" strike="noStrike">
              <a:solidFill>
                <a:schemeClr val="dk1"/>
              </a:solidFill>
              <a:effectLst/>
              <a:uFillTx/>
              <a:latin typeface="Aptos"/>
            </a:endParaRPr>
          </a:p>
          <a:p>
            <a:pPr marL="2592000" lvl="5"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Sixth Outline Level</a:t>
            </a:r>
            <a:endParaRPr lang="en-US" sz="2000" b="0" u="none" strike="noStrike">
              <a:solidFill>
                <a:schemeClr val="dk1"/>
              </a:solidFill>
              <a:effectLst/>
              <a:uFillTx/>
              <a:latin typeface="Aptos"/>
            </a:endParaRPr>
          </a:p>
          <a:p>
            <a:pPr marL="3024000" lvl="6"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Seventh Outline Level</a:t>
            </a:r>
            <a:endParaRPr lang="en-US" sz="2000" b="0" u="none" strike="noStrike">
              <a:solidFill>
                <a:schemeClr val="dk1"/>
              </a:solidFill>
              <a:effectLst/>
              <a:uFillTx/>
              <a:latin typeface="Aptos"/>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en-US" sz="1800" b="0" u="none" strike="noStrike">
                <a:solidFill>
                  <a:schemeClr val="dk1"/>
                </a:solidFill>
                <a:effectLst/>
                <a:uFillTx/>
                <a:latin typeface="Calibri"/>
              </a:defRPr>
            </a:lvl1pPr>
          </a:lstStyle>
          <a:p>
            <a:pPr indent="0" algn="l">
              <a:buNone/>
            </a:pPr>
            <a:r>
              <a:rPr lang="en-US" sz="1800" b="0" u="none" strike="noStrike">
                <a:solidFill>
                  <a:schemeClr val="dk1"/>
                </a:solidFill>
                <a:effectLst/>
                <a:uFillTx/>
                <a:latin typeface="Calibri"/>
              </a:rPr>
              <a:t>Click to edit the title text format</a:t>
            </a:r>
            <a:endParaRPr lang="en-US" sz="1800" b="0" u="none" strike="noStrike">
              <a:solidFill>
                <a:schemeClr val="dk1"/>
              </a:solidFill>
              <a:effectLst/>
              <a:uFillTx/>
              <a:latin typeface="Calibri"/>
            </a:endParaRP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lnSpc>
                <a:spcPct val="90000"/>
              </a:lnSpc>
              <a:spcBef>
                <a:spcPts val="1417"/>
              </a:spcBef>
              <a:buClr>
                <a:srgbClr val="000000"/>
              </a:buClr>
              <a:buSzPct val="45000"/>
              <a:buFont typeface="Wingdings" charset="2"/>
              <a:buChar char=""/>
              <a:defRPr lang="en-US" sz="2800" b="0" u="none" strike="noStrike">
                <a:solidFill>
                  <a:schemeClr val="dk1"/>
                </a:solidFill>
                <a:effectLst/>
                <a:uFillTx/>
                <a:latin typeface="Calibri"/>
              </a:defRPr>
            </a:lvl1pPr>
            <a:lvl2pPr lvl="1" algn="l">
              <a:lnSpc>
                <a:spcPct val="90000"/>
              </a:lnSpc>
              <a:spcBef>
                <a:spcPts val="1134"/>
              </a:spcBef>
              <a:buClr>
                <a:srgbClr val="000000"/>
              </a:buClr>
              <a:buSzPct val="75000"/>
              <a:buFont typeface="Symbol" charset="2"/>
              <a:buChar char=""/>
              <a:defRPr lang="en-US" sz="2000" b="0" u="none" strike="noStrike">
                <a:solidFill>
                  <a:schemeClr val="dk1"/>
                </a:solidFill>
                <a:effectLst/>
                <a:uFillTx/>
                <a:latin typeface="Calibri"/>
              </a:defRPr>
            </a:lvl2pPr>
            <a:lvl3pPr lvl="2" algn="l">
              <a:lnSpc>
                <a:spcPct val="90000"/>
              </a:lnSpc>
              <a:spcBef>
                <a:spcPts val="850"/>
              </a:spcBef>
              <a:buClr>
                <a:srgbClr val="000000"/>
              </a:buClr>
              <a:buSzPct val="45000"/>
              <a:buFont typeface="Wingdings" charset="2"/>
              <a:buChar char=""/>
              <a:defRPr lang="en-US" sz="1800" b="0" u="none" strike="noStrike">
                <a:solidFill>
                  <a:schemeClr val="dk1"/>
                </a:solidFill>
                <a:effectLst/>
                <a:uFillTx/>
                <a:latin typeface="Calibri"/>
              </a:defRPr>
            </a:lvl3pPr>
            <a:lvl4pPr lvl="3" algn="l">
              <a:lnSpc>
                <a:spcPct val="90000"/>
              </a:lnSpc>
              <a:spcBef>
                <a:spcPts val="567"/>
              </a:spcBef>
              <a:buClr>
                <a:srgbClr val="000000"/>
              </a:buClr>
              <a:buSzPct val="75000"/>
              <a:buFont typeface="Symbol" charset="2"/>
              <a:buChar char=""/>
              <a:defRPr lang="en-US" sz="1800" b="0" u="none" strike="noStrike">
                <a:solidFill>
                  <a:schemeClr val="dk1"/>
                </a:solidFill>
                <a:effectLst/>
                <a:uFillTx/>
                <a:latin typeface="Calibri"/>
              </a:defRPr>
            </a:lvl4pPr>
            <a:lvl5pPr lvl="4"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432000" indent="-324000" algn="l">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Calibri"/>
              </a:rPr>
              <a:t>Click to edit the outline text format</a:t>
            </a:r>
            <a:endParaRPr lang="en-US" sz="2800" b="0" u="none" strike="noStrike">
              <a:solidFill>
                <a:schemeClr val="dk1"/>
              </a:solidFill>
              <a:effectLst/>
              <a:uFillTx/>
              <a:latin typeface="Calibri"/>
            </a:endParaRPr>
          </a:p>
          <a:p>
            <a:pPr marL="864000" lvl="1" indent="-324000" algn="l">
              <a:lnSpc>
                <a:spcPct val="90000"/>
              </a:lnSpc>
              <a:spcBef>
                <a:spcPts val="1134"/>
              </a:spcBef>
              <a:buClr>
                <a:srgbClr val="000000"/>
              </a:buClr>
              <a:buSzPct val="75000"/>
              <a:buFont typeface="Symbol" charset="2"/>
              <a:buChar char=""/>
            </a:pPr>
            <a:r>
              <a:rPr lang="en-US" sz="2000" b="0" u="none" strike="noStrike">
                <a:solidFill>
                  <a:schemeClr val="dk1"/>
                </a:solidFill>
                <a:effectLst/>
                <a:uFillTx/>
                <a:latin typeface="Calibri"/>
              </a:rPr>
              <a:t>Second Outline Level</a:t>
            </a:r>
            <a:endParaRPr lang="en-US" sz="2000" b="0" u="none" strike="noStrike">
              <a:solidFill>
                <a:schemeClr val="dk1"/>
              </a:solidFill>
              <a:effectLst/>
              <a:uFillTx/>
              <a:latin typeface="Calibri"/>
            </a:endParaRPr>
          </a:p>
          <a:p>
            <a:pPr marL="1296000" lvl="2" indent="-288000" algn="l">
              <a:lnSpc>
                <a:spcPct val="90000"/>
              </a:lnSpc>
              <a:spcBef>
                <a:spcPts val="850"/>
              </a:spcBef>
              <a:buClr>
                <a:srgbClr val="000000"/>
              </a:buClr>
              <a:buSzPct val="45000"/>
              <a:buFont typeface="Wingdings" charset="2"/>
              <a:buChar char=""/>
            </a:pPr>
            <a:r>
              <a:rPr lang="en-US" sz="1800" b="0" u="none" strike="noStrike">
                <a:solidFill>
                  <a:schemeClr val="dk1"/>
                </a:solidFill>
                <a:effectLst/>
                <a:uFillTx/>
                <a:latin typeface="Calibri"/>
              </a:rPr>
              <a:t>Third Outline Level</a:t>
            </a:r>
            <a:endParaRPr lang="en-US" sz="1800" b="0" u="none" strike="noStrike">
              <a:solidFill>
                <a:schemeClr val="dk1"/>
              </a:solidFill>
              <a:effectLst/>
              <a:uFillTx/>
              <a:latin typeface="Calibri"/>
            </a:endParaRPr>
          </a:p>
          <a:p>
            <a:pPr marL="1728000" lvl="3" indent="-216000" algn="l">
              <a:lnSpc>
                <a:spcPct val="90000"/>
              </a:lnSpc>
              <a:spcBef>
                <a:spcPts val="567"/>
              </a:spcBef>
              <a:buClr>
                <a:srgbClr val="000000"/>
              </a:buClr>
              <a:buSzPct val="75000"/>
              <a:buFont typeface="Symbol" charset="2"/>
              <a:buChar char=""/>
            </a:pPr>
            <a:r>
              <a:rPr lang="en-US" sz="1800" b="0" u="none" strike="noStrike">
                <a:solidFill>
                  <a:schemeClr val="dk1"/>
                </a:solidFill>
                <a:effectLst/>
                <a:uFillTx/>
                <a:latin typeface="Calibri"/>
              </a:rPr>
              <a:t>Fourth Outline Level</a:t>
            </a:r>
            <a:endParaRPr lang="en-US" sz="1800" b="0" u="none" strike="noStrike">
              <a:solidFill>
                <a:schemeClr val="dk1"/>
              </a:solidFill>
              <a:effectLst/>
              <a:uFillTx/>
              <a:latin typeface="Calibri"/>
            </a:endParaRPr>
          </a:p>
          <a:p>
            <a:pPr marL="2160000" lvl="4"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2" r:id="rId2"/>
    <p:sldLayoutId id="2147483653" r:id="rId3"/>
    <p:sldLayoutId id="2147483654" r:id="rId4"/>
    <p:sldLayoutId id="2147483655" r:id="rId5"/>
    <p:sldLayoutId id="2147483656" r:id="rId6"/>
    <p:sldLayoutId id="2147483657" r:id="rId7"/>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2.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2.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5.png"/><Relationship Id="rId3" Type="http://schemas.openxmlformats.org/officeDocument/2006/relationships/slideLayout" Target="../slideLayouts/slideLayout1.xml"/><Relationship Id="rId4"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slideLayout" Target="../slideLayouts/slideLayout2.xml"/><Relationship Id="rId5"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2.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slideLayout" Target="../slideLayouts/slideLayout1.xml"/><Relationship Id="rId5"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slideLayout" Target="../slideLayouts/slideLayout1.xml"/><Relationship Id="rId6"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2.xml"/><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9121F"/>
        </a:solidFill>
      </p:bgPr>
    </p:bg>
    <p:spTree>
      <p:nvGrpSpPr>
        <p:cNvPr id="1" name=""/>
        <p:cNvGrpSpPr/>
        <p:nvPr/>
      </p:nvGrpSpPr>
      <p:grpSpPr>
        <a:xfrm>
          <a:off x="0" y="0"/>
          <a:ext cx="0" cy="0"/>
          <a:chOff x="0" y="0"/>
          <a:chExt cx="0" cy="0"/>
        </a:xfrm>
      </p:grpSpPr>
      <p:sp>
        <p:nvSpPr>
          <p:cNvPr id="28" name="Rectangle 21"/>
          <p:cNvSpPr/>
          <p:nvPr/>
        </p:nvSpPr>
        <p:spPr>
          <a:xfrm>
            <a:off x="609480" y="666720"/>
            <a:ext cx="95040" cy="4952520"/>
          </a:xfrm>
          <a:prstGeom prst="rect">
            <a:avLst/>
          </a:prstGeom>
          <a:solidFill>
            <a:srgbClr val="2DD4BF"/>
          </a:solidFill>
          <a:ln w="0">
            <a:noFill/>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Calibri"/>
            </a:endParaRPr>
          </a:p>
        </p:txBody>
      </p:sp>
      <p:sp>
        <p:nvSpPr>
          <p:cNvPr id="29" name="Rectangle 1"/>
          <p:cNvSpPr/>
          <p:nvPr/>
        </p:nvSpPr>
        <p:spPr>
          <a:xfrm>
            <a:off x="1047600" y="1047600"/>
            <a:ext cx="7238520" cy="1523520"/>
          </a:xfrm>
          <a:prstGeom prst="rect">
            <a:avLst/>
          </a:prstGeom>
          <a:noFill/>
          <a:ln w="0">
            <a:noFill/>
          </a:ln>
        </p:spPr>
        <p:style>
          <a:lnRef idx="0"/>
          <a:fillRef idx="0"/>
          <a:effectRef idx="0"/>
          <a:fontRef idx="minor"/>
        </p:style>
        <p:txBody>
          <a:bodyPr lIns="0" tIns="0" rIns="0" bIns="0" anchor="t">
            <a:normAutofit/>
          </a:bodyPr>
          <a:p>
            <a:pPr defTabSz="914400">
              <a:lnSpc>
                <a:spcPct val="100000"/>
              </a:lnSpc>
            </a:pPr>
            <a:r>
              <a:rPr lang="en-US" sz="4050" b="1" u="none" strike="noStrike">
                <a:solidFill>
                  <a:srgbClr val="EAF2F8"/>
                </a:solidFill>
                <a:effectLst/>
                <a:uFillTx/>
                <a:latin typeface="DejaVu Sans"/>
                <a:ea typeface="DejaVu Sans"/>
              </a:rPr>
              <a:t>EWMA Covariate</a:t>
            </a:r>
            <a:endParaRPr lang="en-US" sz="4050" b="0" u="none" strike="noStrike">
              <a:solidFill>
                <a:srgbClr val="FFFFFF"/>
              </a:solidFill>
              <a:effectLst/>
              <a:uFillTx/>
              <a:latin typeface="Arial"/>
            </a:endParaRPr>
          </a:p>
          <a:p>
            <a:pPr defTabSz="914400">
              <a:lnSpc>
                <a:spcPct val="100000"/>
              </a:lnSpc>
            </a:pPr>
            <a:r>
              <a:rPr lang="en-US" sz="4050" b="1" u="none" strike="noStrike">
                <a:solidFill>
                  <a:srgbClr val="EAF2F8"/>
                </a:solidFill>
                <a:effectLst/>
                <a:uFillTx/>
                <a:latin typeface="DejaVu Sans"/>
                <a:ea typeface="DejaVu Sans"/>
              </a:rPr>
              <a:t>Shift Demo</a:t>
            </a:r>
            <a:endParaRPr lang="en-US" sz="4050" b="0" u="none" strike="noStrike">
              <a:solidFill>
                <a:srgbClr val="FFFFFF"/>
              </a:solidFill>
              <a:effectLst/>
              <a:uFillTx/>
              <a:latin typeface="Arial"/>
            </a:endParaRPr>
          </a:p>
        </p:txBody>
      </p:sp>
      <p:sp>
        <p:nvSpPr>
          <p:cNvPr id="30" name="Rectangle 2"/>
          <p:cNvSpPr/>
          <p:nvPr/>
        </p:nvSpPr>
        <p:spPr>
          <a:xfrm>
            <a:off x="1066680" y="2800440"/>
            <a:ext cx="7524360" cy="428400"/>
          </a:xfrm>
          <a:prstGeom prst="rect">
            <a:avLst/>
          </a:prstGeom>
          <a:noFill/>
          <a:ln w="0">
            <a:noFill/>
          </a:ln>
        </p:spPr>
        <p:style>
          <a:lnRef idx="0"/>
          <a:fillRef idx="0"/>
          <a:effectRef idx="0"/>
          <a:fontRef idx="minor"/>
        </p:style>
        <p:txBody>
          <a:bodyPr lIns="0" tIns="0" rIns="0" bIns="0" anchor="t">
            <a:noAutofit/>
          </a:bodyPr>
          <a:p>
            <a:pPr defTabSz="914400">
              <a:lnSpc>
                <a:spcPct val="100000"/>
              </a:lnSpc>
            </a:pPr>
            <a:r>
              <a:rPr lang="en-US" sz="1800" b="1" u="none" strike="noStrike">
                <a:solidFill>
                  <a:srgbClr val="2DD4BF"/>
                </a:solidFill>
                <a:effectLst/>
                <a:uFillTx/>
                <a:latin typeface="DejaVu Sans"/>
                <a:ea typeface="DejaVu Sans"/>
              </a:rPr>
              <a:t>Research progress review</a:t>
            </a:r>
            <a:endParaRPr lang="en-US" sz="1800" b="0" u="none" strike="noStrike">
              <a:solidFill>
                <a:srgbClr val="FFFFFF"/>
              </a:solidFill>
              <a:effectLst/>
              <a:uFillTx/>
              <a:latin typeface="Arial"/>
            </a:endParaRPr>
          </a:p>
        </p:txBody>
      </p:sp>
      <p:sp>
        <p:nvSpPr>
          <p:cNvPr id="31" name="Rectangle 3"/>
          <p:cNvSpPr/>
          <p:nvPr/>
        </p:nvSpPr>
        <p:spPr>
          <a:xfrm>
            <a:off x="1066680" y="3371760"/>
            <a:ext cx="7238520" cy="780840"/>
          </a:xfrm>
          <a:prstGeom prst="rect">
            <a:avLst/>
          </a:prstGeom>
          <a:noFill/>
          <a:ln w="0">
            <a:noFill/>
          </a:ln>
        </p:spPr>
        <p:style>
          <a:lnRef idx="0"/>
          <a:fillRef idx="0"/>
          <a:effectRef idx="0"/>
          <a:fontRef idx="minor"/>
        </p:style>
        <p:txBody>
          <a:bodyPr lIns="0" tIns="0" rIns="0" bIns="0" anchor="t">
            <a:noAutofit/>
          </a:bodyPr>
          <a:p>
            <a:pPr defTabSz="914400">
              <a:lnSpc>
                <a:spcPct val="100000"/>
              </a:lnSpc>
            </a:pPr>
            <a:r>
              <a:rPr lang="en-US" sz="1650" b="0" u="none" strike="noStrike">
                <a:solidFill>
                  <a:srgbClr val="9CB0C3"/>
                </a:solidFill>
                <a:effectLst/>
                <a:uFillTx/>
                <a:latin typeface="DejaVu Sans"/>
                <a:ea typeface="DejaVu Sans"/>
              </a:rPr>
              <a:t>Auditable CSE reconstruction for motor-imagery EEG</a:t>
            </a:r>
            <a:endParaRPr lang="en-US" sz="1650" b="0" u="none" strike="noStrike">
              <a:solidFill>
                <a:srgbClr val="FFFFFF"/>
              </a:solidFill>
              <a:effectLst/>
              <a:uFillTx/>
              <a:latin typeface="Arial"/>
            </a:endParaRPr>
          </a:p>
          <a:p>
            <a:pPr defTabSz="914400">
              <a:lnSpc>
                <a:spcPct val="100000"/>
              </a:lnSpc>
            </a:pPr>
            <a:r>
              <a:rPr lang="en-US" sz="1650" b="0" u="none" strike="noStrike">
                <a:solidFill>
                  <a:srgbClr val="9CB0C3"/>
                </a:solidFill>
                <a:effectLst/>
                <a:uFillTx/>
                <a:latin typeface="DejaVu Sans"/>
                <a:ea typeface="DejaVu Sans"/>
              </a:rPr>
              <a:t>Classifier benchmarks and complementary PCA monitoring</a:t>
            </a:r>
            <a:endParaRPr lang="en-US" sz="1650" b="0" u="none" strike="noStrike">
              <a:solidFill>
                <a:srgbClr val="FFFFFF"/>
              </a:solidFill>
              <a:effectLst/>
              <a:uFillTx/>
              <a:latin typeface="Arial"/>
            </a:endParaRPr>
          </a:p>
        </p:txBody>
      </p:sp>
      <p:sp>
        <p:nvSpPr>
          <p:cNvPr id="32" name="Rectangle 4"/>
          <p:cNvSpPr/>
          <p:nvPr/>
        </p:nvSpPr>
        <p:spPr>
          <a:xfrm>
            <a:off x="1066680" y="5086440"/>
            <a:ext cx="3238200" cy="285480"/>
          </a:xfrm>
          <a:prstGeom prst="rect">
            <a:avLst/>
          </a:prstGeom>
          <a:noFill/>
          <a:ln w="0">
            <a:noFill/>
          </a:ln>
        </p:spPr>
        <p:style>
          <a:lnRef idx="0"/>
          <a:fillRef idx="0"/>
          <a:effectRef idx="0"/>
          <a:fontRef idx="minor"/>
        </p:style>
        <p:txBody>
          <a:bodyPr lIns="0" tIns="0" rIns="0" bIns="0" anchor="t">
            <a:normAutofit/>
          </a:bodyPr>
          <a:p>
            <a:pPr defTabSz="914400">
              <a:lnSpc>
                <a:spcPct val="100000"/>
              </a:lnSpc>
            </a:pPr>
            <a:r>
              <a:rPr lang="en-US" sz="1200" b="1" u="none" strike="noStrike">
                <a:solidFill>
                  <a:srgbClr val="EAF2F8"/>
                </a:solidFill>
                <a:effectLst/>
                <a:uFillTx/>
                <a:latin typeface="DejaVu Sans"/>
                <a:ea typeface="DejaVu Sans"/>
              </a:rPr>
              <a:t>Haocheng Lin</a:t>
            </a:r>
            <a:endParaRPr lang="en-US" sz="1200" b="0" u="none" strike="noStrike">
              <a:solidFill>
                <a:srgbClr val="FFFFFF"/>
              </a:solidFill>
              <a:effectLst/>
              <a:uFillTx/>
              <a:latin typeface="Arial"/>
            </a:endParaRPr>
          </a:p>
        </p:txBody>
      </p:sp>
      <p:sp>
        <p:nvSpPr>
          <p:cNvPr id="33" name="Straight Connector 6"/>
          <p:cNvSpPr/>
          <p:nvPr/>
        </p:nvSpPr>
        <p:spPr>
          <a:xfrm flipV="1">
            <a:off x="8572320" y="1218960"/>
            <a:ext cx="647640" cy="399960"/>
          </a:xfrm>
          <a:prstGeom prst="line">
            <a:avLst/>
          </a:prstGeom>
          <a:ln w="28575">
            <a:solidFill>
              <a:srgbClr val="2DD4BF"/>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Calibri"/>
            </a:endParaRPr>
          </a:p>
        </p:txBody>
      </p:sp>
      <p:sp>
        <p:nvSpPr>
          <p:cNvPr id="34" name="Straight Connector 7"/>
          <p:cNvSpPr/>
          <p:nvPr/>
        </p:nvSpPr>
        <p:spPr>
          <a:xfrm>
            <a:off x="9219960" y="1218960"/>
            <a:ext cx="666720" cy="971640"/>
          </a:xfrm>
          <a:prstGeom prst="line">
            <a:avLst/>
          </a:prstGeom>
          <a:ln w="28575">
            <a:solidFill>
              <a:srgbClr val="4EA1FF"/>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Calibri"/>
            </a:endParaRPr>
          </a:p>
        </p:txBody>
      </p:sp>
      <p:sp>
        <p:nvSpPr>
          <p:cNvPr id="35" name="Straight Connector 8"/>
          <p:cNvSpPr/>
          <p:nvPr/>
        </p:nvSpPr>
        <p:spPr>
          <a:xfrm flipV="1">
            <a:off x="9886680" y="1733400"/>
            <a:ext cx="628920" cy="457200"/>
          </a:xfrm>
          <a:prstGeom prst="line">
            <a:avLst/>
          </a:prstGeom>
          <a:ln w="28575">
            <a:solidFill>
              <a:srgbClr val="2DD4BF"/>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Calibri"/>
            </a:endParaRPr>
          </a:p>
        </p:txBody>
      </p:sp>
      <p:sp>
        <p:nvSpPr>
          <p:cNvPr id="36" name="Straight Connector 9"/>
          <p:cNvSpPr/>
          <p:nvPr/>
        </p:nvSpPr>
        <p:spPr>
          <a:xfrm>
            <a:off x="10515600" y="1733400"/>
            <a:ext cx="647640" cy="952560"/>
          </a:xfrm>
          <a:prstGeom prst="line">
            <a:avLst/>
          </a:prstGeom>
          <a:ln w="28575">
            <a:solidFill>
              <a:srgbClr val="4EA1FF"/>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Calibri"/>
            </a:endParaRPr>
          </a:p>
        </p:txBody>
      </p:sp>
      <p:sp>
        <p:nvSpPr>
          <p:cNvPr id="37" name="Straight Connector 10"/>
          <p:cNvSpPr/>
          <p:nvPr/>
        </p:nvSpPr>
        <p:spPr>
          <a:xfrm flipH="1">
            <a:off x="10324800" y="2685960"/>
            <a:ext cx="838440" cy="704880"/>
          </a:xfrm>
          <a:prstGeom prst="line">
            <a:avLst/>
          </a:prstGeom>
          <a:ln w="28575">
            <a:solidFill>
              <a:srgbClr val="2DD4BF"/>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Calibri"/>
            </a:endParaRPr>
          </a:p>
        </p:txBody>
      </p:sp>
      <p:sp>
        <p:nvSpPr>
          <p:cNvPr id="38" name="Straight Connector 11"/>
          <p:cNvSpPr/>
          <p:nvPr/>
        </p:nvSpPr>
        <p:spPr>
          <a:xfrm flipH="1" flipV="1">
            <a:off x="9353520" y="3009600"/>
            <a:ext cx="971280" cy="381240"/>
          </a:xfrm>
          <a:prstGeom prst="line">
            <a:avLst/>
          </a:prstGeom>
          <a:ln w="28575">
            <a:solidFill>
              <a:srgbClr val="4EA1FF"/>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Calibri"/>
            </a:endParaRPr>
          </a:p>
        </p:txBody>
      </p:sp>
      <p:sp>
        <p:nvSpPr>
          <p:cNvPr id="39" name="Straight Connector 12"/>
          <p:cNvSpPr/>
          <p:nvPr/>
        </p:nvSpPr>
        <p:spPr>
          <a:xfrm flipH="1">
            <a:off x="8686800" y="3009600"/>
            <a:ext cx="666720" cy="895320"/>
          </a:xfrm>
          <a:prstGeom prst="line">
            <a:avLst/>
          </a:prstGeom>
          <a:ln w="28575">
            <a:solidFill>
              <a:srgbClr val="2DD4BF"/>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Calibri"/>
            </a:endParaRPr>
          </a:p>
        </p:txBody>
      </p:sp>
      <p:sp>
        <p:nvSpPr>
          <p:cNvPr id="40" name="Rectangle: Rounded Corners 13"/>
          <p:cNvSpPr/>
          <p:nvPr/>
        </p:nvSpPr>
        <p:spPr>
          <a:xfrm>
            <a:off x="8515440" y="1562040"/>
            <a:ext cx="114120" cy="114120"/>
          </a:xfrm>
          <a:prstGeom prst="roundRect">
            <a:avLst>
              <a:gd name="adj" fmla="val 50000"/>
            </a:avLst>
          </a:prstGeom>
          <a:solidFill>
            <a:srgbClr val="2DD4BF"/>
          </a:solidFill>
          <a:ln w="0">
            <a:noFill/>
          </a:ln>
        </p:spPr>
        <p:style>
          <a:lnRef idx="0"/>
          <a:fillRef idx="0"/>
          <a:effectRef idx="0"/>
          <a:fontRef idx="minor"/>
        </p:style>
        <p:txBody>
          <a:bodyPr lIns="90000" tIns="36000" rIns="90000" bIns="36000" anchor="t">
            <a:noAutofit/>
          </a:bodyPr>
          <a:p>
            <a:pPr/>
            <a:endParaRPr lang="en-US" sz="1800" b="0" u="none" strike="noStrike">
              <a:solidFill>
                <a:schemeClr val="dk1"/>
              </a:solidFill>
              <a:effectLst/>
              <a:uFillTx/>
              <a:latin typeface="Calibri"/>
            </a:endParaRPr>
          </a:p>
        </p:txBody>
      </p:sp>
      <p:sp>
        <p:nvSpPr>
          <p:cNvPr id="41" name="Rectangle: Rounded Corners 14"/>
          <p:cNvSpPr/>
          <p:nvPr/>
        </p:nvSpPr>
        <p:spPr>
          <a:xfrm>
            <a:off x="9163080" y="1162080"/>
            <a:ext cx="114120" cy="114120"/>
          </a:xfrm>
          <a:prstGeom prst="roundRect">
            <a:avLst>
              <a:gd name="adj" fmla="val 50000"/>
            </a:avLst>
          </a:prstGeom>
          <a:solidFill>
            <a:srgbClr val="2DD4BF"/>
          </a:solidFill>
          <a:ln w="0">
            <a:noFill/>
          </a:ln>
        </p:spPr>
        <p:style>
          <a:lnRef idx="0"/>
          <a:fillRef idx="0"/>
          <a:effectRef idx="0"/>
          <a:fontRef idx="minor"/>
        </p:style>
        <p:txBody>
          <a:bodyPr lIns="90000" tIns="36000" rIns="90000" bIns="36000" anchor="t">
            <a:noAutofit/>
          </a:bodyPr>
          <a:p>
            <a:pPr/>
            <a:endParaRPr lang="en-US" sz="1800" b="0" u="none" strike="noStrike">
              <a:solidFill>
                <a:schemeClr val="dk1"/>
              </a:solidFill>
              <a:effectLst/>
              <a:uFillTx/>
              <a:latin typeface="Calibri"/>
            </a:endParaRPr>
          </a:p>
        </p:txBody>
      </p:sp>
      <p:sp>
        <p:nvSpPr>
          <p:cNvPr id="42" name="Rectangle: Rounded Corners 15"/>
          <p:cNvSpPr/>
          <p:nvPr/>
        </p:nvSpPr>
        <p:spPr>
          <a:xfrm>
            <a:off x="9829800" y="2133720"/>
            <a:ext cx="114120" cy="114120"/>
          </a:xfrm>
          <a:prstGeom prst="roundRect">
            <a:avLst>
              <a:gd name="adj" fmla="val 50000"/>
            </a:avLst>
          </a:prstGeom>
          <a:solidFill>
            <a:srgbClr val="2DD4BF"/>
          </a:solidFill>
          <a:ln w="0">
            <a:noFill/>
          </a:ln>
        </p:spPr>
        <p:style>
          <a:lnRef idx="0"/>
          <a:fillRef idx="0"/>
          <a:effectRef idx="0"/>
          <a:fontRef idx="minor"/>
        </p:style>
        <p:txBody>
          <a:bodyPr lIns="90000" tIns="36000" rIns="90000" bIns="36000" anchor="t">
            <a:noAutofit/>
          </a:bodyPr>
          <a:p>
            <a:pPr/>
            <a:endParaRPr lang="en-US" sz="1800" b="0" u="none" strike="noStrike">
              <a:solidFill>
                <a:schemeClr val="dk1"/>
              </a:solidFill>
              <a:effectLst/>
              <a:uFillTx/>
              <a:latin typeface="Calibri"/>
            </a:endParaRPr>
          </a:p>
        </p:txBody>
      </p:sp>
      <p:sp>
        <p:nvSpPr>
          <p:cNvPr id="43" name="Rectangle: Rounded Corners 16"/>
          <p:cNvSpPr/>
          <p:nvPr/>
        </p:nvSpPr>
        <p:spPr>
          <a:xfrm>
            <a:off x="10458360" y="1676520"/>
            <a:ext cx="114120" cy="114120"/>
          </a:xfrm>
          <a:prstGeom prst="roundRect">
            <a:avLst>
              <a:gd name="adj" fmla="val 50000"/>
            </a:avLst>
          </a:prstGeom>
          <a:solidFill>
            <a:srgbClr val="2DD4BF"/>
          </a:solidFill>
          <a:ln w="0">
            <a:noFill/>
          </a:ln>
        </p:spPr>
        <p:style>
          <a:lnRef idx="0"/>
          <a:fillRef idx="0"/>
          <a:effectRef idx="0"/>
          <a:fontRef idx="minor"/>
        </p:style>
        <p:txBody>
          <a:bodyPr lIns="90000" tIns="36000" rIns="90000" bIns="36000" anchor="t">
            <a:noAutofit/>
          </a:bodyPr>
          <a:p>
            <a:pPr/>
            <a:endParaRPr lang="en-US" sz="1800" b="0" u="none" strike="noStrike">
              <a:solidFill>
                <a:schemeClr val="dk1"/>
              </a:solidFill>
              <a:effectLst/>
              <a:uFillTx/>
              <a:latin typeface="Calibri"/>
            </a:endParaRPr>
          </a:p>
        </p:txBody>
      </p:sp>
      <p:sp>
        <p:nvSpPr>
          <p:cNvPr id="44" name="Rectangle: Rounded Corners 17"/>
          <p:cNvSpPr/>
          <p:nvPr/>
        </p:nvSpPr>
        <p:spPr>
          <a:xfrm>
            <a:off x="11106000" y="2629080"/>
            <a:ext cx="114120" cy="114120"/>
          </a:xfrm>
          <a:prstGeom prst="roundRect">
            <a:avLst>
              <a:gd name="adj" fmla="val 50000"/>
            </a:avLst>
          </a:prstGeom>
          <a:solidFill>
            <a:srgbClr val="F5B942"/>
          </a:solidFill>
          <a:ln w="0">
            <a:noFill/>
          </a:ln>
        </p:spPr>
        <p:style>
          <a:lnRef idx="0"/>
          <a:fillRef idx="0"/>
          <a:effectRef idx="0"/>
          <a:fontRef idx="minor"/>
        </p:style>
        <p:txBody>
          <a:bodyPr lIns="90000" tIns="36000" rIns="90000" bIns="36000" anchor="t">
            <a:noAutofit/>
          </a:bodyPr>
          <a:p>
            <a:pPr/>
            <a:endParaRPr lang="en-US" sz="1800" b="0" u="none" strike="noStrike">
              <a:solidFill>
                <a:schemeClr val="dk1"/>
              </a:solidFill>
              <a:effectLst/>
              <a:uFillTx/>
              <a:latin typeface="Calibri"/>
            </a:endParaRPr>
          </a:p>
        </p:txBody>
      </p:sp>
      <p:sp>
        <p:nvSpPr>
          <p:cNvPr id="45" name="Rectangle: Rounded Corners 18"/>
          <p:cNvSpPr/>
          <p:nvPr/>
        </p:nvSpPr>
        <p:spPr>
          <a:xfrm>
            <a:off x="10267920" y="3333600"/>
            <a:ext cx="114120" cy="114120"/>
          </a:xfrm>
          <a:prstGeom prst="roundRect">
            <a:avLst>
              <a:gd name="adj" fmla="val 50000"/>
            </a:avLst>
          </a:prstGeom>
          <a:solidFill>
            <a:srgbClr val="2DD4BF"/>
          </a:solidFill>
          <a:ln w="0">
            <a:noFill/>
          </a:ln>
        </p:spPr>
        <p:style>
          <a:lnRef idx="0"/>
          <a:fillRef idx="0"/>
          <a:effectRef idx="0"/>
          <a:fontRef idx="minor"/>
        </p:style>
        <p:txBody>
          <a:bodyPr lIns="90000" tIns="36000" rIns="90000" bIns="36000" anchor="t">
            <a:noAutofit/>
          </a:bodyPr>
          <a:p>
            <a:pPr/>
            <a:endParaRPr lang="en-US" sz="1800" b="0" u="none" strike="noStrike">
              <a:solidFill>
                <a:schemeClr val="dk1"/>
              </a:solidFill>
              <a:effectLst/>
              <a:uFillTx/>
              <a:latin typeface="Calibri"/>
            </a:endParaRPr>
          </a:p>
        </p:txBody>
      </p:sp>
      <p:sp>
        <p:nvSpPr>
          <p:cNvPr id="46" name="Rectangle: Rounded Corners 19"/>
          <p:cNvSpPr/>
          <p:nvPr/>
        </p:nvSpPr>
        <p:spPr>
          <a:xfrm>
            <a:off x="9296280" y="2952720"/>
            <a:ext cx="114120" cy="114120"/>
          </a:xfrm>
          <a:prstGeom prst="roundRect">
            <a:avLst>
              <a:gd name="adj" fmla="val 50000"/>
            </a:avLst>
          </a:prstGeom>
          <a:solidFill>
            <a:srgbClr val="2DD4BF"/>
          </a:solidFill>
          <a:ln w="0">
            <a:noFill/>
          </a:ln>
        </p:spPr>
        <p:style>
          <a:lnRef idx="0"/>
          <a:fillRef idx="0"/>
          <a:effectRef idx="0"/>
          <a:fontRef idx="minor"/>
        </p:style>
        <p:txBody>
          <a:bodyPr lIns="90000" tIns="36000" rIns="90000" bIns="36000" anchor="t">
            <a:noAutofit/>
          </a:bodyPr>
          <a:p>
            <a:pPr/>
            <a:endParaRPr lang="en-US" sz="1800" b="0" u="none" strike="noStrike">
              <a:solidFill>
                <a:schemeClr val="dk1"/>
              </a:solidFill>
              <a:effectLst/>
              <a:uFillTx/>
              <a:latin typeface="Calibri"/>
            </a:endParaRPr>
          </a:p>
        </p:txBody>
      </p:sp>
      <p:sp>
        <p:nvSpPr>
          <p:cNvPr id="47" name="Rectangle: Rounded Corners 20"/>
          <p:cNvSpPr/>
          <p:nvPr/>
        </p:nvSpPr>
        <p:spPr>
          <a:xfrm>
            <a:off x="8629560" y="3848040"/>
            <a:ext cx="114120" cy="114120"/>
          </a:xfrm>
          <a:prstGeom prst="roundRect">
            <a:avLst>
              <a:gd name="adj" fmla="val 50000"/>
            </a:avLst>
          </a:prstGeom>
          <a:solidFill>
            <a:srgbClr val="2DD4BF"/>
          </a:solidFill>
          <a:ln w="0">
            <a:noFill/>
          </a:ln>
        </p:spPr>
        <p:style>
          <a:lnRef idx="0"/>
          <a:fillRef idx="0"/>
          <a:effectRef idx="0"/>
          <a:fontRef idx="minor"/>
        </p:style>
        <p:txBody>
          <a:bodyPr lIns="90000" tIns="36000" rIns="90000" bIns="36000" anchor="t">
            <a:noAutofit/>
          </a:bodyPr>
          <a:p>
            <a:pPr/>
            <a:endParaRPr lang="en-US" sz="1800" b="0" u="none" strike="noStrike">
              <a:solidFill>
                <a:schemeClr val="dk1"/>
              </a:solidFill>
              <a:effectLst/>
              <a:uFillTx/>
              <a:latin typeface="Calibri"/>
            </a:endParaRPr>
          </a:p>
        </p:txBody>
      </p:sp>
      <p:pic>
        <p:nvPicPr>
          <p:cNvPr id="48" name="Picture 26"/>
          <p:cNvPicPr/>
          <p:nvPr/>
        </p:nvPicPr>
        <p:blipFill>
          <a:blip r:embed="rId1"/>
          <a:stretch/>
        </p:blipFill>
        <p:spPr>
          <a:xfrm>
            <a:off x="9753120" y="5315760"/>
            <a:ext cx="2171880" cy="1439640"/>
          </a:xfrm>
          <a:prstGeom prst="rect">
            <a:avLst/>
          </a:prstGeom>
          <a:noFill/>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 name="TextBox 1"/>
          <p:cNvSpPr/>
          <p:nvPr/>
        </p:nvSpPr>
        <p:spPr>
          <a:xfrm>
            <a:off x="612720" y="292680"/>
            <a:ext cx="10881000" cy="31968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300" b="1" u="none" strike="noStrike">
                <a:solidFill>
                  <a:srgbClr val="AE9251"/>
                </a:solidFill>
                <a:effectLst/>
                <a:uFillTx/>
                <a:latin typeface="Aptos"/>
                <a:ea typeface="Calibri"/>
              </a:rPr>
              <a:t>PRESENTATION GUIDE</a:t>
            </a:r>
            <a:endParaRPr lang="en-US" sz="1300" b="0" u="none" strike="noStrike">
              <a:solidFill>
                <a:srgbClr val="000000"/>
              </a:solidFill>
              <a:effectLst/>
              <a:uFillTx/>
              <a:latin typeface="Arial"/>
            </a:endParaRPr>
          </a:p>
        </p:txBody>
      </p:sp>
      <p:sp>
        <p:nvSpPr>
          <p:cNvPr id="50" name="TextBox 2"/>
          <p:cNvSpPr/>
          <p:nvPr/>
        </p:nvSpPr>
        <p:spPr>
          <a:xfrm>
            <a:off x="612720" y="749880"/>
            <a:ext cx="10972440" cy="63972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2700" b="1" u="none" strike="noStrike">
                <a:solidFill>
                  <a:srgbClr val="13274B"/>
                </a:solidFill>
                <a:effectLst/>
                <a:uFillTx/>
                <a:latin typeface="Aptos"/>
                <a:ea typeface="Calibri"/>
              </a:rPr>
              <a:t>Research narrative and evidence boundaries</a:t>
            </a:r>
            <a:endParaRPr lang="en-US" sz="2700" b="0" u="none" strike="noStrike">
              <a:solidFill>
                <a:srgbClr val="000000"/>
              </a:solidFill>
              <a:effectLst/>
              <a:uFillTx/>
              <a:latin typeface="Arial"/>
            </a:endParaRPr>
          </a:p>
        </p:txBody>
      </p:sp>
      <p:sp>
        <p:nvSpPr>
          <p:cNvPr id="51" name="TextBox 3"/>
          <p:cNvSpPr/>
          <p:nvPr/>
        </p:nvSpPr>
        <p:spPr>
          <a:xfrm>
            <a:off x="685800" y="1435680"/>
            <a:ext cx="10881000" cy="51156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400" b="0" u="none" strike="noStrike">
                <a:solidFill>
                  <a:srgbClr val="53657C"/>
                </a:solidFill>
                <a:effectLst/>
                <a:uFillTx/>
                <a:latin typeface="Aptos"/>
                <a:ea typeface="Calibri"/>
              </a:rPr>
              <a:t>From published methods to implementation, reproducibility and the PhD research agenda.</a:t>
            </a:r>
            <a:endParaRPr lang="en-US" sz="1400" b="0" u="none" strike="noStrike">
              <a:solidFill>
                <a:srgbClr val="000000"/>
              </a:solidFill>
              <a:effectLst/>
              <a:uFillTx/>
              <a:latin typeface="Arial"/>
            </a:endParaRPr>
          </a:p>
        </p:txBody>
      </p:sp>
      <p:sp>
        <p:nvSpPr>
          <p:cNvPr id="52" name="TextBox 4"/>
          <p:cNvSpPr/>
          <p:nvPr/>
        </p:nvSpPr>
        <p:spPr>
          <a:xfrm>
            <a:off x="612720" y="6510600"/>
            <a:ext cx="8229240" cy="20988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900" b="0" u="none" strike="noStrike">
                <a:solidFill>
                  <a:srgbClr val="53657C"/>
                </a:solidFill>
                <a:effectLst/>
                <a:uFillTx/>
                <a:latin typeface="Aptos"/>
                <a:ea typeface="Calibri"/>
              </a:rPr>
              <a:t>hlin863/ewma_covariate_shift_demo</a:t>
            </a:r>
            <a:endParaRPr lang="en-US" sz="900" b="0" u="none" strike="noStrike">
              <a:solidFill>
                <a:srgbClr val="000000"/>
              </a:solidFill>
              <a:effectLst/>
              <a:uFillTx/>
              <a:latin typeface="Arial"/>
            </a:endParaRPr>
          </a:p>
        </p:txBody>
      </p:sp>
      <p:sp>
        <p:nvSpPr>
          <p:cNvPr id="53" name="Rounded Rectangle 5"/>
          <p:cNvSpPr/>
          <p:nvPr/>
        </p:nvSpPr>
        <p:spPr>
          <a:xfrm>
            <a:off x="777240" y="1965960"/>
            <a:ext cx="10652400" cy="749520"/>
          </a:xfrm>
          <a:prstGeom prst="roundRect">
            <a:avLst>
              <a:gd name="adj" fmla="val 16667"/>
            </a:avLst>
          </a:prstGeom>
          <a:solidFill>
            <a:srgbClr val="ECF2F8"/>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54" name="TextBox 6"/>
          <p:cNvSpPr/>
          <p:nvPr/>
        </p:nvSpPr>
        <p:spPr>
          <a:xfrm>
            <a:off x="1005840" y="2084760"/>
            <a:ext cx="548280" cy="31968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500" b="1" u="none" strike="noStrike">
                <a:solidFill>
                  <a:srgbClr val="AE9251"/>
                </a:solidFill>
                <a:effectLst/>
                <a:uFillTx/>
                <a:latin typeface="Aptos"/>
                <a:ea typeface="Calibri"/>
              </a:rPr>
              <a:t>01</a:t>
            </a:r>
            <a:endParaRPr lang="en-US" sz="1500" b="0" u="none" strike="noStrike">
              <a:solidFill>
                <a:srgbClr val="000000"/>
              </a:solidFill>
              <a:effectLst/>
              <a:uFillTx/>
              <a:latin typeface="Arial"/>
            </a:endParaRPr>
          </a:p>
        </p:txBody>
      </p:sp>
      <p:sp>
        <p:nvSpPr>
          <p:cNvPr id="55" name="TextBox 7"/>
          <p:cNvSpPr/>
          <p:nvPr/>
        </p:nvSpPr>
        <p:spPr>
          <a:xfrm>
            <a:off x="1691640" y="2075760"/>
            <a:ext cx="3245760" cy="3654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700" b="1" u="none" strike="noStrike">
                <a:solidFill>
                  <a:srgbClr val="13274B"/>
                </a:solidFill>
                <a:effectLst/>
                <a:uFillTx/>
                <a:latin typeface="Aptos"/>
                <a:ea typeface="Calibri"/>
              </a:rPr>
              <a:t>Problem and literature</a:t>
            </a:r>
            <a:endParaRPr lang="en-US" sz="1700" b="0" u="none" strike="noStrike">
              <a:solidFill>
                <a:srgbClr val="000000"/>
              </a:solidFill>
              <a:effectLst/>
              <a:uFillTx/>
              <a:latin typeface="Arial"/>
            </a:endParaRPr>
          </a:p>
        </p:txBody>
      </p:sp>
      <p:sp>
        <p:nvSpPr>
          <p:cNvPr id="56" name="TextBox 8"/>
          <p:cNvSpPr/>
          <p:nvPr/>
        </p:nvSpPr>
        <p:spPr>
          <a:xfrm>
            <a:off x="4754880" y="2112120"/>
            <a:ext cx="6309000" cy="3744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400" b="0" u="none" strike="noStrike">
                <a:solidFill>
                  <a:srgbClr val="53657C"/>
                </a:solidFill>
                <a:effectLst/>
                <a:uFillTx/>
                <a:latin typeface="Aptos"/>
                <a:ea typeface="Calibri"/>
              </a:rPr>
              <a:t>EEG non-stationarity; research lineage; clinical evidence</a:t>
            </a:r>
            <a:endParaRPr lang="en-US" sz="1400" b="0" u="none" strike="noStrike">
              <a:solidFill>
                <a:srgbClr val="000000"/>
              </a:solidFill>
              <a:effectLst/>
              <a:uFillTx/>
              <a:latin typeface="Arial"/>
            </a:endParaRPr>
          </a:p>
        </p:txBody>
      </p:sp>
      <p:sp>
        <p:nvSpPr>
          <p:cNvPr id="57" name="Rounded Rectangle 9"/>
          <p:cNvSpPr/>
          <p:nvPr/>
        </p:nvSpPr>
        <p:spPr>
          <a:xfrm>
            <a:off x="777240" y="2880360"/>
            <a:ext cx="10652400" cy="749520"/>
          </a:xfrm>
          <a:prstGeom prst="roundRect">
            <a:avLst>
              <a:gd name="adj" fmla="val 16667"/>
            </a:avLst>
          </a:prstGeom>
          <a:solidFill>
            <a:srgbClr val="ECF2F8"/>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58" name="TextBox 10"/>
          <p:cNvSpPr/>
          <p:nvPr/>
        </p:nvSpPr>
        <p:spPr>
          <a:xfrm>
            <a:off x="1005840" y="2999160"/>
            <a:ext cx="548280" cy="31968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500" b="1" u="none" strike="noStrike">
                <a:solidFill>
                  <a:srgbClr val="AE9251"/>
                </a:solidFill>
                <a:effectLst/>
                <a:uFillTx/>
                <a:latin typeface="Aptos"/>
                <a:ea typeface="Calibri"/>
              </a:rPr>
              <a:t>02</a:t>
            </a:r>
            <a:endParaRPr lang="en-US" sz="1500" b="0" u="none" strike="noStrike">
              <a:solidFill>
                <a:srgbClr val="000000"/>
              </a:solidFill>
              <a:effectLst/>
              <a:uFillTx/>
              <a:latin typeface="Arial"/>
            </a:endParaRPr>
          </a:p>
        </p:txBody>
      </p:sp>
      <p:sp>
        <p:nvSpPr>
          <p:cNvPr id="59" name="TextBox 11"/>
          <p:cNvSpPr/>
          <p:nvPr/>
        </p:nvSpPr>
        <p:spPr>
          <a:xfrm>
            <a:off x="1691640" y="2990160"/>
            <a:ext cx="3245760" cy="3654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700" b="1" u="none" strike="noStrike">
                <a:solidFill>
                  <a:srgbClr val="13274B"/>
                </a:solidFill>
                <a:effectLst/>
                <a:uFillTx/>
                <a:latin typeface="Aptos"/>
                <a:ea typeface="Calibri"/>
              </a:rPr>
              <a:t>Representation and detection</a:t>
            </a:r>
            <a:endParaRPr lang="en-US" sz="1700" b="0" u="none" strike="noStrike">
              <a:solidFill>
                <a:srgbClr val="000000"/>
              </a:solidFill>
              <a:effectLst/>
              <a:uFillTx/>
              <a:latin typeface="Arial"/>
            </a:endParaRPr>
          </a:p>
        </p:txBody>
      </p:sp>
      <p:sp>
        <p:nvSpPr>
          <p:cNvPr id="60" name="TextBox 12"/>
          <p:cNvSpPr/>
          <p:nvPr/>
        </p:nvSpPr>
        <p:spPr>
          <a:xfrm>
            <a:off x="4754880" y="3026520"/>
            <a:ext cx="6309000" cy="3744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400" b="0" u="none" strike="noStrike">
                <a:solidFill>
                  <a:srgbClr val="53657C"/>
                </a:solidFill>
                <a:effectLst/>
                <a:uFillTx/>
                <a:latin typeface="Aptos"/>
                <a:ea typeface="Calibri"/>
              </a:rPr>
              <a:t>FBCSP features; frozen PCA coordinates; EWMA and Stage II</a:t>
            </a:r>
            <a:endParaRPr lang="en-US" sz="1400" b="0" u="none" strike="noStrike">
              <a:solidFill>
                <a:srgbClr val="000000"/>
              </a:solidFill>
              <a:effectLst/>
              <a:uFillTx/>
              <a:latin typeface="Arial"/>
            </a:endParaRPr>
          </a:p>
        </p:txBody>
      </p:sp>
      <p:sp>
        <p:nvSpPr>
          <p:cNvPr id="61" name="Rounded Rectangle 13"/>
          <p:cNvSpPr/>
          <p:nvPr/>
        </p:nvSpPr>
        <p:spPr>
          <a:xfrm>
            <a:off x="777240" y="3794760"/>
            <a:ext cx="10652400" cy="749520"/>
          </a:xfrm>
          <a:prstGeom prst="roundRect">
            <a:avLst>
              <a:gd name="adj" fmla="val 16667"/>
            </a:avLst>
          </a:prstGeom>
          <a:solidFill>
            <a:srgbClr val="ECF2F8"/>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62" name="TextBox 14"/>
          <p:cNvSpPr/>
          <p:nvPr/>
        </p:nvSpPr>
        <p:spPr>
          <a:xfrm>
            <a:off x="1005840" y="3913560"/>
            <a:ext cx="548280" cy="31968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500" b="1" u="none" strike="noStrike">
                <a:solidFill>
                  <a:srgbClr val="AE9251"/>
                </a:solidFill>
                <a:effectLst/>
                <a:uFillTx/>
                <a:latin typeface="Aptos"/>
                <a:ea typeface="Calibri"/>
              </a:rPr>
              <a:t>03</a:t>
            </a:r>
            <a:endParaRPr lang="en-US" sz="1500" b="0" u="none" strike="noStrike">
              <a:solidFill>
                <a:srgbClr val="000000"/>
              </a:solidFill>
              <a:effectLst/>
              <a:uFillTx/>
              <a:latin typeface="Arial"/>
            </a:endParaRPr>
          </a:p>
        </p:txBody>
      </p:sp>
      <p:sp>
        <p:nvSpPr>
          <p:cNvPr id="63" name="TextBox 15"/>
          <p:cNvSpPr/>
          <p:nvPr/>
        </p:nvSpPr>
        <p:spPr>
          <a:xfrm>
            <a:off x="1691640" y="3904560"/>
            <a:ext cx="3245760" cy="3654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700" b="1" u="none" strike="noStrike">
                <a:solidFill>
                  <a:srgbClr val="13274B"/>
                </a:solidFill>
                <a:effectLst/>
                <a:uFillTx/>
                <a:latin typeface="Aptos"/>
                <a:ea typeface="Calibri"/>
              </a:rPr>
              <a:t>Adaptation and system policies</a:t>
            </a:r>
            <a:endParaRPr lang="en-US" sz="1700" b="0" u="none" strike="noStrike">
              <a:solidFill>
                <a:srgbClr val="000000"/>
              </a:solidFill>
              <a:effectLst/>
              <a:uFillTx/>
              <a:latin typeface="Arial"/>
            </a:endParaRPr>
          </a:p>
        </p:txBody>
      </p:sp>
      <p:sp>
        <p:nvSpPr>
          <p:cNvPr id="64" name="TextBox 16"/>
          <p:cNvSpPr/>
          <p:nvPr/>
        </p:nvSpPr>
        <p:spPr>
          <a:xfrm>
            <a:off x="4754880" y="3940920"/>
            <a:ext cx="6309000" cy="3744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400" b="0" u="none" strike="noStrike">
                <a:solidFill>
                  <a:srgbClr val="53657C"/>
                </a:solidFill>
                <a:effectLst/>
                <a:uFillTx/>
                <a:latin typeface="Aptos"/>
                <a:ea typeface="Calibri"/>
              </a:rPr>
              <a:t>Updated SVM, label availability, Diethe and passive baselines</a:t>
            </a:r>
            <a:endParaRPr lang="en-US" sz="1400" b="0" u="none" strike="noStrike">
              <a:solidFill>
                <a:srgbClr val="000000"/>
              </a:solidFill>
              <a:effectLst/>
              <a:uFillTx/>
              <a:latin typeface="Arial"/>
            </a:endParaRPr>
          </a:p>
        </p:txBody>
      </p:sp>
      <p:sp>
        <p:nvSpPr>
          <p:cNvPr id="65" name="Rounded Rectangle 17"/>
          <p:cNvSpPr/>
          <p:nvPr/>
        </p:nvSpPr>
        <p:spPr>
          <a:xfrm>
            <a:off x="777240" y="4709160"/>
            <a:ext cx="10652400" cy="749520"/>
          </a:xfrm>
          <a:prstGeom prst="roundRect">
            <a:avLst>
              <a:gd name="adj" fmla="val 16667"/>
            </a:avLst>
          </a:prstGeom>
          <a:solidFill>
            <a:srgbClr val="ECF2F8"/>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66" name="TextBox 18"/>
          <p:cNvSpPr/>
          <p:nvPr/>
        </p:nvSpPr>
        <p:spPr>
          <a:xfrm>
            <a:off x="1005840" y="4827960"/>
            <a:ext cx="548280" cy="31968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500" b="1" u="none" strike="noStrike">
                <a:solidFill>
                  <a:srgbClr val="AE9251"/>
                </a:solidFill>
                <a:effectLst/>
                <a:uFillTx/>
                <a:latin typeface="Aptos"/>
                <a:ea typeface="Calibri"/>
              </a:rPr>
              <a:t>04</a:t>
            </a:r>
            <a:endParaRPr lang="en-US" sz="1500" b="0" u="none" strike="noStrike">
              <a:solidFill>
                <a:srgbClr val="000000"/>
              </a:solidFill>
              <a:effectLst/>
              <a:uFillTx/>
              <a:latin typeface="Arial"/>
            </a:endParaRPr>
          </a:p>
        </p:txBody>
      </p:sp>
      <p:sp>
        <p:nvSpPr>
          <p:cNvPr id="67" name="TextBox 19"/>
          <p:cNvSpPr/>
          <p:nvPr/>
        </p:nvSpPr>
        <p:spPr>
          <a:xfrm>
            <a:off x="1691640" y="4818960"/>
            <a:ext cx="3245760" cy="3654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700" b="1" u="none" strike="noStrike">
                <a:solidFill>
                  <a:srgbClr val="13274B"/>
                </a:solidFill>
                <a:effectLst/>
                <a:uFillTx/>
                <a:latin typeface="Aptos"/>
                <a:ea typeface="Calibri"/>
              </a:rPr>
              <a:t>Validation and research plan</a:t>
            </a:r>
            <a:endParaRPr lang="en-US" sz="1700" b="0" u="none" strike="noStrike">
              <a:solidFill>
                <a:srgbClr val="000000"/>
              </a:solidFill>
              <a:effectLst/>
              <a:uFillTx/>
              <a:latin typeface="Arial"/>
            </a:endParaRPr>
          </a:p>
        </p:txBody>
      </p:sp>
      <p:sp>
        <p:nvSpPr>
          <p:cNvPr id="68" name="TextBox 20"/>
          <p:cNvSpPr/>
          <p:nvPr/>
        </p:nvSpPr>
        <p:spPr>
          <a:xfrm>
            <a:off x="4754880" y="4855320"/>
            <a:ext cx="6309000" cy="3744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400" b="0" u="none" strike="noStrike">
                <a:solidFill>
                  <a:srgbClr val="53657C"/>
                </a:solidFill>
                <a:effectLst/>
                <a:uFillTx/>
                <a:latin typeface="Aptos"/>
                <a:ea typeface="Calibri"/>
              </a:rPr>
              <a:t>BCI datasets, reproducibility gaps, pilot evidence, next milestones</a:t>
            </a:r>
            <a:endParaRPr lang="en-US" sz="1400" b="0" u="none" strike="noStrike">
              <a:solidFill>
                <a:srgbClr val="000000"/>
              </a:solidFill>
              <a:effectLst/>
              <a:uFillTx/>
              <a:latin typeface="Arial"/>
            </a:endParaRPr>
          </a:p>
        </p:txBody>
      </p:sp>
      <p:sp>
        <p:nvSpPr>
          <p:cNvPr id="69" name="Slide number"/>
          <p:cNvSpPr/>
          <p:nvPr/>
        </p:nvSpPr>
        <p:spPr>
          <a:xfrm>
            <a:off x="11334600" y="6429240"/>
            <a:ext cx="380520" cy="256680"/>
          </a:xfrm>
          <a:noFill/>
          <a:ln w="0">
            <a:noFill/>
          </a:ln>
        </p:spPr>
        <p:style>
          <a:lnRef idx="0"/>
          <a:fillRef idx="0"/>
          <a:effectRef idx="0"/>
          <a:fontRef idx="minor"/>
        </p:style>
        <p:txBody>
          <a:bodyPr lIns="90000" tIns="45000" rIns="90000" bIns="45000" anchor="t">
            <a:noAutofit/>
          </a:bodyPr>
          <a:p>
            <a:pPr defTabSz="914400">
              <a:lnSpc>
                <a:spcPct val="100000"/>
              </a:lnSpc>
            </a:pPr>
            <a:r>
              <a:rPr lang="en-US" sz="1200" b="0" u="none" strike="noStrike">
                <a:solidFill>
                  <a:srgbClr val="516377"/>
                </a:solidFill>
                <a:effectLst/>
                <a:uFillTx/>
                <a:latin typeface="Calibri"/>
                <a:ea typeface="Calibri"/>
              </a:rPr>
              <a:t>2</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9121F"/>
        </a:solidFill>
      </p:bgPr>
    </p:bg>
    <p:spTree>
      <p:nvGrpSpPr>
        <p:cNvPr id="1" name=""/>
        <p:cNvGrpSpPr/>
        <p:nvPr/>
      </p:nvGrpSpPr>
      <p:grpSpPr>
        <a:xfrm>
          <a:off x="0" y="0"/>
          <a:ext cx="0" cy="0"/>
          <a:chOff x="0" y="0"/>
          <a:chExt cx="0" cy="0"/>
        </a:xfrm>
      </p:grpSpPr>
      <p:sp>
        <p:nvSpPr>
          <p:cNvPr id="70" name="Rectangle 26"/>
          <p:cNvSpPr/>
          <p:nvPr/>
        </p:nvSpPr>
        <p:spPr>
          <a:xfrm>
            <a:off x="609480" y="399960"/>
            <a:ext cx="5714640" cy="228240"/>
          </a:xfrm>
          <a:prstGeom prst="rect">
            <a:avLst/>
          </a:prstGeom>
          <a:noFill/>
          <a:ln w="0">
            <a:noFill/>
          </a:ln>
        </p:spPr>
        <p:style>
          <a:lnRef idx="0"/>
          <a:fillRef idx="0"/>
          <a:effectRef idx="0"/>
          <a:fontRef idx="minor"/>
        </p:style>
        <p:txBody>
          <a:bodyPr lIns="0" tIns="0" rIns="0" bIns="0" anchor="t">
            <a:normAutofit/>
          </a:bodyPr>
          <a:p>
            <a:pPr defTabSz="914400">
              <a:lnSpc>
                <a:spcPct val="100000"/>
              </a:lnSpc>
            </a:pPr>
            <a:r>
              <a:rPr lang="en-US" sz="980" b="1" u="none" strike="noStrike">
                <a:solidFill>
                  <a:srgbClr val="2DD4BF"/>
                </a:solidFill>
                <a:effectLst/>
                <a:uFillTx/>
                <a:latin typeface="DejaVu Sans"/>
                <a:ea typeface="DejaVu Sans"/>
              </a:rPr>
              <a:t>LITERATURE REVIEW</a:t>
            </a:r>
            <a:endParaRPr lang="en-US" sz="980" b="0" u="none" strike="noStrike">
              <a:solidFill>
                <a:srgbClr val="FFFFFF"/>
              </a:solidFill>
              <a:effectLst/>
              <a:uFillTx/>
              <a:latin typeface="Arial"/>
            </a:endParaRPr>
          </a:p>
        </p:txBody>
      </p:sp>
      <p:sp>
        <p:nvSpPr>
          <p:cNvPr id="71" name="Rectangle 1"/>
          <p:cNvSpPr/>
          <p:nvPr/>
        </p:nvSpPr>
        <p:spPr>
          <a:xfrm>
            <a:off x="609480" y="685800"/>
            <a:ext cx="10953360" cy="552240"/>
          </a:xfrm>
          <a:prstGeom prst="rect">
            <a:avLst/>
          </a:prstGeom>
          <a:noFill/>
          <a:ln w="0">
            <a:noFill/>
          </a:ln>
        </p:spPr>
        <p:style>
          <a:lnRef idx="0"/>
          <a:fillRef idx="0"/>
          <a:effectRef idx="0"/>
          <a:fontRef idx="minor"/>
        </p:style>
        <p:txBody>
          <a:bodyPr lIns="0" tIns="0" rIns="0" bIns="0" anchor="t">
            <a:normAutofit/>
          </a:bodyPr>
          <a:p>
            <a:pPr defTabSz="914400">
              <a:lnSpc>
                <a:spcPct val="100000"/>
              </a:lnSpc>
            </a:pPr>
            <a:r>
              <a:rPr lang="en-US" sz="2550" b="1" u="none" strike="noStrike">
                <a:solidFill>
                  <a:srgbClr val="EAF2F8"/>
                </a:solidFill>
                <a:effectLst/>
                <a:uFillTx/>
                <a:latin typeface="DejaVu Sans"/>
                <a:ea typeface="DejaVu Sans"/>
              </a:rPr>
              <a:t>Reading informs the reconstruction and its limits</a:t>
            </a:r>
            <a:endParaRPr lang="en-US" sz="2550" b="0" u="none" strike="noStrike">
              <a:solidFill>
                <a:srgbClr val="FFFFFF"/>
              </a:solidFill>
              <a:effectLst/>
              <a:uFillTx/>
              <a:latin typeface="Arial"/>
            </a:endParaRPr>
          </a:p>
        </p:txBody>
      </p:sp>
      <p:sp>
        <p:nvSpPr>
          <p:cNvPr id="72" name="Straight Connector 2"/>
          <p:cNvSpPr/>
          <p:nvPr/>
        </p:nvSpPr>
        <p:spPr>
          <a:xfrm>
            <a:off x="609480" y="1371600"/>
            <a:ext cx="10972800" cy="360"/>
          </a:xfrm>
          <a:prstGeom prst="line">
            <a:avLst/>
          </a:prstGeom>
          <a:ln w="19050">
            <a:solidFill>
              <a:srgbClr val="294057"/>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Calibri"/>
            </a:endParaRPr>
          </a:p>
        </p:txBody>
      </p:sp>
      <p:sp>
        <p:nvSpPr>
          <p:cNvPr id="73" name="Straight Connector 3"/>
          <p:cNvSpPr/>
          <p:nvPr/>
        </p:nvSpPr>
        <p:spPr>
          <a:xfrm>
            <a:off x="1143000" y="3143160"/>
            <a:ext cx="9905760" cy="360"/>
          </a:xfrm>
          <a:prstGeom prst="line">
            <a:avLst/>
          </a:prstGeom>
          <a:ln w="47625">
            <a:solidFill>
              <a:srgbClr val="294057"/>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Calibri"/>
            </a:endParaRPr>
          </a:p>
        </p:txBody>
      </p:sp>
      <p:sp>
        <p:nvSpPr>
          <p:cNvPr id="74" name="Rectangle: Rounded Corners 4"/>
          <p:cNvSpPr/>
          <p:nvPr/>
        </p:nvSpPr>
        <p:spPr>
          <a:xfrm>
            <a:off x="1238400" y="3009960"/>
            <a:ext cx="266400" cy="266400"/>
          </a:xfrm>
          <a:prstGeom prst="roundRect">
            <a:avLst>
              <a:gd name="adj" fmla="val 50000"/>
            </a:avLst>
          </a:prstGeom>
          <a:solidFill>
            <a:srgbClr val="4EA1FF"/>
          </a:solidFill>
          <a:ln w="0">
            <a:noFill/>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Calibri"/>
            </a:endParaRPr>
          </a:p>
        </p:txBody>
      </p:sp>
      <p:sp>
        <p:nvSpPr>
          <p:cNvPr id="75" name="Rectangle 5"/>
          <p:cNvSpPr/>
          <p:nvPr/>
        </p:nvSpPr>
        <p:spPr>
          <a:xfrm>
            <a:off x="990720" y="2019240"/>
            <a:ext cx="1142640" cy="342720"/>
          </a:xfrm>
          <a:prstGeom prst="rect">
            <a:avLst/>
          </a:prstGeom>
          <a:noFill/>
          <a:ln w="0">
            <a:noFill/>
          </a:ln>
        </p:spPr>
        <p:style>
          <a:lnRef idx="0"/>
          <a:fillRef idx="0"/>
          <a:effectRef idx="0"/>
          <a:fontRef idx="minor"/>
        </p:style>
        <p:txBody>
          <a:bodyPr lIns="0" tIns="0" rIns="0" bIns="0" anchor="t">
            <a:normAutofit/>
          </a:bodyPr>
          <a:p>
            <a:pPr algn="ctr" defTabSz="914400">
              <a:lnSpc>
                <a:spcPct val="100000"/>
              </a:lnSpc>
            </a:pPr>
            <a:r>
              <a:rPr lang="en-US" sz="1650" b="1" u="none" strike="noStrike">
                <a:solidFill>
                  <a:srgbClr val="4EA1FF"/>
                </a:solidFill>
                <a:effectLst/>
                <a:uFillTx/>
                <a:latin typeface="DejaVu Sans"/>
                <a:ea typeface="DejaVu Sans"/>
              </a:rPr>
              <a:t>2015</a:t>
            </a:r>
            <a:endParaRPr lang="en-US" sz="1650" b="0" u="none" strike="noStrike">
              <a:solidFill>
                <a:srgbClr val="FFFFFF"/>
              </a:solidFill>
              <a:effectLst/>
              <a:uFillTx/>
              <a:latin typeface="Arial"/>
            </a:endParaRPr>
          </a:p>
        </p:txBody>
      </p:sp>
      <p:sp>
        <p:nvSpPr>
          <p:cNvPr id="76" name="Rectangle 6"/>
          <p:cNvSpPr/>
          <p:nvPr/>
        </p:nvSpPr>
        <p:spPr>
          <a:xfrm>
            <a:off x="571680" y="2428920"/>
            <a:ext cx="1618920" cy="456840"/>
          </a:xfrm>
          <a:prstGeom prst="rect">
            <a:avLst/>
          </a:prstGeom>
          <a:noFill/>
          <a:ln w="0">
            <a:noFill/>
          </a:ln>
        </p:spPr>
        <p:style>
          <a:lnRef idx="0"/>
          <a:fillRef idx="0"/>
          <a:effectRef idx="0"/>
          <a:fontRef idx="minor"/>
        </p:style>
        <p:txBody>
          <a:bodyPr lIns="0" tIns="0" rIns="0" bIns="0" anchor="t">
            <a:normAutofit/>
          </a:bodyPr>
          <a:p>
            <a:pPr algn="ctr" defTabSz="914400">
              <a:lnSpc>
                <a:spcPct val="100000"/>
              </a:lnSpc>
            </a:pPr>
            <a:r>
              <a:rPr lang="en-US" sz="1280" b="1" u="none" strike="noStrike">
                <a:solidFill>
                  <a:srgbClr val="EAF2F8"/>
                </a:solidFill>
                <a:effectLst/>
                <a:uFillTx/>
                <a:latin typeface="DejaVu Sans"/>
                <a:ea typeface="DejaVu Sans"/>
              </a:rPr>
              <a:t>Raza: detector basis</a:t>
            </a:r>
            <a:endParaRPr lang="en-US" sz="1280" b="0" u="none" strike="noStrike">
              <a:solidFill>
                <a:srgbClr val="FFFFFF"/>
              </a:solidFill>
              <a:effectLst/>
              <a:uFillTx/>
              <a:latin typeface="Arial"/>
            </a:endParaRPr>
          </a:p>
        </p:txBody>
      </p:sp>
      <p:sp>
        <p:nvSpPr>
          <p:cNvPr id="77" name="Rectangle 7"/>
          <p:cNvSpPr/>
          <p:nvPr/>
        </p:nvSpPr>
        <p:spPr>
          <a:xfrm>
            <a:off x="571680" y="3562200"/>
            <a:ext cx="1618920" cy="609120"/>
          </a:xfrm>
          <a:prstGeom prst="rect">
            <a:avLst/>
          </a:prstGeom>
          <a:noFill/>
          <a:ln w="0">
            <a:noFill/>
          </a:ln>
        </p:spPr>
        <p:style>
          <a:lnRef idx="0"/>
          <a:fillRef idx="0"/>
          <a:effectRef idx="0"/>
          <a:fontRef idx="minor"/>
        </p:style>
        <p:txBody>
          <a:bodyPr lIns="0" tIns="0" rIns="0" bIns="0" anchor="t">
            <a:noAutofit/>
          </a:bodyPr>
          <a:p>
            <a:pPr defTabSz="914400">
              <a:lnSpc>
                <a:spcPct val="100000"/>
              </a:lnSpc>
            </a:pPr>
            <a:r>
              <a:rPr lang="en-US" sz="1130" b="0" u="none" strike="noStrike">
                <a:solidFill>
                  <a:srgbClr val="9CB0C3"/>
                </a:solidFill>
                <a:effectLst/>
                <a:uFillTx/>
                <a:latin typeface="DejaVu Sans"/>
                <a:ea typeface="DejaVu Sans"/>
              </a:rPr>
              <a:t>EWMA warning logic</a:t>
            </a:r>
            <a:endParaRPr lang="en-US" sz="1130" b="0" u="none" strike="noStrike">
              <a:solidFill>
                <a:srgbClr val="FFFFFF"/>
              </a:solidFill>
              <a:effectLst/>
              <a:uFillTx/>
              <a:latin typeface="Arial"/>
            </a:endParaRPr>
          </a:p>
          <a:p>
            <a:pPr defTabSz="914400">
              <a:lnSpc>
                <a:spcPct val="100000"/>
              </a:lnSpc>
            </a:pPr>
            <a:r>
              <a:rPr lang="en-US" sz="1130" b="0" u="none" strike="noStrike">
                <a:solidFill>
                  <a:srgbClr val="9CB0C3"/>
                </a:solidFill>
                <a:effectLst/>
                <a:uFillTx/>
                <a:latin typeface="DejaVu Sans"/>
                <a:ea typeface="DejaVu Sans"/>
              </a:rPr>
              <a:t>D2/D3/D4 audit</a:t>
            </a:r>
            <a:endParaRPr lang="en-US" sz="1130" b="0" u="none" strike="noStrike">
              <a:solidFill>
                <a:srgbClr val="FFFFFF"/>
              </a:solidFill>
              <a:effectLst/>
              <a:uFillTx/>
              <a:latin typeface="Arial"/>
            </a:endParaRPr>
          </a:p>
        </p:txBody>
      </p:sp>
      <p:sp>
        <p:nvSpPr>
          <p:cNvPr id="78" name="Rectangle: Rounded Corners 9"/>
          <p:cNvSpPr/>
          <p:nvPr/>
        </p:nvSpPr>
        <p:spPr>
          <a:xfrm>
            <a:off x="3905280" y="3009960"/>
            <a:ext cx="266400" cy="266400"/>
          </a:xfrm>
          <a:prstGeom prst="roundRect">
            <a:avLst>
              <a:gd name="adj" fmla="val 50000"/>
            </a:avLst>
          </a:prstGeom>
          <a:solidFill>
            <a:srgbClr val="2DD4BF"/>
          </a:solidFill>
          <a:ln w="0">
            <a:noFill/>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Calibri"/>
            </a:endParaRPr>
          </a:p>
        </p:txBody>
      </p:sp>
      <p:sp>
        <p:nvSpPr>
          <p:cNvPr id="79" name="Rectangle 10"/>
          <p:cNvSpPr/>
          <p:nvPr/>
        </p:nvSpPr>
        <p:spPr>
          <a:xfrm>
            <a:off x="3657600" y="2019240"/>
            <a:ext cx="1142640" cy="342720"/>
          </a:xfrm>
          <a:prstGeom prst="rect">
            <a:avLst/>
          </a:prstGeom>
          <a:noFill/>
          <a:ln w="0">
            <a:noFill/>
          </a:ln>
        </p:spPr>
        <p:style>
          <a:lnRef idx="0"/>
          <a:fillRef idx="0"/>
          <a:effectRef idx="0"/>
          <a:fontRef idx="minor"/>
        </p:style>
        <p:txBody>
          <a:bodyPr lIns="0" tIns="0" rIns="0" bIns="0" anchor="t">
            <a:normAutofit/>
          </a:bodyPr>
          <a:p>
            <a:pPr algn="ctr" defTabSz="914400">
              <a:lnSpc>
                <a:spcPct val="100000"/>
              </a:lnSpc>
            </a:pPr>
            <a:r>
              <a:rPr lang="en-US" sz="1650" b="1" u="none" strike="noStrike">
                <a:solidFill>
                  <a:srgbClr val="2DD4BF"/>
                </a:solidFill>
                <a:effectLst/>
                <a:uFillTx/>
                <a:latin typeface="DejaVu Sans"/>
                <a:ea typeface="DejaVu Sans"/>
              </a:rPr>
              <a:t>2018</a:t>
            </a:r>
            <a:endParaRPr lang="en-US" sz="1650" b="0" u="none" strike="noStrike">
              <a:solidFill>
                <a:srgbClr val="FFFFFF"/>
              </a:solidFill>
              <a:effectLst/>
              <a:uFillTx/>
              <a:latin typeface="Arial"/>
            </a:endParaRPr>
          </a:p>
        </p:txBody>
      </p:sp>
      <p:sp>
        <p:nvSpPr>
          <p:cNvPr id="80" name="Rectangle 11"/>
          <p:cNvSpPr/>
          <p:nvPr/>
        </p:nvSpPr>
        <p:spPr>
          <a:xfrm>
            <a:off x="3238560" y="2428920"/>
            <a:ext cx="1618920" cy="456840"/>
          </a:xfrm>
          <a:prstGeom prst="rect">
            <a:avLst/>
          </a:prstGeom>
          <a:noFill/>
          <a:ln w="0">
            <a:noFill/>
          </a:ln>
        </p:spPr>
        <p:style>
          <a:lnRef idx="0"/>
          <a:fillRef idx="0"/>
          <a:effectRef idx="0"/>
          <a:fontRef idx="minor"/>
        </p:style>
        <p:txBody>
          <a:bodyPr lIns="0" tIns="0" rIns="0" bIns="0" anchor="t">
            <a:normAutofit/>
          </a:bodyPr>
          <a:p>
            <a:pPr algn="ctr" defTabSz="914400">
              <a:lnSpc>
                <a:spcPct val="100000"/>
              </a:lnSpc>
            </a:pPr>
            <a:r>
              <a:rPr lang="en-US" sz="1280" b="1" u="none" strike="noStrike">
                <a:solidFill>
                  <a:srgbClr val="EAF2F8"/>
                </a:solidFill>
                <a:effectLst/>
                <a:uFillTx/>
                <a:latin typeface="DejaVu Sans"/>
                <a:ea typeface="DejaVu Sans"/>
              </a:rPr>
              <a:t>Chowdhury: online BCI</a:t>
            </a:r>
            <a:endParaRPr lang="en-US" sz="1280" b="0" u="none" strike="noStrike">
              <a:solidFill>
                <a:srgbClr val="FFFFFF"/>
              </a:solidFill>
              <a:effectLst/>
              <a:uFillTx/>
              <a:latin typeface="Arial"/>
            </a:endParaRPr>
          </a:p>
        </p:txBody>
      </p:sp>
      <p:sp>
        <p:nvSpPr>
          <p:cNvPr id="81" name="Rectangle 12"/>
          <p:cNvSpPr/>
          <p:nvPr/>
        </p:nvSpPr>
        <p:spPr>
          <a:xfrm>
            <a:off x="3238560" y="3562200"/>
            <a:ext cx="1618920" cy="609120"/>
          </a:xfrm>
          <a:prstGeom prst="rect">
            <a:avLst/>
          </a:prstGeom>
          <a:noFill/>
          <a:ln w="0">
            <a:noFill/>
          </a:ln>
        </p:spPr>
        <p:style>
          <a:lnRef idx="0"/>
          <a:fillRef idx="0"/>
          <a:effectRef idx="0"/>
          <a:fontRef idx="minor"/>
        </p:style>
        <p:txBody>
          <a:bodyPr lIns="0" tIns="0" rIns="0" bIns="0" anchor="t">
            <a:noAutofit/>
          </a:bodyPr>
          <a:p>
            <a:pPr defTabSz="914400">
              <a:lnSpc>
                <a:spcPct val="100000"/>
              </a:lnSpc>
            </a:pPr>
            <a:r>
              <a:rPr lang="en-US" sz="1130" b="0" u="none" strike="noStrike">
                <a:solidFill>
                  <a:srgbClr val="9CB0C3"/>
                </a:solidFill>
                <a:effectLst/>
                <a:uFillTx/>
                <a:latin typeface="DejaVu Sans"/>
                <a:ea typeface="DejaVu Sans"/>
              </a:rPr>
              <a:t>μ/β-band CSP</a:t>
            </a:r>
            <a:endParaRPr lang="en-US" sz="1130" b="0" u="none" strike="noStrike">
              <a:solidFill>
                <a:srgbClr val="FFFFFF"/>
              </a:solidFill>
              <a:effectLst/>
              <a:uFillTx/>
              <a:latin typeface="Arial"/>
            </a:endParaRPr>
          </a:p>
          <a:p>
            <a:pPr defTabSz="914400">
              <a:lnSpc>
                <a:spcPct val="100000"/>
              </a:lnSpc>
            </a:pPr>
            <a:r>
              <a:rPr lang="en-US" sz="1130" b="0" u="none" strike="noStrike">
                <a:solidFill>
                  <a:srgbClr val="9CB0C3"/>
                </a:solidFill>
                <a:effectLst/>
                <a:uFillTx/>
                <a:latin typeface="DejaVu Sans"/>
                <a:ea typeface="DejaVu Sans"/>
              </a:rPr>
              <a:t>SVM and feedback</a:t>
            </a:r>
            <a:endParaRPr lang="en-US" sz="1130" b="0" u="none" strike="noStrike">
              <a:solidFill>
                <a:srgbClr val="FFFFFF"/>
              </a:solidFill>
              <a:effectLst/>
              <a:uFillTx/>
              <a:latin typeface="Arial"/>
            </a:endParaRPr>
          </a:p>
        </p:txBody>
      </p:sp>
      <p:sp>
        <p:nvSpPr>
          <p:cNvPr id="82" name="Rectangle: Rounded Corners 14"/>
          <p:cNvSpPr/>
          <p:nvPr/>
        </p:nvSpPr>
        <p:spPr>
          <a:xfrm>
            <a:off x="6572160" y="3009960"/>
            <a:ext cx="266400" cy="266400"/>
          </a:xfrm>
          <a:prstGeom prst="roundRect">
            <a:avLst>
              <a:gd name="adj" fmla="val 50000"/>
            </a:avLst>
          </a:prstGeom>
          <a:solidFill>
            <a:srgbClr val="F5B942"/>
          </a:solidFill>
          <a:ln w="0">
            <a:noFill/>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Calibri"/>
            </a:endParaRPr>
          </a:p>
        </p:txBody>
      </p:sp>
      <p:sp>
        <p:nvSpPr>
          <p:cNvPr id="83" name="Rectangle 15"/>
          <p:cNvSpPr/>
          <p:nvPr/>
        </p:nvSpPr>
        <p:spPr>
          <a:xfrm>
            <a:off x="6324480" y="2019240"/>
            <a:ext cx="1142640" cy="342720"/>
          </a:xfrm>
          <a:prstGeom prst="rect">
            <a:avLst/>
          </a:prstGeom>
          <a:noFill/>
          <a:ln w="0">
            <a:noFill/>
          </a:ln>
        </p:spPr>
        <p:style>
          <a:lnRef idx="0"/>
          <a:fillRef idx="0"/>
          <a:effectRef idx="0"/>
          <a:fontRef idx="minor"/>
        </p:style>
        <p:txBody>
          <a:bodyPr lIns="0" tIns="0" rIns="0" bIns="0" anchor="t">
            <a:normAutofit/>
          </a:bodyPr>
          <a:p>
            <a:pPr algn="ctr" defTabSz="914400">
              <a:lnSpc>
                <a:spcPct val="100000"/>
              </a:lnSpc>
            </a:pPr>
            <a:r>
              <a:rPr lang="en-US" sz="1650" b="1" u="none" strike="noStrike">
                <a:solidFill>
                  <a:srgbClr val="F5B942"/>
                </a:solidFill>
                <a:effectLst/>
                <a:uFillTx/>
                <a:latin typeface="DejaVu Sans"/>
                <a:ea typeface="DejaVu Sans"/>
              </a:rPr>
              <a:t>2019</a:t>
            </a:r>
            <a:endParaRPr lang="en-US" sz="1650" b="0" u="none" strike="noStrike">
              <a:solidFill>
                <a:srgbClr val="FFFFFF"/>
              </a:solidFill>
              <a:effectLst/>
              <a:uFillTx/>
              <a:latin typeface="Arial"/>
            </a:endParaRPr>
          </a:p>
        </p:txBody>
      </p:sp>
      <p:sp>
        <p:nvSpPr>
          <p:cNvPr id="84" name="Rectangle 16"/>
          <p:cNvSpPr/>
          <p:nvPr/>
        </p:nvSpPr>
        <p:spPr>
          <a:xfrm>
            <a:off x="5905440" y="2428920"/>
            <a:ext cx="1618920" cy="456840"/>
          </a:xfrm>
          <a:prstGeom prst="rect">
            <a:avLst/>
          </a:prstGeom>
          <a:noFill/>
          <a:ln w="0">
            <a:noFill/>
          </a:ln>
        </p:spPr>
        <p:style>
          <a:lnRef idx="0"/>
          <a:fillRef idx="0"/>
          <a:effectRef idx="0"/>
          <a:fontRef idx="minor"/>
        </p:style>
        <p:txBody>
          <a:bodyPr lIns="0" tIns="0" rIns="0" bIns="0" anchor="t">
            <a:normAutofit/>
          </a:bodyPr>
          <a:p>
            <a:pPr algn="ctr" defTabSz="914400">
              <a:lnSpc>
                <a:spcPct val="100000"/>
              </a:lnSpc>
            </a:pPr>
            <a:r>
              <a:rPr lang="en-US" sz="1280" b="1" u="none" strike="noStrike">
                <a:solidFill>
                  <a:srgbClr val="EAF2F8"/>
                </a:solidFill>
                <a:effectLst/>
                <a:uFillTx/>
                <a:latin typeface="DejaVu Sans"/>
                <a:ea typeface="DejaVu Sans"/>
              </a:rPr>
              <a:t>Raza: CSE-UAEL</a:t>
            </a:r>
            <a:endParaRPr lang="en-US" sz="1280" b="0" u="none" strike="noStrike">
              <a:solidFill>
                <a:srgbClr val="FFFFFF"/>
              </a:solidFill>
              <a:effectLst/>
              <a:uFillTx/>
              <a:latin typeface="Arial"/>
            </a:endParaRPr>
          </a:p>
        </p:txBody>
      </p:sp>
      <p:sp>
        <p:nvSpPr>
          <p:cNvPr id="85" name="Rectangle 17"/>
          <p:cNvSpPr/>
          <p:nvPr/>
        </p:nvSpPr>
        <p:spPr>
          <a:xfrm>
            <a:off x="5905440" y="3562200"/>
            <a:ext cx="1618920" cy="609120"/>
          </a:xfrm>
          <a:prstGeom prst="rect">
            <a:avLst/>
          </a:prstGeom>
          <a:noFill/>
          <a:ln w="0">
            <a:noFill/>
          </a:ln>
        </p:spPr>
        <p:style>
          <a:lnRef idx="0"/>
          <a:fillRef idx="0"/>
          <a:effectRef idx="0"/>
          <a:fontRef idx="minor"/>
        </p:style>
        <p:txBody>
          <a:bodyPr lIns="0" tIns="0" rIns="0" bIns="0" anchor="t">
            <a:normAutofit/>
          </a:bodyPr>
          <a:p>
            <a:pPr algn="ctr" defTabSz="914400">
              <a:lnSpc>
                <a:spcPct val="100000"/>
              </a:lnSpc>
            </a:pPr>
            <a:r>
              <a:rPr lang="en-US" sz="1130" b="0" u="none" strike="noStrike">
                <a:solidFill>
                  <a:srgbClr val="9CB0C3"/>
                </a:solidFill>
                <a:effectLst/>
                <a:uFillTx/>
                <a:latin typeface="DejaVu Sans"/>
                <a:ea typeface="DejaVu Sans"/>
              </a:rPr>
              <a:t>Two-stage CSE</a:t>
            </a:r>
            <a:endParaRPr lang="en-US" sz="1130" b="0" u="none" strike="noStrike">
              <a:solidFill>
                <a:srgbClr val="FFFFFF"/>
              </a:solidFill>
              <a:effectLst/>
              <a:uFillTx/>
              <a:latin typeface="Arial"/>
            </a:endParaRPr>
          </a:p>
          <a:p>
            <a:pPr algn="ctr" defTabSz="914400">
              <a:lnSpc>
                <a:spcPct val="100000"/>
              </a:lnSpc>
            </a:pPr>
            <a:r>
              <a:rPr lang="en-US" sz="1130" b="0" u="none" strike="noStrike">
                <a:solidFill>
                  <a:srgbClr val="9CB0C3"/>
                </a:solidFill>
                <a:effectLst/>
                <a:uFillTx/>
                <a:latin typeface="DejaVu Sans"/>
                <a:ea typeface="DejaVu Sans"/>
              </a:rPr>
              <a:t>Adaptation context</a:t>
            </a:r>
            <a:endParaRPr lang="en-US" sz="1130" b="0" u="none" strike="noStrike">
              <a:solidFill>
                <a:srgbClr val="FFFFFF"/>
              </a:solidFill>
              <a:effectLst/>
              <a:uFillTx/>
              <a:latin typeface="Arial"/>
            </a:endParaRPr>
          </a:p>
        </p:txBody>
      </p:sp>
      <p:sp>
        <p:nvSpPr>
          <p:cNvPr id="86" name="Rectangle: Rounded Corners 19"/>
          <p:cNvSpPr/>
          <p:nvPr/>
        </p:nvSpPr>
        <p:spPr>
          <a:xfrm>
            <a:off x="9239400" y="3009960"/>
            <a:ext cx="266400" cy="266400"/>
          </a:xfrm>
          <a:prstGeom prst="roundRect">
            <a:avLst>
              <a:gd name="adj" fmla="val 50000"/>
            </a:avLst>
          </a:prstGeom>
          <a:solidFill>
            <a:srgbClr val="64D98B"/>
          </a:solidFill>
          <a:ln w="0">
            <a:noFill/>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Calibri"/>
            </a:endParaRPr>
          </a:p>
        </p:txBody>
      </p:sp>
      <p:sp>
        <p:nvSpPr>
          <p:cNvPr id="87" name="Rectangle 20"/>
          <p:cNvSpPr/>
          <p:nvPr/>
        </p:nvSpPr>
        <p:spPr>
          <a:xfrm>
            <a:off x="8991720" y="2019240"/>
            <a:ext cx="1142640" cy="342720"/>
          </a:xfrm>
          <a:prstGeom prst="rect">
            <a:avLst/>
          </a:prstGeom>
          <a:noFill/>
          <a:ln w="0">
            <a:noFill/>
          </a:ln>
        </p:spPr>
        <p:style>
          <a:lnRef idx="0"/>
          <a:fillRef idx="0"/>
          <a:effectRef idx="0"/>
          <a:fontRef idx="minor"/>
        </p:style>
        <p:txBody>
          <a:bodyPr lIns="0" tIns="0" rIns="0" bIns="0" anchor="t">
            <a:normAutofit/>
          </a:bodyPr>
          <a:p>
            <a:pPr algn="ctr" defTabSz="914400">
              <a:lnSpc>
                <a:spcPct val="100000"/>
              </a:lnSpc>
            </a:pPr>
            <a:r>
              <a:rPr lang="en-US" sz="1650" b="1" u="none" strike="noStrike">
                <a:solidFill>
                  <a:srgbClr val="64D98B"/>
                </a:solidFill>
                <a:effectLst/>
                <a:uFillTx/>
                <a:latin typeface="DejaVu Sans"/>
                <a:ea typeface="DejaVu Sans"/>
              </a:rPr>
              <a:t>Related</a:t>
            </a:r>
            <a:endParaRPr lang="en-US" sz="1650" b="0" u="none" strike="noStrike">
              <a:solidFill>
                <a:srgbClr val="FFFFFF"/>
              </a:solidFill>
              <a:effectLst/>
              <a:uFillTx/>
              <a:latin typeface="Arial"/>
            </a:endParaRPr>
          </a:p>
        </p:txBody>
      </p:sp>
      <p:sp>
        <p:nvSpPr>
          <p:cNvPr id="88" name="Rectangle 21"/>
          <p:cNvSpPr/>
          <p:nvPr/>
        </p:nvSpPr>
        <p:spPr>
          <a:xfrm>
            <a:off x="8572680" y="2428920"/>
            <a:ext cx="1618920" cy="456840"/>
          </a:xfrm>
          <a:prstGeom prst="rect">
            <a:avLst/>
          </a:prstGeom>
          <a:noFill/>
          <a:ln w="0">
            <a:noFill/>
          </a:ln>
        </p:spPr>
        <p:style>
          <a:lnRef idx="0"/>
          <a:fillRef idx="0"/>
          <a:effectRef idx="0"/>
          <a:fontRef idx="minor"/>
        </p:style>
        <p:txBody>
          <a:bodyPr lIns="0" tIns="0" rIns="0" bIns="0" anchor="t">
            <a:normAutofit/>
          </a:bodyPr>
          <a:p>
            <a:pPr algn="ctr" defTabSz="914400">
              <a:lnSpc>
                <a:spcPct val="100000"/>
              </a:lnSpc>
            </a:pPr>
            <a:r>
              <a:rPr lang="en-US" sz="1280" b="1" u="none" strike="noStrike">
                <a:solidFill>
                  <a:srgbClr val="EAF2F8"/>
                </a:solidFill>
                <a:effectLst/>
                <a:uFillTx/>
                <a:latin typeface="DejaVu Sans"/>
                <a:ea typeface="DejaVu Sans"/>
              </a:rPr>
              <a:t>Rao and Heyden</a:t>
            </a:r>
            <a:endParaRPr lang="en-US" sz="1280" b="0" u="none" strike="noStrike">
              <a:solidFill>
                <a:srgbClr val="FFFFFF"/>
              </a:solidFill>
              <a:effectLst/>
              <a:uFillTx/>
              <a:latin typeface="Arial"/>
            </a:endParaRPr>
          </a:p>
        </p:txBody>
      </p:sp>
      <p:sp>
        <p:nvSpPr>
          <p:cNvPr id="89" name="Rectangle 22"/>
          <p:cNvSpPr/>
          <p:nvPr/>
        </p:nvSpPr>
        <p:spPr>
          <a:xfrm>
            <a:off x="8572680" y="3562200"/>
            <a:ext cx="1618920" cy="609120"/>
          </a:xfrm>
          <a:prstGeom prst="rect">
            <a:avLst/>
          </a:prstGeom>
          <a:noFill/>
          <a:ln w="0">
            <a:noFill/>
          </a:ln>
        </p:spPr>
        <p:style>
          <a:lnRef idx="0"/>
          <a:fillRef idx="0"/>
          <a:effectRef idx="0"/>
          <a:fontRef idx="minor"/>
        </p:style>
        <p:txBody>
          <a:bodyPr lIns="0" tIns="0" rIns="0" bIns="0" anchor="t">
            <a:noAutofit/>
          </a:bodyPr>
          <a:p>
            <a:pPr defTabSz="914400">
              <a:lnSpc>
                <a:spcPct val="100000"/>
              </a:lnSpc>
            </a:pPr>
            <a:r>
              <a:rPr lang="en-US" sz="1130" b="0" u="none" strike="noStrike">
                <a:solidFill>
                  <a:srgbClr val="9CB0C3"/>
                </a:solidFill>
                <a:effectLst/>
                <a:uFillTx/>
                <a:latin typeface="DejaVu Sans"/>
                <a:ea typeface="DejaVu Sans"/>
              </a:rPr>
              <a:t>PCA subspaces</a:t>
            </a:r>
            <a:endParaRPr lang="en-US" sz="1130" b="0" u="none" strike="noStrike">
              <a:solidFill>
                <a:srgbClr val="FFFFFF"/>
              </a:solidFill>
              <a:effectLst/>
              <a:uFillTx/>
              <a:latin typeface="Arial"/>
            </a:endParaRPr>
          </a:p>
          <a:p>
            <a:pPr defTabSz="914400">
              <a:lnSpc>
                <a:spcPct val="100000"/>
              </a:lnSpc>
            </a:pPr>
            <a:r>
              <a:rPr lang="en-US" sz="1130" b="0" u="none" strike="noStrike">
                <a:solidFill>
                  <a:srgbClr val="9CB0C3"/>
                </a:solidFill>
                <a:effectLst/>
                <a:uFillTx/>
                <a:latin typeface="DejaVu Sans"/>
                <a:ea typeface="DejaVu Sans"/>
              </a:rPr>
              <a:t>Residual monitoring</a:t>
            </a:r>
            <a:endParaRPr lang="en-US" sz="1130" b="0" u="none" strike="noStrike">
              <a:solidFill>
                <a:srgbClr val="FFFFFF"/>
              </a:solidFill>
              <a:effectLst/>
              <a:uFillTx/>
              <a:latin typeface="Arial"/>
            </a:endParaRPr>
          </a:p>
        </p:txBody>
      </p:sp>
      <p:sp>
        <p:nvSpPr>
          <p:cNvPr id="90" name="Rectangle 23"/>
          <p:cNvSpPr/>
          <p:nvPr/>
        </p:nvSpPr>
        <p:spPr>
          <a:xfrm>
            <a:off x="1238400" y="5504760"/>
            <a:ext cx="9715320" cy="502560"/>
          </a:xfrm>
          <a:prstGeom prst="rect">
            <a:avLst/>
          </a:prstGeom>
          <a:noFill/>
          <a:ln w="0">
            <a:noFill/>
          </a:ln>
        </p:spPr>
        <p:style>
          <a:lnRef idx="0"/>
          <a:fillRef idx="0"/>
          <a:effectRef idx="0"/>
          <a:fontRef idx="minor"/>
        </p:style>
        <p:txBody>
          <a:bodyPr lIns="0" tIns="0" rIns="0" bIns="0" anchor="t">
            <a:noAutofit/>
          </a:bodyPr>
          <a:p>
            <a:pPr defTabSz="914400">
              <a:lnSpc>
                <a:spcPct val="100000"/>
              </a:lnSpc>
            </a:pPr>
            <a:r>
              <a:rPr lang="en-US" sz="1500" b="1" u="none" strike="noStrike">
                <a:solidFill>
                  <a:srgbClr val="EAF2F8"/>
                </a:solidFill>
                <a:effectLst/>
                <a:uFillTx/>
                <a:latin typeface="DejaVu Sans"/>
                <a:ea typeface="DejaVu Sans"/>
              </a:rPr>
              <a:t>Alippi et al. (2017): hierarchical detection provides a related framework for warning and validation.</a:t>
            </a:r>
            <a:endParaRPr lang="en-US" sz="1500" b="0" u="none" strike="noStrike">
              <a:solidFill>
                <a:srgbClr val="FFFFFF"/>
              </a:solidFill>
              <a:effectLst/>
              <a:uFillTx/>
              <a:latin typeface="Arial"/>
            </a:endParaRPr>
          </a:p>
        </p:txBody>
      </p:sp>
      <p:sp>
        <p:nvSpPr>
          <p:cNvPr id="91" name="Rectangle 24"/>
          <p:cNvSpPr/>
          <p:nvPr/>
        </p:nvSpPr>
        <p:spPr>
          <a:xfrm>
            <a:off x="609480" y="6515280"/>
            <a:ext cx="4095360" cy="171000"/>
          </a:xfrm>
          <a:prstGeom prst="rect">
            <a:avLst/>
          </a:prstGeom>
          <a:noFill/>
          <a:ln w="0">
            <a:noFill/>
          </a:ln>
        </p:spPr>
        <p:style>
          <a:lnRef idx="0"/>
          <a:fillRef idx="0"/>
          <a:effectRef idx="0"/>
          <a:fontRef idx="minor"/>
        </p:style>
        <p:txBody>
          <a:bodyPr lIns="0" tIns="0" rIns="0" bIns="0" anchor="t">
            <a:normAutofit/>
          </a:bodyPr>
          <a:p>
            <a:pPr defTabSz="914400">
              <a:lnSpc>
                <a:spcPct val="100000"/>
              </a:lnSpc>
            </a:pPr>
            <a:r>
              <a:rPr lang="en-US" sz="820" b="0" u="none" strike="noStrike">
                <a:solidFill>
                  <a:srgbClr val="9CB0C3"/>
                </a:solidFill>
                <a:effectLst/>
                <a:uFillTx/>
                <a:latin typeface="DejaVu Sans"/>
                <a:ea typeface="DejaVu Sans"/>
              </a:rPr>
              <a:t>hlin863/ewma_covariate_shift_demo</a:t>
            </a:r>
            <a:endParaRPr lang="en-US" sz="820" b="0" u="none" strike="noStrike">
              <a:solidFill>
                <a:srgbClr val="FFFFFF"/>
              </a:solidFill>
              <a:effectLst/>
              <a:uFillTx/>
              <a:latin typeface="Arial"/>
            </a:endParaRPr>
          </a:p>
        </p:txBody>
      </p:sp>
      <p:sp>
        <p:nvSpPr>
          <p:cNvPr id="92" name="Rectangle 25"/>
          <p:cNvSpPr/>
          <p:nvPr/>
        </p:nvSpPr>
        <p:spPr>
          <a:xfrm>
            <a:off x="11049120" y="6515280"/>
            <a:ext cx="533160" cy="171000"/>
          </a:xfrm>
          <a:prstGeom prst="rect">
            <a:avLst/>
          </a:prstGeom>
          <a:noFill/>
          <a:ln w="0">
            <a:noFill/>
          </a:ln>
        </p:spPr>
        <p:style>
          <a:lnRef idx="0"/>
          <a:fillRef idx="0"/>
          <a:effectRef idx="0"/>
          <a:fontRef idx="minor"/>
        </p:style>
        <p:txBody>
          <a:bodyPr lIns="0" tIns="0" rIns="0" bIns="0" anchor="t">
            <a:normAutofit fontScale="77500" lnSpcReduction="19999"/>
          </a:bodyPr>
          <a:p>
            <a:pPr defTabSz="914400">
              <a:lnSpc>
                <a:spcPct val="100000"/>
              </a:lnSpc>
            </a:pPr>
            <a:r>
              <a:rPr lang="en-US" sz="1800" b="0" u="none" strike="noStrike">
                <a:solidFill>
                  <a:srgbClr val="EAF2F8"/>
                </a:solidFill>
                <a:effectLst/>
                <a:uFillTx/>
                <a:latin typeface="Calibri"/>
                <a:ea typeface="Calibri"/>
              </a:rPr>
              <a:t>3</a:t>
            </a:r>
            <a:endParaRPr lang="en-US" sz="1800" b="0" u="none" strike="noStrike">
              <a:solidFill>
                <a:srgbClr val="FFFFFF"/>
              </a:solidFill>
              <a:effectLst/>
              <a:uFillTx/>
              <a:latin typeface="Arial"/>
            </a:endParaRPr>
          </a:p>
        </p:txBody>
      </p:sp>
      <p:sp>
        <p:nvSpPr>
          <p:cNvPr id="93" name="Rounded Rectangle 27"/>
          <p:cNvSpPr/>
          <p:nvPr/>
        </p:nvSpPr>
        <p:spPr>
          <a:xfrm>
            <a:off x="7498080" y="4297680"/>
            <a:ext cx="3794400" cy="658080"/>
          </a:xfrm>
          <a:prstGeom prst="roundRect">
            <a:avLst>
              <a:gd name="adj" fmla="val 16667"/>
            </a:avLst>
          </a:prstGeom>
          <a:solidFill>
            <a:srgbClr val="091A2B"/>
          </a:solidFill>
          <a:ln>
            <a:solidFill>
              <a:srgbClr val="A56AFF"/>
            </a:solidFill>
            <a:round/>
          </a:ln>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94" name="TextBox 28"/>
          <p:cNvSpPr/>
          <p:nvPr/>
        </p:nvSpPr>
        <p:spPr>
          <a:xfrm>
            <a:off x="7662600" y="4389120"/>
            <a:ext cx="3428640" cy="145800"/>
          </a:xfrm>
          <a:prstGeom prst="rect">
            <a:avLst/>
          </a:prstGeom>
          <a:noFill/>
          <a:ln w="0">
            <a:noFill/>
          </a:ln>
        </p:spPr>
        <p:style>
          <a:lnRef idx="0"/>
          <a:fillRef idx="0"/>
          <a:effectRef idx="0"/>
          <a:fontRef idx="minor"/>
        </p:style>
        <p:txBody>
          <a:bodyPr wrap="none" lIns="0" tIns="0" rIns="0" bIns="0" anchor="t">
            <a:spAutoFit/>
          </a:bodyPr>
          <a:p>
            <a:pPr defTabSz="914400">
              <a:lnSpc>
                <a:spcPct val="100000"/>
              </a:lnSpc>
            </a:pPr>
            <a:r>
              <a:rPr lang="en-US" sz="839" b="1" u="none" strike="noStrike">
                <a:solidFill>
                  <a:srgbClr val="A56AFF"/>
                </a:solidFill>
                <a:effectLst/>
                <a:uFillTx/>
                <a:latin typeface="Aptos"/>
                <a:ea typeface="Calibri"/>
              </a:rPr>
              <a:t>Heyden et al. (2024): reconstruction loss basis</a:t>
            </a:r>
            <a:endParaRPr lang="en-US" sz="839" b="0" u="none" strike="noStrike">
              <a:solidFill>
                <a:srgbClr val="FFFFFF"/>
              </a:solidFill>
              <a:effectLst/>
              <a:uFillTx/>
              <a:latin typeface="Arial"/>
            </a:endParaRPr>
          </a:p>
        </p:txBody>
      </p:sp>
      <p:pic>
        <p:nvPicPr>
          <p:cNvPr id="95" name="Picture 29" descr="formula_loss.png"/>
          <p:cNvPicPr/>
          <p:nvPr/>
        </p:nvPicPr>
        <p:blipFill>
          <a:blip r:embed="rId1"/>
          <a:stretch/>
        </p:blipFill>
        <p:spPr>
          <a:xfrm>
            <a:off x="8243640" y="4543560"/>
            <a:ext cx="2257560" cy="417240"/>
          </a:xfrm>
          <a:prstGeom prst="rect">
            <a:avLst/>
          </a:prstGeom>
          <a:noFill/>
          <a:ln w="0">
            <a:noFill/>
          </a:ln>
        </p:spPr>
      </p:pic>
      <p:sp>
        <p:nvSpPr>
          <p:cNvPr id="96" name="TextBox 30"/>
          <p:cNvSpPr/>
          <p:nvPr/>
        </p:nvSpPr>
        <p:spPr>
          <a:xfrm>
            <a:off x="685800" y="4251960"/>
            <a:ext cx="6217560" cy="73116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1700" b="0" u="none" strike="noStrike">
                <a:solidFill>
                  <a:srgbClr val="78D8CC"/>
                </a:solidFill>
                <a:effectLst/>
                <a:uFillTx/>
                <a:latin typeface="DejaVu Sans"/>
                <a:ea typeface="Calibri"/>
              </a:rPr>
              <a:t>Diethe et al. (2019)</a:t>
            </a:r>
            <a:endParaRPr lang="en-US" sz="1700" b="0" u="none" strike="noStrike">
              <a:solidFill>
                <a:srgbClr val="FFFFFF"/>
              </a:solidFill>
              <a:effectLst/>
              <a:uFillTx/>
              <a:latin typeface="Arial"/>
            </a:endParaRPr>
          </a:p>
          <a:p>
            <a:pPr defTabSz="914400">
              <a:lnSpc>
                <a:spcPct val="100000"/>
              </a:lnSpc>
              <a:spcAft>
                <a:spcPts val="901"/>
              </a:spcAft>
            </a:pPr>
            <a:r>
              <a:rPr lang="en-US" sz="1700" b="0" u="none" strike="noStrike">
                <a:solidFill>
                  <a:srgbClr val="78D8CC"/>
                </a:solidFill>
                <a:effectLst/>
                <a:uFillTx/>
                <a:latin typeface="DejaVu Sans"/>
                <a:ea typeface="Calibri"/>
              </a:rPr>
              <a:t>Monitoring, update policies and adaptation cost</a:t>
            </a:r>
            <a:endParaRPr lang="en-US" sz="17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AFC"/>
        </a:solidFill>
      </p:bgPr>
    </p:bg>
    <p:spTree>
      <p:nvGrpSpPr>
        <p:cNvPr id="1" name=""/>
        <p:cNvGrpSpPr/>
        <p:nvPr/>
      </p:nvGrpSpPr>
      <p:grpSpPr>
        <a:xfrm>
          <a:off x="0" y="0"/>
          <a:ext cx="0" cy="0"/>
          <a:chOff x="0" y="0"/>
          <a:chExt cx="0" cy="0"/>
        </a:xfrm>
      </p:grpSpPr>
      <p:sp>
        <p:nvSpPr>
          <p:cNvPr id="97" name="TextBox 1"/>
          <p:cNvSpPr/>
          <p:nvPr/>
        </p:nvSpPr>
        <p:spPr>
          <a:xfrm>
            <a:off x="640080" y="365760"/>
            <a:ext cx="10058040" cy="25560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1000" b="1" u="none" strike="noStrike">
                <a:solidFill>
                  <a:srgbClr val="0D9488"/>
                </a:solidFill>
                <a:effectLst/>
                <a:uFillTx/>
                <a:latin typeface="Aptos"/>
                <a:ea typeface="Calibri"/>
              </a:rPr>
              <a:t>LITERATURE INTEGRATION</a:t>
            </a:r>
            <a:endParaRPr lang="en-US" sz="1000" b="0" u="none" strike="noStrike">
              <a:solidFill>
                <a:srgbClr val="000000"/>
              </a:solidFill>
              <a:effectLst/>
              <a:uFillTx/>
              <a:latin typeface="Arial"/>
            </a:endParaRPr>
          </a:p>
        </p:txBody>
      </p:sp>
      <p:sp>
        <p:nvSpPr>
          <p:cNvPr id="98" name="TextBox 2"/>
          <p:cNvSpPr/>
          <p:nvPr/>
        </p:nvSpPr>
        <p:spPr>
          <a:xfrm>
            <a:off x="640080" y="713160"/>
            <a:ext cx="10972440" cy="61236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2800" b="1" u="none" strike="noStrike">
                <a:solidFill>
                  <a:srgbClr val="12233B"/>
                </a:solidFill>
                <a:effectLst/>
                <a:uFillTx/>
                <a:latin typeface="Aptos"/>
                <a:ea typeface="Calibri"/>
              </a:rPr>
              <a:t>Park and Raza: two stages, different questions</a:t>
            </a:r>
            <a:endParaRPr lang="en-US" sz="2800" b="0" u="none" strike="noStrike">
              <a:solidFill>
                <a:srgbClr val="000000"/>
              </a:solidFill>
              <a:effectLst/>
              <a:uFillTx/>
              <a:latin typeface="Arial"/>
            </a:endParaRPr>
          </a:p>
        </p:txBody>
      </p:sp>
      <p:sp>
        <p:nvSpPr>
          <p:cNvPr id="99" name="TextBox 3"/>
          <p:cNvSpPr/>
          <p:nvPr/>
        </p:nvSpPr>
        <p:spPr>
          <a:xfrm>
            <a:off x="640080" y="1389960"/>
            <a:ext cx="10972440" cy="50256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1300" b="0" u="none" strike="noStrike">
                <a:solidFill>
                  <a:srgbClr val="516377"/>
                </a:solidFill>
                <a:effectLst/>
                <a:uFillTx/>
                <a:latin typeface="Aptos"/>
                <a:ea typeface="Calibri"/>
              </a:rPr>
              <a:t>Read Park et al. (2023), Section 2.1 and second-order methodology; compare Raza et al. (2015) and Chowdhury et al. (2018).</a:t>
            </a:r>
            <a:endParaRPr lang="en-US" sz="1300" b="0" u="none" strike="noStrike">
              <a:solidFill>
                <a:srgbClr val="000000"/>
              </a:solidFill>
              <a:effectLst/>
              <a:uFillTx/>
              <a:latin typeface="Arial"/>
            </a:endParaRPr>
          </a:p>
        </p:txBody>
      </p:sp>
      <p:sp>
        <p:nvSpPr>
          <p:cNvPr id="100" name="TextBox 4"/>
          <p:cNvSpPr/>
          <p:nvPr/>
        </p:nvSpPr>
        <p:spPr>
          <a:xfrm>
            <a:off x="640080" y="6519600"/>
            <a:ext cx="9143640" cy="20052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900" b="0" u="none" strike="noStrike">
                <a:solidFill>
                  <a:srgbClr val="516377"/>
                </a:solidFill>
                <a:effectLst/>
                <a:uFillTx/>
                <a:latin typeface="Aptos"/>
                <a:ea typeface="Calibri"/>
              </a:rPr>
              <a:t>Research progress | hlin863/ewma_covariate_shift_demo | Oct 2026</a:t>
            </a:r>
            <a:endParaRPr lang="en-US" sz="900" b="0" u="none" strike="noStrike">
              <a:solidFill>
                <a:srgbClr val="000000"/>
              </a:solidFill>
              <a:effectLst/>
              <a:uFillTx/>
              <a:latin typeface="Arial"/>
            </a:endParaRPr>
          </a:p>
        </p:txBody>
      </p:sp>
      <p:sp>
        <p:nvSpPr>
          <p:cNvPr id="101" name="Rounded Rectangle 5"/>
          <p:cNvSpPr/>
          <p:nvPr/>
        </p:nvSpPr>
        <p:spPr>
          <a:xfrm>
            <a:off x="640080" y="2011680"/>
            <a:ext cx="5348880" cy="3382920"/>
          </a:xfrm>
          <a:prstGeom prst="roundRect">
            <a:avLst>
              <a:gd name="adj" fmla="val 16667"/>
            </a:avLst>
          </a:prstGeom>
          <a:solidFill>
            <a:srgbClr val="FFFFFF"/>
          </a:solidFill>
          <a:ln>
            <a:solidFill>
              <a:srgbClr val="DBE5ED"/>
            </a:solidFill>
            <a:round/>
          </a:ln>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02" name="TextBox 6"/>
          <p:cNvSpPr/>
          <p:nvPr/>
        </p:nvSpPr>
        <p:spPr>
          <a:xfrm>
            <a:off x="795600" y="2130480"/>
            <a:ext cx="5037840" cy="31968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1700" b="1" u="none" strike="noStrike">
                <a:solidFill>
                  <a:srgbClr val="0D9488"/>
                </a:solidFill>
                <a:effectLst/>
                <a:uFillTx/>
                <a:latin typeface="Aptos"/>
                <a:ea typeface="Calibri"/>
              </a:rPr>
              <a:t>PARK et al. (2023)</a:t>
            </a:r>
            <a:endParaRPr lang="en-US" sz="1700" b="0" u="none" strike="noStrike">
              <a:solidFill>
                <a:srgbClr val="000000"/>
              </a:solidFill>
              <a:effectLst/>
              <a:uFillTx/>
              <a:latin typeface="Arial"/>
            </a:endParaRPr>
          </a:p>
        </p:txBody>
      </p:sp>
      <p:sp>
        <p:nvSpPr>
          <p:cNvPr id="103" name="TextBox 7"/>
          <p:cNvSpPr/>
          <p:nvPr/>
        </p:nvSpPr>
        <p:spPr>
          <a:xfrm>
            <a:off x="795600" y="2541960"/>
            <a:ext cx="5037840" cy="274284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1300" b="0" u="none" strike="noStrike">
                <a:solidFill>
                  <a:srgbClr val="12233B"/>
                </a:solidFill>
                <a:effectLst/>
                <a:uFillTx/>
                <a:latin typeface="Aptos"/>
                <a:ea typeface="Calibri"/>
              </a:rPr>
              <a:t>Step 1: aggregated feature-wise mean-CUSUM; estimate candidate split locations.</a:t>
            </a:r>
            <a:endParaRPr lang="en-US" sz="1300" b="0" u="none" strike="noStrike">
              <a:solidFill>
                <a:srgbClr val="000000"/>
              </a:solidFill>
              <a:effectLst/>
              <a:uFillTx/>
              <a:latin typeface="Arial"/>
            </a:endParaRPr>
          </a:p>
          <a:p>
            <a:pPr defTabSz="914400">
              <a:lnSpc>
                <a:spcPct val="100000"/>
              </a:lnSpc>
              <a:spcAft>
                <a:spcPts val="601"/>
              </a:spcAft>
            </a:pPr>
            <a:endParaRPr lang="en-US" sz="1300" b="0" u="none" strike="noStrike">
              <a:solidFill>
                <a:srgbClr val="000000"/>
              </a:solidFill>
              <a:effectLst/>
              <a:uFillTx/>
              <a:latin typeface="Arial"/>
            </a:endParaRPr>
          </a:p>
          <a:p>
            <a:pPr defTabSz="914400">
              <a:lnSpc>
                <a:spcPct val="100000"/>
              </a:lnSpc>
              <a:spcAft>
                <a:spcPts val="601"/>
              </a:spcAft>
            </a:pPr>
            <a:r>
              <a:rPr lang="en-US" sz="1300" b="0" u="none" strike="noStrike">
                <a:solidFill>
                  <a:srgbClr val="12233B"/>
                </a:solidFill>
                <a:effectLst/>
                <a:uFillTx/>
                <a:latin typeface="Aptos"/>
                <a:ea typeface="Calibri"/>
              </a:rPr>
              <a:t>If mean change is not established: investigate second-order structure using wavelets and dynamic PCA.</a:t>
            </a:r>
            <a:endParaRPr lang="en-US" sz="1300" b="0" u="none" strike="noStrike">
              <a:solidFill>
                <a:srgbClr val="000000"/>
              </a:solidFill>
              <a:effectLst/>
              <a:uFillTx/>
              <a:latin typeface="Arial"/>
            </a:endParaRPr>
          </a:p>
          <a:p>
            <a:pPr defTabSz="914400">
              <a:lnSpc>
                <a:spcPct val="100000"/>
              </a:lnSpc>
              <a:spcAft>
                <a:spcPts val="601"/>
              </a:spcAft>
            </a:pPr>
            <a:endParaRPr lang="en-US" sz="1300" b="0" u="none" strike="noStrike">
              <a:solidFill>
                <a:srgbClr val="000000"/>
              </a:solidFill>
              <a:effectLst/>
              <a:uFillTx/>
              <a:latin typeface="Arial"/>
            </a:endParaRPr>
          </a:p>
          <a:p>
            <a:pPr defTabSz="914400">
              <a:lnSpc>
                <a:spcPct val="100000"/>
              </a:lnSpc>
              <a:spcAft>
                <a:spcPts val="601"/>
              </a:spcAft>
            </a:pPr>
            <a:r>
              <a:rPr lang="en-US" sz="1300" b="0" u="none" strike="noStrike">
                <a:solidFill>
                  <a:srgbClr val="12233B"/>
                </a:solidFill>
                <a:effectLst/>
                <a:uFillTx/>
                <a:latin typeface="Aptos"/>
                <a:ea typeface="Calibri"/>
              </a:rPr>
              <a:t>Objective: type and location of structural change.</a:t>
            </a:r>
            <a:endParaRPr lang="en-US" sz="1300" b="0" u="none" strike="noStrike">
              <a:solidFill>
                <a:srgbClr val="000000"/>
              </a:solidFill>
              <a:effectLst/>
              <a:uFillTx/>
              <a:latin typeface="Arial"/>
            </a:endParaRPr>
          </a:p>
        </p:txBody>
      </p:sp>
      <p:sp>
        <p:nvSpPr>
          <p:cNvPr id="104" name="Rounded Rectangle 8"/>
          <p:cNvSpPr/>
          <p:nvPr/>
        </p:nvSpPr>
        <p:spPr>
          <a:xfrm>
            <a:off x="6217920" y="2011680"/>
            <a:ext cx="5348880" cy="3382920"/>
          </a:xfrm>
          <a:prstGeom prst="roundRect">
            <a:avLst>
              <a:gd name="adj" fmla="val 16667"/>
            </a:avLst>
          </a:prstGeom>
          <a:solidFill>
            <a:srgbClr val="FFFFFF"/>
          </a:solidFill>
          <a:ln>
            <a:solidFill>
              <a:srgbClr val="DBE5ED"/>
            </a:solidFill>
            <a:round/>
          </a:ln>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05" name="TextBox 9"/>
          <p:cNvSpPr/>
          <p:nvPr/>
        </p:nvSpPr>
        <p:spPr>
          <a:xfrm>
            <a:off x="6373440" y="2130480"/>
            <a:ext cx="5037840" cy="31968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1700" b="1" u="none" strike="noStrike">
                <a:solidFill>
                  <a:srgbClr val="0D9488"/>
                </a:solidFill>
                <a:effectLst/>
                <a:uFillTx/>
                <a:latin typeface="Aptos"/>
                <a:ea typeface="Calibri"/>
              </a:rPr>
              <a:t>RAZA / CHOWDHURY</a:t>
            </a:r>
            <a:endParaRPr lang="en-US" sz="1700" b="0" u="none" strike="noStrike">
              <a:solidFill>
                <a:srgbClr val="000000"/>
              </a:solidFill>
              <a:effectLst/>
              <a:uFillTx/>
              <a:latin typeface="Arial"/>
            </a:endParaRPr>
          </a:p>
        </p:txBody>
      </p:sp>
      <p:sp>
        <p:nvSpPr>
          <p:cNvPr id="106" name="TextBox 10"/>
          <p:cNvSpPr/>
          <p:nvPr/>
        </p:nvSpPr>
        <p:spPr>
          <a:xfrm>
            <a:off x="6373440" y="2541960"/>
            <a:ext cx="5037840" cy="274284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1300" b="0" u="none" strike="noStrike">
                <a:solidFill>
                  <a:srgbClr val="12233B"/>
                </a:solidFill>
                <a:effectLst/>
                <a:uFillTx/>
                <a:latin typeface="Aptos"/>
                <a:ea typeface="Calibri"/>
              </a:rPr>
              <a:t>Stage I: sequential EWMA score and control-limit warnings.</a:t>
            </a:r>
            <a:endParaRPr lang="en-US" sz="1300" b="0" u="none" strike="noStrike">
              <a:solidFill>
                <a:srgbClr val="000000"/>
              </a:solidFill>
              <a:effectLst/>
              <a:uFillTx/>
              <a:latin typeface="Arial"/>
            </a:endParaRPr>
          </a:p>
          <a:p>
            <a:pPr defTabSz="914400">
              <a:lnSpc>
                <a:spcPct val="100000"/>
              </a:lnSpc>
              <a:spcAft>
                <a:spcPts val="601"/>
              </a:spcAft>
            </a:pPr>
            <a:endParaRPr lang="en-US" sz="1300" b="0" u="none" strike="noStrike">
              <a:solidFill>
                <a:srgbClr val="000000"/>
              </a:solidFill>
              <a:effectLst/>
              <a:uFillTx/>
              <a:latin typeface="Arial"/>
            </a:endParaRPr>
          </a:p>
          <a:p>
            <a:pPr defTabSz="914400">
              <a:lnSpc>
                <a:spcPct val="100000"/>
              </a:lnSpc>
              <a:spcAft>
                <a:spcPts val="601"/>
              </a:spcAft>
            </a:pPr>
            <a:r>
              <a:rPr lang="en-US" sz="1300" b="0" u="none" strike="noStrike">
                <a:solidFill>
                  <a:srgbClr val="12233B"/>
                </a:solidFill>
                <a:effectLst/>
                <a:uFillTx/>
                <a:latin typeface="Aptos"/>
                <a:ea typeface="Calibri"/>
              </a:rPr>
              <a:t>Stage II: statistical validation (Hotelling T² or two-sample K–S, depending on formulation).</a:t>
            </a:r>
            <a:endParaRPr lang="en-US" sz="1300" b="0" u="none" strike="noStrike">
              <a:solidFill>
                <a:srgbClr val="000000"/>
              </a:solidFill>
              <a:effectLst/>
              <a:uFillTx/>
              <a:latin typeface="Arial"/>
            </a:endParaRPr>
          </a:p>
          <a:p>
            <a:pPr defTabSz="914400">
              <a:lnSpc>
                <a:spcPct val="100000"/>
              </a:lnSpc>
              <a:spcAft>
                <a:spcPts val="601"/>
              </a:spcAft>
            </a:pPr>
            <a:endParaRPr lang="en-US" sz="1300" b="0" u="none" strike="noStrike">
              <a:solidFill>
                <a:srgbClr val="000000"/>
              </a:solidFill>
              <a:effectLst/>
              <a:uFillTx/>
              <a:latin typeface="Arial"/>
            </a:endParaRPr>
          </a:p>
          <a:p>
            <a:pPr defTabSz="914400">
              <a:lnSpc>
                <a:spcPct val="100000"/>
              </a:lnSpc>
              <a:spcAft>
                <a:spcPts val="601"/>
              </a:spcAft>
            </a:pPr>
            <a:r>
              <a:rPr lang="en-US" sz="1300" b="0" u="none" strike="noStrike">
                <a:solidFill>
                  <a:srgbClr val="12233B"/>
                </a:solidFill>
                <a:effectLst/>
                <a:uFillTx/>
                <a:latin typeface="Aptos"/>
                <a:ea typeface="Calibri"/>
              </a:rPr>
              <a:t>Objective: validate shift warnings before adaptation.</a:t>
            </a:r>
            <a:endParaRPr lang="en-US" sz="1300" b="0" u="none" strike="noStrike">
              <a:solidFill>
                <a:srgbClr val="000000"/>
              </a:solidFill>
              <a:effectLst/>
              <a:uFillTx/>
              <a:latin typeface="Arial"/>
            </a:endParaRPr>
          </a:p>
        </p:txBody>
      </p:sp>
      <p:sp>
        <p:nvSpPr>
          <p:cNvPr id="107" name="TextBox 11"/>
          <p:cNvSpPr/>
          <p:nvPr/>
        </p:nvSpPr>
        <p:spPr>
          <a:xfrm>
            <a:off x="822960" y="5605200"/>
            <a:ext cx="10881000" cy="52992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1500" b="1" u="none" strike="noStrike">
                <a:solidFill>
                  <a:srgbClr val="12233B"/>
                </a:solidFill>
                <a:effectLst/>
                <a:uFillTx/>
                <a:latin typeface="Aptos"/>
                <a:ea typeface="Calibri"/>
              </a:rPr>
              <a:t>Key boundary: retrospective CUSUM peak ≠ calibrated online alarm; EWMA warning ≠ confirmed shift.</a:t>
            </a:r>
            <a:endParaRPr lang="en-US" sz="1500" b="0" u="none" strike="noStrike">
              <a:solidFill>
                <a:srgbClr val="000000"/>
              </a:solidFill>
              <a:effectLst/>
              <a:uFillTx/>
              <a:latin typeface="Arial"/>
            </a:endParaRPr>
          </a:p>
        </p:txBody>
      </p:sp>
      <p:sp>
        <p:nvSpPr>
          <p:cNvPr id="108" name="Slide number"/>
          <p:cNvSpPr/>
          <p:nvPr/>
        </p:nvSpPr>
        <p:spPr>
          <a:xfrm>
            <a:off x="11334600" y="6429240"/>
            <a:ext cx="380520" cy="256680"/>
          </a:xfrm>
          <a:noFill/>
          <a:ln w="0">
            <a:noFill/>
          </a:ln>
        </p:spPr>
        <p:style>
          <a:lnRef idx="0"/>
          <a:fillRef idx="0"/>
          <a:effectRef idx="0"/>
          <a:fontRef idx="minor"/>
        </p:style>
        <p:txBody>
          <a:bodyPr lIns="90000" tIns="45000" rIns="90000" bIns="45000" anchor="t">
            <a:noAutofit/>
          </a:bodyPr>
          <a:p>
            <a:pPr defTabSz="914400">
              <a:lnSpc>
                <a:spcPct val="100000"/>
              </a:lnSpc>
            </a:pPr>
            <a:r>
              <a:rPr lang="en-US" sz="1200" b="0" u="none" strike="noStrike">
                <a:solidFill>
                  <a:srgbClr val="516377"/>
                </a:solidFill>
                <a:effectLst/>
                <a:uFillTx/>
                <a:latin typeface="Calibri"/>
                <a:ea typeface="Calibri"/>
              </a:rPr>
              <a:t>4</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AFC"/>
        </a:solidFill>
      </p:bgPr>
    </p:bg>
    <p:spTree>
      <p:nvGrpSpPr>
        <p:cNvPr id="1" name=""/>
        <p:cNvGrpSpPr/>
        <p:nvPr/>
      </p:nvGrpSpPr>
      <p:grpSpPr>
        <a:xfrm>
          <a:off x="0" y="0"/>
          <a:ext cx="0" cy="0"/>
          <a:chOff x="0" y="0"/>
          <a:chExt cx="0" cy="0"/>
        </a:xfrm>
      </p:grpSpPr>
      <p:sp>
        <p:nvSpPr>
          <p:cNvPr id="109" name=""/>
          <p:cNvSpPr/>
          <p:nvPr/>
        </p:nvSpPr>
        <p:spPr>
          <a:xfrm>
            <a:off x="638280" y="324000"/>
            <a:ext cx="10953360" cy="2376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050" b="1" u="none" strike="noStrike">
                <a:solidFill>
                  <a:srgbClr val="0D9488"/>
                </a:solidFill>
                <a:effectLst/>
                <a:uFillTx/>
                <a:latin typeface="+mn-lt"/>
                <a:ea typeface="+mn-lt"/>
              </a:rPr>
              <a:t>PARK CUSUM</a:t>
            </a:r>
            <a:endParaRPr lang="en-US" sz="1050" b="0" u="none" strike="noStrike">
              <a:solidFill>
                <a:srgbClr val="000000"/>
              </a:solidFill>
              <a:effectLst/>
              <a:uFillTx/>
              <a:latin typeface="Arial"/>
            </a:endParaRPr>
          </a:p>
        </p:txBody>
      </p:sp>
      <p:sp>
        <p:nvSpPr>
          <p:cNvPr id="110" name=""/>
          <p:cNvSpPr/>
          <p:nvPr/>
        </p:nvSpPr>
        <p:spPr>
          <a:xfrm>
            <a:off x="638280" y="704880"/>
            <a:ext cx="10953360" cy="6282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2700" b="1" u="none" strike="noStrike">
                <a:solidFill>
                  <a:srgbClr val="12233B"/>
                </a:solidFill>
                <a:effectLst/>
                <a:uFillTx/>
                <a:latin typeface="+mn-lt"/>
                <a:ea typeface="+mn-lt"/>
              </a:rPr>
              <a:t>Feature-wise change-point contrast</a:t>
            </a:r>
            <a:endParaRPr lang="en-US" sz="2700" b="0" u="none" strike="noStrike">
              <a:solidFill>
                <a:srgbClr val="000000"/>
              </a:solidFill>
              <a:effectLst/>
              <a:uFillTx/>
              <a:latin typeface="Arial"/>
            </a:endParaRPr>
          </a:p>
        </p:txBody>
      </p:sp>
      <p:sp>
        <p:nvSpPr>
          <p:cNvPr id="111" name=""/>
          <p:cNvSpPr/>
          <p:nvPr/>
        </p:nvSpPr>
        <p:spPr>
          <a:xfrm>
            <a:off x="638280" y="6467400"/>
            <a:ext cx="10000800" cy="20916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900" b="0" u="none" strike="noStrike">
                <a:solidFill>
                  <a:srgbClr val="516377"/>
                </a:solidFill>
                <a:effectLst/>
                <a:uFillTx/>
                <a:latin typeface="+mn-lt"/>
                <a:ea typeface="+mn-lt"/>
              </a:rPr>
              <a:t>Research progress · hlin863/ewma_covariate_shift_demo · October 2026</a:t>
            </a:r>
            <a:endParaRPr lang="en-US" sz="900" b="0" u="none" strike="noStrike">
              <a:solidFill>
                <a:srgbClr val="000000"/>
              </a:solidFill>
              <a:effectLst/>
              <a:uFillTx/>
              <a:latin typeface="Arial"/>
            </a:endParaRPr>
          </a:p>
        </p:txBody>
      </p:sp>
      <p:sp>
        <p:nvSpPr>
          <p:cNvPr id="112" name=""/>
          <p:cNvSpPr/>
          <p:nvPr/>
        </p:nvSpPr>
        <p:spPr>
          <a:xfrm>
            <a:off x="11334600" y="6429240"/>
            <a:ext cx="380520" cy="2566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200" b="0" u="none" strike="noStrike">
                <a:solidFill>
                  <a:srgbClr val="516377"/>
                </a:solidFill>
                <a:effectLst/>
                <a:uFillTx/>
                <a:latin typeface="+mn-lt"/>
                <a:ea typeface="+mn-lt"/>
              </a:rPr>
              <a:t>5</a:t>
            </a:r>
            <a:endParaRPr lang="en-US" sz="1200" b="0" u="none" strike="noStrike">
              <a:solidFill>
                <a:srgbClr val="000000"/>
              </a:solidFill>
              <a:effectLst/>
              <a:uFillTx/>
              <a:latin typeface="Arial"/>
            </a:endParaRPr>
          </a:p>
        </p:txBody>
      </p:sp>
      <p:sp>
        <p:nvSpPr>
          <p:cNvPr id="113" name=""/>
          <p:cNvSpPr/>
          <p:nvPr/>
        </p:nvSpPr>
        <p:spPr>
          <a:xfrm>
            <a:off x="666720" y="1476360"/>
            <a:ext cx="10858320" cy="30456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650" b="1" u="none" strike="noStrike">
                <a:solidFill>
                  <a:srgbClr val="0D9488"/>
                </a:solidFill>
                <a:effectLst/>
                <a:uFillTx/>
                <a:latin typeface="+mn-lt"/>
                <a:ea typeface="+mn-lt"/>
              </a:rPr>
              <a:t>EQ-PARK-2023-2.2 · Equation (2.2)</a:t>
            </a:r>
            <a:endParaRPr lang="en-US" sz="1650" b="0" u="none" strike="noStrike">
              <a:solidFill>
                <a:srgbClr val="000000"/>
              </a:solidFill>
              <a:effectLst/>
              <a:uFillTx/>
              <a:latin typeface="Arial"/>
            </a:endParaRPr>
          </a:p>
        </p:txBody>
      </p:sp>
      <p:pic>
        <p:nvPicPr>
          <p:cNvPr id="114" name=""/>
          <p:cNvPicPr/>
          <p:nvPr/>
        </p:nvPicPr>
        <p:blipFill>
          <a:blip r:embed="rId1"/>
          <a:stretch/>
        </p:blipFill>
        <p:spPr>
          <a:xfrm>
            <a:off x="666720" y="2019240"/>
            <a:ext cx="10544040" cy="1104480"/>
          </a:xfrm>
          <a:prstGeom prst="rect">
            <a:avLst/>
          </a:prstGeom>
          <a:noFill/>
          <a:ln w="0">
            <a:noFill/>
          </a:ln>
        </p:spPr>
      </p:pic>
      <p:sp>
        <p:nvSpPr>
          <p:cNvPr id="115" name=""/>
          <p:cNvSpPr/>
          <p:nvPr/>
        </p:nvSpPr>
        <p:spPr>
          <a:xfrm>
            <a:off x="666720" y="3457440"/>
            <a:ext cx="10667520" cy="82836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800" b="0" u="none" strike="noStrike">
                <a:solidFill>
                  <a:srgbClr val="12233B"/>
                </a:solidFill>
                <a:effectLst/>
                <a:uFillTx/>
                <a:latin typeface="+mn-lt"/>
                <a:ea typeface="+mn-lt"/>
              </a:rPr>
              <a:t>T: observation horizon     t: candidate split, 0 &lt; t &lt; T</a:t>
            </a:r>
            <a:endParaRPr lang="en-US" sz="1800" b="0" u="none" strike="noStrike">
              <a:solidFill>
                <a:srgbClr val="000000"/>
              </a:solidFill>
              <a:effectLst/>
              <a:uFillTx/>
              <a:latin typeface="Arial"/>
            </a:endParaRPr>
          </a:p>
          <a:p>
            <a:pPr defTabSz="914400">
              <a:lnSpc>
                <a:spcPct val="100000"/>
              </a:lnSpc>
            </a:pPr>
            <a:r>
              <a:rPr lang="en-US" sz="1800" b="0" u="none" strike="noStrike">
                <a:solidFill>
                  <a:srgbClr val="12233B"/>
                </a:solidFill>
                <a:effectLst/>
                <a:uFillTx/>
                <a:latin typeface="+mn-lt"/>
                <a:ea typeface="+mn-lt"/>
              </a:rPr>
              <a:t>d: feature index     X: observed series for that feature</a:t>
            </a:r>
            <a:endParaRPr lang="en-US" sz="1800" b="0" u="none" strike="noStrike">
              <a:solidFill>
                <a:srgbClr val="000000"/>
              </a:solidFill>
              <a:effectLst/>
              <a:uFillTx/>
              <a:latin typeface="Arial"/>
            </a:endParaRPr>
          </a:p>
        </p:txBody>
      </p:sp>
      <p:sp>
        <p:nvSpPr>
          <p:cNvPr id="116" name=""/>
          <p:cNvSpPr/>
          <p:nvPr/>
        </p:nvSpPr>
        <p:spPr>
          <a:xfrm>
            <a:off x="666720" y="4505400"/>
            <a:ext cx="10667520" cy="76176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870" b="0" u="none" strike="noStrike">
                <a:solidFill>
                  <a:srgbClr val="12233B"/>
                </a:solidFill>
                <a:effectLst/>
                <a:uFillTx/>
                <a:latin typeface="+mn-lt"/>
                <a:ea typeface="+mn-lt"/>
              </a:rPr>
              <a:t>The weighted contrast compares observations before and after t.</a:t>
            </a:r>
            <a:endParaRPr lang="en-US" sz="1870" b="0" u="none" strike="noStrike">
              <a:solidFill>
                <a:srgbClr val="000000"/>
              </a:solidFill>
              <a:effectLst/>
              <a:uFillTx/>
              <a:latin typeface="Arial"/>
            </a:endParaRPr>
          </a:p>
          <a:p>
            <a:pPr defTabSz="914400">
              <a:lnSpc>
                <a:spcPct val="100000"/>
              </a:lnSpc>
            </a:pPr>
            <a:r>
              <a:rPr lang="en-US" sz="1870" b="0" u="none" strike="noStrike">
                <a:solidFill>
                  <a:srgbClr val="12233B"/>
                </a:solidFill>
                <a:effectLst/>
                <a:uFillTx/>
                <a:latin typeface="+mn-lt"/>
                <a:ea typeface="+mn-lt"/>
              </a:rPr>
              <a:t>The full-series mean supplies the normalisation.</a:t>
            </a:r>
            <a:endParaRPr lang="en-US" sz="1870" b="0" u="none" strike="noStrike">
              <a:solidFill>
                <a:srgbClr val="000000"/>
              </a:solidFill>
              <a:effectLst/>
              <a:uFillTx/>
              <a:latin typeface="Arial"/>
            </a:endParaRPr>
          </a:p>
        </p:txBody>
      </p:sp>
      <p:sp>
        <p:nvSpPr>
          <p:cNvPr id="117" name=""/>
          <p:cNvSpPr/>
          <p:nvPr/>
        </p:nvSpPr>
        <p:spPr>
          <a:xfrm>
            <a:off x="666720" y="5457960"/>
            <a:ext cx="10667520" cy="59976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500" b="0" u="none" strike="noStrike">
                <a:solidFill>
                  <a:srgbClr val="12233B"/>
                </a:solidFill>
                <a:effectLst/>
                <a:uFillTx/>
                <a:latin typeface="+mn-lt"/>
                <a:ea typeface="+mn-lt"/>
              </a:rPr>
              <a:t>Park: candidate localisation, followed by the paper’s structural-change procedure.</a:t>
            </a:r>
            <a:endParaRPr lang="en-US" sz="1500" b="0" u="none" strike="noStrike">
              <a:solidFill>
                <a:srgbClr val="000000"/>
              </a:solidFill>
              <a:effectLst/>
              <a:uFillTx/>
              <a:latin typeface="Arial"/>
            </a:endParaRPr>
          </a:p>
          <a:p>
            <a:pPr defTabSz="914400">
              <a:lnSpc>
                <a:spcPct val="100000"/>
              </a:lnSpc>
            </a:pPr>
            <a:r>
              <a:rPr lang="en-US" sz="1500" b="0" u="none" strike="noStrike">
                <a:solidFill>
                  <a:srgbClr val="12233B"/>
                </a:solidFill>
                <a:effectLst/>
                <a:uFillTx/>
                <a:latin typeface="+mn-lt"/>
                <a:ea typeface="+mn-lt"/>
              </a:rPr>
              <a:t>Raza / Chowdhury: EWMA warning followed by statistical validation.</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AFC"/>
        </a:solidFill>
      </p:bgPr>
    </p:bg>
    <p:spTree>
      <p:nvGrpSpPr>
        <p:cNvPr id="1" name=""/>
        <p:cNvGrpSpPr/>
        <p:nvPr/>
      </p:nvGrpSpPr>
      <p:grpSpPr>
        <a:xfrm>
          <a:off x="0" y="0"/>
          <a:ext cx="0" cy="0"/>
          <a:chOff x="0" y="0"/>
          <a:chExt cx="0" cy="0"/>
        </a:xfrm>
      </p:grpSpPr>
      <p:sp>
        <p:nvSpPr>
          <p:cNvPr id="118" name=""/>
          <p:cNvSpPr/>
          <p:nvPr/>
        </p:nvSpPr>
        <p:spPr>
          <a:xfrm>
            <a:off x="638280" y="324000"/>
            <a:ext cx="10953360" cy="2376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050" b="1" u="none" strike="noStrike">
                <a:solidFill>
                  <a:srgbClr val="0D9488"/>
                </a:solidFill>
                <a:effectLst/>
                <a:uFillTx/>
                <a:latin typeface="+mn-lt"/>
                <a:ea typeface="+mn-lt"/>
              </a:rPr>
              <a:t>PARK READING INSIGHT</a:t>
            </a:r>
            <a:endParaRPr lang="en-US" sz="1050" b="0" u="none" strike="noStrike">
              <a:solidFill>
                <a:srgbClr val="000000"/>
              </a:solidFill>
              <a:effectLst/>
              <a:uFillTx/>
              <a:latin typeface="Arial"/>
            </a:endParaRPr>
          </a:p>
        </p:txBody>
      </p:sp>
      <p:sp>
        <p:nvSpPr>
          <p:cNvPr id="119" name=""/>
          <p:cNvSpPr/>
          <p:nvPr/>
        </p:nvSpPr>
        <p:spPr>
          <a:xfrm>
            <a:off x="638280" y="704880"/>
            <a:ext cx="10953360" cy="6282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2700" b="1" u="none" strike="noStrike">
                <a:solidFill>
                  <a:srgbClr val="12233B"/>
                </a:solidFill>
                <a:effectLst/>
                <a:uFillTx/>
                <a:latin typeface="+mn-lt"/>
                <a:ea typeface="+mn-lt"/>
              </a:rPr>
              <a:t>Aggregation and candidate peak locations</a:t>
            </a:r>
            <a:endParaRPr lang="en-US" sz="2700" b="0" u="none" strike="noStrike">
              <a:solidFill>
                <a:srgbClr val="000000"/>
              </a:solidFill>
              <a:effectLst/>
              <a:uFillTx/>
              <a:latin typeface="Arial"/>
            </a:endParaRPr>
          </a:p>
        </p:txBody>
      </p:sp>
      <p:sp>
        <p:nvSpPr>
          <p:cNvPr id="120" name=""/>
          <p:cNvSpPr/>
          <p:nvPr/>
        </p:nvSpPr>
        <p:spPr>
          <a:xfrm>
            <a:off x="638280" y="6467400"/>
            <a:ext cx="10000800" cy="20916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900" b="0" u="none" strike="noStrike">
                <a:solidFill>
                  <a:srgbClr val="516377"/>
                </a:solidFill>
                <a:effectLst/>
                <a:uFillTx/>
                <a:latin typeface="+mn-lt"/>
                <a:ea typeface="+mn-lt"/>
              </a:rPr>
              <a:t>Research progress · hlin863/ewma_covariate_shift_demo · October 2026</a:t>
            </a:r>
            <a:endParaRPr lang="en-US" sz="900" b="0" u="none" strike="noStrike">
              <a:solidFill>
                <a:srgbClr val="000000"/>
              </a:solidFill>
              <a:effectLst/>
              <a:uFillTx/>
              <a:latin typeface="Arial"/>
            </a:endParaRPr>
          </a:p>
        </p:txBody>
      </p:sp>
      <p:sp>
        <p:nvSpPr>
          <p:cNvPr id="121" name=""/>
          <p:cNvSpPr/>
          <p:nvPr/>
        </p:nvSpPr>
        <p:spPr>
          <a:xfrm>
            <a:off x="11334600" y="6429240"/>
            <a:ext cx="380520" cy="2566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200" b="0" u="none" strike="noStrike">
                <a:solidFill>
                  <a:srgbClr val="516377"/>
                </a:solidFill>
                <a:effectLst/>
                <a:uFillTx/>
                <a:latin typeface="+mn-lt"/>
                <a:ea typeface="+mn-lt"/>
              </a:rPr>
              <a:t>6</a:t>
            </a:r>
            <a:endParaRPr lang="en-US" sz="1200" b="0" u="none" strike="noStrike">
              <a:solidFill>
                <a:srgbClr val="000000"/>
              </a:solidFill>
              <a:effectLst/>
              <a:uFillTx/>
              <a:latin typeface="Arial"/>
            </a:endParaRPr>
          </a:p>
        </p:txBody>
      </p:sp>
      <p:sp>
        <p:nvSpPr>
          <p:cNvPr id="122" name=""/>
          <p:cNvSpPr/>
          <p:nvPr/>
        </p:nvSpPr>
        <p:spPr>
          <a:xfrm>
            <a:off x="666720" y="1438200"/>
            <a:ext cx="10667520" cy="30456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650" b="1" u="none" strike="noStrike">
                <a:solidFill>
                  <a:srgbClr val="0D9488"/>
                </a:solidFill>
                <a:effectLst/>
                <a:uFillTx/>
                <a:latin typeface="+mn-lt"/>
                <a:ea typeface="+mn-lt"/>
              </a:rPr>
              <a:t>EQ-PARK-AGG · D is the number of features</a:t>
            </a:r>
            <a:endParaRPr lang="en-US" sz="1650" b="0" u="none" strike="noStrike">
              <a:solidFill>
                <a:srgbClr val="000000"/>
              </a:solidFill>
              <a:effectLst/>
              <a:uFillTx/>
              <a:latin typeface="Arial"/>
            </a:endParaRPr>
          </a:p>
        </p:txBody>
      </p:sp>
      <p:pic>
        <p:nvPicPr>
          <p:cNvPr id="123" name=""/>
          <p:cNvPicPr/>
          <p:nvPr/>
        </p:nvPicPr>
        <p:blipFill>
          <a:blip r:embed="rId1"/>
          <a:stretch/>
        </p:blipFill>
        <p:spPr>
          <a:xfrm>
            <a:off x="666720" y="1914480"/>
            <a:ext cx="4732560" cy="666360"/>
          </a:xfrm>
          <a:prstGeom prst="rect">
            <a:avLst/>
          </a:prstGeom>
          <a:noFill/>
          <a:ln w="0">
            <a:noFill/>
          </a:ln>
        </p:spPr>
      </p:pic>
      <p:sp>
        <p:nvSpPr>
          <p:cNvPr id="124" name=""/>
          <p:cNvSpPr/>
          <p:nvPr/>
        </p:nvSpPr>
        <p:spPr>
          <a:xfrm>
            <a:off x="666720" y="2876400"/>
            <a:ext cx="10667520" cy="30456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650" b="1" u="none" strike="noStrike">
                <a:solidFill>
                  <a:srgbClr val="0D9488"/>
                </a:solidFill>
                <a:effectLst/>
                <a:uFillTx/>
                <a:latin typeface="+mn-lt"/>
                <a:ea typeface="+mn-lt"/>
              </a:rPr>
              <a:t>EQ-PARK-PEAK · peak locations of the two aggregate curves</a:t>
            </a:r>
            <a:endParaRPr lang="en-US" sz="1650" b="0" u="none" strike="noStrike">
              <a:solidFill>
                <a:srgbClr val="000000"/>
              </a:solidFill>
              <a:effectLst/>
              <a:uFillTx/>
              <a:latin typeface="Arial"/>
            </a:endParaRPr>
          </a:p>
        </p:txBody>
      </p:sp>
      <p:pic>
        <p:nvPicPr>
          <p:cNvPr id="125" name=""/>
          <p:cNvPicPr/>
          <p:nvPr/>
        </p:nvPicPr>
        <p:blipFill>
          <a:blip r:embed="rId2"/>
          <a:stretch/>
        </p:blipFill>
        <p:spPr>
          <a:xfrm>
            <a:off x="666720" y="3343320"/>
            <a:ext cx="10839240" cy="519480"/>
          </a:xfrm>
          <a:prstGeom prst="rect">
            <a:avLst/>
          </a:prstGeom>
          <a:noFill/>
          <a:ln w="0">
            <a:noFill/>
          </a:ln>
        </p:spPr>
      </p:pic>
      <p:sp>
        <p:nvSpPr>
          <p:cNvPr id="126" name=""/>
          <p:cNvSpPr/>
          <p:nvPr/>
        </p:nvSpPr>
        <p:spPr>
          <a:xfrm>
            <a:off x="666720" y="4248000"/>
            <a:ext cx="10858320" cy="7426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800" b="0" u="none" strike="noStrike">
                <a:solidFill>
                  <a:srgbClr val="12233B"/>
                </a:solidFill>
                <a:effectLst/>
                <a:uFillTx/>
                <a:latin typeface="+mn-lt"/>
                <a:ea typeface="+mn-lt"/>
              </a:rPr>
              <a:t>Maximum aggregation follows the strongest feature response.</a:t>
            </a:r>
            <a:endParaRPr lang="en-US" sz="1800" b="0" u="none" strike="noStrike">
              <a:solidFill>
                <a:srgbClr val="000000"/>
              </a:solidFill>
              <a:effectLst/>
              <a:uFillTx/>
              <a:latin typeface="Arial"/>
            </a:endParaRPr>
          </a:p>
          <a:p>
            <a:pPr defTabSz="914400">
              <a:lnSpc>
                <a:spcPct val="100000"/>
              </a:lnSpc>
            </a:pPr>
            <a:r>
              <a:rPr lang="en-US" sz="1800" b="0" u="none" strike="noStrike">
                <a:solidFill>
                  <a:srgbClr val="12233B"/>
                </a:solidFill>
                <a:effectLst/>
                <a:uFillTx/>
                <a:latin typeface="+mn-lt"/>
                <a:ea typeface="+mn-lt"/>
              </a:rPr>
              <a:t>Average aggregation combines the feature-wise responses.</a:t>
            </a:r>
            <a:endParaRPr lang="en-US" sz="1800" b="0" u="none" strike="noStrike">
              <a:solidFill>
                <a:srgbClr val="000000"/>
              </a:solidFill>
              <a:effectLst/>
              <a:uFillTx/>
              <a:latin typeface="Arial"/>
            </a:endParaRPr>
          </a:p>
        </p:txBody>
      </p:sp>
      <p:sp>
        <p:nvSpPr>
          <p:cNvPr id="127" name=""/>
          <p:cNvSpPr/>
          <p:nvPr/>
        </p:nvSpPr>
        <p:spPr>
          <a:xfrm>
            <a:off x="666720" y="5305320"/>
            <a:ext cx="10858320" cy="7426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650" b="0" u="none" strike="noStrike">
                <a:solidFill>
                  <a:srgbClr val="12233B"/>
                </a:solidFill>
                <a:effectLst/>
                <a:uFillTx/>
                <a:latin typeface="+mn-lt"/>
                <a:ea typeface="+mn-lt"/>
              </a:rPr>
              <a:t>Several local peaks represent competing candidate locations. Inspect feature-wise</a:t>
            </a:r>
            <a:endParaRPr lang="en-US" sz="1650" b="0" u="none" strike="noStrike">
              <a:solidFill>
                <a:srgbClr val="000000"/>
              </a:solidFill>
              <a:effectLst/>
              <a:uFillTx/>
              <a:latin typeface="Arial"/>
            </a:endParaRPr>
          </a:p>
          <a:p>
            <a:pPr defTabSz="914400">
              <a:lnSpc>
                <a:spcPct val="100000"/>
              </a:lnSpc>
            </a:pPr>
            <a:r>
              <a:rPr lang="en-US" sz="1650" b="0" u="none" strike="noStrike">
                <a:solidFill>
                  <a:srgbClr val="12233B"/>
                </a:solidFill>
                <a:effectLst/>
                <a:uFillTx/>
                <a:latin typeface="+mn-lt"/>
                <a:ea typeface="+mn-lt"/>
              </a:rPr>
              <a:t>traces, segmentation and metadata to explain peak disagreement.</a:t>
            </a:r>
            <a:endParaRPr lang="en-US" sz="16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AFC"/>
        </a:solidFill>
      </p:bgPr>
    </p:bg>
    <p:spTree>
      <p:nvGrpSpPr>
        <p:cNvPr id="1" name=""/>
        <p:cNvGrpSpPr/>
        <p:nvPr/>
      </p:nvGrpSpPr>
      <p:grpSpPr>
        <a:xfrm>
          <a:off x="0" y="0"/>
          <a:ext cx="0" cy="0"/>
          <a:chOff x="0" y="0"/>
          <a:chExt cx="0" cy="0"/>
        </a:xfrm>
      </p:grpSpPr>
      <p:sp>
        <p:nvSpPr>
          <p:cNvPr id="128" name="TextBox 1"/>
          <p:cNvSpPr/>
          <p:nvPr/>
        </p:nvSpPr>
        <p:spPr>
          <a:xfrm>
            <a:off x="640080" y="365760"/>
            <a:ext cx="10058040" cy="25560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1000" b="1" u="none" strike="noStrike">
                <a:solidFill>
                  <a:srgbClr val="0D9488"/>
                </a:solidFill>
                <a:effectLst/>
                <a:uFillTx/>
                <a:latin typeface="Aptos"/>
                <a:ea typeface="Calibri"/>
              </a:rPr>
              <a:t>CODE-TO-MANUSCRIPT BOUNDARY</a:t>
            </a:r>
            <a:endParaRPr lang="en-US" sz="1000" b="0" u="none" strike="noStrike">
              <a:solidFill>
                <a:srgbClr val="000000"/>
              </a:solidFill>
              <a:effectLst/>
              <a:uFillTx/>
              <a:latin typeface="Arial"/>
            </a:endParaRPr>
          </a:p>
        </p:txBody>
      </p:sp>
      <p:sp>
        <p:nvSpPr>
          <p:cNvPr id="129" name="TextBox 2"/>
          <p:cNvSpPr/>
          <p:nvPr/>
        </p:nvSpPr>
        <p:spPr>
          <a:xfrm>
            <a:off x="640080" y="713160"/>
            <a:ext cx="10972440" cy="61236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2800" b="1" u="none" strike="noStrike">
                <a:solidFill>
                  <a:srgbClr val="12233B"/>
                </a:solidFill>
                <a:effectLst/>
                <a:uFillTx/>
                <a:latin typeface="Aptos"/>
                <a:ea typeface="Calibri"/>
              </a:rPr>
              <a:t>Park extension: implemented calculations versus open tests</a:t>
            </a:r>
            <a:endParaRPr lang="en-US" sz="2800" b="0" u="none" strike="noStrike">
              <a:solidFill>
                <a:srgbClr val="000000"/>
              </a:solidFill>
              <a:effectLst/>
              <a:uFillTx/>
              <a:latin typeface="Arial"/>
            </a:endParaRPr>
          </a:p>
        </p:txBody>
      </p:sp>
      <p:sp>
        <p:nvSpPr>
          <p:cNvPr id="130" name="TextBox 3"/>
          <p:cNvSpPr/>
          <p:nvPr/>
        </p:nvSpPr>
        <p:spPr>
          <a:xfrm>
            <a:off x="640080" y="1389960"/>
            <a:ext cx="10972440" cy="50256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1300" b="0" u="none" strike="noStrike">
                <a:solidFill>
                  <a:srgbClr val="516377"/>
                </a:solidFill>
                <a:effectLst/>
                <a:uFillTx/>
                <a:latin typeface="Aptos"/>
                <a:ea typeface="Calibri"/>
              </a:rPr>
              <a:t>Source: src/detection/stage1/park_mean_cusum.py and manuscript §§3.2, 4.8.</a:t>
            </a:r>
            <a:endParaRPr lang="en-US" sz="1300" b="0" u="none" strike="noStrike">
              <a:solidFill>
                <a:srgbClr val="000000"/>
              </a:solidFill>
              <a:effectLst/>
              <a:uFillTx/>
              <a:latin typeface="Arial"/>
            </a:endParaRPr>
          </a:p>
        </p:txBody>
      </p:sp>
      <p:sp>
        <p:nvSpPr>
          <p:cNvPr id="131" name="TextBox 4"/>
          <p:cNvSpPr/>
          <p:nvPr/>
        </p:nvSpPr>
        <p:spPr>
          <a:xfrm>
            <a:off x="640080" y="6519600"/>
            <a:ext cx="9143640" cy="20052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900" b="0" u="none" strike="noStrike">
                <a:solidFill>
                  <a:srgbClr val="516377"/>
                </a:solidFill>
                <a:effectLst/>
                <a:uFillTx/>
                <a:latin typeface="Aptos"/>
                <a:ea typeface="Calibri"/>
              </a:rPr>
              <a:t>Research progress | hlin863/ewma_covariate_shift_demo | Oct 2026</a:t>
            </a:r>
            <a:endParaRPr lang="en-US" sz="900" b="0" u="none" strike="noStrike">
              <a:solidFill>
                <a:srgbClr val="000000"/>
              </a:solidFill>
              <a:effectLst/>
              <a:uFillTx/>
              <a:latin typeface="Arial"/>
            </a:endParaRPr>
          </a:p>
        </p:txBody>
      </p:sp>
      <p:sp>
        <p:nvSpPr>
          <p:cNvPr id="132" name="Rounded Rectangle 5"/>
          <p:cNvSpPr/>
          <p:nvPr/>
        </p:nvSpPr>
        <p:spPr>
          <a:xfrm>
            <a:off x="640080" y="2011680"/>
            <a:ext cx="5348880" cy="3428640"/>
          </a:xfrm>
          <a:prstGeom prst="roundRect">
            <a:avLst>
              <a:gd name="adj" fmla="val 16667"/>
            </a:avLst>
          </a:prstGeom>
          <a:solidFill>
            <a:srgbClr val="FFFFFF"/>
          </a:solidFill>
          <a:ln>
            <a:solidFill>
              <a:srgbClr val="DBE5ED"/>
            </a:solidFill>
            <a:round/>
          </a:ln>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33" name="TextBox 6"/>
          <p:cNvSpPr/>
          <p:nvPr/>
        </p:nvSpPr>
        <p:spPr>
          <a:xfrm>
            <a:off x="795600" y="2130480"/>
            <a:ext cx="5037840" cy="31968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1700" b="1" u="none" strike="noStrike">
                <a:solidFill>
                  <a:srgbClr val="0D9488"/>
                </a:solidFill>
                <a:effectLst/>
                <a:uFillTx/>
                <a:latin typeface="Aptos"/>
                <a:ea typeface="Calibri"/>
              </a:rPr>
              <a:t>IMPLEMENTED</a:t>
            </a:r>
            <a:endParaRPr lang="en-US" sz="1700" b="0" u="none" strike="noStrike">
              <a:solidFill>
                <a:srgbClr val="000000"/>
              </a:solidFill>
              <a:effectLst/>
              <a:uFillTx/>
              <a:latin typeface="Arial"/>
            </a:endParaRPr>
          </a:p>
        </p:txBody>
      </p:sp>
      <p:sp>
        <p:nvSpPr>
          <p:cNvPr id="134" name="TextBox 7"/>
          <p:cNvSpPr/>
          <p:nvPr/>
        </p:nvSpPr>
        <p:spPr>
          <a:xfrm>
            <a:off x="795600" y="2541960"/>
            <a:ext cx="5037840" cy="278856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1300" b="0" u="none" strike="noStrike">
                <a:solidFill>
                  <a:srgbClr val="12233B"/>
                </a:solidFill>
                <a:effectLst/>
                <a:uFillTx/>
                <a:latin typeface="Aptos"/>
                <a:ea typeface="Calibri"/>
              </a:rPr>
              <a:t>Positive-mean input validation.</a:t>
            </a:r>
            <a:endParaRPr lang="en-US" sz="1300" b="0" u="none" strike="noStrike">
              <a:solidFill>
                <a:srgbClr val="000000"/>
              </a:solidFill>
              <a:effectLst/>
              <a:uFillTx/>
              <a:latin typeface="Arial"/>
            </a:endParaRPr>
          </a:p>
          <a:p>
            <a:pPr defTabSz="914400">
              <a:lnSpc>
                <a:spcPct val="100000"/>
              </a:lnSpc>
              <a:spcAft>
                <a:spcPts val="601"/>
              </a:spcAft>
            </a:pPr>
            <a:r>
              <a:rPr lang="en-US" sz="1300" b="0" u="none" strike="noStrike">
                <a:solidFill>
                  <a:srgbClr val="12233B"/>
                </a:solidFill>
                <a:effectLst/>
                <a:uFillTx/>
                <a:latin typeface="Aptos"/>
                <a:ea typeface="Calibri"/>
              </a:rPr>
              <a:t>Feature-wise normalised mean-CUSUM.</a:t>
            </a:r>
            <a:endParaRPr lang="en-US" sz="1300" b="0" u="none" strike="noStrike">
              <a:solidFill>
                <a:srgbClr val="000000"/>
              </a:solidFill>
              <a:effectLst/>
              <a:uFillTx/>
              <a:latin typeface="Arial"/>
            </a:endParaRPr>
          </a:p>
          <a:p>
            <a:pPr defTabSz="914400">
              <a:lnSpc>
                <a:spcPct val="100000"/>
              </a:lnSpc>
              <a:spcAft>
                <a:spcPts val="601"/>
              </a:spcAft>
            </a:pPr>
            <a:r>
              <a:rPr lang="en-US" sz="1300" b="0" u="none" strike="noStrike">
                <a:solidFill>
                  <a:srgbClr val="12233B"/>
                </a:solidFill>
                <a:effectLst/>
                <a:uFillTx/>
                <a:latin typeface="Aptos"/>
                <a:ea typeface="Calibri"/>
              </a:rPr>
              <a:t>Maximum/average aggregation.</a:t>
            </a:r>
            <a:endParaRPr lang="en-US" sz="1300" b="0" u="none" strike="noStrike">
              <a:solidFill>
                <a:srgbClr val="000000"/>
              </a:solidFill>
              <a:effectLst/>
              <a:uFillTx/>
              <a:latin typeface="Arial"/>
            </a:endParaRPr>
          </a:p>
          <a:p>
            <a:pPr defTabSz="914400">
              <a:lnSpc>
                <a:spcPct val="100000"/>
              </a:lnSpc>
              <a:spcAft>
                <a:spcPts val="601"/>
              </a:spcAft>
            </a:pPr>
            <a:r>
              <a:rPr lang="en-US" sz="1300" b="0" u="none" strike="noStrike">
                <a:solidFill>
                  <a:srgbClr val="12233B"/>
                </a:solidFill>
                <a:effectLst/>
                <a:uFillTx/>
                <a:latin typeface="Aptos"/>
                <a:ea typeface="Calibri"/>
              </a:rPr>
              <a:t>Global peak locations and separation.</a:t>
            </a:r>
            <a:endParaRPr lang="en-US" sz="1300" b="0" u="none" strike="noStrike">
              <a:solidFill>
                <a:srgbClr val="000000"/>
              </a:solidFill>
              <a:effectLst/>
              <a:uFillTx/>
              <a:latin typeface="Arial"/>
            </a:endParaRPr>
          </a:p>
          <a:p>
            <a:pPr defTabSz="914400">
              <a:lnSpc>
                <a:spcPct val="100000"/>
              </a:lnSpc>
              <a:spcAft>
                <a:spcPts val="601"/>
              </a:spcAft>
            </a:pPr>
            <a:r>
              <a:rPr lang="en-US" sz="1300" b="0" u="none" strike="noStrike">
                <a:solidFill>
                  <a:srgbClr val="12233B"/>
                </a:solidFill>
                <a:effectLst/>
                <a:uFillTx/>
                <a:latin typeface="Aptos"/>
                <a:ea typeface="Calibri"/>
              </a:rPr>
              <a:t>Python visualisation + MATLAB feature export.</a:t>
            </a:r>
            <a:endParaRPr lang="en-US" sz="1300" b="0" u="none" strike="noStrike">
              <a:solidFill>
                <a:srgbClr val="000000"/>
              </a:solidFill>
              <a:effectLst/>
              <a:uFillTx/>
              <a:latin typeface="Arial"/>
            </a:endParaRPr>
          </a:p>
        </p:txBody>
      </p:sp>
      <p:sp>
        <p:nvSpPr>
          <p:cNvPr id="135" name="Rounded Rectangle 8"/>
          <p:cNvSpPr/>
          <p:nvPr/>
        </p:nvSpPr>
        <p:spPr>
          <a:xfrm>
            <a:off x="6217920" y="2011680"/>
            <a:ext cx="5348880" cy="3428640"/>
          </a:xfrm>
          <a:prstGeom prst="roundRect">
            <a:avLst>
              <a:gd name="adj" fmla="val 16667"/>
            </a:avLst>
          </a:prstGeom>
          <a:solidFill>
            <a:srgbClr val="FFFFFF"/>
          </a:solidFill>
          <a:ln>
            <a:solidFill>
              <a:srgbClr val="DBE5ED"/>
            </a:solidFill>
            <a:round/>
          </a:ln>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36" name="TextBox 9"/>
          <p:cNvSpPr/>
          <p:nvPr/>
        </p:nvSpPr>
        <p:spPr>
          <a:xfrm>
            <a:off x="6373440" y="2130480"/>
            <a:ext cx="5037840" cy="31968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1700" b="1" u="none" strike="noStrike">
                <a:solidFill>
                  <a:srgbClr val="0D9488"/>
                </a:solidFill>
                <a:effectLst/>
                <a:uFillTx/>
                <a:latin typeface="Aptos"/>
                <a:ea typeface="Calibri"/>
              </a:rPr>
              <a:t>NOT YET VERIFIED</a:t>
            </a:r>
            <a:endParaRPr lang="en-US" sz="1700" b="0" u="none" strike="noStrike">
              <a:solidFill>
                <a:srgbClr val="000000"/>
              </a:solidFill>
              <a:effectLst/>
              <a:uFillTx/>
              <a:latin typeface="Arial"/>
            </a:endParaRPr>
          </a:p>
        </p:txBody>
      </p:sp>
      <p:sp>
        <p:nvSpPr>
          <p:cNvPr id="137" name="TextBox 10"/>
          <p:cNvSpPr/>
          <p:nvPr/>
        </p:nvSpPr>
        <p:spPr>
          <a:xfrm>
            <a:off x="6373440" y="2541960"/>
            <a:ext cx="5037840" cy="278856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1300" b="0" u="none" strike="noStrike">
                <a:solidFill>
                  <a:srgbClr val="12233B"/>
                </a:solidFill>
                <a:effectLst/>
                <a:uFillTx/>
                <a:latin typeface="Aptos"/>
                <a:ea typeface="Calibri"/>
              </a:rPr>
              <a:t>Park unimodality and peak-agreement confirmation.</a:t>
            </a:r>
            <a:endParaRPr lang="en-US" sz="1300" b="0" u="none" strike="noStrike">
              <a:solidFill>
                <a:srgbClr val="000000"/>
              </a:solidFill>
              <a:effectLst/>
              <a:uFillTx/>
              <a:latin typeface="Arial"/>
            </a:endParaRPr>
          </a:p>
          <a:p>
            <a:pPr defTabSz="914400">
              <a:lnSpc>
                <a:spcPct val="100000"/>
              </a:lnSpc>
              <a:spcAft>
                <a:spcPts val="601"/>
              </a:spcAft>
            </a:pPr>
            <a:r>
              <a:rPr lang="en-US" sz="1300" b="0" u="none" strike="noStrike">
                <a:solidFill>
                  <a:srgbClr val="12233B"/>
                </a:solidFill>
                <a:effectLst/>
                <a:uFillTx/>
                <a:latin typeface="Aptos"/>
                <a:ea typeface="Calibri"/>
              </a:rPr>
              <a:t>Multiple-change-point detection.</a:t>
            </a:r>
            <a:endParaRPr lang="en-US" sz="1300" b="0" u="none" strike="noStrike">
              <a:solidFill>
                <a:srgbClr val="000000"/>
              </a:solidFill>
              <a:effectLst/>
              <a:uFillTx/>
              <a:latin typeface="Arial"/>
            </a:endParaRPr>
          </a:p>
          <a:p>
            <a:pPr defTabSz="914400">
              <a:lnSpc>
                <a:spcPct val="100000"/>
              </a:lnSpc>
              <a:spcAft>
                <a:spcPts val="601"/>
              </a:spcAft>
            </a:pPr>
            <a:r>
              <a:rPr lang="en-US" sz="1300" b="0" u="none" strike="noStrike">
                <a:solidFill>
                  <a:srgbClr val="12233B"/>
                </a:solidFill>
                <a:effectLst/>
                <a:uFillTx/>
                <a:latin typeface="Aptos"/>
                <a:ea typeface="Calibri"/>
              </a:rPr>
              <a:t>Calibrated false-alarm control.</a:t>
            </a:r>
            <a:endParaRPr lang="en-US" sz="1300" b="0" u="none" strike="noStrike">
              <a:solidFill>
                <a:srgbClr val="000000"/>
              </a:solidFill>
              <a:effectLst/>
              <a:uFillTx/>
              <a:latin typeface="Arial"/>
            </a:endParaRPr>
          </a:p>
          <a:p>
            <a:pPr defTabSz="914400">
              <a:lnSpc>
                <a:spcPct val="100000"/>
              </a:lnSpc>
              <a:spcAft>
                <a:spcPts val="601"/>
              </a:spcAft>
            </a:pPr>
            <a:r>
              <a:rPr lang="en-US" sz="1300" b="0" u="none" strike="noStrike">
                <a:solidFill>
                  <a:srgbClr val="12233B"/>
                </a:solidFill>
                <a:effectLst/>
                <a:uFillTx/>
                <a:latin typeface="Aptos"/>
                <a:ea typeface="Calibri"/>
              </a:rPr>
              <a:t>Matched EEG feature-space comparisons.</a:t>
            </a:r>
            <a:endParaRPr lang="en-US" sz="1300" b="0" u="none" strike="noStrike">
              <a:solidFill>
                <a:srgbClr val="000000"/>
              </a:solidFill>
              <a:effectLst/>
              <a:uFillTx/>
              <a:latin typeface="Arial"/>
            </a:endParaRPr>
          </a:p>
          <a:p>
            <a:pPr defTabSz="914400">
              <a:lnSpc>
                <a:spcPct val="100000"/>
              </a:lnSpc>
              <a:spcAft>
                <a:spcPts val="601"/>
              </a:spcAft>
            </a:pPr>
            <a:r>
              <a:rPr lang="en-US" sz="1300" b="0" u="none" strike="noStrike">
                <a:solidFill>
                  <a:srgbClr val="12233B"/>
                </a:solidFill>
                <a:effectLst/>
                <a:uFillTx/>
                <a:latin typeface="Aptos"/>
                <a:ea typeface="Calibri"/>
              </a:rPr>
              <a:t>Numerical Python/MATLAB parity evidence.</a:t>
            </a:r>
            <a:endParaRPr lang="en-US" sz="1300" b="0" u="none" strike="noStrike">
              <a:solidFill>
                <a:srgbClr val="000000"/>
              </a:solidFill>
              <a:effectLst/>
              <a:uFillTx/>
              <a:latin typeface="Arial"/>
            </a:endParaRPr>
          </a:p>
        </p:txBody>
      </p:sp>
      <p:sp>
        <p:nvSpPr>
          <p:cNvPr id="138" name="TextBox 11"/>
          <p:cNvSpPr/>
          <p:nvPr/>
        </p:nvSpPr>
        <p:spPr>
          <a:xfrm>
            <a:off x="822960" y="5660280"/>
            <a:ext cx="10789560" cy="45684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1400" b="1" u="none" strike="noStrike">
                <a:solidFill>
                  <a:srgbClr val="12233B"/>
                </a:solidFill>
                <a:effectLst/>
                <a:uFillTx/>
                <a:latin typeface="Aptos"/>
                <a:ea typeface="Calibri"/>
              </a:rPr>
              <a:t>Research question RQ4: candidate localisation is implemented; confirmation and statistical validity remain open.</a:t>
            </a:r>
            <a:endParaRPr lang="en-US" sz="1400" b="0" u="none" strike="noStrike">
              <a:solidFill>
                <a:srgbClr val="000000"/>
              </a:solidFill>
              <a:effectLst/>
              <a:uFillTx/>
              <a:latin typeface="Arial"/>
            </a:endParaRPr>
          </a:p>
        </p:txBody>
      </p:sp>
      <p:sp>
        <p:nvSpPr>
          <p:cNvPr id="139" name="Slide number"/>
          <p:cNvSpPr/>
          <p:nvPr/>
        </p:nvSpPr>
        <p:spPr>
          <a:xfrm>
            <a:off x="11334600" y="6429240"/>
            <a:ext cx="380520" cy="256680"/>
          </a:xfrm>
          <a:noFill/>
          <a:ln w="0">
            <a:noFill/>
          </a:ln>
        </p:spPr>
        <p:style>
          <a:lnRef idx="0"/>
          <a:fillRef idx="0"/>
          <a:effectRef idx="0"/>
          <a:fontRef idx="minor"/>
        </p:style>
        <p:txBody>
          <a:bodyPr lIns="90000" tIns="45000" rIns="90000" bIns="45000" anchor="t">
            <a:noAutofit/>
          </a:bodyPr>
          <a:p>
            <a:pPr defTabSz="914400">
              <a:lnSpc>
                <a:spcPct val="100000"/>
              </a:lnSpc>
            </a:pPr>
            <a:r>
              <a:rPr lang="en-US" sz="1200" b="0" u="none" strike="noStrike">
                <a:solidFill>
                  <a:srgbClr val="516377"/>
                </a:solidFill>
                <a:effectLst/>
                <a:uFillTx/>
                <a:latin typeface="Calibri"/>
                <a:ea typeface="Calibri"/>
              </a:rPr>
              <a:t>7</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9121F"/>
        </a:solidFill>
      </p:bgPr>
    </p:bg>
    <p:spTree>
      <p:nvGrpSpPr>
        <p:cNvPr id="1" name=""/>
        <p:cNvGrpSpPr/>
        <p:nvPr/>
      </p:nvGrpSpPr>
      <p:grpSpPr>
        <a:xfrm>
          <a:off x="0" y="0"/>
          <a:ext cx="0" cy="0"/>
          <a:chOff x="0" y="0"/>
          <a:chExt cx="0" cy="0"/>
        </a:xfrm>
      </p:grpSpPr>
      <p:sp>
        <p:nvSpPr>
          <p:cNvPr id="140" name="Rectangle 12"/>
          <p:cNvSpPr/>
          <p:nvPr/>
        </p:nvSpPr>
        <p:spPr>
          <a:xfrm>
            <a:off x="609480" y="399960"/>
            <a:ext cx="10477080" cy="2282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300" b="1" u="none" strike="noStrike">
                <a:solidFill>
                  <a:srgbClr val="2DD4BF"/>
                </a:solidFill>
                <a:effectLst/>
                <a:uFillTx/>
                <a:latin typeface="DejaVu Sans"/>
                <a:ea typeface="DejaVu Sans"/>
              </a:rPr>
              <a:t>PAPER CONTEXT</a:t>
            </a:r>
            <a:endParaRPr lang="en-US" sz="1300" b="0" u="none" strike="noStrike">
              <a:solidFill>
                <a:srgbClr val="FFFFFF"/>
              </a:solidFill>
              <a:effectLst/>
              <a:uFillTx/>
              <a:latin typeface="Arial"/>
            </a:endParaRPr>
          </a:p>
        </p:txBody>
      </p:sp>
      <p:sp>
        <p:nvSpPr>
          <p:cNvPr id="141" name="Rectangle 1"/>
          <p:cNvSpPr/>
          <p:nvPr/>
        </p:nvSpPr>
        <p:spPr>
          <a:xfrm>
            <a:off x="609480" y="685800"/>
            <a:ext cx="10953360" cy="6091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2550" b="1" u="none" strike="noStrike">
                <a:solidFill>
                  <a:srgbClr val="EAF2F8"/>
                </a:solidFill>
                <a:effectLst/>
                <a:uFillTx/>
                <a:latin typeface="DejaVu Sans"/>
                <a:ea typeface="DejaVu Sans"/>
              </a:rPr>
              <a:t>Chowdhury et al. (2018): online adaptive BCI</a:t>
            </a:r>
            <a:endParaRPr lang="en-US" sz="2550" b="0" u="none" strike="noStrike">
              <a:solidFill>
                <a:srgbClr val="FFFFFF"/>
              </a:solidFill>
              <a:effectLst/>
              <a:uFillTx/>
              <a:latin typeface="Arial"/>
            </a:endParaRPr>
          </a:p>
        </p:txBody>
      </p:sp>
      <p:sp>
        <p:nvSpPr>
          <p:cNvPr id="142" name="Rectangle 2"/>
          <p:cNvSpPr/>
          <p:nvPr/>
        </p:nvSpPr>
        <p:spPr>
          <a:xfrm>
            <a:off x="609480" y="6010200"/>
            <a:ext cx="10858320" cy="4186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130" b="0" u="none" strike="noStrike">
                <a:solidFill>
                  <a:srgbClr val="9CB0C3"/>
                </a:solidFill>
                <a:effectLst/>
                <a:uFillTx/>
                <a:latin typeface="DejaVu Sans"/>
                <a:ea typeface="DejaVu Sans"/>
              </a:rPr>
              <a:t>Source: §II.B, p. 1072 · §II.D–E, pp. 1073–1075 · Figs. 1, 3 and 4</a:t>
            </a:r>
            <a:endParaRPr lang="en-US" sz="1130" b="0" u="none" strike="noStrike">
              <a:solidFill>
                <a:srgbClr val="FFFFFF"/>
              </a:solidFill>
              <a:effectLst/>
              <a:uFillTx/>
              <a:latin typeface="Arial"/>
            </a:endParaRPr>
          </a:p>
        </p:txBody>
      </p:sp>
      <p:sp>
        <p:nvSpPr>
          <p:cNvPr id="143" name="Rectangle 3"/>
          <p:cNvSpPr/>
          <p:nvPr/>
        </p:nvSpPr>
        <p:spPr>
          <a:xfrm>
            <a:off x="609480" y="6515280"/>
            <a:ext cx="5714640" cy="1710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100" b="0" u="none" strike="noStrike">
                <a:solidFill>
                  <a:srgbClr val="9CB0C3"/>
                </a:solidFill>
                <a:effectLst/>
                <a:uFillTx/>
                <a:latin typeface="DejaVu Sans"/>
                <a:ea typeface="DejaVu Sans"/>
              </a:rPr>
              <a:t>hlin863/ewma_covariate_shift_demo</a:t>
            </a:r>
            <a:endParaRPr lang="en-US" sz="1100" b="0" u="none" strike="noStrike">
              <a:solidFill>
                <a:srgbClr val="FFFFFF"/>
              </a:solidFill>
              <a:effectLst/>
              <a:uFillTx/>
              <a:latin typeface="Arial"/>
            </a:endParaRPr>
          </a:p>
        </p:txBody>
      </p:sp>
      <p:sp>
        <p:nvSpPr>
          <p:cNvPr id="144" name="Rectangle 4"/>
          <p:cNvSpPr/>
          <p:nvPr/>
        </p:nvSpPr>
        <p:spPr>
          <a:xfrm>
            <a:off x="11049120" y="6515280"/>
            <a:ext cx="533160" cy="1710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800" b="0" u="none" strike="noStrike">
                <a:solidFill>
                  <a:srgbClr val="EAF2F8"/>
                </a:solidFill>
                <a:effectLst/>
                <a:uFillTx/>
                <a:latin typeface="Aptos"/>
                <a:ea typeface="Aptos"/>
              </a:rPr>
              <a:t>8</a:t>
            </a:r>
            <a:endParaRPr lang="en-US" sz="1800" b="0" u="none" strike="noStrike">
              <a:solidFill>
                <a:srgbClr val="FFFFFF"/>
              </a:solidFill>
              <a:effectLst/>
              <a:uFillTx/>
              <a:latin typeface="Arial"/>
            </a:endParaRPr>
          </a:p>
        </p:txBody>
      </p:sp>
      <p:sp>
        <p:nvSpPr>
          <p:cNvPr id="145" name="Rectangle 5"/>
          <p:cNvSpPr/>
          <p:nvPr/>
        </p:nvSpPr>
        <p:spPr>
          <a:xfrm>
            <a:off x="609480" y="1695600"/>
            <a:ext cx="5047920" cy="3614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2020" b="1" u="none" strike="noStrike">
                <a:solidFill>
                  <a:srgbClr val="4EA1FF"/>
                </a:solidFill>
                <a:effectLst/>
                <a:uFillTx/>
                <a:latin typeface="DejaVu Sans"/>
                <a:ea typeface="DejaVu Sans"/>
              </a:rPr>
              <a:t>Calibration and task</a:t>
            </a:r>
            <a:endParaRPr lang="en-US" sz="2020" b="0" u="none" strike="noStrike">
              <a:solidFill>
                <a:srgbClr val="FFFFFF"/>
              </a:solidFill>
              <a:effectLst/>
              <a:uFillTx/>
              <a:latin typeface="Arial"/>
            </a:endParaRPr>
          </a:p>
        </p:txBody>
      </p:sp>
      <p:sp>
        <p:nvSpPr>
          <p:cNvPr id="146" name="Rectangle 6"/>
          <p:cNvSpPr/>
          <p:nvPr/>
        </p:nvSpPr>
        <p:spPr>
          <a:xfrm>
            <a:off x="609480" y="2190600"/>
            <a:ext cx="5047920" cy="20952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800" b="0" u="none" strike="noStrike">
                <a:solidFill>
                  <a:srgbClr val="EAF2F8"/>
                </a:solidFill>
                <a:effectLst/>
                <a:uFillTx/>
                <a:latin typeface="DejaVu Sans"/>
                <a:ea typeface="DejaVu Sans"/>
              </a:rPr>
              <a:t>10 healthy participants + 10 stroke patients</a:t>
            </a:r>
            <a:endParaRPr lang="en-US" sz="1800" b="0" u="none" strike="noStrike">
              <a:solidFill>
                <a:srgbClr val="FFFFFF"/>
              </a:solidFill>
              <a:effectLst/>
              <a:uFillTx/>
              <a:latin typeface="Arial"/>
            </a:endParaRPr>
          </a:p>
          <a:p>
            <a:pPr defTabSz="914400">
              <a:lnSpc>
                <a:spcPct val="100000"/>
              </a:lnSpc>
            </a:pPr>
            <a:r>
              <a:rPr lang="en-US" sz="1800" b="0" u="none" strike="noStrike">
                <a:solidFill>
                  <a:srgbClr val="EAF2F8"/>
                </a:solidFill>
                <a:effectLst/>
                <a:uFillTx/>
                <a:latin typeface="DejaVu Sans"/>
                <a:ea typeface="DejaVu Sans"/>
              </a:rPr>
              <a:t>80 calibration trials, then 40 online trials</a:t>
            </a:r>
            <a:endParaRPr lang="en-US" sz="1800" b="0" u="none" strike="noStrike">
              <a:solidFill>
                <a:srgbClr val="FFFFFF"/>
              </a:solidFill>
              <a:effectLst/>
              <a:uFillTx/>
              <a:latin typeface="Arial"/>
            </a:endParaRPr>
          </a:p>
          <a:p>
            <a:pPr defTabSz="914400">
              <a:lnSpc>
                <a:spcPct val="100000"/>
              </a:lnSpc>
            </a:pPr>
            <a:r>
              <a:rPr lang="en-US" sz="1800" b="0" u="none" strike="noStrike">
                <a:solidFill>
                  <a:srgbClr val="EAF2F8"/>
                </a:solidFill>
                <a:effectLst/>
                <a:uFillTx/>
                <a:latin typeface="DejaVu Sans"/>
                <a:ea typeface="DejaVu Sans"/>
              </a:rPr>
              <a:t>Left- versus right-hand motor imagery</a:t>
            </a:r>
            <a:endParaRPr lang="en-US" sz="1800" b="0" u="none" strike="noStrike">
              <a:solidFill>
                <a:srgbClr val="FFFFFF"/>
              </a:solidFill>
              <a:effectLst/>
              <a:uFillTx/>
              <a:latin typeface="Arial"/>
            </a:endParaRPr>
          </a:p>
          <a:p>
            <a:pPr defTabSz="914400">
              <a:lnSpc>
                <a:spcPct val="100000"/>
              </a:lnSpc>
            </a:pPr>
            <a:r>
              <a:rPr lang="en-US" sz="1800" b="0" u="none" strike="noStrike">
                <a:solidFill>
                  <a:srgbClr val="EAF2F8"/>
                </a:solidFill>
                <a:effectLst/>
                <a:uFillTx/>
                <a:latin typeface="DejaVu Sans"/>
                <a:ea typeface="DejaVu Sans"/>
              </a:rPr>
              <a:t>Initial linear SVM and CSD parameters</a:t>
            </a:r>
            <a:endParaRPr lang="en-US" sz="1800" b="0" u="none" strike="noStrike">
              <a:solidFill>
                <a:srgbClr val="FFFFFF"/>
              </a:solidFill>
              <a:effectLst/>
              <a:uFillTx/>
              <a:latin typeface="Arial"/>
            </a:endParaRPr>
          </a:p>
        </p:txBody>
      </p:sp>
      <p:sp>
        <p:nvSpPr>
          <p:cNvPr id="147" name="Rectangle 7"/>
          <p:cNvSpPr/>
          <p:nvPr/>
        </p:nvSpPr>
        <p:spPr>
          <a:xfrm>
            <a:off x="6572160" y="1695600"/>
            <a:ext cx="4857480" cy="3614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2020" b="1" u="none" strike="noStrike">
                <a:solidFill>
                  <a:srgbClr val="2DD4BF"/>
                </a:solidFill>
                <a:effectLst/>
                <a:uFillTx/>
                <a:latin typeface="DejaVu Sans"/>
                <a:ea typeface="DejaVu Sans"/>
              </a:rPr>
              <a:t>Signal and adaptation</a:t>
            </a:r>
            <a:endParaRPr lang="en-US" sz="2020" b="0" u="none" strike="noStrike">
              <a:solidFill>
                <a:srgbClr val="FFFFFF"/>
              </a:solidFill>
              <a:effectLst/>
              <a:uFillTx/>
              <a:latin typeface="Arial"/>
            </a:endParaRPr>
          </a:p>
        </p:txBody>
      </p:sp>
      <p:sp>
        <p:nvSpPr>
          <p:cNvPr id="148" name="Rectangle 8"/>
          <p:cNvSpPr/>
          <p:nvPr/>
        </p:nvSpPr>
        <p:spPr>
          <a:xfrm>
            <a:off x="6572160" y="2190600"/>
            <a:ext cx="4857480" cy="20952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800" b="0" u="none" strike="noStrike">
                <a:solidFill>
                  <a:srgbClr val="EAF2F8"/>
                </a:solidFill>
                <a:effectLst/>
                <a:uFillTx/>
                <a:latin typeface="DejaVu Sans"/>
                <a:ea typeface="DejaVu Sans"/>
              </a:rPr>
              <a:t>μ 8–12 Hz and β 16–24 Hz</a:t>
            </a:r>
            <a:endParaRPr lang="en-US" sz="1800" b="0" u="none" strike="noStrike">
              <a:solidFill>
                <a:srgbClr val="FFFFFF"/>
              </a:solidFill>
              <a:effectLst/>
              <a:uFillTx/>
              <a:latin typeface="Arial"/>
            </a:endParaRPr>
          </a:p>
          <a:p>
            <a:pPr defTabSz="914400">
              <a:lnSpc>
                <a:spcPct val="100000"/>
              </a:lnSpc>
            </a:pPr>
            <a:r>
              <a:rPr lang="en-US" sz="1800" b="0" u="none" strike="noStrike">
                <a:solidFill>
                  <a:srgbClr val="EAF2F8"/>
                </a:solidFill>
                <a:effectLst/>
                <a:uFillTx/>
                <a:latin typeface="DejaVu Sans"/>
                <a:ea typeface="DejaVu Sans"/>
              </a:rPr>
              <a:t>CSP yields four log-variance features</a:t>
            </a:r>
            <a:endParaRPr lang="en-US" sz="1800" b="0" u="none" strike="noStrike">
              <a:solidFill>
                <a:srgbClr val="FFFFFF"/>
              </a:solidFill>
              <a:effectLst/>
              <a:uFillTx/>
              <a:latin typeface="Arial"/>
            </a:endParaRPr>
          </a:p>
          <a:p>
            <a:pPr defTabSz="914400">
              <a:lnSpc>
                <a:spcPct val="100000"/>
              </a:lnSpc>
            </a:pPr>
            <a:r>
              <a:rPr lang="en-US" sz="1800" b="0" u="none" strike="noStrike">
                <a:solidFill>
                  <a:srgbClr val="EAF2F8"/>
                </a:solidFill>
                <a:effectLst/>
                <a:uFillTx/>
                <a:latin typeface="DejaVu Sans"/>
                <a:ea typeface="DejaVu Sans"/>
              </a:rPr>
              <a:t>PC1 EWMA warning, then Hotelling T²</a:t>
            </a:r>
            <a:endParaRPr lang="en-US" sz="1800" b="0" u="none" strike="noStrike">
              <a:solidFill>
                <a:srgbClr val="FFFFFF"/>
              </a:solidFill>
              <a:effectLst/>
              <a:uFillTx/>
              <a:latin typeface="Arial"/>
            </a:endParaRPr>
          </a:p>
          <a:p>
            <a:pPr defTabSz="914400">
              <a:lnSpc>
                <a:spcPct val="100000"/>
              </a:lnSpc>
            </a:pPr>
            <a:r>
              <a:rPr lang="en-US" sz="1800" b="0" u="none" strike="noStrike">
                <a:solidFill>
                  <a:srgbClr val="EAF2F8"/>
                </a:solidFill>
                <a:effectLst/>
                <a:uFillTx/>
                <a:latin typeface="DejaVu Sans"/>
                <a:ea typeface="DejaVu Sans"/>
              </a:rPr>
              <a:t>Validated shift triggers SVM retraining</a:t>
            </a:r>
            <a:endParaRPr lang="en-US" sz="1800" b="0" u="none" strike="noStrike">
              <a:solidFill>
                <a:srgbClr val="FFFFFF"/>
              </a:solidFill>
              <a:effectLst/>
              <a:uFillTx/>
              <a:latin typeface="Arial"/>
            </a:endParaRPr>
          </a:p>
        </p:txBody>
      </p:sp>
      <p:sp>
        <p:nvSpPr>
          <p:cNvPr id="149" name="Rectangle 9"/>
          <p:cNvSpPr/>
          <p:nvPr/>
        </p:nvSpPr>
        <p:spPr>
          <a:xfrm>
            <a:off x="609480" y="4105440"/>
            <a:ext cx="2285640" cy="3236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2020" b="1" u="none" strike="noStrike">
                <a:solidFill>
                  <a:srgbClr val="F5B942"/>
                </a:solidFill>
                <a:effectLst/>
                <a:uFillTx/>
                <a:latin typeface="DejaVu Sans"/>
                <a:ea typeface="DejaVu Sans"/>
              </a:rPr>
              <a:t>Online output</a:t>
            </a:r>
            <a:endParaRPr lang="en-US" sz="2020" b="0" u="none" strike="noStrike">
              <a:solidFill>
                <a:srgbClr val="FFFFFF"/>
              </a:solidFill>
              <a:effectLst/>
              <a:uFillTx/>
              <a:latin typeface="Arial"/>
            </a:endParaRPr>
          </a:p>
        </p:txBody>
      </p:sp>
      <p:sp>
        <p:nvSpPr>
          <p:cNvPr id="150" name="Rectangle 10"/>
          <p:cNvSpPr/>
          <p:nvPr/>
        </p:nvSpPr>
        <p:spPr>
          <a:xfrm>
            <a:off x="609480" y="4572000"/>
            <a:ext cx="10477080" cy="6188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2020" b="0" u="none" strike="noStrike">
                <a:solidFill>
                  <a:srgbClr val="EAF2F8"/>
                </a:solidFill>
                <a:effectLst/>
                <a:uFillTx/>
                <a:latin typeface="DejaVu Sans"/>
                <a:ea typeface="DejaVu Sans"/>
              </a:rPr>
              <a:t>Visual feedback and hand-exoskeleton movement follow MI classification.</a:t>
            </a:r>
            <a:endParaRPr lang="en-US" sz="2020" b="0" u="none" strike="noStrike">
              <a:solidFill>
                <a:srgbClr val="FFFFFF"/>
              </a:solidFill>
              <a:effectLst/>
              <a:uFillTx/>
              <a:latin typeface="Arial"/>
            </a:endParaRPr>
          </a:p>
        </p:txBody>
      </p:sp>
      <p:sp>
        <p:nvSpPr>
          <p:cNvPr id="151" name="Rectangle 11"/>
          <p:cNvSpPr/>
          <p:nvPr/>
        </p:nvSpPr>
        <p:spPr>
          <a:xfrm>
            <a:off x="609480" y="5372280"/>
            <a:ext cx="10762920" cy="4759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729" b="0" u="none" strike="noStrike">
                <a:solidFill>
                  <a:srgbClr val="9CB0C3"/>
                </a:solidFill>
                <a:effectLst/>
                <a:uFillTx/>
                <a:latin typeface="DejaVu Sans"/>
                <a:ea typeface="DejaVu Sans"/>
              </a:rPr>
              <a:t>Comparator: EEG-NAC replays the same recorded data offline with a fixed classifier.</a:t>
            </a:r>
            <a:endParaRPr lang="en-US" sz="1729"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9121F"/>
        </a:solidFill>
      </p:bgPr>
    </p:bg>
    <p:spTree>
      <p:nvGrpSpPr>
        <p:cNvPr id="1" name=""/>
        <p:cNvGrpSpPr/>
        <p:nvPr/>
      </p:nvGrpSpPr>
      <p:grpSpPr>
        <a:xfrm>
          <a:off x="0" y="0"/>
          <a:ext cx="0" cy="0"/>
          <a:chOff x="0" y="0"/>
          <a:chExt cx="0" cy="0"/>
        </a:xfrm>
      </p:grpSpPr>
      <p:sp>
        <p:nvSpPr>
          <p:cNvPr id="152" name="Rectangle 8"/>
          <p:cNvSpPr/>
          <p:nvPr/>
        </p:nvSpPr>
        <p:spPr>
          <a:xfrm>
            <a:off x="609480" y="399960"/>
            <a:ext cx="10477080" cy="2282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300" b="1" u="none" strike="noStrike">
                <a:solidFill>
                  <a:srgbClr val="2DD4BF"/>
                </a:solidFill>
                <a:effectLst/>
                <a:uFillTx/>
                <a:latin typeface="DejaVu Sans"/>
                <a:ea typeface="DejaVu Sans"/>
              </a:rPr>
              <a:t>REPORTED ACHIEVEMENTS</a:t>
            </a:r>
            <a:endParaRPr lang="en-US" sz="1300" b="0" u="none" strike="noStrike">
              <a:solidFill>
                <a:srgbClr val="FFFFFF"/>
              </a:solidFill>
              <a:effectLst/>
              <a:uFillTx/>
              <a:latin typeface="Arial"/>
            </a:endParaRPr>
          </a:p>
        </p:txBody>
      </p:sp>
      <p:sp>
        <p:nvSpPr>
          <p:cNvPr id="153" name="Rectangle 1"/>
          <p:cNvSpPr/>
          <p:nvPr/>
        </p:nvSpPr>
        <p:spPr>
          <a:xfrm>
            <a:off x="609480" y="685800"/>
            <a:ext cx="10953360" cy="6091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2550" b="1" u="none" strike="noStrike">
                <a:solidFill>
                  <a:srgbClr val="EAF2F8"/>
                </a:solidFill>
                <a:effectLst/>
                <a:uFillTx/>
                <a:latin typeface="DejaVu Sans"/>
                <a:ea typeface="DejaVu Sans"/>
              </a:rPr>
              <a:t>Decoding improved relative to the fixed classifier</a:t>
            </a:r>
            <a:endParaRPr lang="en-US" sz="2550" b="0" u="none" strike="noStrike">
              <a:solidFill>
                <a:srgbClr val="FFFFFF"/>
              </a:solidFill>
              <a:effectLst/>
              <a:uFillTx/>
              <a:latin typeface="Arial"/>
            </a:endParaRPr>
          </a:p>
        </p:txBody>
      </p:sp>
      <p:sp>
        <p:nvSpPr>
          <p:cNvPr id="154" name="Rectangle 2"/>
          <p:cNvSpPr/>
          <p:nvPr/>
        </p:nvSpPr>
        <p:spPr>
          <a:xfrm>
            <a:off x="609480" y="6010200"/>
            <a:ext cx="10858320" cy="4186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130" b="0" u="none" strike="noStrike">
                <a:solidFill>
                  <a:srgbClr val="9CB0C3"/>
                </a:solidFill>
                <a:effectLst/>
                <a:uFillTx/>
                <a:latin typeface="DejaVu Sans"/>
                <a:ea typeface="DejaVu Sans"/>
              </a:rPr>
              <a:t>Source: §III, p. 1076, Tables II–IV and Fig. 6 · §IV, p. 1078</a:t>
            </a:r>
            <a:endParaRPr lang="en-US" sz="1130" b="0" u="none" strike="noStrike">
              <a:solidFill>
                <a:srgbClr val="FFFFFF"/>
              </a:solidFill>
              <a:effectLst/>
              <a:uFillTx/>
              <a:latin typeface="Arial"/>
            </a:endParaRPr>
          </a:p>
        </p:txBody>
      </p:sp>
      <p:sp>
        <p:nvSpPr>
          <p:cNvPr id="155" name="Rectangle 3"/>
          <p:cNvSpPr/>
          <p:nvPr/>
        </p:nvSpPr>
        <p:spPr>
          <a:xfrm>
            <a:off x="609480" y="6515280"/>
            <a:ext cx="5714640" cy="1710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100" b="0" u="none" strike="noStrike">
                <a:solidFill>
                  <a:srgbClr val="9CB0C3"/>
                </a:solidFill>
                <a:effectLst/>
                <a:uFillTx/>
                <a:latin typeface="DejaVu Sans"/>
                <a:ea typeface="DejaVu Sans"/>
              </a:rPr>
              <a:t>hlin863/ewma_covariate_shift_demo</a:t>
            </a:r>
            <a:endParaRPr lang="en-US" sz="1100" b="0" u="none" strike="noStrike">
              <a:solidFill>
                <a:srgbClr val="FFFFFF"/>
              </a:solidFill>
              <a:effectLst/>
              <a:uFillTx/>
              <a:latin typeface="Arial"/>
            </a:endParaRPr>
          </a:p>
        </p:txBody>
      </p:sp>
      <p:sp>
        <p:nvSpPr>
          <p:cNvPr id="156" name="Rectangle 4"/>
          <p:cNvSpPr/>
          <p:nvPr/>
        </p:nvSpPr>
        <p:spPr>
          <a:xfrm>
            <a:off x="11049120" y="6515280"/>
            <a:ext cx="533160" cy="1710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800" b="0" u="none" strike="noStrike">
                <a:solidFill>
                  <a:srgbClr val="EAF2F8"/>
                </a:solidFill>
                <a:effectLst/>
                <a:uFillTx/>
                <a:latin typeface="Aptos"/>
                <a:ea typeface="Aptos"/>
              </a:rPr>
              <a:t>9</a:t>
            </a:r>
            <a:endParaRPr lang="en-US" sz="1800" b="0" u="none" strike="noStrike">
              <a:solidFill>
                <a:srgbClr val="FFFFFF"/>
              </a:solidFill>
              <a:effectLst/>
              <a:uFillTx/>
              <a:latin typeface="Arial"/>
            </a:endParaRPr>
          </a:p>
        </p:txBody>
      </p:sp>
      <p:graphicFrame>
        <p:nvGraphicFramePr>
          <p:cNvPr id="157" name="Table 13"/>
          <p:cNvGraphicFramePr/>
          <p:nvPr/>
        </p:nvGraphicFramePr>
        <p:xfrm>
          <a:off x="609480" y="1809720"/>
          <a:ext cx="10972440" cy="2190240"/>
        </p:xfrm>
        <a:graphic>
          <a:graphicData uri="http://schemas.openxmlformats.org/drawingml/2006/table">
            <a:tbl>
              <a:tblPr/>
              <a:tblGrid>
                <a:gridCol w="2857320"/>
                <a:gridCol w="2952720"/>
                <a:gridCol w="2952720"/>
                <a:gridCol w="2209680"/>
              </a:tblGrid>
              <a:tr h="730080">
                <a:tc>
                  <a:txBody>
                    <a:bodyPr anchor="t">
                      <a:noAutofit/>
                    </a:bodyPr>
                    <a:p>
                      <a:pPr>
                        <a:lnSpc>
                          <a:spcPct val="100000"/>
                        </a:lnSpc>
                      </a:pPr>
                      <a:r>
                        <a:rPr lang="en-US" sz="1729" b="1" u="none" strike="noStrike">
                          <a:solidFill>
                            <a:srgbClr val="2DD4BF"/>
                          </a:solidFill>
                          <a:effectLst/>
                          <a:uFillTx/>
                          <a:latin typeface="DejaVu Sans"/>
                          <a:ea typeface="DejaVu Sans"/>
                        </a:rPr>
                        <a:t>Group</a:t>
                      </a:r>
                      <a:endParaRPr lang="en-US" sz="1729"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436"/>
                    </a:solidFill>
                  </a:tcPr>
                </a:tc>
                <a:tc>
                  <a:txBody>
                    <a:bodyPr anchor="t">
                      <a:noAutofit/>
                    </a:bodyPr>
                    <a:p>
                      <a:pPr>
                        <a:lnSpc>
                          <a:spcPct val="100000"/>
                        </a:lnSpc>
                      </a:pPr>
                      <a:r>
                        <a:rPr lang="en-US" sz="1729" b="1" u="none" strike="noStrike">
                          <a:solidFill>
                            <a:srgbClr val="2DD4BF"/>
                          </a:solidFill>
                          <a:effectLst/>
                          <a:uFillTx/>
                          <a:latin typeface="DejaVu Sans"/>
                          <a:ea typeface="DejaVu Sans"/>
                        </a:rPr>
                        <a:t>EEG-NAC</a:t>
                      </a:r>
                      <a:endParaRPr lang="en-US" sz="1729"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436"/>
                    </a:solidFill>
                  </a:tcPr>
                </a:tc>
                <a:tc>
                  <a:txBody>
                    <a:bodyPr anchor="t">
                      <a:noAutofit/>
                    </a:bodyPr>
                    <a:p>
                      <a:pPr>
                        <a:lnSpc>
                          <a:spcPct val="100000"/>
                        </a:lnSpc>
                      </a:pPr>
                      <a:r>
                        <a:rPr lang="en-US" sz="1729" b="1" u="none" strike="noStrike">
                          <a:solidFill>
                            <a:srgbClr val="2DD4BF"/>
                          </a:solidFill>
                          <a:effectLst/>
                          <a:uFillTx/>
                          <a:latin typeface="DejaVu Sans"/>
                          <a:ea typeface="DejaVu Sans"/>
                        </a:rPr>
                        <a:t>EEG-CSAC</a:t>
                      </a:r>
                      <a:endParaRPr lang="en-US" sz="1729"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436"/>
                    </a:solidFill>
                  </a:tcPr>
                </a:tc>
                <a:tc>
                  <a:txBody>
                    <a:bodyPr anchor="t">
                      <a:noAutofit/>
                    </a:bodyPr>
                    <a:p>
                      <a:pPr>
                        <a:lnSpc>
                          <a:spcPct val="100000"/>
                        </a:lnSpc>
                      </a:pPr>
                      <a:r>
                        <a:rPr lang="en-US" sz="1729" b="1" u="none" strike="noStrike">
                          <a:solidFill>
                            <a:srgbClr val="2DD4BF"/>
                          </a:solidFill>
                          <a:effectLst/>
                          <a:uFillTx/>
                          <a:latin typeface="DejaVu Sans"/>
                          <a:ea typeface="DejaVu Sans"/>
                        </a:rPr>
                        <a:t>Gain</a:t>
                      </a:r>
                      <a:endParaRPr lang="en-US" sz="1729"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436"/>
                    </a:solidFill>
                  </a:tcPr>
                </a:tc>
              </a:tr>
              <a:tr h="730080">
                <a:tc>
                  <a:txBody>
                    <a:bodyPr anchor="t">
                      <a:noAutofit/>
                    </a:bodyPr>
                    <a:p>
                      <a:pPr>
                        <a:lnSpc>
                          <a:spcPct val="100000"/>
                        </a:lnSpc>
                      </a:pPr>
                      <a:r>
                        <a:rPr lang="en-US" sz="1729" b="0" u="none" strike="noStrike">
                          <a:solidFill>
                            <a:srgbClr val="EAF2F8"/>
                          </a:solidFill>
                          <a:effectLst/>
                          <a:uFillTx/>
                          <a:latin typeface="DejaVu Sans"/>
                          <a:ea typeface="DejaVu Sans"/>
                        </a:rPr>
                        <a:t>Healthy (n = 10)</a:t>
                      </a:r>
                      <a:endParaRPr lang="en-US" sz="1729"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9121F"/>
                    </a:solidFill>
                  </a:tcPr>
                </a:tc>
                <a:tc>
                  <a:txBody>
                    <a:bodyPr anchor="t">
                      <a:noAutofit/>
                    </a:bodyPr>
                    <a:p>
                      <a:pPr>
                        <a:lnSpc>
                          <a:spcPct val="100000"/>
                        </a:lnSpc>
                      </a:pPr>
                      <a:r>
                        <a:rPr lang="en-US" sz="1729" b="0" u="none" strike="noStrike">
                          <a:solidFill>
                            <a:srgbClr val="EAF2F8"/>
                          </a:solidFill>
                          <a:effectLst/>
                          <a:uFillTx/>
                          <a:latin typeface="DejaVu Sans"/>
                          <a:ea typeface="DejaVu Sans"/>
                        </a:rPr>
                        <a:t>75.25 ± 5.46%</a:t>
                      </a:r>
                      <a:endParaRPr lang="en-US" sz="1729"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9121F"/>
                    </a:solidFill>
                  </a:tcPr>
                </a:tc>
                <a:tc>
                  <a:txBody>
                    <a:bodyPr anchor="t">
                      <a:noAutofit/>
                    </a:bodyPr>
                    <a:p>
                      <a:pPr>
                        <a:lnSpc>
                          <a:spcPct val="100000"/>
                        </a:lnSpc>
                      </a:pPr>
                      <a:r>
                        <a:rPr lang="en-US" sz="1729" b="0" u="none" strike="noStrike">
                          <a:solidFill>
                            <a:srgbClr val="EAF2F8"/>
                          </a:solidFill>
                          <a:effectLst/>
                          <a:uFillTx/>
                          <a:latin typeface="DejaVu Sans"/>
                          <a:ea typeface="DejaVu Sans"/>
                        </a:rPr>
                        <a:t>81.50 ± 4.89%</a:t>
                      </a:r>
                      <a:endParaRPr lang="en-US" sz="1729"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9121F"/>
                    </a:solidFill>
                  </a:tcPr>
                </a:tc>
                <a:tc>
                  <a:txBody>
                    <a:bodyPr anchor="t">
                      <a:noAutofit/>
                    </a:bodyPr>
                    <a:p>
                      <a:pPr>
                        <a:lnSpc>
                          <a:spcPct val="100000"/>
                        </a:lnSpc>
                      </a:pPr>
                      <a:r>
                        <a:rPr lang="en-US" sz="1729" b="0" u="none" strike="noStrike">
                          <a:solidFill>
                            <a:srgbClr val="EAF2F8"/>
                          </a:solidFill>
                          <a:effectLst/>
                          <a:uFillTx/>
                          <a:latin typeface="DejaVu Sans"/>
                          <a:ea typeface="DejaVu Sans"/>
                        </a:rPr>
                        <a:t>+6.25 pp</a:t>
                      </a:r>
                      <a:endParaRPr lang="en-US" sz="1729"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9121F"/>
                    </a:solidFill>
                  </a:tcPr>
                </a:tc>
              </a:tr>
              <a:tr h="730080">
                <a:tc>
                  <a:txBody>
                    <a:bodyPr anchor="t">
                      <a:noAutofit/>
                    </a:bodyPr>
                    <a:p>
                      <a:pPr>
                        <a:lnSpc>
                          <a:spcPct val="100000"/>
                        </a:lnSpc>
                      </a:pPr>
                      <a:r>
                        <a:rPr lang="en-US" sz="1729" b="0" u="none" strike="noStrike">
                          <a:solidFill>
                            <a:srgbClr val="EAF2F8"/>
                          </a:solidFill>
                          <a:effectLst/>
                          <a:uFillTx/>
                          <a:latin typeface="DejaVu Sans"/>
                          <a:ea typeface="DejaVu Sans"/>
                        </a:rPr>
                        <a:t>Stroke (n = 10)</a:t>
                      </a:r>
                      <a:endParaRPr lang="en-US" sz="1729"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9121F"/>
                    </a:solidFill>
                  </a:tcPr>
                </a:tc>
                <a:tc>
                  <a:txBody>
                    <a:bodyPr anchor="t">
                      <a:noAutofit/>
                    </a:bodyPr>
                    <a:p>
                      <a:pPr>
                        <a:lnSpc>
                          <a:spcPct val="100000"/>
                        </a:lnSpc>
                      </a:pPr>
                      <a:r>
                        <a:rPr lang="en-US" sz="1729" b="0" u="none" strike="noStrike">
                          <a:solidFill>
                            <a:srgbClr val="EAF2F8"/>
                          </a:solidFill>
                          <a:effectLst/>
                          <a:uFillTx/>
                          <a:latin typeface="DejaVu Sans"/>
                          <a:ea typeface="DejaVu Sans"/>
                        </a:rPr>
                        <a:t>70.25 ± 3.43%</a:t>
                      </a:r>
                      <a:endParaRPr lang="en-US" sz="1729"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9121F"/>
                    </a:solidFill>
                  </a:tcPr>
                </a:tc>
                <a:tc>
                  <a:txBody>
                    <a:bodyPr anchor="t">
                      <a:noAutofit/>
                    </a:bodyPr>
                    <a:p>
                      <a:pPr>
                        <a:lnSpc>
                          <a:spcPct val="100000"/>
                        </a:lnSpc>
                      </a:pPr>
                      <a:r>
                        <a:rPr lang="en-US" sz="1729" b="0" u="none" strike="noStrike">
                          <a:solidFill>
                            <a:srgbClr val="EAF2F8"/>
                          </a:solidFill>
                          <a:effectLst/>
                          <a:uFillTx/>
                          <a:latin typeface="DejaVu Sans"/>
                          <a:ea typeface="DejaVu Sans"/>
                        </a:rPr>
                        <a:t>75.75 ± 3.92%</a:t>
                      </a:r>
                      <a:endParaRPr lang="en-US" sz="1729"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9121F"/>
                    </a:solidFill>
                  </a:tcPr>
                </a:tc>
                <a:tc>
                  <a:txBody>
                    <a:bodyPr anchor="t">
                      <a:noAutofit/>
                    </a:bodyPr>
                    <a:p>
                      <a:pPr>
                        <a:lnSpc>
                          <a:spcPct val="100000"/>
                        </a:lnSpc>
                      </a:pPr>
                      <a:r>
                        <a:rPr lang="en-US" sz="1729" b="0" u="none" strike="noStrike">
                          <a:solidFill>
                            <a:srgbClr val="EAF2F8"/>
                          </a:solidFill>
                          <a:effectLst/>
                          <a:uFillTx/>
                          <a:latin typeface="DejaVu Sans"/>
                          <a:ea typeface="DejaVu Sans"/>
                        </a:rPr>
                        <a:t>+5.50 pp</a:t>
                      </a:r>
                      <a:endParaRPr lang="en-US" sz="1729"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9121F"/>
                    </a:solidFill>
                  </a:tcPr>
                </a:tc>
              </a:tr>
            </a:tbl>
          </a:graphicData>
        </a:graphic>
      </p:graphicFrame>
      <p:sp>
        <p:nvSpPr>
          <p:cNvPr id="158" name="Rectangle 6"/>
          <p:cNvSpPr/>
          <p:nvPr/>
        </p:nvSpPr>
        <p:spPr>
          <a:xfrm>
            <a:off x="609480" y="4286160"/>
            <a:ext cx="10477080" cy="4284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2170" b="1" u="none" strike="noStrike">
                <a:solidFill>
                  <a:srgbClr val="2DD4BF"/>
                </a:solidFill>
                <a:effectLst/>
                <a:uFillTx/>
                <a:latin typeface="DejaVu Sans"/>
                <a:ea typeface="DejaVu Sans"/>
              </a:rPr>
              <a:t>Both accuracy comparisons: p &lt; 0.01</a:t>
            </a:r>
            <a:endParaRPr lang="en-US" sz="2170" b="0" u="none" strike="noStrike">
              <a:solidFill>
                <a:srgbClr val="FFFFFF"/>
              </a:solidFill>
              <a:effectLst/>
              <a:uFillTx/>
              <a:latin typeface="Arial"/>
            </a:endParaRPr>
          </a:p>
        </p:txBody>
      </p:sp>
      <p:sp>
        <p:nvSpPr>
          <p:cNvPr id="159" name="Rectangle 7"/>
          <p:cNvSpPr/>
          <p:nvPr/>
        </p:nvSpPr>
        <p:spPr>
          <a:xfrm>
            <a:off x="609480" y="4905360"/>
            <a:ext cx="10762920" cy="7236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870" b="0" u="none" strike="noStrike">
                <a:solidFill>
                  <a:srgbClr val="EAF2F8"/>
                </a:solidFill>
                <a:effectLst/>
                <a:uFillTx/>
                <a:latin typeface="DejaVu Sans"/>
                <a:ea typeface="DejaVu Sans"/>
              </a:rPr>
              <a:t>Kappa also improved significantly. Every participant could trigger the exoskeleton.</a:t>
            </a:r>
            <a:endParaRPr lang="en-US" sz="187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9121F"/>
        </a:solidFill>
      </p:bgPr>
    </p:bg>
    <p:spTree>
      <p:nvGrpSpPr>
        <p:cNvPr id="1" name=""/>
        <p:cNvGrpSpPr/>
        <p:nvPr/>
      </p:nvGrpSpPr>
      <p:grpSpPr>
        <a:xfrm>
          <a:off x="0" y="0"/>
          <a:ext cx="0" cy="0"/>
          <a:chOff x="0" y="0"/>
          <a:chExt cx="0" cy="0"/>
        </a:xfrm>
      </p:grpSpPr>
      <p:sp>
        <p:nvSpPr>
          <p:cNvPr id="160" name="Rectangle 9"/>
          <p:cNvSpPr/>
          <p:nvPr/>
        </p:nvSpPr>
        <p:spPr>
          <a:xfrm>
            <a:off x="609480" y="399960"/>
            <a:ext cx="10477080" cy="2282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300" b="1" u="none" strike="noStrike">
                <a:solidFill>
                  <a:srgbClr val="2DD4BF"/>
                </a:solidFill>
                <a:effectLst/>
                <a:uFillTx/>
                <a:latin typeface="DejaVu Sans"/>
                <a:ea typeface="DejaVu Sans"/>
              </a:rPr>
              <a:t>DETECTOR EVIDENCE</a:t>
            </a:r>
            <a:endParaRPr lang="en-US" sz="1300" b="0" u="none" strike="noStrike">
              <a:solidFill>
                <a:srgbClr val="FFFFFF"/>
              </a:solidFill>
              <a:effectLst/>
              <a:uFillTx/>
              <a:latin typeface="Arial"/>
            </a:endParaRPr>
          </a:p>
        </p:txBody>
      </p:sp>
      <p:sp>
        <p:nvSpPr>
          <p:cNvPr id="161" name="Rectangle 1"/>
          <p:cNvSpPr/>
          <p:nvPr/>
        </p:nvSpPr>
        <p:spPr>
          <a:xfrm>
            <a:off x="609480" y="685800"/>
            <a:ext cx="10953360" cy="6091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2550" b="1" u="none" strike="noStrike">
                <a:solidFill>
                  <a:srgbClr val="EAF2F8"/>
                </a:solidFill>
                <a:effectLst/>
                <a:uFillTx/>
                <a:latin typeface="DejaVu Sans"/>
                <a:ea typeface="DejaVu Sans"/>
              </a:rPr>
              <a:t>Stage-II validation reduced retraining triggers</a:t>
            </a:r>
            <a:endParaRPr lang="en-US" sz="2550" b="0" u="none" strike="noStrike">
              <a:solidFill>
                <a:srgbClr val="FFFFFF"/>
              </a:solidFill>
              <a:effectLst/>
              <a:uFillTx/>
              <a:latin typeface="Arial"/>
            </a:endParaRPr>
          </a:p>
        </p:txBody>
      </p:sp>
      <p:sp>
        <p:nvSpPr>
          <p:cNvPr id="162" name="Rectangle 2"/>
          <p:cNvSpPr/>
          <p:nvPr/>
        </p:nvSpPr>
        <p:spPr>
          <a:xfrm>
            <a:off x="609480" y="6010200"/>
            <a:ext cx="10858320" cy="4186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130" b="0" u="none" strike="noStrike">
                <a:solidFill>
                  <a:srgbClr val="9CB0C3"/>
                </a:solidFill>
                <a:effectLst/>
                <a:uFillTx/>
                <a:latin typeface="DejaVu Sans"/>
                <a:ea typeface="DejaVu Sans"/>
              </a:rPr>
              <a:t>Source: §II.E.4, p. 1075, Eqs. (10)–(11) · §III, p. 1077, Tables VI–VIII and Fig. 7</a:t>
            </a:r>
            <a:endParaRPr lang="en-US" sz="1130" b="0" u="none" strike="noStrike">
              <a:solidFill>
                <a:srgbClr val="FFFFFF"/>
              </a:solidFill>
              <a:effectLst/>
              <a:uFillTx/>
              <a:latin typeface="Arial"/>
            </a:endParaRPr>
          </a:p>
        </p:txBody>
      </p:sp>
      <p:sp>
        <p:nvSpPr>
          <p:cNvPr id="163" name="Rectangle 3"/>
          <p:cNvSpPr/>
          <p:nvPr/>
        </p:nvSpPr>
        <p:spPr>
          <a:xfrm>
            <a:off x="609480" y="6515280"/>
            <a:ext cx="5714640" cy="1710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100" b="0" u="none" strike="noStrike">
                <a:solidFill>
                  <a:srgbClr val="9CB0C3"/>
                </a:solidFill>
                <a:effectLst/>
                <a:uFillTx/>
                <a:latin typeface="DejaVu Sans"/>
                <a:ea typeface="DejaVu Sans"/>
              </a:rPr>
              <a:t>hlin863/ewma_covariate_shift_demo</a:t>
            </a:r>
            <a:endParaRPr lang="en-US" sz="1100" b="0" u="none" strike="noStrike">
              <a:solidFill>
                <a:srgbClr val="FFFFFF"/>
              </a:solidFill>
              <a:effectLst/>
              <a:uFillTx/>
              <a:latin typeface="Arial"/>
            </a:endParaRPr>
          </a:p>
        </p:txBody>
      </p:sp>
      <p:sp>
        <p:nvSpPr>
          <p:cNvPr id="164" name="Rectangle 4"/>
          <p:cNvSpPr/>
          <p:nvPr/>
        </p:nvSpPr>
        <p:spPr>
          <a:xfrm>
            <a:off x="11049120" y="6515280"/>
            <a:ext cx="533160" cy="1710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800" b="0" u="none" strike="noStrike">
                <a:solidFill>
                  <a:srgbClr val="EAF2F8"/>
                </a:solidFill>
                <a:effectLst/>
                <a:uFillTx/>
                <a:latin typeface="Aptos"/>
                <a:ea typeface="Aptos"/>
              </a:rPr>
              <a:t>10</a:t>
            </a:r>
            <a:endParaRPr lang="en-US" sz="1800" b="0" u="none" strike="noStrike">
              <a:solidFill>
                <a:srgbClr val="FFFFFF"/>
              </a:solidFill>
              <a:effectLst/>
              <a:uFillTx/>
              <a:latin typeface="Arial"/>
            </a:endParaRPr>
          </a:p>
        </p:txBody>
      </p:sp>
      <p:graphicFrame>
        <p:nvGraphicFramePr>
          <p:cNvPr id="165" name="Table 14"/>
          <p:cNvGraphicFramePr/>
          <p:nvPr/>
        </p:nvGraphicFramePr>
        <p:xfrm>
          <a:off x="609480" y="1809720"/>
          <a:ext cx="10972440" cy="2190240"/>
        </p:xfrm>
        <a:graphic>
          <a:graphicData uri="http://schemas.openxmlformats.org/drawingml/2006/table">
            <a:tbl>
              <a:tblPr/>
              <a:tblGrid>
                <a:gridCol w="3429000"/>
                <a:gridCol w="3771720"/>
                <a:gridCol w="3771720"/>
              </a:tblGrid>
              <a:tr h="730080">
                <a:tc>
                  <a:txBody>
                    <a:bodyPr anchor="t">
                      <a:noAutofit/>
                    </a:bodyPr>
                    <a:p>
                      <a:pPr>
                        <a:lnSpc>
                          <a:spcPct val="100000"/>
                        </a:lnSpc>
                      </a:pPr>
                      <a:r>
                        <a:rPr lang="en-US" sz="1729" b="1" u="none" strike="noStrike">
                          <a:solidFill>
                            <a:srgbClr val="2DD4BF"/>
                          </a:solidFill>
                          <a:effectLst/>
                          <a:uFillTx/>
                          <a:latin typeface="DejaVu Sans"/>
                          <a:ea typeface="DejaVu Sans"/>
                        </a:rPr>
                        <a:t>Group</a:t>
                      </a:r>
                      <a:endParaRPr lang="en-US" sz="1729"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436"/>
                    </a:solidFill>
                  </a:tcPr>
                </a:tc>
                <a:tc>
                  <a:txBody>
                    <a:bodyPr anchor="t">
                      <a:noAutofit/>
                    </a:bodyPr>
                    <a:p>
                      <a:pPr>
                        <a:lnSpc>
                          <a:spcPct val="100000"/>
                        </a:lnSpc>
                      </a:pPr>
                      <a:r>
                        <a:rPr lang="en-US" sz="1729" b="1" u="none" strike="noStrike">
                          <a:solidFill>
                            <a:srgbClr val="2DD4BF"/>
                          </a:solidFill>
                          <a:effectLst/>
                          <a:uFillTx/>
                          <a:latin typeface="DejaVu Sans"/>
                          <a:ea typeface="DejaVu Sans"/>
                        </a:rPr>
                        <a:t>Stage-I CSW</a:t>
                      </a:r>
                      <a:endParaRPr lang="en-US" sz="1729"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436"/>
                    </a:solidFill>
                  </a:tcPr>
                </a:tc>
                <a:tc>
                  <a:txBody>
                    <a:bodyPr anchor="t">
                      <a:noAutofit/>
                    </a:bodyPr>
                    <a:p>
                      <a:pPr>
                        <a:lnSpc>
                          <a:spcPct val="100000"/>
                        </a:lnSpc>
                      </a:pPr>
                      <a:r>
                        <a:rPr lang="en-US" sz="1729" b="1" u="none" strike="noStrike">
                          <a:solidFill>
                            <a:srgbClr val="2DD4BF"/>
                          </a:solidFill>
                          <a:effectLst/>
                          <a:uFillTx/>
                          <a:latin typeface="DejaVu Sans"/>
                          <a:ea typeface="DejaVu Sans"/>
                        </a:rPr>
                        <a:t>Stage-II CSV</a:t>
                      </a:r>
                      <a:endParaRPr lang="en-US" sz="1729"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436"/>
                    </a:solidFill>
                  </a:tcPr>
                </a:tc>
              </a:tr>
              <a:tr h="730080">
                <a:tc>
                  <a:txBody>
                    <a:bodyPr anchor="t">
                      <a:noAutofit/>
                    </a:bodyPr>
                    <a:p>
                      <a:pPr>
                        <a:lnSpc>
                          <a:spcPct val="100000"/>
                        </a:lnSpc>
                      </a:pPr>
                      <a:r>
                        <a:rPr lang="en-US" sz="1729" b="0" u="none" strike="noStrike">
                          <a:solidFill>
                            <a:srgbClr val="EAF2F8"/>
                          </a:solidFill>
                          <a:effectLst/>
                          <a:uFillTx/>
                          <a:latin typeface="DejaVu Sans"/>
                          <a:ea typeface="DejaVu Sans"/>
                        </a:rPr>
                        <a:t>Healthy</a:t>
                      </a:r>
                      <a:endParaRPr lang="en-US" sz="1729"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9121F"/>
                    </a:solidFill>
                  </a:tcPr>
                </a:tc>
                <a:tc>
                  <a:txBody>
                    <a:bodyPr anchor="t">
                      <a:noAutofit/>
                    </a:bodyPr>
                    <a:p>
                      <a:pPr>
                        <a:lnSpc>
                          <a:spcPct val="100000"/>
                        </a:lnSpc>
                      </a:pPr>
                      <a:r>
                        <a:rPr lang="en-US" sz="1729" b="0" u="none" strike="noStrike">
                          <a:solidFill>
                            <a:srgbClr val="EAF2F8"/>
                          </a:solidFill>
                          <a:effectLst/>
                          <a:uFillTx/>
                          <a:latin typeface="DejaVu Sans"/>
                          <a:ea typeface="DejaVu Sans"/>
                        </a:rPr>
                        <a:t>15.75 ± 5.65%</a:t>
                      </a:r>
                      <a:endParaRPr lang="en-US" sz="1729"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9121F"/>
                    </a:solidFill>
                  </a:tcPr>
                </a:tc>
                <a:tc>
                  <a:txBody>
                    <a:bodyPr anchor="t">
                      <a:noAutofit/>
                    </a:bodyPr>
                    <a:p>
                      <a:pPr>
                        <a:lnSpc>
                          <a:spcPct val="100000"/>
                        </a:lnSpc>
                      </a:pPr>
                      <a:r>
                        <a:rPr lang="en-US" sz="1729" b="0" u="none" strike="noStrike">
                          <a:solidFill>
                            <a:srgbClr val="EAF2F8"/>
                          </a:solidFill>
                          <a:effectLst/>
                          <a:uFillTx/>
                          <a:latin typeface="DejaVu Sans"/>
                          <a:ea typeface="DejaVu Sans"/>
                        </a:rPr>
                        <a:t>9.25 ± 3.54%</a:t>
                      </a:r>
                      <a:endParaRPr lang="en-US" sz="1729"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9121F"/>
                    </a:solidFill>
                  </a:tcPr>
                </a:tc>
              </a:tr>
              <a:tr h="730080">
                <a:tc>
                  <a:txBody>
                    <a:bodyPr anchor="t">
                      <a:noAutofit/>
                    </a:bodyPr>
                    <a:p>
                      <a:pPr>
                        <a:lnSpc>
                          <a:spcPct val="100000"/>
                        </a:lnSpc>
                      </a:pPr>
                      <a:r>
                        <a:rPr lang="en-US" sz="1729" b="0" u="none" strike="noStrike">
                          <a:solidFill>
                            <a:srgbClr val="EAF2F8"/>
                          </a:solidFill>
                          <a:effectLst/>
                          <a:uFillTx/>
                          <a:latin typeface="DejaVu Sans"/>
                          <a:ea typeface="DejaVu Sans"/>
                        </a:rPr>
                        <a:t>Stroke</a:t>
                      </a:r>
                      <a:endParaRPr lang="en-US" sz="1729"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9121F"/>
                    </a:solidFill>
                  </a:tcPr>
                </a:tc>
                <a:tc>
                  <a:txBody>
                    <a:bodyPr anchor="t">
                      <a:noAutofit/>
                    </a:bodyPr>
                    <a:p>
                      <a:pPr>
                        <a:lnSpc>
                          <a:spcPct val="100000"/>
                        </a:lnSpc>
                      </a:pPr>
                      <a:r>
                        <a:rPr lang="en-US" sz="1729" b="0" u="none" strike="noStrike">
                          <a:solidFill>
                            <a:srgbClr val="EAF2F8"/>
                          </a:solidFill>
                          <a:effectLst/>
                          <a:uFillTx/>
                          <a:latin typeface="DejaVu Sans"/>
                          <a:ea typeface="DejaVu Sans"/>
                        </a:rPr>
                        <a:t>16.75 ± 2.89%</a:t>
                      </a:r>
                      <a:endParaRPr lang="en-US" sz="1729"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9121F"/>
                    </a:solidFill>
                  </a:tcPr>
                </a:tc>
                <a:tc>
                  <a:txBody>
                    <a:bodyPr anchor="t">
                      <a:noAutofit/>
                    </a:bodyPr>
                    <a:p>
                      <a:pPr>
                        <a:lnSpc>
                          <a:spcPct val="100000"/>
                        </a:lnSpc>
                      </a:pPr>
                      <a:r>
                        <a:rPr lang="en-US" sz="1729" b="0" u="none" strike="noStrike">
                          <a:solidFill>
                            <a:srgbClr val="EAF2F8"/>
                          </a:solidFill>
                          <a:effectLst/>
                          <a:uFillTx/>
                          <a:latin typeface="DejaVu Sans"/>
                          <a:ea typeface="DejaVu Sans"/>
                        </a:rPr>
                        <a:t>9.00 ± 2.10%</a:t>
                      </a:r>
                      <a:endParaRPr lang="en-US" sz="1729"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9121F"/>
                    </a:solidFill>
                  </a:tcPr>
                </a:tc>
              </a:tr>
            </a:tbl>
          </a:graphicData>
        </a:graphic>
      </p:graphicFrame>
      <p:sp>
        <p:nvSpPr>
          <p:cNvPr id="166" name="Rectangle 6"/>
          <p:cNvSpPr/>
          <p:nvPr/>
        </p:nvSpPr>
        <p:spPr>
          <a:xfrm>
            <a:off x="609480" y="4210200"/>
            <a:ext cx="10667520" cy="4093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950" b="1" u="none" strike="noStrike">
                <a:solidFill>
                  <a:srgbClr val="2DD4BF"/>
                </a:solidFill>
                <a:effectLst/>
                <a:uFillTx/>
                <a:latin typeface="DejaVu Sans"/>
                <a:ea typeface="DejaVu Sans"/>
              </a:rPr>
              <a:t>Rates are percentages of trials. Both reductions: p &lt; 0.01.</a:t>
            </a:r>
            <a:endParaRPr lang="en-US" sz="1950" b="0" u="none" strike="noStrike">
              <a:solidFill>
                <a:srgbClr val="FFFFFF"/>
              </a:solidFill>
              <a:effectLst/>
              <a:uFillTx/>
              <a:latin typeface="Arial"/>
            </a:endParaRPr>
          </a:p>
        </p:txBody>
      </p:sp>
      <p:sp>
        <p:nvSpPr>
          <p:cNvPr id="167" name="Rectangle 7"/>
          <p:cNvSpPr/>
          <p:nvPr/>
        </p:nvSpPr>
        <p:spPr>
          <a:xfrm>
            <a:off x="609480" y="4753080"/>
            <a:ext cx="10858320" cy="4568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870" b="0" u="none" strike="noStrike">
                <a:solidFill>
                  <a:srgbClr val="EAF2F8"/>
                </a:solidFill>
                <a:effectLst/>
                <a:uFillTx/>
                <a:latin typeface="DejaVu Sans"/>
                <a:ea typeface="DejaVu Sans"/>
              </a:rPr>
              <a:t>Validated-shift rate and accuracy gain correlate: r = 0.853, p &lt; 0.01.</a:t>
            </a:r>
            <a:endParaRPr lang="en-US" sz="1870" b="0" u="none" strike="noStrike">
              <a:solidFill>
                <a:srgbClr val="FFFFFF"/>
              </a:solidFill>
              <a:effectLst/>
              <a:uFillTx/>
              <a:latin typeface="Arial"/>
            </a:endParaRPr>
          </a:p>
        </p:txBody>
      </p:sp>
      <p:sp>
        <p:nvSpPr>
          <p:cNvPr id="168" name="Rectangle 8"/>
          <p:cNvSpPr/>
          <p:nvPr/>
        </p:nvSpPr>
        <p:spPr>
          <a:xfrm>
            <a:off x="609480" y="5315040"/>
            <a:ext cx="10858320" cy="53316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800" b="0" u="none" strike="noStrike">
                <a:solidFill>
                  <a:srgbClr val="F5B942"/>
                </a:solidFill>
                <a:effectLst/>
                <a:uFillTx/>
                <a:latin typeface="DejaVu Sans"/>
                <a:ea typeface="DejaVu Sans"/>
              </a:rPr>
              <a:t>Interpretation: fewer retraining triggers do not independently quantify false alarms.</a:t>
            </a:r>
            <a:endParaRPr lang="en-US" sz="1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9121F"/>
        </a:solidFill>
      </p:bgPr>
    </p:bg>
    <p:spTree>
      <p:nvGrpSpPr>
        <p:cNvPr id="1" name=""/>
        <p:cNvGrpSpPr/>
        <p:nvPr/>
      </p:nvGrpSpPr>
      <p:grpSpPr>
        <a:xfrm>
          <a:off x="0" y="0"/>
          <a:ext cx="0" cy="0"/>
          <a:chOff x="0" y="0"/>
          <a:chExt cx="0" cy="0"/>
        </a:xfrm>
      </p:grpSpPr>
      <p:sp>
        <p:nvSpPr>
          <p:cNvPr id="169" name="Rectangle 11"/>
          <p:cNvSpPr/>
          <p:nvPr/>
        </p:nvSpPr>
        <p:spPr>
          <a:xfrm>
            <a:off x="609480" y="399960"/>
            <a:ext cx="10477080" cy="2282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300" b="1" u="none" strike="noStrike">
                <a:solidFill>
                  <a:srgbClr val="2DD4BF"/>
                </a:solidFill>
                <a:effectLst/>
                <a:uFillTx/>
                <a:latin typeface="DejaVu Sans"/>
                <a:ea typeface="DejaVu Sans"/>
              </a:rPr>
              <a:t>AUTHOR-STATED LIMITATIONS</a:t>
            </a:r>
            <a:endParaRPr lang="en-US" sz="1300" b="0" u="none" strike="noStrike">
              <a:solidFill>
                <a:srgbClr val="FFFFFF"/>
              </a:solidFill>
              <a:effectLst/>
              <a:uFillTx/>
              <a:latin typeface="Arial"/>
            </a:endParaRPr>
          </a:p>
        </p:txBody>
      </p:sp>
      <p:sp>
        <p:nvSpPr>
          <p:cNvPr id="170" name="Rectangle 1"/>
          <p:cNvSpPr/>
          <p:nvPr/>
        </p:nvSpPr>
        <p:spPr>
          <a:xfrm>
            <a:off x="609480" y="685800"/>
            <a:ext cx="10953360" cy="6091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2550" b="1" u="none" strike="noStrike">
                <a:solidFill>
                  <a:srgbClr val="EAF2F8"/>
                </a:solidFill>
                <a:effectLst/>
                <a:uFillTx/>
                <a:latin typeface="DejaVu Sans"/>
                <a:ea typeface="DejaVu Sans"/>
              </a:rPr>
              <a:t>Limitations acknowledged by the authors</a:t>
            </a:r>
            <a:endParaRPr lang="en-US" sz="2550" b="0" u="none" strike="noStrike">
              <a:solidFill>
                <a:srgbClr val="FFFFFF"/>
              </a:solidFill>
              <a:effectLst/>
              <a:uFillTx/>
              <a:latin typeface="Arial"/>
            </a:endParaRPr>
          </a:p>
        </p:txBody>
      </p:sp>
      <p:sp>
        <p:nvSpPr>
          <p:cNvPr id="171" name="Rectangle 2"/>
          <p:cNvSpPr/>
          <p:nvPr/>
        </p:nvSpPr>
        <p:spPr>
          <a:xfrm>
            <a:off x="609480" y="6010200"/>
            <a:ext cx="10858320" cy="4186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130" b="0" u="none" strike="noStrike">
                <a:solidFill>
                  <a:srgbClr val="9CB0C3"/>
                </a:solidFill>
                <a:effectLst/>
                <a:uFillTx/>
                <a:latin typeface="DejaVu Sans"/>
                <a:ea typeface="DejaVu Sans"/>
              </a:rPr>
              <a:t>Source: §IV, p. 1078 (scope, frequency bands, comparator, noise) · pp. 1078–1079 (control and labels)</a:t>
            </a:r>
            <a:endParaRPr lang="en-US" sz="1130" b="0" u="none" strike="noStrike">
              <a:solidFill>
                <a:srgbClr val="FFFFFF"/>
              </a:solidFill>
              <a:effectLst/>
              <a:uFillTx/>
              <a:latin typeface="Arial"/>
            </a:endParaRPr>
          </a:p>
        </p:txBody>
      </p:sp>
      <p:sp>
        <p:nvSpPr>
          <p:cNvPr id="172" name="Rectangle 3"/>
          <p:cNvSpPr/>
          <p:nvPr/>
        </p:nvSpPr>
        <p:spPr>
          <a:xfrm>
            <a:off x="609480" y="6515280"/>
            <a:ext cx="5714640" cy="1710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100" b="0" u="none" strike="noStrike">
                <a:solidFill>
                  <a:srgbClr val="9CB0C3"/>
                </a:solidFill>
                <a:effectLst/>
                <a:uFillTx/>
                <a:latin typeface="DejaVu Sans"/>
                <a:ea typeface="DejaVu Sans"/>
              </a:rPr>
              <a:t>hlin863/ewma_covariate_shift_demo</a:t>
            </a:r>
            <a:endParaRPr lang="en-US" sz="1100" b="0" u="none" strike="noStrike">
              <a:solidFill>
                <a:srgbClr val="FFFFFF"/>
              </a:solidFill>
              <a:effectLst/>
              <a:uFillTx/>
              <a:latin typeface="Arial"/>
            </a:endParaRPr>
          </a:p>
        </p:txBody>
      </p:sp>
      <p:sp>
        <p:nvSpPr>
          <p:cNvPr id="173" name="Rectangle 4"/>
          <p:cNvSpPr/>
          <p:nvPr/>
        </p:nvSpPr>
        <p:spPr>
          <a:xfrm>
            <a:off x="11049120" y="6515280"/>
            <a:ext cx="533160" cy="1710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800" b="0" u="none" strike="noStrike">
                <a:solidFill>
                  <a:srgbClr val="EAF2F8"/>
                </a:solidFill>
                <a:effectLst/>
                <a:uFillTx/>
                <a:latin typeface="Aptos"/>
                <a:ea typeface="Aptos"/>
              </a:rPr>
              <a:t>11</a:t>
            </a:r>
            <a:endParaRPr lang="en-US" sz="1800" b="0" u="none" strike="noStrike">
              <a:solidFill>
                <a:srgbClr val="FFFFFF"/>
              </a:solidFill>
              <a:effectLst/>
              <a:uFillTx/>
              <a:latin typeface="Arial"/>
            </a:endParaRPr>
          </a:p>
        </p:txBody>
      </p:sp>
      <p:sp>
        <p:nvSpPr>
          <p:cNvPr id="174" name="Rectangle 5"/>
          <p:cNvSpPr/>
          <p:nvPr/>
        </p:nvSpPr>
        <p:spPr>
          <a:xfrm>
            <a:off x="609480" y="1657440"/>
            <a:ext cx="5143320" cy="3614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2020" b="1" u="none" strike="noStrike">
                <a:solidFill>
                  <a:srgbClr val="4EA1FF"/>
                </a:solidFill>
                <a:effectLst/>
                <a:uFillTx/>
                <a:latin typeface="DejaVu Sans"/>
                <a:ea typeface="DejaVu Sans"/>
              </a:rPr>
              <a:t>Representation and comparison</a:t>
            </a:r>
            <a:endParaRPr lang="en-US" sz="2020" b="0" u="none" strike="noStrike">
              <a:solidFill>
                <a:srgbClr val="FFFFFF"/>
              </a:solidFill>
              <a:effectLst/>
              <a:uFillTx/>
              <a:latin typeface="Arial"/>
            </a:endParaRPr>
          </a:p>
        </p:txBody>
      </p:sp>
      <p:sp>
        <p:nvSpPr>
          <p:cNvPr id="175" name="Rectangle 6"/>
          <p:cNvSpPr/>
          <p:nvPr/>
        </p:nvSpPr>
        <p:spPr>
          <a:xfrm>
            <a:off x="609480" y="2152800"/>
            <a:ext cx="5143320" cy="20952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800" b="0" u="none" strike="noStrike">
                <a:solidFill>
                  <a:srgbClr val="EAF2F8"/>
                </a:solidFill>
                <a:effectLst/>
                <a:uFillTx/>
                <a:latin typeface="DejaVu Sans"/>
                <a:ea typeface="DejaVu Sans"/>
              </a:rPr>
              <a:t>Binary left/right MI classification</a:t>
            </a:r>
            <a:endParaRPr lang="en-US" sz="1800" b="0" u="none" strike="noStrike">
              <a:solidFill>
                <a:srgbClr val="FFFFFF"/>
              </a:solidFill>
              <a:effectLst/>
              <a:uFillTx/>
              <a:latin typeface="Arial"/>
            </a:endParaRPr>
          </a:p>
          <a:p>
            <a:pPr defTabSz="914400">
              <a:lnSpc>
                <a:spcPct val="100000"/>
              </a:lnSpc>
            </a:pPr>
            <a:r>
              <a:rPr lang="en-US" sz="1800" b="0" u="none" strike="noStrike">
                <a:solidFill>
                  <a:srgbClr val="EAF2F8"/>
                </a:solidFill>
                <a:effectLst/>
                <a:uFillTx/>
                <a:latin typeface="DejaVu Sans"/>
                <a:ea typeface="DejaVu Sans"/>
              </a:rPr>
              <a:t>Fixed μ/β bands for all participants</a:t>
            </a:r>
            <a:endParaRPr lang="en-US" sz="1800" b="0" u="none" strike="noStrike">
              <a:solidFill>
                <a:srgbClr val="FFFFFF"/>
              </a:solidFill>
              <a:effectLst/>
              <a:uFillTx/>
              <a:latin typeface="Arial"/>
            </a:endParaRPr>
          </a:p>
          <a:p>
            <a:pPr defTabSz="914400">
              <a:lnSpc>
                <a:spcPct val="100000"/>
              </a:lnSpc>
            </a:pPr>
            <a:r>
              <a:rPr lang="en-US" sz="1800" b="0" u="none" strike="noStrike">
                <a:solidFill>
                  <a:srgbClr val="EAF2F8"/>
                </a:solidFill>
                <a:effectLst/>
                <a:uFillTx/>
                <a:latin typeface="DejaVu Sans"/>
                <a:ea typeface="DejaVu Sans"/>
              </a:rPr>
              <a:t>No direct test against other adaptive BCIs</a:t>
            </a:r>
            <a:endParaRPr lang="en-US" sz="1800" b="0" u="none" strike="noStrike">
              <a:solidFill>
                <a:srgbClr val="FFFFFF"/>
              </a:solidFill>
              <a:effectLst/>
              <a:uFillTx/>
              <a:latin typeface="Arial"/>
            </a:endParaRPr>
          </a:p>
        </p:txBody>
      </p:sp>
      <p:sp>
        <p:nvSpPr>
          <p:cNvPr id="176" name="Rectangle 7"/>
          <p:cNvSpPr/>
          <p:nvPr/>
        </p:nvSpPr>
        <p:spPr>
          <a:xfrm>
            <a:off x="6572160" y="1657440"/>
            <a:ext cx="4952520" cy="3614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2020" b="1" u="none" strike="noStrike">
                <a:solidFill>
                  <a:srgbClr val="2DD4BF"/>
                </a:solidFill>
                <a:effectLst/>
                <a:uFillTx/>
                <a:latin typeface="DejaVu Sans"/>
                <a:ea typeface="DejaVu Sans"/>
              </a:rPr>
              <a:t>Labels and online control</a:t>
            </a:r>
            <a:endParaRPr lang="en-US" sz="2020" b="0" u="none" strike="noStrike">
              <a:solidFill>
                <a:srgbClr val="FFFFFF"/>
              </a:solidFill>
              <a:effectLst/>
              <a:uFillTx/>
              <a:latin typeface="Arial"/>
            </a:endParaRPr>
          </a:p>
        </p:txBody>
      </p:sp>
      <p:sp>
        <p:nvSpPr>
          <p:cNvPr id="177" name="Rectangle 8"/>
          <p:cNvSpPr/>
          <p:nvPr/>
        </p:nvSpPr>
        <p:spPr>
          <a:xfrm>
            <a:off x="6572160" y="2152800"/>
            <a:ext cx="4952520" cy="20952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800" b="0" u="none" strike="noStrike">
                <a:solidFill>
                  <a:srgbClr val="EAF2F8"/>
                </a:solidFill>
                <a:effectLst/>
                <a:uFillTx/>
                <a:latin typeface="DejaVu Sans"/>
                <a:ea typeface="DejaVu Sans"/>
              </a:rPr>
              <a:t>Supervised adaptation assumes cue compliance</a:t>
            </a:r>
            <a:endParaRPr lang="en-US" sz="1800" b="0" u="none" strike="noStrike">
              <a:solidFill>
                <a:srgbClr val="FFFFFF"/>
              </a:solidFill>
              <a:effectLst/>
              <a:uFillTx/>
              <a:latin typeface="Arial"/>
            </a:endParaRPr>
          </a:p>
          <a:p>
            <a:pPr defTabSz="914400">
              <a:lnSpc>
                <a:spcPct val="100000"/>
              </a:lnSpc>
            </a:pPr>
            <a:r>
              <a:rPr lang="en-US" sz="1800" b="0" u="none" strike="noStrike">
                <a:solidFill>
                  <a:srgbClr val="EAF2F8"/>
                </a:solidFill>
                <a:effectLst/>
                <a:uFillTx/>
                <a:latin typeface="DejaVu Sans"/>
                <a:ea typeface="DejaVu Sans"/>
              </a:rPr>
              <a:t>Synchronous BCI, one feedback event per trial</a:t>
            </a:r>
            <a:endParaRPr lang="en-US" sz="1800" b="0" u="none" strike="noStrike">
              <a:solidFill>
                <a:srgbClr val="FFFFFF"/>
              </a:solidFill>
              <a:effectLst/>
              <a:uFillTx/>
              <a:latin typeface="Arial"/>
            </a:endParaRPr>
          </a:p>
          <a:p>
            <a:pPr defTabSz="914400">
              <a:lnSpc>
                <a:spcPct val="100000"/>
              </a:lnSpc>
            </a:pPr>
            <a:r>
              <a:rPr lang="en-US" sz="1800" b="0" u="none" strike="noStrike">
                <a:solidFill>
                  <a:srgbClr val="EAF2F8"/>
                </a:solidFill>
                <a:effectLst/>
                <a:uFillTx/>
                <a:latin typeface="DejaVu Sans"/>
                <a:ea typeface="DejaVu Sans"/>
              </a:rPr>
              <a:t>Continuous/asynchronous control remains future work</a:t>
            </a:r>
            <a:endParaRPr lang="en-US" sz="1800" b="0" u="none" strike="noStrike">
              <a:solidFill>
                <a:srgbClr val="FFFFFF"/>
              </a:solidFill>
              <a:effectLst/>
              <a:uFillTx/>
              <a:latin typeface="Arial"/>
            </a:endParaRPr>
          </a:p>
        </p:txBody>
      </p:sp>
      <p:sp>
        <p:nvSpPr>
          <p:cNvPr id="178" name="Rectangle 9"/>
          <p:cNvSpPr/>
          <p:nvPr/>
        </p:nvSpPr>
        <p:spPr>
          <a:xfrm>
            <a:off x="609480" y="4238640"/>
            <a:ext cx="10477080" cy="3614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2020" b="1" u="none" strike="noStrike">
                <a:solidFill>
                  <a:srgbClr val="F5B942"/>
                </a:solidFill>
                <a:effectLst/>
                <a:uFillTx/>
                <a:latin typeface="DejaVu Sans"/>
                <a:ea typeface="DejaVu Sans"/>
              </a:rPr>
              <a:t>Artefacts and external noise</a:t>
            </a:r>
            <a:endParaRPr lang="en-US" sz="2020" b="0" u="none" strike="noStrike">
              <a:solidFill>
                <a:srgbClr val="FFFFFF"/>
              </a:solidFill>
              <a:effectLst/>
              <a:uFillTx/>
              <a:latin typeface="Arial"/>
            </a:endParaRPr>
          </a:p>
        </p:txBody>
      </p:sp>
      <p:sp>
        <p:nvSpPr>
          <p:cNvPr id="179" name="Rectangle 10"/>
          <p:cNvSpPr/>
          <p:nvPr/>
        </p:nvSpPr>
        <p:spPr>
          <a:xfrm>
            <a:off x="609480" y="4762440"/>
            <a:ext cx="10477080" cy="8568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950" b="0" u="none" strike="noStrike">
                <a:solidFill>
                  <a:srgbClr val="EAF2F8"/>
                </a:solidFill>
                <a:effectLst/>
                <a:uFillTx/>
                <a:latin typeface="DejaVu Sans"/>
                <a:ea typeface="DejaVu Sans"/>
              </a:rPr>
              <a:t>Online preprocessing adds latency. The authors acknowledge that contaminated EEG can reduce decoding accuracy.</a:t>
            </a:r>
            <a:endParaRPr lang="en-US" sz="1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9121F"/>
        </a:solidFill>
      </p:bgPr>
    </p:bg>
    <p:spTree>
      <p:nvGrpSpPr>
        <p:cNvPr id="1" name=""/>
        <p:cNvGrpSpPr/>
        <p:nvPr/>
      </p:nvGrpSpPr>
      <p:grpSpPr>
        <a:xfrm>
          <a:off x="0" y="0"/>
          <a:ext cx="0" cy="0"/>
          <a:chOff x="0" y="0"/>
          <a:chExt cx="0" cy="0"/>
        </a:xfrm>
      </p:grpSpPr>
      <p:sp>
        <p:nvSpPr>
          <p:cNvPr id="180" name="Rectangle 11"/>
          <p:cNvSpPr/>
          <p:nvPr/>
        </p:nvSpPr>
        <p:spPr>
          <a:xfrm>
            <a:off x="609480" y="399960"/>
            <a:ext cx="10477080" cy="2282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300" b="1" u="none" strike="noStrike">
                <a:solidFill>
                  <a:srgbClr val="2DD4BF"/>
                </a:solidFill>
                <a:effectLst/>
                <a:uFillTx/>
                <a:latin typeface="DejaVu Sans"/>
                <a:ea typeface="DejaVu Sans"/>
              </a:rPr>
              <a:t>DESIGN-DERIVED LIMITATIONS</a:t>
            </a:r>
            <a:endParaRPr lang="en-US" sz="1300" b="0" u="none" strike="noStrike">
              <a:solidFill>
                <a:srgbClr val="FFFFFF"/>
              </a:solidFill>
              <a:effectLst/>
              <a:uFillTx/>
              <a:latin typeface="Arial"/>
            </a:endParaRPr>
          </a:p>
        </p:txBody>
      </p:sp>
      <p:sp>
        <p:nvSpPr>
          <p:cNvPr id="181" name="Rectangle 1"/>
          <p:cNvSpPr/>
          <p:nvPr/>
        </p:nvSpPr>
        <p:spPr>
          <a:xfrm>
            <a:off x="609480" y="685800"/>
            <a:ext cx="10953360" cy="6091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2550" b="1" u="none" strike="noStrike">
                <a:solidFill>
                  <a:srgbClr val="EAF2F8"/>
                </a:solidFill>
                <a:effectLst/>
                <a:uFillTx/>
                <a:latin typeface="DejaVu Sans"/>
                <a:ea typeface="DejaVu Sans"/>
              </a:rPr>
              <a:t>Limits of the experimental evidence</a:t>
            </a:r>
            <a:endParaRPr lang="en-US" sz="2550" b="0" u="none" strike="noStrike">
              <a:solidFill>
                <a:srgbClr val="FFFFFF"/>
              </a:solidFill>
              <a:effectLst/>
              <a:uFillTx/>
              <a:latin typeface="Arial"/>
            </a:endParaRPr>
          </a:p>
        </p:txBody>
      </p:sp>
      <p:sp>
        <p:nvSpPr>
          <p:cNvPr id="182" name="Rectangle 2"/>
          <p:cNvSpPr/>
          <p:nvPr/>
        </p:nvSpPr>
        <p:spPr>
          <a:xfrm>
            <a:off x="609480" y="6010200"/>
            <a:ext cx="10858320" cy="4186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130" b="0" u="none" strike="noStrike">
                <a:solidFill>
                  <a:srgbClr val="9CB0C3"/>
                </a:solidFill>
                <a:effectLst/>
                <a:uFillTx/>
                <a:latin typeface="DejaVu Sans"/>
                <a:ea typeface="DejaVu Sans"/>
              </a:rPr>
              <a:t>Source: §II.B, p. 1072 · §II.D–E, p. 1073 · §III, pp. 1075–1077</a:t>
            </a:r>
            <a:endParaRPr lang="en-US" sz="1130" b="0" u="none" strike="noStrike">
              <a:solidFill>
                <a:srgbClr val="FFFFFF"/>
              </a:solidFill>
              <a:effectLst/>
              <a:uFillTx/>
              <a:latin typeface="Arial"/>
            </a:endParaRPr>
          </a:p>
        </p:txBody>
      </p:sp>
      <p:sp>
        <p:nvSpPr>
          <p:cNvPr id="183" name="Rectangle 3"/>
          <p:cNvSpPr/>
          <p:nvPr/>
        </p:nvSpPr>
        <p:spPr>
          <a:xfrm>
            <a:off x="609480" y="6515280"/>
            <a:ext cx="5714640" cy="1710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100" b="0" u="none" strike="noStrike">
                <a:solidFill>
                  <a:srgbClr val="9CB0C3"/>
                </a:solidFill>
                <a:effectLst/>
                <a:uFillTx/>
                <a:latin typeface="DejaVu Sans"/>
                <a:ea typeface="DejaVu Sans"/>
              </a:rPr>
              <a:t>hlin863/ewma_covariate_shift_demo</a:t>
            </a:r>
            <a:endParaRPr lang="en-US" sz="1100" b="0" u="none" strike="noStrike">
              <a:solidFill>
                <a:srgbClr val="FFFFFF"/>
              </a:solidFill>
              <a:effectLst/>
              <a:uFillTx/>
              <a:latin typeface="Arial"/>
            </a:endParaRPr>
          </a:p>
        </p:txBody>
      </p:sp>
      <p:sp>
        <p:nvSpPr>
          <p:cNvPr id="184" name="Rectangle 4"/>
          <p:cNvSpPr/>
          <p:nvPr/>
        </p:nvSpPr>
        <p:spPr>
          <a:xfrm>
            <a:off x="11049120" y="6515280"/>
            <a:ext cx="533160" cy="1710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800" b="0" u="none" strike="noStrike">
                <a:solidFill>
                  <a:srgbClr val="EAF2F8"/>
                </a:solidFill>
                <a:effectLst/>
                <a:uFillTx/>
                <a:latin typeface="Aptos"/>
                <a:ea typeface="Aptos"/>
              </a:rPr>
              <a:t>12</a:t>
            </a:r>
            <a:endParaRPr lang="en-US" sz="1800" b="0" u="none" strike="noStrike">
              <a:solidFill>
                <a:srgbClr val="FFFFFF"/>
              </a:solidFill>
              <a:effectLst/>
              <a:uFillTx/>
              <a:latin typeface="Arial"/>
            </a:endParaRPr>
          </a:p>
        </p:txBody>
      </p:sp>
      <p:sp>
        <p:nvSpPr>
          <p:cNvPr id="185" name="Rectangle 5"/>
          <p:cNvSpPr/>
          <p:nvPr/>
        </p:nvSpPr>
        <p:spPr>
          <a:xfrm>
            <a:off x="609480" y="1657440"/>
            <a:ext cx="5143320" cy="3614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2020" b="1" u="none" strike="noStrike">
                <a:solidFill>
                  <a:srgbClr val="4EA1FF"/>
                </a:solidFill>
                <a:effectLst/>
                <a:uFillTx/>
                <a:latin typeface="DejaVu Sans"/>
                <a:ea typeface="DejaVu Sans"/>
              </a:rPr>
              <a:t>Small cohort and short follow-up</a:t>
            </a:r>
            <a:endParaRPr lang="en-US" sz="2020" b="0" u="none" strike="noStrike">
              <a:solidFill>
                <a:srgbClr val="FFFFFF"/>
              </a:solidFill>
              <a:effectLst/>
              <a:uFillTx/>
              <a:latin typeface="Arial"/>
            </a:endParaRPr>
          </a:p>
        </p:txBody>
      </p:sp>
      <p:sp>
        <p:nvSpPr>
          <p:cNvPr id="186" name="Rectangle 6"/>
          <p:cNvSpPr/>
          <p:nvPr/>
        </p:nvSpPr>
        <p:spPr>
          <a:xfrm>
            <a:off x="609480" y="2152800"/>
            <a:ext cx="5143320" cy="20952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800" b="0" u="none" strike="noStrike">
                <a:solidFill>
                  <a:srgbClr val="EAF2F8"/>
                </a:solidFill>
                <a:effectLst/>
                <a:uFillTx/>
                <a:latin typeface="DejaVu Sans"/>
                <a:ea typeface="DejaVu Sans"/>
              </a:rPr>
              <a:t>10 participants in each group</a:t>
            </a:r>
            <a:endParaRPr lang="en-US" sz="1800" b="0" u="none" strike="noStrike">
              <a:solidFill>
                <a:srgbClr val="FFFFFF"/>
              </a:solidFill>
              <a:effectLst/>
              <a:uFillTx/>
              <a:latin typeface="Arial"/>
            </a:endParaRPr>
          </a:p>
          <a:p>
            <a:pPr defTabSz="914400">
              <a:lnSpc>
                <a:spcPct val="100000"/>
              </a:lnSpc>
            </a:pPr>
            <a:r>
              <a:rPr lang="en-US" sz="1800" b="0" u="none" strike="noStrike">
                <a:solidFill>
                  <a:srgbClr val="EAF2F8"/>
                </a:solidFill>
                <a:effectLst/>
                <a:uFillTx/>
                <a:latin typeface="DejaVu Sans"/>
                <a:ea typeface="DejaVu Sans"/>
              </a:rPr>
              <a:t>One 40-trial online feedback run</a:t>
            </a:r>
            <a:endParaRPr lang="en-US" sz="1800" b="0" u="none" strike="noStrike">
              <a:solidFill>
                <a:srgbClr val="FFFFFF"/>
              </a:solidFill>
              <a:effectLst/>
              <a:uFillTx/>
              <a:latin typeface="Arial"/>
            </a:endParaRPr>
          </a:p>
          <a:p>
            <a:pPr defTabSz="914400">
              <a:lnSpc>
                <a:spcPct val="100000"/>
              </a:lnSpc>
            </a:pPr>
            <a:r>
              <a:rPr lang="en-US" sz="1800" b="0" u="none" strike="noStrike">
                <a:solidFill>
                  <a:srgbClr val="EAF2F8"/>
                </a:solidFill>
                <a:effectLst/>
                <a:uFillTx/>
                <a:latin typeface="DejaVu Sans"/>
                <a:ea typeface="DejaVu Sans"/>
              </a:rPr>
              <a:t>Limited evidence across patient subgroups</a:t>
            </a:r>
            <a:endParaRPr lang="en-US" sz="1800" b="0" u="none" strike="noStrike">
              <a:solidFill>
                <a:srgbClr val="FFFFFF"/>
              </a:solidFill>
              <a:effectLst/>
              <a:uFillTx/>
              <a:latin typeface="Arial"/>
            </a:endParaRPr>
          </a:p>
          <a:p>
            <a:pPr defTabSz="914400">
              <a:lnSpc>
                <a:spcPct val="100000"/>
              </a:lnSpc>
            </a:pPr>
            <a:r>
              <a:rPr lang="en-US" sz="1800" b="0" u="none" strike="noStrike">
                <a:solidFill>
                  <a:srgbClr val="EAF2F8"/>
                </a:solidFill>
                <a:effectLst/>
                <a:uFillTx/>
                <a:latin typeface="DejaVu Sans"/>
                <a:ea typeface="DejaVu Sans"/>
              </a:rPr>
              <a:t>and repeated rehabilitation sessions</a:t>
            </a:r>
            <a:endParaRPr lang="en-US" sz="1800" b="0" u="none" strike="noStrike">
              <a:solidFill>
                <a:srgbClr val="FFFFFF"/>
              </a:solidFill>
              <a:effectLst/>
              <a:uFillTx/>
              <a:latin typeface="Arial"/>
            </a:endParaRPr>
          </a:p>
        </p:txBody>
      </p:sp>
      <p:sp>
        <p:nvSpPr>
          <p:cNvPr id="187" name="Rectangle 7"/>
          <p:cNvSpPr/>
          <p:nvPr/>
        </p:nvSpPr>
        <p:spPr>
          <a:xfrm>
            <a:off x="6572160" y="1657440"/>
            <a:ext cx="4952520" cy="3614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2020" b="1" u="none" strike="noStrike">
                <a:solidFill>
                  <a:srgbClr val="2DD4BF"/>
                </a:solidFill>
                <a:effectLst/>
                <a:uFillTx/>
                <a:latin typeface="DejaVu Sans"/>
                <a:ea typeface="DejaVu Sans"/>
              </a:rPr>
              <a:t>Comparison and recovery</a:t>
            </a:r>
            <a:endParaRPr lang="en-US" sz="2020" b="0" u="none" strike="noStrike">
              <a:solidFill>
                <a:srgbClr val="FFFFFF"/>
              </a:solidFill>
              <a:effectLst/>
              <a:uFillTx/>
              <a:latin typeface="Arial"/>
            </a:endParaRPr>
          </a:p>
        </p:txBody>
      </p:sp>
      <p:sp>
        <p:nvSpPr>
          <p:cNvPr id="188" name="Rectangle 8"/>
          <p:cNvSpPr/>
          <p:nvPr/>
        </p:nvSpPr>
        <p:spPr>
          <a:xfrm>
            <a:off x="6572160" y="2152800"/>
            <a:ext cx="4952520" cy="20952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800" b="0" u="none" strike="noStrike">
                <a:solidFill>
                  <a:srgbClr val="EAF2F8"/>
                </a:solidFill>
                <a:effectLst/>
                <a:uFillTx/>
                <a:latin typeface="DejaVu Sans"/>
                <a:ea typeface="DejaVu Sans"/>
              </a:rPr>
              <a:t>Fixed baseline applied offline to the same data</a:t>
            </a:r>
            <a:endParaRPr lang="en-US" sz="1800" b="0" u="none" strike="noStrike">
              <a:solidFill>
                <a:srgbClr val="FFFFFF"/>
              </a:solidFill>
              <a:effectLst/>
              <a:uFillTx/>
              <a:latin typeface="Arial"/>
            </a:endParaRPr>
          </a:p>
          <a:p>
            <a:pPr defTabSz="914400">
              <a:lnSpc>
                <a:spcPct val="100000"/>
              </a:lnSpc>
            </a:pPr>
            <a:r>
              <a:rPr lang="en-US" sz="1800" b="0" u="none" strike="noStrike">
                <a:solidFill>
                  <a:srgbClr val="EAF2F8"/>
                </a:solidFill>
                <a:effectLst/>
                <a:uFillTx/>
                <a:latin typeface="DejaVu Sans"/>
                <a:ea typeface="DejaVu Sans"/>
              </a:rPr>
              <a:t>No parallel online nonadaptive condition</a:t>
            </a:r>
            <a:endParaRPr lang="en-US" sz="1800" b="0" u="none" strike="noStrike">
              <a:solidFill>
                <a:srgbClr val="FFFFFF"/>
              </a:solidFill>
              <a:effectLst/>
              <a:uFillTx/>
              <a:latin typeface="Arial"/>
            </a:endParaRPr>
          </a:p>
          <a:p>
            <a:pPr defTabSz="914400">
              <a:lnSpc>
                <a:spcPct val="100000"/>
              </a:lnSpc>
            </a:pPr>
            <a:r>
              <a:rPr lang="en-US" sz="1800" b="0" u="none" strike="noStrike">
                <a:solidFill>
                  <a:srgbClr val="EAF2F8"/>
                </a:solidFill>
                <a:effectLst/>
                <a:uFillTx/>
                <a:latin typeface="DejaVu Sans"/>
                <a:ea typeface="DejaVu Sans"/>
              </a:rPr>
              <a:t>Reported metrics concern BCI performance</a:t>
            </a:r>
            <a:endParaRPr lang="en-US" sz="1800" b="0" u="none" strike="noStrike">
              <a:solidFill>
                <a:srgbClr val="FFFFFF"/>
              </a:solidFill>
              <a:effectLst/>
              <a:uFillTx/>
              <a:latin typeface="Arial"/>
            </a:endParaRPr>
          </a:p>
          <a:p>
            <a:pPr defTabSz="914400">
              <a:lnSpc>
                <a:spcPct val="100000"/>
              </a:lnSpc>
            </a:pPr>
            <a:r>
              <a:rPr lang="en-US" sz="1800" b="0" u="none" strike="noStrike">
                <a:solidFill>
                  <a:srgbClr val="EAF2F8"/>
                </a:solidFill>
                <a:effectLst/>
                <a:uFillTx/>
                <a:latin typeface="DejaVu Sans"/>
                <a:ea typeface="DejaVu Sans"/>
              </a:rPr>
              <a:t>Durable motor recovery remains untested</a:t>
            </a:r>
            <a:endParaRPr lang="en-US" sz="1800" b="0" u="none" strike="noStrike">
              <a:solidFill>
                <a:srgbClr val="FFFFFF"/>
              </a:solidFill>
              <a:effectLst/>
              <a:uFillTx/>
              <a:latin typeface="Arial"/>
            </a:endParaRPr>
          </a:p>
        </p:txBody>
      </p:sp>
      <p:sp>
        <p:nvSpPr>
          <p:cNvPr id="189" name="Rectangle 9"/>
          <p:cNvSpPr/>
          <p:nvPr/>
        </p:nvSpPr>
        <p:spPr>
          <a:xfrm>
            <a:off x="609480" y="4400640"/>
            <a:ext cx="10477080" cy="3614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2020" b="1" u="none" strike="noStrike">
                <a:solidFill>
                  <a:srgbClr val="F5B942"/>
                </a:solidFill>
                <a:effectLst/>
                <a:uFillTx/>
                <a:latin typeface="DejaVu Sans"/>
                <a:ea typeface="DejaVu Sans"/>
              </a:rPr>
              <a:t>Supported conclusion</a:t>
            </a:r>
            <a:endParaRPr lang="en-US" sz="2020" b="0" u="none" strike="noStrike">
              <a:solidFill>
                <a:srgbClr val="FFFFFF"/>
              </a:solidFill>
              <a:effectLst/>
              <a:uFillTx/>
              <a:latin typeface="Arial"/>
            </a:endParaRPr>
          </a:p>
        </p:txBody>
      </p:sp>
      <p:sp>
        <p:nvSpPr>
          <p:cNvPr id="190" name="Rectangle 10"/>
          <p:cNvSpPr/>
          <p:nvPr/>
        </p:nvSpPr>
        <p:spPr>
          <a:xfrm>
            <a:off x="609480" y="4896000"/>
            <a:ext cx="10572480" cy="9046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2020" b="0" u="none" strike="noStrike">
                <a:solidFill>
                  <a:srgbClr val="EAF2F8"/>
                </a:solidFill>
                <a:effectLst/>
                <a:uFillTx/>
                <a:latin typeface="DejaVu Sans"/>
                <a:ea typeface="DejaVu Sans"/>
              </a:rPr>
              <a:t>The study establishes online technical feasibility and improved decoding. Longer-term reliability and rehabilitation benefit require further evaluation.</a:t>
            </a:r>
            <a:endParaRPr lang="en-US" sz="202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9121F"/>
        </a:solidFill>
      </p:bgPr>
    </p:bg>
    <p:spTree>
      <p:nvGrpSpPr>
        <p:cNvPr id="1" name=""/>
        <p:cNvGrpSpPr/>
        <p:nvPr/>
      </p:nvGrpSpPr>
      <p:grpSpPr>
        <a:xfrm>
          <a:off x="0" y="0"/>
          <a:ext cx="0" cy="0"/>
          <a:chOff x="0" y="0"/>
          <a:chExt cx="0" cy="0"/>
        </a:xfrm>
      </p:grpSpPr>
      <p:sp>
        <p:nvSpPr>
          <p:cNvPr id="191" name="Rectangle 11"/>
          <p:cNvSpPr/>
          <p:nvPr/>
        </p:nvSpPr>
        <p:spPr>
          <a:xfrm>
            <a:off x="609480" y="399960"/>
            <a:ext cx="10477080" cy="2282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300" b="1" u="none" strike="noStrike">
                <a:solidFill>
                  <a:srgbClr val="2DD4BF"/>
                </a:solidFill>
                <a:effectLst/>
                <a:uFillTx/>
                <a:latin typeface="DejaVu Sans"/>
                <a:ea typeface="DejaVu Sans"/>
              </a:rPr>
              <a:t>PAPER-TO-PROJECT MAPPING</a:t>
            </a:r>
            <a:endParaRPr lang="en-US" sz="1300" b="0" u="none" strike="noStrike">
              <a:solidFill>
                <a:srgbClr val="FFFFFF"/>
              </a:solidFill>
              <a:effectLst/>
              <a:uFillTx/>
              <a:latin typeface="Arial"/>
            </a:endParaRPr>
          </a:p>
        </p:txBody>
      </p:sp>
      <p:sp>
        <p:nvSpPr>
          <p:cNvPr id="192" name="Rectangle 1"/>
          <p:cNvSpPr/>
          <p:nvPr/>
        </p:nvSpPr>
        <p:spPr>
          <a:xfrm>
            <a:off x="609480" y="685800"/>
            <a:ext cx="10953360" cy="6091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2550" b="1" u="none" strike="noStrike">
                <a:solidFill>
                  <a:srgbClr val="EAF2F8"/>
                </a:solidFill>
                <a:effectLst/>
                <a:uFillTx/>
                <a:latin typeface="DejaVu Sans"/>
                <a:ea typeface="DejaVu Sans"/>
              </a:rPr>
              <a:t>Relevance to the current EWMA project</a:t>
            </a:r>
            <a:endParaRPr lang="en-US" sz="2550" b="0" u="none" strike="noStrike">
              <a:solidFill>
                <a:srgbClr val="FFFFFF"/>
              </a:solidFill>
              <a:effectLst/>
              <a:uFillTx/>
              <a:latin typeface="Arial"/>
            </a:endParaRPr>
          </a:p>
        </p:txBody>
      </p:sp>
      <p:sp>
        <p:nvSpPr>
          <p:cNvPr id="193" name="Rectangle 2"/>
          <p:cNvSpPr/>
          <p:nvPr/>
        </p:nvSpPr>
        <p:spPr>
          <a:xfrm>
            <a:off x="609480" y="6010200"/>
            <a:ext cx="10858320" cy="4186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130" b="0" u="none" strike="noStrike">
                <a:solidFill>
                  <a:srgbClr val="9CB0C3"/>
                </a:solidFill>
                <a:effectLst/>
                <a:uFillTx/>
                <a:latin typeface="DejaVu Sans"/>
                <a:ea typeface="DejaVu Sans"/>
              </a:rPr>
              <a:t>Sources: Chowdhury et al. (2018), §II.E and §III–IV; repository review at f3ef2e8.</a:t>
            </a:r>
            <a:endParaRPr lang="en-US" sz="1130" b="0" u="none" strike="noStrike">
              <a:solidFill>
                <a:srgbClr val="FFFFFF"/>
              </a:solidFill>
              <a:effectLst/>
              <a:uFillTx/>
              <a:latin typeface="Arial"/>
            </a:endParaRPr>
          </a:p>
        </p:txBody>
      </p:sp>
      <p:sp>
        <p:nvSpPr>
          <p:cNvPr id="194" name="Rectangle 3"/>
          <p:cNvSpPr/>
          <p:nvPr/>
        </p:nvSpPr>
        <p:spPr>
          <a:xfrm>
            <a:off x="609480" y="6515280"/>
            <a:ext cx="5714640" cy="1710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100" b="0" u="none" strike="noStrike">
                <a:solidFill>
                  <a:srgbClr val="9CB0C3"/>
                </a:solidFill>
                <a:effectLst/>
                <a:uFillTx/>
                <a:latin typeface="DejaVu Sans"/>
                <a:ea typeface="DejaVu Sans"/>
              </a:rPr>
              <a:t>hlin863/ewma_covariate_shift_demo</a:t>
            </a:r>
            <a:endParaRPr lang="en-US" sz="1100" b="0" u="none" strike="noStrike">
              <a:solidFill>
                <a:srgbClr val="FFFFFF"/>
              </a:solidFill>
              <a:effectLst/>
              <a:uFillTx/>
              <a:latin typeface="Arial"/>
            </a:endParaRPr>
          </a:p>
        </p:txBody>
      </p:sp>
      <p:sp>
        <p:nvSpPr>
          <p:cNvPr id="195" name="Rectangle 4"/>
          <p:cNvSpPr/>
          <p:nvPr/>
        </p:nvSpPr>
        <p:spPr>
          <a:xfrm>
            <a:off x="11049120" y="6515280"/>
            <a:ext cx="533160" cy="1710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800" b="0" u="none" strike="noStrike">
                <a:solidFill>
                  <a:srgbClr val="EAF2F8"/>
                </a:solidFill>
                <a:effectLst/>
                <a:uFillTx/>
                <a:latin typeface="Aptos"/>
                <a:ea typeface="Aptos"/>
              </a:rPr>
              <a:t>13</a:t>
            </a:r>
            <a:endParaRPr lang="en-US" sz="1800" b="0" u="none" strike="noStrike">
              <a:solidFill>
                <a:srgbClr val="FFFFFF"/>
              </a:solidFill>
              <a:effectLst/>
              <a:uFillTx/>
              <a:latin typeface="Arial"/>
            </a:endParaRPr>
          </a:p>
        </p:txBody>
      </p:sp>
      <p:sp>
        <p:nvSpPr>
          <p:cNvPr id="196" name="Rectangle 5"/>
          <p:cNvSpPr/>
          <p:nvPr/>
        </p:nvSpPr>
        <p:spPr>
          <a:xfrm>
            <a:off x="609480" y="1657440"/>
            <a:ext cx="5095440" cy="3614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2020" b="1" u="none" strike="noStrike">
                <a:solidFill>
                  <a:srgbClr val="4EA1FF"/>
                </a:solidFill>
                <a:effectLst/>
                <a:uFillTx/>
                <a:latin typeface="DejaVu Sans"/>
                <a:ea typeface="DejaVu Sans"/>
              </a:rPr>
              <a:t>Methodological connection</a:t>
            </a:r>
            <a:endParaRPr lang="en-US" sz="2020" b="0" u="none" strike="noStrike">
              <a:solidFill>
                <a:srgbClr val="FFFFFF"/>
              </a:solidFill>
              <a:effectLst/>
              <a:uFillTx/>
              <a:latin typeface="Arial"/>
            </a:endParaRPr>
          </a:p>
        </p:txBody>
      </p:sp>
      <p:sp>
        <p:nvSpPr>
          <p:cNvPr id="197" name="Rectangle 6"/>
          <p:cNvSpPr/>
          <p:nvPr/>
        </p:nvSpPr>
        <p:spPr>
          <a:xfrm>
            <a:off x="609480" y="2152800"/>
            <a:ext cx="5095440" cy="20952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800" b="0" u="none" strike="noStrike">
                <a:solidFill>
                  <a:srgbClr val="EAF2F8"/>
                </a:solidFill>
                <a:effectLst/>
                <a:uFillTx/>
                <a:latin typeface="DejaVu Sans"/>
                <a:ea typeface="DejaVu Sans"/>
              </a:rPr>
              <a:t>EWMA warning followed by shift validation</a:t>
            </a:r>
            <a:endParaRPr lang="en-US" sz="1800" b="0" u="none" strike="noStrike">
              <a:solidFill>
                <a:srgbClr val="FFFFFF"/>
              </a:solidFill>
              <a:effectLst/>
              <a:uFillTx/>
              <a:latin typeface="Arial"/>
            </a:endParaRPr>
          </a:p>
          <a:p>
            <a:pPr defTabSz="914400">
              <a:lnSpc>
                <a:spcPct val="100000"/>
              </a:lnSpc>
            </a:pPr>
            <a:r>
              <a:rPr lang="en-US" sz="1800" b="0" u="none" strike="noStrike">
                <a:solidFill>
                  <a:srgbClr val="EAF2F8"/>
                </a:solidFill>
                <a:effectLst/>
                <a:uFillTx/>
                <a:latin typeface="DejaVu Sans"/>
                <a:ea typeface="DejaVu Sans"/>
              </a:rPr>
              <a:t>Selective adaptation motivates event auditing</a:t>
            </a:r>
            <a:endParaRPr lang="en-US" sz="1800" b="0" u="none" strike="noStrike">
              <a:solidFill>
                <a:srgbClr val="FFFFFF"/>
              </a:solidFill>
              <a:effectLst/>
              <a:uFillTx/>
              <a:latin typeface="Arial"/>
            </a:endParaRPr>
          </a:p>
          <a:p>
            <a:pPr defTabSz="914400">
              <a:lnSpc>
                <a:spcPct val="100000"/>
              </a:lnSpc>
            </a:pPr>
            <a:r>
              <a:rPr lang="en-US" sz="1800" b="0" u="none" strike="noStrike">
                <a:solidFill>
                  <a:srgbClr val="EAF2F8"/>
                </a:solidFill>
                <a:effectLst/>
                <a:uFillTx/>
                <a:latin typeface="DejaVu Sans"/>
                <a:ea typeface="DejaVu Sans"/>
              </a:rPr>
              <a:t>Paper uses two bands and four CSP features</a:t>
            </a:r>
            <a:endParaRPr lang="en-US" sz="1800" b="0" u="none" strike="noStrike">
              <a:solidFill>
                <a:srgbClr val="FFFFFF"/>
              </a:solidFill>
              <a:effectLst/>
              <a:uFillTx/>
              <a:latin typeface="Arial"/>
            </a:endParaRPr>
          </a:p>
          <a:p>
            <a:pPr defTabSz="914400">
              <a:lnSpc>
                <a:spcPct val="100000"/>
              </a:lnSpc>
            </a:pPr>
            <a:r>
              <a:rPr lang="en-US" sz="1800" b="0" u="none" strike="noStrike">
                <a:solidFill>
                  <a:srgbClr val="EAF2F8"/>
                </a:solidFill>
                <a:effectLst/>
                <a:uFillTx/>
                <a:latin typeface="DejaVu Sans"/>
                <a:ea typeface="DejaVu Sans"/>
              </a:rPr>
              <a:t>Current deck uses 10-band FBCSP on 2A/2B</a:t>
            </a:r>
            <a:endParaRPr lang="en-US" sz="1800" b="0" u="none" strike="noStrike">
              <a:solidFill>
                <a:srgbClr val="FFFFFF"/>
              </a:solidFill>
              <a:effectLst/>
              <a:uFillTx/>
              <a:latin typeface="Arial"/>
            </a:endParaRPr>
          </a:p>
        </p:txBody>
      </p:sp>
      <p:sp>
        <p:nvSpPr>
          <p:cNvPr id="198" name="Rectangle 7"/>
          <p:cNvSpPr/>
          <p:nvPr/>
        </p:nvSpPr>
        <p:spPr>
          <a:xfrm>
            <a:off x="6572160" y="1657440"/>
            <a:ext cx="4952520" cy="3614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2020" b="1" u="none" strike="noStrike">
                <a:solidFill>
                  <a:srgbClr val="2DD4BF"/>
                </a:solidFill>
                <a:effectLst/>
                <a:uFillTx/>
                <a:latin typeface="DejaVu Sans"/>
                <a:ea typeface="DejaVu Sans"/>
              </a:rPr>
              <a:t>Existing next-step priorities</a:t>
            </a:r>
            <a:endParaRPr lang="en-US" sz="2020" b="0" u="none" strike="noStrike">
              <a:solidFill>
                <a:srgbClr val="FFFFFF"/>
              </a:solidFill>
              <a:effectLst/>
              <a:uFillTx/>
              <a:latin typeface="Arial"/>
            </a:endParaRPr>
          </a:p>
        </p:txBody>
      </p:sp>
      <p:sp>
        <p:nvSpPr>
          <p:cNvPr id="199" name="Rectangle 8"/>
          <p:cNvSpPr/>
          <p:nvPr/>
        </p:nvSpPr>
        <p:spPr>
          <a:xfrm>
            <a:off x="6572160" y="2152800"/>
            <a:ext cx="4952520" cy="20952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800" b="0" u="none" strike="noStrike">
                <a:solidFill>
                  <a:srgbClr val="EAF2F8"/>
                </a:solidFill>
                <a:effectLst/>
                <a:uFillTx/>
                <a:latin typeface="DejaVu Sans"/>
                <a:ea typeface="DejaVu Sans"/>
              </a:rPr>
              <a:t>Lock the reproduction configuration</a:t>
            </a:r>
            <a:endParaRPr lang="en-US" sz="1800" b="0" u="none" strike="noStrike">
              <a:solidFill>
                <a:srgbClr val="FFFFFF"/>
              </a:solidFill>
              <a:effectLst/>
              <a:uFillTx/>
              <a:latin typeface="Arial"/>
            </a:endParaRPr>
          </a:p>
          <a:p>
            <a:pPr defTabSz="914400">
              <a:lnSpc>
                <a:spcPct val="100000"/>
              </a:lnSpc>
            </a:pPr>
            <a:r>
              <a:rPr lang="en-US" sz="1800" b="0" u="none" strike="noStrike">
                <a:solidFill>
                  <a:srgbClr val="EAF2F8"/>
                </a:solidFill>
                <a:effectLst/>
                <a:uFillTx/>
                <a:latin typeface="DejaVu Sans"/>
                <a:ea typeface="DejaVu Sans"/>
              </a:rPr>
              <a:t>Explain accepted and rejected Stage-II events</a:t>
            </a:r>
            <a:endParaRPr lang="en-US" sz="1800" b="0" u="none" strike="noStrike">
              <a:solidFill>
                <a:srgbClr val="FFFFFF"/>
              </a:solidFill>
              <a:effectLst/>
              <a:uFillTx/>
              <a:latin typeface="Arial"/>
            </a:endParaRPr>
          </a:p>
          <a:p>
            <a:pPr defTabSz="914400">
              <a:lnSpc>
                <a:spcPct val="100000"/>
              </a:lnSpc>
            </a:pPr>
            <a:r>
              <a:rPr lang="en-US" sz="1800" b="0" u="none" strike="noStrike">
                <a:solidFill>
                  <a:srgbClr val="EAF2F8"/>
                </a:solidFill>
                <a:effectLst/>
                <a:uFillTx/>
                <a:latin typeface="DejaVu Sans"/>
                <a:ea typeface="DejaVu Sans"/>
              </a:rPr>
              <a:t>Measure synthetic false alarms and delay</a:t>
            </a:r>
            <a:endParaRPr lang="en-US" sz="1800" b="0" u="none" strike="noStrike">
              <a:solidFill>
                <a:srgbClr val="FFFFFF"/>
              </a:solidFill>
              <a:effectLst/>
              <a:uFillTx/>
              <a:latin typeface="Arial"/>
            </a:endParaRPr>
          </a:p>
          <a:p>
            <a:pPr defTabSz="914400">
              <a:lnSpc>
                <a:spcPct val="100000"/>
              </a:lnSpc>
            </a:pPr>
            <a:r>
              <a:rPr lang="en-US" sz="1800" b="0" u="none" strike="noStrike">
                <a:solidFill>
                  <a:srgbClr val="EAF2F8"/>
                </a:solidFill>
                <a:effectLst/>
                <a:uFillTx/>
                <a:latin typeface="DejaVu Sans"/>
                <a:ea typeface="DejaVu Sans"/>
              </a:rPr>
              <a:t>Export real EEG score/residual traces</a:t>
            </a:r>
            <a:endParaRPr lang="en-US" sz="1800" b="0" u="none" strike="noStrike">
              <a:solidFill>
                <a:srgbClr val="FFFFFF"/>
              </a:solidFill>
              <a:effectLst/>
              <a:uFillTx/>
              <a:latin typeface="Arial"/>
            </a:endParaRPr>
          </a:p>
        </p:txBody>
      </p:sp>
      <p:sp>
        <p:nvSpPr>
          <p:cNvPr id="200" name="Rectangle 9"/>
          <p:cNvSpPr/>
          <p:nvPr/>
        </p:nvSpPr>
        <p:spPr>
          <a:xfrm>
            <a:off x="609480" y="4438800"/>
            <a:ext cx="10477080" cy="3614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2020" b="1" u="none" strike="noStrike">
                <a:solidFill>
                  <a:srgbClr val="F5B942"/>
                </a:solidFill>
                <a:effectLst/>
                <a:uFillTx/>
                <a:latin typeface="DejaVu Sans"/>
                <a:ea typeface="DejaVu Sans"/>
              </a:rPr>
              <a:t>Evidence boundary</a:t>
            </a:r>
            <a:endParaRPr lang="en-US" sz="2020" b="0" u="none" strike="noStrike">
              <a:solidFill>
                <a:srgbClr val="FFFFFF"/>
              </a:solidFill>
              <a:effectLst/>
              <a:uFillTx/>
              <a:latin typeface="Arial"/>
            </a:endParaRPr>
          </a:p>
        </p:txBody>
      </p:sp>
      <p:sp>
        <p:nvSpPr>
          <p:cNvPr id="201" name="Rectangle 10"/>
          <p:cNvSpPr/>
          <p:nvPr/>
        </p:nvSpPr>
        <p:spPr>
          <a:xfrm>
            <a:off x="609480" y="4933800"/>
            <a:ext cx="10572480" cy="89496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950" b="0" u="none" strike="noStrike">
                <a:solidFill>
                  <a:srgbClr val="EAF2F8"/>
                </a:solidFill>
                <a:effectLst/>
                <a:uFillTx/>
                <a:latin typeface="DejaVu Sans"/>
                <a:ea typeface="DejaVu Sans"/>
              </a:rPr>
              <a:t>Keep the paper’s online results separate from repository benchmarks. Numerical reproduction and real EEG extension evidence remain open in the current deck.</a:t>
            </a:r>
            <a:endParaRPr lang="en-US" sz="1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MasterSp="0">
  <p:cSld>
    <p:bg>
      <p:bgPr>
        <a:solidFill>
          <a:srgbClr val="061524"/>
        </a:solidFill>
      </p:bgPr>
    </p:bg>
    <p:spTree>
      <p:nvGrpSpPr>
        <p:cNvPr id="1" name=""/>
        <p:cNvGrpSpPr/>
        <p:nvPr/>
      </p:nvGrpSpPr>
      <p:grpSpPr>
        <a:xfrm>
          <a:off x="0" y="0"/>
          <a:ext cx="0" cy="0"/>
          <a:chOff x="0" y="0"/>
          <a:chExt cx="0" cy="0"/>
        </a:xfrm>
      </p:grpSpPr>
      <p:sp>
        <p:nvSpPr>
          <p:cNvPr id="202" name="TextBox 1"/>
          <p:cNvSpPr/>
          <p:nvPr/>
        </p:nvSpPr>
        <p:spPr>
          <a:xfrm>
            <a:off x="612720" y="320040"/>
            <a:ext cx="10972440" cy="27396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pPr>
            <a:r>
              <a:rPr lang="en-US" sz="1300" b="1" u="none" strike="noStrike">
                <a:solidFill>
                  <a:srgbClr val="38DED3"/>
                </a:solidFill>
                <a:effectLst/>
                <a:uFillTx/>
                <a:latin typeface="DejaVu Sans"/>
                <a:ea typeface="Calibri"/>
              </a:rPr>
              <a:t>FEATURE EXTRACTION</a:t>
            </a:r>
            <a:endParaRPr lang="en-US" sz="1300" b="0" u="none" strike="noStrike">
              <a:solidFill>
                <a:srgbClr val="FFFFFF"/>
              </a:solidFill>
              <a:effectLst/>
              <a:uFillTx/>
              <a:latin typeface="Arial"/>
            </a:endParaRPr>
          </a:p>
        </p:txBody>
      </p:sp>
      <p:sp>
        <p:nvSpPr>
          <p:cNvPr id="203" name="TextBox 2"/>
          <p:cNvSpPr/>
          <p:nvPr/>
        </p:nvSpPr>
        <p:spPr>
          <a:xfrm>
            <a:off x="612720" y="758880"/>
            <a:ext cx="10972440" cy="59400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pPr>
            <a:r>
              <a:rPr lang="en-US" sz="2700" b="1" u="none" strike="noStrike">
                <a:solidFill>
                  <a:srgbClr val="EAF2F8"/>
                </a:solidFill>
                <a:effectLst/>
                <a:uFillTx/>
                <a:latin typeface="DejaVu Sans"/>
                <a:ea typeface="Calibri"/>
              </a:rPr>
              <a:t>From EEG signals to the monitored PCA score</a:t>
            </a:r>
            <a:endParaRPr lang="en-US" sz="2700" b="0" u="none" strike="noStrike">
              <a:solidFill>
                <a:srgbClr val="FFFFFF"/>
              </a:solidFill>
              <a:effectLst/>
              <a:uFillTx/>
              <a:latin typeface="Arial"/>
            </a:endParaRPr>
          </a:p>
        </p:txBody>
      </p:sp>
      <p:sp>
        <p:nvSpPr>
          <p:cNvPr id="204" name="TextBox 3"/>
          <p:cNvSpPr/>
          <p:nvPr/>
        </p:nvSpPr>
        <p:spPr>
          <a:xfrm>
            <a:off x="612720" y="6510600"/>
            <a:ext cx="9143640" cy="1825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pPr>
            <a:r>
              <a:rPr lang="en-US" sz="800" b="0" u="none" strike="noStrike">
                <a:solidFill>
                  <a:srgbClr val="9CB0C3"/>
                </a:solidFill>
                <a:effectLst/>
                <a:uFillTx/>
                <a:latin typeface="DejaVu Sans"/>
                <a:ea typeface="Calibri"/>
              </a:rPr>
              <a:t>hlin863/ewma_covariate_shift_demo</a:t>
            </a:r>
            <a:endParaRPr lang="en-US" sz="800" b="0" u="none" strike="noStrike">
              <a:solidFill>
                <a:srgbClr val="FFFFFF"/>
              </a:solidFill>
              <a:effectLst/>
              <a:uFillTx/>
              <a:latin typeface="Arial"/>
            </a:endParaRPr>
          </a:p>
        </p:txBody>
      </p:sp>
      <p:sp>
        <p:nvSpPr>
          <p:cNvPr id="205" name="TextBox 4"/>
          <p:cNvSpPr/>
          <p:nvPr/>
        </p:nvSpPr>
        <p:spPr>
          <a:xfrm>
            <a:off x="11064240" y="6510600"/>
            <a:ext cx="456840" cy="1825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pPr>
            <a:r>
              <a:rPr lang="en-US" sz="1800" b="0" u="none" strike="noStrike">
                <a:solidFill>
                  <a:schemeClr val="dk1"/>
                </a:solidFill>
                <a:effectLst/>
                <a:uFillTx/>
                <a:latin typeface="Calibri"/>
                <a:ea typeface="Calibri"/>
              </a:rPr>
              <a:t>14</a:t>
            </a:r>
            <a:endParaRPr lang="en-US" sz="1800" b="0" u="none" strike="noStrike">
              <a:solidFill>
                <a:srgbClr val="FFFFFF"/>
              </a:solidFill>
              <a:effectLst/>
              <a:uFillTx/>
              <a:latin typeface="Arial"/>
            </a:endParaRPr>
          </a:p>
        </p:txBody>
      </p:sp>
      <p:sp>
        <p:nvSpPr>
          <p:cNvPr id="206" name="TextBox 5"/>
          <p:cNvSpPr/>
          <p:nvPr/>
        </p:nvSpPr>
        <p:spPr>
          <a:xfrm>
            <a:off x="685800" y="1417320"/>
            <a:ext cx="10972440" cy="4111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pPr>
            <a:r>
              <a:rPr lang="en-US" sz="1600" b="0" u="none" strike="noStrike">
                <a:solidFill>
                  <a:srgbClr val="9CB0C3"/>
                </a:solidFill>
                <a:effectLst/>
                <a:uFillTx/>
                <a:latin typeface="DejaVu Sans"/>
                <a:ea typeface="Calibri"/>
              </a:rPr>
              <a:t>Two frequency bands: μ 8–12 Hz and β 16–24 Hz. Fit the transformations on calibration data.</a:t>
            </a:r>
            <a:endParaRPr lang="en-US" sz="1600" b="0" u="none" strike="noStrike">
              <a:solidFill>
                <a:srgbClr val="FFFFFF"/>
              </a:solidFill>
              <a:effectLst/>
              <a:uFillTx/>
              <a:latin typeface="Arial"/>
            </a:endParaRPr>
          </a:p>
        </p:txBody>
      </p:sp>
      <p:sp>
        <p:nvSpPr>
          <p:cNvPr id="207" name="TextBox 6"/>
          <p:cNvSpPr/>
          <p:nvPr/>
        </p:nvSpPr>
        <p:spPr>
          <a:xfrm>
            <a:off x="685800" y="1920240"/>
            <a:ext cx="5303160" cy="36540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pPr>
            <a:r>
              <a:rPr lang="en-US" sz="1800" b="1" u="none" strike="noStrike">
                <a:solidFill>
                  <a:srgbClr val="38DED3"/>
                </a:solidFill>
                <a:effectLst/>
                <a:uFillTx/>
                <a:latin typeface="DejaVu Sans"/>
                <a:ea typeface="Calibri"/>
              </a:rPr>
              <a:t>01  Spatial filtering</a:t>
            </a:r>
            <a:endParaRPr lang="en-US" sz="1800" b="0" u="none" strike="noStrike">
              <a:solidFill>
                <a:srgbClr val="FFFFFF"/>
              </a:solidFill>
              <a:effectLst/>
              <a:uFillTx/>
              <a:latin typeface="Arial"/>
            </a:endParaRPr>
          </a:p>
        </p:txBody>
      </p:sp>
      <p:pic>
        <p:nvPicPr>
          <p:cNvPr id="208" name="Picture 7" descr="image.png"/>
          <p:cNvPicPr/>
          <p:nvPr/>
        </p:nvPicPr>
        <p:blipFill>
          <a:blip r:embed="rId1"/>
          <a:stretch/>
        </p:blipFill>
        <p:spPr>
          <a:xfrm>
            <a:off x="685800" y="2467080"/>
            <a:ext cx="1055160" cy="323640"/>
          </a:xfrm>
          <a:prstGeom prst="rect">
            <a:avLst/>
          </a:prstGeom>
          <a:noFill/>
          <a:ln w="0">
            <a:noFill/>
          </a:ln>
        </p:spPr>
      </p:pic>
      <p:sp>
        <p:nvSpPr>
          <p:cNvPr id="209" name="TextBox 8"/>
          <p:cNvSpPr/>
          <p:nvPr/>
        </p:nvSpPr>
        <p:spPr>
          <a:xfrm>
            <a:off x="6629400" y="2103120"/>
            <a:ext cx="4663080" cy="59400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pPr>
            <a:r>
              <a:rPr lang="en-US" sz="1700" b="0" u="none" strike="noStrike">
                <a:solidFill>
                  <a:srgbClr val="EAF2F8"/>
                </a:solidFill>
                <a:effectLst/>
                <a:uFillTx/>
                <a:latin typeface="DejaVu Sans"/>
                <a:ea typeface="Calibri"/>
              </a:rPr>
              <a:t>Combine EEG channels using learned CSP filters.</a:t>
            </a:r>
            <a:endParaRPr lang="en-US" sz="1700" b="0" u="none" strike="noStrike">
              <a:solidFill>
                <a:srgbClr val="FFFFFF"/>
              </a:solidFill>
              <a:effectLst/>
              <a:uFillTx/>
              <a:latin typeface="Arial"/>
            </a:endParaRPr>
          </a:p>
        </p:txBody>
      </p:sp>
      <p:sp>
        <p:nvSpPr>
          <p:cNvPr id="210" name="TextBox 9"/>
          <p:cNvSpPr/>
          <p:nvPr/>
        </p:nvSpPr>
        <p:spPr>
          <a:xfrm>
            <a:off x="6629400" y="2724840"/>
            <a:ext cx="4663080" cy="45684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pPr>
            <a:r>
              <a:rPr lang="en-US" sz="1300" b="0" u="none" strike="noStrike">
                <a:solidFill>
                  <a:srgbClr val="9CB0C3"/>
                </a:solidFill>
                <a:effectLst/>
                <a:uFillTx/>
                <a:latin typeface="DejaVu Sans"/>
                <a:ea typeface="Calibri"/>
              </a:rPr>
              <a:t>E: one EEG trial; W: spatial filters; Z: filtered signals.</a:t>
            </a:r>
            <a:endParaRPr lang="en-US" sz="1300" b="0" u="none" strike="noStrike">
              <a:solidFill>
                <a:srgbClr val="FFFFFF"/>
              </a:solidFill>
              <a:effectLst/>
              <a:uFillTx/>
              <a:latin typeface="Arial"/>
            </a:endParaRPr>
          </a:p>
        </p:txBody>
      </p:sp>
      <p:sp>
        <p:nvSpPr>
          <p:cNvPr id="211" name="TextBox 10"/>
          <p:cNvSpPr/>
          <p:nvPr/>
        </p:nvSpPr>
        <p:spPr>
          <a:xfrm>
            <a:off x="685800" y="3108960"/>
            <a:ext cx="5303160" cy="36540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pPr>
            <a:r>
              <a:rPr lang="en-US" sz="1800" b="1" u="none" strike="noStrike">
                <a:solidFill>
                  <a:srgbClr val="38DED3"/>
                </a:solidFill>
                <a:effectLst/>
                <a:uFillTx/>
                <a:latin typeface="DejaVu Sans"/>
                <a:ea typeface="Calibri"/>
              </a:rPr>
              <a:t>02  Log-variance features</a:t>
            </a:r>
            <a:endParaRPr lang="en-US" sz="1800" b="0" u="none" strike="noStrike">
              <a:solidFill>
                <a:srgbClr val="FFFFFF"/>
              </a:solidFill>
              <a:effectLst/>
              <a:uFillTx/>
              <a:latin typeface="Arial"/>
            </a:endParaRPr>
          </a:p>
        </p:txBody>
      </p:sp>
      <p:pic>
        <p:nvPicPr>
          <p:cNvPr id="212" name="Picture 11" descr="image.png"/>
          <p:cNvPicPr/>
          <p:nvPr/>
        </p:nvPicPr>
        <p:blipFill>
          <a:blip r:embed="rId2"/>
          <a:stretch/>
        </p:blipFill>
        <p:spPr>
          <a:xfrm>
            <a:off x="685800" y="3484080"/>
            <a:ext cx="2464560" cy="894960"/>
          </a:xfrm>
          <a:prstGeom prst="rect">
            <a:avLst/>
          </a:prstGeom>
          <a:noFill/>
          <a:ln w="0">
            <a:noFill/>
          </a:ln>
        </p:spPr>
      </p:pic>
      <p:sp>
        <p:nvSpPr>
          <p:cNvPr id="213" name="TextBox 12"/>
          <p:cNvSpPr/>
          <p:nvPr/>
        </p:nvSpPr>
        <p:spPr>
          <a:xfrm>
            <a:off x="6629400" y="3291840"/>
            <a:ext cx="4663080" cy="59400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pPr>
            <a:r>
              <a:rPr lang="en-US" sz="1700" b="0" u="none" strike="noStrike">
                <a:solidFill>
                  <a:srgbClr val="EAF2F8"/>
                </a:solidFill>
                <a:effectLst/>
                <a:uFillTx/>
                <a:latin typeface="DejaVu Sans"/>
                <a:ea typeface="Calibri"/>
              </a:rPr>
              <a:t>Express each selected signal’s variance relative to the total.</a:t>
            </a:r>
            <a:endParaRPr lang="en-US" sz="1700" b="0" u="none" strike="noStrike">
              <a:solidFill>
                <a:srgbClr val="FFFFFF"/>
              </a:solidFill>
              <a:effectLst/>
              <a:uFillTx/>
              <a:latin typeface="Arial"/>
            </a:endParaRPr>
          </a:p>
        </p:txBody>
      </p:sp>
      <p:sp>
        <p:nvSpPr>
          <p:cNvPr id="214" name="TextBox 13"/>
          <p:cNvSpPr/>
          <p:nvPr/>
        </p:nvSpPr>
        <p:spPr>
          <a:xfrm>
            <a:off x="6629400" y="3913560"/>
            <a:ext cx="4663080" cy="45684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pPr>
            <a:r>
              <a:rPr lang="en-US" sz="1300" b="0" u="none" strike="noStrike">
                <a:solidFill>
                  <a:srgbClr val="9CB0C3"/>
                </a:solidFill>
                <a:effectLst/>
                <a:uFillTx/>
                <a:latin typeface="DejaVu Sans"/>
                <a:ea typeface="Calibri"/>
              </a:rPr>
              <a:t>The paper retains two features per band: four per trial.</a:t>
            </a:r>
            <a:endParaRPr lang="en-US" sz="1300" b="0" u="none" strike="noStrike">
              <a:solidFill>
                <a:srgbClr val="FFFFFF"/>
              </a:solidFill>
              <a:effectLst/>
              <a:uFillTx/>
              <a:latin typeface="Arial"/>
            </a:endParaRPr>
          </a:p>
        </p:txBody>
      </p:sp>
      <p:sp>
        <p:nvSpPr>
          <p:cNvPr id="215" name="TextBox 14"/>
          <p:cNvSpPr/>
          <p:nvPr/>
        </p:nvSpPr>
        <p:spPr>
          <a:xfrm>
            <a:off x="685800" y="4434840"/>
            <a:ext cx="5303160" cy="36540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pPr>
            <a:r>
              <a:rPr lang="en-US" sz="1800" b="1" u="none" strike="noStrike">
                <a:solidFill>
                  <a:srgbClr val="38DED3"/>
                </a:solidFill>
                <a:effectLst/>
                <a:uFillTx/>
                <a:latin typeface="DejaVu Sans"/>
                <a:ea typeface="Calibri"/>
              </a:rPr>
              <a:t>03  PCA and PC1 selection</a:t>
            </a:r>
            <a:endParaRPr lang="en-US" sz="1800" b="0" u="none" strike="noStrike">
              <a:solidFill>
                <a:srgbClr val="FFFFFF"/>
              </a:solidFill>
              <a:effectLst/>
              <a:uFillTx/>
              <a:latin typeface="Arial"/>
            </a:endParaRPr>
          </a:p>
        </p:txBody>
      </p:sp>
      <p:pic>
        <p:nvPicPr>
          <p:cNvPr id="216" name="Picture 15" descr="image.png"/>
          <p:cNvPicPr/>
          <p:nvPr/>
        </p:nvPicPr>
        <p:blipFill>
          <a:blip r:embed="rId3"/>
          <a:stretch/>
        </p:blipFill>
        <p:spPr>
          <a:xfrm>
            <a:off x="685800" y="4947120"/>
            <a:ext cx="3588840" cy="392040"/>
          </a:xfrm>
          <a:prstGeom prst="rect">
            <a:avLst/>
          </a:prstGeom>
          <a:noFill/>
          <a:ln w="0">
            <a:noFill/>
          </a:ln>
        </p:spPr>
      </p:pic>
      <p:sp>
        <p:nvSpPr>
          <p:cNvPr id="217" name="TextBox 16"/>
          <p:cNvSpPr/>
          <p:nvPr/>
        </p:nvSpPr>
        <p:spPr>
          <a:xfrm>
            <a:off x="6629400" y="4617720"/>
            <a:ext cx="4663080" cy="59400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pPr>
            <a:r>
              <a:rPr lang="en-US" sz="1700" b="0" u="none" strike="noStrike">
                <a:solidFill>
                  <a:srgbClr val="EAF2F8"/>
                </a:solidFill>
                <a:effectLst/>
                <a:uFillTx/>
                <a:latin typeface="DejaVu Sans"/>
                <a:ea typeface="Calibri"/>
              </a:rPr>
              <a:t>Transform the feature vector, then monitor its first PC score.</a:t>
            </a:r>
            <a:endParaRPr lang="en-US" sz="1700" b="0" u="none" strike="noStrike">
              <a:solidFill>
                <a:srgbClr val="FFFFFF"/>
              </a:solidFill>
              <a:effectLst/>
              <a:uFillTx/>
              <a:latin typeface="Arial"/>
            </a:endParaRPr>
          </a:p>
        </p:txBody>
      </p:sp>
      <p:sp>
        <p:nvSpPr>
          <p:cNvPr id="218" name="TextBox 17"/>
          <p:cNvSpPr/>
          <p:nvPr/>
        </p:nvSpPr>
        <p:spPr>
          <a:xfrm>
            <a:off x="6629400" y="5239440"/>
            <a:ext cx="4663080" cy="45684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pPr>
            <a:r>
              <a:rPr lang="en-US" sz="1300" b="0" u="none" strike="noStrike">
                <a:solidFill>
                  <a:srgbClr val="9CB0C3"/>
                </a:solidFill>
                <a:effectLst/>
                <a:uFillTx/>
                <a:latin typeface="DejaVu Sans"/>
                <a:ea typeface="Calibri"/>
              </a:rPr>
              <a:t>The classifier uses features; Stage I monitors the scalar xᵢ.</a:t>
            </a:r>
            <a:endParaRPr lang="en-US" sz="1300" b="0" u="none" strike="noStrike">
              <a:solidFill>
                <a:srgbClr val="FFFFFF"/>
              </a:solidFill>
              <a:effectLst/>
              <a:uFillTx/>
              <a:latin typeface="Arial"/>
            </a:endParaRPr>
          </a:p>
        </p:txBody>
      </p:sp>
      <p:sp>
        <p:nvSpPr>
          <p:cNvPr id="219" name="TextBox 18"/>
          <p:cNvSpPr/>
          <p:nvPr/>
        </p:nvSpPr>
        <p:spPr>
          <a:xfrm>
            <a:off x="685800" y="5989320"/>
            <a:ext cx="10972440" cy="45684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pPr>
            <a:r>
              <a:rPr lang="en-US" sz="1100" b="0" u="none" strike="noStrike">
                <a:solidFill>
                  <a:srgbClr val="9CB0C3"/>
                </a:solidFill>
                <a:effectLst/>
                <a:uFillTx/>
                <a:latin typeface="DejaVu Sans"/>
                <a:ea typeface="Calibri"/>
              </a:rPr>
              <a:t>Chowdhury et al. (2018), §II.E.1 and §II.E.3, Eqs. (1), (2), (4), pp. 1073–1074.</a:t>
            </a:r>
            <a:endParaRPr lang="en-US" sz="1100" b="0" u="none" strike="noStrike">
              <a:solidFill>
                <a:srgbClr val="FFFFFF"/>
              </a:solidFill>
              <a:effectLst/>
              <a:uFillTx/>
              <a:latin typeface="Arial"/>
            </a:endParaRPr>
          </a:p>
          <a:p>
            <a:pPr defTabSz="914400">
              <a:lnSpc>
                <a:spcPct val="100000"/>
              </a:lnSpc>
            </a:pPr>
            <a:r>
              <a:rPr lang="en-US" sz="1100" b="0" u="none" strike="noStrike">
                <a:solidFill>
                  <a:srgbClr val="9CB0C3"/>
                </a:solidFill>
                <a:effectLst/>
                <a:uFillTx/>
                <a:latin typeface="DejaVu Sans"/>
                <a:ea typeface="Calibri"/>
              </a:rPr>
              <a:t>Indices clarified; PCA shown with explicit calibration centring. Code: fbcsp.py; detection/preprocessing.py.</a:t>
            </a:r>
            <a:endParaRPr lang="en-US"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 name="TextBox 1"/>
          <p:cNvSpPr/>
          <p:nvPr/>
        </p:nvSpPr>
        <p:spPr>
          <a:xfrm>
            <a:off x="612720" y="292680"/>
            <a:ext cx="10881000" cy="31968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300" b="1" u="none" strike="noStrike">
                <a:solidFill>
                  <a:srgbClr val="AE9251"/>
                </a:solidFill>
                <a:effectLst/>
                <a:uFillTx/>
                <a:latin typeface="Aptos"/>
                <a:ea typeface="Calibri"/>
              </a:rPr>
              <a:t>REPRESENTATION VERSUS ADAPTATION</a:t>
            </a:r>
            <a:endParaRPr lang="en-US" sz="1300" b="0" u="none" strike="noStrike">
              <a:solidFill>
                <a:srgbClr val="000000"/>
              </a:solidFill>
              <a:effectLst/>
              <a:uFillTx/>
              <a:latin typeface="Arial"/>
            </a:endParaRPr>
          </a:p>
        </p:txBody>
      </p:sp>
      <p:sp>
        <p:nvSpPr>
          <p:cNvPr id="221" name="TextBox 2"/>
          <p:cNvSpPr/>
          <p:nvPr/>
        </p:nvSpPr>
        <p:spPr>
          <a:xfrm>
            <a:off x="612720" y="749880"/>
            <a:ext cx="10972440" cy="63972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2700" b="1" u="none" strike="noStrike">
                <a:solidFill>
                  <a:srgbClr val="13274B"/>
                </a:solidFill>
                <a:effectLst/>
                <a:uFillTx/>
                <a:latin typeface="Aptos"/>
                <a:ea typeface="Calibri"/>
              </a:rPr>
              <a:t>What is fixed and what changes during SVM updates</a:t>
            </a:r>
            <a:endParaRPr lang="en-US" sz="2700" b="0" u="none" strike="noStrike">
              <a:solidFill>
                <a:srgbClr val="000000"/>
              </a:solidFill>
              <a:effectLst/>
              <a:uFillTx/>
              <a:latin typeface="Arial"/>
            </a:endParaRPr>
          </a:p>
        </p:txBody>
      </p:sp>
      <p:sp>
        <p:nvSpPr>
          <p:cNvPr id="222" name="TextBox 3"/>
          <p:cNvSpPr/>
          <p:nvPr/>
        </p:nvSpPr>
        <p:spPr>
          <a:xfrm>
            <a:off x="685800" y="1435680"/>
            <a:ext cx="10881000" cy="51156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400" b="0" u="none" strike="noStrike">
                <a:solidFill>
                  <a:srgbClr val="53657C"/>
                </a:solidFill>
                <a:effectLst/>
                <a:uFillTx/>
                <a:latin typeface="Aptos"/>
                <a:ea typeface="Calibri"/>
              </a:rPr>
              <a:t>The stored training set grows and a new linear SVM is fitted; the feature and monitoring mappings are not refitted.</a:t>
            </a:r>
            <a:endParaRPr lang="en-US" sz="1400" b="0" u="none" strike="noStrike">
              <a:solidFill>
                <a:srgbClr val="000000"/>
              </a:solidFill>
              <a:effectLst/>
              <a:uFillTx/>
              <a:latin typeface="Arial"/>
            </a:endParaRPr>
          </a:p>
        </p:txBody>
      </p:sp>
      <p:sp>
        <p:nvSpPr>
          <p:cNvPr id="223" name="TextBox 4"/>
          <p:cNvSpPr/>
          <p:nvPr/>
        </p:nvSpPr>
        <p:spPr>
          <a:xfrm>
            <a:off x="612720" y="6510600"/>
            <a:ext cx="8229240" cy="20988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900" b="0" u="none" strike="noStrike">
                <a:solidFill>
                  <a:srgbClr val="53657C"/>
                </a:solidFill>
                <a:effectLst/>
                <a:uFillTx/>
                <a:latin typeface="Aptos"/>
                <a:ea typeface="Calibri"/>
              </a:rPr>
              <a:t>hlin863/ewma_covariate_shift_demo</a:t>
            </a:r>
            <a:endParaRPr lang="en-US" sz="900" b="0" u="none" strike="noStrike">
              <a:solidFill>
                <a:srgbClr val="000000"/>
              </a:solidFill>
              <a:effectLst/>
              <a:uFillTx/>
              <a:latin typeface="Arial"/>
            </a:endParaRPr>
          </a:p>
        </p:txBody>
      </p:sp>
      <p:pic>
        <p:nvPicPr>
          <p:cNvPr id="224" name="Picture 5" descr="ewma_representation_equation.png"/>
          <p:cNvPicPr/>
          <p:nvPr/>
        </p:nvPicPr>
        <p:blipFill>
          <a:blip r:embed="rId1"/>
          <a:stretch/>
        </p:blipFill>
        <p:spPr>
          <a:xfrm>
            <a:off x="731520" y="1865520"/>
            <a:ext cx="10743840" cy="894240"/>
          </a:xfrm>
          <a:prstGeom prst="rect">
            <a:avLst/>
          </a:prstGeom>
          <a:noFill/>
          <a:ln w="0">
            <a:noFill/>
          </a:ln>
        </p:spPr>
      </p:pic>
      <p:sp>
        <p:nvSpPr>
          <p:cNvPr id="225" name="Rounded Rectangle 6"/>
          <p:cNvSpPr/>
          <p:nvPr/>
        </p:nvSpPr>
        <p:spPr>
          <a:xfrm>
            <a:off x="777240" y="2880360"/>
            <a:ext cx="3337200" cy="1663920"/>
          </a:xfrm>
          <a:prstGeom prst="roundRect">
            <a:avLst>
              <a:gd name="adj" fmla="val 16667"/>
            </a:avLst>
          </a:prstGeom>
          <a:solidFill>
            <a:srgbClr val="ECF2F8"/>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26" name="TextBox 7"/>
          <p:cNvSpPr/>
          <p:nvPr/>
        </p:nvSpPr>
        <p:spPr>
          <a:xfrm>
            <a:off x="941760" y="3090600"/>
            <a:ext cx="3062880" cy="3564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600" b="1" u="none" strike="noStrike">
                <a:solidFill>
                  <a:srgbClr val="13274B"/>
                </a:solidFill>
                <a:effectLst/>
                <a:uFillTx/>
                <a:latin typeface="Aptos"/>
                <a:ea typeface="Calibri"/>
              </a:rPr>
              <a:t>EEG → FBCSP</a:t>
            </a:r>
            <a:endParaRPr lang="en-US" sz="1600" b="0" u="none" strike="noStrike">
              <a:solidFill>
                <a:srgbClr val="000000"/>
              </a:solidFill>
              <a:effectLst/>
              <a:uFillTx/>
              <a:latin typeface="Arial"/>
            </a:endParaRPr>
          </a:p>
        </p:txBody>
      </p:sp>
      <p:sp>
        <p:nvSpPr>
          <p:cNvPr id="227" name="TextBox 8"/>
          <p:cNvSpPr/>
          <p:nvPr/>
        </p:nvSpPr>
        <p:spPr>
          <a:xfrm>
            <a:off x="941760" y="3575160"/>
            <a:ext cx="3017160" cy="8316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200" b="0" u="none" strike="noStrike">
                <a:solidFill>
                  <a:srgbClr val="53657C"/>
                </a:solidFill>
                <a:effectLst/>
                <a:uFillTx/>
                <a:latin typeface="Aptos"/>
                <a:ea typeface="Calibri"/>
              </a:rPr>
              <a:t>Eₜ is a trial; φ₀ is the mapping fitted at calibration. Not refitted during SVM updates.</a:t>
            </a:r>
            <a:endParaRPr lang="en-US" sz="1200" b="0" u="none" strike="noStrike">
              <a:solidFill>
                <a:srgbClr val="000000"/>
              </a:solidFill>
              <a:effectLst/>
              <a:uFillTx/>
              <a:latin typeface="Arial"/>
            </a:endParaRPr>
          </a:p>
        </p:txBody>
      </p:sp>
      <p:sp>
        <p:nvSpPr>
          <p:cNvPr id="228" name="Rounded Rectangle 9"/>
          <p:cNvSpPr/>
          <p:nvPr/>
        </p:nvSpPr>
        <p:spPr>
          <a:xfrm>
            <a:off x="4572000" y="2880360"/>
            <a:ext cx="3337200" cy="1663920"/>
          </a:xfrm>
          <a:prstGeom prst="roundRect">
            <a:avLst>
              <a:gd name="adj" fmla="val 16667"/>
            </a:avLst>
          </a:prstGeom>
          <a:solidFill>
            <a:srgbClr val="ECF2F8"/>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29" name="TextBox 10"/>
          <p:cNvSpPr/>
          <p:nvPr/>
        </p:nvSpPr>
        <p:spPr>
          <a:xfrm>
            <a:off x="4736520" y="3090600"/>
            <a:ext cx="3062880" cy="3564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600" b="1" u="none" strike="noStrike">
                <a:solidFill>
                  <a:srgbClr val="13274B"/>
                </a:solidFill>
                <a:effectLst/>
                <a:uFillTx/>
                <a:latin typeface="Aptos"/>
                <a:ea typeface="Calibri"/>
              </a:rPr>
              <a:t>FBCSP → PCA monitor</a:t>
            </a:r>
            <a:endParaRPr lang="en-US" sz="1600" b="0" u="none" strike="noStrike">
              <a:solidFill>
                <a:srgbClr val="000000"/>
              </a:solidFill>
              <a:effectLst/>
              <a:uFillTx/>
              <a:latin typeface="Arial"/>
            </a:endParaRPr>
          </a:p>
        </p:txBody>
      </p:sp>
      <p:sp>
        <p:nvSpPr>
          <p:cNvPr id="230" name="TextBox 11"/>
          <p:cNvSpPr/>
          <p:nvPr/>
        </p:nvSpPr>
        <p:spPr>
          <a:xfrm>
            <a:off x="4736520" y="3575160"/>
            <a:ext cx="3017160" cy="8316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200" b="0" u="none" strike="noStrike">
                <a:solidFill>
                  <a:srgbClr val="53657C"/>
                </a:solidFill>
                <a:effectLst/>
                <a:uFillTx/>
                <a:latin typeface="Aptos"/>
                <a:ea typeface="Calibri"/>
              </a:rPr>
              <a:t>μ₀ and P₀ define the initial PCA coordinates. qₜ is a monitoring score, not the SVM input.</a:t>
            </a:r>
            <a:endParaRPr lang="en-US" sz="1200" b="0" u="none" strike="noStrike">
              <a:solidFill>
                <a:srgbClr val="000000"/>
              </a:solidFill>
              <a:effectLst/>
              <a:uFillTx/>
              <a:latin typeface="Arial"/>
            </a:endParaRPr>
          </a:p>
        </p:txBody>
      </p:sp>
      <p:sp>
        <p:nvSpPr>
          <p:cNvPr id="231" name="Rounded Rectangle 12"/>
          <p:cNvSpPr/>
          <p:nvPr/>
        </p:nvSpPr>
        <p:spPr>
          <a:xfrm>
            <a:off x="8275320" y="2880360"/>
            <a:ext cx="3337200" cy="1663920"/>
          </a:xfrm>
          <a:prstGeom prst="roundRect">
            <a:avLst>
              <a:gd name="adj" fmla="val 16667"/>
            </a:avLst>
          </a:prstGeom>
          <a:solidFill>
            <a:srgbClr val="ECF2F8"/>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32" name="TextBox 13"/>
          <p:cNvSpPr/>
          <p:nvPr/>
        </p:nvSpPr>
        <p:spPr>
          <a:xfrm>
            <a:off x="8439840" y="3090600"/>
            <a:ext cx="3062880" cy="3564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600" b="1" u="none" strike="noStrike">
                <a:solidFill>
                  <a:srgbClr val="13274B"/>
                </a:solidFill>
                <a:effectLst/>
                <a:uFillTx/>
                <a:latin typeface="Aptos"/>
                <a:ea typeface="Calibri"/>
              </a:rPr>
              <a:t>FBCSP → prediction</a:t>
            </a:r>
            <a:endParaRPr lang="en-US" sz="1600" b="0" u="none" strike="noStrike">
              <a:solidFill>
                <a:srgbClr val="000000"/>
              </a:solidFill>
              <a:effectLst/>
              <a:uFillTx/>
              <a:latin typeface="Arial"/>
            </a:endParaRPr>
          </a:p>
        </p:txBody>
      </p:sp>
      <p:sp>
        <p:nvSpPr>
          <p:cNvPr id="233" name="TextBox 14"/>
          <p:cNvSpPr/>
          <p:nvPr/>
        </p:nvSpPr>
        <p:spPr>
          <a:xfrm>
            <a:off x="8439840" y="3575160"/>
            <a:ext cx="3017160" cy="8316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200" b="0" u="none" strike="noStrike">
                <a:solidFill>
                  <a:srgbClr val="53657C"/>
                </a:solidFill>
                <a:effectLst/>
                <a:uFillTx/>
                <a:latin typeface="Aptos"/>
                <a:ea typeface="Calibri"/>
              </a:rPr>
              <a:t>gθₜ acts on fₜ; θₜ changes when the SVM is retrained on accumulated examples.</a:t>
            </a:r>
            <a:endParaRPr lang="en-US" sz="1200" b="0" u="none" strike="noStrike">
              <a:solidFill>
                <a:srgbClr val="000000"/>
              </a:solidFill>
              <a:effectLst/>
              <a:uFillTx/>
              <a:latin typeface="Arial"/>
            </a:endParaRPr>
          </a:p>
        </p:txBody>
      </p:sp>
      <p:sp>
        <p:nvSpPr>
          <p:cNvPr id="234" name="TextBox 15"/>
          <p:cNvSpPr/>
          <p:nvPr/>
        </p:nvSpPr>
        <p:spPr>
          <a:xfrm>
            <a:off x="777240" y="4883040"/>
            <a:ext cx="10698120" cy="54828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700" b="1" u="none" strike="noStrike">
                <a:solidFill>
                  <a:srgbClr val="13274B"/>
                </a:solidFill>
                <a:effectLst/>
                <a:uFillTx/>
                <a:latin typeface="Aptos"/>
                <a:ea typeface="Calibri"/>
              </a:rPr>
              <a:t>Implementation boundary: refitting the classifier does not imply calling fit_fbcsp() or fit_cse_pca().</a:t>
            </a:r>
            <a:endParaRPr lang="en-US" sz="1700" b="0" u="none" strike="noStrike">
              <a:solidFill>
                <a:srgbClr val="000000"/>
              </a:solidFill>
              <a:effectLst/>
              <a:uFillTx/>
              <a:latin typeface="Arial"/>
            </a:endParaRPr>
          </a:p>
        </p:txBody>
      </p:sp>
      <p:sp>
        <p:nvSpPr>
          <p:cNvPr id="235" name="TextBox 16"/>
          <p:cNvSpPr/>
          <p:nvPr/>
        </p:nvSpPr>
        <p:spPr>
          <a:xfrm>
            <a:off x="777240" y="5660280"/>
            <a:ext cx="10606680" cy="33804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300" b="0" u="none" strike="noStrike">
                <a:solidFill>
                  <a:srgbClr val="53657C"/>
                </a:solidFill>
                <a:effectLst/>
                <a:uFillTx/>
                <a:latin typeface="Aptos"/>
                <a:ea typeface="Calibri"/>
              </a:rPr>
              <a:t>Fixed mapping means fixed fitted parameters — not constant features or scores over time.</a:t>
            </a:r>
            <a:endParaRPr lang="en-US" sz="1300" b="0" u="none" strike="noStrike">
              <a:solidFill>
                <a:srgbClr val="000000"/>
              </a:solidFill>
              <a:effectLst/>
              <a:uFillTx/>
              <a:latin typeface="Arial"/>
            </a:endParaRPr>
          </a:p>
        </p:txBody>
      </p:sp>
      <p:sp>
        <p:nvSpPr>
          <p:cNvPr id="236" name="Slide number"/>
          <p:cNvSpPr/>
          <p:nvPr/>
        </p:nvSpPr>
        <p:spPr>
          <a:xfrm>
            <a:off x="11334600" y="6429240"/>
            <a:ext cx="380520" cy="256680"/>
          </a:xfrm>
          <a:noFill/>
          <a:ln w="0">
            <a:noFill/>
          </a:ln>
        </p:spPr>
        <p:style>
          <a:lnRef idx="0"/>
          <a:fillRef idx="0"/>
          <a:effectRef idx="0"/>
          <a:fontRef idx="minor"/>
        </p:style>
        <p:txBody>
          <a:bodyPr lIns="90000" tIns="45000" rIns="90000" bIns="45000" anchor="t">
            <a:noAutofit/>
          </a:bodyPr>
          <a:p>
            <a:pPr defTabSz="914400">
              <a:lnSpc>
                <a:spcPct val="100000"/>
              </a:lnSpc>
            </a:pPr>
            <a:r>
              <a:rPr lang="en-US" sz="1200" b="0" u="none" strike="noStrike">
                <a:solidFill>
                  <a:srgbClr val="516377"/>
                </a:solidFill>
                <a:effectLst/>
                <a:uFillTx/>
                <a:latin typeface="Calibri"/>
                <a:ea typeface="Calibri"/>
              </a:rPr>
              <a:t>15</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AFC"/>
        </a:solidFill>
      </p:bgPr>
    </p:bg>
    <p:spTree>
      <p:nvGrpSpPr>
        <p:cNvPr id="1" name=""/>
        <p:cNvGrpSpPr/>
        <p:nvPr/>
      </p:nvGrpSpPr>
      <p:grpSpPr>
        <a:xfrm>
          <a:off x="0" y="0"/>
          <a:ext cx="0" cy="0"/>
          <a:chOff x="0" y="0"/>
          <a:chExt cx="0" cy="0"/>
        </a:xfrm>
      </p:grpSpPr>
      <p:sp>
        <p:nvSpPr>
          <p:cNvPr id="237" name=""/>
          <p:cNvSpPr/>
          <p:nvPr/>
        </p:nvSpPr>
        <p:spPr>
          <a:xfrm>
            <a:off x="638280" y="324000"/>
            <a:ext cx="10953360" cy="2376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050" b="1" u="none" strike="noStrike">
                <a:solidFill>
                  <a:srgbClr val="0D9488"/>
                </a:solidFill>
                <a:effectLst/>
                <a:uFillTx/>
                <a:latin typeface="+mn-lt"/>
                <a:ea typeface="+mn-lt"/>
              </a:rPr>
              <a:t>DETECTOR MATHEMATICS</a:t>
            </a:r>
            <a:endParaRPr lang="en-US" sz="1050" b="0" u="none" strike="noStrike">
              <a:solidFill>
                <a:srgbClr val="000000"/>
              </a:solidFill>
              <a:effectLst/>
              <a:uFillTx/>
              <a:latin typeface="Arial"/>
            </a:endParaRPr>
          </a:p>
        </p:txBody>
      </p:sp>
      <p:sp>
        <p:nvSpPr>
          <p:cNvPr id="238" name=""/>
          <p:cNvSpPr/>
          <p:nvPr/>
        </p:nvSpPr>
        <p:spPr>
          <a:xfrm>
            <a:off x="638280" y="704880"/>
            <a:ext cx="10953360" cy="6282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2700" b="1" u="none" strike="noStrike">
                <a:solidFill>
                  <a:srgbClr val="12233B"/>
                </a:solidFill>
                <a:effectLst/>
                <a:uFillTx/>
                <a:latin typeface="+mn-lt"/>
                <a:ea typeface="+mn-lt"/>
              </a:rPr>
              <a:t>Stage I: EWMA monitoring</a:t>
            </a:r>
            <a:endParaRPr lang="en-US" sz="2700" b="0" u="none" strike="noStrike">
              <a:solidFill>
                <a:srgbClr val="000000"/>
              </a:solidFill>
              <a:effectLst/>
              <a:uFillTx/>
              <a:latin typeface="Arial"/>
            </a:endParaRPr>
          </a:p>
        </p:txBody>
      </p:sp>
      <p:sp>
        <p:nvSpPr>
          <p:cNvPr id="239" name=""/>
          <p:cNvSpPr/>
          <p:nvPr/>
        </p:nvSpPr>
        <p:spPr>
          <a:xfrm>
            <a:off x="638280" y="6467400"/>
            <a:ext cx="10000800" cy="20916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900" b="0" u="none" strike="noStrike">
                <a:solidFill>
                  <a:srgbClr val="516377"/>
                </a:solidFill>
                <a:effectLst/>
                <a:uFillTx/>
                <a:latin typeface="+mn-lt"/>
                <a:ea typeface="+mn-lt"/>
              </a:rPr>
              <a:t>Research progress · hlin863/ewma_covariate_shift_demo · October 2026</a:t>
            </a:r>
            <a:endParaRPr lang="en-US" sz="900" b="0" u="none" strike="noStrike">
              <a:solidFill>
                <a:srgbClr val="000000"/>
              </a:solidFill>
              <a:effectLst/>
              <a:uFillTx/>
              <a:latin typeface="Arial"/>
            </a:endParaRPr>
          </a:p>
        </p:txBody>
      </p:sp>
      <p:sp>
        <p:nvSpPr>
          <p:cNvPr id="240" name=""/>
          <p:cNvSpPr/>
          <p:nvPr/>
        </p:nvSpPr>
        <p:spPr>
          <a:xfrm>
            <a:off x="11334600" y="6429240"/>
            <a:ext cx="380520" cy="2566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200" b="0" u="none" strike="noStrike">
                <a:solidFill>
                  <a:srgbClr val="516377"/>
                </a:solidFill>
                <a:effectLst/>
                <a:uFillTx/>
                <a:latin typeface="+mn-lt"/>
                <a:ea typeface="+mn-lt"/>
              </a:rPr>
              <a:t>16</a:t>
            </a:r>
            <a:endParaRPr lang="en-US" sz="1200" b="0" u="none" strike="noStrike">
              <a:solidFill>
                <a:srgbClr val="000000"/>
              </a:solidFill>
              <a:effectLst/>
              <a:uFillTx/>
              <a:latin typeface="Arial"/>
            </a:endParaRPr>
          </a:p>
        </p:txBody>
      </p:sp>
      <p:sp>
        <p:nvSpPr>
          <p:cNvPr id="241" name=""/>
          <p:cNvSpPr/>
          <p:nvPr/>
        </p:nvSpPr>
        <p:spPr>
          <a:xfrm>
            <a:off x="666720" y="1447920"/>
            <a:ext cx="10762920" cy="2948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650" b="1" u="none" strike="noStrike">
                <a:solidFill>
                  <a:srgbClr val="0D9488"/>
                </a:solidFill>
                <a:effectLst/>
                <a:uFillTx/>
                <a:latin typeface="+mn-lt"/>
                <a:ea typeface="+mn-lt"/>
              </a:rPr>
              <a:t>EWMA-STATE · current PC1 score and preceding prediction</a:t>
            </a:r>
            <a:endParaRPr lang="en-US" sz="1650" b="0" u="none" strike="noStrike">
              <a:solidFill>
                <a:srgbClr val="000000"/>
              </a:solidFill>
              <a:effectLst/>
              <a:uFillTx/>
              <a:latin typeface="Arial"/>
            </a:endParaRPr>
          </a:p>
        </p:txBody>
      </p:sp>
      <p:pic>
        <p:nvPicPr>
          <p:cNvPr id="242" name=""/>
          <p:cNvPicPr/>
          <p:nvPr/>
        </p:nvPicPr>
        <p:blipFill>
          <a:blip r:embed="rId1"/>
          <a:stretch/>
        </p:blipFill>
        <p:spPr>
          <a:xfrm>
            <a:off x="666720" y="1857240"/>
            <a:ext cx="10839240" cy="536400"/>
          </a:xfrm>
          <a:prstGeom prst="rect">
            <a:avLst/>
          </a:prstGeom>
          <a:noFill/>
          <a:ln w="0">
            <a:noFill/>
          </a:ln>
        </p:spPr>
      </p:pic>
      <p:sp>
        <p:nvSpPr>
          <p:cNvPr id="243" name=""/>
          <p:cNvSpPr/>
          <p:nvPr/>
        </p:nvSpPr>
        <p:spPr>
          <a:xfrm>
            <a:off x="666720" y="2676600"/>
            <a:ext cx="10762920" cy="2948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650" b="1" u="none" strike="noStrike">
                <a:solidFill>
                  <a:srgbClr val="0D9488"/>
                </a:solidFill>
                <a:effectLst/>
                <a:uFillTx/>
                <a:latin typeface="+mn-lt"/>
                <a:ea typeface="+mn-lt"/>
              </a:rPr>
              <a:t>EWMA-LIMITS · centre and spread from the previous trial</a:t>
            </a:r>
            <a:endParaRPr lang="en-US" sz="1650" b="0" u="none" strike="noStrike">
              <a:solidFill>
                <a:srgbClr val="000000"/>
              </a:solidFill>
              <a:effectLst/>
              <a:uFillTx/>
              <a:latin typeface="Arial"/>
            </a:endParaRPr>
          </a:p>
        </p:txBody>
      </p:sp>
      <p:pic>
        <p:nvPicPr>
          <p:cNvPr id="244" name=""/>
          <p:cNvPicPr/>
          <p:nvPr/>
        </p:nvPicPr>
        <p:blipFill>
          <a:blip r:embed="rId2"/>
          <a:stretch/>
        </p:blipFill>
        <p:spPr>
          <a:xfrm>
            <a:off x="666720" y="3105000"/>
            <a:ext cx="10839240" cy="468360"/>
          </a:xfrm>
          <a:prstGeom prst="rect">
            <a:avLst/>
          </a:prstGeom>
          <a:noFill/>
          <a:ln w="0">
            <a:noFill/>
          </a:ln>
        </p:spPr>
      </p:pic>
      <p:sp>
        <p:nvSpPr>
          <p:cNvPr id="245" name=""/>
          <p:cNvSpPr/>
          <p:nvPr/>
        </p:nvSpPr>
        <p:spPr>
          <a:xfrm>
            <a:off x="666720" y="3962520"/>
            <a:ext cx="10762920" cy="2948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650" b="1" u="none" strike="noStrike">
                <a:solidFill>
                  <a:srgbClr val="0D9488"/>
                </a:solidFill>
                <a:effectLst/>
                <a:uFillTx/>
                <a:latin typeface="+mn-lt"/>
                <a:ea typeface="+mn-lt"/>
              </a:rPr>
              <a:t>EWMA-VARIANCE · error-variance update</a:t>
            </a:r>
            <a:endParaRPr lang="en-US" sz="1650" b="0" u="none" strike="noStrike">
              <a:solidFill>
                <a:srgbClr val="000000"/>
              </a:solidFill>
              <a:effectLst/>
              <a:uFillTx/>
              <a:latin typeface="Arial"/>
            </a:endParaRPr>
          </a:p>
        </p:txBody>
      </p:sp>
      <p:pic>
        <p:nvPicPr>
          <p:cNvPr id="246" name=""/>
          <p:cNvPicPr/>
          <p:nvPr/>
        </p:nvPicPr>
        <p:blipFill>
          <a:blip r:embed="rId3"/>
          <a:stretch/>
        </p:blipFill>
        <p:spPr>
          <a:xfrm>
            <a:off x="666720" y="4371840"/>
            <a:ext cx="5750280" cy="571320"/>
          </a:xfrm>
          <a:prstGeom prst="rect">
            <a:avLst/>
          </a:prstGeom>
          <a:noFill/>
          <a:ln w="0">
            <a:noFill/>
          </a:ln>
        </p:spPr>
      </p:pic>
      <p:sp>
        <p:nvSpPr>
          <p:cNvPr id="247" name=""/>
          <p:cNvSpPr/>
          <p:nvPr/>
        </p:nvSpPr>
        <p:spPr>
          <a:xfrm>
            <a:off x="666720" y="5219640"/>
            <a:ext cx="10762920" cy="7426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729" b="0" u="none" strike="noStrike">
                <a:solidFill>
                  <a:srgbClr val="12233B"/>
                </a:solidFill>
                <a:effectLst/>
                <a:uFillTx/>
                <a:latin typeface="+mn-lt"/>
                <a:ea typeface="+mn-lt"/>
              </a:rPr>
              <a:t>Check the current limits before updating state and variance.</a:t>
            </a:r>
            <a:endParaRPr lang="en-US" sz="1729" b="0" u="none" strike="noStrike">
              <a:solidFill>
                <a:srgbClr val="000000"/>
              </a:solidFill>
              <a:effectLst/>
              <a:uFillTx/>
              <a:latin typeface="Arial"/>
            </a:endParaRPr>
          </a:p>
          <a:p>
            <a:pPr defTabSz="914400">
              <a:lnSpc>
                <a:spcPct val="100000"/>
              </a:lnSpc>
            </a:pPr>
            <a:r>
              <a:rPr lang="en-US" sz="1729" b="0" u="none" strike="noStrike">
                <a:solidFill>
                  <a:srgbClr val="12233B"/>
                </a:solidFill>
                <a:effectLst/>
                <a:uFillTx/>
                <a:latin typeface="+mn-lt"/>
                <a:ea typeface="+mn-lt"/>
              </a:rPr>
              <a:t>λ weights observations; αᵥ weights squared prediction errors.</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AFC"/>
        </a:solidFill>
      </p:bgPr>
    </p:bg>
    <p:spTree>
      <p:nvGrpSpPr>
        <p:cNvPr id="1" name=""/>
        <p:cNvGrpSpPr/>
        <p:nvPr/>
      </p:nvGrpSpPr>
      <p:grpSpPr>
        <a:xfrm>
          <a:off x="0" y="0"/>
          <a:ext cx="0" cy="0"/>
          <a:chOff x="0" y="0"/>
          <a:chExt cx="0" cy="0"/>
        </a:xfrm>
      </p:grpSpPr>
      <p:sp>
        <p:nvSpPr>
          <p:cNvPr id="248" name=""/>
          <p:cNvSpPr/>
          <p:nvPr/>
        </p:nvSpPr>
        <p:spPr>
          <a:xfrm>
            <a:off x="638280" y="324000"/>
            <a:ext cx="10953360" cy="2376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050" b="1" u="none" strike="noStrike">
                <a:solidFill>
                  <a:srgbClr val="0D9488"/>
                </a:solidFill>
                <a:effectLst/>
                <a:uFillTx/>
                <a:latin typeface="+mn-lt"/>
                <a:ea typeface="+mn-lt"/>
              </a:rPr>
              <a:t>DETECTOR MATHEMATICS</a:t>
            </a:r>
            <a:endParaRPr lang="en-US" sz="1050" b="0" u="none" strike="noStrike">
              <a:solidFill>
                <a:srgbClr val="000000"/>
              </a:solidFill>
              <a:effectLst/>
              <a:uFillTx/>
              <a:latin typeface="Arial"/>
            </a:endParaRPr>
          </a:p>
        </p:txBody>
      </p:sp>
      <p:sp>
        <p:nvSpPr>
          <p:cNvPr id="249" name=""/>
          <p:cNvSpPr/>
          <p:nvPr/>
        </p:nvSpPr>
        <p:spPr>
          <a:xfrm>
            <a:off x="638280" y="704880"/>
            <a:ext cx="10953360" cy="6282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2700" b="1" u="none" strike="noStrike">
                <a:solidFill>
                  <a:srgbClr val="12233B"/>
                </a:solidFill>
                <a:effectLst/>
                <a:uFillTx/>
                <a:latin typeface="+mn-lt"/>
                <a:ea typeface="+mn-lt"/>
              </a:rPr>
              <a:t>Stage II: Hotelling statistic and decision</a:t>
            </a:r>
            <a:endParaRPr lang="en-US" sz="2700" b="0" u="none" strike="noStrike">
              <a:solidFill>
                <a:srgbClr val="000000"/>
              </a:solidFill>
              <a:effectLst/>
              <a:uFillTx/>
              <a:latin typeface="Arial"/>
            </a:endParaRPr>
          </a:p>
        </p:txBody>
      </p:sp>
      <p:sp>
        <p:nvSpPr>
          <p:cNvPr id="250" name=""/>
          <p:cNvSpPr/>
          <p:nvPr/>
        </p:nvSpPr>
        <p:spPr>
          <a:xfrm>
            <a:off x="638280" y="6467400"/>
            <a:ext cx="10000800" cy="20916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900" b="0" u="none" strike="noStrike">
                <a:solidFill>
                  <a:srgbClr val="516377"/>
                </a:solidFill>
                <a:effectLst/>
                <a:uFillTx/>
                <a:latin typeface="+mn-lt"/>
                <a:ea typeface="+mn-lt"/>
              </a:rPr>
              <a:t>Research progress · hlin863/ewma_covariate_shift_demo · October 2026</a:t>
            </a:r>
            <a:endParaRPr lang="en-US" sz="900" b="0" u="none" strike="noStrike">
              <a:solidFill>
                <a:srgbClr val="000000"/>
              </a:solidFill>
              <a:effectLst/>
              <a:uFillTx/>
              <a:latin typeface="Arial"/>
            </a:endParaRPr>
          </a:p>
        </p:txBody>
      </p:sp>
      <p:sp>
        <p:nvSpPr>
          <p:cNvPr id="251" name=""/>
          <p:cNvSpPr/>
          <p:nvPr/>
        </p:nvSpPr>
        <p:spPr>
          <a:xfrm>
            <a:off x="11334600" y="6429240"/>
            <a:ext cx="380520" cy="2566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200" b="0" u="none" strike="noStrike">
                <a:solidFill>
                  <a:srgbClr val="516377"/>
                </a:solidFill>
                <a:effectLst/>
                <a:uFillTx/>
                <a:latin typeface="+mn-lt"/>
                <a:ea typeface="+mn-lt"/>
              </a:rPr>
              <a:t>17</a:t>
            </a:r>
            <a:endParaRPr lang="en-US" sz="1200" b="0" u="none" strike="noStrike">
              <a:solidFill>
                <a:srgbClr val="000000"/>
              </a:solidFill>
              <a:effectLst/>
              <a:uFillTx/>
              <a:latin typeface="Arial"/>
            </a:endParaRPr>
          </a:p>
        </p:txBody>
      </p:sp>
      <p:sp>
        <p:nvSpPr>
          <p:cNvPr id="252" name=""/>
          <p:cNvSpPr/>
          <p:nvPr/>
        </p:nvSpPr>
        <p:spPr>
          <a:xfrm>
            <a:off x="666720" y="1428840"/>
            <a:ext cx="10762920" cy="2664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500" b="1" u="none" strike="noStrike">
                <a:solidFill>
                  <a:srgbClr val="0D9488"/>
                </a:solidFill>
                <a:effectLst/>
                <a:uFillTx/>
                <a:latin typeface="+mn-lt"/>
                <a:ea typeface="+mn-lt"/>
              </a:rPr>
              <a:t>W4 · paper expression</a:t>
            </a:r>
            <a:endParaRPr lang="en-US" sz="1500" b="0" u="none" strike="noStrike">
              <a:solidFill>
                <a:srgbClr val="000000"/>
              </a:solidFill>
              <a:effectLst/>
              <a:uFillTx/>
              <a:latin typeface="Arial"/>
            </a:endParaRPr>
          </a:p>
        </p:txBody>
      </p:sp>
      <p:pic>
        <p:nvPicPr>
          <p:cNvPr id="253" name=""/>
          <p:cNvPicPr/>
          <p:nvPr/>
        </p:nvPicPr>
        <p:blipFill>
          <a:blip r:embed="rId1"/>
          <a:stretch/>
        </p:blipFill>
        <p:spPr>
          <a:xfrm>
            <a:off x="666720" y="1790640"/>
            <a:ext cx="6365520" cy="533160"/>
          </a:xfrm>
          <a:prstGeom prst="rect">
            <a:avLst/>
          </a:prstGeom>
          <a:noFill/>
          <a:ln w="0">
            <a:noFill/>
          </a:ln>
        </p:spPr>
      </p:pic>
      <p:sp>
        <p:nvSpPr>
          <p:cNvPr id="254" name=""/>
          <p:cNvSpPr/>
          <p:nvPr/>
        </p:nvSpPr>
        <p:spPr>
          <a:xfrm>
            <a:off x="666720" y="2562120"/>
            <a:ext cx="10762920" cy="2664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500" b="1" u="none" strike="noStrike">
                <a:solidFill>
                  <a:srgbClr val="0D9488"/>
                </a:solidFill>
                <a:effectLst/>
                <a:uFillTx/>
                <a:latin typeface="+mn-lt"/>
                <a:ea typeface="+mn-lt"/>
              </a:rPr>
              <a:t>W3 · pooled covariance and two-sample statistic</a:t>
            </a:r>
            <a:endParaRPr lang="en-US" sz="1500" b="0" u="none" strike="noStrike">
              <a:solidFill>
                <a:srgbClr val="000000"/>
              </a:solidFill>
              <a:effectLst/>
              <a:uFillTx/>
              <a:latin typeface="Arial"/>
            </a:endParaRPr>
          </a:p>
        </p:txBody>
      </p:sp>
      <p:pic>
        <p:nvPicPr>
          <p:cNvPr id="255" name=""/>
          <p:cNvPicPr/>
          <p:nvPr/>
        </p:nvPicPr>
        <p:blipFill>
          <a:blip r:embed="rId2"/>
          <a:stretch/>
        </p:blipFill>
        <p:spPr>
          <a:xfrm>
            <a:off x="666720" y="2924280"/>
            <a:ext cx="7525440" cy="533160"/>
          </a:xfrm>
          <a:prstGeom prst="rect">
            <a:avLst/>
          </a:prstGeom>
          <a:noFill/>
          <a:ln w="0">
            <a:noFill/>
          </a:ln>
        </p:spPr>
      </p:pic>
      <p:sp>
        <p:nvSpPr>
          <p:cNvPr id="256" name=""/>
          <p:cNvSpPr/>
          <p:nvPr/>
        </p:nvSpPr>
        <p:spPr>
          <a:xfrm>
            <a:off x="666720" y="3705120"/>
            <a:ext cx="10762920" cy="2664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500" b="1" u="none" strike="noStrike">
                <a:solidFill>
                  <a:srgbClr val="0D9488"/>
                </a:solidFill>
                <a:effectLst/>
                <a:uFillTx/>
                <a:latin typeface="+mn-lt"/>
                <a:ea typeface="+mn-lt"/>
              </a:rPr>
              <a:t>W4 → W3 · equal-window identity with matching covariance estimates</a:t>
            </a:r>
            <a:endParaRPr lang="en-US" sz="1500" b="0" u="none" strike="noStrike">
              <a:solidFill>
                <a:srgbClr val="000000"/>
              </a:solidFill>
              <a:effectLst/>
              <a:uFillTx/>
              <a:latin typeface="Arial"/>
            </a:endParaRPr>
          </a:p>
        </p:txBody>
      </p:sp>
      <p:pic>
        <p:nvPicPr>
          <p:cNvPr id="257" name=""/>
          <p:cNvPicPr/>
          <p:nvPr/>
        </p:nvPicPr>
        <p:blipFill>
          <a:blip r:embed="rId3"/>
          <a:stretch/>
        </p:blipFill>
        <p:spPr>
          <a:xfrm>
            <a:off x="666720" y="4067280"/>
            <a:ext cx="8911080" cy="504360"/>
          </a:xfrm>
          <a:prstGeom prst="rect">
            <a:avLst/>
          </a:prstGeom>
          <a:noFill/>
          <a:ln w="0">
            <a:noFill/>
          </a:ln>
        </p:spPr>
      </p:pic>
      <p:sp>
        <p:nvSpPr>
          <p:cNvPr id="258" name=""/>
          <p:cNvSpPr/>
          <p:nvPr/>
        </p:nvSpPr>
        <p:spPr>
          <a:xfrm>
            <a:off x="666720" y="4800600"/>
            <a:ext cx="10762920" cy="2664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500" b="1" u="none" strike="noStrike">
                <a:solidFill>
                  <a:srgbClr val="0D9488"/>
                </a:solidFill>
                <a:effectLst/>
                <a:uFillTx/>
                <a:latin typeface="+mn-lt"/>
                <a:ea typeface="+mn-lt"/>
              </a:rPr>
              <a:t>W3-F · reference-distribution conversion</a:t>
            </a:r>
            <a:endParaRPr lang="en-US" sz="1500" b="0" u="none" strike="noStrike">
              <a:solidFill>
                <a:srgbClr val="000000"/>
              </a:solidFill>
              <a:effectLst/>
              <a:uFillTx/>
              <a:latin typeface="Arial"/>
            </a:endParaRPr>
          </a:p>
        </p:txBody>
      </p:sp>
      <p:pic>
        <p:nvPicPr>
          <p:cNvPr id="259" name=""/>
          <p:cNvPicPr/>
          <p:nvPr/>
        </p:nvPicPr>
        <p:blipFill>
          <a:blip r:embed="rId4"/>
          <a:stretch/>
        </p:blipFill>
        <p:spPr>
          <a:xfrm>
            <a:off x="666720" y="5191200"/>
            <a:ext cx="7501680" cy="475920"/>
          </a:xfrm>
          <a:prstGeom prst="rect">
            <a:avLst/>
          </a:prstGeom>
          <a:noFill/>
          <a:ln w="0">
            <a:noFill/>
          </a:ln>
        </p:spPr>
      </p:pic>
      <p:sp>
        <p:nvSpPr>
          <p:cNvPr id="260" name=""/>
          <p:cNvSpPr/>
          <p:nvPr/>
        </p:nvSpPr>
        <p:spPr>
          <a:xfrm>
            <a:off x="666720" y="5867280"/>
            <a:ext cx="10858320" cy="3520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430" b="0" u="none" strike="noStrike">
                <a:solidFill>
                  <a:srgbClr val="12233B"/>
                </a:solidFill>
                <a:effectLst/>
                <a:uFillTx/>
                <a:latin typeface="+mn-lt"/>
                <a:ea typeface="+mn-lt"/>
              </a:rPr>
              <a:t>Validate when p &lt; αtest. For equal windows, denominator degrees of freedom: 2H − d − 1.</a:t>
            </a:r>
            <a:endParaRPr lang="en-US" sz="143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9121F"/>
        </a:solidFill>
      </p:bgPr>
    </p:bg>
    <p:spTree>
      <p:nvGrpSpPr>
        <p:cNvPr id="1" name=""/>
        <p:cNvGrpSpPr/>
        <p:nvPr/>
      </p:nvGrpSpPr>
      <p:grpSpPr>
        <a:xfrm>
          <a:off x="0" y="0"/>
          <a:ext cx="0" cy="0"/>
          <a:chOff x="0" y="0"/>
          <a:chExt cx="0" cy="0"/>
        </a:xfrm>
      </p:grpSpPr>
      <p:sp>
        <p:nvSpPr>
          <p:cNvPr id="261" name="TextBox 1"/>
          <p:cNvSpPr/>
          <p:nvPr/>
        </p:nvSpPr>
        <p:spPr>
          <a:xfrm>
            <a:off x="612720" y="292680"/>
            <a:ext cx="10972440" cy="2923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1300" b="1" u="none" strike="noStrike">
                <a:solidFill>
                  <a:srgbClr val="78D8CC"/>
                </a:solidFill>
                <a:effectLst/>
                <a:uFillTx/>
                <a:latin typeface="DejaVu Sans"/>
                <a:ea typeface="Calibri"/>
              </a:rPr>
              <a:t>IMPLEMENTED PIPELINE</a:t>
            </a:r>
            <a:endParaRPr lang="en-US" sz="1300" b="0" u="none" strike="noStrike">
              <a:solidFill>
                <a:srgbClr val="FFFFFF"/>
              </a:solidFill>
              <a:effectLst/>
              <a:uFillTx/>
              <a:latin typeface="Arial"/>
            </a:endParaRPr>
          </a:p>
        </p:txBody>
      </p:sp>
      <p:sp>
        <p:nvSpPr>
          <p:cNvPr id="262" name="TextBox 2"/>
          <p:cNvSpPr/>
          <p:nvPr/>
        </p:nvSpPr>
        <p:spPr>
          <a:xfrm>
            <a:off x="612720" y="777240"/>
            <a:ext cx="10972440" cy="6397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2700" b="1" u="none" strike="noStrike">
                <a:solidFill>
                  <a:srgbClr val="EAF2F8"/>
                </a:solidFill>
                <a:effectLst/>
                <a:uFillTx/>
                <a:latin typeface="DejaVu Sans"/>
                <a:ea typeface="Calibri"/>
              </a:rPr>
              <a:t>How evidence becomes an update decision</a:t>
            </a:r>
            <a:endParaRPr lang="en-US" sz="2700" b="0" u="none" strike="noStrike">
              <a:solidFill>
                <a:srgbClr val="FFFFFF"/>
              </a:solidFill>
              <a:effectLst/>
              <a:uFillTx/>
              <a:latin typeface="Arial"/>
            </a:endParaRPr>
          </a:p>
        </p:txBody>
      </p:sp>
      <p:sp>
        <p:nvSpPr>
          <p:cNvPr id="263" name="TextBox 3"/>
          <p:cNvSpPr/>
          <p:nvPr/>
        </p:nvSpPr>
        <p:spPr>
          <a:xfrm>
            <a:off x="612720" y="6053400"/>
            <a:ext cx="10972440" cy="32868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1100" b="0" u="none" strike="noStrike">
                <a:solidFill>
                  <a:srgbClr val="9CB0C3"/>
                </a:solidFill>
                <a:effectLst/>
                <a:uFillTx/>
                <a:latin typeface="DejaVu Sans"/>
                <a:ea typeface="Calibri"/>
              </a:rPr>
              <a:t>Repository evidence: 2a8d20b. Implemented capabilities and stored results are distinguished.</a:t>
            </a:r>
            <a:endParaRPr lang="en-US" sz="1100" b="0" u="none" strike="noStrike">
              <a:solidFill>
                <a:srgbClr val="FFFFFF"/>
              </a:solidFill>
              <a:effectLst/>
              <a:uFillTx/>
              <a:latin typeface="Arial"/>
            </a:endParaRPr>
          </a:p>
        </p:txBody>
      </p:sp>
      <p:sp>
        <p:nvSpPr>
          <p:cNvPr id="264" name="TextBox 4"/>
          <p:cNvSpPr/>
          <p:nvPr/>
        </p:nvSpPr>
        <p:spPr>
          <a:xfrm>
            <a:off x="612720" y="6510600"/>
            <a:ext cx="9143640" cy="1825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800" b="0" u="none" strike="noStrike">
                <a:solidFill>
                  <a:srgbClr val="9CB0C3"/>
                </a:solidFill>
                <a:effectLst/>
                <a:uFillTx/>
                <a:latin typeface="DejaVu Sans"/>
                <a:ea typeface="Calibri"/>
              </a:rPr>
              <a:t>hlin863/ewma_covariate_shift_demo</a:t>
            </a:r>
            <a:endParaRPr lang="en-US" sz="800" b="0" u="none" strike="noStrike">
              <a:solidFill>
                <a:srgbClr val="FFFFFF"/>
              </a:solidFill>
              <a:effectLst/>
              <a:uFillTx/>
              <a:latin typeface="Arial"/>
            </a:endParaRPr>
          </a:p>
        </p:txBody>
      </p:sp>
      <p:graphicFrame>
        <p:nvGraphicFramePr>
          <p:cNvPr id="265" name="Table 5"/>
          <p:cNvGraphicFramePr/>
          <p:nvPr/>
        </p:nvGraphicFramePr>
        <p:xfrm>
          <a:off x="685800" y="1645920"/>
          <a:ext cx="10789560" cy="3448800"/>
        </p:xfrm>
        <a:graphic>
          <a:graphicData uri="http://schemas.openxmlformats.org/drawingml/2006/table">
            <a:tbl>
              <a:tblPr/>
              <a:tblGrid>
                <a:gridCol w="2926080"/>
                <a:gridCol w="7863840"/>
              </a:tblGrid>
              <a:tr h="556200">
                <a:tc>
                  <a:txBody>
                    <a:bodyPr lIns="109440" tIns="73080" anchor="t">
                      <a:noAutofit/>
                    </a:bodyPr>
                    <a:p>
                      <a:pPr>
                        <a:lnSpc>
                          <a:spcPct val="100000"/>
                        </a:lnSpc>
                      </a:pPr>
                      <a:r>
                        <a:rPr lang="en-US" sz="1800" b="1" u="none" strike="noStrike">
                          <a:solidFill>
                            <a:srgbClr val="78D8CC"/>
                          </a:solidFill>
                          <a:effectLst/>
                          <a:uFillTx/>
                          <a:latin typeface="DejaVu Sans"/>
                          <a:ea typeface="Calibri"/>
                        </a:rPr>
                        <a:t>Responsibility</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142838"/>
                    </a:solidFill>
                  </a:tcPr>
                </a:tc>
                <a:tc>
                  <a:txBody>
                    <a:bodyPr lIns="109440" tIns="73080" anchor="t">
                      <a:noAutofit/>
                    </a:bodyPr>
                    <a:p>
                      <a:pPr>
                        <a:lnSpc>
                          <a:spcPct val="100000"/>
                        </a:lnSpc>
                      </a:pPr>
                      <a:r>
                        <a:rPr lang="en-US" sz="1800" b="1" u="none" strike="noStrike">
                          <a:solidFill>
                            <a:srgbClr val="78D8CC"/>
                          </a:solidFill>
                          <a:effectLst/>
                          <a:uFillTx/>
                          <a:latin typeface="DejaVu Sans"/>
                          <a:ea typeface="Calibri"/>
                        </a:rPr>
                        <a:t>Implemented behaviour</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142838"/>
                    </a:solidFill>
                  </a:tcPr>
                </a:tc>
              </a:tr>
              <a:tr h="556200">
                <a:tc>
                  <a:txBody>
                    <a:bodyPr lIns="109440" tIns="73080" anchor="t">
                      <a:noAutofit/>
                    </a:bodyPr>
                    <a:p>
                      <a:pPr>
                        <a:lnSpc>
                          <a:spcPct val="100000"/>
                        </a:lnSpc>
                      </a:pPr>
                      <a:r>
                        <a:rPr lang="en-US" sz="1800" b="0" u="none" strike="noStrike">
                          <a:solidFill>
                            <a:srgbClr val="EAF2F8"/>
                          </a:solidFill>
                          <a:effectLst/>
                          <a:uFillTx/>
                          <a:latin typeface="DejaVu Sans"/>
                          <a:ea typeface="Calibri"/>
                        </a:rPr>
                        <a:t>Representation</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1800" b="0" u="none" strike="noStrike">
                          <a:solidFill>
                            <a:srgbClr val="EAF2F8"/>
                          </a:solidFill>
                          <a:effectLst/>
                          <a:uFillTx/>
                          <a:latin typeface="DejaVu Sans"/>
                          <a:ea typeface="Calibri"/>
                        </a:rPr>
                        <a:t>Cue-aligned EEG; FBCSP; PCA fitted on training data</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r h="556200">
                <a:tc>
                  <a:txBody>
                    <a:bodyPr lIns="109440" tIns="73080" anchor="t">
                      <a:noAutofit/>
                    </a:bodyPr>
                    <a:p>
                      <a:pPr>
                        <a:lnSpc>
                          <a:spcPct val="100000"/>
                        </a:lnSpc>
                      </a:pPr>
                      <a:r>
                        <a:rPr lang="en-US" sz="1800" b="0" u="none" strike="noStrike">
                          <a:solidFill>
                            <a:srgbClr val="EAF2F8"/>
                          </a:solidFill>
                          <a:effectLst/>
                          <a:uFillTx/>
                          <a:latin typeface="DejaVu Sans"/>
                          <a:ea typeface="Calibri"/>
                        </a:rPr>
                        <a:t>Detection and validation</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1800" b="0" u="none" strike="noStrike">
                          <a:solidFill>
                            <a:srgbClr val="EAF2F8"/>
                          </a:solidFill>
                          <a:effectLst/>
                          <a:uFillTx/>
                          <a:latin typeface="DejaVu Sans"/>
                          <a:ea typeface="Calibri"/>
                        </a:rPr>
                        <a:t>EWMA warnings; explicit Stage-II interpretations</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r h="556200">
                <a:tc>
                  <a:txBody>
                    <a:bodyPr lIns="109440" tIns="73080" anchor="t">
                      <a:noAutofit/>
                    </a:bodyPr>
                    <a:p>
                      <a:pPr>
                        <a:lnSpc>
                          <a:spcPct val="100000"/>
                        </a:lnSpc>
                      </a:pPr>
                      <a:r>
                        <a:rPr lang="en-US" sz="1800" b="0" u="none" strike="noStrike">
                          <a:solidFill>
                            <a:srgbClr val="EAF2F8"/>
                          </a:solidFill>
                          <a:effectLst/>
                          <a:uFillTx/>
                          <a:latin typeface="DejaVu Sans"/>
                          <a:ea typeface="Calibri"/>
                        </a:rPr>
                        <a:t>Update policy</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1800" b="0" u="none" strike="noStrike">
                          <a:solidFill>
                            <a:srgbClr val="EAF2F8"/>
                          </a:solidFill>
                          <a:effectLst/>
                          <a:uFillTx/>
                          <a:latin typeface="DejaVu Sans"/>
                          <a:ea typeface="Calibri"/>
                        </a:rPr>
                        <a:t>Never, periodic, warning, validated or performance-drop</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r h="556200">
                <a:tc>
                  <a:txBody>
                    <a:bodyPr lIns="109440" tIns="73080" anchor="t">
                      <a:noAutofit/>
                    </a:bodyPr>
                    <a:p>
                      <a:pPr>
                        <a:lnSpc>
                          <a:spcPct val="100000"/>
                        </a:lnSpc>
                      </a:pPr>
                      <a:r>
                        <a:rPr lang="en-US" sz="1800" b="0" u="none" strike="noStrike">
                          <a:solidFill>
                            <a:srgbClr val="EAF2F8"/>
                          </a:solidFill>
                          <a:effectLst/>
                          <a:uFillTx/>
                          <a:latin typeface="DejaVu Sans"/>
                          <a:ea typeface="Calibri"/>
                        </a:rPr>
                        <a:t>Label regime</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1800" b="0" u="none" strike="noStrike">
                          <a:solidFill>
                            <a:srgbClr val="EAF2F8"/>
                          </a:solidFill>
                          <a:effectLst/>
                          <a:uFillTx/>
                          <a:latin typeface="DejaVu Sans"/>
                          <a:ea typeface="Calibri"/>
                        </a:rPr>
                        <a:t>Supervised labels or confidence-gated PWKNN pseudo-labels</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r h="556200">
                <a:tc>
                  <a:txBody>
                    <a:bodyPr lIns="109440" tIns="73080" anchor="t">
                      <a:noAutofit/>
                    </a:bodyPr>
                    <a:p>
                      <a:pPr>
                        <a:lnSpc>
                          <a:spcPct val="100000"/>
                        </a:lnSpc>
                      </a:pPr>
                      <a:r>
                        <a:rPr lang="en-US" sz="1800" b="0" u="none" strike="noStrike">
                          <a:solidFill>
                            <a:srgbClr val="EAF2F8"/>
                          </a:solidFill>
                          <a:effectLst/>
                          <a:uFillTx/>
                          <a:latin typeface="DejaVu Sans"/>
                          <a:ea typeface="Calibri"/>
                        </a:rPr>
                        <a:t>Audit outputs</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1800" b="0" u="none" strike="noStrike">
                          <a:solidFill>
                            <a:srgbClr val="EAF2F8"/>
                          </a:solidFill>
                          <a:effectLst/>
                          <a:uFillTx/>
                          <a:latin typeface="DejaVu Sans"/>
                          <a:ea typeface="Calibri"/>
                        </a:rPr>
                        <a:t>Predictions, accepted/rejected evidence and update events</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bl>
          </a:graphicData>
        </a:graphic>
      </p:graphicFrame>
      <p:sp>
        <p:nvSpPr>
          <p:cNvPr id="266" name="TextBox 6"/>
          <p:cNvSpPr/>
          <p:nvPr/>
        </p:nvSpPr>
        <p:spPr>
          <a:xfrm>
            <a:off x="685800" y="5230440"/>
            <a:ext cx="10789560" cy="68544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1800" b="0" u="none" strike="noStrike">
                <a:solidFill>
                  <a:srgbClr val="78D8CC"/>
                </a:solidFill>
                <a:effectLst/>
                <a:uFillTx/>
                <a:latin typeface="DejaVu Sans"/>
                <a:ea typeface="Calibri"/>
              </a:rPr>
              <a:t>Score-plus-residual monitoring is a separate Stage-I extension.</a:t>
            </a:r>
            <a:endParaRPr lang="en-US" sz="1800" b="0" u="none" strike="noStrike">
              <a:solidFill>
                <a:srgbClr val="FFFFFF"/>
              </a:solidFill>
              <a:effectLst/>
              <a:uFillTx/>
              <a:latin typeface="Arial"/>
            </a:endParaRPr>
          </a:p>
          <a:p>
            <a:pPr defTabSz="914400">
              <a:lnSpc>
                <a:spcPct val="100000"/>
              </a:lnSpc>
              <a:spcAft>
                <a:spcPts val="901"/>
              </a:spcAft>
            </a:pPr>
            <a:r>
              <a:rPr lang="en-US" sz="1800" b="0" u="none" strike="noStrike">
                <a:solidFill>
                  <a:srgbClr val="78D8CC"/>
                </a:solidFill>
                <a:effectLst/>
                <a:uFillTx/>
                <a:latin typeface="DejaVu Sans"/>
                <a:ea typeface="Calibri"/>
              </a:rPr>
              <a:t>The Diethe comparison currently uses the fixed CSE detector.</a:t>
            </a:r>
            <a:endParaRPr lang="en-US" sz="1800" b="0" u="none" strike="noStrike">
              <a:solidFill>
                <a:srgbClr val="FFFFFF"/>
              </a:solidFill>
              <a:effectLst/>
              <a:uFillTx/>
              <a:latin typeface="Arial"/>
            </a:endParaRPr>
          </a:p>
        </p:txBody>
      </p:sp>
      <p:sp>
        <p:nvSpPr>
          <p:cNvPr id="267" name="TextBox 7"/>
          <p:cNvSpPr/>
          <p:nvPr/>
        </p:nvSpPr>
        <p:spPr>
          <a:xfrm>
            <a:off x="11045880" y="6510600"/>
            <a:ext cx="548280" cy="1825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pPr>
            <a:r>
              <a:rPr lang="en-US" sz="1800" b="0" u="none" strike="noStrike">
                <a:solidFill>
                  <a:srgbClr val="EAF2F8"/>
                </a:solidFill>
                <a:effectLst/>
                <a:uFillTx/>
                <a:latin typeface="Calibri"/>
                <a:ea typeface="Calibri"/>
              </a:rPr>
              <a:t>18</a:t>
            </a:r>
            <a:endParaRPr lang="en-US" sz="1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9121F"/>
        </a:solidFill>
      </p:bgPr>
    </p:bg>
    <p:spTree>
      <p:nvGrpSpPr>
        <p:cNvPr id="1" name=""/>
        <p:cNvGrpSpPr/>
        <p:nvPr/>
      </p:nvGrpSpPr>
      <p:grpSpPr>
        <a:xfrm>
          <a:off x="0" y="0"/>
          <a:ext cx="0" cy="0"/>
          <a:chOff x="0" y="0"/>
          <a:chExt cx="0" cy="0"/>
        </a:xfrm>
      </p:grpSpPr>
      <p:sp>
        <p:nvSpPr>
          <p:cNvPr id="268" name="Rectangle 15"/>
          <p:cNvSpPr/>
          <p:nvPr/>
        </p:nvSpPr>
        <p:spPr>
          <a:xfrm>
            <a:off x="609480" y="399960"/>
            <a:ext cx="5714640" cy="228240"/>
          </a:xfrm>
          <a:prstGeom prst="rect">
            <a:avLst/>
          </a:prstGeom>
          <a:noFill/>
          <a:ln w="0">
            <a:noFill/>
          </a:ln>
        </p:spPr>
        <p:style>
          <a:lnRef idx="0"/>
          <a:fillRef idx="0"/>
          <a:effectRef idx="0"/>
          <a:fontRef idx="minor"/>
        </p:style>
        <p:txBody>
          <a:bodyPr lIns="0" tIns="0" rIns="0" bIns="0" anchor="t">
            <a:noAutofit/>
          </a:bodyPr>
          <a:p>
            <a:pPr defTabSz="914400">
              <a:lnSpc>
                <a:spcPct val="100000"/>
              </a:lnSpc>
            </a:pPr>
            <a:r>
              <a:rPr lang="en-US" sz="980" b="1" u="none" strike="noStrike">
                <a:solidFill>
                  <a:srgbClr val="2DD4BF"/>
                </a:solidFill>
                <a:effectLst/>
                <a:uFillTx/>
                <a:latin typeface="DejaVu Sans"/>
                <a:ea typeface="DejaVu Sans"/>
              </a:rPr>
              <a:t>CSE TABLE-I DATA PROTOCOL</a:t>
            </a:r>
            <a:endParaRPr lang="en-US" sz="980" b="0" u="none" strike="noStrike">
              <a:solidFill>
                <a:srgbClr val="FFFFFF"/>
              </a:solidFill>
              <a:effectLst/>
              <a:uFillTx/>
              <a:latin typeface="Arial"/>
            </a:endParaRPr>
          </a:p>
        </p:txBody>
      </p:sp>
      <p:sp>
        <p:nvSpPr>
          <p:cNvPr id="269" name="Rectangle 1"/>
          <p:cNvSpPr/>
          <p:nvPr/>
        </p:nvSpPr>
        <p:spPr>
          <a:xfrm>
            <a:off x="609480" y="685800"/>
            <a:ext cx="10953360" cy="552240"/>
          </a:xfrm>
          <a:prstGeom prst="rect">
            <a:avLst/>
          </a:prstGeom>
          <a:noFill/>
          <a:ln w="0">
            <a:noFill/>
          </a:ln>
        </p:spPr>
        <p:style>
          <a:lnRef idx="0"/>
          <a:fillRef idx="0"/>
          <a:effectRef idx="0"/>
          <a:fontRef idx="minor"/>
        </p:style>
        <p:txBody>
          <a:bodyPr lIns="0" tIns="0" rIns="0" bIns="0" anchor="t">
            <a:noAutofit/>
          </a:bodyPr>
          <a:p>
            <a:pPr defTabSz="914400">
              <a:lnSpc>
                <a:spcPct val="100000"/>
              </a:lnSpc>
            </a:pPr>
            <a:r>
              <a:rPr lang="en-US" sz="2550" b="1" u="none" strike="noStrike">
                <a:solidFill>
                  <a:srgbClr val="EAF2F8"/>
                </a:solidFill>
                <a:effectLst/>
                <a:uFillTx/>
                <a:latin typeface="DejaVu Sans"/>
                <a:ea typeface="DejaVu Sans"/>
              </a:rPr>
              <a:t>CSE development and held-out evaluation</a:t>
            </a:r>
            <a:endParaRPr lang="en-US" sz="2550" b="0" u="none" strike="noStrike">
              <a:solidFill>
                <a:srgbClr val="FFFFFF"/>
              </a:solidFill>
              <a:effectLst/>
              <a:uFillTx/>
              <a:latin typeface="Arial"/>
            </a:endParaRPr>
          </a:p>
        </p:txBody>
      </p:sp>
      <p:sp>
        <p:nvSpPr>
          <p:cNvPr id="270" name="Straight Connector 2"/>
          <p:cNvSpPr/>
          <p:nvPr/>
        </p:nvSpPr>
        <p:spPr>
          <a:xfrm>
            <a:off x="609480" y="1371600"/>
            <a:ext cx="10972800" cy="360"/>
          </a:xfrm>
          <a:prstGeom prst="line">
            <a:avLst/>
          </a:prstGeom>
          <a:ln w="19050">
            <a:solidFill>
              <a:srgbClr val="294057"/>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Calibri"/>
            </a:endParaRPr>
          </a:p>
        </p:txBody>
      </p:sp>
      <p:sp>
        <p:nvSpPr>
          <p:cNvPr id="271" name="Rectangle 3"/>
          <p:cNvSpPr/>
          <p:nvPr/>
        </p:nvSpPr>
        <p:spPr>
          <a:xfrm>
            <a:off x="609480" y="1714680"/>
            <a:ext cx="4476240" cy="380520"/>
          </a:xfrm>
          <a:prstGeom prst="rect">
            <a:avLst/>
          </a:prstGeom>
          <a:noFill/>
          <a:ln w="0">
            <a:noFill/>
          </a:ln>
        </p:spPr>
        <p:style>
          <a:lnRef idx="0"/>
          <a:fillRef idx="0"/>
          <a:effectRef idx="0"/>
          <a:fontRef idx="minor"/>
        </p:style>
        <p:txBody>
          <a:bodyPr lIns="0" tIns="0" rIns="0" bIns="0" anchor="t">
            <a:normAutofit/>
          </a:bodyPr>
          <a:p>
            <a:pPr defTabSz="914400">
              <a:lnSpc>
                <a:spcPct val="100000"/>
              </a:lnSpc>
            </a:pPr>
            <a:r>
              <a:rPr lang="en-US" sz="2020" b="1" u="none" strike="noStrike">
                <a:solidFill>
                  <a:srgbClr val="4EA1FF"/>
                </a:solidFill>
                <a:effectLst/>
                <a:uFillTx/>
                <a:latin typeface="DejaVu Sans"/>
                <a:ea typeface="DejaVu Sans"/>
              </a:rPr>
              <a:t>BCI Competition IV 2A</a:t>
            </a:r>
            <a:endParaRPr lang="en-US" sz="2020" b="0" u="none" strike="noStrike">
              <a:solidFill>
                <a:srgbClr val="FFFFFF"/>
              </a:solidFill>
              <a:effectLst/>
              <a:uFillTx/>
              <a:latin typeface="Arial"/>
            </a:endParaRPr>
          </a:p>
        </p:txBody>
      </p:sp>
      <p:sp>
        <p:nvSpPr>
          <p:cNvPr id="272" name="Rectangle 4"/>
          <p:cNvSpPr/>
          <p:nvPr/>
        </p:nvSpPr>
        <p:spPr>
          <a:xfrm>
            <a:off x="609480" y="2152800"/>
            <a:ext cx="4476240" cy="333000"/>
          </a:xfrm>
          <a:prstGeom prst="rect">
            <a:avLst/>
          </a:prstGeom>
          <a:noFill/>
          <a:ln w="0">
            <a:noFill/>
          </a:ln>
        </p:spPr>
        <p:style>
          <a:lnRef idx="0"/>
          <a:fillRef idx="0"/>
          <a:effectRef idx="0"/>
          <a:fontRef idx="minor"/>
        </p:style>
        <p:txBody>
          <a:bodyPr lIns="0" tIns="0" rIns="0" bIns="0" anchor="t">
            <a:normAutofit/>
          </a:bodyPr>
          <a:p>
            <a:pPr defTabSz="914400">
              <a:lnSpc>
                <a:spcPct val="100000"/>
              </a:lnSpc>
            </a:pPr>
            <a:r>
              <a:rPr lang="en-US" sz="1430" b="1" u="none" strike="noStrike">
                <a:solidFill>
                  <a:srgbClr val="EAF2F8"/>
                </a:solidFill>
                <a:effectLst/>
                <a:uFillTx/>
                <a:latin typeface="DejaVu Sans"/>
                <a:ea typeface="DejaVu Sans"/>
              </a:rPr>
              <a:t>Session I develops the model</a:t>
            </a:r>
            <a:endParaRPr lang="en-US" sz="1430" b="0" u="none" strike="noStrike">
              <a:solidFill>
                <a:srgbClr val="FFFFFF"/>
              </a:solidFill>
              <a:effectLst/>
              <a:uFillTx/>
              <a:latin typeface="Arial"/>
            </a:endParaRPr>
          </a:p>
        </p:txBody>
      </p:sp>
      <p:sp>
        <p:nvSpPr>
          <p:cNvPr id="273" name="Rectangle 5"/>
          <p:cNvSpPr/>
          <p:nvPr/>
        </p:nvSpPr>
        <p:spPr>
          <a:xfrm>
            <a:off x="609480" y="2666880"/>
            <a:ext cx="4667040" cy="1571400"/>
          </a:xfrm>
          <a:prstGeom prst="rect">
            <a:avLst/>
          </a:prstGeom>
          <a:noFill/>
          <a:ln w="0">
            <a:noFill/>
          </a:ln>
        </p:spPr>
        <p:style>
          <a:lnRef idx="0"/>
          <a:fillRef idx="0"/>
          <a:effectRef idx="0"/>
          <a:fontRef idx="minor"/>
        </p:style>
        <p:txBody>
          <a:bodyPr lIns="0" tIns="0" rIns="0" bIns="0" anchor="t">
            <a:noAutofit/>
          </a:bodyPr>
          <a:p>
            <a:pPr defTabSz="914400">
              <a:lnSpc>
                <a:spcPct val="100000"/>
              </a:lnSpc>
            </a:pPr>
            <a:r>
              <a:rPr lang="en-US" sz="1350" b="0" u="none" strike="noStrike">
                <a:solidFill>
                  <a:srgbClr val="9CB0C3"/>
                </a:solidFill>
                <a:effectLst/>
                <a:uFillTx/>
                <a:latin typeface="DejaVu Sans"/>
                <a:ea typeface="DejaVu Sans"/>
              </a:rPr>
              <a:t>Stratified 70/30 split within Session I</a:t>
            </a:r>
            <a:endParaRPr lang="en-US" sz="1350" b="0" u="none" strike="noStrike">
              <a:solidFill>
                <a:srgbClr val="FFFFFF"/>
              </a:solidFill>
              <a:effectLst/>
              <a:uFillTx/>
              <a:latin typeface="Arial"/>
            </a:endParaRPr>
          </a:p>
          <a:p>
            <a:pPr defTabSz="914400">
              <a:lnSpc>
                <a:spcPct val="100000"/>
              </a:lnSpc>
            </a:pPr>
            <a:r>
              <a:rPr lang="en-US" sz="1350" b="0" u="none" strike="noStrike">
                <a:solidFill>
                  <a:srgbClr val="9CB0C3"/>
                </a:solidFill>
                <a:effectLst/>
                <a:uFillTx/>
                <a:latin typeface="DejaVu Sans"/>
                <a:ea typeface="DejaVu Sans"/>
              </a:rPr>
              <a:t>Fit FBCSP and PCA on training only</a:t>
            </a:r>
            <a:endParaRPr lang="en-US" sz="1350" b="0" u="none" strike="noStrike">
              <a:solidFill>
                <a:srgbClr val="FFFFFF"/>
              </a:solidFill>
              <a:effectLst/>
              <a:uFillTx/>
              <a:latin typeface="Arial"/>
            </a:endParaRPr>
          </a:p>
          <a:p>
            <a:pPr defTabSz="914400">
              <a:lnSpc>
                <a:spcPct val="100000"/>
              </a:lnSpc>
            </a:pPr>
            <a:r>
              <a:rPr lang="en-US" sz="1350" b="0" u="none" strike="noStrike">
                <a:solidFill>
                  <a:srgbClr val="9CB0C3"/>
                </a:solidFill>
                <a:effectLst/>
                <a:uFillTx/>
                <a:latin typeface="DejaVu Sans"/>
                <a:ea typeface="DejaVu Sans"/>
              </a:rPr>
              <a:t>Transform validation with fitted models</a:t>
            </a:r>
            <a:endParaRPr lang="en-US" sz="1350" b="0" u="none" strike="noStrike">
              <a:solidFill>
                <a:srgbClr val="FFFFFF"/>
              </a:solidFill>
              <a:effectLst/>
              <a:uFillTx/>
              <a:latin typeface="Arial"/>
            </a:endParaRPr>
          </a:p>
          <a:p>
            <a:pPr defTabSz="914400">
              <a:lnSpc>
                <a:spcPct val="100000"/>
              </a:lnSpc>
            </a:pPr>
            <a:r>
              <a:rPr lang="en-US" sz="1350" b="0" u="none" strike="noStrike">
                <a:solidFill>
                  <a:srgbClr val="9CB0C3"/>
                </a:solidFill>
                <a:effectLst/>
                <a:uFillTx/>
                <a:latin typeface="DejaVu Sans"/>
                <a:ea typeface="DejaVu Sans"/>
              </a:rPr>
              <a:t>Hold out Session II, left/right trials</a:t>
            </a:r>
            <a:endParaRPr lang="en-US" sz="1350" b="0" u="none" strike="noStrike">
              <a:solidFill>
                <a:srgbClr val="FFFFFF"/>
              </a:solidFill>
              <a:effectLst/>
              <a:uFillTx/>
              <a:latin typeface="Arial"/>
            </a:endParaRPr>
          </a:p>
        </p:txBody>
      </p:sp>
      <p:sp>
        <p:nvSpPr>
          <p:cNvPr id="274" name="Straight Connector 6"/>
          <p:cNvSpPr/>
          <p:nvPr/>
        </p:nvSpPr>
        <p:spPr>
          <a:xfrm>
            <a:off x="5810040" y="1733400"/>
            <a:ext cx="360" cy="3429000"/>
          </a:xfrm>
          <a:prstGeom prst="line">
            <a:avLst/>
          </a:prstGeom>
          <a:ln w="19050">
            <a:solidFill>
              <a:srgbClr val="294057"/>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Calibri"/>
            </a:endParaRPr>
          </a:p>
        </p:txBody>
      </p:sp>
      <p:sp>
        <p:nvSpPr>
          <p:cNvPr id="275" name="Rectangle 7"/>
          <p:cNvSpPr/>
          <p:nvPr/>
        </p:nvSpPr>
        <p:spPr>
          <a:xfrm>
            <a:off x="6572160" y="1714680"/>
            <a:ext cx="4476240" cy="380520"/>
          </a:xfrm>
          <a:prstGeom prst="rect">
            <a:avLst/>
          </a:prstGeom>
          <a:noFill/>
          <a:ln w="0">
            <a:noFill/>
          </a:ln>
        </p:spPr>
        <p:style>
          <a:lnRef idx="0"/>
          <a:fillRef idx="0"/>
          <a:effectRef idx="0"/>
          <a:fontRef idx="minor"/>
        </p:style>
        <p:txBody>
          <a:bodyPr lIns="0" tIns="0" rIns="0" bIns="0" anchor="t">
            <a:normAutofit/>
          </a:bodyPr>
          <a:p>
            <a:pPr defTabSz="914400">
              <a:lnSpc>
                <a:spcPct val="100000"/>
              </a:lnSpc>
            </a:pPr>
            <a:r>
              <a:rPr lang="en-US" sz="2020" b="1" u="none" strike="noStrike">
                <a:solidFill>
                  <a:srgbClr val="2DD4BF"/>
                </a:solidFill>
                <a:effectLst/>
                <a:uFillTx/>
                <a:latin typeface="DejaVu Sans"/>
                <a:ea typeface="DejaVu Sans"/>
              </a:rPr>
              <a:t>BCI Competition IV 2B</a:t>
            </a:r>
            <a:endParaRPr lang="en-US" sz="2020" b="0" u="none" strike="noStrike">
              <a:solidFill>
                <a:srgbClr val="FFFFFF"/>
              </a:solidFill>
              <a:effectLst/>
              <a:uFillTx/>
              <a:latin typeface="Arial"/>
            </a:endParaRPr>
          </a:p>
        </p:txBody>
      </p:sp>
      <p:sp>
        <p:nvSpPr>
          <p:cNvPr id="276" name="Rectangle 8"/>
          <p:cNvSpPr/>
          <p:nvPr/>
        </p:nvSpPr>
        <p:spPr>
          <a:xfrm>
            <a:off x="6572160" y="2152800"/>
            <a:ext cx="4476240" cy="333000"/>
          </a:xfrm>
          <a:prstGeom prst="rect">
            <a:avLst/>
          </a:prstGeom>
          <a:noFill/>
          <a:ln w="0">
            <a:noFill/>
          </a:ln>
        </p:spPr>
        <p:style>
          <a:lnRef idx="0"/>
          <a:fillRef idx="0"/>
          <a:effectRef idx="0"/>
          <a:fontRef idx="minor"/>
        </p:style>
        <p:txBody>
          <a:bodyPr lIns="0" tIns="0" rIns="0" bIns="0" anchor="t">
            <a:normAutofit/>
          </a:bodyPr>
          <a:p>
            <a:pPr defTabSz="914400">
              <a:lnSpc>
                <a:spcPct val="100000"/>
              </a:lnSpc>
            </a:pPr>
            <a:r>
              <a:rPr lang="en-US" sz="1430" b="1" u="none" strike="noStrike">
                <a:solidFill>
                  <a:srgbClr val="EAF2F8"/>
                </a:solidFill>
                <a:effectLst/>
                <a:uFillTx/>
                <a:latin typeface="DejaVu Sans"/>
                <a:ea typeface="DejaVu Sans"/>
              </a:rPr>
              <a:t>Sessions I–III develop the model</a:t>
            </a:r>
            <a:endParaRPr lang="en-US" sz="1430" b="0" u="none" strike="noStrike">
              <a:solidFill>
                <a:srgbClr val="FFFFFF"/>
              </a:solidFill>
              <a:effectLst/>
              <a:uFillTx/>
              <a:latin typeface="Arial"/>
            </a:endParaRPr>
          </a:p>
        </p:txBody>
      </p:sp>
      <p:sp>
        <p:nvSpPr>
          <p:cNvPr id="277" name="Rectangle 9"/>
          <p:cNvSpPr/>
          <p:nvPr/>
        </p:nvSpPr>
        <p:spPr>
          <a:xfrm>
            <a:off x="6572160" y="2666880"/>
            <a:ext cx="4667040" cy="1571400"/>
          </a:xfrm>
          <a:prstGeom prst="rect">
            <a:avLst/>
          </a:prstGeom>
          <a:noFill/>
          <a:ln w="0">
            <a:noFill/>
          </a:ln>
        </p:spPr>
        <p:style>
          <a:lnRef idx="0"/>
          <a:fillRef idx="0"/>
          <a:effectRef idx="0"/>
          <a:fontRef idx="minor"/>
        </p:style>
        <p:txBody>
          <a:bodyPr lIns="0" tIns="0" rIns="0" bIns="0" anchor="t">
            <a:noAutofit/>
          </a:bodyPr>
          <a:p>
            <a:pPr defTabSz="914400">
              <a:lnSpc>
                <a:spcPct val="100000"/>
              </a:lnSpc>
            </a:pPr>
            <a:r>
              <a:rPr lang="en-US" sz="1350" b="0" u="none" strike="noStrike">
                <a:solidFill>
                  <a:srgbClr val="9CB0C3"/>
                </a:solidFill>
                <a:effectLst/>
                <a:uFillTx/>
                <a:latin typeface="DejaVu Sans"/>
                <a:ea typeface="DejaVu Sans"/>
              </a:rPr>
              <a:t>Stratified 70/30 split within Sessions I–III</a:t>
            </a:r>
            <a:endParaRPr lang="en-US" sz="1350" b="0" u="none" strike="noStrike">
              <a:solidFill>
                <a:srgbClr val="FFFFFF"/>
              </a:solidFill>
              <a:effectLst/>
              <a:uFillTx/>
              <a:latin typeface="Arial"/>
            </a:endParaRPr>
          </a:p>
          <a:p>
            <a:pPr defTabSz="914400">
              <a:lnSpc>
                <a:spcPct val="100000"/>
              </a:lnSpc>
            </a:pPr>
            <a:r>
              <a:rPr lang="en-US" sz="1350" b="0" u="none" strike="noStrike">
                <a:solidFill>
                  <a:srgbClr val="9CB0C3"/>
                </a:solidFill>
                <a:effectLst/>
                <a:uFillTx/>
                <a:latin typeface="DejaVu Sans"/>
                <a:ea typeface="DejaVu Sans"/>
              </a:rPr>
              <a:t>Fit FBCSP and PCA on training only</a:t>
            </a:r>
            <a:endParaRPr lang="en-US" sz="1350" b="0" u="none" strike="noStrike">
              <a:solidFill>
                <a:srgbClr val="FFFFFF"/>
              </a:solidFill>
              <a:effectLst/>
              <a:uFillTx/>
              <a:latin typeface="Arial"/>
            </a:endParaRPr>
          </a:p>
          <a:p>
            <a:pPr defTabSz="914400">
              <a:lnSpc>
                <a:spcPct val="100000"/>
              </a:lnSpc>
            </a:pPr>
            <a:r>
              <a:rPr lang="en-US" sz="1350" b="0" u="none" strike="noStrike">
                <a:solidFill>
                  <a:srgbClr val="9CB0C3"/>
                </a:solidFill>
                <a:effectLst/>
                <a:uFillTx/>
                <a:latin typeface="DejaVu Sans"/>
                <a:ea typeface="DejaVu Sans"/>
              </a:rPr>
              <a:t>Transform validation with fitted models</a:t>
            </a:r>
            <a:endParaRPr lang="en-US" sz="1350" b="0" u="none" strike="noStrike">
              <a:solidFill>
                <a:srgbClr val="FFFFFF"/>
              </a:solidFill>
              <a:effectLst/>
              <a:uFillTx/>
              <a:latin typeface="Arial"/>
            </a:endParaRPr>
          </a:p>
          <a:p>
            <a:pPr defTabSz="914400">
              <a:lnSpc>
                <a:spcPct val="100000"/>
              </a:lnSpc>
            </a:pPr>
            <a:r>
              <a:rPr lang="en-US" sz="1350" b="0" u="none" strike="noStrike">
                <a:solidFill>
                  <a:srgbClr val="9CB0C3"/>
                </a:solidFill>
                <a:effectLst/>
                <a:uFillTx/>
                <a:latin typeface="DejaVu Sans"/>
                <a:ea typeface="DejaVu Sans"/>
              </a:rPr>
              <a:t>Hold out Sessions IV–V</a:t>
            </a:r>
            <a:endParaRPr lang="en-US" sz="1350" b="0" u="none" strike="noStrike">
              <a:solidFill>
                <a:srgbClr val="FFFFFF"/>
              </a:solidFill>
              <a:effectLst/>
              <a:uFillTx/>
              <a:latin typeface="Arial"/>
            </a:endParaRPr>
          </a:p>
        </p:txBody>
      </p:sp>
      <p:sp>
        <p:nvSpPr>
          <p:cNvPr id="278" name="Rectangle: Rounded Corners 10"/>
          <p:cNvSpPr/>
          <p:nvPr/>
        </p:nvSpPr>
        <p:spPr>
          <a:xfrm>
            <a:off x="609480" y="4809960"/>
            <a:ext cx="10572480" cy="685440"/>
          </a:xfrm>
          <a:prstGeom prst="roundRect">
            <a:avLst>
              <a:gd name="adj" fmla="val 13889"/>
            </a:avLst>
          </a:prstGeom>
          <a:solidFill>
            <a:srgbClr val="0F1C2B"/>
          </a:solidFill>
          <a:ln w="9525">
            <a:solidFill>
              <a:srgbClr val="294057"/>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Calibri"/>
            </a:endParaRPr>
          </a:p>
        </p:txBody>
      </p:sp>
      <p:sp>
        <p:nvSpPr>
          <p:cNvPr id="279" name="Rectangle 11"/>
          <p:cNvSpPr/>
          <p:nvPr/>
        </p:nvSpPr>
        <p:spPr>
          <a:xfrm>
            <a:off x="819000" y="4991040"/>
            <a:ext cx="2095200" cy="228240"/>
          </a:xfrm>
          <a:prstGeom prst="rect">
            <a:avLst/>
          </a:prstGeom>
          <a:noFill/>
          <a:ln w="0">
            <a:noFill/>
          </a:ln>
        </p:spPr>
        <p:style>
          <a:lnRef idx="0"/>
          <a:fillRef idx="0"/>
          <a:effectRef idx="0"/>
          <a:fontRef idx="minor"/>
        </p:style>
        <p:txBody>
          <a:bodyPr lIns="0" tIns="0" rIns="0" bIns="0" anchor="t">
            <a:normAutofit/>
          </a:bodyPr>
          <a:p>
            <a:pPr defTabSz="914400">
              <a:lnSpc>
                <a:spcPct val="100000"/>
              </a:lnSpc>
            </a:pPr>
            <a:r>
              <a:rPr lang="en-US" sz="1050" b="1" u="none" strike="noStrike">
                <a:solidFill>
                  <a:srgbClr val="F5B942"/>
                </a:solidFill>
                <a:effectLst/>
                <a:uFillTx/>
                <a:latin typeface="DejaVu Sans"/>
                <a:ea typeface="DejaVu Sans"/>
              </a:rPr>
              <a:t>Shared rule</a:t>
            </a:r>
            <a:endParaRPr lang="en-US" sz="1050" b="0" u="none" strike="noStrike">
              <a:solidFill>
                <a:srgbClr val="FFFFFF"/>
              </a:solidFill>
              <a:effectLst/>
              <a:uFillTx/>
              <a:latin typeface="Arial"/>
            </a:endParaRPr>
          </a:p>
        </p:txBody>
      </p:sp>
      <p:sp>
        <p:nvSpPr>
          <p:cNvPr id="280" name="Rectangle 12"/>
          <p:cNvSpPr/>
          <p:nvPr/>
        </p:nvSpPr>
        <p:spPr>
          <a:xfrm>
            <a:off x="3029040" y="4915080"/>
            <a:ext cx="7857720" cy="399600"/>
          </a:xfrm>
          <a:prstGeom prst="rect">
            <a:avLst/>
          </a:prstGeom>
          <a:noFill/>
          <a:ln w="0">
            <a:noFill/>
          </a:ln>
        </p:spPr>
        <p:style>
          <a:lnRef idx="0"/>
          <a:fillRef idx="0"/>
          <a:effectRef idx="0"/>
          <a:fontRef idx="minor"/>
        </p:style>
        <p:txBody>
          <a:bodyPr lIns="0" tIns="0" rIns="0" bIns="0" anchor="t">
            <a:noAutofit/>
          </a:bodyPr>
          <a:p>
            <a:pPr defTabSz="914400">
              <a:lnSpc>
                <a:spcPct val="100000"/>
              </a:lnSpc>
            </a:pPr>
            <a:r>
              <a:rPr lang="en-US" sz="1200" b="1" u="none" strike="noStrike">
                <a:solidFill>
                  <a:srgbClr val="EAF2F8"/>
                </a:solidFill>
                <a:effectLst/>
                <a:uFillTx/>
                <a:latin typeface="DejaVu Sans"/>
                <a:ea typeface="DejaVu Sans"/>
              </a:rPr>
              <a:t>Evaluation trials do not enter feature-model fitting.</a:t>
            </a:r>
            <a:endParaRPr lang="en-US" sz="1200" b="0" u="none" strike="noStrike">
              <a:solidFill>
                <a:srgbClr val="FFFFFF"/>
              </a:solidFill>
              <a:effectLst/>
              <a:uFillTx/>
              <a:latin typeface="Arial"/>
            </a:endParaRPr>
          </a:p>
          <a:p>
            <a:pPr defTabSz="914400">
              <a:lnSpc>
                <a:spcPct val="100000"/>
              </a:lnSpc>
            </a:pPr>
            <a:r>
              <a:rPr lang="en-US" sz="1200" b="1" u="none" strike="noStrike">
                <a:solidFill>
                  <a:srgbClr val="EAF2F8"/>
                </a:solidFill>
                <a:effectLst/>
                <a:uFillTx/>
                <a:latin typeface="DejaVu Sans"/>
                <a:ea typeface="DejaVu Sans"/>
              </a:rPr>
              <a:t>Record the split seed and effective detector configuration.</a:t>
            </a:r>
            <a:endParaRPr lang="en-US" sz="1200" b="0" u="none" strike="noStrike">
              <a:solidFill>
                <a:srgbClr val="FFFFFF"/>
              </a:solidFill>
              <a:effectLst/>
              <a:uFillTx/>
              <a:latin typeface="Arial"/>
            </a:endParaRPr>
          </a:p>
        </p:txBody>
      </p:sp>
      <p:sp>
        <p:nvSpPr>
          <p:cNvPr id="281" name="Rectangle 13"/>
          <p:cNvSpPr/>
          <p:nvPr/>
        </p:nvSpPr>
        <p:spPr>
          <a:xfrm>
            <a:off x="609480" y="6515280"/>
            <a:ext cx="4095360" cy="171000"/>
          </a:xfrm>
          <a:prstGeom prst="rect">
            <a:avLst/>
          </a:prstGeom>
          <a:noFill/>
          <a:ln w="0">
            <a:noFill/>
          </a:ln>
        </p:spPr>
        <p:style>
          <a:lnRef idx="0"/>
          <a:fillRef idx="0"/>
          <a:effectRef idx="0"/>
          <a:fontRef idx="minor"/>
        </p:style>
        <p:txBody>
          <a:bodyPr lIns="0" tIns="0" rIns="0" bIns="0" anchor="t">
            <a:normAutofit/>
          </a:bodyPr>
          <a:p>
            <a:pPr defTabSz="914400">
              <a:lnSpc>
                <a:spcPct val="100000"/>
              </a:lnSpc>
            </a:pPr>
            <a:r>
              <a:rPr lang="en-US" sz="820" b="0" u="none" strike="noStrike">
                <a:solidFill>
                  <a:srgbClr val="9CB0C3"/>
                </a:solidFill>
                <a:effectLst/>
                <a:uFillTx/>
                <a:latin typeface="DejaVu Sans"/>
                <a:ea typeface="DejaVu Sans"/>
              </a:rPr>
              <a:t>hlin863/ewma_covariate_shift_demo</a:t>
            </a:r>
            <a:endParaRPr lang="en-US" sz="820" b="0" u="none" strike="noStrike">
              <a:solidFill>
                <a:srgbClr val="FFFFFF"/>
              </a:solidFill>
              <a:effectLst/>
              <a:uFillTx/>
              <a:latin typeface="Arial"/>
            </a:endParaRPr>
          </a:p>
        </p:txBody>
      </p:sp>
      <p:sp>
        <p:nvSpPr>
          <p:cNvPr id="282" name="Rectangle 14"/>
          <p:cNvSpPr/>
          <p:nvPr/>
        </p:nvSpPr>
        <p:spPr>
          <a:xfrm>
            <a:off x="11049120" y="6515280"/>
            <a:ext cx="533160" cy="171000"/>
          </a:xfrm>
          <a:prstGeom prst="rect">
            <a:avLst/>
          </a:prstGeom>
          <a:noFill/>
          <a:ln w="0">
            <a:noFill/>
          </a:ln>
        </p:spPr>
        <p:style>
          <a:lnRef idx="0"/>
          <a:fillRef idx="0"/>
          <a:effectRef idx="0"/>
          <a:fontRef idx="minor"/>
        </p:style>
        <p:txBody>
          <a:bodyPr lIns="0" tIns="0" rIns="0" bIns="0" anchor="t">
            <a:normAutofit fontScale="77500" lnSpcReduction="19999"/>
          </a:bodyPr>
          <a:p>
            <a:pPr defTabSz="914400">
              <a:lnSpc>
                <a:spcPct val="100000"/>
              </a:lnSpc>
            </a:pPr>
            <a:r>
              <a:rPr lang="en-US" sz="1800" b="0" u="none" strike="noStrike">
                <a:solidFill>
                  <a:srgbClr val="EAF2F8"/>
                </a:solidFill>
                <a:effectLst/>
                <a:uFillTx/>
                <a:latin typeface="Calibri"/>
                <a:ea typeface="Calibri"/>
              </a:rPr>
              <a:t>19</a:t>
            </a:r>
            <a:endParaRPr lang="en-US" sz="1800" b="0" u="none" strike="noStrike">
              <a:solidFill>
                <a:srgbClr val="FFFFFF"/>
              </a:solidFill>
              <a:effectLst/>
              <a:uFillTx/>
              <a:latin typeface="Arial"/>
            </a:endParaRPr>
          </a:p>
        </p:txBody>
      </p:sp>
      <p:sp>
        <p:nvSpPr>
          <p:cNvPr id="283" name="Separate benchmark protocol"/>
          <p:cNvSpPr/>
          <p:nvPr/>
        </p:nvSpPr>
        <p:spPr>
          <a:xfrm>
            <a:off x="609480" y="5715000"/>
            <a:ext cx="10762920" cy="4950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350" b="0" u="none" strike="noStrike">
                <a:solidFill>
                  <a:srgbClr val="9CB0C3"/>
                </a:solidFill>
                <a:effectLst/>
                <a:uFillTx/>
                <a:latin typeface="DejaVu Sans"/>
                <a:ea typeface="DejaVu Sans"/>
              </a:rPr>
              <a:t>Classifier benchmark: 2A fits Session I and tests II.</a:t>
            </a:r>
            <a:endParaRPr lang="en-US" sz="1350" b="0" u="none" strike="noStrike">
              <a:solidFill>
                <a:srgbClr val="FFFFFF"/>
              </a:solidFill>
              <a:effectLst/>
              <a:uFillTx/>
              <a:latin typeface="Arial"/>
            </a:endParaRPr>
          </a:p>
          <a:p>
            <a:pPr defTabSz="914400">
              <a:lnSpc>
                <a:spcPct val="100000"/>
              </a:lnSpc>
            </a:pPr>
            <a:r>
              <a:rPr lang="en-US" sz="1350" b="0" u="none" strike="noStrike">
                <a:solidFill>
                  <a:srgbClr val="9CB0C3"/>
                </a:solidFill>
                <a:effectLst/>
                <a:uFillTx/>
                <a:latin typeface="DejaVu Sans"/>
                <a:ea typeface="DejaVu Sans"/>
              </a:rPr>
              <a:t>The stored 2B benchmark fits I–II and tests labelled Session III.</a:t>
            </a:r>
            <a:endParaRPr lang="en-US" sz="13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9121F"/>
        </a:solidFill>
      </p:bgPr>
    </p:bg>
    <p:spTree>
      <p:nvGrpSpPr>
        <p:cNvPr id="1" name=""/>
        <p:cNvGrpSpPr/>
        <p:nvPr/>
      </p:nvGrpSpPr>
      <p:grpSpPr>
        <a:xfrm>
          <a:off x="0" y="0"/>
          <a:ext cx="0" cy="0"/>
          <a:chOff x="0" y="0"/>
          <a:chExt cx="0" cy="0"/>
        </a:xfrm>
      </p:grpSpPr>
      <p:sp>
        <p:nvSpPr>
          <p:cNvPr id="284" name="TextBox 1"/>
          <p:cNvSpPr/>
          <p:nvPr/>
        </p:nvSpPr>
        <p:spPr>
          <a:xfrm>
            <a:off x="612720" y="292680"/>
            <a:ext cx="10972440" cy="2923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1300" b="1" u="none" strike="noStrike">
                <a:solidFill>
                  <a:srgbClr val="78D8CC"/>
                </a:solidFill>
                <a:effectLst/>
                <a:uFillTx/>
                <a:latin typeface="DejaVu Sans"/>
                <a:ea typeface="Calibri"/>
              </a:rPr>
              <a:t>DATA PROTOCOL</a:t>
            </a:r>
            <a:endParaRPr lang="en-US" sz="1300" b="0" u="none" strike="noStrike">
              <a:solidFill>
                <a:srgbClr val="FFFFFF"/>
              </a:solidFill>
              <a:effectLst/>
              <a:uFillTx/>
              <a:latin typeface="Arial"/>
            </a:endParaRPr>
          </a:p>
        </p:txBody>
      </p:sp>
      <p:sp>
        <p:nvSpPr>
          <p:cNvPr id="285" name="TextBox 2"/>
          <p:cNvSpPr/>
          <p:nvPr/>
        </p:nvSpPr>
        <p:spPr>
          <a:xfrm>
            <a:off x="612720" y="777240"/>
            <a:ext cx="10972440" cy="6397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2700" b="1" u="none" strike="noStrike">
                <a:solidFill>
                  <a:srgbClr val="EAF2F8"/>
                </a:solidFill>
                <a:effectLst/>
                <a:uFillTx/>
                <a:latin typeface="DejaVu Sans"/>
                <a:ea typeface="Calibri"/>
              </a:rPr>
              <a:t>Dataset roles differ across experiments</a:t>
            </a:r>
            <a:endParaRPr lang="en-US" sz="2700" b="0" u="none" strike="noStrike">
              <a:solidFill>
                <a:srgbClr val="FFFFFF"/>
              </a:solidFill>
              <a:effectLst/>
              <a:uFillTx/>
              <a:latin typeface="Arial"/>
            </a:endParaRPr>
          </a:p>
        </p:txBody>
      </p:sp>
      <p:sp>
        <p:nvSpPr>
          <p:cNvPr id="286" name="TextBox 3"/>
          <p:cNvSpPr/>
          <p:nvPr/>
        </p:nvSpPr>
        <p:spPr>
          <a:xfrm>
            <a:off x="612720" y="6053400"/>
            <a:ext cx="10972440" cy="32868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1100" b="0" u="none" strike="noStrike">
                <a:solidFill>
                  <a:srgbClr val="9CB0C3"/>
                </a:solidFill>
                <a:effectLst/>
                <a:uFillTx/>
                <a:latin typeface="DejaVu Sans"/>
                <a:ea typeface="Calibri"/>
              </a:rPr>
              <a:t>Source: current runners and stored result files at 2a8d20b. Evaluation data do not fit the feature representation.</a:t>
            </a:r>
            <a:endParaRPr lang="en-US" sz="1100" b="0" u="none" strike="noStrike">
              <a:solidFill>
                <a:srgbClr val="FFFFFF"/>
              </a:solidFill>
              <a:effectLst/>
              <a:uFillTx/>
              <a:latin typeface="Arial"/>
            </a:endParaRPr>
          </a:p>
        </p:txBody>
      </p:sp>
      <p:sp>
        <p:nvSpPr>
          <p:cNvPr id="287" name="TextBox 4"/>
          <p:cNvSpPr/>
          <p:nvPr/>
        </p:nvSpPr>
        <p:spPr>
          <a:xfrm>
            <a:off x="612720" y="6510600"/>
            <a:ext cx="9143640" cy="1825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800" b="0" u="none" strike="noStrike">
                <a:solidFill>
                  <a:srgbClr val="9CB0C3"/>
                </a:solidFill>
                <a:effectLst/>
                <a:uFillTx/>
                <a:latin typeface="DejaVu Sans"/>
                <a:ea typeface="Calibri"/>
              </a:rPr>
              <a:t>hlin863/ewma_covariate_shift_demo</a:t>
            </a:r>
            <a:endParaRPr lang="en-US" sz="800" b="0" u="none" strike="noStrike">
              <a:solidFill>
                <a:srgbClr val="FFFFFF"/>
              </a:solidFill>
              <a:effectLst/>
              <a:uFillTx/>
              <a:latin typeface="Arial"/>
            </a:endParaRPr>
          </a:p>
        </p:txBody>
      </p:sp>
      <p:graphicFrame>
        <p:nvGraphicFramePr>
          <p:cNvPr id="288" name="Table 5"/>
          <p:cNvGraphicFramePr/>
          <p:nvPr/>
        </p:nvGraphicFramePr>
        <p:xfrm>
          <a:off x="685800" y="1691640"/>
          <a:ext cx="10789560" cy="3749400"/>
        </p:xfrm>
        <a:graphic>
          <a:graphicData uri="http://schemas.openxmlformats.org/drawingml/2006/table">
            <a:tbl>
              <a:tblPr/>
              <a:tblGrid>
                <a:gridCol w="2743200"/>
                <a:gridCol w="4023360"/>
                <a:gridCol w="4023360"/>
              </a:tblGrid>
              <a:tr h="713160">
                <a:tc>
                  <a:txBody>
                    <a:bodyPr lIns="109440" tIns="73080" anchor="t">
                      <a:noAutofit/>
                    </a:bodyPr>
                    <a:p>
                      <a:pPr>
                        <a:lnSpc>
                          <a:spcPct val="100000"/>
                        </a:lnSpc>
                      </a:pPr>
                      <a:r>
                        <a:rPr lang="en-US" sz="1700" b="1" u="none" strike="noStrike">
                          <a:solidFill>
                            <a:srgbClr val="78D8CC"/>
                          </a:solidFill>
                          <a:effectLst/>
                          <a:uFillTx/>
                          <a:latin typeface="DejaVu Sans"/>
                          <a:ea typeface="Calibri"/>
                        </a:rPr>
                        <a:t>Experiment</a:t>
                      </a:r>
                      <a:endParaRPr lang="en-US" sz="17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142838"/>
                    </a:solidFill>
                  </a:tcPr>
                </a:tc>
                <a:tc>
                  <a:txBody>
                    <a:bodyPr lIns="109440" tIns="73080" anchor="t">
                      <a:noAutofit/>
                    </a:bodyPr>
                    <a:p>
                      <a:pPr>
                        <a:lnSpc>
                          <a:spcPct val="100000"/>
                        </a:lnSpc>
                      </a:pPr>
                      <a:r>
                        <a:rPr lang="en-US" sz="1700" b="1" u="none" strike="noStrike">
                          <a:solidFill>
                            <a:srgbClr val="78D8CC"/>
                          </a:solidFill>
                          <a:effectLst/>
                          <a:uFillTx/>
                          <a:latin typeface="DejaVu Sans"/>
                          <a:ea typeface="Calibri"/>
                        </a:rPr>
                        <a:t>2A</a:t>
                      </a:r>
                      <a:endParaRPr lang="en-US" sz="17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142838"/>
                    </a:solidFill>
                  </a:tcPr>
                </a:tc>
                <a:tc>
                  <a:txBody>
                    <a:bodyPr lIns="109440" tIns="73080" anchor="t">
                      <a:noAutofit/>
                    </a:bodyPr>
                    <a:p>
                      <a:pPr>
                        <a:lnSpc>
                          <a:spcPct val="100000"/>
                        </a:lnSpc>
                      </a:pPr>
                      <a:r>
                        <a:rPr lang="en-US" sz="1700" b="1" u="none" strike="noStrike">
                          <a:solidFill>
                            <a:srgbClr val="78D8CC"/>
                          </a:solidFill>
                          <a:effectLst/>
                          <a:uFillTx/>
                          <a:latin typeface="DejaVu Sans"/>
                          <a:ea typeface="Calibri"/>
                        </a:rPr>
                        <a:t>2B</a:t>
                      </a:r>
                      <a:endParaRPr lang="en-US" sz="17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142838"/>
                    </a:solidFill>
                  </a:tcPr>
                </a:tc>
              </a:tr>
              <a:tr h="713160">
                <a:tc>
                  <a:txBody>
                    <a:bodyPr lIns="109440" tIns="73080" anchor="t">
                      <a:noAutofit/>
                    </a:bodyPr>
                    <a:p>
                      <a:pPr>
                        <a:lnSpc>
                          <a:spcPct val="100000"/>
                        </a:lnSpc>
                      </a:pPr>
                      <a:r>
                        <a:rPr lang="en-US" sz="1700" b="0" u="none" strike="noStrike">
                          <a:solidFill>
                            <a:srgbClr val="EAF2F8"/>
                          </a:solidFill>
                          <a:effectLst/>
                          <a:uFillTx/>
                          <a:latin typeface="DejaVu Sans"/>
                          <a:ea typeface="Calibri"/>
                        </a:rPr>
                        <a:t>Table-I CSE</a:t>
                      </a:r>
                      <a:endParaRPr lang="en-US" sz="17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1700" b="0" u="none" strike="noStrike">
                          <a:solidFill>
                            <a:srgbClr val="EAF2F8"/>
                          </a:solidFill>
                          <a:effectLst/>
                          <a:uFillTx/>
                          <a:latin typeface="DejaVu Sans"/>
                          <a:ea typeface="Calibri"/>
                        </a:rPr>
                        <a:t>Session I development;</a:t>
                      </a:r>
                      <a:endParaRPr lang="en-US" sz="1700" b="0" u="none" strike="noStrike">
                        <a:solidFill>
                          <a:srgbClr val="FFFFFF"/>
                        </a:solidFill>
                        <a:effectLst/>
                        <a:uFillTx/>
                        <a:latin typeface="Arial"/>
                      </a:endParaRPr>
                    </a:p>
                    <a:p>
                      <a:pPr>
                        <a:lnSpc>
                          <a:spcPct val="100000"/>
                        </a:lnSpc>
                      </a:pPr>
                      <a:r>
                        <a:rPr lang="en-US" sz="1700" b="0" u="none" strike="noStrike">
                          <a:solidFill>
                            <a:srgbClr val="EAF2F8"/>
                          </a:solidFill>
                          <a:effectLst/>
                          <a:uFillTx/>
                          <a:latin typeface="DejaVu Sans"/>
                          <a:ea typeface="Calibri"/>
                        </a:rPr>
                        <a:t>Session II evaluation</a:t>
                      </a:r>
                      <a:endParaRPr lang="en-US" sz="17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1700" b="0" u="none" strike="noStrike">
                          <a:solidFill>
                            <a:srgbClr val="EAF2F8"/>
                          </a:solidFill>
                          <a:effectLst/>
                          <a:uFillTx/>
                          <a:latin typeface="DejaVu Sans"/>
                          <a:ea typeface="Calibri"/>
                        </a:rPr>
                        <a:t>I–III development;</a:t>
                      </a:r>
                      <a:endParaRPr lang="en-US" sz="1700" b="0" u="none" strike="noStrike">
                        <a:solidFill>
                          <a:srgbClr val="FFFFFF"/>
                        </a:solidFill>
                        <a:effectLst/>
                        <a:uFillTx/>
                        <a:latin typeface="Arial"/>
                      </a:endParaRPr>
                    </a:p>
                    <a:p>
                      <a:pPr>
                        <a:lnSpc>
                          <a:spcPct val="100000"/>
                        </a:lnSpc>
                      </a:pPr>
                      <a:r>
                        <a:rPr lang="en-US" sz="1700" b="0" u="none" strike="noStrike">
                          <a:solidFill>
                            <a:srgbClr val="EAF2F8"/>
                          </a:solidFill>
                          <a:effectLst/>
                          <a:uFillTx/>
                          <a:latin typeface="DejaVu Sans"/>
                          <a:ea typeface="Calibri"/>
                        </a:rPr>
                        <a:t>IV–V evaluation</a:t>
                      </a:r>
                      <a:endParaRPr lang="en-US" sz="17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r h="713160">
                <a:tc>
                  <a:txBody>
                    <a:bodyPr lIns="109440" tIns="73080" anchor="t">
                      <a:noAutofit/>
                    </a:bodyPr>
                    <a:p>
                      <a:pPr>
                        <a:lnSpc>
                          <a:spcPct val="100000"/>
                        </a:lnSpc>
                      </a:pPr>
                      <a:r>
                        <a:rPr lang="en-US" sz="1700" b="0" u="none" strike="noStrike">
                          <a:solidFill>
                            <a:srgbClr val="EAF2F8"/>
                          </a:solidFill>
                          <a:effectLst/>
                          <a:uFillTx/>
                          <a:latin typeface="DejaVu Sans"/>
                          <a:ea typeface="Calibri"/>
                        </a:rPr>
                        <a:t>Stored classifier benchmark</a:t>
                      </a:r>
                      <a:endParaRPr lang="en-US" sz="17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1700" b="0" u="none" strike="noStrike">
                          <a:solidFill>
                            <a:srgbClr val="EAF2F8"/>
                          </a:solidFill>
                          <a:effectLst/>
                          <a:uFillTx/>
                          <a:latin typeface="DejaVu Sans"/>
                          <a:ea typeface="Calibri"/>
                        </a:rPr>
                        <a:t>Fit I; evaluate II</a:t>
                      </a:r>
                      <a:endParaRPr lang="en-US" sz="17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1700" b="0" u="none" strike="noStrike">
                          <a:solidFill>
                            <a:srgbClr val="EAF2F8"/>
                          </a:solidFill>
                          <a:effectLst/>
                          <a:uFillTx/>
                          <a:latin typeface="DejaVu Sans"/>
                          <a:ea typeface="Calibri"/>
                        </a:rPr>
                        <a:t>Fit I–II; evaluate III</a:t>
                      </a:r>
                      <a:endParaRPr lang="en-US" sz="17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r h="713160">
                <a:tc>
                  <a:txBody>
                    <a:bodyPr lIns="109440" tIns="73080" anchor="t">
                      <a:noAutofit/>
                    </a:bodyPr>
                    <a:p>
                      <a:pPr>
                        <a:lnSpc>
                          <a:spcPct val="100000"/>
                        </a:lnSpc>
                      </a:pPr>
                      <a:r>
                        <a:rPr lang="en-US" sz="1700" b="0" u="none" strike="noStrike">
                          <a:solidFill>
                            <a:srgbClr val="EAF2F8"/>
                          </a:solidFill>
                          <a:effectLst/>
                          <a:uFillTx/>
                          <a:latin typeface="DejaVu Sans"/>
                          <a:ea typeface="Calibri"/>
                        </a:rPr>
                        <a:t>Complementary EEG runner</a:t>
                      </a:r>
                      <a:endParaRPr lang="en-US" sz="17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1700" b="0" u="none" strike="noStrike">
                          <a:solidFill>
                            <a:srgbClr val="EAF2F8"/>
                          </a:solidFill>
                          <a:effectLst/>
                          <a:uFillTx/>
                          <a:latin typeface="DejaVu Sans"/>
                          <a:ea typeface="Calibri"/>
                        </a:rPr>
                        <a:t>I: training/calibration split;</a:t>
                      </a:r>
                      <a:endParaRPr lang="en-US" sz="1700" b="0" u="none" strike="noStrike">
                        <a:solidFill>
                          <a:srgbClr val="FFFFFF"/>
                        </a:solidFill>
                        <a:effectLst/>
                        <a:uFillTx/>
                        <a:latin typeface="Arial"/>
                      </a:endParaRPr>
                    </a:p>
                    <a:p>
                      <a:pPr>
                        <a:lnSpc>
                          <a:spcPct val="100000"/>
                        </a:lnSpc>
                      </a:pPr>
                      <a:r>
                        <a:rPr lang="en-US" sz="1700" b="0" u="none" strike="noStrike">
                          <a:solidFill>
                            <a:srgbClr val="EAF2F8"/>
                          </a:solidFill>
                          <a:effectLst/>
                          <a:uFillTx/>
                          <a:latin typeface="DejaVu Sans"/>
                          <a:ea typeface="Calibri"/>
                        </a:rPr>
                        <a:t>II evaluation</a:t>
                      </a:r>
                      <a:endParaRPr lang="en-US" sz="17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1700" b="0" u="none" strike="noStrike">
                          <a:solidFill>
                            <a:srgbClr val="EAF2F8"/>
                          </a:solidFill>
                          <a:effectLst/>
                          <a:uFillTx/>
                          <a:latin typeface="DejaVu Sans"/>
                          <a:ea typeface="Calibri"/>
                        </a:rPr>
                        <a:t>Fit I–II; calibrate III;</a:t>
                      </a:r>
                      <a:endParaRPr lang="en-US" sz="1700" b="0" u="none" strike="noStrike">
                        <a:solidFill>
                          <a:srgbClr val="FFFFFF"/>
                        </a:solidFill>
                        <a:effectLst/>
                        <a:uFillTx/>
                        <a:latin typeface="Arial"/>
                      </a:endParaRPr>
                    </a:p>
                    <a:p>
                      <a:pPr>
                        <a:lnSpc>
                          <a:spcPct val="100000"/>
                        </a:lnSpc>
                      </a:pPr>
                      <a:r>
                        <a:rPr lang="en-US" sz="1700" b="0" u="none" strike="noStrike">
                          <a:solidFill>
                            <a:srgbClr val="EAF2F8"/>
                          </a:solidFill>
                          <a:effectLst/>
                          <a:uFillTx/>
                          <a:latin typeface="DejaVu Sans"/>
                          <a:ea typeface="Calibri"/>
                        </a:rPr>
                        <a:t>evaluate IV–V</a:t>
                      </a:r>
                      <a:endParaRPr lang="en-US" sz="17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r h="713160">
                <a:tc>
                  <a:txBody>
                    <a:bodyPr lIns="109440" tIns="73080" anchor="t">
                      <a:noAutofit/>
                    </a:bodyPr>
                    <a:p>
                      <a:pPr>
                        <a:lnSpc>
                          <a:spcPct val="100000"/>
                        </a:lnSpc>
                      </a:pPr>
                      <a:r>
                        <a:rPr lang="en-US" sz="1700" b="0" u="none" strike="noStrike">
                          <a:solidFill>
                            <a:srgbClr val="EAF2F8"/>
                          </a:solidFill>
                          <a:effectLst/>
                          <a:uFillTx/>
                          <a:latin typeface="DejaVu Sans"/>
                          <a:ea typeface="Calibri"/>
                        </a:rPr>
                        <a:t>Diethe policy laboratory</a:t>
                      </a:r>
                      <a:endParaRPr lang="en-US" sz="17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1700" b="0" u="none" strike="noStrike">
                          <a:solidFill>
                            <a:srgbClr val="EAF2F8"/>
                          </a:solidFill>
                          <a:effectLst/>
                          <a:uFillTx/>
                          <a:latin typeface="DejaVu Sans"/>
                          <a:ea typeface="Calibri"/>
                        </a:rPr>
                        <a:t>Synthetic feature streams by default; prepared EEG features accepted by CLI</a:t>
                      </a:r>
                      <a:endParaRPr lang="en-US" sz="17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1700" b="0" u="none" strike="noStrike">
                          <a:solidFill>
                            <a:srgbClr val="EAF2F8"/>
                          </a:solidFill>
                          <a:effectLst/>
                          <a:uFillTx/>
                          <a:latin typeface="DejaVu Sans"/>
                          <a:ea typeface="Calibri"/>
                        </a:rPr>
                        <a:t>Raw EEG loading is not automatically integrated</a:t>
                      </a:r>
                      <a:endParaRPr lang="en-US" sz="17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bl>
          </a:graphicData>
        </a:graphic>
      </p:graphicFrame>
      <p:sp>
        <p:nvSpPr>
          <p:cNvPr id="289" name="TextBox 6"/>
          <p:cNvSpPr/>
          <p:nvPr/>
        </p:nvSpPr>
        <p:spPr>
          <a:xfrm>
            <a:off x="685800" y="5504760"/>
            <a:ext cx="10789560" cy="45684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1800" b="0" u="none" strike="noStrike">
                <a:solidFill>
                  <a:srgbClr val="78D8CC"/>
                </a:solidFill>
                <a:effectLst/>
                <a:uFillTx/>
                <a:latin typeface="DejaVu Sans"/>
                <a:ea typeface="Calibri"/>
              </a:rPr>
              <a:t>Real EEG alarm traces describe alert burden. They do not supply ground-truth shift times.</a:t>
            </a:r>
            <a:endParaRPr lang="en-US" sz="1800" b="0" u="none" strike="noStrike">
              <a:solidFill>
                <a:srgbClr val="FFFFFF"/>
              </a:solidFill>
              <a:effectLst/>
              <a:uFillTx/>
              <a:latin typeface="Arial"/>
            </a:endParaRPr>
          </a:p>
        </p:txBody>
      </p:sp>
      <p:sp>
        <p:nvSpPr>
          <p:cNvPr id="290" name="TextBox 7"/>
          <p:cNvSpPr/>
          <p:nvPr/>
        </p:nvSpPr>
        <p:spPr>
          <a:xfrm>
            <a:off x="11045880" y="6510600"/>
            <a:ext cx="548280" cy="1825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pPr>
            <a:r>
              <a:rPr lang="en-US" sz="1800" b="0" u="none" strike="noStrike">
                <a:solidFill>
                  <a:srgbClr val="EAF2F8"/>
                </a:solidFill>
                <a:effectLst/>
                <a:uFillTx/>
                <a:latin typeface="Calibri"/>
                <a:ea typeface="Calibri"/>
              </a:rPr>
              <a:t>20</a:t>
            </a:r>
            <a:endParaRPr lang="en-US" sz="1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9121F"/>
        </a:solidFill>
      </p:bgPr>
    </p:bg>
    <p:spTree>
      <p:nvGrpSpPr>
        <p:cNvPr id="1" name=""/>
        <p:cNvGrpSpPr/>
        <p:nvPr/>
      </p:nvGrpSpPr>
      <p:grpSpPr>
        <a:xfrm>
          <a:off x="0" y="0"/>
          <a:ext cx="0" cy="0"/>
          <a:chOff x="0" y="0"/>
          <a:chExt cx="0" cy="0"/>
        </a:xfrm>
      </p:grpSpPr>
      <p:sp>
        <p:nvSpPr>
          <p:cNvPr id="291" name="TextBox 1"/>
          <p:cNvSpPr/>
          <p:nvPr/>
        </p:nvSpPr>
        <p:spPr>
          <a:xfrm>
            <a:off x="612720" y="292680"/>
            <a:ext cx="10972440" cy="2923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1300" b="1" u="none" strike="noStrike">
                <a:solidFill>
                  <a:srgbClr val="78D8CC"/>
                </a:solidFill>
                <a:effectLst/>
                <a:uFillTx/>
                <a:latin typeface="DejaVu Sans"/>
                <a:ea typeface="Calibri"/>
              </a:rPr>
              <a:t>DIETHE POLICY LABORATORY</a:t>
            </a:r>
            <a:endParaRPr lang="en-US" sz="1300" b="0" u="none" strike="noStrike">
              <a:solidFill>
                <a:srgbClr val="FFFFFF"/>
              </a:solidFill>
              <a:effectLst/>
              <a:uFillTx/>
              <a:latin typeface="Arial"/>
            </a:endParaRPr>
          </a:p>
        </p:txBody>
      </p:sp>
      <p:sp>
        <p:nvSpPr>
          <p:cNvPr id="292" name="TextBox 2"/>
          <p:cNvSpPr/>
          <p:nvPr/>
        </p:nvSpPr>
        <p:spPr>
          <a:xfrm>
            <a:off x="612720" y="777240"/>
            <a:ext cx="10972440" cy="6397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2700" b="1" u="none" strike="noStrike">
                <a:solidFill>
                  <a:srgbClr val="EAF2F8"/>
                </a:solidFill>
                <a:effectLst/>
                <a:uFillTx/>
                <a:latin typeface="DejaVu Sans"/>
                <a:ea typeface="Calibri"/>
              </a:rPr>
              <a:t>Diethe: separate change, performance and action</a:t>
            </a:r>
            <a:endParaRPr lang="en-US" sz="2700" b="0" u="none" strike="noStrike">
              <a:solidFill>
                <a:srgbClr val="FFFFFF"/>
              </a:solidFill>
              <a:effectLst/>
              <a:uFillTx/>
              <a:latin typeface="Arial"/>
            </a:endParaRPr>
          </a:p>
        </p:txBody>
      </p:sp>
      <p:sp>
        <p:nvSpPr>
          <p:cNvPr id="293" name="TextBox 3"/>
          <p:cNvSpPr/>
          <p:nvPr/>
        </p:nvSpPr>
        <p:spPr>
          <a:xfrm>
            <a:off x="612720" y="6053400"/>
            <a:ext cx="10972440" cy="32868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1100" b="0" u="none" strike="noStrike">
                <a:solidFill>
                  <a:srgbClr val="9CB0C3"/>
                </a:solidFill>
                <a:effectLst/>
                <a:uFillTx/>
                <a:latin typeface="DejaVu Sans"/>
                <a:ea typeface="Calibri"/>
              </a:rPr>
              <a:t>Sources: Diethe et al. (2019), §§3–5; docs/diethe_experiments.md; src/adaptation/experiments/diethe.py.</a:t>
            </a:r>
            <a:endParaRPr lang="en-US" sz="1100" b="0" u="none" strike="noStrike">
              <a:solidFill>
                <a:srgbClr val="FFFFFF"/>
              </a:solidFill>
              <a:effectLst/>
              <a:uFillTx/>
              <a:latin typeface="Arial"/>
            </a:endParaRPr>
          </a:p>
        </p:txBody>
      </p:sp>
      <p:sp>
        <p:nvSpPr>
          <p:cNvPr id="294" name="TextBox 4"/>
          <p:cNvSpPr/>
          <p:nvPr/>
        </p:nvSpPr>
        <p:spPr>
          <a:xfrm>
            <a:off x="612720" y="6510600"/>
            <a:ext cx="9143640" cy="1825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800" b="0" u="none" strike="noStrike">
                <a:solidFill>
                  <a:srgbClr val="9CB0C3"/>
                </a:solidFill>
                <a:effectLst/>
                <a:uFillTx/>
                <a:latin typeface="DejaVu Sans"/>
                <a:ea typeface="Calibri"/>
              </a:rPr>
              <a:t>hlin863/ewma_covariate_shift_demo</a:t>
            </a:r>
            <a:endParaRPr lang="en-US" sz="800" b="0" u="none" strike="noStrike">
              <a:solidFill>
                <a:srgbClr val="FFFFFF"/>
              </a:solidFill>
              <a:effectLst/>
              <a:uFillTx/>
              <a:latin typeface="Arial"/>
            </a:endParaRPr>
          </a:p>
        </p:txBody>
      </p:sp>
      <p:graphicFrame>
        <p:nvGraphicFramePr>
          <p:cNvPr id="295" name="Table 5"/>
          <p:cNvGraphicFramePr/>
          <p:nvPr/>
        </p:nvGraphicFramePr>
        <p:xfrm>
          <a:off x="685800" y="1783080"/>
          <a:ext cx="10789560" cy="3264120"/>
        </p:xfrm>
        <a:graphic>
          <a:graphicData uri="http://schemas.openxmlformats.org/drawingml/2006/table">
            <a:tbl>
              <a:tblPr/>
              <a:tblGrid>
                <a:gridCol w="4663440"/>
                <a:gridCol w="6126480"/>
              </a:tblGrid>
              <a:tr h="585000">
                <a:tc>
                  <a:txBody>
                    <a:bodyPr lIns="109440" tIns="73080" anchor="t">
                      <a:noAutofit/>
                    </a:bodyPr>
                    <a:p>
                      <a:pPr>
                        <a:lnSpc>
                          <a:spcPct val="100000"/>
                        </a:lnSpc>
                      </a:pPr>
                      <a:r>
                        <a:rPr lang="en-US" sz="1900" b="1" u="none" strike="noStrike">
                          <a:solidFill>
                            <a:srgbClr val="78D8CC"/>
                          </a:solidFill>
                          <a:effectLst/>
                          <a:uFillTx/>
                          <a:latin typeface="DejaVu Sans"/>
                          <a:ea typeface="Calibri"/>
                        </a:rPr>
                        <a:t>Question</a:t>
                      </a:r>
                      <a:endParaRPr lang="en-US" sz="19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142838"/>
                    </a:solidFill>
                  </a:tcPr>
                </a:tc>
                <a:tc>
                  <a:txBody>
                    <a:bodyPr lIns="109440" tIns="73080" anchor="t">
                      <a:noAutofit/>
                    </a:bodyPr>
                    <a:p>
                      <a:pPr>
                        <a:lnSpc>
                          <a:spcPct val="100000"/>
                        </a:lnSpc>
                      </a:pPr>
                      <a:r>
                        <a:rPr lang="en-US" sz="1900" b="1" u="none" strike="noStrike">
                          <a:solidFill>
                            <a:srgbClr val="78D8CC"/>
                          </a:solidFill>
                          <a:effectLst/>
                          <a:uFillTx/>
                          <a:latin typeface="DejaVu Sans"/>
                          <a:ea typeface="Calibri"/>
                        </a:rPr>
                        <a:t>Repository experiment</a:t>
                      </a:r>
                      <a:endParaRPr lang="en-US" sz="19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142838"/>
                    </a:solidFill>
                  </a:tcPr>
                </a:tc>
              </a:tr>
              <a:tr h="585000">
                <a:tc>
                  <a:txBody>
                    <a:bodyPr lIns="109440" tIns="73080" anchor="t">
                      <a:noAutofit/>
                    </a:bodyPr>
                    <a:p>
                      <a:pPr>
                        <a:lnSpc>
                          <a:spcPct val="100000"/>
                        </a:lnSpc>
                      </a:pPr>
                      <a:r>
                        <a:rPr lang="en-US" sz="1900" b="0" u="none" strike="noStrike">
                          <a:solidFill>
                            <a:srgbClr val="EAF2F8"/>
                          </a:solidFill>
                          <a:effectLst/>
                          <a:uFillTx/>
                          <a:latin typeface="DejaVu Sans"/>
                          <a:ea typeface="Calibri"/>
                        </a:rPr>
                        <a:t>Has the input changed?</a:t>
                      </a:r>
                      <a:endParaRPr lang="en-US" sz="19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1900" b="0" u="none" strike="noStrike">
                          <a:solidFill>
                            <a:srgbClr val="EAF2F8"/>
                          </a:solidFill>
                          <a:effectLst/>
                          <a:uFillTx/>
                          <a:latin typeface="DejaVu Sans"/>
                          <a:ea typeface="Calibri"/>
                        </a:rPr>
                        <a:t>Shared CSE warnings and Stage-II validation records</a:t>
                      </a:r>
                      <a:endParaRPr lang="en-US" sz="19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r h="585000">
                <a:tc>
                  <a:txBody>
                    <a:bodyPr lIns="109440" tIns="73080" anchor="t">
                      <a:noAutofit/>
                    </a:bodyPr>
                    <a:p>
                      <a:pPr>
                        <a:lnSpc>
                          <a:spcPct val="100000"/>
                        </a:lnSpc>
                      </a:pPr>
                      <a:r>
                        <a:rPr lang="en-US" sz="1900" b="0" u="none" strike="noStrike">
                          <a:solidFill>
                            <a:srgbClr val="EAF2F8"/>
                          </a:solidFill>
                          <a:effectLst/>
                          <a:uFillTx/>
                          <a:latin typeface="DejaVu Sans"/>
                          <a:ea typeface="Calibri"/>
                        </a:rPr>
                        <a:t>Has prediction quality changed?</a:t>
                      </a:r>
                      <a:endParaRPr lang="en-US" sz="19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1900" b="0" u="none" strike="noStrike">
                          <a:solidFill>
                            <a:srgbClr val="EAF2F8"/>
                          </a:solidFill>
                          <a:effectLst/>
                          <a:uFillTx/>
                          <a:latin typeface="DejaVu Sans"/>
                          <a:ea typeface="Calibri"/>
                        </a:rPr>
                        <a:t>Rolling accuracy against a held-out validation reference</a:t>
                      </a:r>
                      <a:endParaRPr lang="en-US" sz="19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r h="585000">
                <a:tc>
                  <a:txBody>
                    <a:bodyPr lIns="109440" tIns="73080" anchor="t">
                      <a:noAutofit/>
                    </a:bodyPr>
                    <a:p>
                      <a:pPr>
                        <a:lnSpc>
                          <a:spcPct val="100000"/>
                        </a:lnSpc>
                      </a:pPr>
                      <a:r>
                        <a:rPr lang="en-US" sz="1900" b="0" u="none" strike="noStrike">
                          <a:solidFill>
                            <a:srgbClr val="EAF2F8"/>
                          </a:solidFill>
                          <a:effectLst/>
                          <a:uFillTx/>
                          <a:latin typeface="DejaVu Sans"/>
                          <a:ea typeface="Calibri"/>
                        </a:rPr>
                        <a:t>Should the model update?</a:t>
                      </a:r>
                      <a:endParaRPr lang="en-US" sz="19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1900" b="0" u="none" strike="noStrike">
                          <a:solidFill>
                            <a:srgbClr val="EAF2F8"/>
                          </a:solidFill>
                          <a:effectLst/>
                          <a:uFillTx/>
                          <a:latin typeface="DejaVu Sans"/>
                          <a:ea typeface="Calibri"/>
                        </a:rPr>
                        <a:t>Five explicit rules compared on the same stream</a:t>
                      </a:r>
                      <a:endParaRPr lang="en-US" sz="19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r h="585000">
                <a:tc>
                  <a:txBody>
                    <a:bodyPr lIns="109440" tIns="73080" anchor="t">
                      <a:noAutofit/>
                    </a:bodyPr>
                    <a:p>
                      <a:pPr>
                        <a:lnSpc>
                          <a:spcPct val="100000"/>
                        </a:lnSpc>
                      </a:pPr>
                      <a:r>
                        <a:rPr lang="en-US" sz="1900" b="0" u="none" strike="noStrike">
                          <a:solidFill>
                            <a:srgbClr val="EAF2F8"/>
                          </a:solidFill>
                          <a:effectLst/>
                          <a:uFillTx/>
                          <a:latin typeface="DejaVu Sans"/>
                          <a:ea typeface="Calibri"/>
                        </a:rPr>
                        <a:t>What does updating cost?</a:t>
                      </a:r>
                      <a:endParaRPr lang="en-US" sz="19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1900" b="0" u="none" strike="noStrike">
                          <a:solidFill>
                            <a:srgbClr val="EAF2F8"/>
                          </a:solidFill>
                          <a:effectLst/>
                          <a:uFillTx/>
                          <a:latin typeface="DejaVu Sans"/>
                          <a:ea typeface="Calibri"/>
                        </a:rPr>
                        <a:t>Update count, fitting time, prediction time and training size</a:t>
                      </a:r>
                      <a:endParaRPr lang="en-US" sz="19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bl>
          </a:graphicData>
        </a:graphic>
      </p:graphicFrame>
      <p:sp>
        <p:nvSpPr>
          <p:cNvPr id="296" name="TextBox 6"/>
          <p:cNvSpPr/>
          <p:nvPr/>
        </p:nvSpPr>
        <p:spPr>
          <a:xfrm>
            <a:off x="685800" y="5047560"/>
            <a:ext cx="10789560" cy="82260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pPr>
            <a:r>
              <a:rPr lang="en-US" sz="1800" b="0" u="none" strike="noStrike">
                <a:solidFill>
                  <a:srgbClr val="EAF2F8"/>
                </a:solidFill>
                <a:effectLst/>
                <a:uFillTx/>
                <a:latin typeface="Calibri"/>
                <a:ea typeface="Calibri"/>
              </a:rPr>
              <a:t>Initial five-policy pilot is historical; a sixth evidence-sufficiency policy is now implemented.</a:t>
            </a:r>
            <a:endParaRPr lang="en-US" sz="1800" b="0" u="none" strike="noStrike">
              <a:solidFill>
                <a:srgbClr val="FFFFFF"/>
              </a:solidFill>
              <a:effectLst/>
              <a:uFillTx/>
              <a:latin typeface="Arial"/>
            </a:endParaRPr>
          </a:p>
          <a:p>
            <a:pPr defTabSz="914400">
              <a:lnSpc>
                <a:spcPct val="100000"/>
              </a:lnSpc>
            </a:pPr>
            <a:r>
              <a:rPr lang="en-US" sz="1800" b="0" u="none" strike="noStrike">
                <a:solidFill>
                  <a:srgbClr val="EAF2F8"/>
                </a:solidFill>
                <a:effectLst/>
                <a:uFillTx/>
                <a:latin typeface="Calibri"/>
                <a:ea typeface="Calibri"/>
              </a:rPr>
              <a:t>Repeated matched comparisons across scenarios and seeds remain pending. This is not a Diethe reproduction.</a:t>
            </a:r>
            <a:endParaRPr lang="en-US" sz="1800" b="0" u="none" strike="noStrike">
              <a:solidFill>
                <a:srgbClr val="FFFFFF"/>
              </a:solidFill>
              <a:effectLst/>
              <a:uFillTx/>
              <a:latin typeface="Arial"/>
            </a:endParaRPr>
          </a:p>
        </p:txBody>
      </p:sp>
      <p:sp>
        <p:nvSpPr>
          <p:cNvPr id="297" name="TextBox 7"/>
          <p:cNvSpPr/>
          <p:nvPr/>
        </p:nvSpPr>
        <p:spPr>
          <a:xfrm>
            <a:off x="11045880" y="6510600"/>
            <a:ext cx="548280" cy="1825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pPr>
            <a:r>
              <a:rPr lang="en-US" sz="1800" b="0" u="none" strike="noStrike">
                <a:solidFill>
                  <a:srgbClr val="EAF2F8"/>
                </a:solidFill>
                <a:effectLst/>
                <a:uFillTx/>
                <a:latin typeface="Calibri"/>
                <a:ea typeface="Calibri"/>
              </a:rPr>
              <a:t>21</a:t>
            </a:r>
            <a:endParaRPr lang="en-US" sz="1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8" name="TextBox 1"/>
          <p:cNvSpPr/>
          <p:nvPr/>
        </p:nvSpPr>
        <p:spPr>
          <a:xfrm>
            <a:off x="612720" y="292680"/>
            <a:ext cx="10881000" cy="31968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300" b="1" u="none" strike="noStrike">
                <a:solidFill>
                  <a:srgbClr val="AE9251"/>
                </a:solidFill>
                <a:effectLst/>
                <a:uFillTx/>
                <a:latin typeface="Aptos"/>
                <a:ea typeface="Calibri"/>
              </a:rPr>
              <a:t>SEPARATE EXPERIMENTAL CONTEXT</a:t>
            </a:r>
            <a:endParaRPr lang="en-US" sz="1300" b="0" u="none" strike="noStrike">
              <a:solidFill>
                <a:srgbClr val="000000"/>
              </a:solidFill>
              <a:effectLst/>
              <a:uFillTx/>
              <a:latin typeface="Arial"/>
            </a:endParaRPr>
          </a:p>
        </p:txBody>
      </p:sp>
      <p:sp>
        <p:nvSpPr>
          <p:cNvPr id="299" name="TextBox 2"/>
          <p:cNvSpPr/>
          <p:nvPr/>
        </p:nvSpPr>
        <p:spPr>
          <a:xfrm>
            <a:off x="612720" y="749880"/>
            <a:ext cx="10972440" cy="63972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2700" b="1" u="none" strike="noStrike">
                <a:solidFill>
                  <a:srgbClr val="13274B"/>
                </a:solidFill>
                <a:effectLst/>
                <a:uFillTx/>
                <a:latin typeface="Aptos"/>
                <a:ea typeface="Calibri"/>
              </a:rPr>
              <a:t>The Diethe policy lab uses supplied feature vectors</a:t>
            </a:r>
            <a:endParaRPr lang="en-US" sz="2700" b="0" u="none" strike="noStrike">
              <a:solidFill>
                <a:srgbClr val="000000"/>
              </a:solidFill>
              <a:effectLst/>
              <a:uFillTx/>
              <a:latin typeface="Arial"/>
            </a:endParaRPr>
          </a:p>
        </p:txBody>
      </p:sp>
      <p:sp>
        <p:nvSpPr>
          <p:cNvPr id="300" name="TextBox 3"/>
          <p:cNvSpPr/>
          <p:nvPr/>
        </p:nvSpPr>
        <p:spPr>
          <a:xfrm>
            <a:off x="685800" y="1435680"/>
            <a:ext cx="10881000" cy="51156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400" b="0" u="none" strike="noStrike">
                <a:solidFill>
                  <a:srgbClr val="53657C"/>
                </a:solidFill>
                <a:effectLst/>
                <a:uFillTx/>
                <a:latin typeface="Aptos"/>
                <a:ea typeface="Calibri"/>
              </a:rPr>
              <a:t>Do not conflate the real-EEG FBCSP/PCA monitoring pipeline with the synthetic policy-comparison branch.</a:t>
            </a:r>
            <a:endParaRPr lang="en-US" sz="1400" b="0" u="none" strike="noStrike">
              <a:solidFill>
                <a:srgbClr val="000000"/>
              </a:solidFill>
              <a:effectLst/>
              <a:uFillTx/>
              <a:latin typeface="Arial"/>
            </a:endParaRPr>
          </a:p>
        </p:txBody>
      </p:sp>
      <p:sp>
        <p:nvSpPr>
          <p:cNvPr id="301" name="TextBox 4"/>
          <p:cNvSpPr/>
          <p:nvPr/>
        </p:nvSpPr>
        <p:spPr>
          <a:xfrm>
            <a:off x="612720" y="6510600"/>
            <a:ext cx="8229240" cy="20988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900" b="0" u="none" strike="noStrike">
                <a:solidFill>
                  <a:srgbClr val="53657C"/>
                </a:solidFill>
                <a:effectLst/>
                <a:uFillTx/>
                <a:latin typeface="Aptos"/>
                <a:ea typeface="Calibri"/>
              </a:rPr>
              <a:t>hlin863/ewma_covariate_shift_demo</a:t>
            </a:r>
            <a:endParaRPr lang="en-US" sz="900" b="0" u="none" strike="noStrike">
              <a:solidFill>
                <a:srgbClr val="000000"/>
              </a:solidFill>
              <a:effectLst/>
              <a:uFillTx/>
              <a:latin typeface="Arial"/>
            </a:endParaRPr>
          </a:p>
        </p:txBody>
      </p:sp>
      <p:sp>
        <p:nvSpPr>
          <p:cNvPr id="302" name="Rounded Rectangle 5"/>
          <p:cNvSpPr/>
          <p:nvPr/>
        </p:nvSpPr>
        <p:spPr>
          <a:xfrm>
            <a:off x="822960" y="1938600"/>
            <a:ext cx="5028840" cy="2331360"/>
          </a:xfrm>
          <a:prstGeom prst="roundRect">
            <a:avLst>
              <a:gd name="adj" fmla="val 16667"/>
            </a:avLst>
          </a:prstGeom>
          <a:solidFill>
            <a:srgbClr val="ECF2F8"/>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03" name="Rounded Rectangle 6"/>
          <p:cNvSpPr/>
          <p:nvPr/>
        </p:nvSpPr>
        <p:spPr>
          <a:xfrm>
            <a:off x="6217920" y="1938600"/>
            <a:ext cx="5028840" cy="2331360"/>
          </a:xfrm>
          <a:prstGeom prst="roundRect">
            <a:avLst>
              <a:gd name="adj" fmla="val 16667"/>
            </a:avLst>
          </a:prstGeom>
          <a:solidFill>
            <a:srgbClr val="ECF2F8"/>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04" name="TextBox 7"/>
          <p:cNvSpPr/>
          <p:nvPr/>
        </p:nvSpPr>
        <p:spPr>
          <a:xfrm>
            <a:off x="1042560" y="2212920"/>
            <a:ext cx="4534920" cy="41112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2000" b="1" u="none" strike="noStrike">
                <a:solidFill>
                  <a:srgbClr val="13274B"/>
                </a:solidFill>
                <a:effectLst/>
                <a:uFillTx/>
                <a:latin typeface="Aptos"/>
                <a:ea typeface="Calibri"/>
              </a:rPr>
              <a:t>Real-EEG branch</a:t>
            </a:r>
            <a:endParaRPr lang="en-US" sz="2000" b="0" u="none" strike="noStrike">
              <a:solidFill>
                <a:srgbClr val="000000"/>
              </a:solidFill>
              <a:effectLst/>
              <a:uFillTx/>
              <a:latin typeface="Arial"/>
            </a:endParaRPr>
          </a:p>
        </p:txBody>
      </p:sp>
      <p:sp>
        <p:nvSpPr>
          <p:cNvPr id="305" name="TextBox 8"/>
          <p:cNvSpPr/>
          <p:nvPr/>
        </p:nvSpPr>
        <p:spPr>
          <a:xfrm>
            <a:off x="1042560" y="2797920"/>
            <a:ext cx="4534920" cy="109692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600" b="0" u="none" strike="noStrike">
                <a:solidFill>
                  <a:srgbClr val="53657C"/>
                </a:solidFill>
                <a:effectLst/>
                <a:uFillTx/>
                <a:latin typeface="Aptos"/>
                <a:ea typeface="Calibri"/>
              </a:rPr>
              <a:t>EEG trial → calibrated FBCSP → feature vector fₜ</a:t>
            </a:r>
            <a:endParaRPr lang="en-US" sz="1600" b="0" u="none" strike="noStrike">
              <a:solidFill>
                <a:srgbClr val="000000"/>
              </a:solidFill>
              <a:effectLst/>
              <a:uFillTx/>
              <a:latin typeface="Arial"/>
            </a:endParaRPr>
          </a:p>
          <a:p>
            <a:pPr defTabSz="914400">
              <a:lnSpc>
                <a:spcPct val="100000"/>
              </a:lnSpc>
              <a:spcAft>
                <a:spcPts val="799"/>
              </a:spcAft>
            </a:pPr>
            <a:r>
              <a:rPr lang="en-US" sz="1600" b="0" u="none" strike="noStrike">
                <a:solidFill>
                  <a:srgbClr val="53657C"/>
                </a:solidFill>
                <a:effectLst/>
                <a:uFillTx/>
                <a:latin typeface="Aptos"/>
                <a:ea typeface="Calibri"/>
              </a:rPr>
              <a:t>PCA is used by monitoring; SVM receives fₜ.</a:t>
            </a:r>
            <a:endParaRPr lang="en-US" sz="1600" b="0" u="none" strike="noStrike">
              <a:solidFill>
                <a:srgbClr val="000000"/>
              </a:solidFill>
              <a:effectLst/>
              <a:uFillTx/>
              <a:latin typeface="Arial"/>
            </a:endParaRPr>
          </a:p>
        </p:txBody>
      </p:sp>
      <p:sp>
        <p:nvSpPr>
          <p:cNvPr id="306" name="TextBox 9"/>
          <p:cNvSpPr/>
          <p:nvPr/>
        </p:nvSpPr>
        <p:spPr>
          <a:xfrm>
            <a:off x="6437520" y="2212920"/>
            <a:ext cx="4534920" cy="41112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2000" b="1" u="none" strike="noStrike">
                <a:solidFill>
                  <a:srgbClr val="13274B"/>
                </a:solidFill>
                <a:effectLst/>
                <a:uFillTx/>
                <a:latin typeface="Aptos"/>
                <a:ea typeface="Calibri"/>
              </a:rPr>
              <a:t>Diethe laboratory branch</a:t>
            </a:r>
            <a:endParaRPr lang="en-US" sz="2000" b="0" u="none" strike="noStrike">
              <a:solidFill>
                <a:srgbClr val="000000"/>
              </a:solidFill>
              <a:effectLst/>
              <a:uFillTx/>
              <a:latin typeface="Arial"/>
            </a:endParaRPr>
          </a:p>
        </p:txBody>
      </p:sp>
      <p:sp>
        <p:nvSpPr>
          <p:cNvPr id="307" name="TextBox 10"/>
          <p:cNvSpPr/>
          <p:nvPr/>
        </p:nvSpPr>
        <p:spPr>
          <a:xfrm>
            <a:off x="6437520" y="2797920"/>
            <a:ext cx="4534920" cy="109692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600" b="0" u="none" strike="noStrike">
                <a:solidFill>
                  <a:srgbClr val="53657C"/>
                </a:solidFill>
                <a:effectLst/>
                <a:uFillTx/>
                <a:latin typeface="Aptos"/>
                <a:ea typeface="Calibri"/>
              </a:rPr>
              <a:t>Supplied / synthetic features → classifier and CSE detector</a:t>
            </a:r>
            <a:endParaRPr lang="en-US" sz="1600" b="0" u="none" strike="noStrike">
              <a:solidFill>
                <a:srgbClr val="000000"/>
              </a:solidFill>
              <a:effectLst/>
              <a:uFillTx/>
              <a:latin typeface="Arial"/>
            </a:endParaRPr>
          </a:p>
          <a:p>
            <a:pPr defTabSz="914400">
              <a:lnSpc>
                <a:spcPct val="100000"/>
              </a:lnSpc>
              <a:spcAft>
                <a:spcPts val="799"/>
              </a:spcAft>
            </a:pPr>
            <a:r>
              <a:rPr lang="en-US" sz="1600" b="0" u="none" strike="noStrike">
                <a:solidFill>
                  <a:srgbClr val="53657C"/>
                </a:solidFill>
                <a:effectLst/>
                <a:uFillTx/>
                <a:latin typeface="Aptos"/>
                <a:ea typeface="Calibri"/>
              </a:rPr>
              <a:t>No EEG extraction or FBCSP step is present.</a:t>
            </a:r>
            <a:endParaRPr lang="en-US" sz="1600" b="0" u="none" strike="noStrike">
              <a:solidFill>
                <a:srgbClr val="000000"/>
              </a:solidFill>
              <a:effectLst/>
              <a:uFillTx/>
              <a:latin typeface="Arial"/>
            </a:endParaRPr>
          </a:p>
        </p:txBody>
      </p:sp>
      <p:sp>
        <p:nvSpPr>
          <p:cNvPr id="308" name="TextBox 11"/>
          <p:cNvSpPr/>
          <p:nvPr/>
        </p:nvSpPr>
        <p:spPr>
          <a:xfrm>
            <a:off x="896040" y="4654440"/>
            <a:ext cx="10606680" cy="5940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800" b="1" u="none" strike="noStrike">
                <a:solidFill>
                  <a:srgbClr val="13274B"/>
                </a:solidFill>
                <a:effectLst/>
                <a:uFillTx/>
                <a:latin typeface="Aptos"/>
                <a:ea typeface="Calibri"/>
              </a:rPr>
              <a:t>Shared research question: should a confirmed distribution change trigger an update, and does that update help predictive performance?</a:t>
            </a:r>
            <a:endParaRPr lang="en-US" sz="1800" b="0" u="none" strike="noStrike">
              <a:solidFill>
                <a:srgbClr val="000000"/>
              </a:solidFill>
              <a:effectLst/>
              <a:uFillTx/>
              <a:latin typeface="Arial"/>
            </a:endParaRPr>
          </a:p>
        </p:txBody>
      </p:sp>
      <p:sp>
        <p:nvSpPr>
          <p:cNvPr id="309" name="TextBox 12"/>
          <p:cNvSpPr/>
          <p:nvPr/>
        </p:nvSpPr>
        <p:spPr>
          <a:xfrm>
            <a:off x="896040" y="5706000"/>
            <a:ext cx="10515240" cy="3654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spcAft>
                <a:spcPts val="799"/>
              </a:spcAft>
            </a:pPr>
            <a:r>
              <a:rPr lang="en-US" sz="1300" b="0" u="none" strike="noStrike">
                <a:solidFill>
                  <a:srgbClr val="53657C"/>
                </a:solidFill>
                <a:effectLst/>
                <a:uFillTx/>
                <a:latin typeface="Aptos"/>
                <a:ea typeface="Calibri"/>
              </a:rPr>
              <a:t>Repository interpretation: run_policy_comparison(); the five-policy comparison is a controlled laboratory, not proof of clinical BCI benefit.</a:t>
            </a:r>
            <a:endParaRPr lang="en-US" sz="1300" b="0" u="none" strike="noStrike">
              <a:solidFill>
                <a:srgbClr val="000000"/>
              </a:solidFill>
              <a:effectLst/>
              <a:uFillTx/>
              <a:latin typeface="Arial"/>
            </a:endParaRPr>
          </a:p>
        </p:txBody>
      </p:sp>
      <p:sp>
        <p:nvSpPr>
          <p:cNvPr id="310" name="Slide number"/>
          <p:cNvSpPr/>
          <p:nvPr/>
        </p:nvSpPr>
        <p:spPr>
          <a:xfrm>
            <a:off x="11334600" y="6429240"/>
            <a:ext cx="380520" cy="256680"/>
          </a:xfrm>
          <a:noFill/>
          <a:ln w="0">
            <a:noFill/>
          </a:ln>
        </p:spPr>
        <p:style>
          <a:lnRef idx="0"/>
          <a:fillRef idx="0"/>
          <a:effectRef idx="0"/>
          <a:fontRef idx="minor"/>
        </p:style>
        <p:txBody>
          <a:bodyPr lIns="90000" tIns="45000" rIns="90000" bIns="45000" anchor="t">
            <a:noAutofit/>
          </a:bodyPr>
          <a:p>
            <a:pPr defTabSz="914400">
              <a:lnSpc>
                <a:spcPct val="100000"/>
              </a:lnSpc>
            </a:pPr>
            <a:r>
              <a:rPr lang="en-US" sz="1200" b="0" u="none" strike="noStrike">
                <a:solidFill>
                  <a:srgbClr val="516377"/>
                </a:solidFill>
                <a:effectLst/>
                <a:uFillTx/>
                <a:latin typeface="Calibri"/>
                <a:ea typeface="Calibri"/>
              </a:rPr>
              <a:t>22</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9121F"/>
        </a:solidFill>
      </p:bgPr>
    </p:bg>
    <p:spTree>
      <p:nvGrpSpPr>
        <p:cNvPr id="1" name=""/>
        <p:cNvGrpSpPr/>
        <p:nvPr/>
      </p:nvGrpSpPr>
      <p:grpSpPr>
        <a:xfrm>
          <a:off x="0" y="0"/>
          <a:ext cx="0" cy="0"/>
          <a:chOff x="0" y="0"/>
          <a:chExt cx="0" cy="0"/>
        </a:xfrm>
      </p:grpSpPr>
      <p:sp>
        <p:nvSpPr>
          <p:cNvPr id="311" name="TextBox 1"/>
          <p:cNvSpPr/>
          <p:nvPr/>
        </p:nvSpPr>
        <p:spPr>
          <a:xfrm>
            <a:off x="612720" y="292680"/>
            <a:ext cx="10972440" cy="2923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1300" b="1" u="none" strike="noStrike">
                <a:solidFill>
                  <a:srgbClr val="78D8CC"/>
                </a:solidFill>
                <a:effectLst/>
                <a:uFillTx/>
                <a:latin typeface="DejaVu Sans"/>
                <a:ea typeface="Calibri"/>
              </a:rPr>
              <a:t>DIETHE EXPERIMENT DESIGN</a:t>
            </a:r>
            <a:endParaRPr lang="en-US" sz="1300" b="0" u="none" strike="noStrike">
              <a:solidFill>
                <a:srgbClr val="FFFFFF"/>
              </a:solidFill>
              <a:effectLst/>
              <a:uFillTx/>
              <a:latin typeface="Arial"/>
            </a:endParaRPr>
          </a:p>
        </p:txBody>
      </p:sp>
      <p:sp>
        <p:nvSpPr>
          <p:cNvPr id="312" name="TextBox 2"/>
          <p:cNvSpPr/>
          <p:nvPr/>
        </p:nvSpPr>
        <p:spPr>
          <a:xfrm>
            <a:off x="612720" y="777240"/>
            <a:ext cx="10972440" cy="6397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pPr>
            <a:r>
              <a:rPr lang="en-US" sz="2600" b="1" u="none" strike="noStrike">
                <a:solidFill>
                  <a:srgbClr val="EAF2F8"/>
                </a:solidFill>
                <a:effectLst/>
                <a:uFillTx/>
                <a:latin typeface="Aptos"/>
                <a:ea typeface="Calibri"/>
              </a:rPr>
              <a:t>Six policies, three controlled scenarios</a:t>
            </a:r>
            <a:endParaRPr lang="en-US" sz="2600" b="0" u="none" strike="noStrike">
              <a:solidFill>
                <a:srgbClr val="FFFFFF"/>
              </a:solidFill>
              <a:effectLst/>
              <a:uFillTx/>
              <a:latin typeface="Arial"/>
            </a:endParaRPr>
          </a:p>
        </p:txBody>
      </p:sp>
      <p:sp>
        <p:nvSpPr>
          <p:cNvPr id="313" name="TextBox 3"/>
          <p:cNvSpPr/>
          <p:nvPr/>
        </p:nvSpPr>
        <p:spPr>
          <a:xfrm>
            <a:off x="612720" y="6053400"/>
            <a:ext cx="10972440" cy="32868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1100" b="0" u="none" strike="noStrike">
                <a:solidFill>
                  <a:srgbClr val="9CB0C3"/>
                </a:solidFill>
                <a:effectLst/>
                <a:uFillTx/>
                <a:latin typeface="DejaVu Sans"/>
                <a:ea typeface="Calibri"/>
              </a:rPr>
              <a:t>Source: docs/diethe_experiments.md and current CLI. Defaults: 240 trials, 20-trial interval, 30-trial performance window.</a:t>
            </a:r>
            <a:endParaRPr lang="en-US" sz="1100" b="0" u="none" strike="noStrike">
              <a:solidFill>
                <a:srgbClr val="FFFFFF"/>
              </a:solidFill>
              <a:effectLst/>
              <a:uFillTx/>
              <a:latin typeface="Arial"/>
            </a:endParaRPr>
          </a:p>
        </p:txBody>
      </p:sp>
      <p:sp>
        <p:nvSpPr>
          <p:cNvPr id="314" name="TextBox 4"/>
          <p:cNvSpPr/>
          <p:nvPr/>
        </p:nvSpPr>
        <p:spPr>
          <a:xfrm>
            <a:off x="612720" y="6510600"/>
            <a:ext cx="9143640" cy="1825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800" b="0" u="none" strike="noStrike">
                <a:solidFill>
                  <a:srgbClr val="9CB0C3"/>
                </a:solidFill>
                <a:effectLst/>
                <a:uFillTx/>
                <a:latin typeface="DejaVu Sans"/>
                <a:ea typeface="Calibri"/>
              </a:rPr>
              <a:t>hlin863/ewma_covariate_shift_demo</a:t>
            </a:r>
            <a:endParaRPr lang="en-US" sz="800" b="0" u="none" strike="noStrike">
              <a:solidFill>
                <a:srgbClr val="FFFFFF"/>
              </a:solidFill>
              <a:effectLst/>
              <a:uFillTx/>
              <a:latin typeface="Arial"/>
            </a:endParaRPr>
          </a:p>
        </p:txBody>
      </p:sp>
      <p:graphicFrame>
        <p:nvGraphicFramePr>
          <p:cNvPr id="315" name="Table 5"/>
          <p:cNvGraphicFramePr/>
          <p:nvPr/>
        </p:nvGraphicFramePr>
        <p:xfrm>
          <a:off x="685800" y="1673280"/>
          <a:ext cx="10789560" cy="1965600"/>
        </p:xfrm>
        <a:graphic>
          <a:graphicData uri="http://schemas.openxmlformats.org/drawingml/2006/table">
            <a:tbl>
              <a:tblPr/>
              <a:tblGrid>
                <a:gridCol w="4023360"/>
                <a:gridCol w="6766560"/>
              </a:tblGrid>
              <a:tr h="491400">
                <a:tc>
                  <a:txBody>
                    <a:bodyPr lIns="109440" tIns="73080" anchor="t">
                      <a:noAutofit/>
                    </a:bodyPr>
                    <a:p>
                      <a:pPr>
                        <a:lnSpc>
                          <a:spcPct val="100000"/>
                        </a:lnSpc>
                      </a:pPr>
                      <a:r>
                        <a:rPr lang="en-US" sz="1800" b="1" u="none" strike="noStrike">
                          <a:solidFill>
                            <a:srgbClr val="78D8CC"/>
                          </a:solidFill>
                          <a:effectLst/>
                          <a:uFillTx/>
                          <a:latin typeface="DejaVu Sans"/>
                          <a:ea typeface="Calibri"/>
                        </a:rPr>
                        <a:t>Policy</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142838"/>
                    </a:solidFill>
                  </a:tcPr>
                </a:tc>
                <a:tc>
                  <a:txBody>
                    <a:bodyPr lIns="109440" tIns="73080" anchor="t">
                      <a:noAutofit/>
                    </a:bodyPr>
                    <a:p>
                      <a:pPr>
                        <a:lnSpc>
                          <a:spcPct val="100000"/>
                        </a:lnSpc>
                      </a:pPr>
                      <a:r>
                        <a:rPr lang="en-US" sz="1800" b="1" u="none" strike="noStrike">
                          <a:solidFill>
                            <a:srgbClr val="78D8CC"/>
                          </a:solidFill>
                          <a:effectLst/>
                          <a:uFillTx/>
                          <a:latin typeface="DejaVu Sans"/>
                          <a:ea typeface="Calibri"/>
                        </a:rPr>
                        <a:t>Update trigger</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142838"/>
                    </a:solidFill>
                  </a:tcPr>
                </a:tc>
              </a:tr>
              <a:tr h="491400">
                <a:tc>
                  <a:txBody>
                    <a:bodyPr lIns="109440" tIns="73080" anchor="t">
                      <a:noAutofit/>
                    </a:bodyPr>
                    <a:p>
                      <a:pPr>
                        <a:lnSpc>
                          <a:spcPct val="100000"/>
                        </a:lnSpc>
                      </a:pPr>
                      <a:r>
                        <a:rPr lang="en-US" sz="1800" b="0" u="none" strike="noStrike">
                          <a:solidFill>
                            <a:srgbClr val="EAF2F8"/>
                          </a:solidFill>
                          <a:effectLst/>
                          <a:uFillTx/>
                          <a:latin typeface="DejaVu Sans"/>
                          <a:ea typeface="Calibri"/>
                        </a:rPr>
                        <a:t>Never / periodic</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1800" b="0" u="none" strike="noStrike">
                          <a:solidFill>
                            <a:srgbClr val="EAF2F8"/>
                          </a:solidFill>
                          <a:effectLst/>
                          <a:uFillTx/>
                          <a:latin typeface="DejaVu Sans"/>
                          <a:ea typeface="Calibri"/>
                        </a:rPr>
                        <a:t>No update / every configured interval</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r h="491400">
                <a:tc>
                  <a:txBody>
                    <a:bodyPr lIns="109440" tIns="73080" anchor="t">
                      <a:noAutofit/>
                    </a:bodyPr>
                    <a:p>
                      <a:pPr>
                        <a:lnSpc>
                          <a:spcPct val="100000"/>
                        </a:lnSpc>
                      </a:pPr>
                      <a:r>
                        <a:rPr lang="en-US" sz="1800" b="0" u="none" strike="noStrike">
                          <a:solidFill>
                            <a:srgbClr val="EAF2F8"/>
                          </a:solidFill>
                          <a:effectLst/>
                          <a:uFillTx/>
                          <a:latin typeface="DejaVu Sans"/>
                          <a:ea typeface="Calibri"/>
                        </a:rPr>
                        <a:t>Warning / validated</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1800" b="0" u="none" strike="noStrike">
                          <a:solidFill>
                            <a:srgbClr val="EAF2F8"/>
                          </a:solidFill>
                          <a:effectLst/>
                          <a:uFillTx/>
                          <a:latin typeface="DejaVu Sans"/>
                          <a:ea typeface="Calibri"/>
                        </a:rPr>
                        <a:t>Stage-I warning / available Stage-II confirmation</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r h="491400">
                <a:tc>
                  <a:txBody>
                    <a:bodyPr lIns="109440" tIns="73080" anchor="t">
                      <a:noAutofit/>
                    </a:bodyPr>
                    <a:p>
                      <a:pPr>
                        <a:lnSpc>
                          <a:spcPct val="100000"/>
                        </a:lnSpc>
                      </a:pPr>
                      <a:r>
                        <a:rPr lang="en-US" sz="1800" b="0" u="none" strike="noStrike">
                          <a:solidFill>
                            <a:srgbClr val="EAF2F8"/>
                          </a:solidFill>
                          <a:effectLst/>
                          <a:uFillTx/>
                          <a:latin typeface="DejaVu Sans"/>
                          <a:ea typeface="Calibri"/>
                        </a:rPr>
                        <a:t>Performance drop</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1800" b="0" u="none" strike="noStrike">
                          <a:solidFill>
                            <a:srgbClr val="EAF2F8"/>
                          </a:solidFill>
                          <a:effectLst/>
                          <a:uFillTx/>
                          <a:latin typeface="DejaVu Sans"/>
                          <a:ea typeface="Calibri"/>
                        </a:rPr>
                        <a:t>Rolling accuracy drops below the validation reference</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bl>
          </a:graphicData>
        </a:graphic>
      </p:graphicFrame>
      <p:sp>
        <p:nvSpPr>
          <p:cNvPr id="316" name="TextBox 6"/>
          <p:cNvSpPr/>
          <p:nvPr/>
        </p:nvSpPr>
        <p:spPr>
          <a:xfrm>
            <a:off x="685800" y="3895200"/>
            <a:ext cx="10789560" cy="123408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2000" b="0" u="none" strike="noStrike">
                <a:solidFill>
                  <a:srgbClr val="EAF2F8"/>
                </a:solidFill>
                <a:effectLst/>
                <a:uFillTx/>
                <a:latin typeface="DejaVu Sans"/>
                <a:ea typeface="Calibri"/>
              </a:rPr>
              <a:t>No shift: baseline alert and update burden.</a:t>
            </a:r>
            <a:endParaRPr lang="en-US" sz="2000" b="0" u="none" strike="noStrike">
              <a:solidFill>
                <a:srgbClr val="FFFFFF"/>
              </a:solidFill>
              <a:effectLst/>
              <a:uFillTx/>
              <a:latin typeface="Arial"/>
            </a:endParaRPr>
          </a:p>
          <a:p>
            <a:pPr defTabSz="914400">
              <a:lnSpc>
                <a:spcPct val="100000"/>
              </a:lnSpc>
              <a:spcAft>
                <a:spcPts val="901"/>
              </a:spcAft>
            </a:pPr>
            <a:r>
              <a:rPr lang="en-US" sz="2000" b="0" u="none" strike="noStrike">
                <a:solidFill>
                  <a:srgbClr val="EAF2F8"/>
                </a:solidFill>
                <a:effectLst/>
                <a:uFillTx/>
                <a:latin typeface="DejaVu Sans"/>
                <a:ea typeface="Calibri"/>
              </a:rPr>
              <a:t>Feature shift: P(X) changes; the label rule stays fixed.</a:t>
            </a:r>
            <a:endParaRPr lang="en-US" sz="2000" b="0" u="none" strike="noStrike">
              <a:solidFill>
                <a:srgbClr val="FFFFFF"/>
              </a:solidFill>
              <a:effectLst/>
              <a:uFillTx/>
              <a:latin typeface="Arial"/>
            </a:endParaRPr>
          </a:p>
          <a:p>
            <a:pPr defTabSz="914400">
              <a:lnSpc>
                <a:spcPct val="100000"/>
              </a:lnSpc>
              <a:spcAft>
                <a:spcPts val="901"/>
              </a:spcAft>
            </a:pPr>
            <a:r>
              <a:rPr lang="en-US" sz="2000" b="0" u="none" strike="noStrike">
                <a:solidFill>
                  <a:srgbClr val="EAF2F8"/>
                </a:solidFill>
                <a:effectLst/>
                <a:uFillTx/>
                <a:latin typeface="DejaVu Sans"/>
                <a:ea typeface="Calibri"/>
              </a:rPr>
              <a:t>Relationship shift: the label rule changes; P(X) stays fixed.</a:t>
            </a:r>
            <a:endParaRPr lang="en-US" sz="2000" b="0" u="none" strike="noStrike">
              <a:solidFill>
                <a:srgbClr val="FFFFFF"/>
              </a:solidFill>
              <a:effectLst/>
              <a:uFillTx/>
              <a:latin typeface="Arial"/>
            </a:endParaRPr>
          </a:p>
        </p:txBody>
      </p:sp>
      <p:sp>
        <p:nvSpPr>
          <p:cNvPr id="317" name="TextBox 7"/>
          <p:cNvSpPr/>
          <p:nvPr/>
        </p:nvSpPr>
        <p:spPr>
          <a:xfrm>
            <a:off x="685800" y="5367600"/>
            <a:ext cx="10789560" cy="59400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1600" b="0" u="none" strike="noStrike">
                <a:solidFill>
                  <a:srgbClr val="9CB0C3"/>
                </a:solidFill>
                <a:effectLst/>
                <a:uFillTx/>
                <a:latin typeface="DejaVu Sans"/>
                <a:ea typeface="Calibri"/>
              </a:rPr>
              <a:t>Predict before revealing each label. Training expands after updates.</a:t>
            </a:r>
            <a:endParaRPr lang="en-US" sz="1600" b="0" u="none" strike="noStrike">
              <a:solidFill>
                <a:srgbClr val="FFFFFF"/>
              </a:solidFill>
              <a:effectLst/>
              <a:uFillTx/>
              <a:latin typeface="Arial"/>
            </a:endParaRPr>
          </a:p>
          <a:p>
            <a:pPr defTabSz="914400">
              <a:lnSpc>
                <a:spcPct val="100000"/>
              </a:lnSpc>
              <a:spcAft>
                <a:spcPts val="901"/>
              </a:spcAft>
            </a:pPr>
            <a:r>
              <a:rPr lang="en-US" sz="1600" b="0" u="none" strike="noStrike">
                <a:solidFill>
                  <a:srgbClr val="9CB0C3"/>
                </a:solidFill>
                <a:effectLst/>
                <a:uFillTx/>
                <a:latin typeface="DejaVu Sans"/>
                <a:ea typeface="Calibri"/>
              </a:rPr>
              <a:t>Delayed labels, rollback and energy measurement remain outside this experiment.</a:t>
            </a:r>
            <a:endParaRPr lang="en-US" sz="1600" b="0" u="none" strike="noStrike">
              <a:solidFill>
                <a:srgbClr val="FFFFFF"/>
              </a:solidFill>
              <a:effectLst/>
              <a:uFillTx/>
              <a:latin typeface="Arial"/>
            </a:endParaRPr>
          </a:p>
        </p:txBody>
      </p:sp>
      <p:sp>
        <p:nvSpPr>
          <p:cNvPr id="318" name="TextBox 8"/>
          <p:cNvSpPr/>
          <p:nvPr/>
        </p:nvSpPr>
        <p:spPr>
          <a:xfrm>
            <a:off x="11045880" y="6510600"/>
            <a:ext cx="548280" cy="1825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pPr>
            <a:r>
              <a:rPr lang="en-US" sz="1800" b="0" u="none" strike="noStrike">
                <a:solidFill>
                  <a:srgbClr val="EAF2F8"/>
                </a:solidFill>
                <a:effectLst/>
                <a:uFillTx/>
                <a:latin typeface="Calibri"/>
                <a:ea typeface="Calibri"/>
              </a:rPr>
              <a:t>23</a:t>
            </a:r>
            <a:endParaRPr lang="en-US" sz="1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AFC"/>
        </a:solidFill>
      </p:bgPr>
    </p:bg>
    <p:spTree>
      <p:nvGrpSpPr>
        <p:cNvPr id="1" name=""/>
        <p:cNvGrpSpPr/>
        <p:nvPr/>
      </p:nvGrpSpPr>
      <p:grpSpPr>
        <a:xfrm>
          <a:off x="0" y="0"/>
          <a:ext cx="0" cy="0"/>
          <a:chOff x="0" y="0"/>
          <a:chExt cx="0" cy="0"/>
        </a:xfrm>
      </p:grpSpPr>
      <p:sp>
        <p:nvSpPr>
          <p:cNvPr id="319" name="TextBox 1"/>
          <p:cNvSpPr/>
          <p:nvPr/>
        </p:nvSpPr>
        <p:spPr>
          <a:xfrm>
            <a:off x="640080" y="365760"/>
            <a:ext cx="10058040" cy="25560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1000" b="1" u="none" strike="noStrike">
                <a:solidFill>
                  <a:srgbClr val="0D9488"/>
                </a:solidFill>
                <a:effectLst/>
                <a:uFillTx/>
                <a:latin typeface="Aptos"/>
                <a:ea typeface="Calibri"/>
              </a:rPr>
              <a:t>ADAPTATION POLICY PROGRESS</a:t>
            </a:r>
            <a:endParaRPr lang="en-US" sz="1000" b="0" u="none" strike="noStrike">
              <a:solidFill>
                <a:srgbClr val="000000"/>
              </a:solidFill>
              <a:effectLst/>
              <a:uFillTx/>
              <a:latin typeface="Arial"/>
            </a:endParaRPr>
          </a:p>
        </p:txBody>
      </p:sp>
      <p:sp>
        <p:nvSpPr>
          <p:cNvPr id="320" name="TextBox 2"/>
          <p:cNvSpPr/>
          <p:nvPr/>
        </p:nvSpPr>
        <p:spPr>
          <a:xfrm>
            <a:off x="640080" y="713160"/>
            <a:ext cx="10972440" cy="61236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2800" b="1" u="none" strike="noStrike">
                <a:solidFill>
                  <a:srgbClr val="12233B"/>
                </a:solidFill>
                <a:effectLst/>
                <a:uFillTx/>
                <a:latin typeface="Aptos"/>
                <a:ea typeface="Calibri"/>
              </a:rPr>
              <a:t>Six policy families — one exploratory laboratory</a:t>
            </a:r>
            <a:endParaRPr lang="en-US" sz="2800" b="0" u="none" strike="noStrike">
              <a:solidFill>
                <a:srgbClr val="000000"/>
              </a:solidFill>
              <a:effectLst/>
              <a:uFillTx/>
              <a:latin typeface="Arial"/>
            </a:endParaRPr>
          </a:p>
        </p:txBody>
      </p:sp>
      <p:sp>
        <p:nvSpPr>
          <p:cNvPr id="321" name="TextBox 3"/>
          <p:cNvSpPr/>
          <p:nvPr/>
        </p:nvSpPr>
        <p:spPr>
          <a:xfrm>
            <a:off x="640080" y="1389960"/>
            <a:ext cx="10972440" cy="50256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1300" b="0" u="none" strike="noStrike">
                <a:solidFill>
                  <a:srgbClr val="516377"/>
                </a:solidFill>
                <a:effectLst/>
                <a:uFillTx/>
                <a:latin typeface="Aptos"/>
                <a:ea typeface="Calibri"/>
              </a:rPr>
              <a:t>Repository HEAD 98908f08f; Diethe-oriented comparison is not a reproduction of Diethe et al. (2019).</a:t>
            </a:r>
            <a:endParaRPr lang="en-US" sz="1300" b="0" u="none" strike="noStrike">
              <a:solidFill>
                <a:srgbClr val="000000"/>
              </a:solidFill>
              <a:effectLst/>
              <a:uFillTx/>
              <a:latin typeface="Arial"/>
            </a:endParaRPr>
          </a:p>
        </p:txBody>
      </p:sp>
      <p:sp>
        <p:nvSpPr>
          <p:cNvPr id="322" name="TextBox 4"/>
          <p:cNvSpPr/>
          <p:nvPr/>
        </p:nvSpPr>
        <p:spPr>
          <a:xfrm>
            <a:off x="640080" y="6519600"/>
            <a:ext cx="9143640" cy="20052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900" b="0" u="none" strike="noStrike">
                <a:solidFill>
                  <a:srgbClr val="516377"/>
                </a:solidFill>
                <a:effectLst/>
                <a:uFillTx/>
                <a:latin typeface="Aptos"/>
                <a:ea typeface="Calibri"/>
              </a:rPr>
              <a:t>Research progress | hlin863/ewma_covariate_shift_demo | Oct 2026</a:t>
            </a:r>
            <a:endParaRPr lang="en-US" sz="900" b="0" u="none" strike="noStrike">
              <a:solidFill>
                <a:srgbClr val="000000"/>
              </a:solidFill>
              <a:effectLst/>
              <a:uFillTx/>
              <a:latin typeface="Arial"/>
            </a:endParaRPr>
          </a:p>
        </p:txBody>
      </p:sp>
      <p:sp>
        <p:nvSpPr>
          <p:cNvPr id="323" name="Rounded Rectangle 5"/>
          <p:cNvSpPr/>
          <p:nvPr/>
        </p:nvSpPr>
        <p:spPr>
          <a:xfrm>
            <a:off x="640080" y="1993320"/>
            <a:ext cx="5348880" cy="3538440"/>
          </a:xfrm>
          <a:prstGeom prst="roundRect">
            <a:avLst>
              <a:gd name="adj" fmla="val 16667"/>
            </a:avLst>
          </a:prstGeom>
          <a:solidFill>
            <a:srgbClr val="FFFFFF"/>
          </a:solidFill>
          <a:ln>
            <a:solidFill>
              <a:srgbClr val="DBE5ED"/>
            </a:solidFill>
            <a:round/>
          </a:ln>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24" name="TextBox 6"/>
          <p:cNvSpPr/>
          <p:nvPr/>
        </p:nvSpPr>
        <p:spPr>
          <a:xfrm>
            <a:off x="795600" y="2112120"/>
            <a:ext cx="5037840" cy="31968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1700" b="1" u="none" strike="noStrike">
                <a:solidFill>
                  <a:srgbClr val="0D9488"/>
                </a:solidFill>
                <a:effectLst/>
                <a:uFillTx/>
                <a:latin typeface="Aptos"/>
                <a:ea typeface="Calibri"/>
              </a:rPr>
              <a:t>POLICIES</a:t>
            </a:r>
            <a:endParaRPr lang="en-US" sz="1700" b="0" u="none" strike="noStrike">
              <a:solidFill>
                <a:srgbClr val="000000"/>
              </a:solidFill>
              <a:effectLst/>
              <a:uFillTx/>
              <a:latin typeface="Arial"/>
            </a:endParaRPr>
          </a:p>
        </p:txBody>
      </p:sp>
      <p:sp>
        <p:nvSpPr>
          <p:cNvPr id="325" name="TextBox 7"/>
          <p:cNvSpPr/>
          <p:nvPr/>
        </p:nvSpPr>
        <p:spPr>
          <a:xfrm>
            <a:off x="795600" y="2523600"/>
            <a:ext cx="5037840" cy="289836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1300" b="0" u="none" strike="noStrike">
                <a:solidFill>
                  <a:srgbClr val="12233B"/>
                </a:solidFill>
                <a:effectLst/>
                <a:uFillTx/>
                <a:latin typeface="Aptos"/>
                <a:ea typeface="Calibri"/>
              </a:rPr>
              <a:t>1. Never update (baseline)</a:t>
            </a:r>
            <a:endParaRPr lang="en-US" sz="1300" b="0" u="none" strike="noStrike">
              <a:solidFill>
                <a:srgbClr val="000000"/>
              </a:solidFill>
              <a:effectLst/>
              <a:uFillTx/>
              <a:latin typeface="Arial"/>
            </a:endParaRPr>
          </a:p>
          <a:p>
            <a:pPr defTabSz="914400">
              <a:lnSpc>
                <a:spcPct val="100000"/>
              </a:lnSpc>
              <a:spcAft>
                <a:spcPts val="601"/>
              </a:spcAft>
            </a:pPr>
            <a:r>
              <a:rPr lang="en-US" sz="1300" b="0" u="none" strike="noStrike">
                <a:solidFill>
                  <a:srgbClr val="12233B"/>
                </a:solidFill>
                <a:effectLst/>
                <a:uFillTx/>
                <a:latin typeface="Aptos"/>
                <a:ea typeface="Calibri"/>
              </a:rPr>
              <a:t>2. Periodic retraining (passive)</a:t>
            </a:r>
            <a:endParaRPr lang="en-US" sz="1300" b="0" u="none" strike="noStrike">
              <a:solidFill>
                <a:srgbClr val="000000"/>
              </a:solidFill>
              <a:effectLst/>
              <a:uFillTx/>
              <a:latin typeface="Arial"/>
            </a:endParaRPr>
          </a:p>
          <a:p>
            <a:pPr defTabSz="914400">
              <a:lnSpc>
                <a:spcPct val="100000"/>
              </a:lnSpc>
              <a:spcAft>
                <a:spcPts val="601"/>
              </a:spcAft>
            </a:pPr>
            <a:r>
              <a:rPr lang="en-US" sz="1300" b="0" u="none" strike="noStrike">
                <a:solidFill>
                  <a:srgbClr val="12233B"/>
                </a:solidFill>
                <a:effectLst/>
                <a:uFillTx/>
                <a:latin typeface="Aptos"/>
                <a:ea typeface="Calibri"/>
              </a:rPr>
              <a:t>3. EWMA warning-triggered update</a:t>
            </a:r>
            <a:endParaRPr lang="en-US" sz="1300" b="0" u="none" strike="noStrike">
              <a:solidFill>
                <a:srgbClr val="000000"/>
              </a:solidFill>
              <a:effectLst/>
              <a:uFillTx/>
              <a:latin typeface="Arial"/>
            </a:endParaRPr>
          </a:p>
          <a:p>
            <a:pPr defTabSz="914400">
              <a:lnSpc>
                <a:spcPct val="100000"/>
              </a:lnSpc>
              <a:spcAft>
                <a:spcPts val="601"/>
              </a:spcAft>
            </a:pPr>
            <a:r>
              <a:rPr lang="en-US" sz="1300" b="0" u="none" strike="noStrike">
                <a:solidFill>
                  <a:srgbClr val="12233B"/>
                </a:solidFill>
                <a:effectLst/>
                <a:uFillTx/>
                <a:latin typeface="Aptos"/>
                <a:ea typeface="Calibri"/>
              </a:rPr>
              <a:t>4. Validated shift-triggered update</a:t>
            </a:r>
            <a:endParaRPr lang="en-US" sz="1300" b="0" u="none" strike="noStrike">
              <a:solidFill>
                <a:srgbClr val="000000"/>
              </a:solidFill>
              <a:effectLst/>
              <a:uFillTx/>
              <a:latin typeface="Arial"/>
            </a:endParaRPr>
          </a:p>
          <a:p>
            <a:pPr defTabSz="914400">
              <a:lnSpc>
                <a:spcPct val="100000"/>
              </a:lnSpc>
              <a:spcAft>
                <a:spcPts val="601"/>
              </a:spcAft>
            </a:pPr>
            <a:r>
              <a:rPr lang="en-US" sz="1300" b="0" u="none" strike="noStrike">
                <a:solidFill>
                  <a:srgbClr val="12233B"/>
                </a:solidFill>
                <a:effectLst/>
                <a:uFillTx/>
                <a:latin typeface="Aptos"/>
                <a:ea typeface="Calibri"/>
              </a:rPr>
              <a:t>5. Performance-drop-triggered update</a:t>
            </a:r>
            <a:endParaRPr lang="en-US" sz="1300" b="0" u="none" strike="noStrike">
              <a:solidFill>
                <a:srgbClr val="000000"/>
              </a:solidFill>
              <a:effectLst/>
              <a:uFillTx/>
              <a:latin typeface="Arial"/>
            </a:endParaRPr>
          </a:p>
          <a:p>
            <a:pPr defTabSz="914400">
              <a:lnSpc>
                <a:spcPct val="100000"/>
              </a:lnSpc>
              <a:spcAft>
                <a:spcPts val="601"/>
              </a:spcAft>
            </a:pPr>
            <a:r>
              <a:rPr lang="en-US" sz="1300" b="0" u="none" strike="noStrike">
                <a:solidFill>
                  <a:srgbClr val="12233B"/>
                </a:solidFill>
                <a:effectLst/>
                <a:uFillTx/>
                <a:latin typeface="Aptos"/>
                <a:ea typeface="Calibri"/>
              </a:rPr>
              <a:t>6. Evidence-sufficiency heuristic</a:t>
            </a:r>
            <a:endParaRPr lang="en-US" sz="1300" b="0" u="none" strike="noStrike">
              <a:solidFill>
                <a:srgbClr val="000000"/>
              </a:solidFill>
              <a:effectLst/>
              <a:uFillTx/>
              <a:latin typeface="Arial"/>
            </a:endParaRPr>
          </a:p>
        </p:txBody>
      </p:sp>
      <p:sp>
        <p:nvSpPr>
          <p:cNvPr id="326" name="Rounded Rectangle 8"/>
          <p:cNvSpPr/>
          <p:nvPr/>
        </p:nvSpPr>
        <p:spPr>
          <a:xfrm>
            <a:off x="6217920" y="1993320"/>
            <a:ext cx="5348880" cy="3538440"/>
          </a:xfrm>
          <a:prstGeom prst="roundRect">
            <a:avLst>
              <a:gd name="adj" fmla="val 16667"/>
            </a:avLst>
          </a:prstGeom>
          <a:solidFill>
            <a:srgbClr val="FFFFFF"/>
          </a:solidFill>
          <a:ln>
            <a:solidFill>
              <a:srgbClr val="DBE5ED"/>
            </a:solidFill>
            <a:round/>
          </a:ln>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27" name="TextBox 9"/>
          <p:cNvSpPr/>
          <p:nvPr/>
        </p:nvSpPr>
        <p:spPr>
          <a:xfrm>
            <a:off x="6373440" y="2112120"/>
            <a:ext cx="5037840" cy="31968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1700" b="1" u="none" strike="noStrike">
                <a:solidFill>
                  <a:srgbClr val="0D9488"/>
                </a:solidFill>
                <a:effectLst/>
                <a:uFillTx/>
                <a:latin typeface="Aptos"/>
                <a:ea typeface="Calibri"/>
              </a:rPr>
              <a:t>VALIDATION BOUNDARIES</a:t>
            </a:r>
            <a:endParaRPr lang="en-US" sz="1700" b="0" u="none" strike="noStrike">
              <a:solidFill>
                <a:srgbClr val="000000"/>
              </a:solidFill>
              <a:effectLst/>
              <a:uFillTx/>
              <a:latin typeface="Arial"/>
            </a:endParaRPr>
          </a:p>
        </p:txBody>
      </p:sp>
      <p:sp>
        <p:nvSpPr>
          <p:cNvPr id="328" name="TextBox 10"/>
          <p:cNvSpPr/>
          <p:nvPr/>
        </p:nvSpPr>
        <p:spPr>
          <a:xfrm>
            <a:off x="6373440" y="2523600"/>
            <a:ext cx="5037840" cy="289836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1300" b="0" u="none" strike="noStrike">
                <a:solidFill>
                  <a:srgbClr val="12233B"/>
                </a:solidFill>
                <a:effectLst/>
                <a:uFillTx/>
                <a:latin typeface="Aptos"/>
                <a:ea typeface="Calibri"/>
              </a:rPr>
              <a:t>Three scenarios: stationary, marginal feature shift, changed label relationship.</a:t>
            </a:r>
            <a:endParaRPr lang="en-US" sz="1300" b="0" u="none" strike="noStrike">
              <a:solidFill>
                <a:srgbClr val="000000"/>
              </a:solidFill>
              <a:effectLst/>
              <a:uFillTx/>
              <a:latin typeface="Arial"/>
            </a:endParaRPr>
          </a:p>
          <a:p>
            <a:pPr defTabSz="914400">
              <a:lnSpc>
                <a:spcPct val="100000"/>
              </a:lnSpc>
              <a:spcAft>
                <a:spcPts val="601"/>
              </a:spcAft>
            </a:pPr>
            <a:endParaRPr lang="en-US" sz="1300" b="0" u="none" strike="noStrike">
              <a:solidFill>
                <a:srgbClr val="000000"/>
              </a:solidFill>
              <a:effectLst/>
              <a:uFillTx/>
              <a:latin typeface="Arial"/>
            </a:endParaRPr>
          </a:p>
          <a:p>
            <a:pPr defTabSz="914400">
              <a:lnSpc>
                <a:spcPct val="100000"/>
              </a:lnSpc>
              <a:spcAft>
                <a:spcPts val="601"/>
              </a:spcAft>
            </a:pPr>
            <a:r>
              <a:rPr lang="en-US" sz="1300" b="0" u="none" strike="noStrike">
                <a:solidFill>
                  <a:srgbClr val="12233B"/>
                </a:solidFill>
                <a:effectLst/>
                <a:uFillTx/>
                <a:latin typeface="Aptos"/>
                <a:ea typeface="Calibri"/>
              </a:rPr>
              <a:t>Labels arrive immediately after prediction; historical training data accumulate.</a:t>
            </a:r>
            <a:endParaRPr lang="en-US" sz="1300" b="0" u="none" strike="noStrike">
              <a:solidFill>
                <a:srgbClr val="000000"/>
              </a:solidFill>
              <a:effectLst/>
              <a:uFillTx/>
              <a:latin typeface="Arial"/>
            </a:endParaRPr>
          </a:p>
          <a:p>
            <a:pPr defTabSz="914400">
              <a:lnSpc>
                <a:spcPct val="100000"/>
              </a:lnSpc>
              <a:spcAft>
                <a:spcPts val="601"/>
              </a:spcAft>
            </a:pPr>
            <a:endParaRPr lang="en-US" sz="1300" b="0" u="none" strike="noStrike">
              <a:solidFill>
                <a:srgbClr val="000000"/>
              </a:solidFill>
              <a:effectLst/>
              <a:uFillTx/>
              <a:latin typeface="Arial"/>
            </a:endParaRPr>
          </a:p>
          <a:p>
            <a:pPr defTabSz="914400">
              <a:lnSpc>
                <a:spcPct val="100000"/>
              </a:lnSpc>
              <a:spcAft>
                <a:spcPts val="601"/>
              </a:spcAft>
            </a:pPr>
            <a:r>
              <a:rPr lang="en-US" sz="1300" b="0" u="none" strike="noStrike">
                <a:solidFill>
                  <a:srgbClr val="12233B"/>
                </a:solidFill>
                <a:effectLst/>
                <a:uFillTx/>
                <a:latin typeface="Aptos"/>
                <a:ea typeface="Calibri"/>
              </a:rPr>
              <a:t>Precision-gain proxy is not optimal welfare value. Repeated seeds, delayed labels, energy and forgetting remain open.</a:t>
            </a:r>
            <a:endParaRPr lang="en-US" sz="1300" b="0" u="none" strike="noStrike">
              <a:solidFill>
                <a:srgbClr val="000000"/>
              </a:solidFill>
              <a:effectLst/>
              <a:uFillTx/>
              <a:latin typeface="Arial"/>
            </a:endParaRPr>
          </a:p>
        </p:txBody>
      </p:sp>
      <p:sp>
        <p:nvSpPr>
          <p:cNvPr id="329" name="TextBox 11"/>
          <p:cNvSpPr/>
          <p:nvPr/>
        </p:nvSpPr>
        <p:spPr>
          <a:xfrm>
            <a:off x="822960" y="5687640"/>
            <a:ext cx="10972440" cy="38376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1000" b="0" u="none" strike="noStrike">
                <a:solidFill>
                  <a:srgbClr val="516377"/>
                </a:solidFill>
                <a:effectLst/>
                <a:uFillTx/>
                <a:latin typeface="Aptos"/>
                <a:ea typeface="Calibri"/>
              </a:rPr>
              <a:t>Sources: docs/diethe_experiments.md; src/adaptation/evidence_value.py; Diethe et al. (2019).</a:t>
            </a:r>
            <a:endParaRPr lang="en-US" sz="1000" b="0" u="none" strike="noStrike">
              <a:solidFill>
                <a:srgbClr val="000000"/>
              </a:solidFill>
              <a:effectLst/>
              <a:uFillTx/>
              <a:latin typeface="Arial"/>
            </a:endParaRPr>
          </a:p>
        </p:txBody>
      </p:sp>
      <p:sp>
        <p:nvSpPr>
          <p:cNvPr id="330" name="Slide number"/>
          <p:cNvSpPr/>
          <p:nvPr/>
        </p:nvSpPr>
        <p:spPr>
          <a:xfrm>
            <a:off x="11334600" y="6429240"/>
            <a:ext cx="380520" cy="256680"/>
          </a:xfrm>
          <a:noFill/>
          <a:ln w="0">
            <a:noFill/>
          </a:ln>
        </p:spPr>
        <p:style>
          <a:lnRef idx="0"/>
          <a:fillRef idx="0"/>
          <a:effectRef idx="0"/>
          <a:fontRef idx="minor"/>
        </p:style>
        <p:txBody>
          <a:bodyPr lIns="90000" tIns="45000" rIns="90000" bIns="45000" anchor="t">
            <a:noAutofit/>
          </a:bodyPr>
          <a:p>
            <a:pPr defTabSz="914400">
              <a:lnSpc>
                <a:spcPct val="100000"/>
              </a:lnSpc>
            </a:pPr>
            <a:r>
              <a:rPr lang="en-US" sz="1200" b="0" u="none" strike="noStrike">
                <a:solidFill>
                  <a:srgbClr val="516377"/>
                </a:solidFill>
                <a:effectLst/>
                <a:uFillTx/>
                <a:latin typeface="Calibri"/>
                <a:ea typeface="Calibri"/>
              </a:rPr>
              <a:t>24</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331" name="TextBox 1"/>
          <p:cNvSpPr/>
          <p:nvPr/>
        </p:nvSpPr>
        <p:spPr>
          <a:xfrm>
            <a:off x="612720" y="292680"/>
            <a:ext cx="10881000" cy="310680"/>
          </a:xfrm>
          <a:prstGeom prst="rect">
            <a:avLst/>
          </a:prstGeom>
          <a:noFill/>
          <a:ln w="0">
            <a:noFill/>
          </a:ln>
        </p:spPr>
        <p:style>
          <a:lnRef idx="0"/>
          <a:fillRef idx="0"/>
          <a:effectRef idx="0"/>
          <a:fontRef idx="minor"/>
        </p:style>
        <p:txBody>
          <a:bodyPr wrap="none" lIns="18360" tIns="9000" rIns="18360" bIns="9000" anchor="t">
            <a:spAutoFit/>
          </a:bodyPr>
          <a:p>
            <a:pPr defTabSz="914400">
              <a:lnSpc>
                <a:spcPct val="100000"/>
              </a:lnSpc>
            </a:pPr>
            <a:r>
              <a:rPr lang="en-US" sz="1900" b="1" u="none" strike="noStrike">
                <a:solidFill>
                  <a:srgbClr val="24DED2"/>
                </a:solidFill>
                <a:effectLst/>
                <a:uFillTx/>
                <a:latin typeface="Aptos"/>
                <a:ea typeface="Calibri"/>
              </a:rPr>
              <a:t>CONTINUAL LEARNING UPDATE</a:t>
            </a:r>
            <a:endParaRPr lang="en-US" sz="1900" b="0" u="none" strike="noStrike">
              <a:solidFill>
                <a:srgbClr val="FFFFFF"/>
              </a:solidFill>
              <a:effectLst/>
              <a:uFillTx/>
              <a:latin typeface="Arial"/>
            </a:endParaRPr>
          </a:p>
        </p:txBody>
      </p:sp>
      <p:sp>
        <p:nvSpPr>
          <p:cNvPr id="332" name="TextBox 2"/>
          <p:cNvSpPr/>
          <p:nvPr/>
        </p:nvSpPr>
        <p:spPr>
          <a:xfrm>
            <a:off x="612720" y="713160"/>
            <a:ext cx="10881000" cy="676440"/>
          </a:xfrm>
          <a:prstGeom prst="rect">
            <a:avLst/>
          </a:prstGeom>
          <a:noFill/>
          <a:ln w="0">
            <a:noFill/>
          </a:ln>
        </p:spPr>
        <p:style>
          <a:lnRef idx="0"/>
          <a:fillRef idx="0"/>
          <a:effectRef idx="0"/>
          <a:fontRef idx="minor"/>
        </p:style>
        <p:txBody>
          <a:bodyPr wrap="none" lIns="18360" tIns="9000" rIns="18360" bIns="9000" anchor="t">
            <a:spAutoFit/>
          </a:bodyPr>
          <a:p>
            <a:pPr defTabSz="914400">
              <a:lnSpc>
                <a:spcPct val="100000"/>
              </a:lnSpc>
            </a:pPr>
            <a:r>
              <a:rPr lang="en-US" sz="2200" b="1" u="none" strike="noStrike">
                <a:solidFill>
                  <a:srgbClr val="F5F8FC"/>
                </a:solidFill>
                <a:effectLst/>
                <a:uFillTx/>
                <a:latin typeface="Aptos"/>
                <a:ea typeface="Calibri"/>
              </a:rPr>
              <a:t>Hurtado-aligned passive updating: count new experience, not global trial position</a:t>
            </a:r>
            <a:endParaRPr lang="en-US" sz="2200" b="0" u="none" strike="noStrike">
              <a:solidFill>
                <a:srgbClr val="FFFFFF"/>
              </a:solidFill>
              <a:effectLst/>
              <a:uFillTx/>
              <a:latin typeface="Arial"/>
            </a:endParaRPr>
          </a:p>
        </p:txBody>
      </p:sp>
      <p:sp>
        <p:nvSpPr>
          <p:cNvPr id="333" name="TextBox 3"/>
          <p:cNvSpPr/>
          <p:nvPr/>
        </p:nvSpPr>
        <p:spPr>
          <a:xfrm>
            <a:off x="612720" y="1454040"/>
            <a:ext cx="10881000" cy="273960"/>
          </a:xfrm>
          <a:prstGeom prst="rect">
            <a:avLst/>
          </a:prstGeom>
          <a:noFill/>
          <a:ln w="0">
            <a:noFill/>
          </a:ln>
        </p:spPr>
        <p:style>
          <a:lnRef idx="0"/>
          <a:fillRef idx="0"/>
          <a:effectRef idx="0"/>
          <a:fontRef idx="minor"/>
        </p:style>
        <p:txBody>
          <a:bodyPr wrap="none" lIns="18360" tIns="9000" rIns="18360" bIns="9000" anchor="t">
            <a:spAutoFit/>
          </a:bodyPr>
          <a:p>
            <a:pPr defTabSz="914400">
              <a:lnSpc>
                <a:spcPct val="100000"/>
              </a:lnSpc>
            </a:pPr>
            <a:r>
              <a:rPr lang="en-US" sz="1150" b="0" u="none" strike="noStrike">
                <a:solidFill>
                  <a:srgbClr val="B2BCC6"/>
                </a:solidFill>
                <a:effectLst/>
                <a:uFillTx/>
                <a:latin typeface="Aptos"/>
                <a:ea typeface="Calibri"/>
              </a:rPr>
              <a:t>Source: Hurtado et al. (2023), §4.1.2; policy refinement for src/adaptation/policies.py</a:t>
            </a:r>
            <a:endParaRPr lang="en-US" sz="1150" b="0" u="none" strike="noStrike">
              <a:solidFill>
                <a:srgbClr val="FFFFFF"/>
              </a:solidFill>
              <a:effectLst/>
              <a:uFillTx/>
              <a:latin typeface="Arial"/>
            </a:endParaRPr>
          </a:p>
        </p:txBody>
      </p:sp>
      <p:sp>
        <p:nvSpPr>
          <p:cNvPr id="334" name="Rounded Rectangle 4"/>
          <p:cNvSpPr/>
          <p:nvPr/>
        </p:nvSpPr>
        <p:spPr>
          <a:xfrm>
            <a:off x="658440" y="1856160"/>
            <a:ext cx="4160160" cy="2057040"/>
          </a:xfrm>
          <a:prstGeom prst="roundRect">
            <a:avLst>
              <a:gd name="adj" fmla="val 16667"/>
            </a:avLst>
          </a:prstGeom>
          <a:solidFill>
            <a:srgbClr val="0C121A"/>
          </a:solidFill>
          <a:ln w="15875">
            <a:solidFill>
              <a:srgbClr val="BCA869"/>
            </a:solidFill>
            <a:round/>
          </a:ln>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35" name="Rounded Rectangle 5"/>
          <p:cNvSpPr/>
          <p:nvPr/>
        </p:nvSpPr>
        <p:spPr>
          <a:xfrm>
            <a:off x="7360920" y="1856160"/>
            <a:ext cx="4160160" cy="2057040"/>
          </a:xfrm>
          <a:prstGeom prst="roundRect">
            <a:avLst>
              <a:gd name="adj" fmla="val 16667"/>
            </a:avLst>
          </a:prstGeom>
          <a:solidFill>
            <a:srgbClr val="0C121A"/>
          </a:solidFill>
          <a:ln w="15875">
            <a:solidFill>
              <a:srgbClr val="24DED2"/>
            </a:solidFill>
            <a:round/>
          </a:ln>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36" name="TextBox 6"/>
          <p:cNvSpPr/>
          <p:nvPr/>
        </p:nvSpPr>
        <p:spPr>
          <a:xfrm>
            <a:off x="868680" y="2048400"/>
            <a:ext cx="2559960" cy="255600"/>
          </a:xfrm>
          <a:prstGeom prst="rect">
            <a:avLst/>
          </a:prstGeom>
          <a:noFill/>
          <a:ln w="0">
            <a:noFill/>
          </a:ln>
        </p:spPr>
        <p:style>
          <a:lnRef idx="0"/>
          <a:fillRef idx="0"/>
          <a:effectRef idx="0"/>
          <a:fontRef idx="minor"/>
        </p:style>
        <p:txBody>
          <a:bodyPr wrap="none" lIns="18360" tIns="9000" rIns="18360" bIns="9000" anchor="t">
            <a:spAutoFit/>
          </a:bodyPr>
          <a:p>
            <a:pPr defTabSz="914400">
              <a:lnSpc>
                <a:spcPct val="100000"/>
              </a:lnSpc>
            </a:pPr>
            <a:r>
              <a:rPr lang="en-US" sz="1200" b="1" u="none" strike="noStrike">
                <a:solidFill>
                  <a:srgbClr val="BCA869"/>
                </a:solidFill>
                <a:effectLst/>
                <a:uFillTx/>
                <a:latin typeface="Aptos"/>
                <a:ea typeface="Calibri"/>
              </a:rPr>
              <a:t>BEFORE: CLOCKED SCHEDULE</a:t>
            </a:r>
            <a:endParaRPr lang="en-US" sz="1200" b="0" u="none" strike="noStrike">
              <a:solidFill>
                <a:srgbClr val="FFFFFF"/>
              </a:solidFill>
              <a:effectLst/>
              <a:uFillTx/>
              <a:latin typeface="Arial"/>
            </a:endParaRPr>
          </a:p>
        </p:txBody>
      </p:sp>
      <p:sp>
        <p:nvSpPr>
          <p:cNvPr id="337" name="TextBox 7"/>
          <p:cNvSpPr/>
          <p:nvPr/>
        </p:nvSpPr>
        <p:spPr>
          <a:xfrm>
            <a:off x="868680" y="2560320"/>
            <a:ext cx="3611520" cy="347040"/>
          </a:xfrm>
          <a:prstGeom prst="rect">
            <a:avLst/>
          </a:prstGeom>
          <a:noFill/>
          <a:ln w="0">
            <a:noFill/>
          </a:ln>
        </p:spPr>
        <p:style>
          <a:lnRef idx="0"/>
          <a:fillRef idx="0"/>
          <a:effectRef idx="0"/>
          <a:fontRef idx="minor"/>
        </p:style>
        <p:txBody>
          <a:bodyPr wrap="none" lIns="18360" tIns="9000" rIns="18360" bIns="9000" anchor="t">
            <a:spAutoFit/>
          </a:bodyPr>
          <a:p>
            <a:pPr defTabSz="914400">
              <a:lnSpc>
                <a:spcPct val="100000"/>
              </a:lnSpc>
            </a:pPr>
            <a:r>
              <a:rPr lang="en-US" sz="1600" b="1" u="none" strike="noStrike">
                <a:solidFill>
                  <a:srgbClr val="F5F8FC"/>
                </a:solidFill>
                <a:effectLst/>
                <a:uFillTx/>
                <a:latin typeface="Aptos"/>
                <a:ea typeface="Calibri"/>
              </a:rPr>
              <a:t>Absolute trial index</a:t>
            </a:r>
            <a:endParaRPr lang="en-US" sz="1600" b="0" u="none" strike="noStrike">
              <a:solidFill>
                <a:srgbClr val="FFFFFF"/>
              </a:solidFill>
              <a:effectLst/>
              <a:uFillTx/>
              <a:latin typeface="Arial"/>
            </a:endParaRPr>
          </a:p>
        </p:txBody>
      </p:sp>
      <p:sp>
        <p:nvSpPr>
          <p:cNvPr id="338" name="TextBox 8"/>
          <p:cNvSpPr/>
          <p:nvPr/>
        </p:nvSpPr>
        <p:spPr>
          <a:xfrm>
            <a:off x="868680" y="2944440"/>
            <a:ext cx="3611520" cy="383760"/>
          </a:xfrm>
          <a:prstGeom prst="rect">
            <a:avLst/>
          </a:prstGeom>
          <a:solidFill>
            <a:srgbClr val="080D13"/>
          </a:solidFill>
          <a:ln w="0">
            <a:solidFill>
              <a:srgbClr val="2D3A46"/>
            </a:solidFill>
          </a:ln>
        </p:spPr>
        <p:style>
          <a:lnRef idx="0"/>
          <a:fillRef idx="0"/>
          <a:effectRef idx="0"/>
          <a:fontRef idx="minor"/>
        </p:style>
        <p:txBody>
          <a:bodyPr wrap="none" lIns="18360" tIns="9000" rIns="18360" bIns="9000" anchor="t">
            <a:spAutoFit/>
          </a:bodyPr>
          <a:p>
            <a:pPr defTabSz="914400">
              <a:lnSpc>
                <a:spcPct val="100000"/>
              </a:lnSpc>
            </a:pPr>
            <a:r>
              <a:rPr lang="en-US" sz="1550" b="0" u="none" strike="noStrike">
                <a:solidFill>
                  <a:srgbClr val="D2DCE6"/>
                </a:solidFill>
                <a:effectLst/>
                <a:uFillTx/>
                <a:latin typeface="Consolas"/>
                <a:ea typeface="Calibri"/>
              </a:rPr>
              <a:t>(trial_index + 1) % interval == 0</a:t>
            </a:r>
            <a:endParaRPr lang="en-US" sz="1550" b="0" u="none" strike="noStrike">
              <a:solidFill>
                <a:srgbClr val="FFFFFF"/>
              </a:solidFill>
              <a:effectLst/>
              <a:uFillTx/>
              <a:latin typeface="Arial"/>
            </a:endParaRPr>
          </a:p>
        </p:txBody>
      </p:sp>
      <p:sp>
        <p:nvSpPr>
          <p:cNvPr id="339" name="TextBox 9"/>
          <p:cNvSpPr/>
          <p:nvPr/>
        </p:nvSpPr>
        <p:spPr>
          <a:xfrm>
            <a:off x="868680" y="3410640"/>
            <a:ext cx="3611520" cy="438480"/>
          </a:xfrm>
          <a:prstGeom prst="rect">
            <a:avLst/>
          </a:prstGeom>
          <a:noFill/>
          <a:ln w="0">
            <a:noFill/>
          </a:ln>
        </p:spPr>
        <p:style>
          <a:lnRef idx="0"/>
          <a:fillRef idx="0"/>
          <a:effectRef idx="0"/>
          <a:fontRef idx="minor"/>
        </p:style>
        <p:txBody>
          <a:bodyPr lIns="45720" tIns="36720" rIns="45720" bIns="36720" anchor="t">
            <a:spAutoFit/>
          </a:bodyPr>
          <a:p>
            <a:pPr defTabSz="914400">
              <a:lnSpc>
                <a:spcPct val="100000"/>
              </a:lnSpc>
              <a:spcAft>
                <a:spcPts val="499"/>
              </a:spcAft>
            </a:pPr>
            <a:r>
              <a:rPr lang="en-US" sz="1250" b="0" u="none" strike="noStrike">
                <a:solidFill>
                  <a:srgbClr val="B2BCC6"/>
                </a:solidFill>
                <a:effectLst/>
                <a:uFillTx/>
                <a:latin typeface="Aptos"/>
                <a:ea typeface="Calibri"/>
              </a:rPr>
              <a:t>Can retrain soon after a separate update event.</a:t>
            </a:r>
            <a:endParaRPr lang="en-US" sz="1250" b="0" u="none" strike="noStrike">
              <a:solidFill>
                <a:srgbClr val="FFFFFF"/>
              </a:solidFill>
              <a:effectLst/>
              <a:uFillTx/>
              <a:latin typeface="Arial"/>
            </a:endParaRPr>
          </a:p>
        </p:txBody>
      </p:sp>
      <p:sp>
        <p:nvSpPr>
          <p:cNvPr id="340" name="TextBox 10"/>
          <p:cNvSpPr/>
          <p:nvPr/>
        </p:nvSpPr>
        <p:spPr>
          <a:xfrm>
            <a:off x="7571160" y="2048400"/>
            <a:ext cx="2559960" cy="255600"/>
          </a:xfrm>
          <a:prstGeom prst="rect">
            <a:avLst/>
          </a:prstGeom>
          <a:noFill/>
          <a:ln w="0">
            <a:noFill/>
          </a:ln>
        </p:spPr>
        <p:style>
          <a:lnRef idx="0"/>
          <a:fillRef idx="0"/>
          <a:effectRef idx="0"/>
          <a:fontRef idx="minor"/>
        </p:style>
        <p:txBody>
          <a:bodyPr wrap="none" lIns="18360" tIns="9000" rIns="18360" bIns="9000" anchor="t">
            <a:spAutoFit/>
          </a:bodyPr>
          <a:p>
            <a:pPr defTabSz="914400">
              <a:lnSpc>
                <a:spcPct val="100000"/>
              </a:lnSpc>
            </a:pPr>
            <a:r>
              <a:rPr lang="en-US" sz="1200" b="1" u="none" strike="noStrike">
                <a:solidFill>
                  <a:srgbClr val="24DED2"/>
                </a:solidFill>
                <a:effectLst/>
                <a:uFillTx/>
                <a:latin typeface="Aptos"/>
                <a:ea typeface="Calibri"/>
              </a:rPr>
              <a:t>AFTER: PASSIVE STREAM BASELINE</a:t>
            </a:r>
            <a:endParaRPr lang="en-US" sz="1200" b="0" u="none" strike="noStrike">
              <a:solidFill>
                <a:srgbClr val="FFFFFF"/>
              </a:solidFill>
              <a:effectLst/>
              <a:uFillTx/>
              <a:latin typeface="Arial"/>
            </a:endParaRPr>
          </a:p>
        </p:txBody>
      </p:sp>
      <p:sp>
        <p:nvSpPr>
          <p:cNvPr id="341" name="TextBox 11"/>
          <p:cNvSpPr/>
          <p:nvPr/>
        </p:nvSpPr>
        <p:spPr>
          <a:xfrm>
            <a:off x="7571160" y="2560320"/>
            <a:ext cx="3611520" cy="347040"/>
          </a:xfrm>
          <a:prstGeom prst="rect">
            <a:avLst/>
          </a:prstGeom>
          <a:noFill/>
          <a:ln w="0">
            <a:noFill/>
          </a:ln>
        </p:spPr>
        <p:style>
          <a:lnRef idx="0"/>
          <a:fillRef idx="0"/>
          <a:effectRef idx="0"/>
          <a:fontRef idx="minor"/>
        </p:style>
        <p:txBody>
          <a:bodyPr wrap="none" lIns="18360" tIns="9000" rIns="18360" bIns="9000" anchor="t">
            <a:spAutoFit/>
          </a:bodyPr>
          <a:p>
            <a:pPr defTabSz="914400">
              <a:lnSpc>
                <a:spcPct val="100000"/>
              </a:lnSpc>
            </a:pPr>
            <a:r>
              <a:rPr lang="en-US" sz="1600" b="1" u="none" strike="noStrike">
                <a:solidFill>
                  <a:srgbClr val="F5F8FC"/>
                </a:solidFill>
                <a:effectLst/>
                <a:uFillTx/>
                <a:latin typeface="Aptos"/>
                <a:ea typeface="Calibri"/>
              </a:rPr>
              <a:t>New data since last update</a:t>
            </a:r>
            <a:endParaRPr lang="en-US" sz="1600" b="0" u="none" strike="noStrike">
              <a:solidFill>
                <a:srgbClr val="FFFFFF"/>
              </a:solidFill>
              <a:effectLst/>
              <a:uFillTx/>
              <a:latin typeface="Arial"/>
            </a:endParaRPr>
          </a:p>
        </p:txBody>
      </p:sp>
      <p:sp>
        <p:nvSpPr>
          <p:cNvPr id="342" name="TextBox 12"/>
          <p:cNvSpPr/>
          <p:nvPr/>
        </p:nvSpPr>
        <p:spPr>
          <a:xfrm>
            <a:off x="7571160" y="2944440"/>
            <a:ext cx="3611520" cy="383760"/>
          </a:xfrm>
          <a:prstGeom prst="rect">
            <a:avLst/>
          </a:prstGeom>
          <a:solidFill>
            <a:srgbClr val="080D13"/>
          </a:solidFill>
          <a:ln w="0">
            <a:solidFill>
              <a:srgbClr val="2D3A46"/>
            </a:solidFill>
          </a:ln>
        </p:spPr>
        <p:style>
          <a:lnRef idx="0"/>
          <a:fillRef idx="0"/>
          <a:effectRef idx="0"/>
          <a:fontRef idx="minor"/>
        </p:style>
        <p:txBody>
          <a:bodyPr wrap="none" lIns="18360" tIns="9000" rIns="18360" bIns="9000" anchor="t">
            <a:spAutoFit/>
          </a:bodyPr>
          <a:p>
            <a:pPr defTabSz="914400">
              <a:lnSpc>
                <a:spcPct val="100000"/>
              </a:lnSpc>
            </a:pPr>
            <a:r>
              <a:rPr lang="en-US" sz="1550" b="0" u="none" strike="noStrike">
                <a:solidFill>
                  <a:srgbClr val="D2DCE6"/>
                </a:solidFill>
                <a:effectLst/>
                <a:uFillTx/>
                <a:latin typeface="Consolas"/>
                <a:ea typeface="Calibri"/>
              </a:rPr>
              <a:t>trials_since_update &gt;= interval</a:t>
            </a:r>
            <a:endParaRPr lang="en-US" sz="1550" b="0" u="none" strike="noStrike">
              <a:solidFill>
                <a:srgbClr val="FFFFFF"/>
              </a:solidFill>
              <a:effectLst/>
              <a:uFillTx/>
              <a:latin typeface="Arial"/>
            </a:endParaRPr>
          </a:p>
        </p:txBody>
      </p:sp>
      <p:sp>
        <p:nvSpPr>
          <p:cNvPr id="343" name="TextBox 13"/>
          <p:cNvSpPr/>
          <p:nvPr/>
        </p:nvSpPr>
        <p:spPr>
          <a:xfrm>
            <a:off x="7571160" y="3410640"/>
            <a:ext cx="3611520" cy="438480"/>
          </a:xfrm>
          <a:prstGeom prst="rect">
            <a:avLst/>
          </a:prstGeom>
          <a:noFill/>
          <a:ln w="0">
            <a:noFill/>
          </a:ln>
        </p:spPr>
        <p:style>
          <a:lnRef idx="0"/>
          <a:fillRef idx="0"/>
          <a:effectRef idx="0"/>
          <a:fontRef idx="minor"/>
        </p:style>
        <p:txBody>
          <a:bodyPr lIns="45720" tIns="36720" rIns="45720" bIns="36720" anchor="t">
            <a:spAutoFit/>
          </a:bodyPr>
          <a:p>
            <a:pPr defTabSz="914400">
              <a:lnSpc>
                <a:spcPct val="100000"/>
              </a:lnSpc>
              <a:spcAft>
                <a:spcPts val="499"/>
              </a:spcAft>
            </a:pPr>
            <a:r>
              <a:rPr lang="en-US" sz="1250" b="0" u="none" strike="noStrike">
                <a:solidFill>
                  <a:srgbClr val="B2BCC6"/>
                </a:solidFill>
                <a:effectLst/>
                <a:uFillTx/>
                <a:latin typeface="Aptos"/>
                <a:ea typeface="Calibri"/>
              </a:rPr>
              <a:t>Updates only after enough fresh streaming observations.</a:t>
            </a:r>
            <a:endParaRPr lang="en-US" sz="1250" b="0" u="none" strike="noStrike">
              <a:solidFill>
                <a:srgbClr val="FFFFFF"/>
              </a:solidFill>
              <a:effectLst/>
              <a:uFillTx/>
              <a:latin typeface="Arial"/>
            </a:endParaRPr>
          </a:p>
        </p:txBody>
      </p:sp>
      <p:sp>
        <p:nvSpPr>
          <p:cNvPr id="344" name="Right Arrow 14"/>
          <p:cNvSpPr/>
          <p:nvPr/>
        </p:nvSpPr>
        <p:spPr>
          <a:xfrm>
            <a:off x="4983480" y="2560320"/>
            <a:ext cx="2084400" cy="621360"/>
          </a:xfrm>
          <a:prstGeom prst="rightArrow">
            <a:avLst>
              <a:gd name="adj1" fmla="val 50000"/>
              <a:gd name="adj2" fmla="val 50000"/>
            </a:avLst>
          </a:prstGeom>
          <a:solidFill>
            <a:srgbClr val="24DED2"/>
          </a:solidFill>
          <a:ln>
            <a:solidFill>
              <a:srgbClr val="24DED2"/>
            </a:solidFill>
            <a:round/>
          </a:ln>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45" name="TextBox 15"/>
          <p:cNvSpPr/>
          <p:nvPr/>
        </p:nvSpPr>
        <p:spPr>
          <a:xfrm>
            <a:off x="5074920" y="3246120"/>
            <a:ext cx="1919880" cy="383760"/>
          </a:xfrm>
          <a:prstGeom prst="rect">
            <a:avLst/>
          </a:prstGeom>
          <a:noFill/>
          <a:ln w="0">
            <a:noFill/>
          </a:ln>
        </p:spPr>
        <p:style>
          <a:lnRef idx="0"/>
          <a:fillRef idx="0"/>
          <a:effectRef idx="0"/>
          <a:fontRef idx="minor"/>
        </p:style>
        <p:txBody>
          <a:bodyPr wrap="none" lIns="18360" tIns="9000" rIns="18360" bIns="9000" anchor="t">
            <a:spAutoFit/>
          </a:bodyPr>
          <a:p>
            <a:pPr algn="ctr" defTabSz="914400">
              <a:lnSpc>
                <a:spcPct val="100000"/>
              </a:lnSpc>
            </a:pPr>
            <a:r>
              <a:rPr lang="en-US" sz="1300" b="1" u="none" strike="noStrike">
                <a:solidFill>
                  <a:srgbClr val="F5F8FC"/>
                </a:solidFill>
                <a:effectLst/>
                <a:uFillTx/>
                <a:latin typeface="Aptos"/>
                <a:ea typeface="Calibri"/>
              </a:rPr>
              <a:t>semantics</a:t>
            </a:r>
            <a:endParaRPr lang="en-US" sz="1300" b="0" u="none" strike="noStrike">
              <a:solidFill>
                <a:srgbClr val="FFFFFF"/>
              </a:solidFill>
              <a:effectLst/>
              <a:uFillTx/>
              <a:latin typeface="Arial"/>
            </a:endParaRPr>
          </a:p>
        </p:txBody>
      </p:sp>
      <p:sp>
        <p:nvSpPr>
          <p:cNvPr id="346" name="TextBox 16"/>
          <p:cNvSpPr/>
          <p:nvPr/>
        </p:nvSpPr>
        <p:spPr>
          <a:xfrm>
            <a:off x="4983480" y="2066400"/>
            <a:ext cx="2121120" cy="365400"/>
          </a:xfrm>
          <a:prstGeom prst="rect">
            <a:avLst/>
          </a:prstGeom>
          <a:noFill/>
          <a:ln w="0">
            <a:noFill/>
          </a:ln>
        </p:spPr>
        <p:style>
          <a:lnRef idx="0"/>
          <a:fillRef idx="0"/>
          <a:effectRef idx="0"/>
          <a:fontRef idx="minor"/>
        </p:style>
        <p:txBody>
          <a:bodyPr wrap="none" lIns="18360" tIns="9000" rIns="18360" bIns="9000" anchor="t">
            <a:spAutoFit/>
          </a:bodyPr>
          <a:p>
            <a:pPr algn="ctr" defTabSz="914400">
              <a:lnSpc>
                <a:spcPct val="100000"/>
              </a:lnSpc>
            </a:pPr>
            <a:r>
              <a:rPr lang="en-US" sz="1300" b="1" u="none" strike="noStrike">
                <a:solidFill>
                  <a:srgbClr val="BCA869"/>
                </a:solidFill>
                <a:effectLst/>
                <a:uFillTx/>
                <a:latin typeface="Aptos"/>
                <a:ea typeface="Calibri"/>
              </a:rPr>
              <a:t>POLICY UPDATE</a:t>
            </a:r>
            <a:endParaRPr lang="en-US" sz="1300" b="0" u="none" strike="noStrike">
              <a:solidFill>
                <a:srgbClr val="FFFFFF"/>
              </a:solidFill>
              <a:effectLst/>
              <a:uFillTx/>
              <a:latin typeface="Arial"/>
            </a:endParaRPr>
          </a:p>
        </p:txBody>
      </p:sp>
      <p:sp>
        <p:nvSpPr>
          <p:cNvPr id="347" name="Rounded Rectangle 17"/>
          <p:cNvSpPr/>
          <p:nvPr/>
        </p:nvSpPr>
        <p:spPr>
          <a:xfrm>
            <a:off x="658440" y="4069080"/>
            <a:ext cx="10862640" cy="1142640"/>
          </a:xfrm>
          <a:prstGeom prst="roundRect">
            <a:avLst>
              <a:gd name="adj" fmla="val 16667"/>
            </a:avLst>
          </a:prstGeom>
          <a:solidFill>
            <a:srgbClr val="18242E"/>
          </a:solidFill>
          <a:ln w="15875">
            <a:solidFill>
              <a:srgbClr val="3C525E"/>
            </a:solidFill>
            <a:round/>
          </a:ln>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48" name="TextBox 18"/>
          <p:cNvSpPr/>
          <p:nvPr/>
        </p:nvSpPr>
        <p:spPr>
          <a:xfrm>
            <a:off x="896040" y="4270320"/>
            <a:ext cx="3108600" cy="319680"/>
          </a:xfrm>
          <a:prstGeom prst="rect">
            <a:avLst/>
          </a:prstGeom>
          <a:noFill/>
          <a:ln w="0">
            <a:noFill/>
          </a:ln>
        </p:spPr>
        <p:style>
          <a:lnRef idx="0"/>
          <a:fillRef idx="0"/>
          <a:effectRef idx="0"/>
          <a:fontRef idx="minor"/>
        </p:style>
        <p:txBody>
          <a:bodyPr wrap="none" lIns="18360" tIns="9000" rIns="18360" bIns="9000" anchor="t">
            <a:spAutoFit/>
          </a:bodyPr>
          <a:p>
            <a:pPr defTabSz="914400">
              <a:lnSpc>
                <a:spcPct val="100000"/>
              </a:lnSpc>
            </a:pPr>
            <a:r>
              <a:rPr lang="en-US" sz="1600" b="1" u="none" strike="noStrike">
                <a:solidFill>
                  <a:srgbClr val="F5F8FC"/>
                </a:solidFill>
                <a:effectLst/>
                <a:uFillTx/>
                <a:latin typeface="Aptos"/>
                <a:ea typeface="Calibri"/>
              </a:rPr>
              <a:t>Why this matters for PdM</a:t>
            </a:r>
            <a:endParaRPr lang="en-US" sz="1600" b="0" u="none" strike="noStrike">
              <a:solidFill>
                <a:srgbClr val="FFFFFF"/>
              </a:solidFill>
              <a:effectLst/>
              <a:uFillTx/>
              <a:latin typeface="Arial"/>
            </a:endParaRPr>
          </a:p>
        </p:txBody>
      </p:sp>
      <p:sp>
        <p:nvSpPr>
          <p:cNvPr id="349" name="TextBox 19"/>
          <p:cNvSpPr/>
          <p:nvPr/>
        </p:nvSpPr>
        <p:spPr>
          <a:xfrm>
            <a:off x="896040" y="4599360"/>
            <a:ext cx="3245760" cy="411120"/>
          </a:xfrm>
          <a:prstGeom prst="rect">
            <a:avLst/>
          </a:prstGeom>
          <a:noFill/>
          <a:ln w="0">
            <a:noFill/>
          </a:ln>
        </p:spPr>
        <p:style>
          <a:lnRef idx="0"/>
          <a:fillRef idx="0"/>
          <a:effectRef idx="0"/>
          <a:fontRef idx="minor"/>
        </p:style>
        <p:txBody>
          <a:bodyPr lIns="45720" tIns="36720" rIns="45720" bIns="36720" anchor="t">
            <a:spAutoFit/>
          </a:bodyPr>
          <a:p>
            <a:pPr defTabSz="914400">
              <a:lnSpc>
                <a:spcPct val="100000"/>
              </a:lnSpc>
              <a:spcAft>
                <a:spcPts val="499"/>
              </a:spcAft>
            </a:pPr>
            <a:r>
              <a:rPr lang="en-US" sz="1250" b="0" u="none" strike="noStrike">
                <a:solidFill>
                  <a:srgbClr val="B2BCC6"/>
                </a:solidFill>
                <a:effectLst/>
                <a:uFillTx/>
                <a:latin typeface="Aptos"/>
                <a:ea typeface="Calibri"/>
              </a:rPr>
              <a:t>Hurtado’s passive side assumes a continuously evolving stream.</a:t>
            </a:r>
            <a:endParaRPr lang="en-US" sz="1250" b="0" u="none" strike="noStrike">
              <a:solidFill>
                <a:srgbClr val="FFFFFF"/>
              </a:solidFill>
              <a:effectLst/>
              <a:uFillTx/>
              <a:latin typeface="Arial"/>
            </a:endParaRPr>
          </a:p>
        </p:txBody>
      </p:sp>
      <p:sp>
        <p:nvSpPr>
          <p:cNvPr id="350" name="TextBox 20"/>
          <p:cNvSpPr/>
          <p:nvPr/>
        </p:nvSpPr>
        <p:spPr>
          <a:xfrm>
            <a:off x="4434840" y="4270320"/>
            <a:ext cx="2742840" cy="319680"/>
          </a:xfrm>
          <a:prstGeom prst="rect">
            <a:avLst/>
          </a:prstGeom>
          <a:noFill/>
          <a:ln w="0">
            <a:noFill/>
          </a:ln>
        </p:spPr>
        <p:style>
          <a:lnRef idx="0"/>
          <a:fillRef idx="0"/>
          <a:effectRef idx="0"/>
          <a:fontRef idx="minor"/>
        </p:style>
        <p:txBody>
          <a:bodyPr wrap="none" lIns="18360" tIns="9000" rIns="18360" bIns="9000" anchor="t">
            <a:spAutoFit/>
          </a:bodyPr>
          <a:p>
            <a:pPr defTabSz="914400">
              <a:lnSpc>
                <a:spcPct val="100000"/>
              </a:lnSpc>
            </a:pPr>
            <a:r>
              <a:rPr lang="en-US" sz="1600" b="1" u="none" strike="noStrike">
                <a:solidFill>
                  <a:srgbClr val="F5F8FC"/>
                </a:solidFill>
                <a:effectLst/>
                <a:uFillTx/>
                <a:latin typeface="Aptos"/>
                <a:ea typeface="Calibri"/>
              </a:rPr>
              <a:t>Cleaner experiment axis</a:t>
            </a:r>
            <a:endParaRPr lang="en-US" sz="1600" b="0" u="none" strike="noStrike">
              <a:solidFill>
                <a:srgbClr val="FFFFFF"/>
              </a:solidFill>
              <a:effectLst/>
              <a:uFillTx/>
              <a:latin typeface="Arial"/>
            </a:endParaRPr>
          </a:p>
        </p:txBody>
      </p:sp>
      <p:sp>
        <p:nvSpPr>
          <p:cNvPr id="351" name="TextBox 21"/>
          <p:cNvSpPr/>
          <p:nvPr/>
        </p:nvSpPr>
        <p:spPr>
          <a:xfrm>
            <a:off x="4434840" y="4599360"/>
            <a:ext cx="2925720" cy="411120"/>
          </a:xfrm>
          <a:prstGeom prst="rect">
            <a:avLst/>
          </a:prstGeom>
          <a:noFill/>
          <a:ln w="0">
            <a:noFill/>
          </a:ln>
        </p:spPr>
        <p:style>
          <a:lnRef idx="0"/>
          <a:fillRef idx="0"/>
          <a:effectRef idx="0"/>
          <a:fontRef idx="minor"/>
        </p:style>
        <p:txBody>
          <a:bodyPr lIns="45720" tIns="36720" rIns="45720" bIns="36720" anchor="t">
            <a:spAutoFit/>
          </a:bodyPr>
          <a:p>
            <a:pPr defTabSz="914400">
              <a:lnSpc>
                <a:spcPct val="100000"/>
              </a:lnSpc>
              <a:spcAft>
                <a:spcPts val="499"/>
              </a:spcAft>
            </a:pPr>
            <a:r>
              <a:rPr lang="en-US" sz="1250" b="0" u="none" strike="noStrike">
                <a:solidFill>
                  <a:srgbClr val="B2BCC6"/>
                </a:solidFill>
                <a:effectLst/>
                <a:uFillTx/>
                <a:latin typeface="Aptos"/>
                <a:ea typeface="Calibri"/>
              </a:rPr>
              <a:t>Separate when to update from which data or labels enter training.</a:t>
            </a:r>
            <a:endParaRPr lang="en-US" sz="1250" b="0" u="none" strike="noStrike">
              <a:solidFill>
                <a:srgbClr val="FFFFFF"/>
              </a:solidFill>
              <a:effectLst/>
              <a:uFillTx/>
              <a:latin typeface="Arial"/>
            </a:endParaRPr>
          </a:p>
        </p:txBody>
      </p:sp>
      <p:sp>
        <p:nvSpPr>
          <p:cNvPr id="352" name="TextBox 22"/>
          <p:cNvSpPr/>
          <p:nvPr/>
        </p:nvSpPr>
        <p:spPr>
          <a:xfrm>
            <a:off x="7818120" y="4270320"/>
            <a:ext cx="2925720" cy="319680"/>
          </a:xfrm>
          <a:prstGeom prst="rect">
            <a:avLst/>
          </a:prstGeom>
          <a:noFill/>
          <a:ln w="0">
            <a:noFill/>
          </a:ln>
        </p:spPr>
        <p:style>
          <a:lnRef idx="0"/>
          <a:fillRef idx="0"/>
          <a:effectRef idx="0"/>
          <a:fontRef idx="minor"/>
        </p:style>
        <p:txBody>
          <a:bodyPr wrap="none" lIns="18360" tIns="9000" rIns="18360" bIns="9000" anchor="t">
            <a:spAutoFit/>
          </a:bodyPr>
          <a:p>
            <a:pPr defTabSz="914400">
              <a:lnSpc>
                <a:spcPct val="100000"/>
              </a:lnSpc>
            </a:pPr>
            <a:r>
              <a:rPr lang="en-US" sz="1600" b="1" u="none" strike="noStrike">
                <a:solidFill>
                  <a:srgbClr val="F5F8FC"/>
                </a:solidFill>
                <a:effectLst/>
                <a:uFillTx/>
                <a:latin typeface="Aptos"/>
                <a:ea typeface="Calibri"/>
              </a:rPr>
              <a:t>Next passive baseline</a:t>
            </a:r>
            <a:endParaRPr lang="en-US" sz="1600" b="0" u="none" strike="noStrike">
              <a:solidFill>
                <a:srgbClr val="FFFFFF"/>
              </a:solidFill>
              <a:effectLst/>
              <a:uFillTx/>
              <a:latin typeface="Arial"/>
            </a:endParaRPr>
          </a:p>
        </p:txBody>
      </p:sp>
      <p:sp>
        <p:nvSpPr>
          <p:cNvPr id="353" name="TextBox 23"/>
          <p:cNvSpPr/>
          <p:nvPr/>
        </p:nvSpPr>
        <p:spPr>
          <a:xfrm>
            <a:off x="7818120" y="4599360"/>
            <a:ext cx="3062880" cy="411120"/>
          </a:xfrm>
          <a:prstGeom prst="rect">
            <a:avLst/>
          </a:prstGeom>
          <a:noFill/>
          <a:ln w="0">
            <a:noFill/>
          </a:ln>
        </p:spPr>
        <p:style>
          <a:lnRef idx="0"/>
          <a:fillRef idx="0"/>
          <a:effectRef idx="0"/>
          <a:fontRef idx="minor"/>
        </p:style>
        <p:txBody>
          <a:bodyPr lIns="45720" tIns="36720" rIns="45720" bIns="36720" anchor="t">
            <a:spAutoFit/>
          </a:bodyPr>
          <a:p>
            <a:pPr defTabSz="914400">
              <a:lnSpc>
                <a:spcPct val="100000"/>
              </a:lnSpc>
              <a:spcAft>
                <a:spcPts val="499"/>
              </a:spcAft>
            </a:pPr>
            <a:r>
              <a:rPr lang="en-US" sz="1250" b="0" u="none" strike="noStrike">
                <a:solidFill>
                  <a:srgbClr val="B2BCC6"/>
                </a:solidFill>
                <a:effectLst/>
                <a:uFillTx/>
                <a:latin typeface="Aptos"/>
                <a:ea typeface="Calibri"/>
              </a:rPr>
              <a:t>Add ContinuousRetrain(batch_size) for mini-batch or per-observation updates.</a:t>
            </a:r>
            <a:endParaRPr lang="en-US" sz="1250" b="0" u="none" strike="noStrike">
              <a:solidFill>
                <a:srgbClr val="FFFFFF"/>
              </a:solidFill>
              <a:effectLst/>
              <a:uFillTx/>
              <a:latin typeface="Arial"/>
            </a:endParaRPr>
          </a:p>
        </p:txBody>
      </p:sp>
      <p:sp>
        <p:nvSpPr>
          <p:cNvPr id="354" name="TextBox 24"/>
          <p:cNvSpPr/>
          <p:nvPr/>
        </p:nvSpPr>
        <p:spPr>
          <a:xfrm>
            <a:off x="612720" y="5532120"/>
            <a:ext cx="9692280" cy="228240"/>
          </a:xfrm>
          <a:prstGeom prst="rect">
            <a:avLst/>
          </a:prstGeom>
          <a:noFill/>
          <a:ln w="0">
            <a:noFill/>
          </a:ln>
        </p:spPr>
        <p:style>
          <a:lnRef idx="0"/>
          <a:fillRef idx="0"/>
          <a:effectRef idx="0"/>
          <a:fontRef idx="minor"/>
        </p:style>
        <p:txBody>
          <a:bodyPr wrap="none" lIns="18360" tIns="9000" rIns="18360" bIns="9000" anchor="t">
            <a:spAutoFit/>
          </a:bodyPr>
          <a:p>
            <a:pPr defTabSz="914400">
              <a:lnSpc>
                <a:spcPct val="100000"/>
              </a:lnSpc>
            </a:pPr>
            <a:r>
              <a:rPr lang="en-US" sz="1180" b="0" u="none" strike="noStrike">
                <a:solidFill>
                  <a:srgbClr val="B2BCC6"/>
                </a:solidFill>
                <a:effectLst/>
                <a:uFillTx/>
                <a:latin typeface="Aptos"/>
                <a:ea typeface="Calibri"/>
              </a:rPr>
              <a:t>Achievement: policy taxonomy now distinguishes active triggers from passive stream updates, supporting continual-learning experiments for predictive maintenance.</a:t>
            </a:r>
            <a:endParaRPr lang="en-US" sz="1180" b="0" u="none" strike="noStrike">
              <a:solidFill>
                <a:srgbClr val="FFFFFF"/>
              </a:solidFill>
              <a:effectLst/>
              <a:uFillTx/>
              <a:latin typeface="Arial"/>
            </a:endParaRPr>
          </a:p>
        </p:txBody>
      </p:sp>
      <p:sp>
        <p:nvSpPr>
          <p:cNvPr id="355" name="TextBox 25"/>
          <p:cNvSpPr/>
          <p:nvPr/>
        </p:nvSpPr>
        <p:spPr>
          <a:xfrm>
            <a:off x="612720" y="5943600"/>
            <a:ext cx="8869320" cy="182520"/>
          </a:xfrm>
          <a:prstGeom prst="rect">
            <a:avLst/>
          </a:prstGeom>
          <a:noFill/>
          <a:ln w="0">
            <a:noFill/>
          </a:ln>
        </p:spPr>
        <p:style>
          <a:lnRef idx="0"/>
          <a:fillRef idx="0"/>
          <a:effectRef idx="0"/>
          <a:fontRef idx="minor"/>
        </p:style>
        <p:txBody>
          <a:bodyPr wrap="none" lIns="18360" tIns="9000" rIns="18360" bIns="9000" anchor="t">
            <a:spAutoFit/>
          </a:bodyPr>
          <a:p>
            <a:pPr defTabSz="914400">
              <a:lnSpc>
                <a:spcPct val="100000"/>
              </a:lnSpc>
            </a:pPr>
            <a:r>
              <a:rPr lang="en-US" sz="1050" b="0" u="none" strike="noStrike">
                <a:solidFill>
                  <a:srgbClr val="919CA8"/>
                </a:solidFill>
                <a:effectLst/>
                <a:uFillTx/>
                <a:latin typeface="Aptos"/>
                <a:ea typeface="Calibri"/>
              </a:rPr>
              <a:t>hlin863/ewma_covariate_shift_demo</a:t>
            </a:r>
            <a:endParaRPr lang="en-US" sz="1050" b="0" u="none" strike="noStrike">
              <a:solidFill>
                <a:srgbClr val="FFFFFF"/>
              </a:solidFill>
              <a:effectLst/>
              <a:uFillTx/>
              <a:latin typeface="Arial"/>
            </a:endParaRPr>
          </a:p>
        </p:txBody>
      </p:sp>
      <p:sp>
        <p:nvSpPr>
          <p:cNvPr id="356" name="TextBox 26"/>
          <p:cNvSpPr/>
          <p:nvPr/>
        </p:nvSpPr>
        <p:spPr>
          <a:xfrm>
            <a:off x="10771560" y="5943600"/>
            <a:ext cx="548280" cy="182520"/>
          </a:xfrm>
          <a:prstGeom prst="rect">
            <a:avLst/>
          </a:prstGeom>
          <a:noFill/>
          <a:ln w="0">
            <a:noFill/>
          </a:ln>
        </p:spPr>
        <p:style>
          <a:lnRef idx="0"/>
          <a:fillRef idx="0"/>
          <a:effectRef idx="0"/>
          <a:fontRef idx="minor"/>
        </p:style>
        <p:txBody>
          <a:bodyPr wrap="none" lIns="18360" tIns="9000" rIns="18360" bIns="9000" anchor="t">
            <a:spAutoFit/>
          </a:bodyPr>
          <a:p>
            <a:pPr defTabSz="914400">
              <a:lnSpc>
                <a:spcPct val="100000"/>
              </a:lnSpc>
            </a:pPr>
            <a:r>
              <a:rPr lang="en-US" sz="1800" b="0" u="none" strike="noStrike">
                <a:solidFill>
                  <a:schemeClr val="dk1"/>
                </a:solidFill>
                <a:effectLst/>
                <a:uFillTx/>
                <a:latin typeface="Calibri"/>
                <a:ea typeface="Calibri"/>
              </a:rPr>
              <a:t>25</a:t>
            </a:r>
            <a:endParaRPr lang="en-US" sz="1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9121F"/>
        </a:solidFill>
      </p:bgPr>
    </p:bg>
    <p:spTree>
      <p:nvGrpSpPr>
        <p:cNvPr id="1" name=""/>
        <p:cNvGrpSpPr/>
        <p:nvPr/>
      </p:nvGrpSpPr>
      <p:grpSpPr>
        <a:xfrm>
          <a:off x="0" y="0"/>
          <a:ext cx="0" cy="0"/>
          <a:chOff x="0" y="0"/>
          <a:chExt cx="0" cy="0"/>
        </a:xfrm>
      </p:grpSpPr>
      <p:sp>
        <p:nvSpPr>
          <p:cNvPr id="357" name="TextBox 1"/>
          <p:cNvSpPr/>
          <p:nvPr/>
        </p:nvSpPr>
        <p:spPr>
          <a:xfrm>
            <a:off x="612720" y="292680"/>
            <a:ext cx="10972440" cy="31968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799"/>
              </a:spcAft>
            </a:pPr>
            <a:r>
              <a:rPr lang="en-US" sz="1300" b="1" u="none" strike="noStrike">
                <a:solidFill>
                  <a:srgbClr val="78D8CC"/>
                </a:solidFill>
                <a:effectLst/>
                <a:uFillTx/>
                <a:latin typeface="DejaVu Sans"/>
                <a:ea typeface="Calibri"/>
              </a:rPr>
              <a:t>DIETHE PILOT RESULT</a:t>
            </a:r>
            <a:endParaRPr lang="en-US" sz="1300" b="0" u="none" strike="noStrike">
              <a:solidFill>
                <a:srgbClr val="FFFFFF"/>
              </a:solidFill>
              <a:effectLst/>
              <a:uFillTx/>
              <a:latin typeface="Arial"/>
            </a:endParaRPr>
          </a:p>
        </p:txBody>
      </p:sp>
      <p:sp>
        <p:nvSpPr>
          <p:cNvPr id="358" name="TextBox 2"/>
          <p:cNvSpPr/>
          <p:nvPr/>
        </p:nvSpPr>
        <p:spPr>
          <a:xfrm>
            <a:off x="612720" y="777240"/>
            <a:ext cx="10972440" cy="6397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799"/>
              </a:spcAft>
            </a:pPr>
            <a:r>
              <a:rPr lang="en-US" sz="2600" b="1" u="none" strike="noStrike">
                <a:solidFill>
                  <a:srgbClr val="EAF2F8"/>
                </a:solidFill>
                <a:effectLst/>
                <a:uFillTx/>
                <a:latin typeface="DejaVu Sans"/>
                <a:ea typeface="Calibri"/>
              </a:rPr>
              <a:t>A detected shift does not guarantee a useful update</a:t>
            </a:r>
            <a:endParaRPr lang="en-US" sz="2600" b="0" u="none" strike="noStrike">
              <a:solidFill>
                <a:srgbClr val="FFFFFF"/>
              </a:solidFill>
              <a:effectLst/>
              <a:uFillTx/>
              <a:latin typeface="Arial"/>
            </a:endParaRPr>
          </a:p>
        </p:txBody>
      </p:sp>
      <p:sp>
        <p:nvSpPr>
          <p:cNvPr id="359" name="TextBox 3"/>
          <p:cNvSpPr/>
          <p:nvPr/>
        </p:nvSpPr>
        <p:spPr>
          <a:xfrm>
            <a:off x="685800" y="1554480"/>
            <a:ext cx="10789560" cy="45684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799"/>
              </a:spcAft>
            </a:pPr>
            <a:r>
              <a:rPr lang="en-US" sz="1800" b="0" u="none" strike="noStrike">
                <a:solidFill>
                  <a:srgbClr val="EAF2F8"/>
                </a:solidFill>
                <a:effectLst/>
                <a:uFillTx/>
                <a:latin typeface="DejaVu Sans"/>
                <a:ea typeface="Calibri"/>
              </a:rPr>
              <a:t>Synthetic feature shift; seed 42; 240 trials; shift starts at index 120.</a:t>
            </a:r>
            <a:endParaRPr lang="en-US" sz="1800" b="0" u="none" strike="noStrike">
              <a:solidFill>
                <a:srgbClr val="FFFFFF"/>
              </a:solidFill>
              <a:effectLst/>
              <a:uFillTx/>
              <a:latin typeface="Arial"/>
            </a:endParaRPr>
          </a:p>
        </p:txBody>
      </p:sp>
      <p:graphicFrame>
        <p:nvGraphicFramePr>
          <p:cNvPr id="360" name="Table 4"/>
          <p:cNvGraphicFramePr/>
          <p:nvPr/>
        </p:nvGraphicFramePr>
        <p:xfrm>
          <a:off x="685800" y="2148840"/>
          <a:ext cx="10789560" cy="2422800"/>
        </p:xfrm>
        <a:graphic>
          <a:graphicData uri="http://schemas.openxmlformats.org/drawingml/2006/table">
            <a:tbl>
              <a:tblPr/>
              <a:tblGrid>
                <a:gridCol w="4023360"/>
                <a:gridCol w="2194560"/>
                <a:gridCol w="2011680"/>
                <a:gridCol w="2560320"/>
              </a:tblGrid>
              <a:tr h="403560">
                <a:tc>
                  <a:txBody>
                    <a:bodyPr lIns="109440" anchor="t">
                      <a:noAutofit/>
                    </a:bodyPr>
                    <a:p>
                      <a:pPr>
                        <a:lnSpc>
                          <a:spcPct val="100000"/>
                        </a:lnSpc>
                      </a:pPr>
                      <a:r>
                        <a:rPr lang="en-US" sz="1800" b="1" u="none" strike="noStrike">
                          <a:solidFill>
                            <a:srgbClr val="78D8CC"/>
                          </a:solidFill>
                          <a:effectLst/>
                          <a:uFillTx/>
                          <a:latin typeface="DejaVu Sans"/>
                          <a:ea typeface="Calibri"/>
                        </a:rPr>
                        <a:t>Policy</a:t>
                      </a:r>
                      <a:endParaRPr lang="en-US" sz="1800" b="0" u="none" strike="noStrike">
                        <a:solidFill>
                          <a:srgbClr val="FFFFFF"/>
                        </a:solidFill>
                        <a:effectLst/>
                        <a:uFillTx/>
                        <a:latin typeface="Arial"/>
                      </a:endParaRPr>
                    </a:p>
                  </a:txBody>
                  <a:tcPr anchor="t" marL="109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142838"/>
                    </a:solidFill>
                  </a:tcPr>
                </a:tc>
                <a:tc>
                  <a:txBody>
                    <a:bodyPr lIns="109440" anchor="t">
                      <a:noAutofit/>
                    </a:bodyPr>
                    <a:p>
                      <a:pPr>
                        <a:lnSpc>
                          <a:spcPct val="100000"/>
                        </a:lnSpc>
                      </a:pPr>
                      <a:r>
                        <a:rPr lang="en-US" sz="1800" b="1" u="none" strike="noStrike">
                          <a:solidFill>
                            <a:srgbClr val="78D8CC"/>
                          </a:solidFill>
                          <a:effectLst/>
                          <a:uFillTx/>
                          <a:latin typeface="DejaVu Sans"/>
                          <a:ea typeface="Calibri"/>
                        </a:rPr>
                        <a:t>Accuracy</a:t>
                      </a:r>
                      <a:endParaRPr lang="en-US" sz="1800" b="0" u="none" strike="noStrike">
                        <a:solidFill>
                          <a:srgbClr val="FFFFFF"/>
                        </a:solidFill>
                        <a:effectLst/>
                        <a:uFillTx/>
                        <a:latin typeface="Arial"/>
                      </a:endParaRPr>
                    </a:p>
                  </a:txBody>
                  <a:tcPr anchor="t" marL="109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142838"/>
                    </a:solidFill>
                  </a:tcPr>
                </a:tc>
                <a:tc>
                  <a:txBody>
                    <a:bodyPr lIns="109440" anchor="t">
                      <a:noAutofit/>
                    </a:bodyPr>
                    <a:p>
                      <a:pPr>
                        <a:lnSpc>
                          <a:spcPct val="100000"/>
                        </a:lnSpc>
                      </a:pPr>
                      <a:r>
                        <a:rPr lang="en-US" sz="1800" b="1" u="none" strike="noStrike">
                          <a:solidFill>
                            <a:srgbClr val="78D8CC"/>
                          </a:solidFill>
                          <a:effectLst/>
                          <a:uFillTx/>
                          <a:latin typeface="DejaVu Sans"/>
                          <a:ea typeface="Calibri"/>
                        </a:rPr>
                        <a:t>Updates</a:t>
                      </a:r>
                      <a:endParaRPr lang="en-US" sz="1800" b="0" u="none" strike="noStrike">
                        <a:solidFill>
                          <a:srgbClr val="FFFFFF"/>
                        </a:solidFill>
                        <a:effectLst/>
                        <a:uFillTx/>
                        <a:latin typeface="Arial"/>
                      </a:endParaRPr>
                    </a:p>
                  </a:txBody>
                  <a:tcPr anchor="t" marL="109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142838"/>
                    </a:solidFill>
                  </a:tcPr>
                </a:tc>
                <a:tc>
                  <a:txBody>
                    <a:bodyPr lIns="109440" anchor="t">
                      <a:noAutofit/>
                    </a:bodyPr>
                    <a:p>
                      <a:pPr>
                        <a:lnSpc>
                          <a:spcPct val="100000"/>
                        </a:lnSpc>
                      </a:pPr>
                      <a:r>
                        <a:rPr lang="en-US" sz="1800" b="1" u="none" strike="noStrike">
                          <a:solidFill>
                            <a:srgbClr val="78D8CC"/>
                          </a:solidFill>
                          <a:effectLst/>
                          <a:uFillTx/>
                          <a:latin typeface="DejaVu Sans"/>
                          <a:ea typeface="Calibri"/>
                        </a:rPr>
                        <a:t>Gain vs never</a:t>
                      </a:r>
                      <a:endParaRPr lang="en-US" sz="1800" b="0" u="none" strike="noStrike">
                        <a:solidFill>
                          <a:srgbClr val="FFFFFF"/>
                        </a:solidFill>
                        <a:effectLst/>
                        <a:uFillTx/>
                        <a:latin typeface="Arial"/>
                      </a:endParaRPr>
                    </a:p>
                  </a:txBody>
                  <a:tcPr anchor="t" marL="109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142838"/>
                    </a:solidFill>
                  </a:tcPr>
                </a:tc>
              </a:tr>
              <a:tr h="403560">
                <a:tc>
                  <a:txBody>
                    <a:bodyPr lIns="109440" anchor="t">
                      <a:noAutofit/>
                    </a:bodyPr>
                    <a:p>
                      <a:pPr>
                        <a:lnSpc>
                          <a:spcPct val="100000"/>
                        </a:lnSpc>
                      </a:pPr>
                      <a:r>
                        <a:rPr lang="en-US" sz="1800" b="0" u="none" strike="noStrike">
                          <a:solidFill>
                            <a:srgbClr val="EAF2F8"/>
                          </a:solidFill>
                          <a:effectLst/>
                          <a:uFillTx/>
                          <a:latin typeface="DejaVu Sans"/>
                          <a:ea typeface="Calibri"/>
                        </a:rPr>
                        <a:t>Never</a:t>
                      </a:r>
                      <a:endParaRPr lang="en-US" sz="1800" b="0" u="none" strike="noStrike">
                        <a:solidFill>
                          <a:srgbClr val="FFFFFF"/>
                        </a:solidFill>
                        <a:effectLst/>
                        <a:uFillTx/>
                        <a:latin typeface="Arial"/>
                      </a:endParaRPr>
                    </a:p>
                  </a:txBody>
                  <a:tcPr anchor="t" marL="109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anchor="t">
                      <a:noAutofit/>
                    </a:bodyPr>
                    <a:p>
                      <a:pPr>
                        <a:lnSpc>
                          <a:spcPct val="100000"/>
                        </a:lnSpc>
                      </a:pPr>
                      <a:r>
                        <a:rPr lang="en-US" sz="1800" b="0" u="none" strike="noStrike">
                          <a:solidFill>
                            <a:srgbClr val="EAF2F8"/>
                          </a:solidFill>
                          <a:effectLst/>
                          <a:uFillTx/>
                          <a:latin typeface="DejaVu Sans"/>
                          <a:ea typeface="Calibri"/>
                        </a:rPr>
                        <a:t>97.92%</a:t>
                      </a:r>
                      <a:endParaRPr lang="en-US" sz="1800" b="0" u="none" strike="noStrike">
                        <a:solidFill>
                          <a:srgbClr val="FFFFFF"/>
                        </a:solidFill>
                        <a:effectLst/>
                        <a:uFillTx/>
                        <a:latin typeface="Arial"/>
                      </a:endParaRPr>
                    </a:p>
                  </a:txBody>
                  <a:tcPr anchor="t" marL="109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anchor="t">
                      <a:noAutofit/>
                    </a:bodyPr>
                    <a:p>
                      <a:pPr>
                        <a:lnSpc>
                          <a:spcPct val="100000"/>
                        </a:lnSpc>
                      </a:pPr>
                      <a:r>
                        <a:rPr lang="en-US" sz="1800" b="0" u="none" strike="noStrike">
                          <a:solidFill>
                            <a:srgbClr val="EAF2F8"/>
                          </a:solidFill>
                          <a:effectLst/>
                          <a:uFillTx/>
                          <a:latin typeface="DejaVu Sans"/>
                          <a:ea typeface="Calibri"/>
                        </a:rPr>
                        <a:t>0</a:t>
                      </a:r>
                      <a:endParaRPr lang="en-US" sz="1800" b="0" u="none" strike="noStrike">
                        <a:solidFill>
                          <a:srgbClr val="FFFFFF"/>
                        </a:solidFill>
                        <a:effectLst/>
                        <a:uFillTx/>
                        <a:latin typeface="Arial"/>
                      </a:endParaRPr>
                    </a:p>
                  </a:txBody>
                  <a:tcPr anchor="t" marL="109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anchor="t">
                      <a:noAutofit/>
                    </a:bodyPr>
                    <a:p>
                      <a:pPr>
                        <a:lnSpc>
                          <a:spcPct val="100000"/>
                        </a:lnSpc>
                      </a:pPr>
                      <a:r>
                        <a:rPr lang="en-US" sz="1800" b="0" u="none" strike="noStrike">
                          <a:solidFill>
                            <a:srgbClr val="EAF2F8"/>
                          </a:solidFill>
                          <a:effectLst/>
                          <a:uFillTx/>
                          <a:latin typeface="DejaVu Sans"/>
                          <a:ea typeface="Calibri"/>
                        </a:rPr>
                        <a:t>0.00 pp</a:t>
                      </a:r>
                      <a:endParaRPr lang="en-US" sz="1800" b="0" u="none" strike="noStrike">
                        <a:solidFill>
                          <a:srgbClr val="FFFFFF"/>
                        </a:solidFill>
                        <a:effectLst/>
                        <a:uFillTx/>
                        <a:latin typeface="Arial"/>
                      </a:endParaRPr>
                    </a:p>
                  </a:txBody>
                  <a:tcPr anchor="t" marL="109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r h="403560">
                <a:tc>
                  <a:txBody>
                    <a:bodyPr lIns="109440" anchor="t">
                      <a:noAutofit/>
                    </a:bodyPr>
                    <a:p>
                      <a:pPr>
                        <a:lnSpc>
                          <a:spcPct val="100000"/>
                        </a:lnSpc>
                      </a:pPr>
                      <a:r>
                        <a:rPr lang="en-US" sz="1800" b="0" u="none" strike="noStrike">
                          <a:solidFill>
                            <a:srgbClr val="EAF2F8"/>
                          </a:solidFill>
                          <a:effectLst/>
                          <a:uFillTx/>
                          <a:latin typeface="DejaVu Sans"/>
                          <a:ea typeface="Calibri"/>
                        </a:rPr>
                        <a:t>Periodic</a:t>
                      </a:r>
                      <a:endParaRPr lang="en-US" sz="1800" b="0" u="none" strike="noStrike">
                        <a:solidFill>
                          <a:srgbClr val="FFFFFF"/>
                        </a:solidFill>
                        <a:effectLst/>
                        <a:uFillTx/>
                        <a:latin typeface="Arial"/>
                      </a:endParaRPr>
                    </a:p>
                  </a:txBody>
                  <a:tcPr anchor="t" marL="109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anchor="t">
                      <a:noAutofit/>
                    </a:bodyPr>
                    <a:p>
                      <a:pPr>
                        <a:lnSpc>
                          <a:spcPct val="100000"/>
                        </a:lnSpc>
                      </a:pPr>
                      <a:r>
                        <a:rPr lang="en-US" sz="1800" b="0" u="none" strike="noStrike">
                          <a:solidFill>
                            <a:srgbClr val="EAF2F8"/>
                          </a:solidFill>
                          <a:effectLst/>
                          <a:uFillTx/>
                          <a:latin typeface="DejaVu Sans"/>
                          <a:ea typeface="Calibri"/>
                        </a:rPr>
                        <a:t>98.33%</a:t>
                      </a:r>
                      <a:endParaRPr lang="en-US" sz="1800" b="0" u="none" strike="noStrike">
                        <a:solidFill>
                          <a:srgbClr val="FFFFFF"/>
                        </a:solidFill>
                        <a:effectLst/>
                        <a:uFillTx/>
                        <a:latin typeface="Arial"/>
                      </a:endParaRPr>
                    </a:p>
                  </a:txBody>
                  <a:tcPr anchor="t" marL="109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anchor="t">
                      <a:noAutofit/>
                    </a:bodyPr>
                    <a:p>
                      <a:pPr>
                        <a:lnSpc>
                          <a:spcPct val="100000"/>
                        </a:lnSpc>
                      </a:pPr>
                      <a:r>
                        <a:rPr lang="en-US" sz="1800" b="0" u="none" strike="noStrike">
                          <a:solidFill>
                            <a:srgbClr val="EAF2F8"/>
                          </a:solidFill>
                          <a:effectLst/>
                          <a:uFillTx/>
                          <a:latin typeface="DejaVu Sans"/>
                          <a:ea typeface="Calibri"/>
                        </a:rPr>
                        <a:t>12</a:t>
                      </a:r>
                      <a:endParaRPr lang="en-US" sz="1800" b="0" u="none" strike="noStrike">
                        <a:solidFill>
                          <a:srgbClr val="FFFFFF"/>
                        </a:solidFill>
                        <a:effectLst/>
                        <a:uFillTx/>
                        <a:latin typeface="Arial"/>
                      </a:endParaRPr>
                    </a:p>
                  </a:txBody>
                  <a:tcPr anchor="t" marL="109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anchor="t">
                      <a:noAutofit/>
                    </a:bodyPr>
                    <a:p>
                      <a:pPr>
                        <a:lnSpc>
                          <a:spcPct val="100000"/>
                        </a:lnSpc>
                      </a:pPr>
                      <a:r>
                        <a:rPr lang="en-US" sz="1800" b="0" u="none" strike="noStrike">
                          <a:solidFill>
                            <a:srgbClr val="EAF2F8"/>
                          </a:solidFill>
                          <a:effectLst/>
                          <a:uFillTx/>
                          <a:latin typeface="DejaVu Sans"/>
                          <a:ea typeface="Calibri"/>
                        </a:rPr>
                        <a:t>+0.42 pp</a:t>
                      </a:r>
                      <a:endParaRPr lang="en-US" sz="1800" b="0" u="none" strike="noStrike">
                        <a:solidFill>
                          <a:srgbClr val="FFFFFF"/>
                        </a:solidFill>
                        <a:effectLst/>
                        <a:uFillTx/>
                        <a:latin typeface="Arial"/>
                      </a:endParaRPr>
                    </a:p>
                  </a:txBody>
                  <a:tcPr anchor="t" marL="109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r h="403560">
                <a:tc>
                  <a:txBody>
                    <a:bodyPr lIns="109440" anchor="t">
                      <a:noAutofit/>
                    </a:bodyPr>
                    <a:p>
                      <a:pPr>
                        <a:lnSpc>
                          <a:spcPct val="100000"/>
                        </a:lnSpc>
                      </a:pPr>
                      <a:r>
                        <a:rPr lang="en-US" sz="1800" b="0" u="none" strike="noStrike">
                          <a:solidFill>
                            <a:srgbClr val="EAF2F8"/>
                          </a:solidFill>
                          <a:effectLst/>
                          <a:uFillTx/>
                          <a:latin typeface="DejaVu Sans"/>
                          <a:ea typeface="Calibri"/>
                        </a:rPr>
                        <a:t>Warning</a:t>
                      </a:r>
                      <a:endParaRPr lang="en-US" sz="1800" b="0" u="none" strike="noStrike">
                        <a:solidFill>
                          <a:srgbClr val="FFFFFF"/>
                        </a:solidFill>
                        <a:effectLst/>
                        <a:uFillTx/>
                        <a:latin typeface="Arial"/>
                      </a:endParaRPr>
                    </a:p>
                  </a:txBody>
                  <a:tcPr anchor="t" marL="109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anchor="t">
                      <a:noAutofit/>
                    </a:bodyPr>
                    <a:p>
                      <a:pPr>
                        <a:lnSpc>
                          <a:spcPct val="100000"/>
                        </a:lnSpc>
                      </a:pPr>
                      <a:r>
                        <a:rPr lang="en-US" sz="1800" b="0" u="none" strike="noStrike">
                          <a:solidFill>
                            <a:srgbClr val="EAF2F8"/>
                          </a:solidFill>
                          <a:effectLst/>
                          <a:uFillTx/>
                          <a:latin typeface="DejaVu Sans"/>
                          <a:ea typeface="Calibri"/>
                        </a:rPr>
                        <a:t>97.50%</a:t>
                      </a:r>
                      <a:endParaRPr lang="en-US" sz="1800" b="0" u="none" strike="noStrike">
                        <a:solidFill>
                          <a:srgbClr val="FFFFFF"/>
                        </a:solidFill>
                        <a:effectLst/>
                        <a:uFillTx/>
                        <a:latin typeface="Arial"/>
                      </a:endParaRPr>
                    </a:p>
                  </a:txBody>
                  <a:tcPr anchor="t" marL="109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anchor="t">
                      <a:noAutofit/>
                    </a:bodyPr>
                    <a:p>
                      <a:pPr>
                        <a:lnSpc>
                          <a:spcPct val="100000"/>
                        </a:lnSpc>
                      </a:pPr>
                      <a:r>
                        <a:rPr lang="en-US" sz="1800" b="0" u="none" strike="noStrike">
                          <a:solidFill>
                            <a:srgbClr val="EAF2F8"/>
                          </a:solidFill>
                          <a:effectLst/>
                          <a:uFillTx/>
                          <a:latin typeface="DejaVu Sans"/>
                          <a:ea typeface="Calibri"/>
                        </a:rPr>
                        <a:t>3</a:t>
                      </a:r>
                      <a:endParaRPr lang="en-US" sz="1800" b="0" u="none" strike="noStrike">
                        <a:solidFill>
                          <a:srgbClr val="FFFFFF"/>
                        </a:solidFill>
                        <a:effectLst/>
                        <a:uFillTx/>
                        <a:latin typeface="Arial"/>
                      </a:endParaRPr>
                    </a:p>
                  </a:txBody>
                  <a:tcPr anchor="t" marL="109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anchor="t">
                      <a:noAutofit/>
                    </a:bodyPr>
                    <a:p>
                      <a:pPr>
                        <a:lnSpc>
                          <a:spcPct val="100000"/>
                        </a:lnSpc>
                      </a:pPr>
                      <a:r>
                        <a:rPr lang="en-US" sz="1800" b="0" u="none" strike="noStrike">
                          <a:solidFill>
                            <a:srgbClr val="EAF2F8"/>
                          </a:solidFill>
                          <a:effectLst/>
                          <a:uFillTx/>
                          <a:latin typeface="DejaVu Sans"/>
                          <a:ea typeface="Calibri"/>
                        </a:rPr>
                        <a:t>−0.42 pp</a:t>
                      </a:r>
                      <a:endParaRPr lang="en-US" sz="1800" b="0" u="none" strike="noStrike">
                        <a:solidFill>
                          <a:srgbClr val="FFFFFF"/>
                        </a:solidFill>
                        <a:effectLst/>
                        <a:uFillTx/>
                        <a:latin typeface="Arial"/>
                      </a:endParaRPr>
                    </a:p>
                  </a:txBody>
                  <a:tcPr anchor="t" marL="109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r h="403560">
                <a:tc>
                  <a:txBody>
                    <a:bodyPr lIns="109440" anchor="t">
                      <a:noAutofit/>
                    </a:bodyPr>
                    <a:p>
                      <a:pPr>
                        <a:lnSpc>
                          <a:spcPct val="100000"/>
                        </a:lnSpc>
                      </a:pPr>
                      <a:r>
                        <a:rPr lang="en-US" sz="1800" b="0" u="none" strike="noStrike">
                          <a:solidFill>
                            <a:srgbClr val="EAF2F8"/>
                          </a:solidFill>
                          <a:effectLst/>
                          <a:uFillTx/>
                          <a:latin typeface="DejaVu Sans"/>
                          <a:ea typeface="Calibri"/>
                        </a:rPr>
                        <a:t>Validated</a:t>
                      </a:r>
                      <a:endParaRPr lang="en-US" sz="1800" b="0" u="none" strike="noStrike">
                        <a:solidFill>
                          <a:srgbClr val="FFFFFF"/>
                        </a:solidFill>
                        <a:effectLst/>
                        <a:uFillTx/>
                        <a:latin typeface="Arial"/>
                      </a:endParaRPr>
                    </a:p>
                  </a:txBody>
                  <a:tcPr anchor="t" marL="109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anchor="t">
                      <a:noAutofit/>
                    </a:bodyPr>
                    <a:p>
                      <a:pPr>
                        <a:lnSpc>
                          <a:spcPct val="100000"/>
                        </a:lnSpc>
                      </a:pPr>
                      <a:r>
                        <a:rPr lang="en-US" sz="1800" b="0" u="none" strike="noStrike">
                          <a:solidFill>
                            <a:srgbClr val="EAF2F8"/>
                          </a:solidFill>
                          <a:effectLst/>
                          <a:uFillTx/>
                          <a:latin typeface="DejaVu Sans"/>
                          <a:ea typeface="Calibri"/>
                        </a:rPr>
                        <a:t>97.50%</a:t>
                      </a:r>
                      <a:endParaRPr lang="en-US" sz="1800" b="0" u="none" strike="noStrike">
                        <a:solidFill>
                          <a:srgbClr val="FFFFFF"/>
                        </a:solidFill>
                        <a:effectLst/>
                        <a:uFillTx/>
                        <a:latin typeface="Arial"/>
                      </a:endParaRPr>
                    </a:p>
                  </a:txBody>
                  <a:tcPr anchor="t" marL="109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anchor="t">
                      <a:noAutofit/>
                    </a:bodyPr>
                    <a:p>
                      <a:pPr>
                        <a:lnSpc>
                          <a:spcPct val="100000"/>
                        </a:lnSpc>
                      </a:pPr>
                      <a:r>
                        <a:rPr lang="en-US" sz="1800" b="0" u="none" strike="noStrike">
                          <a:solidFill>
                            <a:srgbClr val="EAF2F8"/>
                          </a:solidFill>
                          <a:effectLst/>
                          <a:uFillTx/>
                          <a:latin typeface="DejaVu Sans"/>
                          <a:ea typeface="Calibri"/>
                        </a:rPr>
                        <a:t>1</a:t>
                      </a:r>
                      <a:endParaRPr lang="en-US" sz="1800" b="0" u="none" strike="noStrike">
                        <a:solidFill>
                          <a:srgbClr val="FFFFFF"/>
                        </a:solidFill>
                        <a:effectLst/>
                        <a:uFillTx/>
                        <a:latin typeface="Arial"/>
                      </a:endParaRPr>
                    </a:p>
                  </a:txBody>
                  <a:tcPr anchor="t" marL="109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anchor="t">
                      <a:noAutofit/>
                    </a:bodyPr>
                    <a:p>
                      <a:pPr>
                        <a:lnSpc>
                          <a:spcPct val="100000"/>
                        </a:lnSpc>
                      </a:pPr>
                      <a:r>
                        <a:rPr lang="en-US" sz="1800" b="0" u="none" strike="noStrike">
                          <a:solidFill>
                            <a:srgbClr val="EAF2F8"/>
                          </a:solidFill>
                          <a:effectLst/>
                          <a:uFillTx/>
                          <a:latin typeface="DejaVu Sans"/>
                          <a:ea typeface="Calibri"/>
                        </a:rPr>
                        <a:t>−0.42 pp</a:t>
                      </a:r>
                      <a:endParaRPr lang="en-US" sz="1800" b="0" u="none" strike="noStrike">
                        <a:solidFill>
                          <a:srgbClr val="FFFFFF"/>
                        </a:solidFill>
                        <a:effectLst/>
                        <a:uFillTx/>
                        <a:latin typeface="Arial"/>
                      </a:endParaRPr>
                    </a:p>
                  </a:txBody>
                  <a:tcPr anchor="t" marL="109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r h="403560">
                <a:tc>
                  <a:txBody>
                    <a:bodyPr lIns="109440" anchor="t">
                      <a:noAutofit/>
                    </a:bodyPr>
                    <a:p>
                      <a:pPr>
                        <a:lnSpc>
                          <a:spcPct val="100000"/>
                        </a:lnSpc>
                      </a:pPr>
                      <a:r>
                        <a:rPr lang="en-US" sz="1800" b="0" u="none" strike="noStrike">
                          <a:solidFill>
                            <a:srgbClr val="EAF2F8"/>
                          </a:solidFill>
                          <a:effectLst/>
                          <a:uFillTx/>
                          <a:latin typeface="DejaVu Sans"/>
                          <a:ea typeface="Calibri"/>
                        </a:rPr>
                        <a:t>Performance drop</a:t>
                      </a:r>
                      <a:endParaRPr lang="en-US" sz="1800" b="0" u="none" strike="noStrike">
                        <a:solidFill>
                          <a:srgbClr val="FFFFFF"/>
                        </a:solidFill>
                        <a:effectLst/>
                        <a:uFillTx/>
                        <a:latin typeface="Arial"/>
                      </a:endParaRPr>
                    </a:p>
                  </a:txBody>
                  <a:tcPr anchor="t" marL="109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anchor="t">
                      <a:noAutofit/>
                    </a:bodyPr>
                    <a:p>
                      <a:pPr>
                        <a:lnSpc>
                          <a:spcPct val="100000"/>
                        </a:lnSpc>
                      </a:pPr>
                      <a:r>
                        <a:rPr lang="en-US" sz="1800" b="0" u="none" strike="noStrike">
                          <a:solidFill>
                            <a:srgbClr val="EAF2F8"/>
                          </a:solidFill>
                          <a:effectLst/>
                          <a:uFillTx/>
                          <a:latin typeface="DejaVu Sans"/>
                          <a:ea typeface="Calibri"/>
                        </a:rPr>
                        <a:t>97.92%</a:t>
                      </a:r>
                      <a:endParaRPr lang="en-US" sz="1800" b="0" u="none" strike="noStrike">
                        <a:solidFill>
                          <a:srgbClr val="FFFFFF"/>
                        </a:solidFill>
                        <a:effectLst/>
                        <a:uFillTx/>
                        <a:latin typeface="Arial"/>
                      </a:endParaRPr>
                    </a:p>
                  </a:txBody>
                  <a:tcPr anchor="t" marL="109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anchor="t">
                      <a:noAutofit/>
                    </a:bodyPr>
                    <a:p>
                      <a:pPr>
                        <a:lnSpc>
                          <a:spcPct val="100000"/>
                        </a:lnSpc>
                      </a:pPr>
                      <a:r>
                        <a:rPr lang="en-US" sz="1800" b="0" u="none" strike="noStrike">
                          <a:solidFill>
                            <a:srgbClr val="EAF2F8"/>
                          </a:solidFill>
                          <a:effectLst/>
                          <a:uFillTx/>
                          <a:latin typeface="DejaVu Sans"/>
                          <a:ea typeface="Calibri"/>
                        </a:rPr>
                        <a:t>0</a:t>
                      </a:r>
                      <a:endParaRPr lang="en-US" sz="1800" b="0" u="none" strike="noStrike">
                        <a:solidFill>
                          <a:srgbClr val="FFFFFF"/>
                        </a:solidFill>
                        <a:effectLst/>
                        <a:uFillTx/>
                        <a:latin typeface="Arial"/>
                      </a:endParaRPr>
                    </a:p>
                  </a:txBody>
                  <a:tcPr anchor="t" marL="109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anchor="t">
                      <a:noAutofit/>
                    </a:bodyPr>
                    <a:p>
                      <a:pPr>
                        <a:lnSpc>
                          <a:spcPct val="100000"/>
                        </a:lnSpc>
                      </a:pPr>
                      <a:r>
                        <a:rPr lang="en-US" sz="1800" b="0" u="none" strike="noStrike">
                          <a:solidFill>
                            <a:srgbClr val="EAF2F8"/>
                          </a:solidFill>
                          <a:effectLst/>
                          <a:uFillTx/>
                          <a:latin typeface="DejaVu Sans"/>
                          <a:ea typeface="Calibri"/>
                        </a:rPr>
                        <a:t>0.00 pp</a:t>
                      </a:r>
                      <a:endParaRPr lang="en-US" sz="1800" b="0" u="none" strike="noStrike">
                        <a:solidFill>
                          <a:srgbClr val="FFFFFF"/>
                        </a:solidFill>
                        <a:effectLst/>
                        <a:uFillTx/>
                        <a:latin typeface="Arial"/>
                      </a:endParaRPr>
                    </a:p>
                  </a:txBody>
                  <a:tcPr anchor="t" marL="109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bl>
          </a:graphicData>
        </a:graphic>
      </p:graphicFrame>
      <p:sp>
        <p:nvSpPr>
          <p:cNvPr id="361" name="TextBox 5"/>
          <p:cNvSpPr/>
          <p:nvPr/>
        </p:nvSpPr>
        <p:spPr>
          <a:xfrm>
            <a:off x="685800" y="4846320"/>
            <a:ext cx="10789560" cy="68544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799"/>
              </a:spcAft>
            </a:pPr>
            <a:r>
              <a:rPr lang="en-US" sz="1900" b="0" u="none" strike="noStrike">
                <a:solidFill>
                  <a:srgbClr val="78D8CC"/>
                </a:solidFill>
                <a:effectLst/>
                <a:uFillTx/>
                <a:latin typeface="DejaVu Sans"/>
                <a:ea typeface="Calibri"/>
              </a:rPr>
              <a:t>Periodic updating gains one correct prediction overall for 12 updates.</a:t>
            </a:r>
            <a:endParaRPr lang="en-US" sz="1900" b="0" u="none" strike="noStrike">
              <a:solidFill>
                <a:srgbClr val="FFFFFF"/>
              </a:solidFill>
              <a:effectLst/>
              <a:uFillTx/>
              <a:latin typeface="Arial"/>
            </a:endParaRPr>
          </a:p>
          <a:p>
            <a:pPr defTabSz="914400">
              <a:lnSpc>
                <a:spcPct val="100000"/>
              </a:lnSpc>
              <a:spcAft>
                <a:spcPts val="799"/>
              </a:spcAft>
            </a:pPr>
            <a:r>
              <a:rPr lang="en-US" sz="1900" b="0" u="none" strike="noStrike">
                <a:solidFill>
                  <a:srgbClr val="78D8CC"/>
                </a:solidFill>
                <a:effectLst/>
                <a:uFillTx/>
                <a:latin typeface="DejaVu Sans"/>
                <a:ea typeface="Calibri"/>
              </a:rPr>
              <a:t>Validated updating finishes one prediction below never-update.</a:t>
            </a:r>
            <a:endParaRPr lang="en-US" sz="1900" b="0" u="none" strike="noStrike">
              <a:solidFill>
                <a:srgbClr val="FFFFFF"/>
              </a:solidFill>
              <a:effectLst/>
              <a:uFillTx/>
              <a:latin typeface="Arial"/>
            </a:endParaRPr>
          </a:p>
        </p:txBody>
      </p:sp>
      <p:sp>
        <p:nvSpPr>
          <p:cNvPr id="362" name="TextBox 6"/>
          <p:cNvSpPr/>
          <p:nvPr/>
        </p:nvSpPr>
        <p:spPr>
          <a:xfrm>
            <a:off x="685800" y="5641920"/>
            <a:ext cx="10789560" cy="36540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799"/>
              </a:spcAft>
            </a:pPr>
            <a:r>
              <a:rPr lang="en-US" sz="1400" b="0" u="none" strike="noStrike">
                <a:solidFill>
                  <a:srgbClr val="9CB0C3"/>
                </a:solidFill>
                <a:effectLst/>
                <a:uFillTx/>
                <a:latin typeface="DejaVu Sans"/>
                <a:ea typeface="Calibri"/>
              </a:rPr>
              <a:t>One-run illustration, not a policy ranking. Next: matched comparisons across scenarios and seeds.</a:t>
            </a:r>
            <a:endParaRPr lang="en-US" sz="1400" b="0" u="none" strike="noStrike">
              <a:solidFill>
                <a:srgbClr val="FFFFFF"/>
              </a:solidFill>
              <a:effectLst/>
              <a:uFillTx/>
              <a:latin typeface="Arial"/>
            </a:endParaRPr>
          </a:p>
        </p:txBody>
      </p:sp>
      <p:sp>
        <p:nvSpPr>
          <p:cNvPr id="363" name="TextBox 7"/>
          <p:cNvSpPr/>
          <p:nvPr/>
        </p:nvSpPr>
        <p:spPr>
          <a:xfrm>
            <a:off x="685800" y="6099120"/>
            <a:ext cx="10789560" cy="2923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799"/>
              </a:spcAft>
            </a:pPr>
            <a:r>
              <a:rPr lang="en-US" sz="1100" b="0" u="none" strike="noStrike">
                <a:solidFill>
                  <a:srgbClr val="9CB0C3"/>
                </a:solidFill>
                <a:effectLst/>
                <a:uFillTx/>
                <a:latin typeface="DejaVu Sans"/>
                <a:ea typeface="Calibri"/>
              </a:rPr>
              <a:t>Source: outputs/diethe/20261004T111759599003Z/summary.csv; generating commit 2a8d20b.</a:t>
            </a:r>
            <a:endParaRPr lang="en-US" sz="1100" b="0" u="none" strike="noStrike">
              <a:solidFill>
                <a:srgbClr val="FFFFFF"/>
              </a:solidFill>
              <a:effectLst/>
              <a:uFillTx/>
              <a:latin typeface="Arial"/>
            </a:endParaRPr>
          </a:p>
        </p:txBody>
      </p:sp>
      <p:sp>
        <p:nvSpPr>
          <p:cNvPr id="364" name="TextBox 8"/>
          <p:cNvSpPr/>
          <p:nvPr/>
        </p:nvSpPr>
        <p:spPr>
          <a:xfrm>
            <a:off x="612720" y="6510600"/>
            <a:ext cx="9143640" cy="1825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799"/>
              </a:spcAft>
            </a:pPr>
            <a:r>
              <a:rPr lang="en-US" sz="800" b="0" u="none" strike="noStrike">
                <a:solidFill>
                  <a:srgbClr val="9CB0C3"/>
                </a:solidFill>
                <a:effectLst/>
                <a:uFillTx/>
                <a:latin typeface="DejaVu Sans"/>
                <a:ea typeface="Calibri"/>
              </a:rPr>
              <a:t>hlin863/ewma_covariate_shift_demo</a:t>
            </a:r>
            <a:endParaRPr lang="en-US" sz="800" b="0" u="none" strike="noStrike">
              <a:solidFill>
                <a:srgbClr val="FFFFFF"/>
              </a:solidFill>
              <a:effectLst/>
              <a:uFillTx/>
              <a:latin typeface="Arial"/>
            </a:endParaRPr>
          </a:p>
        </p:txBody>
      </p:sp>
      <p:sp>
        <p:nvSpPr>
          <p:cNvPr id="365" name="TextBox 9"/>
          <p:cNvSpPr/>
          <p:nvPr/>
        </p:nvSpPr>
        <p:spPr>
          <a:xfrm>
            <a:off x="11045880" y="6510600"/>
            <a:ext cx="548280" cy="1825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pPr>
            <a:r>
              <a:rPr lang="en-US" sz="1800" b="0" u="none" strike="noStrike">
                <a:solidFill>
                  <a:srgbClr val="EAF2F8"/>
                </a:solidFill>
                <a:effectLst/>
                <a:uFillTx/>
                <a:latin typeface="Calibri"/>
                <a:ea typeface="Calibri"/>
              </a:rPr>
              <a:t>26</a:t>
            </a:r>
            <a:endParaRPr lang="en-US" sz="1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9121F"/>
        </a:solidFill>
      </p:bgPr>
    </p:bg>
    <p:spTree>
      <p:nvGrpSpPr>
        <p:cNvPr id="1" name=""/>
        <p:cNvGrpSpPr/>
        <p:nvPr/>
      </p:nvGrpSpPr>
      <p:grpSpPr>
        <a:xfrm>
          <a:off x="0" y="0"/>
          <a:ext cx="0" cy="0"/>
          <a:chOff x="0" y="0"/>
          <a:chExt cx="0" cy="0"/>
        </a:xfrm>
      </p:grpSpPr>
      <p:sp>
        <p:nvSpPr>
          <p:cNvPr id="366" name="Rectangle 25"/>
          <p:cNvSpPr/>
          <p:nvPr/>
        </p:nvSpPr>
        <p:spPr>
          <a:xfrm>
            <a:off x="609480" y="399960"/>
            <a:ext cx="5714640" cy="228240"/>
          </a:xfrm>
          <a:prstGeom prst="rect">
            <a:avLst/>
          </a:prstGeom>
          <a:noFill/>
          <a:ln w="0">
            <a:noFill/>
          </a:ln>
        </p:spPr>
        <p:style>
          <a:lnRef idx="0"/>
          <a:fillRef idx="0"/>
          <a:effectRef idx="0"/>
          <a:fontRef idx="minor"/>
        </p:style>
        <p:txBody>
          <a:bodyPr lIns="0" tIns="0" rIns="0" bIns="0" anchor="t">
            <a:noAutofit/>
          </a:bodyPr>
          <a:p>
            <a:pPr defTabSz="914400">
              <a:lnSpc>
                <a:spcPct val="100000"/>
              </a:lnSpc>
            </a:pPr>
            <a:r>
              <a:rPr lang="en-US" sz="980" b="1" u="none" strike="noStrike">
                <a:solidFill>
                  <a:srgbClr val="2DD4BF"/>
                </a:solidFill>
                <a:effectLst/>
                <a:uFillTx/>
                <a:latin typeface="DejaVu Sans"/>
                <a:ea typeface="DejaVu Sans"/>
              </a:rPr>
              <a:t>TRACKED EXPERIMENT RESULTS</a:t>
            </a:r>
            <a:endParaRPr lang="en-US" sz="980" b="0" u="none" strike="noStrike">
              <a:solidFill>
                <a:srgbClr val="FFFFFF"/>
              </a:solidFill>
              <a:effectLst/>
              <a:uFillTx/>
              <a:latin typeface="Arial"/>
            </a:endParaRPr>
          </a:p>
        </p:txBody>
      </p:sp>
      <p:sp>
        <p:nvSpPr>
          <p:cNvPr id="367" name="Rectangle 1"/>
          <p:cNvSpPr/>
          <p:nvPr/>
        </p:nvSpPr>
        <p:spPr>
          <a:xfrm>
            <a:off x="609480" y="685800"/>
            <a:ext cx="10953360" cy="552240"/>
          </a:xfrm>
          <a:prstGeom prst="rect">
            <a:avLst/>
          </a:prstGeom>
          <a:noFill/>
          <a:ln w="0">
            <a:noFill/>
          </a:ln>
        </p:spPr>
        <p:style>
          <a:lnRef idx="0"/>
          <a:fillRef idx="0"/>
          <a:effectRef idx="0"/>
          <a:fontRef idx="minor"/>
        </p:style>
        <p:txBody>
          <a:bodyPr lIns="0" tIns="0" rIns="0" bIns="0" anchor="t">
            <a:noAutofit/>
          </a:bodyPr>
          <a:p>
            <a:pPr defTabSz="914400">
              <a:lnSpc>
                <a:spcPct val="100000"/>
              </a:lnSpc>
            </a:pPr>
            <a:r>
              <a:rPr lang="en-US" sz="2550" b="1" u="none" strike="noStrike">
                <a:solidFill>
                  <a:srgbClr val="EAF2F8"/>
                </a:solidFill>
                <a:effectLst/>
                <a:uFillTx/>
                <a:latin typeface="DejaVu Sans"/>
                <a:ea typeface="DejaVu Sans"/>
              </a:rPr>
              <a:t>Classifier and complementary-monitoring results</a:t>
            </a:r>
            <a:endParaRPr lang="en-US" sz="2550" b="0" u="none" strike="noStrike">
              <a:solidFill>
                <a:srgbClr val="FFFFFF"/>
              </a:solidFill>
              <a:effectLst/>
              <a:uFillTx/>
              <a:latin typeface="Arial"/>
            </a:endParaRPr>
          </a:p>
        </p:txBody>
      </p:sp>
      <p:sp>
        <p:nvSpPr>
          <p:cNvPr id="368" name="Straight Connector 2"/>
          <p:cNvSpPr/>
          <p:nvPr/>
        </p:nvSpPr>
        <p:spPr>
          <a:xfrm>
            <a:off x="609480" y="1371600"/>
            <a:ext cx="10972800" cy="360"/>
          </a:xfrm>
          <a:prstGeom prst="line">
            <a:avLst/>
          </a:prstGeom>
          <a:ln w="19050">
            <a:solidFill>
              <a:srgbClr val="294057"/>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Calibri"/>
            </a:endParaRPr>
          </a:p>
        </p:txBody>
      </p:sp>
      <p:sp>
        <p:nvSpPr>
          <p:cNvPr id="369" name="Rectangle 23"/>
          <p:cNvSpPr/>
          <p:nvPr/>
        </p:nvSpPr>
        <p:spPr>
          <a:xfrm>
            <a:off x="609480" y="6515280"/>
            <a:ext cx="4095360" cy="171000"/>
          </a:xfrm>
          <a:prstGeom prst="rect">
            <a:avLst/>
          </a:prstGeom>
          <a:noFill/>
          <a:ln w="0">
            <a:noFill/>
          </a:ln>
        </p:spPr>
        <p:style>
          <a:lnRef idx="0"/>
          <a:fillRef idx="0"/>
          <a:effectRef idx="0"/>
          <a:fontRef idx="minor"/>
        </p:style>
        <p:txBody>
          <a:bodyPr lIns="0" tIns="0" rIns="0" bIns="0" anchor="t">
            <a:normAutofit/>
          </a:bodyPr>
          <a:p>
            <a:pPr defTabSz="914400">
              <a:lnSpc>
                <a:spcPct val="100000"/>
              </a:lnSpc>
            </a:pPr>
            <a:r>
              <a:rPr lang="en-US" sz="820" b="0" u="none" strike="noStrike">
                <a:solidFill>
                  <a:srgbClr val="9CB0C3"/>
                </a:solidFill>
                <a:effectLst/>
                <a:uFillTx/>
                <a:latin typeface="DejaVu Sans"/>
                <a:ea typeface="DejaVu Sans"/>
              </a:rPr>
              <a:t>hlin863/ewma_covariate_shift_demo</a:t>
            </a:r>
            <a:endParaRPr lang="en-US" sz="820" b="0" u="none" strike="noStrike">
              <a:solidFill>
                <a:srgbClr val="FFFFFF"/>
              </a:solidFill>
              <a:effectLst/>
              <a:uFillTx/>
              <a:latin typeface="Arial"/>
            </a:endParaRPr>
          </a:p>
        </p:txBody>
      </p:sp>
      <p:sp>
        <p:nvSpPr>
          <p:cNvPr id="370" name="Rectangle 24"/>
          <p:cNvSpPr/>
          <p:nvPr/>
        </p:nvSpPr>
        <p:spPr>
          <a:xfrm>
            <a:off x="11049120" y="6515280"/>
            <a:ext cx="533160" cy="171000"/>
          </a:xfrm>
          <a:prstGeom prst="rect">
            <a:avLst/>
          </a:prstGeom>
          <a:noFill/>
          <a:ln w="0">
            <a:noFill/>
          </a:ln>
        </p:spPr>
        <p:style>
          <a:lnRef idx="0"/>
          <a:fillRef idx="0"/>
          <a:effectRef idx="0"/>
          <a:fontRef idx="minor"/>
        </p:style>
        <p:txBody>
          <a:bodyPr lIns="0" tIns="0" rIns="0" bIns="0" anchor="t">
            <a:normAutofit fontScale="77500" lnSpcReduction="19999"/>
          </a:bodyPr>
          <a:p>
            <a:pPr defTabSz="914400">
              <a:lnSpc>
                <a:spcPct val="100000"/>
              </a:lnSpc>
            </a:pPr>
            <a:r>
              <a:rPr lang="en-US" sz="1800" b="0" u="none" strike="noStrike">
                <a:solidFill>
                  <a:srgbClr val="EAF2F8"/>
                </a:solidFill>
                <a:effectLst/>
                <a:uFillTx/>
                <a:latin typeface="Calibri"/>
                <a:ea typeface="Calibri"/>
              </a:rPr>
              <a:t>27</a:t>
            </a:r>
            <a:endParaRPr lang="en-US" sz="1800" b="0" u="none" strike="noStrike">
              <a:solidFill>
                <a:srgbClr val="FFFFFF"/>
              </a:solidFill>
              <a:effectLst/>
              <a:uFillTx/>
              <a:latin typeface="Arial"/>
            </a:endParaRPr>
          </a:p>
        </p:txBody>
      </p:sp>
      <p:sp>
        <p:nvSpPr>
          <p:cNvPr id="371" name="Classifier heading"/>
          <p:cNvSpPr/>
          <p:nvPr/>
        </p:nvSpPr>
        <p:spPr>
          <a:xfrm>
            <a:off x="609480" y="1695600"/>
            <a:ext cx="4667040" cy="3330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729" b="1" u="none" strike="noStrike">
                <a:solidFill>
                  <a:srgbClr val="64D98B"/>
                </a:solidFill>
                <a:effectLst/>
                <a:uFillTx/>
                <a:latin typeface="DejaVu Sans"/>
                <a:ea typeface="DejaVu Sans"/>
              </a:rPr>
              <a:t>Real EEG classifier benchmark</a:t>
            </a:r>
            <a:endParaRPr lang="en-US" sz="1729" b="0" u="none" strike="noStrike">
              <a:solidFill>
                <a:srgbClr val="FFFFFF"/>
              </a:solidFill>
              <a:effectLst/>
              <a:uFillTx/>
              <a:latin typeface="Arial"/>
            </a:endParaRPr>
          </a:p>
        </p:txBody>
      </p:sp>
      <p:sp>
        <p:nvSpPr>
          <p:cNvPr id="372" name="Classifier scope"/>
          <p:cNvSpPr/>
          <p:nvPr/>
        </p:nvSpPr>
        <p:spPr>
          <a:xfrm>
            <a:off x="609480" y="2095560"/>
            <a:ext cx="4762080" cy="2664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200" b="0" u="none" strike="noStrike">
                <a:solidFill>
                  <a:srgbClr val="9CB0C3"/>
                </a:solidFill>
                <a:effectLst/>
                <a:uFillTx/>
                <a:latin typeface="DejaVu Sans"/>
                <a:ea typeface="DejaVu Sans"/>
              </a:rPr>
              <a:t>Mean accuracy across 9 subjects per dataset</a:t>
            </a:r>
            <a:endParaRPr lang="en-US" sz="1200" b="0" u="none" strike="noStrike">
              <a:solidFill>
                <a:srgbClr val="FFFFFF"/>
              </a:solidFill>
              <a:effectLst/>
              <a:uFillTx/>
              <a:latin typeface="Arial"/>
            </a:endParaRPr>
          </a:p>
        </p:txBody>
      </p:sp>
      <p:sp>
        <p:nvSpPr>
          <p:cNvPr id="373" name="Complement heading"/>
          <p:cNvSpPr/>
          <p:nvPr/>
        </p:nvSpPr>
        <p:spPr>
          <a:xfrm>
            <a:off x="6238800" y="1695600"/>
            <a:ext cx="5238360" cy="3330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729" b="1" u="none" strike="noStrike">
                <a:solidFill>
                  <a:srgbClr val="2DD4BF"/>
                </a:solidFill>
                <a:effectLst/>
                <a:uFillTx/>
                <a:latin typeface="DejaVu Sans"/>
                <a:ea typeface="DejaVu Sans"/>
              </a:rPr>
              <a:t>Complementary Stage-I monitoring</a:t>
            </a:r>
            <a:endParaRPr lang="en-US" sz="1729" b="0" u="none" strike="noStrike">
              <a:solidFill>
                <a:srgbClr val="FFFFFF"/>
              </a:solidFill>
              <a:effectLst/>
              <a:uFillTx/>
              <a:latin typeface="Arial"/>
            </a:endParaRPr>
          </a:p>
        </p:txBody>
      </p:sp>
      <p:sp>
        <p:nvSpPr>
          <p:cNvPr id="374" name="Complement scope"/>
          <p:cNvSpPr/>
          <p:nvPr/>
        </p:nvSpPr>
        <p:spPr>
          <a:xfrm>
            <a:off x="6238800" y="2095560"/>
            <a:ext cx="5238360" cy="4284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200" b="0" u="none" strike="noStrike">
                <a:solidFill>
                  <a:srgbClr val="9CB0C3"/>
                </a:solidFill>
                <a:effectLst/>
                <a:uFillTx/>
                <a:latin typeface="DejaVu Sans"/>
                <a:ea typeface="DejaVu Sans"/>
              </a:rPr>
              <a:t>Detection within 20 samples, 100 seeds, magnitude 3</a:t>
            </a:r>
            <a:endParaRPr lang="en-US" sz="1200" b="0" u="none" strike="noStrike">
              <a:solidFill>
                <a:srgbClr val="FFFFFF"/>
              </a:solidFill>
              <a:effectLst/>
              <a:uFillTx/>
              <a:latin typeface="Arial"/>
            </a:endParaRPr>
          </a:p>
        </p:txBody>
      </p:sp>
      <p:sp>
        <p:nvSpPr>
          <p:cNvPr id="375" name="Classifier finding"/>
          <p:cNvSpPr/>
          <p:nvPr/>
        </p:nvSpPr>
        <p:spPr>
          <a:xfrm>
            <a:off x="609480" y="4276800"/>
            <a:ext cx="5143320" cy="5522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350" b="0" u="none" strike="noStrike">
                <a:solidFill>
                  <a:srgbClr val="EAF2F8"/>
                </a:solidFill>
                <a:effectLst/>
                <a:uFillTx/>
                <a:latin typeface="DejaVu Sans"/>
                <a:ea typeface="DejaVu Sans"/>
              </a:rPr>
              <a:t>Mean change: −0.15 pp (2A), +0.56 pp (2B).</a:t>
            </a:r>
            <a:endParaRPr lang="en-US" sz="1350" b="0" u="none" strike="noStrike">
              <a:solidFill>
                <a:srgbClr val="FFFFFF"/>
              </a:solidFill>
              <a:effectLst/>
              <a:uFillTx/>
              <a:latin typeface="Arial"/>
            </a:endParaRPr>
          </a:p>
          <a:p>
            <a:pPr defTabSz="914400">
              <a:lnSpc>
                <a:spcPct val="100000"/>
              </a:lnSpc>
            </a:pPr>
            <a:r>
              <a:rPr lang="en-US" sz="1350" b="0" u="none" strike="noStrike">
                <a:solidFill>
                  <a:srgbClr val="EAF2F8"/>
                </a:solidFill>
                <a:effectLst/>
                <a:uFillTx/>
                <a:latin typeface="DejaVu Sans"/>
                <a:ea typeface="DejaVu Sans"/>
              </a:rPr>
              <a:t>No consistent gain across both datasets.</a:t>
            </a:r>
            <a:endParaRPr lang="en-US" sz="1350" b="0" u="none" strike="noStrike">
              <a:solidFill>
                <a:srgbClr val="FFFFFF"/>
              </a:solidFill>
              <a:effectLst/>
              <a:uFillTx/>
              <a:latin typeface="Arial"/>
            </a:endParaRPr>
          </a:p>
        </p:txBody>
      </p:sp>
      <p:sp>
        <p:nvSpPr>
          <p:cNvPr id="376" name="Classifier protocol"/>
          <p:cNvSpPr/>
          <p:nvPr/>
        </p:nvSpPr>
        <p:spPr>
          <a:xfrm>
            <a:off x="609480" y="4981680"/>
            <a:ext cx="5143320" cy="5140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200" b="0" u="none" strike="noStrike">
                <a:solidFill>
                  <a:srgbClr val="9CB0C3"/>
                </a:solidFill>
                <a:effectLst/>
                <a:uFillTx/>
                <a:latin typeface="DejaVu Sans"/>
                <a:ea typeface="DejaVu Sans"/>
              </a:rPr>
              <a:t>2A: Session II evaluation</a:t>
            </a:r>
            <a:endParaRPr lang="en-US" sz="1200" b="0" u="none" strike="noStrike">
              <a:solidFill>
                <a:srgbClr val="FFFFFF"/>
              </a:solidFill>
              <a:effectLst/>
              <a:uFillTx/>
              <a:latin typeface="Arial"/>
            </a:endParaRPr>
          </a:p>
          <a:p>
            <a:pPr defTabSz="914400">
              <a:lnSpc>
                <a:spcPct val="100000"/>
              </a:lnSpc>
            </a:pPr>
            <a:r>
              <a:rPr lang="en-US" sz="1200" b="0" u="none" strike="noStrike">
                <a:solidFill>
                  <a:srgbClr val="9CB0C3"/>
                </a:solidFill>
                <a:effectLst/>
                <a:uFillTx/>
                <a:latin typeface="DejaVu Sans"/>
                <a:ea typeface="DejaVu Sans"/>
              </a:rPr>
              <a:t>2B: Session III GDF-only holdout</a:t>
            </a:r>
            <a:endParaRPr lang="en-US" sz="1200" b="0" u="none" strike="noStrike">
              <a:solidFill>
                <a:srgbClr val="FFFFFF"/>
              </a:solidFill>
              <a:effectLst/>
              <a:uFillTx/>
              <a:latin typeface="Arial"/>
            </a:endParaRPr>
          </a:p>
        </p:txBody>
      </p:sp>
      <p:sp>
        <p:nvSpPr>
          <p:cNvPr id="377" name="Complement finding"/>
          <p:cNvSpPr/>
          <p:nvPr/>
        </p:nvSpPr>
        <p:spPr>
          <a:xfrm>
            <a:off x="6238800" y="4714920"/>
            <a:ext cx="5285880" cy="50436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280" b="0" u="none" strike="noStrike">
                <a:solidFill>
                  <a:srgbClr val="EAF2F8"/>
                </a:solidFill>
                <a:effectLst/>
                <a:uFillTx/>
                <a:latin typeface="DejaVu Sans"/>
                <a:ea typeface="DejaVu Sans"/>
              </a:rPr>
              <a:t>Magnitude 6: PC1 detection rises to 88%</a:t>
            </a:r>
            <a:endParaRPr lang="en-US" sz="1280" b="0" u="none" strike="noStrike">
              <a:solidFill>
                <a:srgbClr val="FFFFFF"/>
              </a:solidFill>
              <a:effectLst/>
              <a:uFillTx/>
              <a:latin typeface="Arial"/>
            </a:endParaRPr>
          </a:p>
          <a:p>
            <a:pPr defTabSz="914400">
              <a:lnSpc>
                <a:spcPct val="100000"/>
              </a:lnSpc>
            </a:pPr>
            <a:r>
              <a:rPr lang="en-US" sz="1280" b="0" u="none" strike="noStrike">
                <a:solidFill>
                  <a:srgbClr val="EAF2F8"/>
                </a:solidFill>
                <a:effectLst/>
                <a:uFillTx/>
                <a:latin typeface="DejaVu Sans"/>
                <a:ea typeface="DejaVu Sans"/>
              </a:rPr>
              <a:t>(score) and 82% (combined).</a:t>
            </a:r>
            <a:endParaRPr lang="en-US" sz="1280" b="0" u="none" strike="noStrike">
              <a:solidFill>
                <a:srgbClr val="FFFFFF"/>
              </a:solidFill>
              <a:effectLst/>
              <a:uFillTx/>
              <a:latin typeface="Arial"/>
            </a:endParaRPr>
          </a:p>
        </p:txBody>
      </p:sp>
      <p:sp>
        <p:nvSpPr>
          <p:cNvPr id="378" name="Complement caution"/>
          <p:cNvSpPr/>
          <p:nvPr/>
        </p:nvSpPr>
        <p:spPr>
          <a:xfrm>
            <a:off x="6238800" y="5315040"/>
            <a:ext cx="5285880" cy="4759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200" b="0" u="none" strike="noStrike">
                <a:solidFill>
                  <a:srgbClr val="9CB0C3"/>
                </a:solidFill>
                <a:effectLst/>
                <a:uFillTx/>
                <a:latin typeface="DejaVu Sans"/>
                <a:ea typeface="DejaVu Sans"/>
              </a:rPr>
              <a:t>No-shift 20-sample alarm rate: 21–26%.</a:t>
            </a:r>
            <a:endParaRPr lang="en-US" sz="1200" b="0" u="none" strike="noStrike">
              <a:solidFill>
                <a:srgbClr val="FFFFFF"/>
              </a:solidFill>
              <a:effectLst/>
              <a:uFillTx/>
              <a:latin typeface="Arial"/>
            </a:endParaRPr>
          </a:p>
          <a:p>
            <a:pPr defTabSz="914400">
              <a:lnSpc>
                <a:spcPct val="100000"/>
              </a:lnSpc>
            </a:pPr>
            <a:r>
              <a:rPr lang="en-US" sz="1200" b="0" u="none" strike="noStrike">
                <a:solidFill>
                  <a:srgbClr val="9CB0C3"/>
                </a:solidFill>
                <a:effectLst/>
                <a:uFillTx/>
                <a:latin typeface="DejaVu Sans"/>
                <a:ea typeface="DejaVu Sans"/>
              </a:rPr>
              <a:t>Per-sample false-alarm rate: about 1%.</a:t>
            </a:r>
            <a:endParaRPr lang="en-US" sz="1200" b="0" u="none" strike="noStrike">
              <a:solidFill>
                <a:srgbClr val="FFFFFF"/>
              </a:solidFill>
              <a:effectLst/>
              <a:uFillTx/>
              <a:latin typeface="Arial"/>
            </a:endParaRPr>
          </a:p>
        </p:txBody>
      </p:sp>
      <p:sp>
        <p:nvSpPr>
          <p:cNvPr id="379" name="Verification status"/>
          <p:cNvSpPr/>
          <p:nvPr/>
        </p:nvSpPr>
        <p:spPr>
          <a:xfrm>
            <a:off x="609480" y="6058080"/>
            <a:ext cx="10858320" cy="2664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200" b="0" u="none" strike="noStrike">
                <a:solidFill>
                  <a:srgbClr val="F5B942"/>
                </a:solidFill>
                <a:effectLst/>
                <a:uFillTx/>
                <a:latin typeface="DejaVu Sans"/>
                <a:ea typeface="DejaVu Sans"/>
              </a:rPr>
              <a:t>CI at 2a8d20b: 255 passed, 1 failed. Homepage test expects /diethe; route is /results/diethe.</a:t>
            </a:r>
            <a:endParaRPr lang="en-US" sz="1200" b="0" u="none" strike="noStrike">
              <a:solidFill>
                <a:srgbClr val="FFFFFF"/>
              </a:solidFill>
              <a:effectLst/>
              <a:uFillTx/>
              <a:latin typeface="Arial"/>
            </a:endParaRPr>
          </a:p>
        </p:txBody>
      </p:sp>
      <p:graphicFrame>
        <p:nvGraphicFramePr>
          <p:cNvPr id="380" name="Table 35"/>
          <p:cNvGraphicFramePr/>
          <p:nvPr/>
        </p:nvGraphicFramePr>
        <p:xfrm>
          <a:off x="609480" y="2647800"/>
          <a:ext cx="4762080" cy="1428480"/>
        </p:xfrm>
        <a:graphic>
          <a:graphicData uri="http://schemas.openxmlformats.org/drawingml/2006/table">
            <a:tbl>
              <a:tblPr/>
              <a:tblGrid>
                <a:gridCol w="1238040"/>
                <a:gridCol w="1714320"/>
                <a:gridCol w="1809720"/>
              </a:tblGrid>
              <a:tr h="475920">
                <a:tc>
                  <a:txBody>
                    <a:bodyPr anchor="t">
                      <a:noAutofit/>
                    </a:bodyPr>
                    <a:p>
                      <a:pPr>
                        <a:lnSpc>
                          <a:spcPct val="100000"/>
                        </a:lnSpc>
                      </a:pPr>
                      <a:r>
                        <a:rPr lang="en-US" sz="1280" b="1" u="none" strike="noStrike">
                          <a:solidFill>
                            <a:srgbClr val="2DD4BF"/>
                          </a:solidFill>
                          <a:effectLst/>
                          <a:uFillTx/>
                          <a:latin typeface="DejaVu Sans"/>
                          <a:ea typeface="DejaVu Sans"/>
                        </a:rPr>
                        <a:t>Dataset</a:t>
                      </a:r>
                      <a:endParaRPr lang="en-US" sz="128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22B3E"/>
                    </a:solidFill>
                  </a:tcPr>
                </a:tc>
                <a:tc>
                  <a:txBody>
                    <a:bodyPr anchor="t">
                      <a:noAutofit/>
                    </a:bodyPr>
                    <a:p>
                      <a:pPr>
                        <a:lnSpc>
                          <a:spcPct val="100000"/>
                        </a:lnSpc>
                      </a:pPr>
                      <a:r>
                        <a:rPr lang="en-US" sz="1280" b="1" u="none" strike="noStrike">
                          <a:solidFill>
                            <a:srgbClr val="2DD4BF"/>
                          </a:solidFill>
                          <a:effectLst/>
                          <a:uFillTx/>
                          <a:latin typeface="DejaVu Sans"/>
                          <a:ea typeface="DejaVu Sans"/>
                        </a:rPr>
                        <a:t>Single SVM</a:t>
                      </a:r>
                      <a:endParaRPr lang="en-US" sz="128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22B3E"/>
                    </a:solidFill>
                  </a:tcPr>
                </a:tc>
                <a:tc>
                  <a:txBody>
                    <a:bodyPr anchor="t">
                      <a:noAutofit/>
                    </a:bodyPr>
                    <a:p>
                      <a:pPr>
                        <a:lnSpc>
                          <a:spcPct val="100000"/>
                        </a:lnSpc>
                      </a:pPr>
                      <a:r>
                        <a:rPr lang="en-US" sz="1280" b="1" u="none" strike="noStrike">
                          <a:solidFill>
                            <a:srgbClr val="2DD4BF"/>
                          </a:solidFill>
                          <a:effectLst/>
                          <a:uFillTx/>
                          <a:latin typeface="DejaVu Sans"/>
                          <a:ea typeface="DejaVu Sans"/>
                        </a:rPr>
                        <a:t>Bagged SVM</a:t>
                      </a:r>
                      <a:endParaRPr lang="en-US" sz="128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22B3E"/>
                    </a:solidFill>
                  </a:tcPr>
                </a:tc>
              </a:tr>
              <a:tr h="475920">
                <a:tc>
                  <a:txBody>
                    <a:bodyPr anchor="t">
                      <a:noAutofit/>
                    </a:bodyPr>
                    <a:p>
                      <a:pPr>
                        <a:lnSpc>
                          <a:spcPct val="100000"/>
                        </a:lnSpc>
                      </a:pPr>
                      <a:r>
                        <a:rPr lang="en-US" sz="1280" b="0" u="none" strike="noStrike">
                          <a:solidFill>
                            <a:srgbClr val="EAF2F8"/>
                          </a:solidFill>
                          <a:effectLst/>
                          <a:uFillTx/>
                          <a:latin typeface="DejaVu Sans"/>
                          <a:ea typeface="DejaVu Sans"/>
                        </a:rPr>
                        <a:t>2A</a:t>
                      </a:r>
                      <a:endParaRPr lang="en-US" sz="128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1D2C"/>
                    </a:solidFill>
                  </a:tcPr>
                </a:tc>
                <a:tc>
                  <a:txBody>
                    <a:bodyPr anchor="t">
                      <a:noAutofit/>
                    </a:bodyPr>
                    <a:p>
                      <a:pPr>
                        <a:lnSpc>
                          <a:spcPct val="100000"/>
                        </a:lnSpc>
                      </a:pPr>
                      <a:r>
                        <a:rPr lang="en-US" sz="1280" b="0" u="none" strike="noStrike">
                          <a:solidFill>
                            <a:srgbClr val="EAF2F8"/>
                          </a:solidFill>
                          <a:effectLst/>
                          <a:uFillTx/>
                          <a:latin typeface="DejaVu Sans"/>
                          <a:ea typeface="DejaVu Sans"/>
                        </a:rPr>
                        <a:t>76.00%</a:t>
                      </a:r>
                      <a:endParaRPr lang="en-US" sz="128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1D2C"/>
                    </a:solidFill>
                  </a:tcPr>
                </a:tc>
                <a:tc>
                  <a:txBody>
                    <a:bodyPr anchor="t">
                      <a:noAutofit/>
                    </a:bodyPr>
                    <a:p>
                      <a:pPr>
                        <a:lnSpc>
                          <a:spcPct val="100000"/>
                        </a:lnSpc>
                      </a:pPr>
                      <a:r>
                        <a:rPr lang="en-US" sz="1280" b="0" u="none" strike="noStrike">
                          <a:solidFill>
                            <a:srgbClr val="EAF2F8"/>
                          </a:solidFill>
                          <a:effectLst/>
                          <a:uFillTx/>
                          <a:latin typeface="DejaVu Sans"/>
                          <a:ea typeface="DejaVu Sans"/>
                        </a:rPr>
                        <a:t>75.85%</a:t>
                      </a:r>
                      <a:endParaRPr lang="en-US" sz="128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1D2C"/>
                    </a:solidFill>
                  </a:tcPr>
                </a:tc>
              </a:tr>
              <a:tr h="475920">
                <a:tc>
                  <a:txBody>
                    <a:bodyPr anchor="t">
                      <a:noAutofit/>
                    </a:bodyPr>
                    <a:p>
                      <a:pPr>
                        <a:lnSpc>
                          <a:spcPct val="100000"/>
                        </a:lnSpc>
                      </a:pPr>
                      <a:r>
                        <a:rPr lang="en-US" sz="1280" b="0" u="none" strike="noStrike">
                          <a:solidFill>
                            <a:srgbClr val="EAF2F8"/>
                          </a:solidFill>
                          <a:effectLst/>
                          <a:uFillTx/>
                          <a:latin typeface="DejaVu Sans"/>
                          <a:ea typeface="DejaVu Sans"/>
                        </a:rPr>
                        <a:t>2B</a:t>
                      </a:r>
                      <a:endParaRPr lang="en-US" sz="128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1D2C"/>
                    </a:solidFill>
                  </a:tcPr>
                </a:tc>
                <a:tc>
                  <a:txBody>
                    <a:bodyPr anchor="t">
                      <a:noAutofit/>
                    </a:bodyPr>
                    <a:p>
                      <a:pPr>
                        <a:lnSpc>
                          <a:spcPct val="100000"/>
                        </a:lnSpc>
                      </a:pPr>
                      <a:r>
                        <a:rPr lang="en-US" sz="1280" b="0" u="none" strike="noStrike">
                          <a:solidFill>
                            <a:srgbClr val="EAF2F8"/>
                          </a:solidFill>
                          <a:effectLst/>
                          <a:uFillTx/>
                          <a:latin typeface="DejaVu Sans"/>
                          <a:ea typeface="DejaVu Sans"/>
                        </a:rPr>
                        <a:t>74.86%</a:t>
                      </a:r>
                      <a:endParaRPr lang="en-US" sz="128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1D2C"/>
                    </a:solidFill>
                  </a:tcPr>
                </a:tc>
                <a:tc>
                  <a:txBody>
                    <a:bodyPr anchor="t">
                      <a:noAutofit/>
                    </a:bodyPr>
                    <a:p>
                      <a:pPr>
                        <a:lnSpc>
                          <a:spcPct val="100000"/>
                        </a:lnSpc>
                      </a:pPr>
                      <a:r>
                        <a:rPr lang="en-US" sz="1280" b="0" u="none" strike="noStrike">
                          <a:solidFill>
                            <a:srgbClr val="EAF2F8"/>
                          </a:solidFill>
                          <a:effectLst/>
                          <a:uFillTx/>
                          <a:latin typeface="DejaVu Sans"/>
                          <a:ea typeface="DejaVu Sans"/>
                        </a:rPr>
                        <a:t>75.42%</a:t>
                      </a:r>
                      <a:endParaRPr lang="en-US" sz="128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1D2C"/>
                    </a:solidFill>
                  </a:tcPr>
                </a:tc>
              </a:tr>
            </a:tbl>
          </a:graphicData>
        </a:graphic>
      </p:graphicFrame>
      <p:graphicFrame>
        <p:nvGraphicFramePr>
          <p:cNvPr id="381" name="Table 36"/>
          <p:cNvGraphicFramePr/>
          <p:nvPr/>
        </p:nvGraphicFramePr>
        <p:xfrm>
          <a:off x="6238800" y="2647800"/>
          <a:ext cx="5285880" cy="1904760"/>
        </p:xfrm>
        <a:graphic>
          <a:graphicData uri="http://schemas.openxmlformats.org/drawingml/2006/table">
            <a:tbl>
              <a:tblPr/>
              <a:tblGrid>
                <a:gridCol w="1095120"/>
                <a:gridCol w="1190520"/>
                <a:gridCol w="1428480"/>
                <a:gridCol w="1571400"/>
              </a:tblGrid>
              <a:tr h="475920">
                <a:tc>
                  <a:txBody>
                    <a:bodyPr anchor="t">
                      <a:noAutofit/>
                    </a:bodyPr>
                    <a:p>
                      <a:pPr>
                        <a:lnSpc>
                          <a:spcPct val="100000"/>
                        </a:lnSpc>
                      </a:pPr>
                      <a:r>
                        <a:rPr lang="en-US" sz="1280" b="1" u="none" strike="noStrike">
                          <a:solidFill>
                            <a:srgbClr val="2DD4BF"/>
                          </a:solidFill>
                          <a:effectLst/>
                          <a:uFillTx/>
                          <a:latin typeface="DejaVu Sans"/>
                          <a:ea typeface="DejaVu Sans"/>
                        </a:rPr>
                        <a:t>Shift</a:t>
                      </a:r>
                      <a:endParaRPr lang="en-US" sz="128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22B3E"/>
                    </a:solidFill>
                  </a:tcPr>
                </a:tc>
                <a:tc>
                  <a:txBody>
                    <a:bodyPr anchor="t">
                      <a:noAutofit/>
                    </a:bodyPr>
                    <a:p>
                      <a:pPr>
                        <a:lnSpc>
                          <a:spcPct val="100000"/>
                        </a:lnSpc>
                      </a:pPr>
                      <a:r>
                        <a:rPr lang="en-US" sz="1280" b="1" u="none" strike="noStrike">
                          <a:solidFill>
                            <a:srgbClr val="2DD4BF"/>
                          </a:solidFill>
                          <a:effectLst/>
                          <a:uFillTx/>
                          <a:latin typeface="DejaVu Sans"/>
                          <a:ea typeface="DejaVu Sans"/>
                        </a:rPr>
                        <a:t>Score</a:t>
                      </a:r>
                      <a:endParaRPr lang="en-US" sz="128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22B3E"/>
                    </a:solidFill>
                  </a:tcPr>
                </a:tc>
                <a:tc>
                  <a:txBody>
                    <a:bodyPr anchor="t">
                      <a:noAutofit/>
                    </a:bodyPr>
                    <a:p>
                      <a:pPr>
                        <a:lnSpc>
                          <a:spcPct val="100000"/>
                        </a:lnSpc>
                      </a:pPr>
                      <a:r>
                        <a:rPr lang="en-US" sz="1280" b="1" u="none" strike="noStrike">
                          <a:solidFill>
                            <a:srgbClr val="2DD4BF"/>
                          </a:solidFill>
                          <a:effectLst/>
                          <a:uFillTx/>
                          <a:latin typeface="DejaVu Sans"/>
                          <a:ea typeface="DejaVu Sans"/>
                        </a:rPr>
                        <a:t>Residual</a:t>
                      </a:r>
                      <a:endParaRPr lang="en-US" sz="128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22B3E"/>
                    </a:solidFill>
                  </a:tcPr>
                </a:tc>
                <a:tc>
                  <a:txBody>
                    <a:bodyPr anchor="t">
                      <a:noAutofit/>
                    </a:bodyPr>
                    <a:p>
                      <a:pPr>
                        <a:lnSpc>
                          <a:spcPct val="100000"/>
                        </a:lnSpc>
                      </a:pPr>
                      <a:r>
                        <a:rPr lang="en-US" sz="1280" b="1" u="none" strike="noStrike">
                          <a:solidFill>
                            <a:srgbClr val="2DD4BF"/>
                          </a:solidFill>
                          <a:effectLst/>
                          <a:uFillTx/>
                          <a:latin typeface="DejaVu Sans"/>
                          <a:ea typeface="DejaVu Sans"/>
                        </a:rPr>
                        <a:t>Combined</a:t>
                      </a:r>
                      <a:endParaRPr lang="en-US" sz="128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22B3E"/>
                    </a:solidFill>
                  </a:tcPr>
                </a:tc>
              </a:tr>
              <a:tr h="475920">
                <a:tc>
                  <a:txBody>
                    <a:bodyPr anchor="t">
                      <a:noAutofit/>
                    </a:bodyPr>
                    <a:p>
                      <a:pPr>
                        <a:lnSpc>
                          <a:spcPct val="100000"/>
                        </a:lnSpc>
                      </a:pPr>
                      <a:r>
                        <a:rPr lang="en-US" sz="1280" b="0" u="none" strike="noStrike">
                          <a:solidFill>
                            <a:srgbClr val="EAF2F8"/>
                          </a:solidFill>
                          <a:effectLst/>
                          <a:uFillTx/>
                          <a:latin typeface="DejaVu Sans"/>
                          <a:ea typeface="DejaVu Sans"/>
                        </a:rPr>
                        <a:t>PC1</a:t>
                      </a:r>
                      <a:endParaRPr lang="en-US" sz="128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1D2C"/>
                    </a:solidFill>
                  </a:tcPr>
                </a:tc>
                <a:tc>
                  <a:txBody>
                    <a:bodyPr anchor="t">
                      <a:noAutofit/>
                    </a:bodyPr>
                    <a:p>
                      <a:pPr>
                        <a:lnSpc>
                          <a:spcPct val="100000"/>
                        </a:lnSpc>
                      </a:pPr>
                      <a:r>
                        <a:rPr lang="en-US" sz="1280" b="0" u="none" strike="noStrike">
                          <a:solidFill>
                            <a:srgbClr val="EAF2F8"/>
                          </a:solidFill>
                          <a:effectLst/>
                          <a:uFillTx/>
                          <a:latin typeface="DejaVu Sans"/>
                          <a:ea typeface="DejaVu Sans"/>
                        </a:rPr>
                        <a:t>35%</a:t>
                      </a:r>
                      <a:endParaRPr lang="en-US" sz="128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1D2C"/>
                    </a:solidFill>
                  </a:tcPr>
                </a:tc>
                <a:tc>
                  <a:txBody>
                    <a:bodyPr anchor="t">
                      <a:noAutofit/>
                    </a:bodyPr>
                    <a:p>
                      <a:pPr>
                        <a:lnSpc>
                          <a:spcPct val="100000"/>
                        </a:lnSpc>
                      </a:pPr>
                      <a:r>
                        <a:rPr lang="en-US" sz="1280" b="0" u="none" strike="noStrike">
                          <a:solidFill>
                            <a:srgbClr val="EAF2F8"/>
                          </a:solidFill>
                          <a:effectLst/>
                          <a:uFillTx/>
                          <a:latin typeface="DejaVu Sans"/>
                          <a:ea typeface="DejaVu Sans"/>
                        </a:rPr>
                        <a:t>21%</a:t>
                      </a:r>
                      <a:endParaRPr lang="en-US" sz="128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1D2C"/>
                    </a:solidFill>
                  </a:tcPr>
                </a:tc>
                <a:tc>
                  <a:txBody>
                    <a:bodyPr anchor="t">
                      <a:noAutofit/>
                    </a:bodyPr>
                    <a:p>
                      <a:pPr>
                        <a:lnSpc>
                          <a:spcPct val="100000"/>
                        </a:lnSpc>
                      </a:pPr>
                      <a:r>
                        <a:rPr lang="en-US" sz="1280" b="0" u="none" strike="noStrike">
                          <a:solidFill>
                            <a:srgbClr val="EAF2F8"/>
                          </a:solidFill>
                          <a:effectLst/>
                          <a:uFillTx/>
                          <a:latin typeface="DejaVu Sans"/>
                          <a:ea typeface="DejaVu Sans"/>
                        </a:rPr>
                        <a:t>31%</a:t>
                      </a:r>
                      <a:endParaRPr lang="en-US" sz="128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1D2C"/>
                    </a:solidFill>
                  </a:tcPr>
                </a:tc>
              </a:tr>
              <a:tr h="475920">
                <a:tc>
                  <a:txBody>
                    <a:bodyPr anchor="t">
                      <a:noAutofit/>
                    </a:bodyPr>
                    <a:p>
                      <a:pPr>
                        <a:lnSpc>
                          <a:spcPct val="100000"/>
                        </a:lnSpc>
                      </a:pPr>
                      <a:r>
                        <a:rPr lang="en-US" sz="1280" b="0" u="none" strike="noStrike">
                          <a:solidFill>
                            <a:srgbClr val="EAF2F8"/>
                          </a:solidFill>
                          <a:effectLst/>
                          <a:uFillTx/>
                          <a:latin typeface="DejaVu Sans"/>
                          <a:ea typeface="DejaVu Sans"/>
                        </a:rPr>
                        <a:t>PC2</a:t>
                      </a:r>
                      <a:endParaRPr lang="en-US" sz="128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1D2C"/>
                    </a:solidFill>
                  </a:tcPr>
                </a:tc>
                <a:tc>
                  <a:txBody>
                    <a:bodyPr anchor="t">
                      <a:noAutofit/>
                    </a:bodyPr>
                    <a:p>
                      <a:pPr>
                        <a:lnSpc>
                          <a:spcPct val="100000"/>
                        </a:lnSpc>
                      </a:pPr>
                      <a:r>
                        <a:rPr lang="en-US" sz="1280" b="0" u="none" strike="noStrike">
                          <a:solidFill>
                            <a:srgbClr val="EAF2F8"/>
                          </a:solidFill>
                          <a:effectLst/>
                          <a:uFillTx/>
                          <a:latin typeface="DejaVu Sans"/>
                          <a:ea typeface="DejaVu Sans"/>
                        </a:rPr>
                        <a:t>21%</a:t>
                      </a:r>
                      <a:endParaRPr lang="en-US" sz="128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1D2C"/>
                    </a:solidFill>
                  </a:tcPr>
                </a:tc>
                <a:tc>
                  <a:txBody>
                    <a:bodyPr anchor="t">
                      <a:noAutofit/>
                    </a:bodyPr>
                    <a:p>
                      <a:pPr>
                        <a:lnSpc>
                          <a:spcPct val="100000"/>
                        </a:lnSpc>
                      </a:pPr>
                      <a:r>
                        <a:rPr lang="en-US" sz="1280" b="0" u="none" strike="noStrike">
                          <a:solidFill>
                            <a:srgbClr val="EAF2F8"/>
                          </a:solidFill>
                          <a:effectLst/>
                          <a:uFillTx/>
                          <a:latin typeface="DejaVu Sans"/>
                          <a:ea typeface="DejaVu Sans"/>
                        </a:rPr>
                        <a:t>100%</a:t>
                      </a:r>
                      <a:endParaRPr lang="en-US" sz="128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1D2C"/>
                    </a:solidFill>
                  </a:tcPr>
                </a:tc>
                <a:tc>
                  <a:txBody>
                    <a:bodyPr anchor="t">
                      <a:noAutofit/>
                    </a:bodyPr>
                    <a:p>
                      <a:pPr>
                        <a:lnSpc>
                          <a:spcPct val="100000"/>
                        </a:lnSpc>
                      </a:pPr>
                      <a:r>
                        <a:rPr lang="en-US" sz="1280" b="0" u="none" strike="noStrike">
                          <a:solidFill>
                            <a:srgbClr val="EAF2F8"/>
                          </a:solidFill>
                          <a:effectLst/>
                          <a:uFillTx/>
                          <a:latin typeface="DejaVu Sans"/>
                          <a:ea typeface="DejaVu Sans"/>
                        </a:rPr>
                        <a:t>100%</a:t>
                      </a:r>
                      <a:endParaRPr lang="en-US" sz="128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1D2C"/>
                    </a:solidFill>
                  </a:tcPr>
                </a:tc>
              </a:tr>
              <a:tr h="475920">
                <a:tc>
                  <a:txBody>
                    <a:bodyPr anchor="t">
                      <a:noAutofit/>
                    </a:bodyPr>
                    <a:p>
                      <a:pPr>
                        <a:lnSpc>
                          <a:spcPct val="100000"/>
                        </a:lnSpc>
                      </a:pPr>
                      <a:r>
                        <a:rPr lang="en-US" sz="1280" b="0" u="none" strike="noStrike">
                          <a:solidFill>
                            <a:srgbClr val="EAF2F8"/>
                          </a:solidFill>
                          <a:effectLst/>
                          <a:uFillTx/>
                          <a:latin typeface="DejaVu Sans"/>
                          <a:ea typeface="DejaVu Sans"/>
                        </a:rPr>
                        <a:t>Both</a:t>
                      </a:r>
                      <a:endParaRPr lang="en-US" sz="128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1D2C"/>
                    </a:solidFill>
                  </a:tcPr>
                </a:tc>
                <a:tc>
                  <a:txBody>
                    <a:bodyPr anchor="t">
                      <a:noAutofit/>
                    </a:bodyPr>
                    <a:p>
                      <a:pPr>
                        <a:lnSpc>
                          <a:spcPct val="100000"/>
                        </a:lnSpc>
                      </a:pPr>
                      <a:r>
                        <a:rPr lang="en-US" sz="1280" b="0" u="none" strike="noStrike">
                          <a:solidFill>
                            <a:srgbClr val="EAF2F8"/>
                          </a:solidFill>
                          <a:effectLst/>
                          <a:uFillTx/>
                          <a:latin typeface="DejaVu Sans"/>
                          <a:ea typeface="DejaVu Sans"/>
                        </a:rPr>
                        <a:t>26%</a:t>
                      </a:r>
                      <a:endParaRPr lang="en-US" sz="128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1D2C"/>
                    </a:solidFill>
                  </a:tcPr>
                </a:tc>
                <a:tc>
                  <a:txBody>
                    <a:bodyPr anchor="t">
                      <a:noAutofit/>
                    </a:bodyPr>
                    <a:p>
                      <a:pPr>
                        <a:lnSpc>
                          <a:spcPct val="100000"/>
                        </a:lnSpc>
                      </a:pPr>
                      <a:r>
                        <a:rPr lang="en-US" sz="1280" b="0" u="none" strike="noStrike">
                          <a:solidFill>
                            <a:srgbClr val="EAF2F8"/>
                          </a:solidFill>
                          <a:effectLst/>
                          <a:uFillTx/>
                          <a:latin typeface="DejaVu Sans"/>
                          <a:ea typeface="DejaVu Sans"/>
                        </a:rPr>
                        <a:t>100%</a:t>
                      </a:r>
                      <a:endParaRPr lang="en-US" sz="128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1D2C"/>
                    </a:solidFill>
                  </a:tcPr>
                </a:tc>
                <a:tc>
                  <a:txBody>
                    <a:bodyPr anchor="t">
                      <a:noAutofit/>
                    </a:bodyPr>
                    <a:p>
                      <a:pPr>
                        <a:lnSpc>
                          <a:spcPct val="100000"/>
                        </a:lnSpc>
                      </a:pPr>
                      <a:r>
                        <a:rPr lang="en-US" sz="1280" b="0" u="none" strike="noStrike">
                          <a:solidFill>
                            <a:srgbClr val="EAF2F8"/>
                          </a:solidFill>
                          <a:effectLst/>
                          <a:uFillTx/>
                          <a:latin typeface="DejaVu Sans"/>
                          <a:ea typeface="DejaVu Sans"/>
                        </a:rPr>
                        <a:t>99%</a:t>
                      </a:r>
                      <a:endParaRPr lang="en-US" sz="128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1D2C"/>
                    </a:solidFill>
                  </a:tcPr>
                </a:tc>
              </a:tr>
            </a:tbl>
          </a:graphicData>
        </a:graphic>
      </p:graphicFrame>
      <p:sp>
        <p:nvSpPr>
          <p:cNvPr id="382" name="Rounded Rectangle 37"/>
          <p:cNvSpPr/>
          <p:nvPr/>
        </p:nvSpPr>
        <p:spPr>
          <a:xfrm>
            <a:off x="8732520" y="5779080"/>
            <a:ext cx="2541600" cy="228240"/>
          </a:xfrm>
          <a:prstGeom prst="roundRect">
            <a:avLst>
              <a:gd name="adj" fmla="val 16667"/>
            </a:avLst>
          </a:prstGeom>
          <a:solidFill>
            <a:srgbClr val="071422"/>
          </a:solidFill>
          <a:ln>
            <a:solidFill>
              <a:srgbClr val="1DE7D5"/>
            </a:solidFill>
            <a:round/>
          </a:ln>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pic>
        <p:nvPicPr>
          <p:cNvPr id="383" name="Picture 39" descr="formula_relation.png"/>
          <p:cNvPicPr/>
          <p:nvPr/>
        </p:nvPicPr>
        <p:blipFill>
          <a:blip r:embed="rId1"/>
          <a:stretch/>
        </p:blipFill>
        <p:spPr>
          <a:xfrm>
            <a:off x="9857160" y="5825880"/>
            <a:ext cx="609480" cy="166320"/>
          </a:xfrm>
          <a:prstGeom prst="rect">
            <a:avLst/>
          </a:prstGeom>
          <a:noFill/>
          <a:ln w="0">
            <a:noFill/>
          </a:ln>
        </p:spPr>
      </p:pic>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9121F"/>
        </a:solidFill>
      </p:bgPr>
    </p:bg>
    <p:spTree>
      <p:nvGrpSpPr>
        <p:cNvPr id="1" name=""/>
        <p:cNvGrpSpPr/>
        <p:nvPr/>
      </p:nvGrpSpPr>
      <p:grpSpPr>
        <a:xfrm>
          <a:off x="0" y="0"/>
          <a:ext cx="0" cy="0"/>
          <a:chOff x="0" y="0"/>
          <a:chExt cx="0" cy="0"/>
        </a:xfrm>
      </p:grpSpPr>
      <p:sp>
        <p:nvSpPr>
          <p:cNvPr id="384" name="TextBox 1"/>
          <p:cNvSpPr/>
          <p:nvPr/>
        </p:nvSpPr>
        <p:spPr>
          <a:xfrm>
            <a:off x="612720" y="292680"/>
            <a:ext cx="10972440" cy="2923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1300" b="1" u="none" strike="noStrike">
                <a:solidFill>
                  <a:srgbClr val="78D8CC"/>
                </a:solidFill>
                <a:effectLst/>
                <a:uFillTx/>
                <a:latin typeface="DejaVu Sans"/>
                <a:ea typeface="Calibri"/>
              </a:rPr>
              <a:t>REPRODUCTION EVIDENCE</a:t>
            </a:r>
            <a:endParaRPr lang="en-US" sz="1300" b="0" u="none" strike="noStrike">
              <a:solidFill>
                <a:srgbClr val="FFFFFF"/>
              </a:solidFill>
              <a:effectLst/>
              <a:uFillTx/>
              <a:latin typeface="Arial"/>
            </a:endParaRPr>
          </a:p>
        </p:txBody>
      </p:sp>
      <p:sp>
        <p:nvSpPr>
          <p:cNvPr id="385" name="TextBox 2"/>
          <p:cNvSpPr/>
          <p:nvPr/>
        </p:nvSpPr>
        <p:spPr>
          <a:xfrm>
            <a:off x="612720" y="777240"/>
            <a:ext cx="10972440" cy="6397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2700" b="1" u="none" strike="noStrike">
                <a:solidFill>
                  <a:srgbClr val="EAF2F8"/>
                </a:solidFill>
                <a:effectLst/>
                <a:uFillTx/>
                <a:latin typeface="DejaVu Sans"/>
                <a:ea typeface="Calibri"/>
              </a:rPr>
              <a:t>B01: two saved runs give different validation totals</a:t>
            </a:r>
            <a:endParaRPr lang="en-US" sz="2700" b="0" u="none" strike="noStrike">
              <a:solidFill>
                <a:srgbClr val="FFFFFF"/>
              </a:solidFill>
              <a:effectLst/>
              <a:uFillTx/>
              <a:latin typeface="Arial"/>
            </a:endParaRPr>
          </a:p>
        </p:txBody>
      </p:sp>
      <p:sp>
        <p:nvSpPr>
          <p:cNvPr id="386" name="TextBox 3"/>
          <p:cNvSpPr/>
          <p:nvPr/>
        </p:nvSpPr>
        <p:spPr>
          <a:xfrm>
            <a:off x="612720" y="6053400"/>
            <a:ext cx="10972440" cy="32868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1100" b="0" u="none" strike="noStrike">
                <a:solidFill>
                  <a:srgbClr val="9CB0C3"/>
                </a:solidFill>
                <a:effectLst/>
                <a:uFillTx/>
                <a:latin typeface="DejaVu Sans"/>
                <a:ea typeface="Calibri"/>
              </a:rPr>
              <a:t>Sources: outputs/metrics/bci_2b_table1_results.csv and bci_table1_comparison.csv at 2a8d20b.</a:t>
            </a:r>
            <a:endParaRPr lang="en-US" sz="1100" b="0" u="none" strike="noStrike">
              <a:solidFill>
                <a:srgbClr val="FFFFFF"/>
              </a:solidFill>
              <a:effectLst/>
              <a:uFillTx/>
              <a:latin typeface="Arial"/>
            </a:endParaRPr>
          </a:p>
        </p:txBody>
      </p:sp>
      <p:sp>
        <p:nvSpPr>
          <p:cNvPr id="387" name="TextBox 4"/>
          <p:cNvSpPr/>
          <p:nvPr/>
        </p:nvSpPr>
        <p:spPr>
          <a:xfrm>
            <a:off x="612720" y="6510600"/>
            <a:ext cx="9143640" cy="1825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800" b="0" u="none" strike="noStrike">
                <a:solidFill>
                  <a:srgbClr val="9CB0C3"/>
                </a:solidFill>
                <a:effectLst/>
                <a:uFillTx/>
                <a:latin typeface="DejaVu Sans"/>
                <a:ea typeface="Calibri"/>
              </a:rPr>
              <a:t>hlin863/ewma_covariate_shift_demo</a:t>
            </a:r>
            <a:endParaRPr lang="en-US" sz="800" b="0" u="none" strike="noStrike">
              <a:solidFill>
                <a:srgbClr val="FFFFFF"/>
              </a:solidFill>
              <a:effectLst/>
              <a:uFillTx/>
              <a:latin typeface="Arial"/>
            </a:endParaRPr>
          </a:p>
        </p:txBody>
      </p:sp>
      <p:graphicFrame>
        <p:nvGraphicFramePr>
          <p:cNvPr id="388" name="Table 5"/>
          <p:cNvGraphicFramePr/>
          <p:nvPr/>
        </p:nvGraphicFramePr>
        <p:xfrm>
          <a:off x="685800" y="1783080"/>
          <a:ext cx="10789560" cy="2442960"/>
        </p:xfrm>
        <a:graphic>
          <a:graphicData uri="http://schemas.openxmlformats.org/drawingml/2006/table">
            <a:tbl>
              <a:tblPr/>
              <a:tblGrid>
                <a:gridCol w="6400800"/>
                <a:gridCol w="2194560"/>
                <a:gridCol w="2194560"/>
              </a:tblGrid>
              <a:tr h="571320">
                <a:tc>
                  <a:txBody>
                    <a:bodyPr lIns="109440" tIns="73080" anchor="t">
                      <a:noAutofit/>
                    </a:bodyPr>
                    <a:p>
                      <a:pPr>
                        <a:lnSpc>
                          <a:spcPct val="100000"/>
                        </a:lnSpc>
                      </a:pPr>
                      <a:r>
                        <a:rPr lang="en-US" sz="2000" b="1" u="none" strike="noStrike">
                          <a:solidFill>
                            <a:srgbClr val="78D8CC"/>
                          </a:solidFill>
                          <a:effectLst/>
                          <a:uFillTx/>
                          <a:latin typeface="DejaVu Sans"/>
                          <a:ea typeface="Calibri"/>
                        </a:rPr>
                        <a:t>B01 evidence</a:t>
                      </a:r>
                      <a:endParaRPr lang="en-US" sz="20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142838"/>
                    </a:solidFill>
                  </a:tcPr>
                </a:tc>
                <a:tc>
                  <a:txBody>
                    <a:bodyPr lIns="109440" tIns="73080" anchor="t">
                      <a:noAutofit/>
                    </a:bodyPr>
                    <a:p>
                      <a:pPr>
                        <a:lnSpc>
                          <a:spcPct val="100000"/>
                        </a:lnSpc>
                      </a:pPr>
                      <a:r>
                        <a:rPr lang="en-US" sz="2000" b="1" u="none" strike="noStrike">
                          <a:solidFill>
                            <a:srgbClr val="78D8CC"/>
                          </a:solidFill>
                          <a:effectLst/>
                          <a:uFillTx/>
                          <a:latin typeface="DejaVu Sans"/>
                          <a:ea typeface="Calibri"/>
                        </a:rPr>
                        <a:t>Warnings</a:t>
                      </a:r>
                      <a:endParaRPr lang="en-US" sz="20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142838"/>
                    </a:solidFill>
                  </a:tcPr>
                </a:tc>
                <a:tc>
                  <a:txBody>
                    <a:bodyPr lIns="109440" tIns="73080" anchor="t">
                      <a:noAutofit/>
                    </a:bodyPr>
                    <a:p>
                      <a:pPr>
                        <a:lnSpc>
                          <a:spcPct val="100000"/>
                        </a:lnSpc>
                      </a:pPr>
                      <a:r>
                        <a:rPr lang="en-US" sz="2000" b="1" u="none" strike="noStrike">
                          <a:solidFill>
                            <a:srgbClr val="78D8CC"/>
                          </a:solidFill>
                          <a:effectLst/>
                          <a:uFillTx/>
                          <a:latin typeface="DejaVu Sans"/>
                          <a:ea typeface="Calibri"/>
                        </a:rPr>
                        <a:t>Validated shifts</a:t>
                      </a:r>
                      <a:endParaRPr lang="en-US" sz="20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142838"/>
                    </a:solidFill>
                  </a:tcPr>
                </a:tc>
              </a:tr>
              <a:tr h="571320">
                <a:tc>
                  <a:txBody>
                    <a:bodyPr lIns="109440" tIns="73080" anchor="t">
                      <a:noAutofit/>
                    </a:bodyPr>
                    <a:p>
                      <a:pPr>
                        <a:lnSpc>
                          <a:spcPct val="100000"/>
                        </a:lnSpc>
                      </a:pPr>
                      <a:r>
                        <a:rPr lang="en-US" sz="2000" b="0" u="none" strike="noStrike">
                          <a:solidFill>
                            <a:srgbClr val="EAF2F8"/>
                          </a:solidFill>
                          <a:effectLst/>
                          <a:uFillTx/>
                          <a:latin typeface="DejaVu Sans"/>
                          <a:ea typeface="Calibri"/>
                        </a:rPr>
                        <a:t>Published reference</a:t>
                      </a:r>
                      <a:endParaRPr lang="en-US" sz="20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2000" b="0" u="none" strike="noStrike">
                          <a:solidFill>
                            <a:srgbClr val="EAF2F8"/>
                          </a:solidFill>
                          <a:effectLst/>
                          <a:uFillTx/>
                          <a:latin typeface="DejaVu Sans"/>
                          <a:ea typeface="Calibri"/>
                        </a:rPr>
                        <a:t>14</a:t>
                      </a:r>
                      <a:endParaRPr lang="en-US" sz="20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2000" b="0" u="none" strike="noStrike">
                          <a:solidFill>
                            <a:srgbClr val="EAF2F8"/>
                          </a:solidFill>
                          <a:effectLst/>
                          <a:uFillTx/>
                          <a:latin typeface="DejaVu Sans"/>
                          <a:ea typeface="Calibri"/>
                        </a:rPr>
                        <a:t>10</a:t>
                      </a:r>
                      <a:endParaRPr lang="en-US" sz="20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r h="571320">
                <a:tc>
                  <a:txBody>
                    <a:bodyPr lIns="109440" tIns="73080" anchor="t">
                      <a:noAutofit/>
                    </a:bodyPr>
                    <a:p>
                      <a:pPr>
                        <a:lnSpc>
                          <a:spcPct val="100000"/>
                        </a:lnSpc>
                      </a:pPr>
                      <a:r>
                        <a:rPr lang="en-US" sz="2000" b="0" u="none" strike="noStrike">
                          <a:solidFill>
                            <a:srgbClr val="EAF2F8"/>
                          </a:solidFill>
                          <a:effectLst/>
                          <a:uFillTx/>
                          <a:latin typeface="DejaVu Sans"/>
                          <a:ea typeface="Calibri"/>
                        </a:rPr>
                        <a:t>Standalone diagnostic</a:t>
                      </a:r>
                      <a:endParaRPr lang="en-US" sz="20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2000" b="0" u="none" strike="noStrike">
                          <a:solidFill>
                            <a:srgbClr val="EAF2F8"/>
                          </a:solidFill>
                          <a:effectLst/>
                          <a:uFillTx/>
                          <a:latin typeface="DejaVu Sans"/>
                          <a:ea typeface="Calibri"/>
                        </a:rPr>
                        <a:t>17</a:t>
                      </a:r>
                      <a:endParaRPr lang="en-US" sz="20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2000" b="0" u="none" strike="noStrike">
                          <a:solidFill>
                            <a:srgbClr val="EAF2F8"/>
                          </a:solidFill>
                          <a:effectLst/>
                          <a:uFillTx/>
                          <a:latin typeface="DejaVu Sans"/>
                          <a:ea typeface="Calibri"/>
                        </a:rPr>
                        <a:t>5</a:t>
                      </a:r>
                      <a:endParaRPr lang="en-US" sz="20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r h="571320">
                <a:tc>
                  <a:txBody>
                    <a:bodyPr lIns="109440" tIns="73080" anchor="t">
                      <a:noAutofit/>
                    </a:bodyPr>
                    <a:p>
                      <a:pPr>
                        <a:lnSpc>
                          <a:spcPct val="100000"/>
                        </a:lnSpc>
                      </a:pPr>
                      <a:r>
                        <a:rPr lang="en-US" sz="2000" b="0" u="none" strike="noStrike">
                          <a:solidFill>
                            <a:srgbClr val="EAF2F8"/>
                          </a:solidFill>
                          <a:effectLst/>
                          <a:uFillTx/>
                          <a:latin typeface="DejaVu Sans"/>
                          <a:ea typeface="Calibri"/>
                        </a:rPr>
                        <a:t>Combined Table-I file</a:t>
                      </a:r>
                      <a:endParaRPr lang="en-US" sz="20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2000" b="0" u="none" strike="noStrike">
                          <a:solidFill>
                            <a:srgbClr val="EAF2F8"/>
                          </a:solidFill>
                          <a:effectLst/>
                          <a:uFillTx/>
                          <a:latin typeface="DejaVu Sans"/>
                          <a:ea typeface="Calibri"/>
                        </a:rPr>
                        <a:t>17</a:t>
                      </a:r>
                      <a:endParaRPr lang="en-US" sz="20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2000" b="0" u="none" strike="noStrike">
                          <a:solidFill>
                            <a:srgbClr val="EAF2F8"/>
                          </a:solidFill>
                          <a:effectLst/>
                          <a:uFillTx/>
                          <a:latin typeface="DejaVu Sans"/>
                          <a:ea typeface="Calibri"/>
                        </a:rPr>
                        <a:t>0</a:t>
                      </a:r>
                      <a:endParaRPr lang="en-US" sz="20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bl>
          </a:graphicData>
        </a:graphic>
      </p:graphicFrame>
      <p:sp>
        <p:nvSpPr>
          <p:cNvPr id="389" name="TextBox 6"/>
          <p:cNvSpPr/>
          <p:nvPr/>
        </p:nvSpPr>
        <p:spPr>
          <a:xfrm>
            <a:off x="685800" y="4370760"/>
            <a:ext cx="10789560" cy="36540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2200" b="1" u="none" strike="noStrike">
                <a:solidFill>
                  <a:srgbClr val="78D8CC"/>
                </a:solidFill>
                <a:effectLst/>
                <a:uFillTx/>
                <a:latin typeface="DejaVu Sans"/>
                <a:ea typeface="Calibri"/>
              </a:rPr>
              <a:t>What this means</a:t>
            </a:r>
            <a:endParaRPr lang="en-US" sz="2200" b="0" u="none" strike="noStrike">
              <a:solidFill>
                <a:srgbClr val="FFFFFF"/>
              </a:solidFill>
              <a:effectLst/>
              <a:uFillTx/>
              <a:latin typeface="Arial"/>
            </a:endParaRPr>
          </a:p>
        </p:txBody>
      </p:sp>
      <p:sp>
        <p:nvSpPr>
          <p:cNvPr id="390" name="TextBox 7"/>
          <p:cNvSpPr/>
          <p:nvPr/>
        </p:nvSpPr>
        <p:spPr>
          <a:xfrm>
            <a:off x="685800" y="4809600"/>
            <a:ext cx="10789560" cy="59400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2100" b="0" u="none" strike="noStrike">
                <a:solidFill>
                  <a:srgbClr val="EAF2F8"/>
                </a:solidFill>
                <a:effectLst/>
                <a:uFillTx/>
                <a:latin typeface="DejaVu Sans"/>
                <a:ea typeface="Calibri"/>
              </a:rPr>
              <a:t>Both stored runs differ from the published result. Neither file proves that one run supersedes the other.</a:t>
            </a:r>
            <a:endParaRPr lang="en-US" sz="2100" b="0" u="none" strike="noStrike">
              <a:solidFill>
                <a:srgbClr val="FFFFFF"/>
              </a:solidFill>
              <a:effectLst/>
              <a:uFillTx/>
              <a:latin typeface="Arial"/>
            </a:endParaRPr>
          </a:p>
        </p:txBody>
      </p:sp>
      <p:sp>
        <p:nvSpPr>
          <p:cNvPr id="391" name="TextBox 8"/>
          <p:cNvSpPr/>
          <p:nvPr/>
        </p:nvSpPr>
        <p:spPr>
          <a:xfrm>
            <a:off x="685800" y="5513760"/>
            <a:ext cx="10789560" cy="4111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1700" b="0" u="none" strike="noStrike">
                <a:solidFill>
                  <a:srgbClr val="9CB0C3"/>
                </a:solidFill>
                <a:effectLst/>
                <a:uFillTx/>
                <a:latin typeface="DejaVu Sans"/>
                <a:ea typeface="Calibri"/>
              </a:rPr>
              <a:t>Next: record the Stage-II mode, window settings and generating commit for each run.</a:t>
            </a:r>
            <a:endParaRPr lang="en-US" sz="1700" b="0" u="none" strike="noStrike">
              <a:solidFill>
                <a:srgbClr val="FFFFFF"/>
              </a:solidFill>
              <a:effectLst/>
              <a:uFillTx/>
              <a:latin typeface="Arial"/>
            </a:endParaRPr>
          </a:p>
        </p:txBody>
      </p:sp>
      <p:sp>
        <p:nvSpPr>
          <p:cNvPr id="392" name="TextBox 9"/>
          <p:cNvSpPr/>
          <p:nvPr/>
        </p:nvSpPr>
        <p:spPr>
          <a:xfrm>
            <a:off x="11045880" y="6510600"/>
            <a:ext cx="548280" cy="1825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pPr>
            <a:r>
              <a:rPr lang="en-US" sz="1800" b="0" u="none" strike="noStrike">
                <a:solidFill>
                  <a:srgbClr val="EAF2F8"/>
                </a:solidFill>
                <a:effectLst/>
                <a:uFillTx/>
                <a:latin typeface="Calibri"/>
                <a:ea typeface="Calibri"/>
              </a:rPr>
              <a:t>28</a:t>
            </a:r>
            <a:endParaRPr lang="en-US" sz="1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9121F"/>
        </a:solidFill>
      </p:bgPr>
    </p:bg>
    <p:spTree>
      <p:nvGrpSpPr>
        <p:cNvPr id="1" name=""/>
        <p:cNvGrpSpPr/>
        <p:nvPr/>
      </p:nvGrpSpPr>
      <p:grpSpPr>
        <a:xfrm>
          <a:off x="0" y="0"/>
          <a:ext cx="0" cy="0"/>
          <a:chOff x="0" y="0"/>
          <a:chExt cx="0" cy="0"/>
        </a:xfrm>
      </p:grpSpPr>
      <p:sp>
        <p:nvSpPr>
          <p:cNvPr id="393" name="TextBox 1"/>
          <p:cNvSpPr/>
          <p:nvPr/>
        </p:nvSpPr>
        <p:spPr>
          <a:xfrm>
            <a:off x="612720" y="292680"/>
            <a:ext cx="10972440" cy="2923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1300" b="1" u="none" strike="noStrike">
                <a:solidFill>
                  <a:srgbClr val="78D8CC"/>
                </a:solidFill>
                <a:effectLst/>
                <a:uFillTx/>
                <a:latin typeface="DejaVu Sans"/>
                <a:ea typeface="Calibri"/>
              </a:rPr>
              <a:t>MANUSCRIPT EVIDENCE</a:t>
            </a:r>
            <a:endParaRPr lang="en-US" sz="1300" b="0" u="none" strike="noStrike">
              <a:solidFill>
                <a:srgbClr val="FFFFFF"/>
              </a:solidFill>
              <a:effectLst/>
              <a:uFillTx/>
              <a:latin typeface="Arial"/>
            </a:endParaRPr>
          </a:p>
        </p:txBody>
      </p:sp>
      <p:sp>
        <p:nvSpPr>
          <p:cNvPr id="394" name="TextBox 2"/>
          <p:cNvSpPr/>
          <p:nvPr/>
        </p:nvSpPr>
        <p:spPr>
          <a:xfrm>
            <a:off x="612720" y="777240"/>
            <a:ext cx="10972440" cy="6397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2700" b="1" u="none" strike="noStrike">
                <a:solidFill>
                  <a:srgbClr val="EAF2F8"/>
                </a:solidFill>
                <a:effectLst/>
                <a:uFillTx/>
                <a:latin typeface="DejaVu Sans"/>
                <a:ea typeface="Calibri"/>
              </a:rPr>
              <a:t>Numerical reproduction remains unresolved</a:t>
            </a:r>
            <a:endParaRPr lang="en-US" sz="2700" b="0" u="none" strike="noStrike">
              <a:solidFill>
                <a:srgbClr val="FFFFFF"/>
              </a:solidFill>
              <a:effectLst/>
              <a:uFillTx/>
              <a:latin typeface="Arial"/>
            </a:endParaRPr>
          </a:p>
        </p:txBody>
      </p:sp>
      <p:sp>
        <p:nvSpPr>
          <p:cNvPr id="395" name="TextBox 3"/>
          <p:cNvSpPr/>
          <p:nvPr/>
        </p:nvSpPr>
        <p:spPr>
          <a:xfrm>
            <a:off x="612720" y="6053400"/>
            <a:ext cx="10972440" cy="32868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1100" b="0" u="none" strike="noStrike">
                <a:solidFill>
                  <a:srgbClr val="9CB0C3"/>
                </a:solidFill>
                <a:effectLst/>
                <a:uFillTx/>
                <a:latin typeface="DejaVu Sans"/>
                <a:ea typeface="Calibri"/>
              </a:rPr>
              <a:t>Source: outputs/metrics/bci_table1_comparison.csv at 2a8d20b; means calculated across nine subjects per dataset.</a:t>
            </a:r>
            <a:endParaRPr lang="en-US" sz="1100" b="0" u="none" strike="noStrike">
              <a:solidFill>
                <a:srgbClr val="FFFFFF"/>
              </a:solidFill>
              <a:effectLst/>
              <a:uFillTx/>
              <a:latin typeface="Arial"/>
            </a:endParaRPr>
          </a:p>
        </p:txBody>
      </p:sp>
      <p:sp>
        <p:nvSpPr>
          <p:cNvPr id="396" name="TextBox 4"/>
          <p:cNvSpPr/>
          <p:nvPr/>
        </p:nvSpPr>
        <p:spPr>
          <a:xfrm>
            <a:off x="612720" y="6510600"/>
            <a:ext cx="9143640" cy="1825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800" b="0" u="none" strike="noStrike">
                <a:solidFill>
                  <a:srgbClr val="9CB0C3"/>
                </a:solidFill>
                <a:effectLst/>
                <a:uFillTx/>
                <a:latin typeface="DejaVu Sans"/>
                <a:ea typeface="Calibri"/>
              </a:rPr>
              <a:t>hlin863/ewma_covariate_shift_demo</a:t>
            </a:r>
            <a:endParaRPr lang="en-US" sz="800" b="0" u="none" strike="noStrike">
              <a:solidFill>
                <a:srgbClr val="FFFFFF"/>
              </a:solidFill>
              <a:effectLst/>
              <a:uFillTx/>
              <a:latin typeface="Arial"/>
            </a:endParaRPr>
          </a:p>
        </p:txBody>
      </p:sp>
      <p:graphicFrame>
        <p:nvGraphicFramePr>
          <p:cNvPr id="397" name="Table 5"/>
          <p:cNvGraphicFramePr/>
          <p:nvPr/>
        </p:nvGraphicFramePr>
        <p:xfrm>
          <a:off x="685800" y="1783080"/>
          <a:ext cx="10789560" cy="1691280"/>
        </p:xfrm>
        <a:graphic>
          <a:graphicData uri="http://schemas.openxmlformats.org/drawingml/2006/table">
            <a:tbl>
              <a:tblPr/>
              <a:tblGrid>
                <a:gridCol w="6400800"/>
                <a:gridCol w="2194560"/>
                <a:gridCol w="2194560"/>
              </a:tblGrid>
              <a:tr h="563760">
                <a:tc>
                  <a:txBody>
                    <a:bodyPr lIns="109440" tIns="73080" anchor="t">
                      <a:noAutofit/>
                    </a:bodyPr>
                    <a:p>
                      <a:pPr>
                        <a:lnSpc>
                          <a:spcPct val="100000"/>
                        </a:lnSpc>
                      </a:pPr>
                      <a:r>
                        <a:rPr lang="en-US" sz="2100" b="1" u="none" strike="noStrike">
                          <a:solidFill>
                            <a:srgbClr val="78D8CC"/>
                          </a:solidFill>
                          <a:effectLst/>
                          <a:uFillTx/>
                          <a:latin typeface="DejaVu Sans"/>
                          <a:ea typeface="Calibri"/>
                        </a:rPr>
                        <a:t>Mean validated-shift count</a:t>
                      </a:r>
                      <a:endParaRPr lang="en-US" sz="21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142838"/>
                    </a:solidFill>
                  </a:tcPr>
                </a:tc>
                <a:tc>
                  <a:txBody>
                    <a:bodyPr lIns="109440" tIns="73080" anchor="t">
                      <a:noAutofit/>
                    </a:bodyPr>
                    <a:p>
                      <a:pPr>
                        <a:lnSpc>
                          <a:spcPct val="100000"/>
                        </a:lnSpc>
                      </a:pPr>
                      <a:r>
                        <a:rPr lang="en-US" sz="2100" b="1" u="none" strike="noStrike">
                          <a:solidFill>
                            <a:srgbClr val="78D8CC"/>
                          </a:solidFill>
                          <a:effectLst/>
                          <a:uFillTx/>
                          <a:latin typeface="DejaVu Sans"/>
                          <a:ea typeface="Calibri"/>
                        </a:rPr>
                        <a:t>Computed</a:t>
                      </a:r>
                      <a:endParaRPr lang="en-US" sz="21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142838"/>
                    </a:solidFill>
                  </a:tcPr>
                </a:tc>
                <a:tc>
                  <a:txBody>
                    <a:bodyPr lIns="109440" tIns="73080" anchor="t">
                      <a:noAutofit/>
                    </a:bodyPr>
                    <a:p>
                      <a:pPr>
                        <a:lnSpc>
                          <a:spcPct val="100000"/>
                        </a:lnSpc>
                      </a:pPr>
                      <a:r>
                        <a:rPr lang="en-US" sz="2100" b="1" u="none" strike="noStrike">
                          <a:solidFill>
                            <a:srgbClr val="78D8CC"/>
                          </a:solidFill>
                          <a:effectLst/>
                          <a:uFillTx/>
                          <a:latin typeface="DejaVu Sans"/>
                          <a:ea typeface="Calibri"/>
                        </a:rPr>
                        <a:t>Published</a:t>
                      </a:r>
                      <a:endParaRPr lang="en-US" sz="21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142838"/>
                    </a:solidFill>
                  </a:tcPr>
                </a:tc>
              </a:tr>
              <a:tr h="563760">
                <a:tc>
                  <a:txBody>
                    <a:bodyPr lIns="109440" tIns="73080" anchor="t">
                      <a:noAutofit/>
                    </a:bodyPr>
                    <a:p>
                      <a:pPr>
                        <a:lnSpc>
                          <a:spcPct val="100000"/>
                        </a:lnSpc>
                      </a:pPr>
                      <a:r>
                        <a:rPr lang="en-US" sz="2100" b="0" u="none" strike="noStrike">
                          <a:solidFill>
                            <a:srgbClr val="EAF2F8"/>
                          </a:solidFill>
                          <a:effectLst/>
                          <a:uFillTx/>
                          <a:latin typeface="DejaVu Sans"/>
                          <a:ea typeface="Calibri"/>
                        </a:rPr>
                        <a:t>Dataset 2A</a:t>
                      </a:r>
                      <a:endParaRPr lang="en-US" sz="21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2100" b="0" u="none" strike="noStrike">
                          <a:solidFill>
                            <a:srgbClr val="EAF2F8"/>
                          </a:solidFill>
                          <a:effectLst/>
                          <a:uFillTx/>
                          <a:latin typeface="DejaVu Sans"/>
                          <a:ea typeface="Calibri"/>
                        </a:rPr>
                        <a:t>0.33</a:t>
                      </a:r>
                      <a:endParaRPr lang="en-US" sz="21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2100" b="0" u="none" strike="noStrike">
                          <a:solidFill>
                            <a:srgbClr val="EAF2F8"/>
                          </a:solidFill>
                          <a:effectLst/>
                          <a:uFillTx/>
                          <a:latin typeface="DejaVu Sans"/>
                          <a:ea typeface="Calibri"/>
                        </a:rPr>
                        <a:t>5.56</a:t>
                      </a:r>
                      <a:endParaRPr lang="en-US" sz="21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r h="563760">
                <a:tc>
                  <a:txBody>
                    <a:bodyPr lIns="109440" tIns="73080" anchor="t">
                      <a:noAutofit/>
                    </a:bodyPr>
                    <a:p>
                      <a:pPr>
                        <a:lnSpc>
                          <a:spcPct val="100000"/>
                        </a:lnSpc>
                      </a:pPr>
                      <a:r>
                        <a:rPr lang="en-US" sz="2100" b="0" u="none" strike="noStrike">
                          <a:solidFill>
                            <a:srgbClr val="EAF2F8"/>
                          </a:solidFill>
                          <a:effectLst/>
                          <a:uFillTx/>
                          <a:latin typeface="DejaVu Sans"/>
                          <a:ea typeface="Calibri"/>
                        </a:rPr>
                        <a:t>Dataset 2B</a:t>
                      </a:r>
                      <a:endParaRPr lang="en-US" sz="21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2100" b="0" u="none" strike="noStrike">
                          <a:solidFill>
                            <a:srgbClr val="EAF2F8"/>
                          </a:solidFill>
                          <a:effectLst/>
                          <a:uFillTx/>
                          <a:latin typeface="DejaVu Sans"/>
                          <a:ea typeface="Calibri"/>
                        </a:rPr>
                        <a:t>0.67</a:t>
                      </a:r>
                      <a:endParaRPr lang="en-US" sz="21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2100" b="0" u="none" strike="noStrike">
                          <a:solidFill>
                            <a:srgbClr val="EAF2F8"/>
                          </a:solidFill>
                          <a:effectLst/>
                          <a:uFillTx/>
                          <a:latin typeface="DejaVu Sans"/>
                          <a:ea typeface="Calibri"/>
                        </a:rPr>
                        <a:t>10.33</a:t>
                      </a:r>
                      <a:endParaRPr lang="en-US" sz="21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bl>
          </a:graphicData>
        </a:graphic>
      </p:graphicFrame>
      <p:sp>
        <p:nvSpPr>
          <p:cNvPr id="398" name="TextBox 6"/>
          <p:cNvSpPr/>
          <p:nvPr/>
        </p:nvSpPr>
        <p:spPr>
          <a:xfrm>
            <a:off x="685800" y="3840480"/>
            <a:ext cx="5028840" cy="36540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2200" b="1" u="none" strike="noStrike">
                <a:solidFill>
                  <a:srgbClr val="78D8CC"/>
                </a:solidFill>
                <a:effectLst/>
                <a:uFillTx/>
                <a:latin typeface="DejaVu Sans"/>
                <a:ea typeface="Calibri"/>
              </a:rPr>
              <a:t>Evidence available</a:t>
            </a:r>
            <a:endParaRPr lang="en-US" sz="2200" b="0" u="none" strike="noStrike">
              <a:solidFill>
                <a:srgbClr val="FFFFFF"/>
              </a:solidFill>
              <a:effectLst/>
              <a:uFillTx/>
              <a:latin typeface="Arial"/>
            </a:endParaRPr>
          </a:p>
        </p:txBody>
      </p:sp>
      <p:sp>
        <p:nvSpPr>
          <p:cNvPr id="399" name="TextBox 7"/>
          <p:cNvSpPr/>
          <p:nvPr/>
        </p:nvSpPr>
        <p:spPr>
          <a:xfrm>
            <a:off x="685800" y="4361760"/>
            <a:ext cx="5028840" cy="123408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2000" b="0" u="none" strike="noStrike">
                <a:solidFill>
                  <a:srgbClr val="EAF2F8"/>
                </a:solidFill>
                <a:effectLst/>
                <a:uFillTx/>
                <a:latin typeface="DejaVu Sans"/>
                <a:ea typeface="Calibri"/>
              </a:rPr>
              <a:t>Subject-level comparisons</a:t>
            </a:r>
            <a:endParaRPr lang="en-US" sz="2000" b="0" u="none" strike="noStrike">
              <a:solidFill>
                <a:srgbClr val="FFFFFF"/>
              </a:solidFill>
              <a:effectLst/>
              <a:uFillTx/>
              <a:latin typeface="Arial"/>
            </a:endParaRPr>
          </a:p>
          <a:p>
            <a:pPr defTabSz="914400">
              <a:lnSpc>
                <a:spcPct val="100000"/>
              </a:lnSpc>
              <a:spcAft>
                <a:spcPts val="901"/>
              </a:spcAft>
            </a:pPr>
            <a:r>
              <a:rPr lang="en-US" sz="2000" b="0" u="none" strike="noStrike">
                <a:solidFill>
                  <a:srgbClr val="EAF2F8"/>
                </a:solidFill>
                <a:effectLst/>
                <a:uFillTx/>
                <a:latin typeface="DejaVu Sans"/>
                <a:ea typeface="Calibri"/>
              </a:rPr>
              <a:t>Classifier benchmarks</a:t>
            </a:r>
            <a:endParaRPr lang="en-US" sz="2000" b="0" u="none" strike="noStrike">
              <a:solidFill>
                <a:srgbClr val="FFFFFF"/>
              </a:solidFill>
              <a:effectLst/>
              <a:uFillTx/>
              <a:latin typeface="Arial"/>
            </a:endParaRPr>
          </a:p>
          <a:p>
            <a:pPr defTabSz="914400">
              <a:lnSpc>
                <a:spcPct val="100000"/>
              </a:lnSpc>
              <a:spcAft>
                <a:spcPts val="901"/>
              </a:spcAft>
            </a:pPr>
            <a:r>
              <a:rPr lang="en-US" sz="2000" b="0" u="none" strike="noStrike">
                <a:solidFill>
                  <a:srgbClr val="EAF2F8"/>
                </a:solidFill>
                <a:effectLst/>
                <a:uFillTx/>
                <a:latin typeface="DejaVu Sans"/>
                <a:ea typeface="Calibri"/>
              </a:rPr>
              <a:t>Synthetic score/residual ablations</a:t>
            </a:r>
            <a:endParaRPr lang="en-US" sz="2000" b="0" u="none" strike="noStrike">
              <a:solidFill>
                <a:srgbClr val="FFFFFF"/>
              </a:solidFill>
              <a:effectLst/>
              <a:uFillTx/>
              <a:latin typeface="Arial"/>
            </a:endParaRPr>
          </a:p>
        </p:txBody>
      </p:sp>
      <p:sp>
        <p:nvSpPr>
          <p:cNvPr id="400" name="TextBox 8"/>
          <p:cNvSpPr/>
          <p:nvPr/>
        </p:nvSpPr>
        <p:spPr>
          <a:xfrm>
            <a:off x="6309360" y="3840480"/>
            <a:ext cx="5028840" cy="36540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2200" b="1" u="none" strike="noStrike">
                <a:solidFill>
                  <a:srgbClr val="78D8CC"/>
                </a:solidFill>
                <a:effectLst/>
                <a:uFillTx/>
                <a:latin typeface="DejaVu Sans"/>
                <a:ea typeface="Calibri"/>
              </a:rPr>
              <a:t>Evidence to complete</a:t>
            </a:r>
            <a:endParaRPr lang="en-US" sz="2200" b="0" u="none" strike="noStrike">
              <a:solidFill>
                <a:srgbClr val="FFFFFF"/>
              </a:solidFill>
              <a:effectLst/>
              <a:uFillTx/>
              <a:latin typeface="Arial"/>
            </a:endParaRPr>
          </a:p>
        </p:txBody>
      </p:sp>
      <p:sp>
        <p:nvSpPr>
          <p:cNvPr id="401" name="TextBox 9"/>
          <p:cNvSpPr/>
          <p:nvPr/>
        </p:nvSpPr>
        <p:spPr>
          <a:xfrm>
            <a:off x="6309360" y="4361760"/>
            <a:ext cx="5028840" cy="123408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2000" b="0" u="none" strike="noStrike">
                <a:solidFill>
                  <a:srgbClr val="EAF2F8"/>
                </a:solidFill>
                <a:effectLst/>
                <a:uFillTx/>
                <a:latin typeface="DejaVu Sans"/>
                <a:ea typeface="Calibri"/>
              </a:rPr>
              <a:t>One configuration per reproducible run</a:t>
            </a:r>
            <a:endParaRPr lang="en-US" sz="2000" b="0" u="none" strike="noStrike">
              <a:solidFill>
                <a:srgbClr val="FFFFFF"/>
              </a:solidFill>
              <a:effectLst/>
              <a:uFillTx/>
              <a:latin typeface="Arial"/>
            </a:endParaRPr>
          </a:p>
          <a:p>
            <a:pPr defTabSz="914400">
              <a:lnSpc>
                <a:spcPct val="100000"/>
              </a:lnSpc>
              <a:spcAft>
                <a:spcPts val="901"/>
              </a:spcAft>
            </a:pPr>
            <a:r>
              <a:rPr lang="en-US" sz="2000" b="0" u="none" strike="noStrike">
                <a:solidFill>
                  <a:srgbClr val="EAF2F8"/>
                </a:solidFill>
                <a:effectLst/>
                <a:uFillTx/>
                <a:latin typeface="DejaVu Sans"/>
                <a:ea typeface="Calibri"/>
              </a:rPr>
              <a:t>Stage-II acceptance/rejection analysis</a:t>
            </a:r>
            <a:endParaRPr lang="en-US" sz="2000" b="0" u="none" strike="noStrike">
              <a:solidFill>
                <a:srgbClr val="FFFFFF"/>
              </a:solidFill>
              <a:effectLst/>
              <a:uFillTx/>
              <a:latin typeface="Arial"/>
            </a:endParaRPr>
          </a:p>
          <a:p>
            <a:pPr defTabSz="914400">
              <a:lnSpc>
                <a:spcPct val="100000"/>
              </a:lnSpc>
              <a:spcAft>
                <a:spcPts val="901"/>
              </a:spcAft>
            </a:pPr>
            <a:r>
              <a:rPr lang="en-US" sz="2000" b="0" u="none" strike="noStrike">
                <a:solidFill>
                  <a:srgbClr val="EAF2F8"/>
                </a:solidFill>
                <a:effectLst/>
                <a:uFillTx/>
                <a:latin typeface="DejaVu Sans"/>
                <a:ea typeface="Calibri"/>
              </a:rPr>
              <a:t>Real EEG traces and repeated Diethe runs</a:t>
            </a:r>
            <a:endParaRPr lang="en-US" sz="2000" b="0" u="none" strike="noStrike">
              <a:solidFill>
                <a:srgbClr val="FFFFFF"/>
              </a:solidFill>
              <a:effectLst/>
              <a:uFillTx/>
              <a:latin typeface="Arial"/>
            </a:endParaRPr>
          </a:p>
        </p:txBody>
      </p:sp>
      <p:sp>
        <p:nvSpPr>
          <p:cNvPr id="402" name="TextBox 10"/>
          <p:cNvSpPr/>
          <p:nvPr/>
        </p:nvSpPr>
        <p:spPr>
          <a:xfrm>
            <a:off x="11045880" y="6510600"/>
            <a:ext cx="548280" cy="1825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pPr>
            <a:r>
              <a:rPr lang="en-US" sz="1800" b="0" u="none" strike="noStrike">
                <a:solidFill>
                  <a:srgbClr val="EAF2F8"/>
                </a:solidFill>
                <a:effectLst/>
                <a:uFillTx/>
                <a:latin typeface="Calibri"/>
                <a:ea typeface="Calibri"/>
              </a:rPr>
              <a:t>29</a:t>
            </a:r>
            <a:endParaRPr lang="en-US" sz="1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9121F"/>
        </a:solidFill>
      </p:bgPr>
    </p:bg>
    <p:spTree>
      <p:nvGrpSpPr>
        <p:cNvPr id="1" name=""/>
        <p:cNvGrpSpPr/>
        <p:nvPr/>
      </p:nvGrpSpPr>
      <p:grpSpPr>
        <a:xfrm>
          <a:off x="0" y="0"/>
          <a:ext cx="0" cy="0"/>
          <a:chOff x="0" y="0"/>
          <a:chExt cx="0" cy="0"/>
        </a:xfrm>
      </p:grpSpPr>
      <p:sp>
        <p:nvSpPr>
          <p:cNvPr id="403" name="TextBox 1"/>
          <p:cNvSpPr/>
          <p:nvPr/>
        </p:nvSpPr>
        <p:spPr>
          <a:xfrm>
            <a:off x="612720" y="292680"/>
            <a:ext cx="10972440" cy="2923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1300" b="1" u="none" strike="noStrike">
                <a:solidFill>
                  <a:srgbClr val="78D8CC"/>
                </a:solidFill>
                <a:effectLst/>
                <a:uFillTx/>
                <a:latin typeface="DejaVu Sans"/>
                <a:ea typeface="Calibri"/>
              </a:rPr>
              <a:t>PROJECT PROGRESS</a:t>
            </a:r>
            <a:endParaRPr lang="en-US" sz="1300" b="0" u="none" strike="noStrike">
              <a:solidFill>
                <a:srgbClr val="FFFFFF"/>
              </a:solidFill>
              <a:effectLst/>
              <a:uFillTx/>
              <a:latin typeface="Arial"/>
            </a:endParaRPr>
          </a:p>
        </p:txBody>
      </p:sp>
      <p:sp>
        <p:nvSpPr>
          <p:cNvPr id="404" name="TextBox 2"/>
          <p:cNvSpPr/>
          <p:nvPr/>
        </p:nvSpPr>
        <p:spPr>
          <a:xfrm>
            <a:off x="612720" y="777240"/>
            <a:ext cx="10972440" cy="6397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pPr>
            <a:r>
              <a:rPr lang="en-US" sz="2600" b="1" u="none" strike="noStrike">
                <a:solidFill>
                  <a:srgbClr val="EAF2F8"/>
                </a:solidFill>
                <a:effectLst/>
                <a:uFillTx/>
                <a:latin typeface="Aptos"/>
                <a:ea typeface="Calibri"/>
              </a:rPr>
              <a:t>CSE reconstruction and policy prototypes implemented</a:t>
            </a:r>
            <a:endParaRPr lang="en-US" sz="2600" b="0" u="none" strike="noStrike">
              <a:solidFill>
                <a:srgbClr val="FFFFFF"/>
              </a:solidFill>
              <a:effectLst/>
              <a:uFillTx/>
              <a:latin typeface="Arial"/>
            </a:endParaRPr>
          </a:p>
        </p:txBody>
      </p:sp>
      <p:sp>
        <p:nvSpPr>
          <p:cNvPr id="405" name="TextBox 4"/>
          <p:cNvSpPr/>
          <p:nvPr/>
        </p:nvSpPr>
        <p:spPr>
          <a:xfrm>
            <a:off x="612720" y="6510600"/>
            <a:ext cx="9143640" cy="1825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800" b="0" u="none" strike="noStrike">
                <a:solidFill>
                  <a:srgbClr val="9CB0C3"/>
                </a:solidFill>
                <a:effectLst/>
                <a:uFillTx/>
                <a:latin typeface="DejaVu Sans"/>
                <a:ea typeface="Calibri"/>
              </a:rPr>
              <a:t>hlin863/ewma_covariate_shift_demo</a:t>
            </a:r>
            <a:endParaRPr lang="en-US" sz="800" b="0" u="none" strike="noStrike">
              <a:solidFill>
                <a:srgbClr val="FFFFFF"/>
              </a:solidFill>
              <a:effectLst/>
              <a:uFillTx/>
              <a:latin typeface="Arial"/>
            </a:endParaRPr>
          </a:p>
        </p:txBody>
      </p:sp>
      <p:graphicFrame>
        <p:nvGraphicFramePr>
          <p:cNvPr id="406" name="Table 5"/>
          <p:cNvGraphicFramePr/>
          <p:nvPr/>
        </p:nvGraphicFramePr>
        <p:xfrm>
          <a:off x="685800" y="1691640"/>
          <a:ext cx="10789560" cy="3371400"/>
        </p:xfrm>
        <a:graphic>
          <a:graphicData uri="http://schemas.openxmlformats.org/drawingml/2006/table">
            <a:tbl>
              <a:tblPr/>
              <a:tblGrid>
                <a:gridCol w="2834640"/>
                <a:gridCol w="7954920"/>
              </a:tblGrid>
              <a:tr h="540720">
                <a:tc>
                  <a:txBody>
                    <a:bodyPr lIns="109440" tIns="73080" anchor="t">
                      <a:noAutofit/>
                    </a:bodyPr>
                    <a:p>
                      <a:pPr>
                        <a:lnSpc>
                          <a:spcPct val="100000"/>
                        </a:lnSpc>
                      </a:pPr>
                      <a:r>
                        <a:rPr lang="en-US" sz="1800" b="1" u="none" strike="noStrike">
                          <a:solidFill>
                            <a:srgbClr val="78D8CC"/>
                          </a:solidFill>
                          <a:effectLst/>
                          <a:uFillTx/>
                          <a:latin typeface="DejaVu Sans"/>
                          <a:ea typeface="Calibri"/>
                        </a:rPr>
                        <a:t>Workstream</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142838"/>
                    </a:solidFill>
                  </a:tcPr>
                </a:tc>
                <a:tc>
                  <a:txBody>
                    <a:bodyPr lIns="109440" tIns="73080" anchor="t">
                      <a:noAutofit/>
                    </a:bodyPr>
                    <a:p>
                      <a:pPr>
                        <a:lnSpc>
                          <a:spcPct val="100000"/>
                        </a:lnSpc>
                      </a:pPr>
                      <a:r>
                        <a:rPr lang="en-US" sz="1800" b="1" u="none" strike="noStrike">
                          <a:solidFill>
                            <a:srgbClr val="78D8CC"/>
                          </a:solidFill>
                          <a:effectLst/>
                          <a:uFillTx/>
                          <a:latin typeface="DejaVu Sans"/>
                          <a:ea typeface="Calibri"/>
                        </a:rPr>
                        <a:t>Current position</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142838"/>
                    </a:solidFill>
                  </a:tcPr>
                </a:tc>
              </a:tr>
              <a:tr h="540720">
                <a:tc>
                  <a:txBody>
                    <a:bodyPr lIns="109440" tIns="73080" anchor="t">
                      <a:noAutofit/>
                    </a:bodyPr>
                    <a:p>
                      <a:pPr>
                        <a:lnSpc>
                          <a:spcPct val="100000"/>
                        </a:lnSpc>
                      </a:pPr>
                      <a:r>
                        <a:rPr lang="en-US" sz="1800" b="0" u="none" strike="noStrike">
                          <a:solidFill>
                            <a:srgbClr val="EAF2F8"/>
                          </a:solidFill>
                          <a:effectLst/>
                          <a:uFillTx/>
                          <a:latin typeface="DejaVu Sans"/>
                          <a:ea typeface="Calibri"/>
                        </a:rPr>
                        <a:t>CSE reconstruction</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1800" b="0" u="none" strike="noStrike">
                          <a:solidFill>
                            <a:srgbClr val="EAF2F8"/>
                          </a:solidFill>
                          <a:effectLst/>
                          <a:uFillTx/>
                          <a:latin typeface="DejaVu Sans"/>
                          <a:ea typeface="Calibri"/>
                        </a:rPr>
                        <a:t>EEG features, EWMA warnings and Stage-II diagnostics</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r h="540720">
                <a:tc>
                  <a:txBody>
                    <a:bodyPr lIns="109440" tIns="73080" anchor="t">
                      <a:noAutofit/>
                    </a:bodyPr>
                    <a:p>
                      <a:pPr>
                        <a:lnSpc>
                          <a:spcPct val="100000"/>
                        </a:lnSpc>
                      </a:pPr>
                      <a:r>
                        <a:rPr lang="en-US" sz="1800" b="0" u="none" strike="noStrike">
                          <a:solidFill>
                            <a:srgbClr val="EAF2F8"/>
                          </a:solidFill>
                          <a:effectLst/>
                          <a:uFillTx/>
                          <a:latin typeface="DejaVu Sans"/>
                          <a:ea typeface="Calibri"/>
                        </a:rPr>
                        <a:t>Supervised adaptation</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1800" b="0" u="none" strike="noStrike">
                          <a:solidFill>
                            <a:srgbClr val="EAF2F8"/>
                          </a:solidFill>
                          <a:effectLst/>
                          <a:uFillTx/>
                          <a:latin typeface="DejaVu Sans"/>
                          <a:ea typeface="Calibri"/>
                        </a:rPr>
                        <a:t>Predict first, then update using the revealed label</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r h="540720">
                <a:tc>
                  <a:txBody>
                    <a:bodyPr lIns="109440" tIns="73080" anchor="t">
                      <a:noAutofit/>
                    </a:bodyPr>
                    <a:p>
                      <a:pPr>
                        <a:lnSpc>
                          <a:spcPct val="100000"/>
                        </a:lnSpc>
                      </a:pPr>
                      <a:r>
                        <a:rPr lang="en-US" sz="1800" b="0" u="none" strike="noStrike">
                          <a:solidFill>
                            <a:srgbClr val="EAF2F8"/>
                          </a:solidFill>
                          <a:effectLst/>
                          <a:uFillTx/>
                          <a:latin typeface="DejaVu Sans"/>
                          <a:ea typeface="Calibri"/>
                        </a:rPr>
                        <a:t>Transductive adaptation</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1800" b="0" u="none" strike="noStrike">
                          <a:solidFill>
                            <a:srgbClr val="EAF2F8"/>
                          </a:solidFill>
                          <a:effectLst/>
                          <a:uFillTx/>
                          <a:latin typeface="DejaVu Sans"/>
                          <a:ea typeface="Calibri"/>
                        </a:rPr>
                        <a:t>PWKNN pseudo-labels; confidence-gated training updates</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r h="540720">
                <a:tc>
                  <a:txBody>
                    <a:bodyPr lIns="109440" tIns="73080" anchor="t">
                      <a:noAutofit/>
                    </a:bodyPr>
                    <a:p>
                      <a:pPr>
                        <a:lnSpc>
                          <a:spcPct val="100000"/>
                        </a:lnSpc>
                      </a:pPr>
                      <a:r>
                        <a:rPr lang="en-US" sz="1800" b="0" u="none" strike="noStrike">
                          <a:solidFill>
                            <a:srgbClr val="EAF2F8"/>
                          </a:solidFill>
                          <a:effectLst/>
                          <a:uFillTx/>
                          <a:latin typeface="DejaVu Sans"/>
                          <a:ea typeface="Calibri"/>
                        </a:rPr>
                        <a:t>Policy experiments</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1800" b="0" u="none" strike="noStrike">
                          <a:solidFill>
                            <a:srgbClr val="EAF2F8"/>
                          </a:solidFill>
                          <a:effectLst/>
                          <a:uFillTx/>
                          <a:latin typeface="DejaVu Sans"/>
                          <a:ea typeface="Calibri"/>
                        </a:rPr>
                        <a:t>Five Diethe-inspired policies on matched streams</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r h="540720">
                <a:tc>
                  <a:txBody>
                    <a:bodyPr lIns="109440" tIns="73080" anchor="t">
                      <a:noAutofit/>
                    </a:bodyPr>
                    <a:p>
                      <a:pPr>
                        <a:lnSpc>
                          <a:spcPct val="100000"/>
                        </a:lnSpc>
                      </a:pPr>
                      <a:r>
                        <a:rPr lang="en-US" sz="1800" b="0" u="none" strike="noStrike">
                          <a:solidFill>
                            <a:srgbClr val="EAF2F8"/>
                          </a:solidFill>
                          <a:effectLst/>
                          <a:uFillTx/>
                          <a:latin typeface="DejaVu Sans"/>
                          <a:ea typeface="Calibri"/>
                        </a:rPr>
                        <a:t>Evidence still needed</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c>
                  <a:txBody>
                    <a:bodyPr lIns="109440" tIns="73080" anchor="t">
                      <a:noAutofit/>
                    </a:bodyPr>
                    <a:p>
                      <a:pPr>
                        <a:lnSpc>
                          <a:spcPct val="100000"/>
                        </a:lnSpc>
                      </a:pPr>
                      <a:r>
                        <a:rPr lang="en-US" sz="1800" b="0" u="none" strike="noStrike">
                          <a:solidFill>
                            <a:srgbClr val="EAF2F8"/>
                          </a:solidFill>
                          <a:effectLst/>
                          <a:uFillTx/>
                          <a:latin typeface="DejaVu Sans"/>
                          <a:ea typeface="Calibri"/>
                        </a:rPr>
                        <a:t>Matched reproduction runs and saved adaptation comparisons</a:t>
                      </a:r>
                      <a:endParaRPr lang="en-US" sz="1800" b="0" u="none" strike="noStrike">
                        <a:solidFill>
                          <a:srgbClr val="FFFFFF"/>
                        </a:solidFill>
                        <a:effectLst/>
                        <a:uFillTx/>
                        <a:latin typeface="Arial"/>
                      </a:endParaRPr>
                    </a:p>
                  </a:txBody>
                  <a:tcPr anchor="t" marL="109440" marR="91440" marT="7308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01D2A"/>
                    </a:solidFill>
                  </a:tcPr>
                </a:tc>
              </a:tr>
            </a:tbl>
          </a:graphicData>
        </a:graphic>
      </p:graphicFrame>
      <p:sp>
        <p:nvSpPr>
          <p:cNvPr id="407" name="TextBox 6"/>
          <p:cNvSpPr/>
          <p:nvPr/>
        </p:nvSpPr>
        <p:spPr>
          <a:xfrm>
            <a:off x="685800" y="5257800"/>
            <a:ext cx="10789560" cy="50256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2000" b="0" u="none" strike="noStrike">
                <a:solidFill>
                  <a:srgbClr val="78D8CC"/>
                </a:solidFill>
                <a:effectLst/>
                <a:uFillTx/>
                <a:latin typeface="DejaVu Sans"/>
                <a:ea typeface="Calibri"/>
              </a:rPr>
              <a:t>Full dynamic CSE-UAEL ensemble growth and weighted voting remain open.</a:t>
            </a:r>
            <a:endParaRPr lang="en-US" sz="2000" b="0" u="none" strike="noStrike">
              <a:solidFill>
                <a:srgbClr val="FFFFFF"/>
              </a:solidFill>
              <a:effectLst/>
              <a:uFillTx/>
              <a:latin typeface="Arial"/>
            </a:endParaRPr>
          </a:p>
        </p:txBody>
      </p:sp>
      <p:sp>
        <p:nvSpPr>
          <p:cNvPr id="408" name="TextBox 7"/>
          <p:cNvSpPr/>
          <p:nvPr/>
        </p:nvSpPr>
        <p:spPr>
          <a:xfrm>
            <a:off x="11045880" y="6510600"/>
            <a:ext cx="548280" cy="1825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pPr>
            <a:r>
              <a:rPr lang="en-US" sz="1800" b="0" u="none" strike="noStrike">
                <a:solidFill>
                  <a:srgbClr val="EAF2F8"/>
                </a:solidFill>
                <a:effectLst/>
                <a:uFillTx/>
                <a:latin typeface="Calibri"/>
                <a:ea typeface="Calibri"/>
              </a:rPr>
              <a:t>30</a:t>
            </a:r>
            <a:endParaRPr lang="en-US" sz="1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9121F"/>
        </a:solidFill>
      </p:bgPr>
    </p:bg>
    <p:spTree>
      <p:nvGrpSpPr>
        <p:cNvPr id="1" name=""/>
        <p:cNvGrpSpPr/>
        <p:nvPr/>
      </p:nvGrpSpPr>
      <p:grpSpPr>
        <a:xfrm>
          <a:off x="0" y="0"/>
          <a:ext cx="0" cy="0"/>
          <a:chOff x="0" y="0"/>
          <a:chExt cx="0" cy="0"/>
        </a:xfrm>
      </p:grpSpPr>
      <p:sp>
        <p:nvSpPr>
          <p:cNvPr id="409" name="Rectangle 39"/>
          <p:cNvSpPr/>
          <p:nvPr/>
        </p:nvSpPr>
        <p:spPr>
          <a:xfrm>
            <a:off x="609480" y="399960"/>
            <a:ext cx="5714640" cy="2282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980" b="1" u="none" strike="noStrike">
                <a:solidFill>
                  <a:srgbClr val="2DD4BF"/>
                </a:solidFill>
                <a:effectLst/>
                <a:uFillTx/>
                <a:latin typeface="DejaVu Sans"/>
                <a:ea typeface="DejaVu Sans"/>
              </a:rPr>
              <a:t>PROJECT TIMELINE</a:t>
            </a:r>
            <a:endParaRPr lang="en-US" sz="980" b="0" u="none" strike="noStrike">
              <a:solidFill>
                <a:srgbClr val="FFFFFF"/>
              </a:solidFill>
              <a:effectLst/>
              <a:uFillTx/>
              <a:latin typeface="Arial"/>
            </a:endParaRPr>
          </a:p>
        </p:txBody>
      </p:sp>
      <p:sp>
        <p:nvSpPr>
          <p:cNvPr id="410" name="Rectangle 1"/>
          <p:cNvSpPr/>
          <p:nvPr/>
        </p:nvSpPr>
        <p:spPr>
          <a:xfrm>
            <a:off x="609480" y="685800"/>
            <a:ext cx="11048760" cy="5522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2400" b="1" u="none" strike="noStrike">
                <a:solidFill>
                  <a:srgbClr val="EAF2F8"/>
                </a:solidFill>
                <a:effectLst/>
                <a:uFillTx/>
                <a:latin typeface="DejaVu Sans"/>
                <a:ea typeface="DejaVu Sans"/>
              </a:rPr>
              <a:t>First-year objectives across twelve months</a:t>
            </a:r>
            <a:endParaRPr lang="en-US" sz="2400" b="0" u="none" strike="noStrike">
              <a:solidFill>
                <a:srgbClr val="FFFFFF"/>
              </a:solidFill>
              <a:effectLst/>
              <a:uFillTx/>
              <a:latin typeface="Arial"/>
            </a:endParaRPr>
          </a:p>
        </p:txBody>
      </p:sp>
      <p:sp>
        <p:nvSpPr>
          <p:cNvPr id="411" name="Rectangle 2"/>
          <p:cNvSpPr/>
          <p:nvPr/>
        </p:nvSpPr>
        <p:spPr>
          <a:xfrm>
            <a:off x="609480" y="1352520"/>
            <a:ext cx="10953360" cy="30456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350" b="0" u="none" strike="noStrike">
                <a:solidFill>
                  <a:srgbClr val="9CB0C3"/>
                </a:solidFill>
                <a:effectLst/>
                <a:uFillTx/>
                <a:latin typeface="DejaVu Sans"/>
                <a:ea typeface="DejaVu Sans"/>
              </a:rPr>
              <a:t>Proposed October 2026 to September 2027 plan. Existing outputs provide the initial baseline.</a:t>
            </a:r>
            <a:endParaRPr lang="en-US" sz="1350" b="0" u="none" strike="noStrike">
              <a:solidFill>
                <a:srgbClr val="FFFFFF"/>
              </a:solidFill>
              <a:effectLst/>
              <a:uFillTx/>
              <a:latin typeface="Arial"/>
            </a:endParaRPr>
          </a:p>
        </p:txBody>
      </p:sp>
      <p:sp>
        <p:nvSpPr>
          <p:cNvPr id="412" name="Rectangle 37"/>
          <p:cNvSpPr/>
          <p:nvPr/>
        </p:nvSpPr>
        <p:spPr>
          <a:xfrm>
            <a:off x="609480" y="6515280"/>
            <a:ext cx="5238360" cy="1900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820" b="0" u="none" strike="noStrike">
                <a:solidFill>
                  <a:srgbClr val="9CB0C3"/>
                </a:solidFill>
                <a:effectLst/>
                <a:uFillTx/>
                <a:latin typeface="DejaVu Sans"/>
                <a:ea typeface="DejaVu Sans"/>
              </a:rPr>
              <a:t>hlin863/ewma_covariate_shift_demo</a:t>
            </a:r>
            <a:endParaRPr lang="en-US" sz="820" b="0" u="none" strike="noStrike">
              <a:solidFill>
                <a:srgbClr val="FFFFFF"/>
              </a:solidFill>
              <a:effectLst/>
              <a:uFillTx/>
              <a:latin typeface="Arial"/>
            </a:endParaRPr>
          </a:p>
        </p:txBody>
      </p:sp>
      <p:sp>
        <p:nvSpPr>
          <p:cNvPr id="413" name="Rectangle 38"/>
          <p:cNvSpPr/>
          <p:nvPr/>
        </p:nvSpPr>
        <p:spPr>
          <a:xfrm>
            <a:off x="11430000" y="6515280"/>
            <a:ext cx="380520" cy="1900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800" b="0" u="none" strike="noStrike">
                <a:solidFill>
                  <a:srgbClr val="EAF2F8"/>
                </a:solidFill>
                <a:effectLst/>
                <a:uFillTx/>
                <a:latin typeface="Calibri"/>
                <a:ea typeface="Calibri"/>
              </a:rPr>
              <a:t>31</a:t>
            </a:r>
            <a:endParaRPr lang="en-US" sz="1800" b="0" u="none" strike="noStrike">
              <a:solidFill>
                <a:srgbClr val="FFFFFF"/>
              </a:solidFill>
              <a:effectLst/>
              <a:uFillTx/>
              <a:latin typeface="Arial"/>
            </a:endParaRPr>
          </a:p>
        </p:txBody>
      </p:sp>
      <p:graphicFrame>
        <p:nvGraphicFramePr>
          <p:cNvPr id="414" name="Table 46"/>
          <p:cNvGraphicFramePr/>
          <p:nvPr/>
        </p:nvGraphicFramePr>
        <p:xfrm>
          <a:off x="609480" y="1886040"/>
          <a:ext cx="10972440" cy="3809520"/>
        </p:xfrm>
        <a:graphic>
          <a:graphicData uri="http://schemas.openxmlformats.org/drawingml/2006/table">
            <a:tbl>
              <a:tblPr/>
              <a:tblGrid>
                <a:gridCol w="2904840"/>
                <a:gridCol w="457200"/>
                <a:gridCol w="457200"/>
                <a:gridCol w="457200"/>
                <a:gridCol w="457200"/>
                <a:gridCol w="457200"/>
                <a:gridCol w="457200"/>
                <a:gridCol w="457200"/>
                <a:gridCol w="457200"/>
                <a:gridCol w="457200"/>
                <a:gridCol w="457200"/>
                <a:gridCol w="457200"/>
                <a:gridCol w="457200"/>
                <a:gridCol w="2581200"/>
              </a:tblGrid>
              <a:tr h="419040">
                <a:tc>
                  <a:txBody>
                    <a:bodyPr anchor="ctr">
                      <a:noAutofit/>
                    </a:bodyPr>
                    <a:p>
                      <a:pPr>
                        <a:lnSpc>
                          <a:spcPct val="100000"/>
                        </a:lnSpc>
                      </a:pPr>
                      <a:r>
                        <a:rPr lang="en-US" sz="980" b="1" u="none" strike="noStrike">
                          <a:solidFill>
                            <a:srgbClr val="2DD4BF"/>
                          </a:solidFill>
                          <a:effectLst/>
                          <a:uFillTx/>
                          <a:latin typeface="DejaVu Sans"/>
                          <a:ea typeface="DejaVu Sans"/>
                        </a:rPr>
                        <a:t>WORK PACKAGE</a:t>
                      </a:r>
                      <a:endParaRPr lang="en-US" sz="98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253A"/>
                    </a:solidFill>
                  </a:tcPr>
                </a:tc>
                <a:tc>
                  <a:txBody>
                    <a:bodyPr anchor="ctr">
                      <a:noAutofit/>
                    </a:bodyPr>
                    <a:p>
                      <a:pPr algn="ctr">
                        <a:lnSpc>
                          <a:spcPct val="100000"/>
                        </a:lnSpc>
                      </a:pPr>
                      <a:r>
                        <a:rPr lang="en-US" sz="820" b="1" u="none" strike="noStrike">
                          <a:solidFill>
                            <a:srgbClr val="2DD4BF"/>
                          </a:solidFill>
                          <a:effectLst/>
                          <a:uFillTx/>
                          <a:latin typeface="DejaVu Sans"/>
                          <a:ea typeface="DejaVu Sans"/>
                        </a:rPr>
                        <a:t>Oct</a:t>
                      </a:r>
                      <a:endParaRPr lang="en-US" sz="82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253A"/>
                    </a:solidFill>
                  </a:tcPr>
                </a:tc>
                <a:tc>
                  <a:txBody>
                    <a:bodyPr anchor="ctr">
                      <a:noAutofit/>
                    </a:bodyPr>
                    <a:p>
                      <a:pPr algn="ctr">
                        <a:lnSpc>
                          <a:spcPct val="100000"/>
                        </a:lnSpc>
                      </a:pPr>
                      <a:r>
                        <a:rPr lang="en-US" sz="820" b="1" u="none" strike="noStrike">
                          <a:solidFill>
                            <a:srgbClr val="2DD4BF"/>
                          </a:solidFill>
                          <a:effectLst/>
                          <a:uFillTx/>
                          <a:latin typeface="DejaVu Sans"/>
                          <a:ea typeface="DejaVu Sans"/>
                        </a:rPr>
                        <a:t>Nov</a:t>
                      </a:r>
                      <a:endParaRPr lang="en-US" sz="82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253A"/>
                    </a:solidFill>
                  </a:tcPr>
                </a:tc>
                <a:tc>
                  <a:txBody>
                    <a:bodyPr anchor="ctr">
                      <a:noAutofit/>
                    </a:bodyPr>
                    <a:p>
                      <a:pPr algn="ctr">
                        <a:lnSpc>
                          <a:spcPct val="100000"/>
                        </a:lnSpc>
                      </a:pPr>
                      <a:r>
                        <a:rPr lang="en-US" sz="820" b="1" u="none" strike="noStrike">
                          <a:solidFill>
                            <a:srgbClr val="2DD4BF"/>
                          </a:solidFill>
                          <a:effectLst/>
                          <a:uFillTx/>
                          <a:latin typeface="DejaVu Sans"/>
                          <a:ea typeface="DejaVu Sans"/>
                        </a:rPr>
                        <a:t>Dec</a:t>
                      </a:r>
                      <a:endParaRPr lang="en-US" sz="82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253A"/>
                    </a:solidFill>
                  </a:tcPr>
                </a:tc>
                <a:tc>
                  <a:txBody>
                    <a:bodyPr anchor="ctr">
                      <a:noAutofit/>
                    </a:bodyPr>
                    <a:p>
                      <a:pPr algn="ctr">
                        <a:lnSpc>
                          <a:spcPct val="100000"/>
                        </a:lnSpc>
                      </a:pPr>
                      <a:r>
                        <a:rPr lang="en-US" sz="820" b="1" u="none" strike="noStrike">
                          <a:solidFill>
                            <a:srgbClr val="2DD4BF"/>
                          </a:solidFill>
                          <a:effectLst/>
                          <a:uFillTx/>
                          <a:latin typeface="DejaVu Sans"/>
                          <a:ea typeface="DejaVu Sans"/>
                        </a:rPr>
                        <a:t>Jan</a:t>
                      </a:r>
                      <a:endParaRPr lang="en-US" sz="82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253A"/>
                    </a:solidFill>
                  </a:tcPr>
                </a:tc>
                <a:tc>
                  <a:txBody>
                    <a:bodyPr anchor="ctr">
                      <a:noAutofit/>
                    </a:bodyPr>
                    <a:p>
                      <a:pPr algn="ctr">
                        <a:lnSpc>
                          <a:spcPct val="100000"/>
                        </a:lnSpc>
                      </a:pPr>
                      <a:r>
                        <a:rPr lang="en-US" sz="820" b="1" u="none" strike="noStrike">
                          <a:solidFill>
                            <a:srgbClr val="2DD4BF"/>
                          </a:solidFill>
                          <a:effectLst/>
                          <a:uFillTx/>
                          <a:latin typeface="DejaVu Sans"/>
                          <a:ea typeface="DejaVu Sans"/>
                        </a:rPr>
                        <a:t>Feb</a:t>
                      </a:r>
                      <a:endParaRPr lang="en-US" sz="82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253A"/>
                    </a:solidFill>
                  </a:tcPr>
                </a:tc>
                <a:tc>
                  <a:txBody>
                    <a:bodyPr anchor="ctr">
                      <a:noAutofit/>
                    </a:bodyPr>
                    <a:p>
                      <a:pPr algn="ctr">
                        <a:lnSpc>
                          <a:spcPct val="100000"/>
                        </a:lnSpc>
                      </a:pPr>
                      <a:r>
                        <a:rPr lang="en-US" sz="820" b="1" u="none" strike="noStrike">
                          <a:solidFill>
                            <a:srgbClr val="2DD4BF"/>
                          </a:solidFill>
                          <a:effectLst/>
                          <a:uFillTx/>
                          <a:latin typeface="DejaVu Sans"/>
                          <a:ea typeface="DejaVu Sans"/>
                        </a:rPr>
                        <a:t>Mar</a:t>
                      </a:r>
                      <a:endParaRPr lang="en-US" sz="82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253A"/>
                    </a:solidFill>
                  </a:tcPr>
                </a:tc>
                <a:tc>
                  <a:txBody>
                    <a:bodyPr anchor="ctr">
                      <a:noAutofit/>
                    </a:bodyPr>
                    <a:p>
                      <a:pPr algn="ctr">
                        <a:lnSpc>
                          <a:spcPct val="100000"/>
                        </a:lnSpc>
                      </a:pPr>
                      <a:r>
                        <a:rPr lang="en-US" sz="820" b="1" u="none" strike="noStrike">
                          <a:solidFill>
                            <a:srgbClr val="2DD4BF"/>
                          </a:solidFill>
                          <a:effectLst/>
                          <a:uFillTx/>
                          <a:latin typeface="DejaVu Sans"/>
                          <a:ea typeface="DejaVu Sans"/>
                        </a:rPr>
                        <a:t>Apr</a:t>
                      </a:r>
                      <a:endParaRPr lang="en-US" sz="82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253A"/>
                    </a:solidFill>
                  </a:tcPr>
                </a:tc>
                <a:tc>
                  <a:txBody>
                    <a:bodyPr anchor="ctr">
                      <a:noAutofit/>
                    </a:bodyPr>
                    <a:p>
                      <a:pPr algn="ctr">
                        <a:lnSpc>
                          <a:spcPct val="100000"/>
                        </a:lnSpc>
                      </a:pPr>
                      <a:r>
                        <a:rPr lang="en-US" sz="820" b="1" u="none" strike="noStrike">
                          <a:solidFill>
                            <a:srgbClr val="2DD4BF"/>
                          </a:solidFill>
                          <a:effectLst/>
                          <a:uFillTx/>
                          <a:latin typeface="DejaVu Sans"/>
                          <a:ea typeface="DejaVu Sans"/>
                        </a:rPr>
                        <a:t>May</a:t>
                      </a:r>
                      <a:endParaRPr lang="en-US" sz="82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253A"/>
                    </a:solidFill>
                  </a:tcPr>
                </a:tc>
                <a:tc>
                  <a:txBody>
                    <a:bodyPr anchor="ctr">
                      <a:noAutofit/>
                    </a:bodyPr>
                    <a:p>
                      <a:pPr algn="ctr">
                        <a:lnSpc>
                          <a:spcPct val="100000"/>
                        </a:lnSpc>
                      </a:pPr>
                      <a:r>
                        <a:rPr lang="en-US" sz="820" b="1" u="none" strike="noStrike">
                          <a:solidFill>
                            <a:srgbClr val="2DD4BF"/>
                          </a:solidFill>
                          <a:effectLst/>
                          <a:uFillTx/>
                          <a:latin typeface="DejaVu Sans"/>
                          <a:ea typeface="DejaVu Sans"/>
                        </a:rPr>
                        <a:t>Jun</a:t>
                      </a:r>
                      <a:endParaRPr lang="en-US" sz="82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253A"/>
                    </a:solidFill>
                  </a:tcPr>
                </a:tc>
                <a:tc>
                  <a:txBody>
                    <a:bodyPr anchor="ctr">
                      <a:noAutofit/>
                    </a:bodyPr>
                    <a:p>
                      <a:pPr algn="ctr">
                        <a:lnSpc>
                          <a:spcPct val="100000"/>
                        </a:lnSpc>
                      </a:pPr>
                      <a:r>
                        <a:rPr lang="en-US" sz="820" b="1" u="none" strike="noStrike">
                          <a:solidFill>
                            <a:srgbClr val="2DD4BF"/>
                          </a:solidFill>
                          <a:effectLst/>
                          <a:uFillTx/>
                          <a:latin typeface="DejaVu Sans"/>
                          <a:ea typeface="DejaVu Sans"/>
                        </a:rPr>
                        <a:t>Jul</a:t>
                      </a:r>
                      <a:endParaRPr lang="en-US" sz="82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253A"/>
                    </a:solidFill>
                  </a:tcPr>
                </a:tc>
                <a:tc>
                  <a:txBody>
                    <a:bodyPr anchor="ctr">
                      <a:noAutofit/>
                    </a:bodyPr>
                    <a:p>
                      <a:pPr algn="ctr">
                        <a:lnSpc>
                          <a:spcPct val="100000"/>
                        </a:lnSpc>
                      </a:pPr>
                      <a:r>
                        <a:rPr lang="en-US" sz="820" b="1" u="none" strike="noStrike">
                          <a:solidFill>
                            <a:srgbClr val="2DD4BF"/>
                          </a:solidFill>
                          <a:effectLst/>
                          <a:uFillTx/>
                          <a:latin typeface="DejaVu Sans"/>
                          <a:ea typeface="DejaVu Sans"/>
                        </a:rPr>
                        <a:t>Aug</a:t>
                      </a:r>
                      <a:endParaRPr lang="en-US" sz="82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253A"/>
                    </a:solidFill>
                  </a:tcPr>
                </a:tc>
                <a:tc>
                  <a:txBody>
                    <a:bodyPr anchor="ctr">
                      <a:noAutofit/>
                    </a:bodyPr>
                    <a:p>
                      <a:pPr algn="ctr">
                        <a:lnSpc>
                          <a:spcPct val="100000"/>
                        </a:lnSpc>
                      </a:pPr>
                      <a:r>
                        <a:rPr lang="en-US" sz="820" b="1" u="none" strike="noStrike">
                          <a:solidFill>
                            <a:srgbClr val="2DD4BF"/>
                          </a:solidFill>
                          <a:effectLst/>
                          <a:uFillTx/>
                          <a:latin typeface="DejaVu Sans"/>
                          <a:ea typeface="DejaVu Sans"/>
                        </a:rPr>
                        <a:t>Sep</a:t>
                      </a:r>
                      <a:endParaRPr lang="en-US" sz="82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253A"/>
                    </a:solidFill>
                  </a:tcPr>
                </a:tc>
                <a:tc>
                  <a:txBody>
                    <a:bodyPr anchor="ctr">
                      <a:noAutofit/>
                    </a:bodyPr>
                    <a:p>
                      <a:pPr>
                        <a:lnSpc>
                          <a:spcPct val="100000"/>
                        </a:lnSpc>
                      </a:pPr>
                      <a:r>
                        <a:rPr lang="en-US" sz="980" b="1" u="none" strike="noStrike">
                          <a:solidFill>
                            <a:srgbClr val="2DD4BF"/>
                          </a:solidFill>
                          <a:effectLst/>
                          <a:uFillTx/>
                          <a:latin typeface="DejaVu Sans"/>
                          <a:ea typeface="DejaVu Sans"/>
                        </a:rPr>
                        <a:t>EXPECTED OUTPUT</a:t>
                      </a:r>
                      <a:endParaRPr lang="en-US" sz="98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253A"/>
                    </a:solidFill>
                  </a:tcPr>
                </a:tc>
              </a:tr>
              <a:tr h="561960">
                <a:tc>
                  <a:txBody>
                    <a:bodyPr anchor="ctr">
                      <a:noAutofit/>
                    </a:bodyPr>
                    <a:p>
                      <a:pPr>
                        <a:lnSpc>
                          <a:spcPct val="100000"/>
                        </a:lnSpc>
                      </a:pPr>
                      <a:r>
                        <a:rPr lang="en-US" sz="1050" b="1" u="none" strike="noStrike">
                          <a:solidFill>
                            <a:srgbClr val="EAF2F8"/>
                          </a:solidFill>
                          <a:effectLst/>
                          <a:uFillTx/>
                          <a:latin typeface="DejaVu Sans"/>
                          <a:ea typeface="DejaVu Sans"/>
                        </a:rPr>
                        <a:t>WP1  Theory and architecture</a:t>
                      </a:r>
                      <a:endParaRPr lang="en-US" sz="1050" b="0" u="none" strike="noStrike">
                        <a:solidFill>
                          <a:srgbClr val="FFFFFF"/>
                        </a:solidFill>
                        <a:effectLst/>
                        <a:uFillTx/>
                        <a:latin typeface="Arial"/>
                      </a:endParaRPr>
                    </a:p>
                    <a:p>
                      <a:pPr>
                        <a:lnSpc>
                          <a:spcPct val="100000"/>
                        </a:lnSpc>
                      </a:pPr>
                      <a:r>
                        <a:rPr lang="en-US" sz="1050" b="1" u="none" strike="noStrike">
                          <a:solidFill>
                            <a:srgbClr val="EAF2F8"/>
                          </a:solidFill>
                          <a:effectLst/>
                          <a:uFillTx/>
                          <a:latin typeface="DejaVu Sans"/>
                          <a:ea typeface="DejaVu Sans"/>
                        </a:rPr>
                        <a:t>CPD, CL and twin design</a:t>
                      </a:r>
                      <a:endParaRPr lang="en-US" sz="10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2DD4BF"/>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2DD4BF"/>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2DD4BF"/>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c>
                  <a:txBody>
                    <a:bodyPr anchor="ctr">
                      <a:noAutofit/>
                    </a:bodyPr>
                    <a:p>
                      <a:pPr>
                        <a:lnSpc>
                          <a:spcPct val="100000"/>
                        </a:lnSpc>
                      </a:pPr>
                      <a:r>
                        <a:rPr lang="en-US" sz="980" b="0" u="none" strike="noStrike">
                          <a:solidFill>
                            <a:srgbClr val="B9CAD9"/>
                          </a:solidFill>
                          <a:effectLst/>
                          <a:uFillTx/>
                          <a:latin typeface="DejaVu Sans"/>
                          <a:ea typeface="DejaVu Sans"/>
                        </a:rPr>
                        <a:t>Architecture specification</a:t>
                      </a:r>
                      <a:endParaRPr lang="en-US" sz="98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r>
              <a:tr h="561960">
                <a:tc>
                  <a:txBody>
                    <a:bodyPr anchor="ctr">
                      <a:noAutofit/>
                    </a:bodyPr>
                    <a:p>
                      <a:pPr>
                        <a:lnSpc>
                          <a:spcPct val="100000"/>
                        </a:lnSpc>
                      </a:pPr>
                      <a:r>
                        <a:rPr lang="en-US" sz="1050" b="1" u="none" strike="noStrike">
                          <a:solidFill>
                            <a:srgbClr val="EAF2F8"/>
                          </a:solidFill>
                          <a:effectLst/>
                          <a:uFillTx/>
                          <a:latin typeface="DejaVu Sans"/>
                          <a:ea typeface="DejaVu Sans"/>
                        </a:rPr>
                        <a:t>WP2  CPD benchmarking</a:t>
                      </a:r>
                      <a:endParaRPr lang="en-US" sz="1050" b="0" u="none" strike="noStrike">
                        <a:solidFill>
                          <a:srgbClr val="FFFFFF"/>
                        </a:solidFill>
                        <a:effectLst/>
                        <a:uFillTx/>
                        <a:latin typeface="Arial"/>
                      </a:endParaRPr>
                    </a:p>
                    <a:p>
                      <a:pPr>
                        <a:lnSpc>
                          <a:spcPct val="100000"/>
                        </a:lnSpc>
                      </a:pPr>
                      <a:r>
                        <a:rPr lang="en-US" sz="1050" b="1" u="none" strike="noStrike">
                          <a:solidFill>
                            <a:srgbClr val="EAF2F8"/>
                          </a:solidFill>
                          <a:effectLst/>
                          <a:uFillTx/>
                          <a:latin typeface="DejaVu Sans"/>
                          <a:ea typeface="DejaVu Sans"/>
                        </a:rPr>
                        <a:t>EWMA, CUSUM, BOCPD, density ratios</a:t>
                      </a:r>
                      <a:endParaRPr lang="en-US" sz="10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4EA1FF"/>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4EA1FF"/>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4EA1FF"/>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4EA1FF"/>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c>
                  <a:txBody>
                    <a:bodyPr anchor="ctr">
                      <a:noAutofit/>
                    </a:bodyPr>
                    <a:p>
                      <a:pPr>
                        <a:lnSpc>
                          <a:spcPct val="100000"/>
                        </a:lnSpc>
                      </a:pPr>
                      <a:r>
                        <a:rPr lang="en-US" sz="980" b="0" u="none" strike="noStrike">
                          <a:solidFill>
                            <a:srgbClr val="B9CAD9"/>
                          </a:solidFill>
                          <a:effectLst/>
                          <a:uFillTx/>
                          <a:latin typeface="DejaVu Sans"/>
                          <a:ea typeface="DejaVu Sans"/>
                        </a:rPr>
                        <a:t>Benchmark suite and report</a:t>
                      </a:r>
                      <a:endParaRPr lang="en-US" sz="98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r>
              <a:tr h="561960">
                <a:tc>
                  <a:txBody>
                    <a:bodyPr anchor="ctr">
                      <a:noAutofit/>
                    </a:bodyPr>
                    <a:p>
                      <a:pPr>
                        <a:lnSpc>
                          <a:spcPct val="100000"/>
                        </a:lnSpc>
                      </a:pPr>
                      <a:r>
                        <a:rPr lang="en-US" sz="1050" b="1" u="none" strike="noStrike">
                          <a:solidFill>
                            <a:srgbClr val="EAF2F8"/>
                          </a:solidFill>
                          <a:effectLst/>
                          <a:uFillTx/>
                          <a:latin typeface="DejaVu Sans"/>
                          <a:ea typeface="DejaVu Sans"/>
                        </a:rPr>
                        <a:t>WP3  Continual learning and sustainability</a:t>
                      </a:r>
                      <a:endParaRPr lang="en-US" sz="1050" b="0" u="none" strike="noStrike">
                        <a:solidFill>
                          <a:srgbClr val="FFFFFF"/>
                        </a:solidFill>
                        <a:effectLst/>
                        <a:uFillTx/>
                        <a:latin typeface="Arial"/>
                      </a:endParaRPr>
                    </a:p>
                    <a:p>
                      <a:pPr>
                        <a:lnSpc>
                          <a:spcPct val="100000"/>
                        </a:lnSpc>
                      </a:pPr>
                      <a:r>
                        <a:rPr lang="en-US" sz="1050" b="1" u="none" strike="noStrike">
                          <a:solidFill>
                            <a:srgbClr val="EAF2F8"/>
                          </a:solidFill>
                          <a:effectLst/>
                          <a:uFillTx/>
                          <a:latin typeface="DejaVu Sans"/>
                          <a:ea typeface="DejaVu Sans"/>
                        </a:rPr>
                        <a:t>Replay, forgetting, energy costs</a:t>
                      </a:r>
                      <a:endParaRPr lang="en-US" sz="10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2DD4BF"/>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2DD4BF"/>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2DD4BF"/>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2DD4BF"/>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c>
                  <a:txBody>
                    <a:bodyPr anchor="ctr">
                      <a:noAutofit/>
                    </a:bodyPr>
                    <a:p>
                      <a:pPr>
                        <a:lnSpc>
                          <a:spcPct val="100000"/>
                        </a:lnSpc>
                      </a:pPr>
                      <a:r>
                        <a:rPr lang="en-US" sz="980" b="0" u="none" strike="noStrike">
                          <a:solidFill>
                            <a:srgbClr val="B9CAD9"/>
                          </a:solidFill>
                          <a:effectLst/>
                          <a:uFillTx/>
                          <a:latin typeface="DejaVu Sans"/>
                          <a:ea typeface="DejaVu Sans"/>
                        </a:rPr>
                        <a:t>CL module and cost analysis</a:t>
                      </a:r>
                      <a:endParaRPr lang="en-US" sz="98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r>
              <a:tr h="561960">
                <a:tc>
                  <a:txBody>
                    <a:bodyPr anchor="ctr">
                      <a:noAutofit/>
                    </a:bodyPr>
                    <a:p>
                      <a:pPr>
                        <a:lnSpc>
                          <a:spcPct val="100000"/>
                        </a:lnSpc>
                      </a:pPr>
                      <a:r>
                        <a:rPr lang="en-US" sz="1050" b="1" u="none" strike="noStrike">
                          <a:solidFill>
                            <a:srgbClr val="EAF2F8"/>
                          </a:solidFill>
                          <a:effectLst/>
                          <a:uFillTx/>
                          <a:latin typeface="DejaVu Sans"/>
                          <a:ea typeface="DejaVu Sans"/>
                        </a:rPr>
                        <a:t>WP4  Digital twin co-evolution</a:t>
                      </a:r>
                      <a:endParaRPr lang="en-US" sz="1050" b="0" u="none" strike="noStrike">
                        <a:solidFill>
                          <a:srgbClr val="FFFFFF"/>
                        </a:solidFill>
                        <a:effectLst/>
                        <a:uFillTx/>
                        <a:latin typeface="Arial"/>
                      </a:endParaRPr>
                    </a:p>
                    <a:p>
                      <a:pPr>
                        <a:lnSpc>
                          <a:spcPct val="100000"/>
                        </a:lnSpc>
                      </a:pPr>
                      <a:r>
                        <a:rPr lang="en-US" sz="1050" b="1" u="none" strike="noStrike">
                          <a:solidFill>
                            <a:srgbClr val="EAF2F8"/>
                          </a:solidFill>
                          <a:effectLst/>
                          <a:uFillTx/>
                          <a:latin typeface="DejaVu Sans"/>
                          <a:ea typeface="DejaVu Sans"/>
                        </a:rPr>
                        <a:t>Disagreement, joint updates, safety</a:t>
                      </a:r>
                      <a:endParaRPr lang="en-US" sz="10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4EA1FF"/>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4EA1FF"/>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4EA1FF"/>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4EA1FF"/>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4EA1FF"/>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c>
                  <a:txBody>
                    <a:bodyPr anchor="ctr">
                      <a:noAutofit/>
                    </a:bodyPr>
                    <a:p>
                      <a:pPr>
                        <a:lnSpc>
                          <a:spcPct val="100000"/>
                        </a:lnSpc>
                      </a:pPr>
                      <a:r>
                        <a:rPr lang="en-US" sz="980" b="0" u="none" strike="noStrike">
                          <a:solidFill>
                            <a:srgbClr val="B9CAD9"/>
                          </a:solidFill>
                          <a:effectLst/>
                          <a:uFillTx/>
                          <a:latin typeface="DejaVu Sans"/>
                          <a:ea typeface="DejaVu Sans"/>
                        </a:rPr>
                        <a:t>Twin framework and testbed</a:t>
                      </a:r>
                      <a:endParaRPr lang="en-US" sz="98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r>
              <a:tr h="561960">
                <a:tc>
                  <a:txBody>
                    <a:bodyPr anchor="ctr">
                      <a:noAutofit/>
                    </a:bodyPr>
                    <a:p>
                      <a:pPr>
                        <a:lnSpc>
                          <a:spcPct val="100000"/>
                        </a:lnSpc>
                      </a:pPr>
                      <a:r>
                        <a:rPr lang="en-US" sz="1050" b="1" u="none" strike="noStrike">
                          <a:solidFill>
                            <a:srgbClr val="EAF2F8"/>
                          </a:solidFill>
                          <a:effectLst/>
                          <a:uFillTx/>
                          <a:latin typeface="DejaVu Sans"/>
                          <a:ea typeface="DejaVu Sans"/>
                        </a:rPr>
                        <a:t>WP5  Cross-domain evaluation</a:t>
                      </a:r>
                      <a:endParaRPr lang="en-US" sz="1050" b="0" u="none" strike="noStrike">
                        <a:solidFill>
                          <a:srgbClr val="FFFFFF"/>
                        </a:solidFill>
                        <a:effectLst/>
                        <a:uFillTx/>
                        <a:latin typeface="Arial"/>
                      </a:endParaRPr>
                    </a:p>
                    <a:p>
                      <a:pPr>
                        <a:lnSpc>
                          <a:spcPct val="100000"/>
                        </a:lnSpc>
                      </a:pPr>
                      <a:r>
                        <a:rPr lang="en-US" sz="1050" b="1" u="none" strike="noStrike">
                          <a:solidFill>
                            <a:srgbClr val="EAF2F8"/>
                          </a:solidFill>
                          <a:effectLst/>
                          <a:uFillTx/>
                          <a:latin typeface="DejaVu Sans"/>
                          <a:ea typeface="DejaVu Sans"/>
                        </a:rPr>
                        <a:t>BCI and photonic maintenance</a:t>
                      </a:r>
                      <a:endParaRPr lang="en-US" sz="10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2DD4BF"/>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2DD4BF"/>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2DD4BF"/>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2DD4BF"/>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2DD4BF"/>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c>
                  <a:txBody>
                    <a:bodyPr anchor="ctr">
                      <a:noAutofit/>
                    </a:bodyPr>
                    <a:p>
                      <a:pPr>
                        <a:lnSpc>
                          <a:spcPct val="100000"/>
                        </a:lnSpc>
                      </a:pPr>
                      <a:r>
                        <a:rPr lang="en-US" sz="980" b="0" u="none" strike="noStrike">
                          <a:solidFill>
                            <a:srgbClr val="B9CAD9"/>
                          </a:solidFill>
                          <a:effectLst/>
                          <a:uFillTx/>
                          <a:latin typeface="DejaVu Sans"/>
                          <a:ea typeface="DejaVu Sans"/>
                        </a:rPr>
                        <a:t>Compare retraining and periodic updates</a:t>
                      </a:r>
                      <a:endParaRPr lang="en-US" sz="98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B1A2A"/>
                    </a:solidFill>
                  </a:tcPr>
                </a:tc>
              </a:tr>
              <a:tr h="561960">
                <a:tc>
                  <a:txBody>
                    <a:bodyPr anchor="ctr">
                      <a:noAutofit/>
                    </a:bodyPr>
                    <a:p>
                      <a:pPr>
                        <a:lnSpc>
                          <a:spcPct val="100000"/>
                        </a:lnSpc>
                      </a:pPr>
                      <a:r>
                        <a:rPr lang="en-US" sz="1050" b="1" u="none" strike="noStrike">
                          <a:solidFill>
                            <a:srgbClr val="EAF2F8"/>
                          </a:solidFill>
                          <a:effectLst/>
                          <a:uFillTx/>
                          <a:latin typeface="DejaVu Sans"/>
                          <a:ea typeface="DejaVu Sans"/>
                        </a:rPr>
                        <a:t>WP6  Synthesis and engagement</a:t>
                      </a:r>
                      <a:endParaRPr lang="en-US" sz="1050" b="0" u="none" strike="noStrike">
                        <a:solidFill>
                          <a:srgbClr val="FFFFFF"/>
                        </a:solidFill>
                        <a:effectLst/>
                        <a:uFillTx/>
                        <a:latin typeface="Arial"/>
                      </a:endParaRPr>
                    </a:p>
                    <a:p>
                      <a:pPr>
                        <a:lnSpc>
                          <a:spcPct val="100000"/>
                        </a:lnSpc>
                      </a:pPr>
                      <a:r>
                        <a:rPr lang="en-US" sz="1050" b="1" u="none" strike="noStrike">
                          <a:solidFill>
                            <a:srgbClr val="EAF2F8"/>
                          </a:solidFill>
                          <a:effectLst/>
                          <a:uFillTx/>
                          <a:latin typeface="DejaVu Sans"/>
                          <a:ea typeface="DejaVu Sans"/>
                        </a:rPr>
                        <a:t>Manuscripts, release, stakeholders</a:t>
                      </a:r>
                      <a:endParaRPr lang="en-US" sz="10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4EA1FF"/>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4EA1FF"/>
                    </a:solidFill>
                  </a:tcPr>
                </a:tc>
                <a:tc>
                  <a:txBody>
                    <a:bodyPr anchor="ctr">
                      <a:noAutofit/>
                    </a:bodyPr>
                    <a:p>
                      <a:pPr/>
                      <a:endParaRPr lang="en-US" sz="1800" b="0" u="none" strike="noStrike">
                        <a:solidFill>
                          <a:schemeClr val="dk1"/>
                        </a:solidFill>
                        <a:effectLst/>
                        <a:uFillTx/>
                        <a:latin typeface="Calibri"/>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4EA1FF"/>
                    </a:solidFill>
                  </a:tcPr>
                </a:tc>
                <a:tc>
                  <a:txBody>
                    <a:bodyPr anchor="ctr">
                      <a:noAutofit/>
                    </a:bodyPr>
                    <a:p>
                      <a:pPr>
                        <a:lnSpc>
                          <a:spcPct val="100000"/>
                        </a:lnSpc>
                      </a:pPr>
                      <a:r>
                        <a:rPr lang="en-US" sz="980" b="0" u="none" strike="noStrike">
                          <a:solidFill>
                            <a:srgbClr val="B9CAD9"/>
                          </a:solidFill>
                          <a:effectLst/>
                          <a:uFillTx/>
                          <a:latin typeface="DejaVu Sans"/>
                          <a:ea typeface="DejaVu Sans"/>
                        </a:rPr>
                        <a:t>Submissions and adoption roadmap</a:t>
                      </a:r>
                      <a:endParaRPr lang="en-US" sz="98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E2031"/>
                    </a:solidFill>
                  </a:tcPr>
                </a:tc>
              </a:tr>
            </a:tbl>
          </a:graphicData>
        </a:graphic>
      </p:graphicFrame>
      <p:sp>
        <p:nvSpPr>
          <p:cNvPr id="415" name="Current starting point"/>
          <p:cNvSpPr/>
          <p:nvPr/>
        </p:nvSpPr>
        <p:spPr>
          <a:xfrm>
            <a:off x="685800" y="5905440"/>
            <a:ext cx="10762920" cy="4093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280" b="0" u="none" strike="noStrike">
                <a:solidFill>
                  <a:srgbClr val="EAF2F8"/>
                </a:solidFill>
                <a:effectLst/>
                <a:uFillTx/>
                <a:latin typeface="DejaVu Sans"/>
                <a:ea typeface="DejaVu Sans"/>
              </a:rPr>
              <a:t>October priority: lock reproduction settings, explain Stage-II gaps and export real EEG complementary traces.</a:t>
            </a:r>
            <a:endParaRPr lang="en-US" sz="128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9121F"/>
        </a:solidFill>
      </p:bgPr>
    </p:bg>
    <p:spTree>
      <p:nvGrpSpPr>
        <p:cNvPr id="1" name=""/>
        <p:cNvGrpSpPr/>
        <p:nvPr/>
      </p:nvGrpSpPr>
      <p:grpSpPr>
        <a:xfrm>
          <a:off x="0" y="0"/>
          <a:ext cx="0" cy="0"/>
          <a:chOff x="0" y="0"/>
          <a:chExt cx="0" cy="0"/>
        </a:xfrm>
      </p:grpSpPr>
      <p:sp>
        <p:nvSpPr>
          <p:cNvPr id="416" name="TextBox 1"/>
          <p:cNvSpPr/>
          <p:nvPr/>
        </p:nvSpPr>
        <p:spPr>
          <a:xfrm>
            <a:off x="612720" y="292680"/>
            <a:ext cx="10972440" cy="2923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1300" b="1" u="none" strike="noStrike">
                <a:solidFill>
                  <a:srgbClr val="78D8CC"/>
                </a:solidFill>
                <a:effectLst/>
                <a:uFillTx/>
                <a:latin typeface="DejaVu Sans"/>
                <a:ea typeface="Calibri"/>
              </a:rPr>
              <a:t>NEXT MILESTONE</a:t>
            </a:r>
            <a:endParaRPr lang="en-US" sz="1300" b="0" u="none" strike="noStrike">
              <a:solidFill>
                <a:srgbClr val="FFFFFF"/>
              </a:solidFill>
              <a:effectLst/>
              <a:uFillTx/>
              <a:latin typeface="Arial"/>
            </a:endParaRPr>
          </a:p>
        </p:txBody>
      </p:sp>
      <p:sp>
        <p:nvSpPr>
          <p:cNvPr id="417" name="TextBox 2"/>
          <p:cNvSpPr/>
          <p:nvPr/>
        </p:nvSpPr>
        <p:spPr>
          <a:xfrm>
            <a:off x="612720" y="777240"/>
            <a:ext cx="10972440" cy="6397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2700" b="1" u="none" strike="noStrike">
                <a:solidFill>
                  <a:srgbClr val="EAF2F8"/>
                </a:solidFill>
                <a:effectLst/>
                <a:uFillTx/>
                <a:latin typeface="DejaVu Sans"/>
                <a:ea typeface="Calibri"/>
              </a:rPr>
              <a:t>Next milestone: a reproducible evidence package</a:t>
            </a:r>
            <a:endParaRPr lang="en-US" sz="2700" b="0" u="none" strike="noStrike">
              <a:solidFill>
                <a:srgbClr val="FFFFFF"/>
              </a:solidFill>
              <a:effectLst/>
              <a:uFillTx/>
              <a:latin typeface="Arial"/>
            </a:endParaRPr>
          </a:p>
        </p:txBody>
      </p:sp>
      <p:sp>
        <p:nvSpPr>
          <p:cNvPr id="418" name="TextBox 3"/>
          <p:cNvSpPr/>
          <p:nvPr/>
        </p:nvSpPr>
        <p:spPr>
          <a:xfrm>
            <a:off x="612720" y="6053400"/>
            <a:ext cx="10972440" cy="32868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1100" b="0" u="none" strike="noStrike">
                <a:solidFill>
                  <a:srgbClr val="9CB0C3"/>
                </a:solidFill>
                <a:effectLst/>
                <a:uFillTx/>
                <a:latin typeface="DejaVu Sans"/>
                <a:ea typeface="Calibri"/>
              </a:rPr>
              <a:t>Repository evidence: 2a8d20b. Implemented capabilities and stored results are distinguished.</a:t>
            </a:r>
            <a:endParaRPr lang="en-US" sz="1100" b="0" u="none" strike="noStrike">
              <a:solidFill>
                <a:srgbClr val="FFFFFF"/>
              </a:solidFill>
              <a:effectLst/>
              <a:uFillTx/>
              <a:latin typeface="Arial"/>
            </a:endParaRPr>
          </a:p>
        </p:txBody>
      </p:sp>
      <p:sp>
        <p:nvSpPr>
          <p:cNvPr id="419" name="TextBox 4"/>
          <p:cNvSpPr/>
          <p:nvPr/>
        </p:nvSpPr>
        <p:spPr>
          <a:xfrm>
            <a:off x="612720" y="6510600"/>
            <a:ext cx="9143640" cy="1825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800" b="0" u="none" strike="noStrike">
                <a:solidFill>
                  <a:srgbClr val="9CB0C3"/>
                </a:solidFill>
                <a:effectLst/>
                <a:uFillTx/>
                <a:latin typeface="DejaVu Sans"/>
                <a:ea typeface="Calibri"/>
              </a:rPr>
              <a:t>hlin863/ewma_covariate_shift_demo</a:t>
            </a:r>
            <a:endParaRPr lang="en-US" sz="800" b="0" u="none" strike="noStrike">
              <a:solidFill>
                <a:srgbClr val="FFFFFF"/>
              </a:solidFill>
              <a:effectLst/>
              <a:uFillTx/>
              <a:latin typeface="Arial"/>
            </a:endParaRPr>
          </a:p>
        </p:txBody>
      </p:sp>
      <p:sp>
        <p:nvSpPr>
          <p:cNvPr id="420" name="TextBox 5"/>
          <p:cNvSpPr/>
          <p:nvPr/>
        </p:nvSpPr>
        <p:spPr>
          <a:xfrm>
            <a:off x="685800" y="1710000"/>
            <a:ext cx="10789560" cy="45684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2300" b="1" u="none" strike="noStrike">
                <a:solidFill>
                  <a:srgbClr val="78D8CC"/>
                </a:solidFill>
                <a:effectLst/>
                <a:uFillTx/>
                <a:latin typeface="DejaVu Sans"/>
                <a:ea typeface="Calibri"/>
              </a:rPr>
              <a:t>1. Reconcile the saved reproduction runs</a:t>
            </a:r>
            <a:endParaRPr lang="en-US" sz="2300" b="0" u="none" strike="noStrike">
              <a:solidFill>
                <a:srgbClr val="FFFFFF"/>
              </a:solidFill>
              <a:effectLst/>
              <a:uFillTx/>
              <a:latin typeface="Arial"/>
            </a:endParaRPr>
          </a:p>
        </p:txBody>
      </p:sp>
      <p:sp>
        <p:nvSpPr>
          <p:cNvPr id="421" name="TextBox 6"/>
          <p:cNvSpPr/>
          <p:nvPr/>
        </p:nvSpPr>
        <p:spPr>
          <a:xfrm>
            <a:off x="685800" y="2249280"/>
            <a:ext cx="10789560" cy="54828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2000" b="0" u="none" strike="noStrike">
                <a:solidFill>
                  <a:srgbClr val="EAF2F8"/>
                </a:solidFill>
                <a:effectLst/>
                <a:uFillTx/>
                <a:latin typeface="DejaVu Sans"/>
                <a:ea typeface="Calibri"/>
              </a:rPr>
              <a:t>Lock settings and explain the Stage-II accepted, rejected and ineligible events.</a:t>
            </a:r>
            <a:endParaRPr lang="en-US" sz="2000" b="0" u="none" strike="noStrike">
              <a:solidFill>
                <a:srgbClr val="FFFFFF"/>
              </a:solidFill>
              <a:effectLst/>
              <a:uFillTx/>
              <a:latin typeface="Arial"/>
            </a:endParaRPr>
          </a:p>
        </p:txBody>
      </p:sp>
      <p:sp>
        <p:nvSpPr>
          <p:cNvPr id="422" name="TextBox 7"/>
          <p:cNvSpPr/>
          <p:nvPr/>
        </p:nvSpPr>
        <p:spPr>
          <a:xfrm>
            <a:off x="685800" y="2990160"/>
            <a:ext cx="10789560" cy="45684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2300" b="1" u="none" strike="noStrike">
                <a:solidFill>
                  <a:srgbClr val="78D8CC"/>
                </a:solidFill>
                <a:effectLst/>
                <a:uFillTx/>
                <a:latin typeface="DejaVu Sans"/>
                <a:ea typeface="Calibri"/>
              </a:rPr>
              <a:t>2. Generate adaptation and real EEG evidence</a:t>
            </a:r>
            <a:endParaRPr lang="en-US" sz="2300" b="0" u="none" strike="noStrike">
              <a:solidFill>
                <a:srgbClr val="FFFFFF"/>
              </a:solidFill>
              <a:effectLst/>
              <a:uFillTx/>
              <a:latin typeface="Arial"/>
            </a:endParaRPr>
          </a:p>
        </p:txBody>
      </p:sp>
      <p:sp>
        <p:nvSpPr>
          <p:cNvPr id="423" name="TextBox 8"/>
          <p:cNvSpPr/>
          <p:nvPr/>
        </p:nvSpPr>
        <p:spPr>
          <a:xfrm>
            <a:off x="685800" y="3529440"/>
            <a:ext cx="10789560" cy="6397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2000" b="0" u="none" strike="noStrike">
                <a:solidFill>
                  <a:srgbClr val="EAF2F8"/>
                </a:solidFill>
                <a:effectLst/>
                <a:uFillTx/>
                <a:latin typeface="DejaVu Sans"/>
                <a:ea typeface="Calibri"/>
              </a:rPr>
              <a:t>Extend the saved Diethe pilot across three scenarios and 20 seeds. Export 2A/2B complementary traces.</a:t>
            </a:r>
            <a:endParaRPr lang="en-US" sz="2000" b="0" u="none" strike="noStrike">
              <a:solidFill>
                <a:srgbClr val="FFFFFF"/>
              </a:solidFill>
              <a:effectLst/>
              <a:uFillTx/>
              <a:latin typeface="Arial"/>
            </a:endParaRPr>
          </a:p>
        </p:txBody>
      </p:sp>
      <p:sp>
        <p:nvSpPr>
          <p:cNvPr id="424" name="TextBox 9"/>
          <p:cNvSpPr/>
          <p:nvPr/>
        </p:nvSpPr>
        <p:spPr>
          <a:xfrm>
            <a:off x="685800" y="4389120"/>
            <a:ext cx="10789560" cy="45684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2300" b="1" u="none" strike="noStrike">
                <a:solidFill>
                  <a:srgbClr val="78D8CC"/>
                </a:solidFill>
                <a:effectLst/>
                <a:uFillTx/>
                <a:latin typeface="DejaVu Sans"/>
                <a:ea typeface="Calibri"/>
              </a:rPr>
              <a:t>3. Align tests, slides and research notes</a:t>
            </a:r>
            <a:endParaRPr lang="en-US" sz="2300" b="0" u="none" strike="noStrike">
              <a:solidFill>
                <a:srgbClr val="FFFFFF"/>
              </a:solidFill>
              <a:effectLst/>
              <a:uFillTx/>
              <a:latin typeface="Arial"/>
            </a:endParaRPr>
          </a:p>
        </p:txBody>
      </p:sp>
      <p:sp>
        <p:nvSpPr>
          <p:cNvPr id="425" name="TextBox 10"/>
          <p:cNvSpPr/>
          <p:nvPr/>
        </p:nvSpPr>
        <p:spPr>
          <a:xfrm>
            <a:off x="685800" y="4919400"/>
            <a:ext cx="10789560" cy="77688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spcAft>
                <a:spcPts val="901"/>
              </a:spcAft>
            </a:pPr>
            <a:r>
              <a:rPr lang="en-US" sz="2000" b="0" u="none" strike="noStrike">
                <a:solidFill>
                  <a:srgbClr val="EAF2F8"/>
                </a:solidFill>
                <a:effectLst/>
                <a:uFillTx/>
                <a:latin typeface="DejaVu Sans"/>
                <a:ea typeface="Calibri"/>
              </a:rPr>
              <a:t>Resolve the homepage route assertion. Refresh Notion implementation status and link every numerical claim to its run.</a:t>
            </a:r>
            <a:endParaRPr lang="en-US" sz="2000" b="0" u="none" strike="noStrike">
              <a:solidFill>
                <a:srgbClr val="FFFFFF"/>
              </a:solidFill>
              <a:effectLst/>
              <a:uFillTx/>
              <a:latin typeface="Arial"/>
            </a:endParaRPr>
          </a:p>
        </p:txBody>
      </p:sp>
      <p:sp>
        <p:nvSpPr>
          <p:cNvPr id="426" name="TextBox 11"/>
          <p:cNvSpPr/>
          <p:nvPr/>
        </p:nvSpPr>
        <p:spPr>
          <a:xfrm>
            <a:off x="11045880" y="6510600"/>
            <a:ext cx="548280" cy="182520"/>
          </a:xfrm>
          <a:prstGeom prst="rect">
            <a:avLst/>
          </a:prstGeom>
          <a:noFill/>
          <a:ln w="0">
            <a:noFill/>
          </a:ln>
        </p:spPr>
        <p:style>
          <a:lnRef idx="0"/>
          <a:fillRef idx="0"/>
          <a:effectRef idx="0"/>
          <a:fontRef idx="minor"/>
        </p:style>
        <p:txBody>
          <a:bodyPr lIns="0" tIns="45000" rIns="0" bIns="45000" anchor="t">
            <a:spAutoFit/>
          </a:bodyPr>
          <a:p>
            <a:pPr defTabSz="914400">
              <a:lnSpc>
                <a:spcPct val="100000"/>
              </a:lnSpc>
            </a:pPr>
            <a:r>
              <a:rPr lang="en-US" sz="1800" b="0" u="none" strike="noStrike">
                <a:solidFill>
                  <a:srgbClr val="EAF2F8"/>
                </a:solidFill>
                <a:effectLst/>
                <a:uFillTx/>
                <a:latin typeface="Calibri"/>
                <a:ea typeface="Calibri"/>
              </a:rPr>
              <a:t>32</a:t>
            </a:r>
            <a:endParaRPr lang="en-US" sz="1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AFC"/>
        </a:solidFill>
      </p:bgPr>
    </p:bg>
    <p:spTree>
      <p:nvGrpSpPr>
        <p:cNvPr id="1" name=""/>
        <p:cNvGrpSpPr/>
        <p:nvPr/>
      </p:nvGrpSpPr>
      <p:grpSpPr>
        <a:xfrm>
          <a:off x="0" y="0"/>
          <a:ext cx="0" cy="0"/>
          <a:chOff x="0" y="0"/>
          <a:chExt cx="0" cy="0"/>
        </a:xfrm>
      </p:grpSpPr>
      <p:sp>
        <p:nvSpPr>
          <p:cNvPr id="427" name="TextBox 1"/>
          <p:cNvSpPr/>
          <p:nvPr/>
        </p:nvSpPr>
        <p:spPr>
          <a:xfrm>
            <a:off x="640080" y="365760"/>
            <a:ext cx="10058040" cy="25560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1000" b="1" u="none" strike="noStrike">
                <a:solidFill>
                  <a:srgbClr val="0D9488"/>
                </a:solidFill>
                <a:effectLst/>
                <a:uFillTx/>
                <a:latin typeface="Aptos"/>
                <a:ea typeface="Calibri"/>
              </a:rPr>
              <a:t>RESEARCH SOURCE TRAIL</a:t>
            </a:r>
            <a:endParaRPr lang="en-US" sz="1000" b="0" u="none" strike="noStrike">
              <a:solidFill>
                <a:srgbClr val="000000"/>
              </a:solidFill>
              <a:effectLst/>
              <a:uFillTx/>
              <a:latin typeface="Arial"/>
            </a:endParaRPr>
          </a:p>
        </p:txBody>
      </p:sp>
      <p:sp>
        <p:nvSpPr>
          <p:cNvPr id="428" name="TextBox 2"/>
          <p:cNvSpPr/>
          <p:nvPr/>
        </p:nvSpPr>
        <p:spPr>
          <a:xfrm>
            <a:off x="640080" y="713160"/>
            <a:ext cx="10972440" cy="61236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2800" b="1" u="none" strike="noStrike">
                <a:solidFill>
                  <a:srgbClr val="12233B"/>
                </a:solidFill>
                <a:effectLst/>
                <a:uFillTx/>
                <a:latin typeface="Aptos"/>
                <a:ea typeface="Calibri"/>
              </a:rPr>
              <a:t>Reading map and evidence hierarchy</a:t>
            </a:r>
            <a:endParaRPr lang="en-US" sz="2800" b="0" u="none" strike="noStrike">
              <a:solidFill>
                <a:srgbClr val="000000"/>
              </a:solidFill>
              <a:effectLst/>
              <a:uFillTx/>
              <a:latin typeface="Arial"/>
            </a:endParaRPr>
          </a:p>
        </p:txBody>
      </p:sp>
      <p:sp>
        <p:nvSpPr>
          <p:cNvPr id="429" name="TextBox 3"/>
          <p:cNvSpPr/>
          <p:nvPr/>
        </p:nvSpPr>
        <p:spPr>
          <a:xfrm>
            <a:off x="640080" y="1389960"/>
            <a:ext cx="10972440" cy="50256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1300" b="0" u="none" strike="noStrike">
                <a:solidFill>
                  <a:srgbClr val="516377"/>
                </a:solidFill>
                <a:effectLst/>
                <a:uFillTx/>
                <a:latin typeface="Aptos"/>
                <a:ea typeface="Calibri"/>
              </a:rPr>
              <a:t>Separate the original papers, code implementation, verified experimental findings and future research goals.</a:t>
            </a:r>
            <a:endParaRPr lang="en-US" sz="1300" b="0" u="none" strike="noStrike">
              <a:solidFill>
                <a:srgbClr val="000000"/>
              </a:solidFill>
              <a:effectLst/>
              <a:uFillTx/>
              <a:latin typeface="Arial"/>
            </a:endParaRPr>
          </a:p>
        </p:txBody>
      </p:sp>
      <p:sp>
        <p:nvSpPr>
          <p:cNvPr id="430" name="TextBox 4"/>
          <p:cNvSpPr/>
          <p:nvPr/>
        </p:nvSpPr>
        <p:spPr>
          <a:xfrm>
            <a:off x="640080" y="6519600"/>
            <a:ext cx="9143640" cy="20052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900" b="0" u="none" strike="noStrike">
                <a:solidFill>
                  <a:srgbClr val="516377"/>
                </a:solidFill>
                <a:effectLst/>
                <a:uFillTx/>
                <a:latin typeface="Aptos"/>
                <a:ea typeface="Calibri"/>
              </a:rPr>
              <a:t>Research progress | hlin863/ewma_covariate_shift_demo | Oct 2026</a:t>
            </a:r>
            <a:endParaRPr lang="en-US" sz="900" b="0" u="none" strike="noStrike">
              <a:solidFill>
                <a:srgbClr val="000000"/>
              </a:solidFill>
              <a:effectLst/>
              <a:uFillTx/>
              <a:latin typeface="Arial"/>
            </a:endParaRPr>
          </a:p>
        </p:txBody>
      </p:sp>
      <p:sp>
        <p:nvSpPr>
          <p:cNvPr id="431" name="Rounded Rectangle 5"/>
          <p:cNvSpPr/>
          <p:nvPr/>
        </p:nvSpPr>
        <p:spPr>
          <a:xfrm>
            <a:off x="640080" y="1993320"/>
            <a:ext cx="5348880" cy="3538440"/>
          </a:xfrm>
          <a:prstGeom prst="roundRect">
            <a:avLst>
              <a:gd name="adj" fmla="val 16667"/>
            </a:avLst>
          </a:prstGeom>
          <a:solidFill>
            <a:srgbClr val="FFFFFF"/>
          </a:solidFill>
          <a:ln>
            <a:solidFill>
              <a:srgbClr val="DBE5ED"/>
            </a:solidFill>
            <a:round/>
          </a:ln>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432" name="TextBox 6"/>
          <p:cNvSpPr/>
          <p:nvPr/>
        </p:nvSpPr>
        <p:spPr>
          <a:xfrm>
            <a:off x="795600" y="2112120"/>
            <a:ext cx="5037840" cy="31968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1700" b="1" u="none" strike="noStrike">
                <a:solidFill>
                  <a:srgbClr val="0D9488"/>
                </a:solidFill>
                <a:effectLst/>
                <a:uFillTx/>
                <a:latin typeface="Aptos"/>
                <a:ea typeface="Calibri"/>
              </a:rPr>
              <a:t>ORIGINAL LITERATURE</a:t>
            </a:r>
            <a:endParaRPr lang="en-US" sz="1700" b="0" u="none" strike="noStrike">
              <a:solidFill>
                <a:srgbClr val="000000"/>
              </a:solidFill>
              <a:effectLst/>
              <a:uFillTx/>
              <a:latin typeface="Arial"/>
            </a:endParaRPr>
          </a:p>
        </p:txBody>
      </p:sp>
      <p:sp>
        <p:nvSpPr>
          <p:cNvPr id="433" name="TextBox 7"/>
          <p:cNvSpPr/>
          <p:nvPr/>
        </p:nvSpPr>
        <p:spPr>
          <a:xfrm>
            <a:off x="795600" y="2523600"/>
            <a:ext cx="5037840" cy="289836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1300" b="0" u="none" strike="noStrike">
                <a:solidFill>
                  <a:srgbClr val="12233B"/>
                </a:solidFill>
                <a:effectLst/>
                <a:uFillTx/>
                <a:latin typeface="Aptos"/>
                <a:ea typeface="Calibri"/>
              </a:rPr>
              <a:t>Raza et al. (2015, 2019): CSE and adaptive ensemble.</a:t>
            </a:r>
            <a:endParaRPr lang="en-US" sz="1300" b="0" u="none" strike="noStrike">
              <a:solidFill>
                <a:srgbClr val="000000"/>
              </a:solidFill>
              <a:effectLst/>
              <a:uFillTx/>
              <a:latin typeface="Arial"/>
            </a:endParaRPr>
          </a:p>
          <a:p>
            <a:pPr defTabSz="914400">
              <a:lnSpc>
                <a:spcPct val="100000"/>
              </a:lnSpc>
              <a:spcAft>
                <a:spcPts val="601"/>
              </a:spcAft>
            </a:pPr>
            <a:r>
              <a:rPr lang="en-US" sz="1300" b="0" u="none" strike="noStrike">
                <a:solidFill>
                  <a:srgbClr val="12233B"/>
                </a:solidFill>
                <a:effectLst/>
                <a:uFillTx/>
                <a:latin typeface="Aptos"/>
                <a:ea typeface="Calibri"/>
              </a:rPr>
              <a:t>Chowdhury et al. (2018): online BCI, validated EWMA warnings.</a:t>
            </a:r>
            <a:endParaRPr lang="en-US" sz="1300" b="0" u="none" strike="noStrike">
              <a:solidFill>
                <a:srgbClr val="000000"/>
              </a:solidFill>
              <a:effectLst/>
              <a:uFillTx/>
              <a:latin typeface="Arial"/>
            </a:endParaRPr>
          </a:p>
          <a:p>
            <a:pPr defTabSz="914400">
              <a:lnSpc>
                <a:spcPct val="100000"/>
              </a:lnSpc>
              <a:spcAft>
                <a:spcPts val="601"/>
              </a:spcAft>
            </a:pPr>
            <a:r>
              <a:rPr lang="en-US" sz="1300" b="0" u="none" strike="noStrike">
                <a:solidFill>
                  <a:srgbClr val="12233B"/>
                </a:solidFill>
                <a:effectLst/>
                <a:uFillTx/>
                <a:latin typeface="Aptos"/>
                <a:ea typeface="Calibri"/>
              </a:rPr>
              <a:t>Park et al. (2023): mean versus second-order changes.</a:t>
            </a:r>
            <a:endParaRPr lang="en-US" sz="1300" b="0" u="none" strike="noStrike">
              <a:solidFill>
                <a:srgbClr val="000000"/>
              </a:solidFill>
              <a:effectLst/>
              <a:uFillTx/>
              <a:latin typeface="Arial"/>
            </a:endParaRPr>
          </a:p>
          <a:p>
            <a:pPr defTabSz="914400">
              <a:lnSpc>
                <a:spcPct val="100000"/>
              </a:lnSpc>
              <a:spcAft>
                <a:spcPts val="601"/>
              </a:spcAft>
            </a:pPr>
            <a:r>
              <a:rPr lang="en-US" sz="1300" b="0" u="none" strike="noStrike">
                <a:solidFill>
                  <a:srgbClr val="12233B"/>
                </a:solidFill>
                <a:effectLst/>
                <a:uFillTx/>
                <a:latin typeface="Aptos"/>
                <a:ea typeface="Calibri"/>
              </a:rPr>
              <a:t>Fearnhead &amp; Rigaill (2020): broader change-in-mean methodology.</a:t>
            </a:r>
            <a:endParaRPr lang="en-US" sz="1300" b="0" u="none" strike="noStrike">
              <a:solidFill>
                <a:srgbClr val="000000"/>
              </a:solidFill>
              <a:effectLst/>
              <a:uFillTx/>
              <a:latin typeface="Arial"/>
            </a:endParaRPr>
          </a:p>
        </p:txBody>
      </p:sp>
      <p:sp>
        <p:nvSpPr>
          <p:cNvPr id="434" name="Rounded Rectangle 8"/>
          <p:cNvSpPr/>
          <p:nvPr/>
        </p:nvSpPr>
        <p:spPr>
          <a:xfrm>
            <a:off x="6217920" y="1993320"/>
            <a:ext cx="5348880" cy="3538440"/>
          </a:xfrm>
          <a:prstGeom prst="roundRect">
            <a:avLst>
              <a:gd name="adj" fmla="val 16667"/>
            </a:avLst>
          </a:prstGeom>
          <a:solidFill>
            <a:srgbClr val="FFFFFF"/>
          </a:solidFill>
          <a:ln>
            <a:solidFill>
              <a:srgbClr val="DBE5ED"/>
            </a:solidFill>
            <a:round/>
          </a:ln>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435" name="TextBox 9"/>
          <p:cNvSpPr/>
          <p:nvPr/>
        </p:nvSpPr>
        <p:spPr>
          <a:xfrm>
            <a:off x="6373440" y="2112120"/>
            <a:ext cx="5037840" cy="31968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1700" b="1" u="none" strike="noStrike">
                <a:solidFill>
                  <a:srgbClr val="0D9488"/>
                </a:solidFill>
                <a:effectLst/>
                <a:uFillTx/>
                <a:latin typeface="Aptos"/>
                <a:ea typeface="Calibri"/>
              </a:rPr>
              <a:t>CURRENT EVIDENCE</a:t>
            </a:r>
            <a:endParaRPr lang="en-US" sz="1700" b="0" u="none" strike="noStrike">
              <a:solidFill>
                <a:srgbClr val="000000"/>
              </a:solidFill>
              <a:effectLst/>
              <a:uFillTx/>
              <a:latin typeface="Arial"/>
            </a:endParaRPr>
          </a:p>
        </p:txBody>
      </p:sp>
      <p:sp>
        <p:nvSpPr>
          <p:cNvPr id="436" name="TextBox 10"/>
          <p:cNvSpPr/>
          <p:nvPr/>
        </p:nvSpPr>
        <p:spPr>
          <a:xfrm>
            <a:off x="6373440" y="2523600"/>
            <a:ext cx="5037840" cy="289836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1300" b="0" u="none" strike="noStrike">
                <a:solidFill>
                  <a:srgbClr val="12233B"/>
                </a:solidFill>
                <a:effectLst/>
                <a:uFillTx/>
                <a:latin typeface="Aptos"/>
                <a:ea typeface="Calibri"/>
              </a:rPr>
              <a:t>Reconstructed CSE, multiple Stage-II options.</a:t>
            </a:r>
            <a:endParaRPr lang="en-US" sz="1300" b="0" u="none" strike="noStrike">
              <a:solidFill>
                <a:srgbClr val="000000"/>
              </a:solidFill>
              <a:effectLst/>
              <a:uFillTx/>
              <a:latin typeface="Arial"/>
            </a:endParaRPr>
          </a:p>
          <a:p>
            <a:pPr defTabSz="914400">
              <a:lnSpc>
                <a:spcPct val="100000"/>
              </a:lnSpc>
              <a:spcAft>
                <a:spcPts val="601"/>
              </a:spcAft>
            </a:pPr>
            <a:r>
              <a:rPr lang="en-US" sz="1300" b="0" u="none" strike="noStrike">
                <a:solidFill>
                  <a:srgbClr val="12233B"/>
                </a:solidFill>
                <a:effectLst/>
                <a:uFillTx/>
                <a:latin typeface="Aptos"/>
                <a:ea typeface="Calibri"/>
              </a:rPr>
              <a:t>Park candidate curves, not confirmation.</a:t>
            </a:r>
            <a:endParaRPr lang="en-US" sz="1300" b="0" u="none" strike="noStrike">
              <a:solidFill>
                <a:srgbClr val="000000"/>
              </a:solidFill>
              <a:effectLst/>
              <a:uFillTx/>
              <a:latin typeface="Arial"/>
            </a:endParaRPr>
          </a:p>
          <a:p>
            <a:pPr defTabSz="914400">
              <a:lnSpc>
                <a:spcPct val="100000"/>
              </a:lnSpc>
              <a:spcAft>
                <a:spcPts val="601"/>
              </a:spcAft>
            </a:pPr>
            <a:r>
              <a:rPr lang="en-US" sz="1300" b="0" u="none" strike="noStrike">
                <a:solidFill>
                  <a:srgbClr val="12233B"/>
                </a:solidFill>
                <a:effectLst/>
                <a:uFillTx/>
                <a:latin typeface="Aptos"/>
                <a:ea typeface="Calibri"/>
              </a:rPr>
              <a:t>Six-policy supervised lab, not conclusive rankings.</a:t>
            </a:r>
            <a:endParaRPr lang="en-US" sz="1300" b="0" u="none" strike="noStrike">
              <a:solidFill>
                <a:srgbClr val="000000"/>
              </a:solidFill>
              <a:effectLst/>
              <a:uFillTx/>
              <a:latin typeface="Arial"/>
            </a:endParaRPr>
          </a:p>
          <a:p>
            <a:pPr defTabSz="914400">
              <a:lnSpc>
                <a:spcPct val="100000"/>
              </a:lnSpc>
              <a:spcAft>
                <a:spcPts val="601"/>
              </a:spcAft>
            </a:pPr>
            <a:r>
              <a:rPr lang="en-US" sz="1300" b="0" u="none" strike="noStrike">
                <a:solidFill>
                  <a:srgbClr val="12233B"/>
                </a:solidFill>
                <a:effectLst/>
                <a:uFillTx/>
                <a:latin typeface="Aptos"/>
                <a:ea typeface="Calibri"/>
              </a:rPr>
              <a:t>Published EEG subject-level count agreement unresolved.</a:t>
            </a:r>
            <a:endParaRPr lang="en-US" sz="1300" b="0" u="none" strike="noStrike">
              <a:solidFill>
                <a:srgbClr val="000000"/>
              </a:solidFill>
              <a:effectLst/>
              <a:uFillTx/>
              <a:latin typeface="Arial"/>
            </a:endParaRPr>
          </a:p>
          <a:p>
            <a:pPr defTabSz="914400">
              <a:lnSpc>
                <a:spcPct val="100000"/>
              </a:lnSpc>
              <a:spcAft>
                <a:spcPts val="601"/>
              </a:spcAft>
            </a:pPr>
            <a:r>
              <a:rPr lang="en-US" sz="1300" b="0" u="none" strike="noStrike">
                <a:solidFill>
                  <a:srgbClr val="12233B"/>
                </a:solidFill>
                <a:effectLst/>
                <a:uFillTx/>
                <a:latin typeface="Aptos"/>
                <a:ea typeface="Calibri"/>
              </a:rPr>
              <a:t>No validated energy or continual-learning retention result.</a:t>
            </a:r>
            <a:endParaRPr lang="en-US" sz="1300" b="0" u="none" strike="noStrike">
              <a:solidFill>
                <a:srgbClr val="000000"/>
              </a:solidFill>
              <a:effectLst/>
              <a:uFillTx/>
              <a:latin typeface="Arial"/>
            </a:endParaRPr>
          </a:p>
        </p:txBody>
      </p:sp>
      <p:sp>
        <p:nvSpPr>
          <p:cNvPr id="437" name="TextBox 11"/>
          <p:cNvSpPr/>
          <p:nvPr/>
        </p:nvSpPr>
        <p:spPr>
          <a:xfrm>
            <a:off x="822960" y="5678280"/>
            <a:ext cx="10972440" cy="383760"/>
          </a:xfrm>
          <a:prstGeom prst="rect">
            <a:avLst/>
          </a:prstGeom>
          <a:noFill/>
          <a:ln w="0">
            <a:noFill/>
          </a:ln>
        </p:spPr>
        <p:style>
          <a:lnRef idx="0"/>
          <a:fillRef idx="0"/>
          <a:effectRef idx="0"/>
          <a:fontRef idx="minor"/>
        </p:style>
        <p:txBody>
          <a:bodyPr lIns="27360" tIns="18360" rIns="90000" bIns="45000" anchor="t">
            <a:spAutoFit/>
          </a:bodyPr>
          <a:p>
            <a:pPr defTabSz="914400">
              <a:lnSpc>
                <a:spcPct val="100000"/>
              </a:lnSpc>
              <a:spcAft>
                <a:spcPts val="601"/>
              </a:spcAft>
            </a:pPr>
            <a:r>
              <a:rPr lang="en-US" sz="1200" b="1" u="none" strike="noStrike">
                <a:solidFill>
                  <a:srgbClr val="12233B"/>
                </a:solidFill>
                <a:effectLst/>
                <a:uFillTx/>
                <a:latin typeface="Aptos"/>
                <a:ea typeface="Calibri"/>
              </a:rPr>
              <a:t>Next: report matched configurations, validation statuses, seeds, provenance and numerical outcomes before upgrading claims.</a:t>
            </a:r>
            <a:endParaRPr lang="en-US" sz="1200" b="0" u="none" strike="noStrike">
              <a:solidFill>
                <a:srgbClr val="000000"/>
              </a:solidFill>
              <a:effectLst/>
              <a:uFillTx/>
              <a:latin typeface="Arial"/>
            </a:endParaRPr>
          </a:p>
        </p:txBody>
      </p:sp>
      <p:sp>
        <p:nvSpPr>
          <p:cNvPr id="438" name="Slide number"/>
          <p:cNvSpPr/>
          <p:nvPr/>
        </p:nvSpPr>
        <p:spPr>
          <a:xfrm>
            <a:off x="11334600" y="6429240"/>
            <a:ext cx="380520" cy="256680"/>
          </a:xfrm>
          <a:noFill/>
          <a:ln w="0">
            <a:noFill/>
          </a:ln>
        </p:spPr>
        <p:style>
          <a:lnRef idx="0"/>
          <a:fillRef idx="0"/>
          <a:effectRef idx="0"/>
          <a:fontRef idx="minor"/>
        </p:style>
        <p:txBody>
          <a:bodyPr lIns="90000" tIns="45000" rIns="90000" bIns="45000" anchor="t">
            <a:noAutofit/>
          </a:bodyPr>
          <a:p>
            <a:pPr defTabSz="914400">
              <a:lnSpc>
                <a:spcPct val="100000"/>
              </a:lnSpc>
            </a:pPr>
            <a:r>
              <a:rPr lang="en-US" sz="1200" b="0" u="none" strike="noStrike">
                <a:solidFill>
                  <a:srgbClr val="516377"/>
                </a:solidFill>
                <a:effectLst/>
                <a:uFillTx/>
                <a:latin typeface="Calibri"/>
                <a:ea typeface="Calibri"/>
              </a:rPr>
              <a:t>33</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AFC"/>
        </a:solidFill>
      </p:bgPr>
    </p:bg>
    <p:spTree>
      <p:nvGrpSpPr>
        <p:cNvPr id="1" name=""/>
        <p:cNvGrpSpPr/>
        <p:nvPr/>
      </p:nvGrpSpPr>
      <p:grpSpPr>
        <a:xfrm>
          <a:off x="0" y="0"/>
          <a:ext cx="0" cy="0"/>
          <a:chOff x="0" y="0"/>
          <a:chExt cx="0" cy="0"/>
        </a:xfrm>
      </p:grpSpPr>
      <p:sp>
        <p:nvSpPr>
          <p:cNvPr id="439" name=""/>
          <p:cNvSpPr/>
          <p:nvPr/>
        </p:nvSpPr>
        <p:spPr>
          <a:xfrm>
            <a:off x="638280" y="324000"/>
            <a:ext cx="10953360" cy="2376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050" b="1" u="none" strike="noStrike">
                <a:solidFill>
                  <a:srgbClr val="0D9488"/>
                </a:solidFill>
                <a:effectLst/>
                <a:uFillTx/>
                <a:latin typeface="+mn-lt"/>
                <a:ea typeface="+mn-lt"/>
              </a:rPr>
              <a:t>EQUATION REFERENCE INDEX</a:t>
            </a:r>
            <a:endParaRPr lang="en-US" sz="1050" b="0" u="none" strike="noStrike">
              <a:solidFill>
                <a:srgbClr val="000000"/>
              </a:solidFill>
              <a:effectLst/>
              <a:uFillTx/>
              <a:latin typeface="Arial"/>
            </a:endParaRPr>
          </a:p>
        </p:txBody>
      </p:sp>
      <p:sp>
        <p:nvSpPr>
          <p:cNvPr id="440" name=""/>
          <p:cNvSpPr/>
          <p:nvPr/>
        </p:nvSpPr>
        <p:spPr>
          <a:xfrm>
            <a:off x="638280" y="704880"/>
            <a:ext cx="10953360" cy="6282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2700" b="1" u="none" strike="noStrike">
                <a:solidFill>
                  <a:srgbClr val="12233B"/>
                </a:solidFill>
                <a:effectLst/>
                <a:uFillTx/>
                <a:latin typeface="+mn-lt"/>
                <a:ea typeface="+mn-lt"/>
              </a:rPr>
              <a:t>Equation labels and source locations</a:t>
            </a:r>
            <a:endParaRPr lang="en-US" sz="2700" b="0" u="none" strike="noStrike">
              <a:solidFill>
                <a:srgbClr val="000000"/>
              </a:solidFill>
              <a:effectLst/>
              <a:uFillTx/>
              <a:latin typeface="Arial"/>
            </a:endParaRPr>
          </a:p>
        </p:txBody>
      </p:sp>
      <p:sp>
        <p:nvSpPr>
          <p:cNvPr id="441" name=""/>
          <p:cNvSpPr/>
          <p:nvPr/>
        </p:nvSpPr>
        <p:spPr>
          <a:xfrm>
            <a:off x="638280" y="6467400"/>
            <a:ext cx="10000800" cy="20916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900" b="0" u="none" strike="noStrike">
                <a:solidFill>
                  <a:srgbClr val="516377"/>
                </a:solidFill>
                <a:effectLst/>
                <a:uFillTx/>
                <a:latin typeface="+mn-lt"/>
                <a:ea typeface="+mn-lt"/>
              </a:rPr>
              <a:t>Research progress · hlin863/ewma_covariate_shift_demo · October 2026</a:t>
            </a:r>
            <a:endParaRPr lang="en-US" sz="900" b="0" u="none" strike="noStrike">
              <a:solidFill>
                <a:srgbClr val="000000"/>
              </a:solidFill>
              <a:effectLst/>
              <a:uFillTx/>
              <a:latin typeface="Arial"/>
            </a:endParaRPr>
          </a:p>
        </p:txBody>
      </p:sp>
      <p:sp>
        <p:nvSpPr>
          <p:cNvPr id="442" name=""/>
          <p:cNvSpPr/>
          <p:nvPr/>
        </p:nvSpPr>
        <p:spPr>
          <a:xfrm>
            <a:off x="11334600" y="6429240"/>
            <a:ext cx="380520" cy="2566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200" b="0" u="none" strike="noStrike">
                <a:solidFill>
                  <a:srgbClr val="516377"/>
                </a:solidFill>
                <a:effectLst/>
                <a:uFillTx/>
                <a:latin typeface="+mn-lt"/>
                <a:ea typeface="+mn-lt"/>
              </a:rPr>
              <a:t>34</a:t>
            </a:r>
            <a:endParaRPr lang="en-US" sz="1200" b="0" u="none" strike="noStrike">
              <a:solidFill>
                <a:srgbClr val="000000"/>
              </a:solidFill>
              <a:effectLst/>
              <a:uFillTx/>
              <a:latin typeface="Arial"/>
            </a:endParaRPr>
          </a:p>
        </p:txBody>
      </p:sp>
      <p:sp>
        <p:nvSpPr>
          <p:cNvPr id="443" name=""/>
          <p:cNvSpPr/>
          <p:nvPr/>
        </p:nvSpPr>
        <p:spPr>
          <a:xfrm>
            <a:off x="666720" y="1523880"/>
            <a:ext cx="4381200" cy="4759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430" b="1" u="none" strike="noStrike">
                <a:solidFill>
                  <a:srgbClr val="0D9488"/>
                </a:solidFill>
                <a:effectLst/>
                <a:uFillTx/>
                <a:latin typeface="+mn-lt"/>
                <a:ea typeface="+mn-lt"/>
              </a:rPr>
              <a:t>EQ-PARK-2023-2.2</a:t>
            </a:r>
            <a:endParaRPr lang="en-US" sz="1430" b="0" u="none" strike="noStrike">
              <a:solidFill>
                <a:srgbClr val="000000"/>
              </a:solidFill>
              <a:effectLst/>
              <a:uFillTx/>
              <a:latin typeface="Arial"/>
            </a:endParaRPr>
          </a:p>
        </p:txBody>
      </p:sp>
      <p:sp>
        <p:nvSpPr>
          <p:cNvPr id="444" name=""/>
          <p:cNvSpPr/>
          <p:nvPr/>
        </p:nvSpPr>
        <p:spPr>
          <a:xfrm>
            <a:off x="5048280" y="1523880"/>
            <a:ext cx="5143320" cy="4759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500" b="0" u="none" strike="noStrike">
                <a:solidFill>
                  <a:srgbClr val="12233B"/>
                </a:solidFill>
                <a:effectLst/>
                <a:uFillTx/>
                <a:latin typeface="+mn-lt"/>
                <a:ea typeface="+mn-lt"/>
              </a:rPr>
              <a:t>Park feature-wise contrast</a:t>
            </a:r>
            <a:endParaRPr lang="en-US" sz="1500" b="0" u="none" strike="noStrike">
              <a:solidFill>
                <a:srgbClr val="000000"/>
              </a:solidFill>
              <a:effectLst/>
              <a:uFillTx/>
              <a:latin typeface="Arial"/>
            </a:endParaRPr>
          </a:p>
        </p:txBody>
      </p:sp>
      <p:sp>
        <p:nvSpPr>
          <p:cNvPr id="445" name=""/>
          <p:cNvSpPr/>
          <p:nvPr/>
        </p:nvSpPr>
        <p:spPr>
          <a:xfrm>
            <a:off x="10382400" y="1523880"/>
            <a:ext cx="1142640" cy="4759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430" b="0" u="none" strike="noStrike">
                <a:solidFill>
                  <a:srgbClr val="12233B"/>
                </a:solidFill>
                <a:effectLst/>
                <a:uFillTx/>
                <a:latin typeface="+mn-lt"/>
                <a:ea typeface="+mn-lt"/>
              </a:rPr>
              <a:t>Slide 5</a:t>
            </a:r>
            <a:endParaRPr lang="en-US" sz="1430" b="0" u="none" strike="noStrike">
              <a:solidFill>
                <a:srgbClr val="000000"/>
              </a:solidFill>
              <a:effectLst/>
              <a:uFillTx/>
              <a:latin typeface="Arial"/>
            </a:endParaRPr>
          </a:p>
        </p:txBody>
      </p:sp>
      <p:sp>
        <p:nvSpPr>
          <p:cNvPr id="446" name=""/>
          <p:cNvSpPr/>
          <p:nvPr/>
        </p:nvSpPr>
        <p:spPr>
          <a:xfrm>
            <a:off x="666720" y="2143080"/>
            <a:ext cx="4381200" cy="4759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430" b="1" u="none" strike="noStrike">
                <a:solidFill>
                  <a:srgbClr val="0D9488"/>
                </a:solidFill>
                <a:effectLst/>
                <a:uFillTx/>
                <a:latin typeface="+mn-lt"/>
                <a:ea typeface="+mn-lt"/>
              </a:rPr>
              <a:t>EQ-PARK-AGG / EQ-PARK-PEAK</a:t>
            </a:r>
            <a:endParaRPr lang="en-US" sz="1430" b="0" u="none" strike="noStrike">
              <a:solidFill>
                <a:srgbClr val="000000"/>
              </a:solidFill>
              <a:effectLst/>
              <a:uFillTx/>
              <a:latin typeface="Arial"/>
            </a:endParaRPr>
          </a:p>
        </p:txBody>
      </p:sp>
      <p:sp>
        <p:nvSpPr>
          <p:cNvPr id="447" name=""/>
          <p:cNvSpPr/>
          <p:nvPr/>
        </p:nvSpPr>
        <p:spPr>
          <a:xfrm>
            <a:off x="5048280" y="2143080"/>
            <a:ext cx="5143320" cy="4759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500" b="0" u="none" strike="noStrike">
                <a:solidFill>
                  <a:srgbClr val="12233B"/>
                </a:solidFill>
                <a:effectLst/>
                <a:uFillTx/>
                <a:latin typeface="+mn-lt"/>
                <a:ea typeface="+mn-lt"/>
              </a:rPr>
              <a:t>Aggregate curves and peak locations</a:t>
            </a:r>
            <a:endParaRPr lang="en-US" sz="1500" b="0" u="none" strike="noStrike">
              <a:solidFill>
                <a:srgbClr val="000000"/>
              </a:solidFill>
              <a:effectLst/>
              <a:uFillTx/>
              <a:latin typeface="Arial"/>
            </a:endParaRPr>
          </a:p>
        </p:txBody>
      </p:sp>
      <p:sp>
        <p:nvSpPr>
          <p:cNvPr id="448" name=""/>
          <p:cNvSpPr/>
          <p:nvPr/>
        </p:nvSpPr>
        <p:spPr>
          <a:xfrm>
            <a:off x="10382400" y="2143080"/>
            <a:ext cx="1142640" cy="4759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430" b="0" u="none" strike="noStrike">
                <a:solidFill>
                  <a:srgbClr val="12233B"/>
                </a:solidFill>
                <a:effectLst/>
                <a:uFillTx/>
                <a:latin typeface="+mn-lt"/>
                <a:ea typeface="+mn-lt"/>
              </a:rPr>
              <a:t>Slide 6</a:t>
            </a:r>
            <a:endParaRPr lang="en-US" sz="1430" b="0" u="none" strike="noStrike">
              <a:solidFill>
                <a:srgbClr val="000000"/>
              </a:solidFill>
              <a:effectLst/>
              <a:uFillTx/>
              <a:latin typeface="Arial"/>
            </a:endParaRPr>
          </a:p>
        </p:txBody>
      </p:sp>
      <p:sp>
        <p:nvSpPr>
          <p:cNvPr id="449" name=""/>
          <p:cNvSpPr/>
          <p:nvPr/>
        </p:nvSpPr>
        <p:spPr>
          <a:xfrm>
            <a:off x="666720" y="2762280"/>
            <a:ext cx="4381200" cy="4759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430" b="1" u="none" strike="noStrike">
                <a:solidFill>
                  <a:srgbClr val="0D9488"/>
                </a:solidFill>
                <a:effectLst/>
                <a:uFillTx/>
                <a:latin typeface="+mn-lt"/>
                <a:ea typeface="+mn-lt"/>
              </a:rPr>
              <a:t>CSP / PCA</a:t>
            </a:r>
            <a:endParaRPr lang="en-US" sz="1430" b="0" u="none" strike="noStrike">
              <a:solidFill>
                <a:srgbClr val="000000"/>
              </a:solidFill>
              <a:effectLst/>
              <a:uFillTx/>
              <a:latin typeface="Arial"/>
            </a:endParaRPr>
          </a:p>
        </p:txBody>
      </p:sp>
      <p:sp>
        <p:nvSpPr>
          <p:cNvPr id="450" name=""/>
          <p:cNvSpPr/>
          <p:nvPr/>
        </p:nvSpPr>
        <p:spPr>
          <a:xfrm>
            <a:off x="5048280" y="2762280"/>
            <a:ext cx="5143320" cy="4759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500" b="0" u="none" strike="noStrike">
                <a:solidFill>
                  <a:srgbClr val="12233B"/>
                </a:solidFill>
                <a:effectLst/>
                <a:uFillTx/>
                <a:latin typeface="+mn-lt"/>
                <a:ea typeface="+mn-lt"/>
              </a:rPr>
              <a:t>Spatial filters, log variance, PC1</a:t>
            </a:r>
            <a:endParaRPr lang="en-US" sz="1500" b="0" u="none" strike="noStrike">
              <a:solidFill>
                <a:srgbClr val="000000"/>
              </a:solidFill>
              <a:effectLst/>
              <a:uFillTx/>
              <a:latin typeface="Arial"/>
            </a:endParaRPr>
          </a:p>
        </p:txBody>
      </p:sp>
      <p:sp>
        <p:nvSpPr>
          <p:cNvPr id="451" name=""/>
          <p:cNvSpPr/>
          <p:nvPr/>
        </p:nvSpPr>
        <p:spPr>
          <a:xfrm>
            <a:off x="10382400" y="2762280"/>
            <a:ext cx="1142640" cy="4759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430" b="0" u="none" strike="noStrike">
                <a:solidFill>
                  <a:srgbClr val="12233B"/>
                </a:solidFill>
                <a:effectLst/>
                <a:uFillTx/>
                <a:latin typeface="+mn-lt"/>
                <a:ea typeface="+mn-lt"/>
              </a:rPr>
              <a:t>Slide 14</a:t>
            </a:r>
            <a:endParaRPr lang="en-US" sz="1430" b="0" u="none" strike="noStrike">
              <a:solidFill>
                <a:srgbClr val="000000"/>
              </a:solidFill>
              <a:effectLst/>
              <a:uFillTx/>
              <a:latin typeface="Arial"/>
            </a:endParaRPr>
          </a:p>
        </p:txBody>
      </p:sp>
      <p:sp>
        <p:nvSpPr>
          <p:cNvPr id="452" name=""/>
          <p:cNvSpPr/>
          <p:nvPr/>
        </p:nvSpPr>
        <p:spPr>
          <a:xfrm>
            <a:off x="666720" y="3381480"/>
            <a:ext cx="4381200" cy="4759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430" b="1" u="none" strike="noStrike">
                <a:solidFill>
                  <a:srgbClr val="0D9488"/>
                </a:solidFill>
                <a:effectLst/>
                <a:uFillTx/>
                <a:latin typeface="+mn-lt"/>
                <a:ea typeface="+mn-lt"/>
              </a:rPr>
              <a:t>FIXED-MAPPING</a:t>
            </a:r>
            <a:endParaRPr lang="en-US" sz="1430" b="0" u="none" strike="noStrike">
              <a:solidFill>
                <a:srgbClr val="000000"/>
              </a:solidFill>
              <a:effectLst/>
              <a:uFillTx/>
              <a:latin typeface="Arial"/>
            </a:endParaRPr>
          </a:p>
        </p:txBody>
      </p:sp>
      <p:sp>
        <p:nvSpPr>
          <p:cNvPr id="453" name=""/>
          <p:cNvSpPr/>
          <p:nvPr/>
        </p:nvSpPr>
        <p:spPr>
          <a:xfrm>
            <a:off x="5048280" y="3381480"/>
            <a:ext cx="5143320" cy="4759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500" b="0" u="none" strike="noStrike">
                <a:solidFill>
                  <a:srgbClr val="12233B"/>
                </a:solidFill>
                <a:effectLst/>
                <a:uFillTx/>
                <a:latin typeface="+mn-lt"/>
                <a:ea typeface="+mn-lt"/>
              </a:rPr>
              <a:t>Feature mapping, PCA and classifier</a:t>
            </a:r>
            <a:endParaRPr lang="en-US" sz="1500" b="0" u="none" strike="noStrike">
              <a:solidFill>
                <a:srgbClr val="000000"/>
              </a:solidFill>
              <a:effectLst/>
              <a:uFillTx/>
              <a:latin typeface="Arial"/>
            </a:endParaRPr>
          </a:p>
        </p:txBody>
      </p:sp>
      <p:sp>
        <p:nvSpPr>
          <p:cNvPr id="454" name=""/>
          <p:cNvSpPr/>
          <p:nvPr/>
        </p:nvSpPr>
        <p:spPr>
          <a:xfrm>
            <a:off x="10382400" y="3381480"/>
            <a:ext cx="1142640" cy="4759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430" b="0" u="none" strike="noStrike">
                <a:solidFill>
                  <a:srgbClr val="12233B"/>
                </a:solidFill>
                <a:effectLst/>
                <a:uFillTx/>
                <a:latin typeface="+mn-lt"/>
                <a:ea typeface="+mn-lt"/>
              </a:rPr>
              <a:t>Slide 15</a:t>
            </a:r>
            <a:endParaRPr lang="en-US" sz="1430" b="0" u="none" strike="noStrike">
              <a:solidFill>
                <a:srgbClr val="000000"/>
              </a:solidFill>
              <a:effectLst/>
              <a:uFillTx/>
              <a:latin typeface="Arial"/>
            </a:endParaRPr>
          </a:p>
        </p:txBody>
      </p:sp>
      <p:sp>
        <p:nvSpPr>
          <p:cNvPr id="455" name=""/>
          <p:cNvSpPr/>
          <p:nvPr/>
        </p:nvSpPr>
        <p:spPr>
          <a:xfrm>
            <a:off x="666720" y="4000680"/>
            <a:ext cx="4381200" cy="4759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430" b="1" u="none" strike="noStrike">
                <a:solidFill>
                  <a:srgbClr val="0D9488"/>
                </a:solidFill>
                <a:effectLst/>
                <a:uFillTx/>
                <a:latin typeface="+mn-lt"/>
                <a:ea typeface="+mn-lt"/>
              </a:rPr>
              <a:t>EWMA-STATE / LIMITS / VARIANCE</a:t>
            </a:r>
            <a:endParaRPr lang="en-US" sz="1430" b="0" u="none" strike="noStrike">
              <a:solidFill>
                <a:srgbClr val="000000"/>
              </a:solidFill>
              <a:effectLst/>
              <a:uFillTx/>
              <a:latin typeface="Arial"/>
            </a:endParaRPr>
          </a:p>
        </p:txBody>
      </p:sp>
      <p:sp>
        <p:nvSpPr>
          <p:cNvPr id="456" name=""/>
          <p:cNvSpPr/>
          <p:nvPr/>
        </p:nvSpPr>
        <p:spPr>
          <a:xfrm>
            <a:off x="5048280" y="4000680"/>
            <a:ext cx="5143320" cy="4759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500" b="0" u="none" strike="noStrike">
                <a:solidFill>
                  <a:srgbClr val="12233B"/>
                </a:solidFill>
                <a:effectLst/>
                <a:uFillTx/>
                <a:latin typeface="+mn-lt"/>
                <a:ea typeface="+mn-lt"/>
              </a:rPr>
              <a:t>Chowdhury Eqs. (3), (5)–(8)</a:t>
            </a:r>
            <a:endParaRPr lang="en-US" sz="1500" b="0" u="none" strike="noStrike">
              <a:solidFill>
                <a:srgbClr val="000000"/>
              </a:solidFill>
              <a:effectLst/>
              <a:uFillTx/>
              <a:latin typeface="Arial"/>
            </a:endParaRPr>
          </a:p>
        </p:txBody>
      </p:sp>
      <p:sp>
        <p:nvSpPr>
          <p:cNvPr id="457" name=""/>
          <p:cNvSpPr/>
          <p:nvPr/>
        </p:nvSpPr>
        <p:spPr>
          <a:xfrm>
            <a:off x="10382400" y="4000680"/>
            <a:ext cx="1142640" cy="4759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430" b="0" u="none" strike="noStrike">
                <a:solidFill>
                  <a:srgbClr val="12233B"/>
                </a:solidFill>
                <a:effectLst/>
                <a:uFillTx/>
                <a:latin typeface="+mn-lt"/>
                <a:ea typeface="+mn-lt"/>
              </a:rPr>
              <a:t>Slide 16</a:t>
            </a:r>
            <a:endParaRPr lang="en-US" sz="1430" b="0" u="none" strike="noStrike">
              <a:solidFill>
                <a:srgbClr val="000000"/>
              </a:solidFill>
              <a:effectLst/>
              <a:uFillTx/>
              <a:latin typeface="Arial"/>
            </a:endParaRPr>
          </a:p>
        </p:txBody>
      </p:sp>
      <p:sp>
        <p:nvSpPr>
          <p:cNvPr id="458" name=""/>
          <p:cNvSpPr/>
          <p:nvPr/>
        </p:nvSpPr>
        <p:spPr>
          <a:xfrm>
            <a:off x="666720" y="4619520"/>
            <a:ext cx="4381200" cy="4759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430" b="1" u="none" strike="noStrike">
                <a:solidFill>
                  <a:srgbClr val="0D9488"/>
                </a:solidFill>
                <a:effectLst/>
                <a:uFillTx/>
                <a:latin typeface="+mn-lt"/>
                <a:ea typeface="+mn-lt"/>
              </a:rPr>
              <a:t>W4 / W3 / W3-F</a:t>
            </a:r>
            <a:endParaRPr lang="en-US" sz="1430" b="0" u="none" strike="noStrike">
              <a:solidFill>
                <a:srgbClr val="000000"/>
              </a:solidFill>
              <a:effectLst/>
              <a:uFillTx/>
              <a:latin typeface="Arial"/>
            </a:endParaRPr>
          </a:p>
        </p:txBody>
      </p:sp>
      <p:sp>
        <p:nvSpPr>
          <p:cNvPr id="459" name=""/>
          <p:cNvSpPr/>
          <p:nvPr/>
        </p:nvSpPr>
        <p:spPr>
          <a:xfrm>
            <a:off x="5048280" y="4619520"/>
            <a:ext cx="5143320" cy="4759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500" b="0" u="none" strike="noStrike">
                <a:solidFill>
                  <a:srgbClr val="12233B"/>
                </a:solidFill>
                <a:effectLst/>
                <a:uFillTx/>
                <a:latin typeface="+mn-lt"/>
                <a:ea typeface="+mn-lt"/>
              </a:rPr>
              <a:t>Hotelling forms, identity and F conversion</a:t>
            </a:r>
            <a:endParaRPr lang="en-US" sz="1500" b="0" u="none" strike="noStrike">
              <a:solidFill>
                <a:srgbClr val="000000"/>
              </a:solidFill>
              <a:effectLst/>
              <a:uFillTx/>
              <a:latin typeface="Arial"/>
            </a:endParaRPr>
          </a:p>
        </p:txBody>
      </p:sp>
      <p:sp>
        <p:nvSpPr>
          <p:cNvPr id="460" name=""/>
          <p:cNvSpPr/>
          <p:nvPr/>
        </p:nvSpPr>
        <p:spPr>
          <a:xfrm>
            <a:off x="10382400" y="4619520"/>
            <a:ext cx="1142640" cy="4759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430" b="0" u="none" strike="noStrike">
                <a:solidFill>
                  <a:srgbClr val="12233B"/>
                </a:solidFill>
                <a:effectLst/>
                <a:uFillTx/>
                <a:latin typeface="+mn-lt"/>
                <a:ea typeface="+mn-lt"/>
              </a:rPr>
              <a:t>Slide 17</a:t>
            </a:r>
            <a:endParaRPr lang="en-US" sz="1430" b="0" u="none" strike="noStrike">
              <a:solidFill>
                <a:srgbClr val="000000"/>
              </a:solidFill>
              <a:effectLst/>
              <a:uFillTx/>
              <a:latin typeface="Arial"/>
            </a:endParaRPr>
          </a:p>
        </p:txBody>
      </p:sp>
      <p:sp>
        <p:nvSpPr>
          <p:cNvPr id="461" name=""/>
          <p:cNvSpPr/>
          <p:nvPr/>
        </p:nvSpPr>
        <p:spPr>
          <a:xfrm>
            <a:off x="666720" y="5486400"/>
            <a:ext cx="10762920" cy="5713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pPr>
            <a:r>
              <a:rPr lang="en-US" sz="1580" b="0" u="none" strike="noStrike">
                <a:solidFill>
                  <a:srgbClr val="12233B"/>
                </a:solidFill>
                <a:effectLst/>
                <a:uFillTx/>
                <a:latin typeface="+mn-lt"/>
                <a:ea typeface="+mn-lt"/>
              </a:rPr>
              <a:t>Notion equation register: W1–W4 and EQ-PARK-2023-2.2</a:t>
            </a:r>
            <a:endParaRPr lang="en-US" sz="1580" b="0" u="none" strike="noStrike">
              <a:solidFill>
                <a:srgbClr val="000000"/>
              </a:solidFill>
              <a:effectLst/>
              <a:uFillTx/>
              <a:latin typeface="Arial"/>
            </a:endParaRPr>
          </a:p>
          <a:p>
            <a:pPr defTabSz="914400">
              <a:lnSpc>
                <a:spcPct val="100000"/>
              </a:lnSpc>
            </a:pPr>
            <a:r>
              <a:rPr lang="en-US" sz="1580" b="0" u="none" strike="noStrike">
                <a:solidFill>
                  <a:srgbClr val="12233B"/>
                </a:solidFill>
                <a:effectLst/>
                <a:uFillTx/>
                <a:latin typeface="+mn-lt"/>
                <a:ea typeface="+mn-lt"/>
              </a:rPr>
              <a:t>Additional slide labels identify equations within this presentation.</a:t>
            </a:r>
            <a:endParaRPr lang="en-US" sz="158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pitchFamily="0" charset="1"/>
        <a:ea typeface="Calibri Light" pitchFamily="0" charset="1"/>
        <a:cs typeface="Calibri Light" pitchFamily="0" charset="1"/>
      </a:majorFont>
      <a:minorFont>
        <a:latin typeface="Calibri" pitchFamily="0" charset="1"/>
        <a:ea typeface="Calibri" pitchFamily="0" charset="1"/>
        <a:cs typeface="Calibri" pitchFamily="0" charset="1"/>
      </a:minorFont>
    </a:fontScheme>
    <a:fmtScheme>
      <a:fillStyleLst>
        <a:solidFill>
          <a:schemeClr val="phClr"/>
        </a:solidFill>
        <a:gradFill>
          <a:gsLst>
            <a:gs pos="0">
              <a:schemeClr val="phClr">
                <a:tint val="67000"/>
                <a:lumMod val="110000"/>
              </a:schemeClr>
            </a:gs>
            <a:gs pos="50000">
              <a:schemeClr val="phClr">
                <a:tint val="73000"/>
                <a:lumMod val="105000"/>
              </a:schemeClr>
            </a:gs>
            <a:gs pos="100000">
              <a:schemeClr val="phClr">
                <a:tint val="81000"/>
                <a:lumMod val="105000"/>
              </a:schemeClr>
            </a:gs>
          </a:gsLst>
          <a:lin ang="5400000" scaled="0"/>
          <a:tileRect l="0" t="0" r="0" b="0"/>
        </a:gradFill>
        <a:gradFill>
          <a:gsLst>
            <a:gs pos="0">
              <a:schemeClr val="phClr">
                <a:tint val="94000"/>
                <a:lumMod val="102000"/>
              </a:schemeClr>
            </a:gs>
            <a:gs pos="50000">
              <a:schemeClr val="phClr">
                <a:shade val="100000"/>
                <a:lumMod val="100000"/>
              </a:schemeClr>
            </a:gs>
            <a:gs pos="100000">
              <a:schemeClr val="phClr">
                <a:shade val="78000"/>
                <a:lumMod val="99000"/>
              </a:schemeClr>
            </a:gs>
          </a:gsLst>
          <a:lin ang="5400000" scaled="0"/>
          <a:tileRect l="0" t="0" r="0" b="0"/>
        </a:gradFill>
      </a:fillStyleLst>
      <a:lnStyleLst>
        <a:ln w="12700">
          <a:prstDash val="solid"/>
        </a:ln>
        <a:ln w="19050">
          <a:prstDash val="solid"/>
        </a:ln>
        <a:ln w="25400">
          <a:prstDash val="solid"/>
        </a:ln>
      </a:lnStyleLst>
      <a:effectStyleLst>
        <a:effectStyle>
          <a:effectLst/>
        </a:effectStyle>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pitchFamily="0" charset="1"/>
        <a:ea typeface=""/>
        <a:cs typeface=""/>
      </a:majorFont>
      <a:minorFont>
        <a:latin typeface="Aptos" pitchFamily="0" charset="1"/>
        <a:ea typeface=""/>
        <a:cs typeface=""/>
      </a:minorFont>
    </a:fontScheme>
    <a:fmtScheme>
      <a:fillStyleLst>
        <a:solidFill>
          <a:schemeClr val="phClr"/>
        </a:solidFill>
        <a:gradFill>
          <a:gsLst>
            <a:gs pos="0">
              <a:schemeClr val="phClr">
                <a:tint val="67000"/>
                <a:lumMod val="110000"/>
              </a:schemeClr>
            </a:gs>
            <a:gs pos="50000">
              <a:schemeClr val="phClr">
                <a:tint val="73000"/>
                <a:lumMod val="105000"/>
              </a:schemeClr>
            </a:gs>
            <a:gs pos="100000">
              <a:schemeClr val="phClr">
                <a:tint val="81000"/>
                <a:lumMod val="105000"/>
              </a:schemeClr>
            </a:gs>
          </a:gsLst>
          <a:lin ang="5400000" scaled="0"/>
          <a:tileRect l="0" t="0" r="0" b="0"/>
        </a:gradFill>
        <a:gradFill>
          <a:gsLst>
            <a:gs pos="0">
              <a:schemeClr val="phClr">
                <a:tint val="94000"/>
                <a:lumMod val="102000"/>
              </a:schemeClr>
            </a:gs>
            <a:gs pos="50000">
              <a:schemeClr val="phClr">
                <a:shade val="100000"/>
                <a:lumMod val="100000"/>
              </a:schemeClr>
            </a:gs>
            <a:gs pos="100000">
              <a:schemeClr val="phClr">
                <a:shade val="78000"/>
                <a:lumMod val="99000"/>
              </a:schemeClr>
            </a:gs>
          </a:gsLst>
          <a:lin ang="5400000" scaled="0"/>
          <a:tileRect l="0" t="0" r="0" b="0"/>
        </a:gradFill>
      </a:fillStyleLst>
      <a:lnStyleLst>
        <a:ln w="12700">
          <a:prstDash val="solid"/>
        </a:ln>
        <a:ln w="19050">
          <a:prstDash val="solid"/>
        </a:ln>
        <a:ln w="25400">
          <a:prstDash val="solid"/>
        </a:ln>
      </a:lnStyleLst>
      <a:effectStyleLst>
        <a:effectStyle>
          <a:effectLst/>
        </a:effectStyle>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293</TotalTime>
  <Application>LibreOfficeDev/26.8.0.0.alpha0$Linux_X86_64 LibreOffice_project/2c87e51eeaa2b413ff4ae097b2705eea1995d8e5</Application>
  <AppVersion>15.0000</AppVersion>
  <Words>4653</Words>
  <Paragraphs>656</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2026-09-28T11:03:11Z</dcterms:created>
  <dc:creator>Walnut Exporter</dc:creator>
  <dc:description/>
  <dc:language>en-US</dc:language>
  <cp:lastModifiedBy>Haocheng Lin</cp:lastModifiedBy>
  <dcterms:modified xsi:type="dcterms:W3CDTF">2026-10-04T17:49:28Z</dcterms:modified>
  <cp:revision>23</cp:revision>
  <dc:subject/>
  <dc:title>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22</vt:r8>
  </property>
  <property fmtid="{D5CDD505-2E9C-101B-9397-08002B2CF9AE}" pid="3" name="PresentationFormat">
    <vt:lpwstr>Widescreen</vt:lpwstr>
  </property>
  <property fmtid="{D5CDD505-2E9C-101B-9397-08002B2CF9AE}" pid="4" name="Slides">
    <vt:r8>22</vt:r8>
  </property>
</Properties>
</file>