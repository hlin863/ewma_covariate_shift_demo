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7"/>
  </p:notesMasterIdLst>
  <p:sldIdLst>
    <p:sldId id="256" r:id="rId2"/>
    <p:sldId id="257" r:id="rId3"/>
    <p:sldId id="300" r:id="rId4"/>
    <p:sldId id="301" r:id="rId5"/>
    <p:sldId id="302"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9" r:id="rId42"/>
    <p:sldId id="298" r:id="rId43"/>
    <p:sldId id="295" r:id="rId44"/>
    <p:sldId id="296" r:id="rId45"/>
    <p:sldId id="297" r:id="rId46"/>
  </p:sldIdLst>
  <p:sldSz cx="18288000" cy="10287000"/>
  <p:notesSz cx="6858000" cy="9144000"/>
  <p:embeddedFontLst>
    <p:embeddedFont>
      <p:font typeface="Aptos Bold" panose="020B0604020202020204" charset="0"/>
      <p:regular r:id="rId48"/>
    </p:embeddedFont>
    <p:embeddedFont>
      <p:font typeface="Calibri (MS)" panose="020B0604020202020204" charset="0"/>
      <p:regular r:id="rId49"/>
    </p:embeddedFont>
    <p:embeddedFont>
      <p:font typeface="Calibri (MS) Bold" panose="020B0604020202020204" charset="0"/>
      <p:regular r:id="rId50"/>
    </p:embeddedFont>
    <p:embeddedFont>
      <p:font typeface="Calibri (MS) Italics" panose="020B0604020202020204" charset="0"/>
      <p:regular r:id="rId51"/>
    </p:embeddedFont>
    <p:embeddedFont>
      <p:font typeface="Cambria Math" panose="02040503050406030204" pitchFamily="18" charset="0"/>
      <p:regular r:id="rId52"/>
    </p:embeddedFont>
    <p:embeddedFont>
      <p:font typeface="Consolas" panose="020B0609020204030204" pitchFamily="49" charset="0"/>
      <p:regular r:id="rId53"/>
      <p:bold r:id="rId54"/>
      <p:italic r:id="rId55"/>
      <p:boldItalic r:id="rId56"/>
    </p:embeddedFont>
    <p:embeddedFont>
      <p:font typeface="DejaVu Sans Bold" panose="020B0604020202020204" charset="0"/>
      <p:regular r:id="rId57"/>
    </p:embeddedFont>
    <p:embeddedFont>
      <p:font typeface="DejaVu Sans Light" panose="020B0604020202020204" charset="0"/>
      <p:regular r:id="rId58"/>
    </p:embeddedFont>
    <p:embeddedFont>
      <p:font typeface="Inter" panose="020B0604020202020204" charset="0"/>
      <p:regular r:id="rId59"/>
    </p:embeddedFont>
    <p:embeddedFont>
      <p:font typeface="Inter Bold" panose="020B0604020202020204" charset="0"/>
      <p:regular r:id="rId60"/>
    </p:embeddedFont>
    <p:embeddedFont>
      <p:font typeface="Inter Italics" panose="020B0604020202020204" charset="0"/>
      <p:regular r:id="rId61"/>
    </p:embeddedFont>
    <p:embeddedFont>
      <p:font typeface="Inter Medium" panose="020B0604020202020204" charset="0"/>
      <p:regular r:id="rId62"/>
    </p:embeddedFont>
    <p:embeddedFont>
      <p:font typeface="Inter Semi-Bold" panose="020B0604020202020204" charset="0"/>
      <p:regular r:id="rId63"/>
    </p:embeddedFont>
    <p:embeddedFont>
      <p:font typeface="Roboto" panose="02000000000000000000" pitchFamily="2" charset="0"/>
      <p:regular r:id="rId64"/>
    </p:embeddedFont>
    <p:embeddedFont>
      <p:font typeface="Roboto Bold" panose="02000000000000000000" charset="0"/>
      <p:regular r:id="rId6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4" dt="2026-10-15T20:24:34.7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45" y="2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14.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4.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2.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7.fntdata"/><Relationship Id="rId62" Type="http://schemas.openxmlformats.org/officeDocument/2006/relationships/font" Target="fonts/font15.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3.fntdata"/><Relationship Id="rId55" Type="http://schemas.openxmlformats.org/officeDocument/2006/relationships/font" Target="fonts/font8.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5T20:24:37.655" v="32" actId="2696"/>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del">
        <pc:chgData name="Haocheng Lin" userId="3c9af17cd41df8cf" providerId="LiveId" clId="{E85DCD58-ED75-4D29-A2F4-F018EE94DF03}" dt="2026-10-15T20:24:37.655" v="32" actId="2696"/>
        <pc:sldMkLst>
          <pc:docMk/>
          <pc:sldMk cId="0" sldId="258"/>
        </pc:sldMkLst>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sldChg chg="add setBg modNotes">
        <pc:chgData name="Haocheng Lin" userId="3c9af17cd41df8cf" providerId="LiveId" clId="{E85DCD58-ED75-4D29-A2F4-F018EE94DF03}" dt="2026-10-15T20:24:32.669" v="29"/>
        <pc:sldMkLst>
          <pc:docMk/>
          <pc:sldMk cId="3430245460" sldId="301"/>
        </pc:sldMkLst>
      </pc:sldChg>
      <pc:sldChg chg="modSp add mod setBg modNotes">
        <pc:chgData name="Haocheng Lin" userId="3c9af17cd41df8cf" providerId="LiveId" clId="{E85DCD58-ED75-4D29-A2F4-F018EE94DF03}" dt="2026-10-15T20:24:34.751" v="31" actId="27636"/>
        <pc:sldMkLst>
          <pc:docMk/>
          <pc:sldMk cId="3841432602" sldId="302"/>
        </pc:sldMkLst>
        <pc:spChg chg="mod">
          <ac:chgData name="Haocheng Lin" userId="3c9af17cd41df8cf" providerId="LiveId" clId="{E85DCD58-ED75-4D29-A2F4-F018EE94DF03}" dt="2026-10-15T20:24:34.751" v="31" actId="27636"/>
          <ac:spMkLst>
            <pc:docMk/>
            <pc:sldMk cId="3841432602" sldId="302"/>
            <ac:spMk id="1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5884440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461732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20472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hyperlink" Target="https://github.com/hlin863/ewma_covariate_shift_demo/blob/main/src/detection/core.py" TargetMode="External"/><Relationship Id="rId3" Type="http://schemas.openxmlformats.org/officeDocument/2006/relationships/hyperlink" Target="https://app.notion.com/p/3e2410db31c88119aad0f9bd150c87d0" TargetMode="External"/><Relationship Id="rId7" Type="http://schemas.openxmlformats.org/officeDocument/2006/relationships/hyperlink" Target="https://app.notion.com/p/3e2410db31c8818bbe46e33a4bc3a515" TargetMode="External"/><Relationship Id="rId12" Type="http://schemas.openxmlformats.org/officeDocument/2006/relationships/hyperlink" Target="https://github.com/hlin863/ewma_covariate_shift_demo/blob/main/src/adaptation/transductive.py"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hyperlink" Target="https://github.com/hlin863/ewma_covariate_shift_demo/blob/main/src/detection/two_stage.py" TargetMode="External"/><Relationship Id="rId11" Type="http://schemas.openxmlformats.org/officeDocument/2006/relationships/hyperlink" Target="https://app.notion.com/p/3e2410db31c8814e90c8dd7a4405bedb" TargetMode="External"/><Relationship Id="rId5" Type="http://schemas.openxmlformats.org/officeDocument/2006/relationships/hyperlink" Target="https://app.notion.com/p/3e2410db31c881d9bfcbf1854269758f" TargetMode="External"/><Relationship Id="rId10" Type="http://schemas.openxmlformats.org/officeDocument/2006/relationships/hyperlink" Target="https://github.com/hlin863/ewma_covariate_shift_demo/blob/main/src/adaptation/supervised.py" TargetMode="External"/><Relationship Id="rId4" Type="http://schemas.openxmlformats.org/officeDocument/2006/relationships/hyperlink" Target="https://github.com/hlin863/ewma_covariate_shift_demo/blob/main/src/bci/fbcsp.py" TargetMode="External"/><Relationship Id="rId9" Type="http://schemas.openxmlformats.org/officeDocument/2006/relationships/hyperlink" Target="https://app.notion.com/p/3e2410db31c881ad8a84f4e8001e5e1e"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app.notion.com/p/3f3410db31c881ae9cb0deeb917a3342" TargetMode="External"/><Relationship Id="rId3" Type="http://schemas.openxmlformats.org/officeDocument/2006/relationships/hyperlink" Target="https://app.notion.com/p/3ec410db31c8817f86c8de7100b2006e" TargetMode="External"/><Relationship Id="rId7" Type="http://schemas.openxmlformats.org/officeDocument/2006/relationships/hyperlink" Target="https://github.com/hlin863/ewma_covariate_shift_demo/blob/main/src/web/data_structures.py"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app.notion.com/p/3e2410db31c881c59911de4c5edb0976" TargetMode="External"/><Relationship Id="rId5" Type="http://schemas.openxmlformats.org/officeDocument/2006/relationships/hyperlink" Target="https://app.notion.com/p/3e2410db31c88199a1aeead3ef9380b9" TargetMode="External"/><Relationship Id="rId10" Type="http://schemas.openxmlformats.org/officeDocument/2006/relationships/hyperlink" Target="https://app.notion.com/p/3e3410db31c8814797efd40a03d58830" TargetMode="External"/><Relationship Id="rId4" Type="http://schemas.openxmlformats.org/officeDocument/2006/relationships/hyperlink" Target="https://github.com/hlin863/ewma_covariate_shift_demo/blob/main/src/adaptation/experiments/diethe.py" TargetMode="External"/><Relationship Id="rId9" Type="http://schemas.openxmlformats.org/officeDocument/2006/relationships/hyperlink" Target="https://github.com/hlin863/ewma_covariate_shift_demo/blob/main/src/detection/stage1/park_mean_cusum.p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3" Type="http://schemas.openxmlformats.org/officeDocument/2006/relationships/image" Target="../media/image36.png"/><Relationship Id="rId7" Type="http://schemas.openxmlformats.org/officeDocument/2006/relationships/image" Target="../media/image40.png"/><Relationship Id="rId12" Type="http://schemas.openxmlformats.org/officeDocument/2006/relationships/image" Target="../media/image45.png"/><Relationship Id="rId2" Type="http://schemas.openxmlformats.org/officeDocument/2006/relationships/image" Target="../media/image35.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0" Type="http://schemas.openxmlformats.org/officeDocument/2006/relationships/image" Target="../media/image43.png"/><Relationship Id="rId4" Type="http://schemas.openxmlformats.org/officeDocument/2006/relationships/image" Target="../media/image37.png"/><Relationship Id="rId9" Type="http://schemas.openxmlformats.org/officeDocument/2006/relationships/image" Target="../media/image42.png"/></Relationships>
</file>

<file path=ppt/slides/_rels/slide42.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12" Type="http://schemas.openxmlformats.org/officeDocument/2006/relationships/image" Target="../media/image57.png"/><Relationship Id="rId2" Type="http://schemas.openxmlformats.org/officeDocument/2006/relationships/image" Target="../media/image47.png"/><Relationship Id="rId1" Type="http://schemas.openxmlformats.org/officeDocument/2006/relationships/slideLayout" Target="../slideLayouts/slideLayout7.xml"/><Relationship Id="rId6" Type="http://schemas.openxmlformats.org/officeDocument/2006/relationships/image" Target="../media/image51.png"/><Relationship Id="rId11" Type="http://schemas.openxmlformats.org/officeDocument/2006/relationships/image" Target="../media/image56.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0"/>
            <a:ext cx="18287543" cy="75438"/>
          </a:xfrm>
          <a:prstGeom prst="rect">
            <a:avLst/>
          </a:prstGeom>
          <a:solidFill>
            <a:srgbClr val="EAF1FA"/>
          </a:solidFill>
          <a:ln w="12700">
            <a:solidFill>
              <a:srgbClr val="EAF1FA">
                <a:alpha val="0"/>
              </a:srgbClr>
            </a:solidFill>
            <a:prstDash val="solid"/>
          </a:ln>
        </p:spPr>
        <p:txBody>
          <a:bodyPr/>
          <a:lstStyle/>
          <a:p>
            <a:endParaRPr lang="en-GB"/>
          </a:p>
        </p:txBody>
      </p:sp>
      <p:sp>
        <p:nvSpPr>
          <p:cNvPr id="3" name="Text 1"/>
          <p:cNvSpPr txBox="1"/>
          <p:nvPr/>
        </p:nvSpPr>
        <p:spPr>
          <a:xfrm>
            <a:off x="932688" y="576072"/>
            <a:ext cx="9601200" cy="384048"/>
          </a:xfrm>
          <a:prstGeom prst="rect">
            <a:avLst/>
          </a:prstGeom>
          <a:noFill/>
          <a:ln/>
        </p:spPr>
        <p:txBody>
          <a:bodyPr wrap="square" lIns="0" tIns="0" rIns="0" bIns="0" rtlCol="0" anchor="ctr">
            <a:normAutofit/>
          </a:bodyPr>
          <a:lstStyle/>
          <a:p>
            <a:r>
              <a:rPr lang="en-US" sz="1650" b="1" kern="0" spc="120" dirty="0">
                <a:solidFill>
                  <a:srgbClr val="33D0C1"/>
                </a:solidFill>
                <a:latin typeface="Arial" pitchFamily="34" charset="0"/>
                <a:ea typeface="Arial" pitchFamily="34" charset="-122"/>
                <a:cs typeface="Arial" pitchFamily="34" charset="-120"/>
              </a:rPr>
              <a:t>LITERATURE REVIEW · CORE LINEAGE</a:t>
            </a:r>
            <a:endParaRPr lang="en-US" sz="1650" dirty="0"/>
          </a:p>
        </p:txBody>
      </p:sp>
      <p:sp>
        <p:nvSpPr>
          <p:cNvPr id="4" name="Text 2"/>
          <p:cNvSpPr txBox="1"/>
          <p:nvPr/>
        </p:nvSpPr>
        <p:spPr>
          <a:xfrm>
            <a:off x="16171164" y="576072"/>
            <a:ext cx="1124712" cy="384048"/>
          </a:xfrm>
          <a:prstGeom prst="rect">
            <a:avLst/>
          </a:prstGeom>
          <a:noFill/>
          <a:ln/>
        </p:spPr>
        <p:txBody>
          <a:bodyPr wrap="square" lIns="0" tIns="0" rIns="0" bIns="0" rtlCol="0" anchor="ctr">
            <a:normAutofit/>
          </a:bodyPr>
          <a:lstStyle/>
          <a:p>
            <a:pPr algn="r"/>
            <a:r>
              <a:rPr lang="en-US" sz="1440" dirty="0">
                <a:solidFill>
                  <a:srgbClr val="778EA7"/>
                </a:solidFill>
                <a:latin typeface="Arial" pitchFamily="34" charset="0"/>
                <a:ea typeface="Arial" pitchFamily="34" charset="-122"/>
                <a:cs typeface="Arial" pitchFamily="34" charset="-120"/>
              </a:rPr>
              <a:t>01 / 02</a:t>
            </a:r>
            <a:endParaRPr lang="en-US" sz="1440" dirty="0"/>
          </a:p>
        </p:txBody>
      </p:sp>
      <p:sp>
        <p:nvSpPr>
          <p:cNvPr id="5" name="Text 3"/>
          <p:cNvSpPr txBox="1"/>
          <p:nvPr/>
        </p:nvSpPr>
        <p:spPr>
          <a:xfrm>
            <a:off x="932688" y="1193292"/>
            <a:ext cx="16459200" cy="768096"/>
          </a:xfrm>
          <a:prstGeom prst="rect">
            <a:avLst/>
          </a:prstGeom>
          <a:noFill/>
          <a:ln/>
        </p:spPr>
        <p:txBody>
          <a:bodyPr wrap="square" lIns="0" tIns="0" rIns="0" bIns="0" rtlCol="0" anchor="ctr">
            <a:normAutofit/>
          </a:bodyPr>
          <a:lstStyle/>
          <a:p>
            <a:r>
              <a:rPr lang="en-US" sz="4350" b="1" dirty="0">
                <a:solidFill>
                  <a:srgbClr val="EAF1FA"/>
                </a:solidFill>
                <a:latin typeface="Arial" pitchFamily="34" charset="0"/>
                <a:ea typeface="Arial" pitchFamily="34" charset="-122"/>
                <a:cs typeface="Arial" pitchFamily="34" charset="-120"/>
              </a:rPr>
              <a:t>From spatial filtering to adaptive BCI</a:t>
            </a:r>
            <a:endParaRPr lang="en-US" sz="4350" dirty="0"/>
          </a:p>
        </p:txBody>
      </p:sp>
      <p:sp>
        <p:nvSpPr>
          <p:cNvPr id="6" name="Text 4"/>
          <p:cNvSpPr txBox="1"/>
          <p:nvPr/>
        </p:nvSpPr>
        <p:spPr>
          <a:xfrm>
            <a:off x="932688" y="2057400"/>
            <a:ext cx="16459200" cy="411480"/>
          </a:xfrm>
          <a:prstGeom prst="rect">
            <a:avLst/>
          </a:prstGeom>
          <a:noFill/>
          <a:ln/>
        </p:spPr>
        <p:txBody>
          <a:bodyPr wrap="square" lIns="0" tIns="0" rIns="0" bIns="0" rtlCol="0" anchor="ctr">
            <a:normAutofit/>
          </a:bodyPr>
          <a:lstStyle/>
          <a:p>
            <a:r>
              <a:rPr lang="en-US" sz="1860" dirty="0">
                <a:solidFill>
                  <a:srgbClr val="A2B3C5"/>
                </a:solidFill>
                <a:latin typeface="Arial" pitchFamily="34" charset="0"/>
                <a:ea typeface="Arial" pitchFamily="34" charset="-122"/>
                <a:cs typeface="Arial" pitchFamily="34" charset="-120"/>
              </a:rPr>
              <a:t>Five direct predecessors underpin the reconstructed EEG / CSE pipeline (2000–2019).</a:t>
            </a:r>
            <a:endParaRPr lang="en-US" sz="1860" dirty="0"/>
          </a:p>
        </p:txBody>
      </p:sp>
      <p:sp>
        <p:nvSpPr>
          <p:cNvPr id="7" name="Shape 5"/>
          <p:cNvSpPr/>
          <p:nvPr/>
        </p:nvSpPr>
        <p:spPr>
          <a:xfrm>
            <a:off x="932688" y="2715768"/>
            <a:ext cx="16431768" cy="0"/>
          </a:xfrm>
          <a:prstGeom prst="line">
            <a:avLst/>
          </a:prstGeom>
          <a:noFill/>
          <a:ln w="15875">
            <a:solidFill>
              <a:srgbClr val="31485D"/>
            </a:solidFill>
            <a:prstDash val="solid"/>
          </a:ln>
        </p:spPr>
        <p:txBody>
          <a:bodyPr/>
          <a:lstStyle/>
          <a:p>
            <a:endParaRPr lang="en-GB"/>
          </a:p>
        </p:txBody>
      </p:sp>
      <p:sp>
        <p:nvSpPr>
          <p:cNvPr id="8" name="Shape 6"/>
          <p:cNvSpPr/>
          <p:nvPr/>
        </p:nvSpPr>
        <p:spPr>
          <a:xfrm>
            <a:off x="2057400" y="4485132"/>
            <a:ext cx="14141196" cy="0"/>
          </a:xfrm>
          <a:prstGeom prst="line">
            <a:avLst/>
          </a:prstGeom>
          <a:noFill/>
          <a:ln w="27940">
            <a:solidFill>
              <a:srgbClr val="31485D"/>
            </a:solidFill>
            <a:prstDash val="solid"/>
          </a:ln>
        </p:spPr>
        <p:txBody>
          <a:bodyPr/>
          <a:lstStyle/>
          <a:p>
            <a:endParaRPr lang="en-GB"/>
          </a:p>
        </p:txBody>
      </p:sp>
      <p:sp>
        <p:nvSpPr>
          <p:cNvPr id="9" name="Text 7"/>
          <p:cNvSpPr txBox="1"/>
          <p:nvPr/>
        </p:nvSpPr>
        <p:spPr>
          <a:xfrm>
            <a:off x="617220" y="2907792"/>
            <a:ext cx="2990088" cy="507492"/>
          </a:xfrm>
          <a:prstGeom prst="rect">
            <a:avLst/>
          </a:prstGeom>
          <a:noFill/>
          <a:ln/>
        </p:spPr>
        <p:txBody>
          <a:bodyPr wrap="square" lIns="0" tIns="0" rIns="0" bIns="0" rtlCol="0" anchor="ctr">
            <a:normAutofit/>
          </a:bodyPr>
          <a:lstStyle/>
          <a:p>
            <a:pPr algn="ctr"/>
            <a:r>
              <a:rPr lang="en-US" sz="3000" b="1" dirty="0">
                <a:solidFill>
                  <a:srgbClr val="51A3FC"/>
                </a:solidFill>
                <a:latin typeface="Arial" pitchFamily="34" charset="0"/>
                <a:ea typeface="Arial" pitchFamily="34" charset="-122"/>
                <a:cs typeface="Arial" pitchFamily="34" charset="-120"/>
              </a:rPr>
              <a:t>2000</a:t>
            </a:r>
            <a:endParaRPr lang="en-US" sz="3000" dirty="0"/>
          </a:p>
        </p:txBody>
      </p:sp>
      <p:sp>
        <p:nvSpPr>
          <p:cNvPr id="10" name="Text 8"/>
          <p:cNvSpPr txBox="1"/>
          <p:nvPr/>
        </p:nvSpPr>
        <p:spPr>
          <a:xfrm>
            <a:off x="617220"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Ramoser et al.</a:t>
            </a:r>
            <a:endParaRPr lang="en-US" sz="2018" dirty="0"/>
          </a:p>
          <a:p>
            <a:pPr algn="ctr"/>
            <a:r>
              <a:rPr lang="en-US" sz="2018" b="1" dirty="0">
                <a:solidFill>
                  <a:srgbClr val="EAF1FA"/>
                </a:solidFill>
                <a:latin typeface="Arial" pitchFamily="34" charset="0"/>
                <a:ea typeface="Arial" pitchFamily="34" charset="-122"/>
                <a:cs typeface="Arial" pitchFamily="34" charset="-120"/>
              </a:rPr>
              <a:t>CSP / spatial filtering</a:t>
            </a:r>
            <a:endParaRPr lang="en-US" sz="2018" dirty="0"/>
          </a:p>
        </p:txBody>
      </p:sp>
      <p:sp>
        <p:nvSpPr>
          <p:cNvPr id="11" name="Shape 9">
            <a:hlinkClick r:id="rId3"/>
          </p:cNvPr>
          <p:cNvSpPr/>
          <p:nvPr/>
        </p:nvSpPr>
        <p:spPr>
          <a:xfrm>
            <a:off x="617220"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12" name="Shape 10"/>
          <p:cNvSpPr/>
          <p:nvPr/>
        </p:nvSpPr>
        <p:spPr>
          <a:xfrm>
            <a:off x="1920240" y="4293108"/>
            <a:ext cx="384048" cy="384048"/>
          </a:xfrm>
          <a:prstGeom prst="ellipse">
            <a:avLst/>
          </a:prstGeom>
          <a:solidFill>
            <a:srgbClr val="51A3FC"/>
          </a:solidFill>
          <a:ln w="12700">
            <a:solidFill>
              <a:srgbClr val="51A3FC">
                <a:alpha val="0"/>
              </a:srgbClr>
            </a:solidFill>
            <a:prstDash val="solid"/>
          </a:ln>
        </p:spPr>
        <p:txBody>
          <a:bodyPr/>
          <a:lstStyle/>
          <a:p>
            <a:endParaRPr lang="en-GB"/>
          </a:p>
        </p:txBody>
      </p:sp>
      <p:sp>
        <p:nvSpPr>
          <p:cNvPr id="13" name="Text 11"/>
          <p:cNvSpPr txBox="1"/>
          <p:nvPr/>
        </p:nvSpPr>
        <p:spPr>
          <a:xfrm>
            <a:off x="617220"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Discriminative EEG spatial patterns for imagined hand movement.</a:t>
            </a:r>
            <a:endParaRPr lang="en-US" sz="1695" dirty="0"/>
          </a:p>
        </p:txBody>
      </p:sp>
      <p:sp>
        <p:nvSpPr>
          <p:cNvPr id="14" name="Text 12">
            <a:hlinkClick r:id="rId4"/>
          </p:cNvPr>
          <p:cNvSpPr txBox="1"/>
          <p:nvPr/>
        </p:nvSpPr>
        <p:spPr>
          <a:xfrm>
            <a:off x="617220"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4">
                  <a:extLst>
                    <a:ext uri="{A12FA001-AC4F-418D-AE19-62706E023703}">
                      <ahyp:hlinkClr xmlns:ahyp="http://schemas.microsoft.com/office/drawing/2018/hyperlinkcolor" val="tx"/>
                    </a:ext>
                  </a:extLst>
                </a:hlinkClick>
              </a:rPr>
              <a:t>src/bci/fbcsp.py</a:t>
            </a:r>
            <a:endParaRPr lang="en-US" sz="1335" dirty="0"/>
          </a:p>
        </p:txBody>
      </p:sp>
      <p:sp>
        <p:nvSpPr>
          <p:cNvPr id="15" name="Text 13"/>
          <p:cNvSpPr txBox="1"/>
          <p:nvPr/>
        </p:nvSpPr>
        <p:spPr>
          <a:xfrm>
            <a:off x="617220" y="6748272"/>
            <a:ext cx="2990088" cy="288036"/>
          </a:xfrm>
          <a:prstGeom prst="rect">
            <a:avLst/>
          </a:prstGeom>
          <a:noFill/>
          <a:ln/>
        </p:spPr>
        <p:txBody>
          <a:bodyPr wrap="square" lIns="0" tIns="0" rIns="0" bIns="0" rtlCol="0" anchor="ctr">
            <a:normAutofit/>
          </a:bodyPr>
          <a:lstStyle/>
          <a:p>
            <a:pPr algn="ctr"/>
            <a:r>
              <a:rPr lang="en-US" sz="1200" b="1" kern="0" spc="45" dirty="0">
                <a:solidFill>
                  <a:srgbClr val="51A3FC"/>
                </a:solidFill>
                <a:latin typeface="Arial" pitchFamily="34" charset="0"/>
                <a:ea typeface="Arial" pitchFamily="34" charset="-122"/>
                <a:cs typeface="Arial" pitchFamily="34" charset="-120"/>
              </a:rPr>
              <a:t>FEATURE FOUNDATION</a:t>
            </a:r>
            <a:endParaRPr lang="en-US" sz="1200" dirty="0"/>
          </a:p>
        </p:txBody>
      </p:sp>
      <p:sp>
        <p:nvSpPr>
          <p:cNvPr id="16" name="Text 14"/>
          <p:cNvSpPr txBox="1"/>
          <p:nvPr/>
        </p:nvSpPr>
        <p:spPr>
          <a:xfrm>
            <a:off x="4101084" y="2907792"/>
            <a:ext cx="2990088" cy="507492"/>
          </a:xfrm>
          <a:prstGeom prst="rect">
            <a:avLst/>
          </a:prstGeom>
          <a:noFill/>
          <a:ln/>
        </p:spPr>
        <p:txBody>
          <a:bodyPr wrap="square" lIns="0" tIns="0" rIns="0" bIns="0" rtlCol="0" anchor="ctr">
            <a:normAutofit/>
          </a:bodyPr>
          <a:lstStyle/>
          <a:p>
            <a:pPr algn="ctr"/>
            <a:r>
              <a:rPr lang="en-US" sz="3000" b="1" dirty="0">
                <a:solidFill>
                  <a:srgbClr val="33D0C1"/>
                </a:solidFill>
                <a:latin typeface="Arial" pitchFamily="34" charset="0"/>
                <a:ea typeface="Arial" pitchFamily="34" charset="-122"/>
                <a:cs typeface="Arial" pitchFamily="34" charset="-120"/>
              </a:rPr>
              <a:t>2015</a:t>
            </a:r>
            <a:endParaRPr lang="en-US" sz="3000" dirty="0"/>
          </a:p>
        </p:txBody>
      </p:sp>
      <p:sp>
        <p:nvSpPr>
          <p:cNvPr id="17" name="Text 15"/>
          <p:cNvSpPr txBox="1"/>
          <p:nvPr/>
        </p:nvSpPr>
        <p:spPr>
          <a:xfrm>
            <a:off x="4101084"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Raza et al.</a:t>
            </a:r>
            <a:endParaRPr lang="en-US" sz="2018" dirty="0"/>
          </a:p>
          <a:p>
            <a:pPr algn="ctr"/>
            <a:r>
              <a:rPr lang="en-US" sz="2018" b="1" dirty="0">
                <a:solidFill>
                  <a:srgbClr val="EAF1FA"/>
                </a:solidFill>
                <a:latin typeface="Arial" pitchFamily="34" charset="0"/>
                <a:ea typeface="Arial" pitchFamily="34" charset="-122"/>
                <a:cs typeface="Arial" pitchFamily="34" charset="-120"/>
              </a:rPr>
              <a:t>Two-stage CSD</a:t>
            </a:r>
            <a:endParaRPr lang="en-US" sz="2018" dirty="0"/>
          </a:p>
        </p:txBody>
      </p:sp>
      <p:sp>
        <p:nvSpPr>
          <p:cNvPr id="18" name="Shape 16">
            <a:hlinkClick r:id="rId5"/>
          </p:cNvPr>
          <p:cNvSpPr/>
          <p:nvPr/>
        </p:nvSpPr>
        <p:spPr>
          <a:xfrm>
            <a:off x="4101084"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19" name="Shape 17"/>
          <p:cNvSpPr/>
          <p:nvPr/>
        </p:nvSpPr>
        <p:spPr>
          <a:xfrm>
            <a:off x="5404104" y="4293108"/>
            <a:ext cx="384048" cy="384048"/>
          </a:xfrm>
          <a:prstGeom prst="ellipse">
            <a:avLst/>
          </a:prstGeom>
          <a:solidFill>
            <a:srgbClr val="33D0C1"/>
          </a:solidFill>
          <a:ln w="12700">
            <a:solidFill>
              <a:srgbClr val="33D0C1">
                <a:alpha val="0"/>
              </a:srgbClr>
            </a:solidFill>
            <a:prstDash val="solid"/>
          </a:ln>
        </p:spPr>
        <p:txBody>
          <a:bodyPr/>
          <a:lstStyle/>
          <a:p>
            <a:endParaRPr lang="en-GB"/>
          </a:p>
        </p:txBody>
      </p:sp>
      <p:sp>
        <p:nvSpPr>
          <p:cNvPr id="20" name="Text 18"/>
          <p:cNvSpPr txBox="1"/>
          <p:nvPr/>
        </p:nvSpPr>
        <p:spPr>
          <a:xfrm>
            <a:off x="4101084"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SD/MSD–EWMA warnings; K–S / Hotelling validation.</a:t>
            </a:r>
            <a:endParaRPr lang="en-US" sz="1695" dirty="0"/>
          </a:p>
        </p:txBody>
      </p:sp>
      <p:sp>
        <p:nvSpPr>
          <p:cNvPr id="21" name="Text 19">
            <a:hlinkClick r:id="rId6"/>
          </p:cNvPr>
          <p:cNvSpPr txBox="1"/>
          <p:nvPr/>
        </p:nvSpPr>
        <p:spPr>
          <a:xfrm>
            <a:off x="4101084"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6">
                  <a:extLst>
                    <a:ext uri="{A12FA001-AC4F-418D-AE19-62706E023703}">
                      <ahyp:hlinkClr xmlns:ahyp="http://schemas.microsoft.com/office/drawing/2018/hyperlinkcolor" val="tx"/>
                    </a:ext>
                  </a:extLst>
                </a:hlinkClick>
              </a:rPr>
              <a:t>src/detection/ ·</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6">
                  <a:extLst>
                    <a:ext uri="{A12FA001-AC4F-418D-AE19-62706E023703}">
                      <ahyp:hlinkClr xmlns:ahyp="http://schemas.microsoft.com/office/drawing/2018/hyperlinkcolor" val="tx"/>
                    </a:ext>
                  </a:extLst>
                </a:hlinkClick>
              </a:rPr>
              <a:t>src/experiments/paper2015/</a:t>
            </a:r>
            <a:endParaRPr lang="en-US" sz="1335" dirty="0"/>
          </a:p>
        </p:txBody>
      </p:sp>
      <p:sp>
        <p:nvSpPr>
          <p:cNvPr id="22" name="Text 20"/>
          <p:cNvSpPr txBox="1"/>
          <p:nvPr/>
        </p:nvSpPr>
        <p:spPr>
          <a:xfrm>
            <a:off x="4101084" y="6748272"/>
            <a:ext cx="2990088" cy="288036"/>
          </a:xfrm>
          <a:prstGeom prst="rect">
            <a:avLst/>
          </a:prstGeom>
          <a:noFill/>
          <a:ln/>
        </p:spPr>
        <p:txBody>
          <a:bodyPr wrap="square" lIns="0" tIns="0" rIns="0" bIns="0" rtlCol="0" anchor="ctr">
            <a:normAutofit/>
          </a:bodyPr>
          <a:lstStyle/>
          <a:p>
            <a:pPr algn="ctr"/>
            <a:r>
              <a:rPr lang="en-US" sz="1200" b="1" kern="0" spc="45" dirty="0">
                <a:solidFill>
                  <a:srgbClr val="33D0C1"/>
                </a:solidFill>
                <a:latin typeface="Arial" pitchFamily="34" charset="0"/>
                <a:ea typeface="Arial" pitchFamily="34" charset="-122"/>
                <a:cs typeface="Arial" pitchFamily="34" charset="-120"/>
              </a:rPr>
              <a:t>RECONSTRUCTION + AUDIT</a:t>
            </a:r>
            <a:endParaRPr lang="en-US" sz="1200" dirty="0"/>
          </a:p>
        </p:txBody>
      </p:sp>
      <p:sp>
        <p:nvSpPr>
          <p:cNvPr id="23" name="Text 21"/>
          <p:cNvSpPr txBox="1"/>
          <p:nvPr/>
        </p:nvSpPr>
        <p:spPr>
          <a:xfrm>
            <a:off x="7598664" y="2907792"/>
            <a:ext cx="2990088" cy="507492"/>
          </a:xfrm>
          <a:prstGeom prst="rect">
            <a:avLst/>
          </a:prstGeom>
          <a:noFill/>
          <a:ln/>
        </p:spPr>
        <p:txBody>
          <a:bodyPr wrap="square" lIns="0" tIns="0" rIns="0" bIns="0" rtlCol="0" anchor="ctr">
            <a:normAutofit/>
          </a:bodyPr>
          <a:lstStyle/>
          <a:p>
            <a:pPr algn="ctr"/>
            <a:r>
              <a:rPr lang="en-US" sz="3000" b="1" dirty="0">
                <a:solidFill>
                  <a:srgbClr val="FFC354"/>
                </a:solidFill>
                <a:latin typeface="Arial" pitchFamily="34" charset="0"/>
                <a:ea typeface="Arial" pitchFamily="34" charset="-122"/>
                <a:cs typeface="Arial" pitchFamily="34" charset="-120"/>
              </a:rPr>
              <a:t>2016</a:t>
            </a:r>
            <a:endParaRPr lang="en-US" sz="3000" dirty="0"/>
          </a:p>
        </p:txBody>
      </p:sp>
      <p:sp>
        <p:nvSpPr>
          <p:cNvPr id="24" name="Text 22"/>
          <p:cNvSpPr txBox="1"/>
          <p:nvPr/>
        </p:nvSpPr>
        <p:spPr>
          <a:xfrm>
            <a:off x="7598664"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Raza et al.</a:t>
            </a:r>
            <a:endParaRPr lang="en-US" sz="2018" dirty="0"/>
          </a:p>
          <a:p>
            <a:pPr algn="ctr"/>
            <a:r>
              <a:rPr lang="en-US" sz="2018" b="1" dirty="0">
                <a:solidFill>
                  <a:srgbClr val="EAF1FA"/>
                </a:solidFill>
                <a:latin typeface="Arial" pitchFamily="34" charset="0"/>
                <a:ea typeface="Arial" pitchFamily="34" charset="-122"/>
                <a:cs typeface="Arial" pitchFamily="34" charset="-120"/>
              </a:rPr>
              <a:t>Adaptive MI-BCI</a:t>
            </a:r>
            <a:endParaRPr lang="en-US" sz="2018" dirty="0"/>
          </a:p>
        </p:txBody>
      </p:sp>
      <p:sp>
        <p:nvSpPr>
          <p:cNvPr id="25" name="Shape 23">
            <a:hlinkClick r:id="rId7"/>
          </p:cNvPr>
          <p:cNvSpPr/>
          <p:nvPr/>
        </p:nvSpPr>
        <p:spPr>
          <a:xfrm>
            <a:off x="7598664"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26" name="Shape 24"/>
          <p:cNvSpPr/>
          <p:nvPr/>
        </p:nvSpPr>
        <p:spPr>
          <a:xfrm>
            <a:off x="8901684" y="4293108"/>
            <a:ext cx="384048" cy="384048"/>
          </a:xfrm>
          <a:prstGeom prst="ellipse">
            <a:avLst/>
          </a:prstGeom>
          <a:solidFill>
            <a:srgbClr val="FFC354"/>
          </a:solidFill>
          <a:ln w="12700">
            <a:solidFill>
              <a:srgbClr val="FFC354">
                <a:alpha val="0"/>
              </a:srgbClr>
            </a:solidFill>
            <a:prstDash val="solid"/>
          </a:ln>
        </p:spPr>
        <p:txBody>
          <a:bodyPr/>
          <a:lstStyle/>
          <a:p>
            <a:endParaRPr lang="en-GB"/>
          </a:p>
        </p:txBody>
      </p:sp>
      <p:sp>
        <p:nvSpPr>
          <p:cNvPr id="27" name="Text 25"/>
          <p:cNvSpPr txBox="1"/>
          <p:nvPr/>
        </p:nvSpPr>
        <p:spPr>
          <a:xfrm>
            <a:off x="7598664"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Validated shifts inform classifier updating on BCI 2A/2B.</a:t>
            </a:r>
            <a:endParaRPr lang="en-US" sz="1695" dirty="0"/>
          </a:p>
        </p:txBody>
      </p:sp>
      <p:sp>
        <p:nvSpPr>
          <p:cNvPr id="28" name="Text 26">
            <a:hlinkClick r:id="rId8"/>
          </p:cNvPr>
          <p:cNvSpPr txBox="1"/>
          <p:nvPr/>
        </p:nvSpPr>
        <p:spPr>
          <a:xfrm>
            <a:off x="7598664"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8">
                  <a:extLst>
                    <a:ext uri="{A12FA001-AC4F-418D-AE19-62706E023703}">
                      <ahyp:hlinkClr xmlns:ahyp="http://schemas.microsoft.com/office/drawing/2018/hyperlinkcolor" val="tx"/>
                    </a:ext>
                  </a:extLst>
                </a:hlinkClick>
              </a:rPr>
              <a:t>src/bci/ ·</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8">
                  <a:extLst>
                    <a:ext uri="{A12FA001-AC4F-418D-AE19-62706E023703}">
                      <ahyp:hlinkClr xmlns:ahyp="http://schemas.microsoft.com/office/drawing/2018/hyperlinkcolor" val="tx"/>
                    </a:ext>
                  </a:extLst>
                </a:hlinkClick>
              </a:rPr>
              <a:t>src/detection/</a:t>
            </a:r>
            <a:endParaRPr lang="en-US" sz="1335" dirty="0"/>
          </a:p>
        </p:txBody>
      </p:sp>
      <p:sp>
        <p:nvSpPr>
          <p:cNvPr id="29" name="Text 27"/>
          <p:cNvSpPr txBox="1"/>
          <p:nvPr/>
        </p:nvSpPr>
        <p:spPr>
          <a:xfrm>
            <a:off x="7598664" y="6748272"/>
            <a:ext cx="2990088" cy="288036"/>
          </a:xfrm>
          <a:prstGeom prst="rect">
            <a:avLst/>
          </a:prstGeom>
          <a:noFill/>
          <a:ln/>
        </p:spPr>
        <p:txBody>
          <a:bodyPr wrap="square" lIns="0" tIns="0" rIns="0" bIns="0" rtlCol="0" anchor="ctr">
            <a:normAutofit/>
          </a:bodyPr>
          <a:lstStyle/>
          <a:p>
            <a:pPr algn="ctr"/>
            <a:r>
              <a:rPr lang="en-US" sz="1200" b="1" kern="0" spc="45" dirty="0">
                <a:solidFill>
                  <a:srgbClr val="FFC354"/>
                </a:solidFill>
                <a:latin typeface="Arial" pitchFamily="34" charset="0"/>
                <a:ea typeface="Arial" pitchFamily="34" charset="-122"/>
                <a:cs typeface="Arial" pitchFamily="34" charset="-120"/>
              </a:rPr>
              <a:t>ADAPTATION BRIDGE</a:t>
            </a:r>
            <a:endParaRPr lang="en-US" sz="1200" dirty="0"/>
          </a:p>
        </p:txBody>
      </p:sp>
      <p:sp>
        <p:nvSpPr>
          <p:cNvPr id="30" name="Text 28"/>
          <p:cNvSpPr txBox="1"/>
          <p:nvPr/>
        </p:nvSpPr>
        <p:spPr>
          <a:xfrm>
            <a:off x="11082528" y="2907792"/>
            <a:ext cx="2990088" cy="507492"/>
          </a:xfrm>
          <a:prstGeom prst="rect">
            <a:avLst/>
          </a:prstGeom>
          <a:noFill/>
          <a:ln/>
        </p:spPr>
        <p:txBody>
          <a:bodyPr wrap="square" lIns="0" tIns="0" rIns="0" bIns="0" rtlCol="0" anchor="ctr">
            <a:normAutofit/>
          </a:bodyPr>
          <a:lstStyle/>
          <a:p>
            <a:pPr algn="ctr"/>
            <a:r>
              <a:rPr lang="en-US" sz="3000" b="1" dirty="0">
                <a:solidFill>
                  <a:srgbClr val="62D993"/>
                </a:solidFill>
                <a:latin typeface="Arial" pitchFamily="34" charset="0"/>
                <a:ea typeface="Arial" pitchFamily="34" charset="-122"/>
                <a:cs typeface="Arial" pitchFamily="34" charset="-120"/>
              </a:rPr>
              <a:t>2018</a:t>
            </a:r>
            <a:endParaRPr lang="en-US" sz="3000" dirty="0"/>
          </a:p>
        </p:txBody>
      </p:sp>
      <p:sp>
        <p:nvSpPr>
          <p:cNvPr id="31" name="Text 29"/>
          <p:cNvSpPr txBox="1"/>
          <p:nvPr/>
        </p:nvSpPr>
        <p:spPr>
          <a:xfrm>
            <a:off x="11082528"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Chowdhury et al.</a:t>
            </a:r>
            <a:endParaRPr lang="en-US" sz="2018" dirty="0"/>
          </a:p>
          <a:p>
            <a:pPr algn="ctr"/>
            <a:r>
              <a:rPr lang="en-US" sz="2018" b="1" dirty="0">
                <a:solidFill>
                  <a:srgbClr val="EAF1FA"/>
                </a:solidFill>
                <a:latin typeface="Arial" pitchFamily="34" charset="0"/>
                <a:ea typeface="Arial" pitchFamily="34" charset="-122"/>
                <a:cs typeface="Arial" pitchFamily="34" charset="-120"/>
              </a:rPr>
              <a:t>Online BCI</a:t>
            </a:r>
            <a:endParaRPr lang="en-US" sz="2018" dirty="0"/>
          </a:p>
        </p:txBody>
      </p:sp>
      <p:sp>
        <p:nvSpPr>
          <p:cNvPr id="32" name="Shape 30">
            <a:hlinkClick r:id="rId9"/>
          </p:cNvPr>
          <p:cNvSpPr/>
          <p:nvPr/>
        </p:nvSpPr>
        <p:spPr>
          <a:xfrm>
            <a:off x="11082528"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33" name="Shape 31"/>
          <p:cNvSpPr/>
          <p:nvPr/>
        </p:nvSpPr>
        <p:spPr>
          <a:xfrm>
            <a:off x="12385548" y="4293108"/>
            <a:ext cx="384048" cy="384048"/>
          </a:xfrm>
          <a:prstGeom prst="ellipse">
            <a:avLst/>
          </a:prstGeom>
          <a:solidFill>
            <a:srgbClr val="62D993"/>
          </a:solidFill>
          <a:ln w="12700">
            <a:solidFill>
              <a:srgbClr val="62D993">
                <a:alpha val="0"/>
              </a:srgbClr>
            </a:solidFill>
            <a:prstDash val="solid"/>
          </a:ln>
        </p:spPr>
        <p:txBody>
          <a:bodyPr/>
          <a:lstStyle/>
          <a:p>
            <a:endParaRPr lang="en-GB"/>
          </a:p>
        </p:txBody>
      </p:sp>
      <p:sp>
        <p:nvSpPr>
          <p:cNvPr id="34" name="Text 32"/>
          <p:cNvSpPr txBox="1"/>
          <p:nvPr/>
        </p:nvSpPr>
        <p:spPr>
          <a:xfrm>
            <a:off x="11082528"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Shift-aware SVM adaptation with visual / exoskeleton feedback.</a:t>
            </a:r>
            <a:endParaRPr lang="en-US" sz="1695" dirty="0"/>
          </a:p>
        </p:txBody>
      </p:sp>
      <p:sp>
        <p:nvSpPr>
          <p:cNvPr id="35" name="Text 33">
            <a:hlinkClick r:id="rId10"/>
          </p:cNvPr>
          <p:cNvSpPr txBox="1"/>
          <p:nvPr/>
        </p:nvSpPr>
        <p:spPr>
          <a:xfrm>
            <a:off x="11082528"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10">
                  <a:extLst>
                    <a:ext uri="{A12FA001-AC4F-418D-AE19-62706E023703}">
                      <ahyp:hlinkClr xmlns:ahyp="http://schemas.microsoft.com/office/drawing/2018/hyperlinkcolor" val="tx"/>
                    </a:ext>
                  </a:extLst>
                </a:hlinkClick>
              </a:rPr>
              <a:t>src/bci/datasets/chowdhury/ ·</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10">
                  <a:extLst>
                    <a:ext uri="{A12FA001-AC4F-418D-AE19-62706E023703}">
                      <ahyp:hlinkClr xmlns:ahyp="http://schemas.microsoft.com/office/drawing/2018/hyperlinkcolor" val="tx"/>
                    </a:ext>
                  </a:extLst>
                </a:hlinkClick>
              </a:rPr>
              <a:t>src/adaptation/supervised.py</a:t>
            </a:r>
            <a:endParaRPr lang="en-US" sz="1335" dirty="0"/>
          </a:p>
        </p:txBody>
      </p:sp>
      <p:sp>
        <p:nvSpPr>
          <p:cNvPr id="36" name="Text 34"/>
          <p:cNvSpPr txBox="1"/>
          <p:nvPr/>
        </p:nvSpPr>
        <p:spPr>
          <a:xfrm>
            <a:off x="11082528" y="6748272"/>
            <a:ext cx="2990088" cy="288036"/>
          </a:xfrm>
          <a:prstGeom prst="rect">
            <a:avLst/>
          </a:prstGeom>
          <a:noFill/>
          <a:ln/>
        </p:spPr>
        <p:txBody>
          <a:bodyPr wrap="square" lIns="0" tIns="0" rIns="0" bIns="0" rtlCol="0" anchor="ctr">
            <a:normAutofit/>
          </a:bodyPr>
          <a:lstStyle/>
          <a:p>
            <a:pPr algn="ctr"/>
            <a:r>
              <a:rPr lang="en-US" sz="1200" b="1" kern="0" spc="45" dirty="0">
                <a:solidFill>
                  <a:srgbClr val="62D993"/>
                </a:solidFill>
                <a:latin typeface="Arial" pitchFamily="34" charset="0"/>
                <a:ea typeface="Arial" pitchFamily="34" charset="-122"/>
                <a:cs typeface="Arial" pitchFamily="34" charset="-120"/>
              </a:rPr>
              <a:t>COMPONENTS RECONSTRUCTED</a:t>
            </a:r>
            <a:endParaRPr lang="en-US" sz="1200" dirty="0"/>
          </a:p>
        </p:txBody>
      </p:sp>
      <p:sp>
        <p:nvSpPr>
          <p:cNvPr id="37" name="Text 35"/>
          <p:cNvSpPr txBox="1"/>
          <p:nvPr/>
        </p:nvSpPr>
        <p:spPr>
          <a:xfrm>
            <a:off x="14566392" y="2907792"/>
            <a:ext cx="2990088" cy="507492"/>
          </a:xfrm>
          <a:prstGeom prst="rect">
            <a:avLst/>
          </a:prstGeom>
          <a:noFill/>
          <a:ln/>
        </p:spPr>
        <p:txBody>
          <a:bodyPr wrap="square" lIns="0" tIns="0" rIns="0" bIns="0" rtlCol="0" anchor="ctr">
            <a:normAutofit/>
          </a:bodyPr>
          <a:lstStyle/>
          <a:p>
            <a:pPr algn="ctr"/>
            <a:r>
              <a:rPr lang="en-US" sz="3000" b="1" dirty="0">
                <a:solidFill>
                  <a:srgbClr val="B08BFF"/>
                </a:solidFill>
                <a:latin typeface="Arial" pitchFamily="34" charset="0"/>
                <a:ea typeface="Arial" pitchFamily="34" charset="-122"/>
                <a:cs typeface="Arial" pitchFamily="34" charset="-120"/>
              </a:rPr>
              <a:t>2019</a:t>
            </a:r>
            <a:endParaRPr lang="en-US" sz="3000" dirty="0"/>
          </a:p>
        </p:txBody>
      </p:sp>
      <p:sp>
        <p:nvSpPr>
          <p:cNvPr id="38" name="Text 36"/>
          <p:cNvSpPr txBox="1"/>
          <p:nvPr/>
        </p:nvSpPr>
        <p:spPr>
          <a:xfrm>
            <a:off x="14566392"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Raza et al.</a:t>
            </a:r>
            <a:endParaRPr lang="en-US" sz="2018" dirty="0"/>
          </a:p>
          <a:p>
            <a:pPr algn="ctr"/>
            <a:r>
              <a:rPr lang="en-US" sz="2018" b="1" dirty="0">
                <a:solidFill>
                  <a:srgbClr val="EAF1FA"/>
                </a:solidFill>
                <a:latin typeface="Arial" pitchFamily="34" charset="0"/>
                <a:ea typeface="Arial" pitchFamily="34" charset="-122"/>
                <a:cs typeface="Arial" pitchFamily="34" charset="-120"/>
              </a:rPr>
              <a:t>CSE–UAEL</a:t>
            </a:r>
            <a:endParaRPr lang="en-US" sz="2018" dirty="0"/>
          </a:p>
        </p:txBody>
      </p:sp>
      <p:sp>
        <p:nvSpPr>
          <p:cNvPr id="39" name="Shape 37">
            <a:hlinkClick r:id="rId11"/>
          </p:cNvPr>
          <p:cNvSpPr/>
          <p:nvPr/>
        </p:nvSpPr>
        <p:spPr>
          <a:xfrm>
            <a:off x="14566392"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40" name="Shape 38"/>
          <p:cNvSpPr/>
          <p:nvPr/>
        </p:nvSpPr>
        <p:spPr>
          <a:xfrm>
            <a:off x="15869412" y="4293108"/>
            <a:ext cx="384048" cy="384048"/>
          </a:xfrm>
          <a:prstGeom prst="ellipse">
            <a:avLst/>
          </a:prstGeom>
          <a:solidFill>
            <a:srgbClr val="B08BFF"/>
          </a:solidFill>
          <a:ln w="12700">
            <a:solidFill>
              <a:srgbClr val="B08BFF">
                <a:alpha val="0"/>
              </a:srgbClr>
            </a:solidFill>
            <a:prstDash val="solid"/>
          </a:ln>
        </p:spPr>
        <p:txBody>
          <a:bodyPr/>
          <a:lstStyle/>
          <a:p>
            <a:endParaRPr lang="en-GB"/>
          </a:p>
        </p:txBody>
      </p:sp>
      <p:sp>
        <p:nvSpPr>
          <p:cNvPr id="41" name="Text 39"/>
          <p:cNvSpPr txBox="1"/>
          <p:nvPr/>
        </p:nvSpPr>
        <p:spPr>
          <a:xfrm>
            <a:off x="14566392"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PWKNN transduction and dynamically growing ensemble.</a:t>
            </a:r>
            <a:endParaRPr lang="en-US" sz="1695" dirty="0"/>
          </a:p>
        </p:txBody>
      </p:sp>
      <p:sp>
        <p:nvSpPr>
          <p:cNvPr id="42" name="Text 40">
            <a:hlinkClick r:id="rId12"/>
          </p:cNvPr>
          <p:cNvSpPr txBox="1"/>
          <p:nvPr/>
        </p:nvSpPr>
        <p:spPr>
          <a:xfrm>
            <a:off x="14566392"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12">
                  <a:extLst>
                    <a:ext uri="{A12FA001-AC4F-418D-AE19-62706E023703}">
                      <ahyp:hlinkClr xmlns:ahyp="http://schemas.microsoft.com/office/drawing/2018/hyperlinkcolor" val="tx"/>
                    </a:ext>
                  </a:extLst>
                </a:hlinkClick>
              </a:rPr>
              <a:t>src/adaptation/</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12">
                  <a:extLst>
                    <a:ext uri="{A12FA001-AC4F-418D-AE19-62706E023703}">
                      <ahyp:hlinkClr xmlns:ahyp="http://schemas.microsoft.com/office/drawing/2018/hyperlinkcolor" val="tx"/>
                    </a:ext>
                  </a:extLst>
                </a:hlinkClick>
              </a:rPr>
              <a:t>transductive.py</a:t>
            </a:r>
            <a:endParaRPr lang="en-US" sz="1335" dirty="0"/>
          </a:p>
        </p:txBody>
      </p:sp>
      <p:sp>
        <p:nvSpPr>
          <p:cNvPr id="43" name="Text 41"/>
          <p:cNvSpPr txBox="1"/>
          <p:nvPr/>
        </p:nvSpPr>
        <p:spPr>
          <a:xfrm>
            <a:off x="14566392" y="6748272"/>
            <a:ext cx="2990088" cy="288036"/>
          </a:xfrm>
          <a:prstGeom prst="rect">
            <a:avLst/>
          </a:prstGeom>
          <a:noFill/>
          <a:ln/>
        </p:spPr>
        <p:txBody>
          <a:bodyPr wrap="square" lIns="0" tIns="0" rIns="0" bIns="0" rtlCol="0" anchor="ctr">
            <a:normAutofit/>
          </a:bodyPr>
          <a:lstStyle/>
          <a:p>
            <a:pPr algn="ctr"/>
            <a:r>
              <a:rPr lang="en-US" sz="1200" b="1" kern="0" spc="45" dirty="0">
                <a:solidFill>
                  <a:srgbClr val="B08BFF"/>
                </a:solidFill>
                <a:latin typeface="Arial" pitchFamily="34" charset="0"/>
                <a:ea typeface="Arial" pitchFamily="34" charset="-122"/>
                <a:cs typeface="Arial" pitchFamily="34" charset="-120"/>
              </a:rPr>
              <a:t>FIRST STEP ONLY</a:t>
            </a:r>
            <a:endParaRPr lang="en-US" sz="1200" dirty="0"/>
          </a:p>
        </p:txBody>
      </p:sp>
      <p:sp>
        <p:nvSpPr>
          <p:cNvPr id="44" name="Shape 42"/>
          <p:cNvSpPr/>
          <p:nvPr/>
        </p:nvSpPr>
        <p:spPr>
          <a:xfrm>
            <a:off x="932688" y="7392924"/>
            <a:ext cx="8092440" cy="1783080"/>
          </a:xfrm>
          <a:prstGeom prst="roundRect">
            <a:avLst>
              <a:gd name="adj" fmla="val 6154"/>
            </a:avLst>
          </a:prstGeom>
          <a:solidFill>
            <a:srgbClr val="101F31"/>
          </a:solidFill>
          <a:ln w="10795">
            <a:solidFill>
              <a:srgbClr val="294258"/>
            </a:solidFill>
            <a:prstDash val="solid"/>
          </a:ln>
        </p:spPr>
        <p:txBody>
          <a:bodyPr/>
          <a:lstStyle/>
          <a:p>
            <a:endParaRPr lang="en-GB"/>
          </a:p>
        </p:txBody>
      </p:sp>
      <p:sp>
        <p:nvSpPr>
          <p:cNvPr id="45" name="Shape 43"/>
          <p:cNvSpPr/>
          <p:nvPr/>
        </p:nvSpPr>
        <p:spPr>
          <a:xfrm>
            <a:off x="1234440" y="7708392"/>
            <a:ext cx="61722" cy="425196"/>
          </a:xfrm>
          <a:prstGeom prst="rect">
            <a:avLst/>
          </a:prstGeom>
          <a:solidFill>
            <a:srgbClr val="33D0C1"/>
          </a:solidFill>
          <a:ln w="12700">
            <a:solidFill>
              <a:srgbClr val="33D0C1">
                <a:alpha val="0"/>
              </a:srgbClr>
            </a:solidFill>
            <a:prstDash val="solid"/>
          </a:ln>
        </p:spPr>
        <p:txBody>
          <a:bodyPr/>
          <a:lstStyle/>
          <a:p>
            <a:endParaRPr lang="en-GB"/>
          </a:p>
        </p:txBody>
      </p:sp>
      <p:sp>
        <p:nvSpPr>
          <p:cNvPr id="46" name="Text 44"/>
          <p:cNvSpPr txBox="1"/>
          <p:nvPr/>
        </p:nvSpPr>
        <p:spPr>
          <a:xfrm>
            <a:off x="1440180" y="7667244"/>
            <a:ext cx="7269480" cy="301752"/>
          </a:xfrm>
          <a:prstGeom prst="rect">
            <a:avLst/>
          </a:prstGeom>
          <a:noFill/>
          <a:ln/>
        </p:spPr>
        <p:txBody>
          <a:bodyPr wrap="square" lIns="0" tIns="0" rIns="0" bIns="0" rtlCol="0" anchor="ctr">
            <a:normAutofit/>
          </a:bodyPr>
          <a:lstStyle/>
          <a:p>
            <a:r>
              <a:rPr lang="en-US" sz="1455" b="1" kern="0" spc="83" dirty="0">
                <a:solidFill>
                  <a:srgbClr val="33D0C1"/>
                </a:solidFill>
                <a:latin typeface="Arial" pitchFamily="34" charset="0"/>
                <a:ea typeface="Arial" pitchFamily="34" charset="-122"/>
                <a:cs typeface="Arial" pitchFamily="34" charset="-120"/>
              </a:rPr>
              <a:t>IMPLEMENTED RESEARCH LINEAGE</a:t>
            </a:r>
            <a:endParaRPr lang="en-US" sz="1455" dirty="0"/>
          </a:p>
        </p:txBody>
      </p:sp>
      <p:sp>
        <p:nvSpPr>
          <p:cNvPr id="47" name="Text 45"/>
          <p:cNvSpPr txBox="1"/>
          <p:nvPr/>
        </p:nvSpPr>
        <p:spPr>
          <a:xfrm>
            <a:off x="1440180" y="8119872"/>
            <a:ext cx="7242048" cy="685800"/>
          </a:xfrm>
          <a:prstGeom prst="rect">
            <a:avLst/>
          </a:prstGeom>
          <a:noFill/>
          <a:ln/>
        </p:spPr>
        <p:txBody>
          <a:bodyPr wrap="square" lIns="0" tIns="0" rIns="0" bIns="0" rtlCol="0" anchor="ctr">
            <a:normAutofit/>
          </a:bodyPr>
          <a:lstStyle/>
          <a:p>
            <a:r>
              <a:rPr lang="en-US" sz="1830" dirty="0">
                <a:solidFill>
                  <a:srgbClr val="EAF1FA"/>
                </a:solidFill>
                <a:latin typeface="Arial" pitchFamily="34" charset="0"/>
                <a:ea typeface="Arial" pitchFamily="34" charset="-122"/>
                <a:cs typeface="Arial" pitchFamily="34" charset="-120"/>
              </a:rPr>
              <a:t>FBCSP/PCA, Stage-I/II diagnostics, supervised and confidence-gated PWKNN prototypes.</a:t>
            </a:r>
            <a:endParaRPr lang="en-US" sz="1830" dirty="0"/>
          </a:p>
        </p:txBody>
      </p:sp>
      <p:sp>
        <p:nvSpPr>
          <p:cNvPr id="48" name="Shape 46"/>
          <p:cNvSpPr/>
          <p:nvPr/>
        </p:nvSpPr>
        <p:spPr>
          <a:xfrm>
            <a:off x="9272016" y="7392924"/>
            <a:ext cx="8092440" cy="1783080"/>
          </a:xfrm>
          <a:prstGeom prst="roundRect">
            <a:avLst>
              <a:gd name="adj" fmla="val 6154"/>
            </a:avLst>
          </a:prstGeom>
          <a:solidFill>
            <a:srgbClr val="101F31"/>
          </a:solidFill>
          <a:ln w="10795">
            <a:solidFill>
              <a:srgbClr val="294258"/>
            </a:solidFill>
            <a:prstDash val="solid"/>
          </a:ln>
        </p:spPr>
        <p:txBody>
          <a:bodyPr/>
          <a:lstStyle/>
          <a:p>
            <a:endParaRPr lang="en-GB"/>
          </a:p>
        </p:txBody>
      </p:sp>
      <p:sp>
        <p:nvSpPr>
          <p:cNvPr id="49" name="Shape 47"/>
          <p:cNvSpPr/>
          <p:nvPr/>
        </p:nvSpPr>
        <p:spPr>
          <a:xfrm>
            <a:off x="9573768" y="7708392"/>
            <a:ext cx="61722" cy="425196"/>
          </a:xfrm>
          <a:prstGeom prst="rect">
            <a:avLst/>
          </a:prstGeom>
          <a:solidFill>
            <a:srgbClr val="FFC354"/>
          </a:solidFill>
          <a:ln w="12700">
            <a:solidFill>
              <a:srgbClr val="FFC354">
                <a:alpha val="0"/>
              </a:srgbClr>
            </a:solidFill>
            <a:prstDash val="solid"/>
          </a:ln>
        </p:spPr>
        <p:txBody>
          <a:bodyPr/>
          <a:lstStyle/>
          <a:p>
            <a:endParaRPr lang="en-GB"/>
          </a:p>
        </p:txBody>
      </p:sp>
      <p:sp>
        <p:nvSpPr>
          <p:cNvPr id="50" name="Text 48"/>
          <p:cNvSpPr txBox="1"/>
          <p:nvPr/>
        </p:nvSpPr>
        <p:spPr>
          <a:xfrm>
            <a:off x="9779508" y="7667244"/>
            <a:ext cx="7269480" cy="301752"/>
          </a:xfrm>
          <a:prstGeom prst="rect">
            <a:avLst/>
          </a:prstGeom>
          <a:noFill/>
          <a:ln/>
        </p:spPr>
        <p:txBody>
          <a:bodyPr wrap="square" lIns="0" tIns="0" rIns="0" bIns="0" rtlCol="0" anchor="ctr">
            <a:normAutofit/>
          </a:bodyPr>
          <a:lstStyle/>
          <a:p>
            <a:r>
              <a:rPr lang="en-US" sz="1455" b="1" kern="0" spc="83" dirty="0">
                <a:solidFill>
                  <a:srgbClr val="FFC354"/>
                </a:solidFill>
                <a:latin typeface="Arial" pitchFamily="34" charset="0"/>
                <a:ea typeface="Arial" pitchFamily="34" charset="-122"/>
                <a:cs typeface="Arial" pitchFamily="34" charset="-120"/>
              </a:rPr>
              <a:t>WHAT THE PAPERS DO NOT YET ESTABLISH HERE</a:t>
            </a:r>
            <a:endParaRPr lang="en-US" sz="1455" dirty="0"/>
          </a:p>
        </p:txBody>
      </p:sp>
      <p:sp>
        <p:nvSpPr>
          <p:cNvPr id="51" name="Text 49"/>
          <p:cNvSpPr txBox="1"/>
          <p:nvPr/>
        </p:nvSpPr>
        <p:spPr>
          <a:xfrm>
            <a:off x="9779508" y="8119872"/>
            <a:ext cx="7242048" cy="685800"/>
          </a:xfrm>
          <a:prstGeom prst="rect">
            <a:avLst/>
          </a:prstGeom>
          <a:noFill/>
          <a:ln/>
        </p:spPr>
        <p:txBody>
          <a:bodyPr wrap="square" lIns="0" tIns="0" rIns="0" bIns="0" rtlCol="0" anchor="ctr">
            <a:normAutofit/>
          </a:bodyPr>
          <a:lstStyle/>
          <a:p>
            <a:r>
              <a:rPr lang="en-US" sz="1830" dirty="0">
                <a:solidFill>
                  <a:srgbClr val="EAF1FA"/>
                </a:solidFill>
                <a:latin typeface="Arial" pitchFamily="34" charset="0"/>
                <a:ea typeface="Arial" pitchFamily="34" charset="-122"/>
                <a:cs typeface="Arial" pitchFamily="34" charset="-120"/>
              </a:rPr>
              <a:t>Published Table 1 agreement, online clinical replication and the full dynamic LDA ensemble remain open.</a:t>
            </a:r>
            <a:endParaRPr lang="en-US" sz="1830" dirty="0"/>
          </a:p>
        </p:txBody>
      </p:sp>
      <p:sp>
        <p:nvSpPr>
          <p:cNvPr id="52" name="Text 50"/>
          <p:cNvSpPr txBox="1"/>
          <p:nvPr/>
        </p:nvSpPr>
        <p:spPr>
          <a:xfrm>
            <a:off x="932688" y="9765792"/>
            <a:ext cx="16418052" cy="205740"/>
          </a:xfrm>
          <a:prstGeom prst="rect">
            <a:avLst/>
          </a:prstGeom>
          <a:noFill/>
          <a:ln/>
        </p:spPr>
        <p:txBody>
          <a:bodyPr wrap="square" lIns="0" tIns="0" rIns="0" bIns="0" rtlCol="0" anchor="ctr">
            <a:normAutofit/>
          </a:bodyPr>
          <a:lstStyle/>
          <a:p>
            <a:r>
              <a:rPr lang="en-US" sz="1125" dirty="0">
                <a:solidFill>
                  <a:srgbClr val="778EA7"/>
                </a:solidFill>
                <a:latin typeface="Arial" pitchFamily="34" charset="0"/>
                <a:ea typeface="Arial" pitchFamily="34" charset="-122"/>
                <a:cs typeface="Arial" pitchFamily="34" charset="-120"/>
              </a:rPr>
              <a:t>Supporting comparator: Alippi et al. (2017), hierarchical change-detection tests (conceptual).  |  Sources: Notion WP1 Literature Library · GitHub study tracker · 15 Oct 2026</a:t>
            </a:r>
            <a:endParaRPr lang="en-US" sz="1125" dirty="0"/>
          </a:p>
        </p:txBody>
      </p:sp>
    </p:spTree>
    <p:extLst>
      <p:ext uri="{BB962C8B-B14F-4D97-AF65-F5344CB8AC3E}">
        <p14:creationId xmlns:p14="http://schemas.microsoft.com/office/powerpoint/2010/main" val="3430245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0"/>
            <a:ext cx="18287543" cy="75438"/>
          </a:xfrm>
          <a:prstGeom prst="rect">
            <a:avLst/>
          </a:prstGeom>
          <a:solidFill>
            <a:srgbClr val="EAF1FA"/>
          </a:solidFill>
          <a:ln w="12700">
            <a:solidFill>
              <a:srgbClr val="EAF1FA">
                <a:alpha val="0"/>
              </a:srgbClr>
            </a:solidFill>
            <a:prstDash val="solid"/>
          </a:ln>
        </p:spPr>
        <p:txBody>
          <a:bodyPr/>
          <a:lstStyle/>
          <a:p>
            <a:endParaRPr lang="en-GB"/>
          </a:p>
        </p:txBody>
      </p:sp>
      <p:sp>
        <p:nvSpPr>
          <p:cNvPr id="3" name="Text 1"/>
          <p:cNvSpPr txBox="1"/>
          <p:nvPr/>
        </p:nvSpPr>
        <p:spPr>
          <a:xfrm>
            <a:off x="932688" y="576072"/>
            <a:ext cx="9601200" cy="384048"/>
          </a:xfrm>
          <a:prstGeom prst="rect">
            <a:avLst/>
          </a:prstGeom>
          <a:noFill/>
          <a:ln/>
        </p:spPr>
        <p:txBody>
          <a:bodyPr wrap="square" lIns="0" tIns="0" rIns="0" bIns="0" rtlCol="0" anchor="ctr">
            <a:normAutofit/>
          </a:bodyPr>
          <a:lstStyle/>
          <a:p>
            <a:r>
              <a:rPr lang="en-US" sz="1650" b="1" kern="0" spc="120" dirty="0">
                <a:solidFill>
                  <a:srgbClr val="33D0C1"/>
                </a:solidFill>
                <a:latin typeface="Arial" pitchFamily="34" charset="0"/>
                <a:ea typeface="Arial" pitchFamily="34" charset="-122"/>
                <a:cs typeface="Arial" pitchFamily="34" charset="-120"/>
              </a:rPr>
              <a:t>LITERATURE REVIEW · RESEARCH EXTENSIONS</a:t>
            </a:r>
            <a:endParaRPr lang="en-US" sz="1650" dirty="0"/>
          </a:p>
        </p:txBody>
      </p:sp>
      <p:sp>
        <p:nvSpPr>
          <p:cNvPr id="4" name="Text 2"/>
          <p:cNvSpPr txBox="1"/>
          <p:nvPr/>
        </p:nvSpPr>
        <p:spPr>
          <a:xfrm>
            <a:off x="16171164" y="576072"/>
            <a:ext cx="1124712" cy="384048"/>
          </a:xfrm>
          <a:prstGeom prst="rect">
            <a:avLst/>
          </a:prstGeom>
          <a:noFill/>
          <a:ln/>
        </p:spPr>
        <p:txBody>
          <a:bodyPr wrap="square" lIns="0" tIns="0" rIns="0" bIns="0" rtlCol="0" anchor="ctr">
            <a:normAutofit/>
          </a:bodyPr>
          <a:lstStyle/>
          <a:p>
            <a:pPr algn="r"/>
            <a:r>
              <a:rPr lang="en-US" sz="1440" dirty="0">
                <a:solidFill>
                  <a:srgbClr val="778EA7"/>
                </a:solidFill>
                <a:latin typeface="Arial" pitchFamily="34" charset="0"/>
                <a:ea typeface="Arial" pitchFamily="34" charset="-122"/>
                <a:cs typeface="Arial" pitchFamily="34" charset="-120"/>
              </a:rPr>
              <a:t>02 / 02</a:t>
            </a:r>
            <a:endParaRPr lang="en-US" sz="1440" dirty="0"/>
          </a:p>
        </p:txBody>
      </p:sp>
      <p:sp>
        <p:nvSpPr>
          <p:cNvPr id="5" name="Text 3"/>
          <p:cNvSpPr txBox="1"/>
          <p:nvPr/>
        </p:nvSpPr>
        <p:spPr>
          <a:xfrm>
            <a:off x="932688" y="1193292"/>
            <a:ext cx="16459200" cy="768096"/>
          </a:xfrm>
          <a:prstGeom prst="rect">
            <a:avLst/>
          </a:prstGeom>
          <a:noFill/>
          <a:ln/>
        </p:spPr>
        <p:txBody>
          <a:bodyPr wrap="square" lIns="0" tIns="0" rIns="0" bIns="0" rtlCol="0" anchor="ctr">
            <a:normAutofit/>
          </a:bodyPr>
          <a:lstStyle/>
          <a:p>
            <a:r>
              <a:rPr lang="en-US" sz="4350" b="1" dirty="0">
                <a:solidFill>
                  <a:srgbClr val="EAF1FA"/>
                </a:solidFill>
                <a:latin typeface="Arial" pitchFamily="34" charset="0"/>
                <a:ea typeface="Arial" pitchFamily="34" charset="-122"/>
                <a:cs typeface="Arial" pitchFamily="34" charset="-120"/>
              </a:rPr>
              <a:t>Towards a self-maintaining learning system</a:t>
            </a:r>
            <a:endParaRPr lang="en-US" sz="4350" dirty="0"/>
          </a:p>
        </p:txBody>
      </p:sp>
      <p:sp>
        <p:nvSpPr>
          <p:cNvPr id="6" name="Text 4"/>
          <p:cNvSpPr txBox="1"/>
          <p:nvPr/>
        </p:nvSpPr>
        <p:spPr>
          <a:xfrm>
            <a:off x="932688" y="2057400"/>
            <a:ext cx="16459200" cy="411480"/>
          </a:xfrm>
          <a:prstGeom prst="rect">
            <a:avLst/>
          </a:prstGeom>
          <a:noFill/>
          <a:ln/>
        </p:spPr>
        <p:txBody>
          <a:bodyPr wrap="square" lIns="0" tIns="0" rIns="0" bIns="0" rtlCol="0" anchor="ctr">
            <a:normAutofit/>
          </a:bodyPr>
          <a:lstStyle/>
          <a:p>
            <a:r>
              <a:rPr lang="en-US" sz="1860" dirty="0">
                <a:solidFill>
                  <a:srgbClr val="A2B3C5"/>
                </a:solidFill>
                <a:latin typeface="Arial" pitchFamily="34" charset="0"/>
                <a:ea typeface="Arial" pitchFamily="34" charset="-122"/>
                <a:cs typeface="Arial" pitchFamily="34" charset="-120"/>
              </a:rPr>
              <a:t>Later work shifts the research question from “did the data change?” to “what should the system do?”</a:t>
            </a:r>
            <a:endParaRPr lang="en-US" sz="1860" dirty="0"/>
          </a:p>
        </p:txBody>
      </p:sp>
      <p:sp>
        <p:nvSpPr>
          <p:cNvPr id="7" name="Shape 5"/>
          <p:cNvSpPr/>
          <p:nvPr/>
        </p:nvSpPr>
        <p:spPr>
          <a:xfrm>
            <a:off x="932688" y="2715768"/>
            <a:ext cx="16431768" cy="0"/>
          </a:xfrm>
          <a:prstGeom prst="line">
            <a:avLst/>
          </a:prstGeom>
          <a:noFill/>
          <a:ln w="15875">
            <a:solidFill>
              <a:srgbClr val="31485D"/>
            </a:solidFill>
            <a:prstDash val="solid"/>
          </a:ln>
        </p:spPr>
        <p:txBody>
          <a:bodyPr/>
          <a:lstStyle/>
          <a:p>
            <a:endParaRPr lang="en-GB"/>
          </a:p>
        </p:txBody>
      </p:sp>
      <p:sp>
        <p:nvSpPr>
          <p:cNvPr id="8" name="Shape 6"/>
          <p:cNvSpPr/>
          <p:nvPr/>
        </p:nvSpPr>
        <p:spPr>
          <a:xfrm>
            <a:off x="2057400" y="4485132"/>
            <a:ext cx="14141196" cy="0"/>
          </a:xfrm>
          <a:prstGeom prst="line">
            <a:avLst/>
          </a:prstGeom>
          <a:noFill/>
          <a:ln w="27940">
            <a:solidFill>
              <a:srgbClr val="31485D"/>
            </a:solidFill>
            <a:prstDash val="solid"/>
          </a:ln>
        </p:spPr>
        <p:txBody>
          <a:bodyPr/>
          <a:lstStyle/>
          <a:p>
            <a:endParaRPr lang="en-GB"/>
          </a:p>
        </p:txBody>
      </p:sp>
      <p:sp>
        <p:nvSpPr>
          <p:cNvPr id="9" name="Text 7"/>
          <p:cNvSpPr txBox="1"/>
          <p:nvPr/>
        </p:nvSpPr>
        <p:spPr>
          <a:xfrm>
            <a:off x="617220" y="2907792"/>
            <a:ext cx="2990088" cy="507492"/>
          </a:xfrm>
          <a:prstGeom prst="rect">
            <a:avLst/>
          </a:prstGeom>
          <a:noFill/>
          <a:ln/>
        </p:spPr>
        <p:txBody>
          <a:bodyPr wrap="square" lIns="0" tIns="0" rIns="0" bIns="0" rtlCol="0" anchor="ctr">
            <a:normAutofit/>
          </a:bodyPr>
          <a:lstStyle/>
          <a:p>
            <a:pPr algn="ctr"/>
            <a:r>
              <a:rPr lang="en-US" sz="3000" b="1" dirty="0">
                <a:solidFill>
                  <a:srgbClr val="33D0C1"/>
                </a:solidFill>
                <a:latin typeface="Arial" pitchFamily="34" charset="0"/>
                <a:ea typeface="Arial" pitchFamily="34" charset="-122"/>
                <a:cs typeface="Arial" pitchFamily="34" charset="-120"/>
              </a:rPr>
              <a:t>2019</a:t>
            </a:r>
            <a:endParaRPr lang="en-US" sz="3000" dirty="0"/>
          </a:p>
        </p:txBody>
      </p:sp>
      <p:sp>
        <p:nvSpPr>
          <p:cNvPr id="10" name="Text 8"/>
          <p:cNvSpPr txBox="1"/>
          <p:nvPr/>
        </p:nvSpPr>
        <p:spPr>
          <a:xfrm>
            <a:off x="617220" y="3442716"/>
            <a:ext cx="2990088" cy="726948"/>
          </a:xfrm>
          <a:prstGeom prst="rect">
            <a:avLst/>
          </a:prstGeom>
          <a:noFill/>
          <a:ln/>
        </p:spPr>
        <p:txBody>
          <a:bodyPr wrap="square" lIns="0" tIns="0" rIns="0" bIns="0" rtlCol="0" anchor="ctr">
            <a:normAutofit fontScale="92500" lnSpcReduction="20000"/>
          </a:bodyPr>
          <a:lstStyle/>
          <a:p>
            <a:pPr algn="ctr"/>
            <a:r>
              <a:rPr lang="en-US" sz="2018" b="1" dirty="0">
                <a:solidFill>
                  <a:srgbClr val="EAF1FA"/>
                </a:solidFill>
                <a:latin typeface="Arial" pitchFamily="34" charset="0"/>
                <a:ea typeface="Arial" pitchFamily="34" charset="-122"/>
                <a:cs typeface="Arial" pitchFamily="34" charset="-120"/>
              </a:rPr>
              <a:t>Diethe et al.</a:t>
            </a:r>
            <a:endParaRPr lang="en-US" sz="2018" dirty="0"/>
          </a:p>
          <a:p>
            <a:pPr algn="ctr"/>
            <a:r>
              <a:rPr lang="en-US" sz="2018" b="1" dirty="0">
                <a:solidFill>
                  <a:srgbClr val="EAF1FA"/>
                </a:solidFill>
                <a:latin typeface="Arial" pitchFamily="34" charset="0"/>
                <a:ea typeface="Arial" pitchFamily="34" charset="-122"/>
                <a:cs typeface="Arial" pitchFamily="34" charset="-120"/>
              </a:rPr>
              <a:t>Continual Learning in Practice</a:t>
            </a:r>
            <a:endParaRPr lang="en-US" sz="2018" dirty="0"/>
          </a:p>
        </p:txBody>
      </p:sp>
      <p:sp>
        <p:nvSpPr>
          <p:cNvPr id="11" name="Shape 9">
            <a:hlinkClick r:id="rId3"/>
          </p:cNvPr>
          <p:cNvSpPr/>
          <p:nvPr/>
        </p:nvSpPr>
        <p:spPr>
          <a:xfrm>
            <a:off x="617220"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12" name="Shape 10"/>
          <p:cNvSpPr/>
          <p:nvPr/>
        </p:nvSpPr>
        <p:spPr>
          <a:xfrm>
            <a:off x="1920240" y="4293108"/>
            <a:ext cx="384048" cy="384048"/>
          </a:xfrm>
          <a:prstGeom prst="ellipse">
            <a:avLst/>
          </a:prstGeom>
          <a:solidFill>
            <a:srgbClr val="33D0C1"/>
          </a:solidFill>
          <a:ln w="12700">
            <a:solidFill>
              <a:srgbClr val="33D0C1">
                <a:alpha val="0"/>
              </a:srgbClr>
            </a:solidFill>
            <a:prstDash val="solid"/>
          </a:ln>
        </p:spPr>
        <p:txBody>
          <a:bodyPr/>
          <a:lstStyle/>
          <a:p>
            <a:endParaRPr lang="en-GB"/>
          </a:p>
        </p:txBody>
      </p:sp>
      <p:sp>
        <p:nvSpPr>
          <p:cNvPr id="13" name="Text 11"/>
          <p:cNvSpPr txBox="1"/>
          <p:nvPr/>
        </p:nvSpPr>
        <p:spPr>
          <a:xfrm>
            <a:off x="617220"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Monitor data, predictive performance and update cost.</a:t>
            </a:r>
            <a:endParaRPr lang="en-US" sz="1695" dirty="0"/>
          </a:p>
        </p:txBody>
      </p:sp>
      <p:sp>
        <p:nvSpPr>
          <p:cNvPr id="14" name="Text 12">
            <a:hlinkClick r:id="rId4"/>
          </p:cNvPr>
          <p:cNvSpPr txBox="1"/>
          <p:nvPr/>
        </p:nvSpPr>
        <p:spPr>
          <a:xfrm>
            <a:off x="617220"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4">
                  <a:extLst>
                    <a:ext uri="{A12FA001-AC4F-418D-AE19-62706E023703}">
                      <ahyp:hlinkClr xmlns:ahyp="http://schemas.microsoft.com/office/drawing/2018/hyperlinkcolor" val="tx"/>
                    </a:ext>
                  </a:extLst>
                </a:hlinkClick>
              </a:rPr>
              <a:t>src/adaptation/</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4">
                  <a:extLst>
                    <a:ext uri="{A12FA001-AC4F-418D-AE19-62706E023703}">
                      <ahyp:hlinkClr xmlns:ahyp="http://schemas.microsoft.com/office/drawing/2018/hyperlinkcolor" val="tx"/>
                    </a:ext>
                  </a:extLst>
                </a:hlinkClick>
              </a:rPr>
              <a:t>experiments/diethe.py</a:t>
            </a:r>
            <a:endParaRPr lang="en-US" sz="1335" dirty="0"/>
          </a:p>
        </p:txBody>
      </p:sp>
      <p:sp>
        <p:nvSpPr>
          <p:cNvPr id="15" name="Text 13"/>
          <p:cNvSpPr txBox="1"/>
          <p:nvPr/>
        </p:nvSpPr>
        <p:spPr>
          <a:xfrm>
            <a:off x="617220" y="6748272"/>
            <a:ext cx="2990088" cy="288036"/>
          </a:xfrm>
          <a:prstGeom prst="rect">
            <a:avLst/>
          </a:prstGeom>
          <a:noFill/>
          <a:ln/>
        </p:spPr>
        <p:txBody>
          <a:bodyPr wrap="square" lIns="0" tIns="0" rIns="0" bIns="0" rtlCol="0" anchor="ctr">
            <a:normAutofit/>
          </a:bodyPr>
          <a:lstStyle/>
          <a:p>
            <a:pPr algn="ctr"/>
            <a:r>
              <a:rPr lang="en-US" sz="1200" b="1" kern="0" spc="45" dirty="0">
                <a:solidFill>
                  <a:srgbClr val="33D0C1"/>
                </a:solidFill>
                <a:latin typeface="Arial" pitchFamily="34" charset="0"/>
                <a:ea typeface="Arial" pitchFamily="34" charset="-122"/>
                <a:cs typeface="Arial" pitchFamily="34" charset="-120"/>
              </a:rPr>
              <a:t>SIX-POLICY LAB</a:t>
            </a:r>
            <a:endParaRPr lang="en-US" sz="1200" dirty="0"/>
          </a:p>
        </p:txBody>
      </p:sp>
      <p:sp>
        <p:nvSpPr>
          <p:cNvPr id="16" name="Text 14"/>
          <p:cNvSpPr txBox="1"/>
          <p:nvPr/>
        </p:nvSpPr>
        <p:spPr>
          <a:xfrm>
            <a:off x="4101084" y="2907792"/>
            <a:ext cx="2990088" cy="507492"/>
          </a:xfrm>
          <a:prstGeom prst="rect">
            <a:avLst/>
          </a:prstGeom>
          <a:noFill/>
          <a:ln/>
        </p:spPr>
        <p:txBody>
          <a:bodyPr wrap="square" lIns="0" tIns="0" rIns="0" bIns="0" rtlCol="0" anchor="ctr">
            <a:normAutofit/>
          </a:bodyPr>
          <a:lstStyle/>
          <a:p>
            <a:pPr algn="ctr"/>
            <a:r>
              <a:rPr lang="en-US" sz="3000" b="1" dirty="0">
                <a:solidFill>
                  <a:srgbClr val="B08BFF"/>
                </a:solidFill>
                <a:latin typeface="Arial" pitchFamily="34" charset="0"/>
                <a:ea typeface="Arial" pitchFamily="34" charset="-122"/>
                <a:cs typeface="Arial" pitchFamily="34" charset="-120"/>
              </a:rPr>
              <a:t>2022</a:t>
            </a:r>
            <a:endParaRPr lang="en-US" sz="3000" dirty="0"/>
          </a:p>
        </p:txBody>
      </p:sp>
      <p:sp>
        <p:nvSpPr>
          <p:cNvPr id="17" name="Text 15"/>
          <p:cNvSpPr txBox="1"/>
          <p:nvPr/>
        </p:nvSpPr>
        <p:spPr>
          <a:xfrm>
            <a:off x="4101084"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Kudithipudi et al.</a:t>
            </a:r>
            <a:endParaRPr lang="en-US" sz="2018" dirty="0"/>
          </a:p>
          <a:p>
            <a:pPr algn="ctr"/>
            <a:r>
              <a:rPr lang="en-US" sz="2018" b="1" dirty="0">
                <a:solidFill>
                  <a:srgbClr val="EAF1FA"/>
                </a:solidFill>
                <a:latin typeface="Arial" pitchFamily="34" charset="0"/>
                <a:ea typeface="Arial" pitchFamily="34" charset="-122"/>
                <a:cs typeface="Arial" pitchFamily="34" charset="-120"/>
              </a:rPr>
              <a:t>Lifelong learning</a:t>
            </a:r>
            <a:endParaRPr lang="en-US" sz="2018" dirty="0"/>
          </a:p>
        </p:txBody>
      </p:sp>
      <p:sp>
        <p:nvSpPr>
          <p:cNvPr id="18" name="Shape 16">
            <a:hlinkClick r:id="rId5"/>
          </p:cNvPr>
          <p:cNvSpPr/>
          <p:nvPr/>
        </p:nvSpPr>
        <p:spPr>
          <a:xfrm>
            <a:off x="4101084"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19" name="Shape 17"/>
          <p:cNvSpPr/>
          <p:nvPr/>
        </p:nvSpPr>
        <p:spPr>
          <a:xfrm>
            <a:off x="5404104" y="4293108"/>
            <a:ext cx="384048" cy="384048"/>
          </a:xfrm>
          <a:prstGeom prst="ellipse">
            <a:avLst/>
          </a:prstGeom>
          <a:solidFill>
            <a:srgbClr val="B08BFF"/>
          </a:solidFill>
          <a:ln w="12700">
            <a:solidFill>
              <a:srgbClr val="B08BFF">
                <a:alpha val="0"/>
              </a:srgbClr>
            </a:solidFill>
            <a:prstDash val="solid"/>
          </a:ln>
        </p:spPr>
        <p:txBody>
          <a:bodyPr/>
          <a:lstStyle/>
          <a:p>
            <a:endParaRPr lang="en-GB"/>
          </a:p>
        </p:txBody>
      </p:sp>
      <p:sp>
        <p:nvSpPr>
          <p:cNvPr id="20" name="Text 18"/>
          <p:cNvSpPr txBox="1"/>
          <p:nvPr/>
        </p:nvSpPr>
        <p:spPr>
          <a:xfrm>
            <a:off x="4101084"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Stability–plasticity and knowledge preservation principles.</a:t>
            </a:r>
            <a:endParaRPr lang="en-US" sz="1695" dirty="0"/>
          </a:p>
        </p:txBody>
      </p:sp>
      <p:sp>
        <p:nvSpPr>
          <p:cNvPr id="21" name="Text 19"/>
          <p:cNvSpPr txBox="1"/>
          <p:nvPr/>
        </p:nvSpPr>
        <p:spPr>
          <a:xfrm>
            <a:off x="4101084" y="6117336"/>
            <a:ext cx="2990088" cy="562356"/>
          </a:xfrm>
          <a:prstGeom prst="rect">
            <a:avLst/>
          </a:prstGeom>
          <a:noFill/>
          <a:ln/>
        </p:spPr>
        <p:txBody>
          <a:bodyPr wrap="square" lIns="0" tIns="0" rIns="0" bIns="0" rtlCol="0" anchor="ctr">
            <a:normAutofit/>
          </a:bodyPr>
          <a:lstStyle/>
          <a:p>
            <a:pPr algn="ctr"/>
            <a:r>
              <a:rPr lang="en-US" sz="1335" dirty="0">
                <a:solidFill>
                  <a:srgbClr val="778EA7"/>
                </a:solidFill>
                <a:latin typeface="Arial" pitchFamily="34" charset="0"/>
                <a:ea typeface="Arial" pitchFamily="34" charset="-122"/>
                <a:cs typeface="Arial" pitchFamily="34" charset="-120"/>
              </a:rPr>
              <a:t>Theory for replay and</a:t>
            </a:r>
            <a:endParaRPr lang="en-US" sz="1335" dirty="0"/>
          </a:p>
          <a:p>
            <a:pPr algn="ctr"/>
            <a:r>
              <a:rPr lang="en-US" sz="1335" dirty="0">
                <a:solidFill>
                  <a:srgbClr val="778EA7"/>
                </a:solidFill>
                <a:latin typeface="Arial" pitchFamily="34" charset="0"/>
                <a:ea typeface="Arial" pitchFamily="34" charset="-122"/>
                <a:cs typeface="Arial" pitchFamily="34" charset="-120"/>
              </a:rPr>
              <a:t>selective adaptation</a:t>
            </a:r>
            <a:endParaRPr lang="en-US" sz="1335" dirty="0"/>
          </a:p>
        </p:txBody>
      </p:sp>
      <p:sp>
        <p:nvSpPr>
          <p:cNvPr id="22" name="Text 20"/>
          <p:cNvSpPr txBox="1"/>
          <p:nvPr/>
        </p:nvSpPr>
        <p:spPr>
          <a:xfrm>
            <a:off x="4101084" y="6748272"/>
            <a:ext cx="2990088" cy="288036"/>
          </a:xfrm>
          <a:prstGeom prst="rect">
            <a:avLst/>
          </a:prstGeom>
          <a:noFill/>
          <a:ln/>
        </p:spPr>
        <p:txBody>
          <a:bodyPr wrap="square" lIns="0" tIns="0" rIns="0" bIns="0" rtlCol="0" anchor="ctr">
            <a:normAutofit/>
          </a:bodyPr>
          <a:lstStyle/>
          <a:p>
            <a:pPr algn="ctr"/>
            <a:r>
              <a:rPr lang="en-US" sz="1200" b="1" kern="0" spc="45" dirty="0">
                <a:solidFill>
                  <a:srgbClr val="B08BFF"/>
                </a:solidFill>
                <a:latin typeface="Arial" pitchFamily="34" charset="0"/>
                <a:ea typeface="Arial" pitchFamily="34" charset="-122"/>
                <a:cs typeface="Arial" pitchFamily="34" charset="-120"/>
              </a:rPr>
              <a:t>CONCEPTUAL / FUTURE</a:t>
            </a:r>
            <a:endParaRPr lang="en-US" sz="1200" dirty="0"/>
          </a:p>
        </p:txBody>
      </p:sp>
      <p:sp>
        <p:nvSpPr>
          <p:cNvPr id="23" name="Text 21"/>
          <p:cNvSpPr txBox="1"/>
          <p:nvPr/>
        </p:nvSpPr>
        <p:spPr>
          <a:xfrm>
            <a:off x="7598664" y="2907792"/>
            <a:ext cx="2990088" cy="507492"/>
          </a:xfrm>
          <a:prstGeom prst="rect">
            <a:avLst/>
          </a:prstGeom>
          <a:noFill/>
          <a:ln/>
        </p:spPr>
        <p:txBody>
          <a:bodyPr wrap="square" lIns="0" tIns="0" rIns="0" bIns="0" rtlCol="0" anchor="ctr">
            <a:normAutofit/>
          </a:bodyPr>
          <a:lstStyle/>
          <a:p>
            <a:pPr algn="ctr"/>
            <a:r>
              <a:rPr lang="en-US" sz="3000" b="1" dirty="0">
                <a:solidFill>
                  <a:srgbClr val="62D993"/>
                </a:solidFill>
                <a:latin typeface="Arial" pitchFamily="34" charset="0"/>
                <a:ea typeface="Arial" pitchFamily="34" charset="-122"/>
                <a:cs typeface="Arial" pitchFamily="34" charset="-120"/>
              </a:rPr>
              <a:t>2023</a:t>
            </a:r>
            <a:endParaRPr lang="en-US" sz="3000" dirty="0"/>
          </a:p>
        </p:txBody>
      </p:sp>
      <p:sp>
        <p:nvSpPr>
          <p:cNvPr id="24" name="Text 22"/>
          <p:cNvSpPr txBox="1"/>
          <p:nvPr/>
        </p:nvSpPr>
        <p:spPr>
          <a:xfrm>
            <a:off x="7598664"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Hurtado et al.</a:t>
            </a:r>
            <a:endParaRPr lang="en-US" sz="2018" dirty="0"/>
          </a:p>
          <a:p>
            <a:pPr algn="ctr"/>
            <a:r>
              <a:rPr lang="en-US" sz="2018" b="1" dirty="0">
                <a:solidFill>
                  <a:srgbClr val="EAF1FA"/>
                </a:solidFill>
                <a:latin typeface="Arial" pitchFamily="34" charset="0"/>
                <a:ea typeface="Arial" pitchFamily="34" charset="-122"/>
                <a:cs typeface="Arial" pitchFamily="34" charset="-120"/>
              </a:rPr>
              <a:t>Predictive maintenance</a:t>
            </a:r>
            <a:endParaRPr lang="en-US" sz="2018" dirty="0"/>
          </a:p>
        </p:txBody>
      </p:sp>
      <p:sp>
        <p:nvSpPr>
          <p:cNvPr id="25" name="Shape 23">
            <a:hlinkClick r:id="rId6"/>
          </p:cNvPr>
          <p:cNvSpPr/>
          <p:nvPr/>
        </p:nvSpPr>
        <p:spPr>
          <a:xfrm>
            <a:off x="7598664"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26" name="Shape 24"/>
          <p:cNvSpPr/>
          <p:nvPr/>
        </p:nvSpPr>
        <p:spPr>
          <a:xfrm>
            <a:off x="8901684" y="4293108"/>
            <a:ext cx="384048" cy="384048"/>
          </a:xfrm>
          <a:prstGeom prst="ellipse">
            <a:avLst/>
          </a:prstGeom>
          <a:solidFill>
            <a:srgbClr val="62D993"/>
          </a:solidFill>
          <a:ln w="12700">
            <a:solidFill>
              <a:srgbClr val="62D993">
                <a:alpha val="0"/>
              </a:srgbClr>
            </a:solidFill>
            <a:prstDash val="solid"/>
          </a:ln>
        </p:spPr>
        <p:txBody>
          <a:bodyPr/>
          <a:lstStyle/>
          <a:p>
            <a:endParaRPr lang="en-GB"/>
          </a:p>
        </p:txBody>
      </p:sp>
      <p:sp>
        <p:nvSpPr>
          <p:cNvPr id="27" name="Text 25"/>
          <p:cNvSpPr txBox="1"/>
          <p:nvPr/>
        </p:nvSpPr>
        <p:spPr>
          <a:xfrm>
            <a:off x="7598664"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Active / passive continual learning and memory constraints.</a:t>
            </a:r>
            <a:endParaRPr lang="en-US" sz="1695" dirty="0"/>
          </a:p>
        </p:txBody>
      </p:sp>
      <p:sp>
        <p:nvSpPr>
          <p:cNvPr id="28" name="Text 26">
            <a:hlinkClick r:id="rId7"/>
          </p:cNvPr>
          <p:cNvSpPr txBox="1"/>
          <p:nvPr/>
        </p:nvSpPr>
        <p:spPr>
          <a:xfrm>
            <a:off x="7598664"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src/web/data_structures.py ·</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src/adaptation/policies.py</a:t>
            </a:r>
            <a:endParaRPr lang="en-US" sz="1335" dirty="0"/>
          </a:p>
        </p:txBody>
      </p:sp>
      <p:sp>
        <p:nvSpPr>
          <p:cNvPr id="29" name="Text 27"/>
          <p:cNvSpPr txBox="1"/>
          <p:nvPr/>
        </p:nvSpPr>
        <p:spPr>
          <a:xfrm>
            <a:off x="7598664" y="6748272"/>
            <a:ext cx="2990088" cy="288036"/>
          </a:xfrm>
          <a:prstGeom prst="rect">
            <a:avLst/>
          </a:prstGeom>
          <a:noFill/>
          <a:ln/>
        </p:spPr>
        <p:txBody>
          <a:bodyPr wrap="square" lIns="0" tIns="0" rIns="0" bIns="0" rtlCol="0" anchor="ctr">
            <a:normAutofit/>
          </a:bodyPr>
          <a:lstStyle/>
          <a:p>
            <a:pPr algn="ctr"/>
            <a:r>
              <a:rPr lang="en-US" sz="1200" b="1" kern="0" spc="45" dirty="0">
                <a:solidFill>
                  <a:srgbClr val="62D993"/>
                </a:solidFill>
                <a:latin typeface="Arial" pitchFamily="34" charset="0"/>
                <a:ea typeface="Arial" pitchFamily="34" charset="-122"/>
                <a:cs typeface="Arial" pitchFamily="34" charset="-120"/>
              </a:rPr>
              <a:t>TAXONOMY + DATASET EDA</a:t>
            </a:r>
            <a:endParaRPr lang="en-US" sz="1200" dirty="0"/>
          </a:p>
        </p:txBody>
      </p:sp>
      <p:sp>
        <p:nvSpPr>
          <p:cNvPr id="30" name="Text 28"/>
          <p:cNvSpPr txBox="1"/>
          <p:nvPr/>
        </p:nvSpPr>
        <p:spPr>
          <a:xfrm>
            <a:off x="11082528" y="2907792"/>
            <a:ext cx="2990088" cy="507492"/>
          </a:xfrm>
          <a:prstGeom prst="rect">
            <a:avLst/>
          </a:prstGeom>
          <a:noFill/>
          <a:ln/>
        </p:spPr>
        <p:txBody>
          <a:bodyPr wrap="square" lIns="0" tIns="0" rIns="0" bIns="0" rtlCol="0" anchor="ctr">
            <a:normAutofit/>
          </a:bodyPr>
          <a:lstStyle/>
          <a:p>
            <a:pPr algn="ctr"/>
            <a:r>
              <a:rPr lang="en-US" sz="3000" b="1" dirty="0">
                <a:solidFill>
                  <a:srgbClr val="FFC354"/>
                </a:solidFill>
                <a:latin typeface="Arial" pitchFamily="34" charset="0"/>
                <a:ea typeface="Arial" pitchFamily="34" charset="-122"/>
                <a:cs typeface="Arial" pitchFamily="34" charset="-120"/>
              </a:rPr>
              <a:t>2023</a:t>
            </a:r>
            <a:endParaRPr lang="en-US" sz="3000" dirty="0"/>
          </a:p>
        </p:txBody>
      </p:sp>
      <p:sp>
        <p:nvSpPr>
          <p:cNvPr id="31" name="Text 29"/>
          <p:cNvSpPr txBox="1"/>
          <p:nvPr/>
        </p:nvSpPr>
        <p:spPr>
          <a:xfrm>
            <a:off x="11082528"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Park et al.</a:t>
            </a:r>
            <a:endParaRPr lang="en-US" sz="2018" dirty="0"/>
          </a:p>
          <a:p>
            <a:pPr algn="ctr"/>
            <a:r>
              <a:rPr lang="en-US" sz="2018" b="1" dirty="0">
                <a:solidFill>
                  <a:srgbClr val="EAF1FA"/>
                </a:solidFill>
                <a:latin typeface="Arial" pitchFamily="34" charset="0"/>
                <a:ea typeface="Arial" pitchFamily="34" charset="-122"/>
                <a:cs typeface="Arial" pitchFamily="34" charset="-120"/>
              </a:rPr>
              <a:t>Structural change</a:t>
            </a:r>
            <a:endParaRPr lang="en-US" sz="2018" dirty="0"/>
          </a:p>
        </p:txBody>
      </p:sp>
      <p:sp>
        <p:nvSpPr>
          <p:cNvPr id="32" name="Shape 30">
            <a:hlinkClick r:id="rId8"/>
          </p:cNvPr>
          <p:cNvSpPr/>
          <p:nvPr/>
        </p:nvSpPr>
        <p:spPr>
          <a:xfrm>
            <a:off x="11082528"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33" name="Shape 31"/>
          <p:cNvSpPr/>
          <p:nvPr/>
        </p:nvSpPr>
        <p:spPr>
          <a:xfrm>
            <a:off x="12385548" y="4293108"/>
            <a:ext cx="384048" cy="384048"/>
          </a:xfrm>
          <a:prstGeom prst="ellipse">
            <a:avLst/>
          </a:prstGeom>
          <a:solidFill>
            <a:srgbClr val="FFC354"/>
          </a:solidFill>
          <a:ln w="12700">
            <a:solidFill>
              <a:srgbClr val="FFC354">
                <a:alpha val="0"/>
              </a:srgbClr>
            </a:solidFill>
            <a:prstDash val="solid"/>
          </a:ln>
        </p:spPr>
        <p:txBody>
          <a:bodyPr/>
          <a:lstStyle/>
          <a:p>
            <a:endParaRPr lang="en-GB"/>
          </a:p>
        </p:txBody>
      </p:sp>
      <p:sp>
        <p:nvSpPr>
          <p:cNvPr id="34" name="Text 32"/>
          <p:cNvSpPr txBox="1"/>
          <p:nvPr/>
        </p:nvSpPr>
        <p:spPr>
          <a:xfrm>
            <a:off x="11082528"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Mean CUSUM; conditional spectral / dynamic-PCA analysis.</a:t>
            </a:r>
            <a:endParaRPr lang="en-US" sz="1695" dirty="0"/>
          </a:p>
        </p:txBody>
      </p:sp>
      <p:sp>
        <p:nvSpPr>
          <p:cNvPr id="35" name="Text 33">
            <a:hlinkClick r:id="rId9"/>
          </p:cNvPr>
          <p:cNvSpPr txBox="1"/>
          <p:nvPr/>
        </p:nvSpPr>
        <p:spPr>
          <a:xfrm>
            <a:off x="11082528" y="6117336"/>
            <a:ext cx="2990088" cy="562356"/>
          </a:xfrm>
          <a:prstGeom prst="rect">
            <a:avLst/>
          </a:prstGeom>
          <a:noFill/>
          <a:ln/>
        </p:spPr>
        <p:txBody>
          <a:bodyPr wrap="square" lIns="0" tIns="0" rIns="0" bIns="0" rtlCol="0" anchor="ctr">
            <a:normAutofit/>
          </a:bodyPr>
          <a:lstStyle/>
          <a:p>
            <a:pPr algn="ctr"/>
            <a:r>
              <a:rPr lang="en-US" sz="1335" u="sng" dirty="0">
                <a:solidFill>
                  <a:srgbClr val="778EA7"/>
                </a:solidFill>
                <a:latin typeface="Arial" pitchFamily="34" charset="0"/>
                <a:ea typeface="Arial" pitchFamily="34" charset="-122"/>
                <a:cs typeface="Arial" pitchFamily="34" charset="-120"/>
                <a:hlinkClick r:id="rId9">
                  <a:extLst>
                    <a:ext uri="{A12FA001-AC4F-418D-AE19-62706E023703}">
                      <ahyp:hlinkClr xmlns:ahyp="http://schemas.microsoft.com/office/drawing/2018/hyperlinkcolor" val="tx"/>
                    </a:ext>
                  </a:extLst>
                </a:hlinkClick>
              </a:rPr>
              <a:t>src/detection/stage1/</a:t>
            </a:r>
            <a:endParaRPr lang="en-US" sz="1335" dirty="0"/>
          </a:p>
          <a:p>
            <a:pPr algn="ctr"/>
            <a:r>
              <a:rPr lang="en-US" sz="1335" u="sng" dirty="0">
                <a:solidFill>
                  <a:srgbClr val="778EA7"/>
                </a:solidFill>
                <a:latin typeface="Arial" pitchFamily="34" charset="0"/>
                <a:ea typeface="Arial" pitchFamily="34" charset="-122"/>
                <a:cs typeface="Arial" pitchFamily="34" charset="-120"/>
                <a:hlinkClick r:id="rId9">
                  <a:extLst>
                    <a:ext uri="{A12FA001-AC4F-418D-AE19-62706E023703}">
                      <ahyp:hlinkClr xmlns:ahyp="http://schemas.microsoft.com/office/drawing/2018/hyperlinkcolor" val="tx"/>
                    </a:ext>
                  </a:extLst>
                </a:hlinkClick>
              </a:rPr>
              <a:t>park_mean_cusum.py</a:t>
            </a:r>
            <a:endParaRPr lang="en-US" sz="1335" dirty="0"/>
          </a:p>
        </p:txBody>
      </p:sp>
      <p:sp>
        <p:nvSpPr>
          <p:cNvPr id="36" name="Text 34"/>
          <p:cNvSpPr txBox="1"/>
          <p:nvPr/>
        </p:nvSpPr>
        <p:spPr>
          <a:xfrm>
            <a:off x="11082528" y="6748272"/>
            <a:ext cx="2990088" cy="288036"/>
          </a:xfrm>
          <a:prstGeom prst="rect">
            <a:avLst/>
          </a:prstGeom>
          <a:noFill/>
          <a:ln/>
        </p:spPr>
        <p:txBody>
          <a:bodyPr wrap="square" lIns="0" tIns="0" rIns="0" bIns="0" rtlCol="0" anchor="ctr">
            <a:normAutofit/>
          </a:bodyPr>
          <a:lstStyle/>
          <a:p>
            <a:pPr algn="ctr"/>
            <a:r>
              <a:rPr lang="en-US" sz="1200" b="1" kern="0" spc="45" dirty="0">
                <a:solidFill>
                  <a:srgbClr val="FFC354"/>
                </a:solidFill>
                <a:latin typeface="Arial" pitchFamily="34" charset="0"/>
                <a:ea typeface="Arial" pitchFamily="34" charset="-122"/>
                <a:cs typeface="Arial" pitchFamily="34" charset="-120"/>
              </a:rPr>
              <a:t>MEAN STAGE IMPLEMENTED</a:t>
            </a:r>
            <a:endParaRPr lang="en-US" sz="1200" dirty="0"/>
          </a:p>
        </p:txBody>
      </p:sp>
      <p:sp>
        <p:nvSpPr>
          <p:cNvPr id="37" name="Text 35"/>
          <p:cNvSpPr txBox="1"/>
          <p:nvPr/>
        </p:nvSpPr>
        <p:spPr>
          <a:xfrm>
            <a:off x="14566392" y="2907792"/>
            <a:ext cx="2990088" cy="507492"/>
          </a:xfrm>
          <a:prstGeom prst="rect">
            <a:avLst/>
          </a:prstGeom>
          <a:noFill/>
          <a:ln/>
        </p:spPr>
        <p:txBody>
          <a:bodyPr wrap="square" lIns="0" tIns="0" rIns="0" bIns="0" rtlCol="0" anchor="ctr">
            <a:normAutofit/>
          </a:bodyPr>
          <a:lstStyle/>
          <a:p>
            <a:pPr algn="ctr"/>
            <a:r>
              <a:rPr lang="en-US" sz="3000" b="1" dirty="0">
                <a:solidFill>
                  <a:srgbClr val="51A3FC"/>
                </a:solidFill>
                <a:latin typeface="Arial" pitchFamily="34" charset="0"/>
                <a:ea typeface="Arial" pitchFamily="34" charset="-122"/>
                <a:cs typeface="Arial" pitchFamily="34" charset="-120"/>
              </a:rPr>
              <a:t>2024</a:t>
            </a:r>
            <a:endParaRPr lang="en-US" sz="3000" dirty="0"/>
          </a:p>
        </p:txBody>
      </p:sp>
      <p:sp>
        <p:nvSpPr>
          <p:cNvPr id="38" name="Text 36"/>
          <p:cNvSpPr txBox="1"/>
          <p:nvPr/>
        </p:nvSpPr>
        <p:spPr>
          <a:xfrm>
            <a:off x="14566392" y="3442716"/>
            <a:ext cx="2990088" cy="726948"/>
          </a:xfrm>
          <a:prstGeom prst="rect">
            <a:avLst/>
          </a:prstGeom>
          <a:noFill/>
          <a:ln/>
        </p:spPr>
        <p:txBody>
          <a:bodyPr wrap="square" lIns="0" tIns="0" rIns="0" bIns="0" rtlCol="0" anchor="ctr">
            <a:normAutofit/>
          </a:bodyPr>
          <a:lstStyle/>
          <a:p>
            <a:pPr algn="ctr"/>
            <a:r>
              <a:rPr lang="en-US" sz="2018" b="1" dirty="0">
                <a:solidFill>
                  <a:srgbClr val="EAF1FA"/>
                </a:solidFill>
                <a:latin typeface="Arial" pitchFamily="34" charset="0"/>
                <a:ea typeface="Arial" pitchFamily="34" charset="-122"/>
                <a:cs typeface="Arial" pitchFamily="34" charset="-120"/>
              </a:rPr>
              <a:t>Heyden et al.</a:t>
            </a:r>
            <a:endParaRPr lang="en-US" sz="2018" dirty="0"/>
          </a:p>
          <a:p>
            <a:pPr algn="ctr"/>
            <a:r>
              <a:rPr lang="en-US" sz="2018" b="1" dirty="0">
                <a:solidFill>
                  <a:srgbClr val="EAF1FA"/>
                </a:solidFill>
                <a:latin typeface="Arial" pitchFamily="34" charset="0"/>
                <a:ea typeface="Arial" pitchFamily="34" charset="-122"/>
                <a:cs typeface="Arial" pitchFamily="34" charset="-120"/>
              </a:rPr>
              <a:t>ABCD detector</a:t>
            </a:r>
            <a:endParaRPr lang="en-US" sz="2018" dirty="0"/>
          </a:p>
        </p:txBody>
      </p:sp>
      <p:sp>
        <p:nvSpPr>
          <p:cNvPr id="39" name="Shape 37">
            <a:hlinkClick r:id="rId10"/>
          </p:cNvPr>
          <p:cNvSpPr/>
          <p:nvPr/>
        </p:nvSpPr>
        <p:spPr>
          <a:xfrm>
            <a:off x="14566392" y="3415284"/>
            <a:ext cx="2990088" cy="768096"/>
          </a:xfrm>
          <a:prstGeom prst="rect">
            <a:avLst/>
          </a:prstGeom>
          <a:solidFill>
            <a:srgbClr val="07121F">
              <a:alpha val="0"/>
            </a:srgbClr>
          </a:solidFill>
          <a:ln w="12700">
            <a:solidFill>
              <a:srgbClr val="07121F">
                <a:alpha val="0"/>
              </a:srgbClr>
            </a:solidFill>
            <a:prstDash val="solid"/>
          </a:ln>
        </p:spPr>
        <p:txBody>
          <a:bodyPr/>
          <a:lstStyle/>
          <a:p>
            <a:endParaRPr lang="en-GB"/>
          </a:p>
        </p:txBody>
      </p:sp>
      <p:sp>
        <p:nvSpPr>
          <p:cNvPr id="40" name="Shape 38"/>
          <p:cNvSpPr/>
          <p:nvPr/>
        </p:nvSpPr>
        <p:spPr>
          <a:xfrm>
            <a:off x="15869412" y="4293108"/>
            <a:ext cx="384048" cy="384048"/>
          </a:xfrm>
          <a:prstGeom prst="ellipse">
            <a:avLst/>
          </a:prstGeom>
          <a:solidFill>
            <a:srgbClr val="51A3FC"/>
          </a:solidFill>
          <a:ln w="12700">
            <a:solidFill>
              <a:srgbClr val="51A3FC">
                <a:alpha val="0"/>
              </a:srgbClr>
            </a:solidFill>
            <a:prstDash val="solid"/>
          </a:ln>
        </p:spPr>
        <p:txBody>
          <a:bodyPr/>
          <a:lstStyle/>
          <a:p>
            <a:endParaRPr lang="en-GB"/>
          </a:p>
        </p:txBody>
      </p:sp>
      <p:sp>
        <p:nvSpPr>
          <p:cNvPr id="41" name="Text 39"/>
          <p:cNvSpPr txBox="1"/>
          <p:nvPr/>
        </p:nvSpPr>
        <p:spPr>
          <a:xfrm>
            <a:off x="14566392" y="5033772"/>
            <a:ext cx="2990088" cy="932688"/>
          </a:xfrm>
          <a:prstGeom prst="rect">
            <a:avLst/>
          </a:prstGeom>
          <a:noFill/>
          <a:ln/>
        </p:spPr>
        <p:txBody>
          <a:bodyPr wrap="square" lIns="0" tIns="0" rIns="0" bIns="0" rtlCol="0" anchor="ctr">
            <a:normAutofit/>
          </a:bodyPr>
          <a:lstStyle/>
          <a:p>
            <a:pPr algn="ctr"/>
            <a:r>
              <a:rPr lang="en-US" sz="1695" dirty="0">
                <a:solidFill>
                  <a:srgbClr val="A2B3C5"/>
                </a:solidFill>
                <a:latin typeface="Arial" pitchFamily="34" charset="0"/>
                <a:ea typeface="Arial" pitchFamily="34" charset="-122"/>
                <a:cs typeface="Arial" pitchFamily="34" charset="-120"/>
              </a:rPr>
              <a:t>Reconstruction loss, affected subspace and change severity.</a:t>
            </a:r>
            <a:endParaRPr lang="en-US" sz="1695" dirty="0"/>
          </a:p>
        </p:txBody>
      </p:sp>
      <p:sp>
        <p:nvSpPr>
          <p:cNvPr id="42" name="Text 40"/>
          <p:cNvSpPr txBox="1"/>
          <p:nvPr/>
        </p:nvSpPr>
        <p:spPr>
          <a:xfrm>
            <a:off x="14566392" y="6117336"/>
            <a:ext cx="2990088" cy="562356"/>
          </a:xfrm>
          <a:prstGeom prst="rect">
            <a:avLst/>
          </a:prstGeom>
          <a:noFill/>
          <a:ln/>
        </p:spPr>
        <p:txBody>
          <a:bodyPr wrap="square" lIns="0" tIns="0" rIns="0" bIns="0" rtlCol="0" anchor="ctr">
            <a:normAutofit/>
          </a:bodyPr>
          <a:lstStyle/>
          <a:p>
            <a:pPr algn="ctr"/>
            <a:r>
              <a:rPr lang="en-US" sz="1335" dirty="0">
                <a:solidFill>
                  <a:srgbClr val="778EA7"/>
                </a:solidFill>
                <a:latin typeface="Arial" pitchFamily="34" charset="0"/>
                <a:ea typeface="Arial" pitchFamily="34" charset="-122"/>
                <a:cs typeface="Arial" pitchFamily="34" charset="-120"/>
              </a:rPr>
              <a:t>Proposed high-dimensional</a:t>
            </a:r>
            <a:endParaRPr lang="en-US" sz="1335" dirty="0"/>
          </a:p>
          <a:p>
            <a:pPr algn="ctr"/>
            <a:r>
              <a:rPr lang="en-US" sz="1335" dirty="0">
                <a:solidFill>
                  <a:srgbClr val="778EA7"/>
                </a:solidFill>
                <a:latin typeface="Arial" pitchFamily="34" charset="0"/>
                <a:ea typeface="Arial" pitchFamily="34" charset="-122"/>
                <a:cs typeface="Arial" pitchFamily="34" charset="-120"/>
              </a:rPr>
              <a:t>detector comparator</a:t>
            </a:r>
            <a:endParaRPr lang="en-US" sz="1335" dirty="0"/>
          </a:p>
        </p:txBody>
      </p:sp>
      <p:sp>
        <p:nvSpPr>
          <p:cNvPr id="43" name="Text 41"/>
          <p:cNvSpPr txBox="1"/>
          <p:nvPr/>
        </p:nvSpPr>
        <p:spPr>
          <a:xfrm>
            <a:off x="14566392" y="6748272"/>
            <a:ext cx="2990088" cy="288036"/>
          </a:xfrm>
          <a:prstGeom prst="rect">
            <a:avLst/>
          </a:prstGeom>
          <a:noFill/>
          <a:ln/>
        </p:spPr>
        <p:txBody>
          <a:bodyPr wrap="square" lIns="0" tIns="0" rIns="0" bIns="0" rtlCol="0" anchor="ctr">
            <a:normAutofit/>
          </a:bodyPr>
          <a:lstStyle/>
          <a:p>
            <a:pPr algn="ctr"/>
            <a:r>
              <a:rPr lang="en-US" sz="1200" b="1" kern="0" spc="45" dirty="0">
                <a:solidFill>
                  <a:srgbClr val="51A3FC"/>
                </a:solidFill>
                <a:latin typeface="Arial" pitchFamily="34" charset="0"/>
                <a:ea typeface="Arial" pitchFamily="34" charset="-122"/>
                <a:cs typeface="Arial" pitchFamily="34" charset="-120"/>
              </a:rPr>
              <a:t>NOT YET IMPLEMENTED</a:t>
            </a:r>
            <a:endParaRPr lang="en-US" sz="1200" dirty="0"/>
          </a:p>
        </p:txBody>
      </p:sp>
      <p:sp>
        <p:nvSpPr>
          <p:cNvPr id="44" name="Shape 42"/>
          <p:cNvSpPr/>
          <p:nvPr/>
        </p:nvSpPr>
        <p:spPr>
          <a:xfrm>
            <a:off x="932688" y="7392924"/>
            <a:ext cx="8092440" cy="1783080"/>
          </a:xfrm>
          <a:prstGeom prst="roundRect">
            <a:avLst>
              <a:gd name="adj" fmla="val 6154"/>
            </a:avLst>
          </a:prstGeom>
          <a:solidFill>
            <a:srgbClr val="101F31"/>
          </a:solidFill>
          <a:ln w="10795">
            <a:solidFill>
              <a:srgbClr val="294258"/>
            </a:solidFill>
            <a:prstDash val="solid"/>
          </a:ln>
        </p:spPr>
        <p:txBody>
          <a:bodyPr/>
          <a:lstStyle/>
          <a:p>
            <a:endParaRPr lang="en-GB"/>
          </a:p>
        </p:txBody>
      </p:sp>
      <p:sp>
        <p:nvSpPr>
          <p:cNvPr id="45" name="Shape 43"/>
          <p:cNvSpPr/>
          <p:nvPr/>
        </p:nvSpPr>
        <p:spPr>
          <a:xfrm>
            <a:off x="1234440" y="7708392"/>
            <a:ext cx="61722" cy="425196"/>
          </a:xfrm>
          <a:prstGeom prst="rect">
            <a:avLst/>
          </a:prstGeom>
          <a:solidFill>
            <a:srgbClr val="33D0C1"/>
          </a:solidFill>
          <a:ln w="12700">
            <a:solidFill>
              <a:srgbClr val="33D0C1">
                <a:alpha val="0"/>
              </a:srgbClr>
            </a:solidFill>
            <a:prstDash val="solid"/>
          </a:ln>
        </p:spPr>
        <p:txBody>
          <a:bodyPr/>
          <a:lstStyle/>
          <a:p>
            <a:endParaRPr lang="en-GB"/>
          </a:p>
        </p:txBody>
      </p:sp>
      <p:sp>
        <p:nvSpPr>
          <p:cNvPr id="46" name="Text 44"/>
          <p:cNvSpPr txBox="1"/>
          <p:nvPr/>
        </p:nvSpPr>
        <p:spPr>
          <a:xfrm>
            <a:off x="1440180" y="7667244"/>
            <a:ext cx="7269480" cy="301752"/>
          </a:xfrm>
          <a:prstGeom prst="rect">
            <a:avLst/>
          </a:prstGeom>
          <a:noFill/>
          <a:ln/>
        </p:spPr>
        <p:txBody>
          <a:bodyPr wrap="square" lIns="0" tIns="0" rIns="0" bIns="0" rtlCol="0" anchor="ctr">
            <a:normAutofit/>
          </a:bodyPr>
          <a:lstStyle/>
          <a:p>
            <a:r>
              <a:rPr lang="en-US" sz="1455" b="1" kern="0" spc="83" dirty="0">
                <a:solidFill>
                  <a:srgbClr val="33D0C1"/>
                </a:solidFill>
                <a:latin typeface="Arial" pitchFamily="34" charset="0"/>
                <a:ea typeface="Arial" pitchFamily="34" charset="-122"/>
                <a:cs typeface="Arial" pitchFamily="34" charset="-120"/>
              </a:rPr>
              <a:t>IMPLEMENTED / EXPERIMENTAL TODAY</a:t>
            </a:r>
            <a:endParaRPr lang="en-US" sz="1455" dirty="0"/>
          </a:p>
        </p:txBody>
      </p:sp>
      <p:sp>
        <p:nvSpPr>
          <p:cNvPr id="47" name="Text 45"/>
          <p:cNvSpPr txBox="1"/>
          <p:nvPr/>
        </p:nvSpPr>
        <p:spPr>
          <a:xfrm>
            <a:off x="1440180" y="8119872"/>
            <a:ext cx="7242048" cy="685800"/>
          </a:xfrm>
          <a:prstGeom prst="rect">
            <a:avLst/>
          </a:prstGeom>
          <a:noFill/>
          <a:ln/>
        </p:spPr>
        <p:txBody>
          <a:bodyPr wrap="square" lIns="0" tIns="0" rIns="0" bIns="0" rtlCol="0" anchor="ctr">
            <a:normAutofit/>
          </a:bodyPr>
          <a:lstStyle/>
          <a:p>
            <a:r>
              <a:rPr lang="en-US" sz="1830" dirty="0">
                <a:solidFill>
                  <a:srgbClr val="EAF1FA"/>
                </a:solidFill>
                <a:latin typeface="Arial" pitchFamily="34" charset="0"/>
                <a:ea typeface="Arial" pitchFamily="34" charset="-122"/>
                <a:cs typeface="Arial" pitchFamily="34" charset="-120"/>
              </a:rPr>
              <a:t>Six-policy Diethe laboratory; Park mean-CUSUM and unimodality; complementary PCA and GPR/MMD diagnostics.</a:t>
            </a:r>
            <a:endParaRPr lang="en-US" sz="1830" dirty="0"/>
          </a:p>
        </p:txBody>
      </p:sp>
      <p:sp>
        <p:nvSpPr>
          <p:cNvPr id="48" name="Shape 46"/>
          <p:cNvSpPr/>
          <p:nvPr/>
        </p:nvSpPr>
        <p:spPr>
          <a:xfrm>
            <a:off x="9272016" y="7392924"/>
            <a:ext cx="8092440" cy="1783080"/>
          </a:xfrm>
          <a:prstGeom prst="roundRect">
            <a:avLst>
              <a:gd name="adj" fmla="val 6154"/>
            </a:avLst>
          </a:prstGeom>
          <a:solidFill>
            <a:srgbClr val="101F31"/>
          </a:solidFill>
          <a:ln w="10795">
            <a:solidFill>
              <a:srgbClr val="294258"/>
            </a:solidFill>
            <a:prstDash val="solid"/>
          </a:ln>
        </p:spPr>
        <p:txBody>
          <a:bodyPr/>
          <a:lstStyle/>
          <a:p>
            <a:endParaRPr lang="en-GB"/>
          </a:p>
        </p:txBody>
      </p:sp>
      <p:sp>
        <p:nvSpPr>
          <p:cNvPr id="49" name="Shape 47"/>
          <p:cNvSpPr/>
          <p:nvPr/>
        </p:nvSpPr>
        <p:spPr>
          <a:xfrm>
            <a:off x="9573768" y="7708392"/>
            <a:ext cx="61722" cy="425196"/>
          </a:xfrm>
          <a:prstGeom prst="rect">
            <a:avLst/>
          </a:prstGeom>
          <a:solidFill>
            <a:srgbClr val="FFC354"/>
          </a:solidFill>
          <a:ln w="12700">
            <a:solidFill>
              <a:srgbClr val="FFC354">
                <a:alpha val="0"/>
              </a:srgbClr>
            </a:solidFill>
            <a:prstDash val="solid"/>
          </a:ln>
        </p:spPr>
        <p:txBody>
          <a:bodyPr/>
          <a:lstStyle/>
          <a:p>
            <a:endParaRPr lang="en-GB"/>
          </a:p>
        </p:txBody>
      </p:sp>
      <p:sp>
        <p:nvSpPr>
          <p:cNvPr id="50" name="Text 48"/>
          <p:cNvSpPr txBox="1"/>
          <p:nvPr/>
        </p:nvSpPr>
        <p:spPr>
          <a:xfrm>
            <a:off x="9779508" y="7667244"/>
            <a:ext cx="7269480" cy="301752"/>
          </a:xfrm>
          <a:prstGeom prst="rect">
            <a:avLst/>
          </a:prstGeom>
          <a:noFill/>
          <a:ln/>
        </p:spPr>
        <p:txBody>
          <a:bodyPr wrap="square" lIns="0" tIns="0" rIns="0" bIns="0" rtlCol="0" anchor="ctr">
            <a:normAutofit/>
          </a:bodyPr>
          <a:lstStyle/>
          <a:p>
            <a:r>
              <a:rPr lang="en-US" sz="1455" b="1" kern="0" spc="83" dirty="0">
                <a:solidFill>
                  <a:srgbClr val="FFC354"/>
                </a:solidFill>
                <a:latin typeface="Arial" pitchFamily="34" charset="0"/>
                <a:ea typeface="Arial" pitchFamily="34" charset="-122"/>
                <a:cs typeface="Arial" pitchFamily="34" charset="-120"/>
              </a:rPr>
              <a:t>RESEARCH GAP / NEXT MILESTONE</a:t>
            </a:r>
            <a:endParaRPr lang="en-US" sz="1455" dirty="0"/>
          </a:p>
        </p:txBody>
      </p:sp>
      <p:sp>
        <p:nvSpPr>
          <p:cNvPr id="51" name="Text 49"/>
          <p:cNvSpPr txBox="1"/>
          <p:nvPr/>
        </p:nvSpPr>
        <p:spPr>
          <a:xfrm>
            <a:off x="9779508" y="8119872"/>
            <a:ext cx="7242048" cy="685800"/>
          </a:xfrm>
          <a:prstGeom prst="rect">
            <a:avLst/>
          </a:prstGeom>
          <a:noFill/>
          <a:ln/>
        </p:spPr>
        <p:txBody>
          <a:bodyPr wrap="square" lIns="0" tIns="0" rIns="0" bIns="0" rtlCol="0" anchor="ctr">
            <a:normAutofit/>
          </a:bodyPr>
          <a:lstStyle/>
          <a:p>
            <a:r>
              <a:rPr lang="en-US" sz="1830" dirty="0">
                <a:solidFill>
                  <a:srgbClr val="EAF1FA"/>
                </a:solidFill>
                <a:latin typeface="Arial" pitchFamily="34" charset="0"/>
                <a:ea typeface="Arial" pitchFamily="34" charset="-122"/>
                <a:cs typeface="Arial" pitchFamily="34" charset="-120"/>
              </a:rPr>
              <a:t>Calibrated multi-seed CPD comparisons, replay / forgetting, second-order detection and digital-twin consistency.</a:t>
            </a:r>
            <a:endParaRPr lang="en-US" sz="1830" dirty="0"/>
          </a:p>
        </p:txBody>
      </p:sp>
      <p:sp>
        <p:nvSpPr>
          <p:cNvPr id="52" name="Text 50"/>
          <p:cNvSpPr txBox="1"/>
          <p:nvPr/>
        </p:nvSpPr>
        <p:spPr>
          <a:xfrm>
            <a:off x="932688" y="9765792"/>
            <a:ext cx="16418052" cy="205740"/>
          </a:xfrm>
          <a:prstGeom prst="rect">
            <a:avLst/>
          </a:prstGeom>
          <a:noFill/>
          <a:ln/>
        </p:spPr>
        <p:txBody>
          <a:bodyPr wrap="square" lIns="0" tIns="0" rIns="0" bIns="0" rtlCol="0" anchor="ctr">
            <a:normAutofit/>
          </a:bodyPr>
          <a:lstStyle/>
          <a:p>
            <a:r>
              <a:rPr lang="en-US" sz="1125" dirty="0">
                <a:solidFill>
                  <a:srgbClr val="778EA7"/>
                </a:solidFill>
                <a:latin typeface="Arial" pitchFamily="34" charset="0"/>
                <a:ea typeface="Arial" pitchFamily="34" charset="-122"/>
                <a:cs typeface="Arial" pitchFamily="34" charset="-120"/>
              </a:rPr>
              <a:t>Supplementary direction: van de Ven et al. (2020), brain-inspired replay. Diethe year follows the 2019 arXiv version.  |  Sources: Notion lineage · GitHub · 15 Oct 2026</a:t>
            </a:r>
            <a:endParaRPr lang="en-US" sz="1125" dirty="0"/>
          </a:p>
        </p:txBody>
      </p:sp>
    </p:spTree>
    <p:extLst>
      <p:ext uri="{BB962C8B-B14F-4D97-AF65-F5344CB8AC3E}">
        <p14:creationId xmlns:p14="http://schemas.microsoft.com/office/powerpoint/2010/main" val="3841432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742432"/>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mc:AlternateContent xmlns:mc="http://schemas.openxmlformats.org/markup-compatibility/2006">
        <mc:Choice xmlns:a14="http://schemas.microsoft.com/office/drawing/2010/main" Requires="a14">
          <p:sp>
            <p:nvSpPr>
              <p:cNvPr id="6070" name="EDITABLE POWERPOINT EQUATION | Park 2023 Eq 2.2 normalized CUSUM | ROW 1"/>
              <p:cNvSpPr txBox="1"/>
              <p:nvPr/>
            </p:nvSpPr>
            <p:spPr>
              <a:xfrm>
                <a:off x="1938528" y="6044184"/>
                <a:ext cx="6035040" cy="448056"/>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ₜ⁽ᵈ⁾ = (|</m:t>
                      </m:r>
                      <m:r>
                        <a:rPr>
                          <a:latin typeface="Cambria Math" panose="02040503050406030204" pitchFamily="18" charset="0"/>
                        </a:rPr>
                        <m:t>𝐴</m:t>
                      </m:r>
                      <m:r>
                        <a:rPr>
                          <a:latin typeface="Cambria Math" panose="02040503050406030204" pitchFamily="18" charset="0"/>
                        </a:rPr>
                        <m:t>ₜ⁽ᵈ⁾ − </m:t>
                      </m:r>
                      <m:r>
                        <a:rPr>
                          <a:latin typeface="Cambria Math" panose="02040503050406030204" pitchFamily="18" charset="0"/>
                        </a:rPr>
                        <m:t>𝐵</m:t>
                      </m:r>
                      <m:r>
                        <a:rPr>
                          <a:latin typeface="Cambria Math" panose="02040503050406030204" pitchFamily="18" charset="0"/>
                        </a:rPr>
                        <m:t>ₜ⁽ᵈ⁾|) / </m:t>
                      </m:r>
                      <m:r>
                        <a:rPr>
                          <a:latin typeface="Cambria Math" panose="02040503050406030204" pitchFamily="18" charset="0"/>
                        </a:rPr>
                        <m:t>𝑋</m:t>
                      </m:r>
                      <m:r>
                        <a:rPr>
                          <a:latin typeface="Cambria Math" panose="02040503050406030204" pitchFamily="18" charset="0"/>
                        </a:rPr>
                        <m:t>̄⁽ᵈ⁾</m:t>
                      </m:r>
                    </m:oMath>
                  </m:oMathPara>
                </a14:m>
                <a:endParaRPr sz="1300"/>
              </a:p>
            </p:txBody>
          </p:sp>
        </mc:Choice>
        <mc:Fallback>
          <p:sp>
            <p:nvSpPr>
              <p:cNvPr id="6070" name="EDITABLE POWERPOINT EQUATION | Park 2023 Eq 2.2 normalized CUSUM | ROW 1"/>
              <p:cNvSpPr txBox="1">
                <a:spLocks noRot="1" noChangeAspect="1" noMove="1" noResize="1" noEditPoints="1" noAdjustHandles="1" noChangeArrowheads="1" noChangeShapeType="1" noTextEdit="1"/>
              </p:cNvSpPr>
              <p:nvPr/>
            </p:nvSpPr>
            <p:spPr>
              <a:xfrm>
                <a:off x="1938528" y="6044184"/>
                <a:ext cx="6035040" cy="448056"/>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1" name="EDITABLE POWERPOINT EQUATION | Park 2023 Eq 2.2 normalized CUSUM | ROW 2"/>
              <p:cNvSpPr txBox="1"/>
              <p:nvPr/>
            </p:nvSpPr>
            <p:spPr>
              <a:xfrm>
                <a:off x="1938528" y="6537960"/>
                <a:ext cx="6035040" cy="45720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𝐴</m:t>
                      </m:r>
                      <m:r>
                        <a:rPr>
                          <a:latin typeface="Cambria Math" panose="02040503050406030204" pitchFamily="18" charset="0"/>
                        </a:rPr>
                        <m:t>ₜ⁽ᵈ⁾ = √[(</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𝑇𝑡</m:t>
                      </m:r>
                      <m:r>
                        <a:rPr>
                          <a:latin typeface="Cambria Math" panose="02040503050406030204" pitchFamily="18" charset="0"/>
                        </a:rPr>
                        <m:t>)] ∑ᵤ₌₀ᵗ⁻¹ </m:t>
                      </m:r>
                      <m:r>
                        <a:rPr>
                          <a:latin typeface="Cambria Math" panose="02040503050406030204" pitchFamily="18" charset="0"/>
                        </a:rPr>
                        <m:t>𝑋</m:t>
                      </m:r>
                      <m:r>
                        <a:rPr>
                          <a:latin typeface="Cambria Math" panose="02040503050406030204" pitchFamily="18" charset="0"/>
                        </a:rPr>
                        <m:t>ᵤ⁽ᵈ⁾</m:t>
                      </m:r>
                    </m:oMath>
                  </m:oMathPara>
                </a14:m>
                <a:endParaRPr sz="1300"/>
              </a:p>
            </p:txBody>
          </p:sp>
        </mc:Choice>
        <mc:Fallback>
          <p:sp>
            <p:nvSpPr>
              <p:cNvPr id="6071" name="EDITABLE POWERPOINT EQUATION | Park 2023 Eq 2.2 normalized CUSUM | ROW 2"/>
              <p:cNvSpPr txBox="1">
                <a:spLocks noRot="1" noChangeAspect="1" noMove="1" noResize="1" noEditPoints="1" noAdjustHandles="1" noChangeArrowheads="1" noChangeShapeType="1" noTextEdit="1"/>
              </p:cNvSpPr>
              <p:nvPr/>
            </p:nvSpPr>
            <p:spPr>
              <a:xfrm>
                <a:off x="1938528" y="6537960"/>
                <a:ext cx="6035040" cy="45720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2" name="EDITABLE POWERPOINT EQUATION | Park 2023 Eq 2.2 normalized CUSUM | ROW 3"/>
              <p:cNvSpPr txBox="1"/>
              <p:nvPr/>
            </p:nvSpPr>
            <p:spPr>
              <a:xfrm>
                <a:off x="1938528" y="7050024"/>
                <a:ext cx="6035040" cy="45720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𝐵</m:t>
                      </m:r>
                      <m:r>
                        <a:rPr>
                          <a:latin typeface="Cambria Math" panose="02040503050406030204" pitchFamily="18" charset="0"/>
                        </a:rPr>
                        <m:t>ₜ⁽ᵈ⁾ = √[</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𝑇</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∑ᵤ₌ₜᵀ⁻¹ </m:t>
                      </m:r>
                      <m:r>
                        <a:rPr>
                          <a:latin typeface="Cambria Math" panose="02040503050406030204" pitchFamily="18" charset="0"/>
                        </a:rPr>
                        <m:t>𝑋</m:t>
                      </m:r>
                      <m:r>
                        <a:rPr>
                          <a:latin typeface="Cambria Math" panose="02040503050406030204" pitchFamily="18" charset="0"/>
                        </a:rPr>
                        <m:t>ᵤ⁽ᵈ⁾</m:t>
                      </m:r>
                    </m:oMath>
                  </m:oMathPara>
                </a14:m>
                <a:endParaRPr sz="1300"/>
              </a:p>
            </p:txBody>
          </p:sp>
        </mc:Choice>
        <mc:Fallback>
          <p:sp>
            <p:nvSpPr>
              <p:cNvPr id="6072" name="EDITABLE POWERPOINT EQUATION | Park 2023 Eq 2.2 normalized CUSUM | ROW 3"/>
              <p:cNvSpPr txBox="1">
                <a:spLocks noRot="1" noChangeAspect="1" noMove="1" noResize="1" noEditPoints="1" noAdjustHandles="1" noChangeArrowheads="1" noChangeShapeType="1" noTextEdit="1"/>
              </p:cNvSpPr>
              <p:nvPr/>
            </p:nvSpPr>
            <p:spPr>
              <a:xfrm>
                <a:off x="1938528" y="7050024"/>
                <a:ext cx="6035040" cy="457200"/>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73" name="EDITABLE POWERPOINT EQUATION | Park 2023 Eq 2.2 normalized CUSUM | ROW 4"/>
              <p:cNvSpPr txBox="1"/>
              <p:nvPr/>
            </p:nvSpPr>
            <p:spPr>
              <a:xfrm>
                <a:off x="1938528" y="7571231"/>
                <a:ext cx="6035040" cy="411480"/>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𝑋</m:t>
                      </m:r>
                      <m:r>
                        <a:rPr>
                          <a:latin typeface="Cambria Math" panose="02040503050406030204" pitchFamily="18" charset="0"/>
                        </a:rPr>
                        <m:t>̄⁽ᵈ⁾ = (1/</m:t>
                      </m:r>
                      <m:r>
                        <a:rPr>
                          <a:latin typeface="Cambria Math" panose="02040503050406030204" pitchFamily="18" charset="0"/>
                        </a:rPr>
                        <m:t>𝑇</m:t>
                      </m:r>
                      <m:r>
                        <a:rPr>
                          <a:latin typeface="Cambria Math" panose="02040503050406030204" pitchFamily="18" charset="0"/>
                        </a:rPr>
                        <m:t>) ∑ᵤ₌₀ᵀ⁻¹ </m:t>
                      </m:r>
                      <m:r>
                        <a:rPr>
                          <a:latin typeface="Cambria Math" panose="02040503050406030204" pitchFamily="18" charset="0"/>
                        </a:rPr>
                        <m:t>𝑋</m:t>
                      </m:r>
                      <m:r>
                        <a:rPr>
                          <a:latin typeface="Cambria Math" panose="02040503050406030204" pitchFamily="18" charset="0"/>
                        </a:rPr>
                        <m:t>ᵤ⁽ᵈ⁾</m:t>
                      </m:r>
                    </m:oMath>
                  </m:oMathPara>
                </a14:m>
                <a:endParaRPr sz="1300"/>
              </a:p>
            </p:txBody>
          </p:sp>
        </mc:Choice>
        <mc:Fallback>
          <p:sp>
            <p:nvSpPr>
              <p:cNvPr id="6073" name="EDITABLE POWERPOINT EQUATION | Park 2023 Eq 2.2 normalized CUSUM | ROW 4"/>
              <p:cNvSpPr txBox="1">
                <a:spLocks noRot="1" noChangeAspect="1" noMove="1" noResize="1" noEditPoints="1" noAdjustHandles="1" noChangeArrowheads="1" noChangeShapeType="1" noTextEdit="1"/>
              </p:cNvSpPr>
              <p:nvPr/>
            </p:nvSpPr>
            <p:spPr>
              <a:xfrm>
                <a:off x="1938528" y="7571231"/>
                <a:ext cx="6035040" cy="411480"/>
              </a:xfrm>
              <a:prstGeom prst="rect">
                <a:avLst/>
              </a:prstGeom>
              <a:blipFill>
                <a:blip r:embed="rId5"/>
                <a:stretch>
                  <a:fillRect b="-2985"/>
                </a:stretch>
              </a:blipFill>
            </p:spPr>
            <p:txBody>
              <a:bodyPr/>
              <a:lstStyle/>
              <a:p>
                <a:r>
                  <a:rPr lang="en-GB">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mc:AlternateContent xmlns:mc="http://schemas.openxmlformats.org/markup-compatibility/2006">
        <mc:Choice xmlns:a14="http://schemas.microsoft.com/office/drawing/2010/main" Requires="a14">
          <p:sp>
            <p:nvSpPr>
              <p:cNvPr id="6080" name="EDITABLE POWERPOINT EQUATION | Park 2023 pointwise aggregation | ROW 1"/>
              <p:cNvSpPr txBox="1"/>
              <p:nvPr/>
            </p:nvSpPr>
            <p:spPr>
              <a:xfrm>
                <a:off x="2103120" y="4297680"/>
                <a:ext cx="576072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𝑚𝑎𝑥</m:t>
                          </m:r>
                        </m:sup>
                      </m:sSubSup>
                      <m:r>
                        <a:rPr>
                          <a:latin typeface="Cambria Math" panose="02040503050406030204" pitchFamily="18" charset="0"/>
                        </a:rPr>
                        <m:t> = </m:t>
                      </m:r>
                      <m:r>
                        <a:rPr>
                          <a:latin typeface="Cambria Math" panose="02040503050406030204" pitchFamily="18" charset="0"/>
                        </a:rPr>
                        <m:t>𝑚𝑎𝑥</m:t>
                      </m:r>
                      <m:r>
                        <a:rPr>
                          <a:latin typeface="Cambria Math" panose="02040503050406030204" pitchFamily="18" charset="0"/>
                        </a:rPr>
                        <m:t>₍₁≤</m:t>
                      </m:r>
                      <m:r>
                        <a:rPr>
                          <a:latin typeface="Cambria Math" panose="02040503050406030204" pitchFamily="18" charset="0"/>
                        </a:rPr>
                        <m:t>𝑑</m:t>
                      </m:r>
                      <m:r>
                        <a:rPr>
                          <a:latin typeface="Cambria Math" panose="02040503050406030204" pitchFamily="18" charset="0"/>
                        </a:rPr>
                        <m:t>≤</m:t>
                      </m:r>
                      <m:r>
                        <a:rPr>
                          <a:latin typeface="Cambria Math" panose="02040503050406030204" pitchFamily="18" charset="0"/>
                        </a:rPr>
                        <m:t>𝑝</m:t>
                      </m:r>
                      <m:r>
                        <a:rPr>
                          <a:latin typeface="Cambria Math" panose="02040503050406030204" pitchFamily="18" charset="0"/>
                        </a:rPr>
                        <m:t>₎ </m:t>
                      </m:r>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p:sp>
            <p:nvSpPr>
              <p:cNvPr id="6080" name="EDITABLE POWERPOINT EQUATION | Park 2023 pointwise aggregation | ROW 1"/>
              <p:cNvSpPr txBox="1">
                <a:spLocks noRot="1" noChangeAspect="1" noMove="1" noResize="1" noEditPoints="1" noAdjustHandles="1" noChangeArrowheads="1" noChangeShapeType="1" noTextEdit="1"/>
              </p:cNvSpPr>
              <p:nvPr/>
            </p:nvSpPr>
            <p:spPr>
              <a:xfrm>
                <a:off x="2103120" y="4297680"/>
                <a:ext cx="5760720" cy="69494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1" name="EDITABLE POWERPOINT EQUATION | Park 2023 pointwise aggregation | ROW 2"/>
              <p:cNvSpPr txBox="1"/>
              <p:nvPr/>
            </p:nvSpPr>
            <p:spPr>
              <a:xfrm>
                <a:off x="2103120" y="5577840"/>
                <a:ext cx="5486400" cy="694944"/>
              </a:xfrm>
              <a:prstGeom prst="rect">
                <a:avLst/>
              </a:prstGeom>
              <a:noFill/>
            </p:spPr>
            <p:txBody>
              <a:bodyPr wrap="none" lIns="45720" tIns="36576" rIns="45720" bIns="36576" anchor="ctr">
                <a:spAutoFit/>
              </a:bodyPr>
              <a:lstStyle/>
              <a:p>
                <a:pPr algn="ctr">
                  <a:spcAft>
                    <a:spcPts val="800"/>
                  </a:spcAft>
                </a:pP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𝑎𝑣𝑔</m:t>
                          </m:r>
                        </m:sup>
                      </m:sSubSup>
                      <m:r>
                        <a:rPr>
                          <a:latin typeface="Cambria Math" panose="02040503050406030204" pitchFamily="18" charset="0"/>
                        </a:rPr>
                        <m:t> = </m:t>
                      </m:r>
                      <m:f>
                        <m:fPr>
                          <m:ctrlPr>
                            <a:rPr>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𝑝</m:t>
                          </m:r>
                        </m:den>
                      </m:f>
                      <m:r>
                        <a:rPr>
                          <a:latin typeface="Cambria Math" panose="02040503050406030204" pitchFamily="18" charset="0"/>
                        </a:rPr>
                        <m:t> ∑ᵈ₌₁ᵖ </m:t>
                      </m:r>
                      <m:sSubSup>
                        <m:sSubSupPr>
                          <m:ctrlPr>
                            <a:rPr>
                              <a:latin typeface="Cambria Math" panose="02040503050406030204" pitchFamily="18" charset="0"/>
                            </a:rPr>
                          </m:ctrlPr>
                        </m:sSubSupPr>
                        <m:e>
                          <m:r>
                            <a:rPr>
                              <a:latin typeface="Cambria Math" panose="02040503050406030204" pitchFamily="18" charset="0"/>
                            </a:rPr>
                            <m:t>𝜈</m:t>
                          </m:r>
                        </m:e>
                        <m:sub>
                          <m:r>
                            <a:rPr>
                              <a:latin typeface="Cambria Math" panose="02040503050406030204" pitchFamily="18" charset="0"/>
                            </a:rPr>
                            <m:t>𝑡</m:t>
                          </m:r>
                        </m:sub>
                        <m:sup>
                          <m:r>
                            <a:rPr>
                              <a:latin typeface="Cambria Math" panose="02040503050406030204" pitchFamily="18" charset="0"/>
                            </a:rPr>
                            <m:t>(</m:t>
                          </m:r>
                          <m:r>
                            <a:rPr>
                              <a:latin typeface="Cambria Math" panose="02040503050406030204" pitchFamily="18" charset="0"/>
                            </a:rPr>
                            <m:t>𝑑</m:t>
                          </m:r>
                          <m:r>
                            <a:rPr>
                              <a:latin typeface="Cambria Math" panose="02040503050406030204" pitchFamily="18" charset="0"/>
                            </a:rPr>
                            <m:t>)</m:t>
                          </m:r>
                        </m:sup>
                      </m:sSubSup>
                    </m:oMath>
                  </m:oMathPara>
                </a14:m>
                <a:endParaRPr sz="2400"/>
              </a:p>
            </p:txBody>
          </p:sp>
        </mc:Choice>
        <mc:Fallback>
          <p:sp>
            <p:nvSpPr>
              <p:cNvPr id="6081" name="EDITABLE POWERPOINT EQUATION | Park 2023 pointwise aggregation | ROW 2"/>
              <p:cNvSpPr txBox="1">
                <a:spLocks noRot="1" noChangeAspect="1" noMove="1" noResize="1" noEditPoints="1" noAdjustHandles="1" noChangeArrowheads="1" noChangeShapeType="1" noTextEdit="1"/>
              </p:cNvSpPr>
              <p:nvPr/>
            </p:nvSpPr>
            <p:spPr>
              <a:xfrm>
                <a:off x="2103120" y="5577840"/>
                <a:ext cx="5486400" cy="694944"/>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2" name="EDITABLE POWERPOINT EQUATION | Code-grounded LOESS and peak estimates | ROW 1"/>
              <p:cNvSpPr txBox="1"/>
              <p:nvPr/>
            </p:nvSpPr>
            <p:spPr>
              <a:xfrm>
                <a:off x="10168128" y="4297680"/>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̃ₜᵐᵃˣ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p:sp>
            <p:nvSpPr>
              <p:cNvPr id="12" name="EDITABLE POWERPOINT EQUATION | Code-grounded LOESS and peak estimates | ROW 1"/>
              <p:cNvSpPr txBox="1">
                <a:spLocks noRot="1" noChangeAspect="1" noMove="1" noResize="1" noEditPoints="1" noAdjustHandles="1" noChangeArrowheads="1" noChangeShapeType="1" noTextEdit="1"/>
              </p:cNvSpPr>
              <p:nvPr/>
            </p:nvSpPr>
            <p:spPr>
              <a:xfrm>
                <a:off x="10168128" y="4297680"/>
                <a:ext cx="5989320" cy="51206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3" name="EDITABLE POWERPOINT EQUATION | Code-grounded LOESS and peak estimates | ROW 2"/>
              <p:cNvSpPr txBox="1"/>
              <p:nvPr/>
            </p:nvSpPr>
            <p:spPr>
              <a:xfrm>
                <a:off x="10168128" y="5047488"/>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𝜈</m:t>
                      </m:r>
                      <m:r>
                        <a:rPr>
                          <a:latin typeface="Cambria Math" panose="02040503050406030204" pitchFamily="18" charset="0"/>
                        </a:rPr>
                        <m:t>̃ₜᵃᵛᵍ = </m:t>
                      </m:r>
                      <m:r>
                        <a:rPr>
                          <a:latin typeface="Cambria Math" panose="02040503050406030204" pitchFamily="18" charset="0"/>
                        </a:rPr>
                        <m:t>𝐿𝑂𝐸𝑆𝑆</m:t>
                      </m:r>
                      <m:r>
                        <a:rPr>
                          <a:latin typeface="Cambria Math" panose="02040503050406030204" pitchFamily="18" charset="0"/>
                        </a:rPr>
                        <m:t>₀.₁(</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p:sp>
            <p:nvSpPr>
              <p:cNvPr id="13" name="EDITABLE POWERPOINT EQUATION | Code-grounded LOESS and peak estimates | ROW 2"/>
              <p:cNvSpPr txBox="1">
                <a:spLocks noRot="1" noChangeAspect="1" noMove="1" noResize="1" noEditPoints="1" noAdjustHandles="1" noChangeArrowheads="1" noChangeShapeType="1" noTextEdit="1"/>
              </p:cNvSpPr>
              <p:nvPr/>
            </p:nvSpPr>
            <p:spPr>
              <a:xfrm>
                <a:off x="10168128" y="5047488"/>
                <a:ext cx="5989320" cy="512064"/>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2" name="EDITABLE POWERPOINT EQUATION | Code-grounded LOESS and peak estimates | ROW 3"/>
              <p:cNvSpPr txBox="1"/>
              <p:nvPr/>
            </p:nvSpPr>
            <p:spPr>
              <a:xfrm>
                <a:off x="10168128" y="5797296"/>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𝑏</m:t>
                      </m:r>
                      <m:r>
                        <a:rPr>
                          <a:latin typeface="Cambria Math" panose="02040503050406030204" pitchFamily="18" charset="0"/>
                        </a:rPr>
                        <m:t>ₘₐₓ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̃ₜᵐᵃˣ</m:t>
                      </m:r>
                    </m:oMath>
                  </m:oMathPara>
                </a14:m>
                <a:endParaRPr sz="1900"/>
              </a:p>
            </p:txBody>
          </p:sp>
        </mc:Choice>
        <mc:Fallback>
          <p:sp>
            <p:nvSpPr>
              <p:cNvPr id="6082" name="EDITABLE POWERPOINT EQUATION | Code-grounded LOESS and peak estimates | ROW 3"/>
              <p:cNvSpPr txBox="1">
                <a:spLocks noRot="1" noChangeAspect="1" noMove="1" noResize="1" noEditPoints="1" noAdjustHandles="1" noChangeArrowheads="1" noChangeShapeType="1" noTextEdit="1"/>
              </p:cNvSpPr>
              <p:nvPr/>
            </p:nvSpPr>
            <p:spPr>
              <a:xfrm>
                <a:off x="10168128" y="5797296"/>
                <a:ext cx="5989320" cy="5120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083" name="EDITABLE POWERPOINT EQUATION | Code-grounded LOESS and peak estimates | ROW 4"/>
              <p:cNvSpPr txBox="1"/>
              <p:nvPr/>
            </p:nvSpPr>
            <p:spPr>
              <a:xfrm>
                <a:off x="10168128" y="6547104"/>
                <a:ext cx="5989320" cy="512064"/>
              </a:xfrm>
              <a:prstGeom prst="rect">
                <a:avLst/>
              </a:prstGeom>
              <a:noFill/>
            </p:spPr>
            <p:txBody>
              <a:bodyPr wrap="none" lIns="45720" tIns="36576" rIns="45720" bIns="36576" anchor="ctr">
                <a:spAutoFit/>
              </a:bodyPr>
              <a:lstStyle/>
              <a:p>
                <a:pPr algn="ctr">
                  <a:spcAft>
                    <a:spcPts val="400"/>
                  </a:spcAft>
                </a:pPr>
                <a14:m>
                  <m:oMathPara xmlns:m="http://schemas.openxmlformats.org/officeDocument/2006/math">
                    <m:oMath>
                      <m:r>
                        <a:rPr>
                          <a:latin typeface="Cambria Math" panose="02040503050406030204" pitchFamily="18" charset="0"/>
                        </a:rPr>
                        <m:t>𝑏</m:t>
                      </m:r>
                      <m:r>
                        <a:rPr>
                          <a:latin typeface="Cambria Math" panose="02040503050406030204" pitchFamily="18" charset="0"/>
                        </a:rPr>
                        <m:t>ₐᵥ</m:t>
                      </m:r>
                      <m:r>
                        <a:rPr>
                          <a:latin typeface="Cambria Math" panose="02040503050406030204" pitchFamily="18" charset="0"/>
                        </a:rPr>
                        <m:t>𝑔</m:t>
                      </m:r>
                      <m:r>
                        <a:rPr>
                          <a:latin typeface="Cambria Math" panose="02040503050406030204" pitchFamily="18" charset="0"/>
                        </a:rPr>
                        <m:t> = </m:t>
                      </m:r>
                      <m:r>
                        <a:rPr>
                          <a:latin typeface="Cambria Math" panose="02040503050406030204" pitchFamily="18" charset="0"/>
                        </a:rPr>
                        <m:t>𝑎𝑟𝑔𝑚𝑎𝑥</m:t>
                      </m:r>
                      <m:r>
                        <a:rPr>
                          <a:latin typeface="Cambria Math" panose="02040503050406030204" pitchFamily="18" charset="0"/>
                        </a:rPr>
                        <m:t>ₜ </m:t>
                      </m:r>
                      <m:r>
                        <a:rPr>
                          <a:latin typeface="Cambria Math" panose="02040503050406030204" pitchFamily="18" charset="0"/>
                        </a:rPr>
                        <m:t>𝜈</m:t>
                      </m:r>
                      <m:r>
                        <a:rPr>
                          <a:latin typeface="Cambria Math" panose="02040503050406030204" pitchFamily="18" charset="0"/>
                        </a:rPr>
                        <m:t>̃ₜᵃᵛᵍ</m:t>
                      </m:r>
                    </m:oMath>
                  </m:oMathPara>
                </a14:m>
                <a:endParaRPr sz="1900"/>
              </a:p>
            </p:txBody>
          </p:sp>
        </mc:Choice>
        <mc:Fallback>
          <p:sp>
            <p:nvSpPr>
              <p:cNvPr id="6083" name="EDITABLE POWERPOINT EQUATION | Code-grounded LOESS and peak estimates | ROW 4"/>
              <p:cNvSpPr txBox="1">
                <a:spLocks noRot="1" noChangeAspect="1" noMove="1" noResize="1" noEditPoints="1" noAdjustHandles="1" noChangeArrowheads="1" noChangeShapeType="1" noTextEdit="1"/>
              </p:cNvSpPr>
              <p:nvPr/>
            </p:nvSpPr>
            <p:spPr>
              <a:xfrm>
                <a:off x="10168128" y="6547104"/>
                <a:ext cx="5989320" cy="512064"/>
              </a:xfrm>
              <a:prstGeom prst="rect">
                <a:avLst/>
              </a:prstGeom>
              <a:blipFill>
                <a:blip r:embed="rId7"/>
                <a:stretch>
                  <a:fillRect/>
                </a:stretch>
              </a:blipFill>
            </p:spPr>
            <p:txBody>
              <a:bodyPr/>
              <a:lstStyle/>
              <a:p>
                <a:r>
                  <a:rPr lang="en-GB">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mc:AlternateContent xmlns:mc="http://schemas.openxmlformats.org/markup-compatibility/2006">
        <mc:Choice xmlns:a14="http://schemas.microsoft.com/office/drawing/2010/main" Requires="a14">
          <p:sp>
            <p:nvSpPr>
              <p:cNvPr id="10" name="EDITABLE POWERPOINT EQUATION | Kronecker delta"/>
              <p:cNvSpPr txBox="1"/>
              <p:nvPr/>
            </p:nvSpPr>
            <p:spPr>
              <a:xfrm>
                <a:off x="1234440" y="3566160"/>
                <a:ext cx="7260336" cy="82296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1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r>
                        <a:rPr>
                          <a:latin typeface="Cambria Math" panose="02040503050406030204" pitchFamily="18" charset="0"/>
                        </a:rPr>
                        <m:t> = 0 (</m:t>
                      </m:r>
                      <m:r>
                        <a:rPr>
                          <a:latin typeface="Cambria Math" panose="02040503050406030204" pitchFamily="18" charset="0"/>
                        </a:rPr>
                        <m:t>𝑖</m:t>
                      </m:r>
                      <m:r>
                        <a:rPr>
                          <a:latin typeface="Cambria Math" panose="02040503050406030204" pitchFamily="18" charset="0"/>
                        </a:rPr>
                        <m:t> ≠ </m:t>
                      </m:r>
                      <m:r>
                        <a:rPr>
                          <a:latin typeface="Cambria Math" panose="02040503050406030204" pitchFamily="18" charset="0"/>
                        </a:rPr>
                        <m:t>𝑗</m:t>
                      </m:r>
                      <m:r>
                        <a:rPr>
                          <a:latin typeface="Cambria Math" panose="02040503050406030204" pitchFamily="18" charset="0"/>
                        </a:rPr>
                        <m:t>)</m:t>
                      </m:r>
                    </m:oMath>
                  </m:oMathPara>
                </a14:m>
                <a:endParaRPr lang="en-GB" sz="2400">
                  <a:solidFill>
                    <a:srgbClr val="14233B"/>
                  </a:solidFill>
                </a:endParaRPr>
              </a:p>
            </p:txBody>
          </p:sp>
        </mc:Choice>
        <mc:Fallback>
          <p:sp>
            <p:nvSpPr>
              <p:cNvPr id="10" name="EDITABLE POWERPOINT EQUATION | Kronecker delta"/>
              <p:cNvSpPr txBox="1">
                <a:spLocks noRot="1" noChangeAspect="1" noMove="1" noResize="1" noEditPoints="1" noAdjustHandles="1" noChangeArrowheads="1" noChangeShapeType="1" noTextEdit="1"/>
              </p:cNvSpPr>
              <p:nvPr/>
            </p:nvSpPr>
            <p:spPr>
              <a:xfrm>
                <a:off x="1234440" y="3566160"/>
                <a:ext cx="7260336"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mc:AlternateContent xmlns:mc="http://schemas.openxmlformats.org/markup-compatibility/2006">
        <mc:Choice xmlns:a14="http://schemas.microsoft.com/office/drawing/2010/main" Requires="a14">
          <p:sp>
            <p:nvSpPr>
              <p:cNvPr id="10" name="EDITABLE POWERPOINT EQUATION | Covariance and Kronecker identity"/>
              <p:cNvSpPr txBox="1"/>
              <p:nvPr/>
            </p:nvSpPr>
            <p:spPr>
              <a:xfrm>
                <a:off x="1234440" y="3429000"/>
                <a:ext cx="715060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p:sp>
            <p:nvSpPr>
              <p:cNvPr id="10" name="EDITABLE POWERPOINT EQUATION | Covariance and Kronecker identity"/>
              <p:cNvSpPr txBox="1">
                <a:spLocks noRot="1" noChangeAspect="1" noMove="1" noResize="1" noEditPoints="1" noAdjustHandles="1" noChangeArrowheads="1" noChangeShapeType="1" noTextEdit="1"/>
              </p:cNvSpPr>
              <p:nvPr/>
            </p:nvSpPr>
            <p:spPr>
              <a:xfrm>
                <a:off x="1234440" y="3429000"/>
                <a:ext cx="7150608" cy="96012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mc:AlternateContent xmlns:mc="http://schemas.openxmlformats.org/markup-compatibility/2006">
        <mc:Choice xmlns:a14="http://schemas.microsoft.com/office/drawing/2010/main" Requires="a14">
          <p:sp>
            <p:nvSpPr>
              <p:cNvPr id="15" name="EDITABLE POWERPOINT EQUATION | Partial derivative identity"/>
              <p:cNvSpPr txBox="1"/>
              <p:nvPr/>
            </p:nvSpPr>
            <p:spPr>
              <a:xfrm>
                <a:off x="1234440" y="3429000"/>
                <a:ext cx="2852928" cy="960120"/>
              </a:xfrm>
              <a:prstGeom prst="rect">
                <a:avLst/>
              </a:prstGeom>
              <a:noFill/>
            </p:spPr>
            <p:txBody>
              <a:bodyPr wrap="none" lIns="0" tIns="0" rIns="0" bIns="0" anchor="ctr">
                <a:spAutoFit/>
              </a:bodyPr>
              <a:lstStyle/>
              <a:p>
                <a:pPr algn="ctr"/>
                <a14:m>
                  <m:oMathPara xmlns:m="http://schemas.openxmlformats.org/officeDocument/2006/math">
                    <m:oMath>
                      <m:f>
                        <m:fPr>
                          <m:ctrlPr>
                            <a:rPr>
                              <a:latin typeface="Cambria Math" panose="02040503050406030204" pitchFamily="18" charset="0"/>
                            </a:rPr>
                          </m:ctrlPr>
                        </m:fPr>
                        <m:num>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ᵢ</m:t>
                          </m:r>
                        </m:num>
                        <m:den>
                          <m:r>
                            <a:rPr>
                              <a:latin typeface="Cambria Math" panose="02040503050406030204" pitchFamily="18" charset="0"/>
                            </a:rPr>
                            <m:t>𝜕</m:t>
                          </m:r>
                          <m:r>
                            <a:rPr>
                              <a:latin typeface="Cambria Math" panose="02040503050406030204" pitchFamily="18" charset="0"/>
                            </a:rPr>
                            <m:t>𝑤</m:t>
                          </m:r>
                          <m:r>
                            <a:rPr>
                              <a:latin typeface="Cambria Math" panose="02040503050406030204" pitchFamily="18" charset="0"/>
                            </a:rPr>
                            <m:t>ⱼ</m:t>
                          </m:r>
                        </m:den>
                      </m:f>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𝛿</m:t>
                          </m:r>
                        </m:e>
                        <m:sub>
                          <m:r>
                            <a:rPr>
                              <a:latin typeface="Cambria Math" panose="02040503050406030204" pitchFamily="18" charset="0"/>
                            </a:rPr>
                            <m:t>𝑖𝑗</m:t>
                          </m:r>
                        </m:sub>
                      </m:sSub>
                    </m:oMath>
                  </m:oMathPara>
                </a14:m>
                <a:endParaRPr lang="en-GB" sz="2800">
                  <a:solidFill>
                    <a:srgbClr val="14233B"/>
                  </a:solidFill>
                </a:endParaRPr>
              </a:p>
            </p:txBody>
          </p:sp>
        </mc:Choice>
        <mc:Fallback>
          <p:sp>
            <p:nvSpPr>
              <p:cNvPr id="15" name="EDITABLE POWERPOINT EQUATION | Partial derivative identity"/>
              <p:cNvSpPr txBox="1">
                <a:spLocks noRot="1" noChangeAspect="1" noMove="1" noResize="1" noEditPoints="1" noAdjustHandles="1" noChangeArrowheads="1" noChangeShapeType="1" noTextEdit="1"/>
              </p:cNvSpPr>
              <p:nvPr/>
            </p:nvSpPr>
            <p:spPr>
              <a:xfrm>
                <a:off x="1234440" y="3429000"/>
                <a:ext cx="285292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6" name="EDITABLE POWERPOINT EQUATION | Variance identity"/>
              <p:cNvSpPr txBox="1"/>
              <p:nvPr/>
            </p:nvSpPr>
            <p:spPr>
              <a:xfrm>
                <a:off x="9326880" y="3429000"/>
                <a:ext cx="7205472"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𝐸</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𝑖</m:t>
                          </m:r>
                        </m:sub>
                      </m:sSub>
                      <m:r>
                        <a:rPr>
                          <a:latin typeface="Cambria Math" panose="02040503050406030204" pitchFamily="18" charset="0"/>
                        </a:rPr>
                        <m:t>]</m:t>
                      </m:r>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m:t>
                      </m:r>
                    </m:oMath>
                  </m:oMathPara>
                </a14:m>
                <a:endParaRPr lang="en-GB" sz="2800">
                  <a:solidFill>
                    <a:srgbClr val="14233B"/>
                  </a:solidFill>
                </a:endParaRPr>
              </a:p>
            </p:txBody>
          </p:sp>
        </mc:Choice>
        <mc:Fallback>
          <p:sp>
            <p:nvSpPr>
              <p:cNvPr id="16" name="EDITABLE POWERPOINT EQUATION | Variance identity"/>
              <p:cNvSpPr txBox="1">
                <a:spLocks noRot="1" noChangeAspect="1" noMove="1" noResize="1" noEditPoints="1" noAdjustHandles="1" noChangeArrowheads="1" noChangeShapeType="1" noTextEdit="1"/>
              </p:cNvSpPr>
              <p:nvPr/>
            </p:nvSpPr>
            <p:spPr>
              <a:xfrm>
                <a:off x="9326880" y="3429000"/>
                <a:ext cx="7205472" cy="960120"/>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mc:AlternateContent xmlns:mc="http://schemas.openxmlformats.org/markup-compatibility/2006">
        <mc:Choice xmlns:a14="http://schemas.microsoft.com/office/drawing/2010/main" Requires="a14">
          <p:sp>
            <p:nvSpPr>
              <p:cNvPr id="17" name="EDITABLE POWERPOINT EQUATION | Online update"/>
              <p:cNvSpPr txBox="1"/>
              <p:nvPr/>
            </p:nvSpPr>
            <p:spPr>
              <a:xfrm>
                <a:off x="1234440" y="7269480"/>
                <a:ext cx="6080760" cy="685800"/>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+1) = </m:t>
                      </m:r>
                      <m:sSub>
                        <m:sSubPr>
                          <m:ctrlPr>
                            <a:rPr>
                              <a:latin typeface="Cambria Math" panose="02040503050406030204" pitchFamily="18" charset="0"/>
                            </a:rPr>
                          </m:ctrlPr>
                        </m:sSubPr>
                        <m:e>
                          <m:r>
                            <a:rPr>
                              <a:latin typeface="Cambria Math" panose="02040503050406030204" pitchFamily="18" charset="0"/>
                            </a:rPr>
                            <m:t>𝑤</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 + </m:t>
                      </m:r>
                      <m:r>
                        <a:rPr>
                          <a:latin typeface="Cambria Math" panose="02040503050406030204" pitchFamily="18" charset="0"/>
                        </a:rPr>
                        <m:t>𝜂</m:t>
                      </m:r>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oMath>
                  </m:oMathPara>
                </a14:m>
                <a:endParaRPr lang="en-GB" sz="2000">
                  <a:solidFill>
                    <a:srgbClr val="14233B"/>
                  </a:solidFill>
                </a:endParaRPr>
              </a:p>
            </p:txBody>
          </p:sp>
        </mc:Choice>
        <mc:Fallback>
          <p:sp>
            <p:nvSpPr>
              <p:cNvPr id="17" name="EDITABLE POWERPOINT EQUATION | Online update"/>
              <p:cNvSpPr txBox="1">
                <a:spLocks noRot="1" noChangeAspect="1" noMove="1" noResize="1" noEditPoints="1" noAdjustHandles="1" noChangeArrowheads="1" noChangeShapeType="1" noTextEdit="1"/>
              </p:cNvSpPr>
              <p:nvPr/>
            </p:nvSpPr>
            <p:spPr>
              <a:xfrm>
                <a:off x="1234440" y="7269480"/>
                <a:ext cx="6080760" cy="685800"/>
              </a:xfrm>
              <a:prstGeom prst="rect">
                <a:avLst/>
              </a:prstGeom>
              <a:blipFill>
                <a:blip r:embed="rId5"/>
                <a:stretch>
                  <a:fillRect/>
                </a:stretch>
              </a:blipFill>
            </p:spPr>
            <p:txBody>
              <a:bodyPr/>
              <a:lstStyle/>
              <a:p>
                <a:r>
                  <a:rPr lang="en-GB">
                    <a:noFill/>
                  </a:rPr>
                  <a:t> </a:t>
                </a:r>
              </a:p>
            </p:txBody>
          </p:sp>
        </mc:Fallback>
      </mc:AlternateContent>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mc:AlternateContent xmlns:mc="http://schemas.openxmlformats.org/markup-compatibility/2006">
        <mc:Choice xmlns:a14="http://schemas.microsoft.com/office/drawing/2010/main" Requires="a14">
          <p:sp>
            <p:nvSpPr>
              <p:cNvPr id="10" name="EDITABLE POWERPOINT EQUATION | Vanishing wavelet moments"/>
              <p:cNvSpPr txBox="1"/>
              <p:nvPr/>
            </p:nvSpPr>
            <p:spPr>
              <a:xfrm>
                <a:off x="1234440" y="3502152"/>
                <a:ext cx="7342631" cy="82296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 </m:t>
                      </m:r>
                      <m:sSup>
                        <m:sSupPr>
                          <m:ctrlPr>
                            <a:rPr>
                              <a:latin typeface="Cambria Math" panose="02040503050406030204" pitchFamily="18" charset="0"/>
                            </a:rPr>
                          </m:ctrlPr>
                        </m:sSupPr>
                        <m:e>
                          <m:r>
                            <a:rPr>
                              <a:latin typeface="Cambria Math" panose="02040503050406030204" pitchFamily="18" charset="0"/>
                            </a:rPr>
                            <m:t>𝑡</m:t>
                          </m:r>
                        </m:e>
                        <m:sup>
                          <m:r>
                            <a:rPr>
                              <a:latin typeface="Cambria Math" panose="02040503050406030204" pitchFamily="18" charset="0"/>
                            </a:rPr>
                            <m:t>𝑚</m:t>
                          </m:r>
                        </m:sup>
                      </m:sSup>
                      <m:r>
                        <a:rPr>
                          <a:latin typeface="Cambria Math" panose="02040503050406030204" pitchFamily="18" charset="0"/>
                        </a:rPr>
                        <m:t>𝜓</m:t>
                      </m:r>
                      <m:r>
                        <a:rPr>
                          <a:latin typeface="Cambria Math" panose="02040503050406030204" pitchFamily="18" charset="0"/>
                        </a:rPr>
                        <m:t>(</m:t>
                      </m:r>
                      <m:r>
                        <a:rPr>
                          <a:latin typeface="Cambria Math" panose="02040503050406030204" pitchFamily="18" charset="0"/>
                        </a:rPr>
                        <m:t>𝑡</m:t>
                      </m:r>
                      <m:r>
                        <a:rPr>
                          <a:latin typeface="Cambria Math" panose="02040503050406030204" pitchFamily="18" charset="0"/>
                        </a:rPr>
                        <m:t>)</m:t>
                      </m:r>
                      <m:r>
                        <a:rPr>
                          <a:latin typeface="Cambria Math" panose="02040503050406030204" pitchFamily="18" charset="0"/>
                        </a:rPr>
                        <m:t>𝑑𝑡</m:t>
                      </m:r>
                      <m:r>
                        <a:rPr>
                          <a:latin typeface="Cambria Math" panose="02040503050406030204" pitchFamily="18" charset="0"/>
                        </a:rPr>
                        <m:t> = 0,     </m:t>
                      </m:r>
                      <m:r>
                        <a:rPr>
                          <a:latin typeface="Cambria Math" panose="02040503050406030204" pitchFamily="18" charset="0"/>
                        </a:rPr>
                        <m:t>𝑚</m:t>
                      </m:r>
                      <m:r>
                        <a:rPr>
                          <a:latin typeface="Cambria Math" panose="02040503050406030204" pitchFamily="18" charset="0"/>
                        </a:rPr>
                        <m:t> = 0,…,</m:t>
                      </m:r>
                      <m:r>
                        <a:rPr>
                          <a:latin typeface="Cambria Math" panose="02040503050406030204" pitchFamily="18" charset="0"/>
                        </a:rPr>
                        <m:t>𝑁</m:t>
                      </m:r>
                      <m:r>
                        <a:rPr>
                          <a:latin typeface="Cambria Math" panose="02040503050406030204" pitchFamily="18" charset="0"/>
                        </a:rPr>
                        <m:t> − 1</m:t>
                      </m:r>
                    </m:oMath>
                  </m:oMathPara>
                </a14:m>
                <a:endParaRPr lang="en-GB" sz="2400">
                  <a:solidFill>
                    <a:srgbClr val="14233B"/>
                  </a:solidFill>
                </a:endParaRPr>
              </a:p>
            </p:txBody>
          </p:sp>
        </mc:Choice>
        <mc:Fallback>
          <p:sp>
            <p:nvSpPr>
              <p:cNvPr id="10" name="EDITABLE POWERPOINT EQUATION | Vanishing wavelet moments"/>
              <p:cNvSpPr txBox="1">
                <a:spLocks noRot="1" noChangeAspect="1" noMove="1" noResize="1" noEditPoints="1" noAdjustHandles="1" noChangeArrowheads="1" noChangeShapeType="1" noTextEdit="1"/>
              </p:cNvSpPr>
              <p:nvPr/>
            </p:nvSpPr>
            <p:spPr>
              <a:xfrm>
                <a:off x="1234440" y="3502152"/>
                <a:ext cx="7342631" cy="822960"/>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mc:AlternateContent xmlns:mc="http://schemas.openxmlformats.org/markup-compatibility/2006">
        <mc:Choice xmlns:a14="http://schemas.microsoft.com/office/drawing/2010/main" Requires="a14">
          <p:sp>
            <p:nvSpPr>
              <p:cNvPr id="11" name="EDITABLE POWERPOINT EQUATION | Linear transformation and covariance"/>
              <p:cNvSpPr txBox="1"/>
              <p:nvPr/>
            </p:nvSpPr>
            <p:spPr>
              <a:xfrm>
                <a:off x="1234440" y="3355848"/>
                <a:ext cx="12088368" cy="960120"/>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𝐴𝑍</m:t>
                      </m:r>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𝐼</m:t>
                      </m:r>
                      <m:r>
                        <a:rPr>
                          <a:latin typeface="Cambria Math" panose="02040503050406030204" pitchFamily="18" charset="0"/>
                        </a:rPr>
                        <m:t>    ⇒    </m:t>
                      </m:r>
                      <m:r>
                        <a:rPr>
                          <a:latin typeface="Cambria Math" panose="02040503050406030204" pitchFamily="18" charset="0"/>
                        </a:rPr>
                        <m:t>𝐶𝑜𝑣</m:t>
                      </m:r>
                      <m:r>
                        <a:rPr>
                          <a:latin typeface="Cambria Math" panose="02040503050406030204" pitchFamily="18" charset="0"/>
                        </a:rPr>
                        <m:t>(</m:t>
                      </m:r>
                      <m:r>
                        <a:rPr>
                          <a:latin typeface="Cambria Math" panose="02040503050406030204" pitchFamily="18" charset="0"/>
                        </a:rPr>
                        <m:t>𝑌</m:t>
                      </m:r>
                      <m:r>
                        <a:rPr>
                          <a:latin typeface="Cambria Math" panose="02040503050406030204" pitchFamily="18" charset="0"/>
                        </a:rPr>
                        <m:t>) = </m:t>
                      </m:r>
                      <m:r>
                        <a:rPr>
                          <a:latin typeface="Cambria Math" panose="02040503050406030204" pitchFamily="18" charset="0"/>
                        </a:rPr>
                        <m:t>𝐴</m:t>
                      </m:r>
                      <m:sSup>
                        <m:sSupPr>
                          <m:ctrlPr>
                            <a:rPr>
                              <a:latin typeface="Cambria Math" panose="02040503050406030204" pitchFamily="18" charset="0"/>
                            </a:rPr>
                          </m:ctrlPr>
                        </m:sSupPr>
                        <m:e>
                          <m:r>
                            <a:rPr>
                              <a:latin typeface="Cambria Math" panose="02040503050406030204" pitchFamily="18" charset="0"/>
                            </a:rPr>
                            <m:t>𝐴</m:t>
                          </m:r>
                        </m:e>
                        <m:sup>
                          <m:r>
                            <a:rPr>
                              <a:latin typeface="Cambria Math" panose="02040503050406030204" pitchFamily="18" charset="0"/>
                            </a:rPr>
                            <m:t>𝑇</m:t>
                          </m:r>
                        </m:sup>
                      </m:sSup>
                    </m:oMath>
                  </m:oMathPara>
                </a14:m>
                <a:endParaRPr lang="en-GB" sz="2300">
                  <a:solidFill>
                    <a:srgbClr val="14233B"/>
                  </a:solidFill>
                </a:endParaRPr>
              </a:p>
            </p:txBody>
          </p:sp>
        </mc:Choice>
        <mc:Fallback>
          <p:sp>
            <p:nvSpPr>
              <p:cNvPr id="11" name="EDITABLE POWERPOINT EQUATION | Linear transformation and covariance"/>
              <p:cNvSpPr txBox="1">
                <a:spLocks noRot="1" noChangeAspect="1" noMove="1" noResize="1" noEditPoints="1" noAdjustHandles="1" noChangeArrowheads="1" noChangeShapeType="1" noTextEdit="1"/>
              </p:cNvSpPr>
              <p:nvPr/>
            </p:nvSpPr>
            <p:spPr>
              <a:xfrm>
                <a:off x="1234440" y="3355848"/>
                <a:ext cx="12088368" cy="960120"/>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2" name="EDITABLE POWERPOINT EQUATION | Correlation construction"/>
              <p:cNvSpPr txBox="1"/>
              <p:nvPr/>
            </p:nvSpPr>
            <p:spPr>
              <a:xfrm>
                <a:off x="1234440" y="4873752"/>
                <a:ext cx="13716000" cy="987552"/>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2</m:t>
                          </m:r>
                        </m:sub>
                      </m:sSub>
                      <m:r>
                        <a:rPr>
                          <a:latin typeface="Cambria Math" panose="02040503050406030204" pitchFamily="18" charset="0"/>
                        </a:rPr>
                        <m:t>,    </m:t>
                      </m:r>
                      <m:r>
                        <a:rPr>
                          <a:latin typeface="Cambria Math" panose="02040503050406030204" pitchFamily="18" charset="0"/>
                        </a:rPr>
                        <m:t>𝐶𝑜𝑣</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𝑌</m:t>
                          </m:r>
                        </m:e>
                        <m:sub>
                          <m:r>
                            <a:rPr>
                              <a:latin typeface="Cambria Math" panose="02040503050406030204" pitchFamily="18" charset="0"/>
                            </a:rPr>
                            <m:t>2</m:t>
                          </m:r>
                        </m:sub>
                      </m:sSub>
                      <m:r>
                        <a:rPr>
                          <a:latin typeface="Cambria Math" panose="02040503050406030204" pitchFamily="18" charset="0"/>
                        </a:rPr>
                        <m:t>) = </m:t>
                      </m:r>
                      <m:r>
                        <a:rPr>
                          <a:latin typeface="Cambria Math" panose="02040503050406030204" pitchFamily="18" charset="0"/>
                        </a:rPr>
                        <m:t>𝑎</m:t>
                      </m:r>
                    </m:oMath>
                  </m:oMathPara>
                </a14:m>
                <a:endParaRPr lang="en-GB" sz="2300">
                  <a:solidFill>
                    <a:srgbClr val="14233B"/>
                  </a:solidFill>
                </a:endParaRPr>
              </a:p>
            </p:txBody>
          </p:sp>
        </mc:Choice>
        <mc:Fallback>
          <p:sp>
            <p:nvSpPr>
              <p:cNvPr id="12" name="EDITABLE POWERPOINT EQUATION | Correlation construction"/>
              <p:cNvSpPr txBox="1">
                <a:spLocks noRot="1" noChangeAspect="1" noMove="1" noResize="1" noEditPoints="1" noAdjustHandles="1" noChangeArrowheads="1" noChangeShapeType="1" noTextEdit="1"/>
              </p:cNvSpPr>
              <p:nvPr/>
            </p:nvSpPr>
            <p:spPr>
              <a:xfrm>
                <a:off x="1234440" y="4873752"/>
                <a:ext cx="13716000" cy="987552"/>
              </a:xfrm>
              <a:prstGeom prst="rect">
                <a:avLst/>
              </a:prstGeom>
              <a:blipFill>
                <a:blip r:embed="rId4"/>
                <a:stretch>
                  <a:fillRect/>
                </a:stretch>
              </a:blipFill>
            </p:spPr>
            <p:txBody>
              <a:bodyPr/>
              <a:lstStyle/>
              <a:p>
                <a:r>
                  <a:rPr lang="en-GB">
                    <a:noFill/>
                  </a:rPr>
                  <a:t> </a:t>
                </a:r>
              </a:p>
            </p:txBody>
          </p:sp>
        </mc:Fallback>
      </mc:AlternateContent>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𝑍</m:t>
                      </m:r>
                      <m:r>
                        <a:rPr>
                          <a:latin typeface="Cambria Math" panose="02040503050406030204" pitchFamily="18" charset="0"/>
                        </a:rPr>
                        <m:t> = </m:t>
                      </m:r>
                      <m:r>
                        <a:rPr>
                          <a:latin typeface="Cambria Math" panose="02040503050406030204" pitchFamily="18" charset="0"/>
                        </a:rPr>
                        <m:t>𝑊𝐸</m:t>
                      </m:r>
                    </m:oMath>
                  </m:oMathPara>
                </a14:m>
                <a:endParaRPr lang="en-GB" sz="1800">
                  <a:solidFill>
                    <a:srgbClr val="14233B"/>
                  </a:solidFill>
                </a:endParaRPr>
              </a:p>
            </p:txBody>
          </p:sp>
        </mc:Choice>
        <mc:Fallback>
          <p:sp>
            <p:nvSpPr>
              <p:cNvPr id="23" name="EDITABLE POWERPOINT EQUATION | CSP spatial filter"/>
              <p:cNvSpPr txBox="1">
                <a:spLocks noRot="1" noChangeAspect="1" noMove="1" noResize="1" noEditPoints="1" noAdjustHandles="1" noChangeArrowheads="1" noChangeShapeType="1" noTextEdit="1"/>
              </p:cNvSpPr>
              <p:nvPr/>
            </p:nvSpPr>
            <p:spPr>
              <a:xfrm>
                <a:off x="1033271" y="3703320"/>
                <a:ext cx="2423160" cy="40233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𝑗</m:t>
                          </m:r>
                        </m:sub>
                      </m:sSub>
                      <m:r>
                        <a:rPr>
                          <a:latin typeface="Cambria Math" panose="02040503050406030204" pitchFamily="18" charset="0"/>
                        </a:rPr>
                        <m:t> = </m:t>
                      </m:r>
                      <m:r>
                        <a:rPr>
                          <a:latin typeface="Cambria Math" panose="02040503050406030204" pitchFamily="18" charset="0"/>
                        </a:rPr>
                        <m:t>𝑙𝑜𝑔</m:t>
                      </m:r>
                      <m:r>
                        <a:rPr>
                          <a:latin typeface="Cambria Math" panose="02040503050406030204" pitchFamily="18" charset="0"/>
                        </a:rPr>
                        <m:t>(</m:t>
                      </m:r>
                      <m:f>
                        <m:fPr>
                          <m:ctrlPr>
                            <a:rPr>
                              <a:latin typeface="Cambria Math" panose="02040503050406030204" pitchFamily="18" charset="0"/>
                            </a:rPr>
                          </m:ctrlPr>
                        </m:fPr>
                        <m:num>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𝑗</m:t>
                              </m:r>
                            </m:sub>
                          </m:sSub>
                          <m:r>
                            <a:rPr>
                              <a:latin typeface="Cambria Math" panose="02040503050406030204" pitchFamily="18" charset="0"/>
                            </a:rPr>
                            <m:t>)</m:t>
                          </m:r>
                        </m:num>
                        <m:den>
                          <m:nary>
                            <m:naryPr>
                              <m:chr m:val="∑"/>
                              <m:ctrlPr>
                                <a:rPr>
                                  <a:latin typeface="Cambria Math" panose="02040503050406030204" pitchFamily="18" charset="0"/>
                                </a:rPr>
                              </m:ctrlPr>
                            </m:naryPr>
                            <m:sub>
                              <m:r>
                                <a:rPr>
                                  <a:latin typeface="Cambria Math" panose="02040503050406030204" pitchFamily="18" charset="0"/>
                                </a:rPr>
                                <m:t>𝑘</m:t>
                              </m:r>
                              <m:r>
                                <a:rPr>
                                  <a:latin typeface="Cambria Math" panose="02040503050406030204" pitchFamily="18" charset="0"/>
                                </a:rPr>
                                <m:t>=1</m:t>
                              </m:r>
                            </m:sub>
                            <m:sup>
                              <m:r>
                                <a:rPr>
                                  <a:latin typeface="Cambria Math" panose="02040503050406030204" pitchFamily="18" charset="0"/>
                                </a:rPr>
                                <m:t>2</m:t>
                              </m:r>
                              <m:r>
                                <a:rPr>
                                  <a:latin typeface="Cambria Math" panose="02040503050406030204" pitchFamily="18" charset="0"/>
                                </a:rPr>
                                <m:t>𝑚</m:t>
                              </m:r>
                            </m:sup>
                            <m:e>
                              <m:r>
                                <a:rPr>
                                  <a:latin typeface="Cambria Math" panose="02040503050406030204" pitchFamily="18" charset="0"/>
                                </a:rPr>
                                <m:t>𝑉𝑎𝑟</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𝑍</m:t>
                                  </m:r>
                                </m:e>
                                <m:sub>
                                  <m:r>
                                    <a:rPr>
                                      <a:latin typeface="Cambria Math" panose="02040503050406030204" pitchFamily="18" charset="0"/>
                                    </a:rPr>
                                    <m:t>𝑘</m:t>
                                  </m:r>
                                </m:sub>
                              </m:sSub>
                              <m:r>
                                <a:rPr>
                                  <a:latin typeface="Cambria Math" panose="02040503050406030204" pitchFamily="18" charset="0"/>
                                </a:rPr>
                                <m:t>)</m:t>
                              </m:r>
                            </m:e>
                          </m:nary>
                        </m:den>
                      </m:f>
                      <m:r>
                        <a:rPr>
                          <a:latin typeface="Cambria Math" panose="02040503050406030204" pitchFamily="18" charset="0"/>
                        </a:rPr>
                        <m:t>)</m:t>
                      </m:r>
                    </m:oMath>
                  </m:oMathPara>
                </a14:m>
                <a:endParaRPr lang="en-GB" sz="2600">
                  <a:solidFill>
                    <a:srgbClr val="14233B"/>
                  </a:solidFill>
                </a:endParaRPr>
              </a:p>
            </p:txBody>
          </p:sp>
        </mc:Choice>
        <mc:Fallback>
          <p:sp>
            <p:nvSpPr>
              <p:cNvPr id="24" name="EDITABLE POWERPOINT EQUATION | Normalised CSP log-variance feature"/>
              <p:cNvSpPr txBox="1">
                <a:spLocks noRot="1" noChangeAspect="1" noMove="1" noResize="1" noEditPoints="1" noAdjustHandles="1" noChangeArrowheads="1" noChangeShapeType="1" noTextEdit="1"/>
              </p:cNvSpPr>
              <p:nvPr/>
            </p:nvSpPr>
            <p:spPr>
              <a:xfrm>
                <a:off x="1033271" y="5157216"/>
                <a:ext cx="5138928" cy="1115568"/>
              </a:xfrm>
              <a:prstGeom prst="rect">
                <a:avLst/>
              </a:prstGeom>
              <a:blipFill>
                <a:blip r:embed="rId4"/>
                <a:stretch>
                  <a:fillRect/>
                </a:stretch>
              </a:blipFill>
            </p:spPr>
            <p:txBody>
              <a:bodyPr/>
              <a:lstStyle/>
              <a:p>
                <a:r>
                  <a:rPr lang="en-GB">
                    <a:noFill/>
                  </a:rPr>
                  <a:t> </a:t>
                </a:r>
              </a:p>
            </p:txBody>
          </p:sp>
        </mc:Fallback>
      </mc:AlternateContent>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sub>
                      </m:sSub>
                      <m:r>
                        <a:rPr>
                          <a:latin typeface="Cambria Math" panose="02040503050406030204" pitchFamily="18" charset="0"/>
                        </a:rPr>
                        <m:t> = </m:t>
                      </m:r>
                      <m:sSup>
                        <m:sSupPr>
                          <m:ctrlPr>
                            <a:rPr>
                              <a:latin typeface="Cambria Math" panose="02040503050406030204" pitchFamily="18" charset="0"/>
                            </a:rPr>
                          </m:ctrlPr>
                        </m:sSupPr>
                        <m:e>
                          <m:r>
                            <a:rPr>
                              <a:latin typeface="Cambria Math" panose="02040503050406030204" pitchFamily="18" charset="0"/>
                            </a:rPr>
                            <m:t>𝑃</m:t>
                          </m:r>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𝑐𝑎𝑙</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𝑋</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𝑠</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p:sp>
            <p:nvSpPr>
              <p:cNvPr id="25" name="EDITABLE POWERPOINT EQUATION | PCA projection and first component"/>
              <p:cNvSpPr txBox="1">
                <a:spLocks noRot="1" noChangeAspect="1" noMove="1" noResize="1" noEditPoints="1" noAdjustHandles="1" noChangeArrowheads="1" noChangeShapeType="1" noTextEdit="1"/>
              </p:cNvSpPr>
              <p:nvPr/>
            </p:nvSpPr>
            <p:spPr>
              <a:xfrm>
                <a:off x="1033271" y="7333488"/>
                <a:ext cx="5760720" cy="603504"/>
              </a:xfrm>
              <a:prstGeom prst="rect">
                <a:avLst/>
              </a:prstGeom>
              <a:blipFill>
                <a:blip r:embed="rId5"/>
                <a:stretch>
                  <a:fillRect/>
                </a:stretch>
              </a:blipFill>
            </p:spPr>
            <p:txBody>
              <a:bodyPr/>
              <a:lstStyle/>
              <a:p>
                <a:r>
                  <a:rPr lang="en-GB">
                    <a:noFill/>
                  </a:rPr>
                  <a:t> </a:t>
                </a:r>
              </a:p>
            </p:txBody>
          </p:sp>
        </mc:Fallback>
      </mc:AlternateContent>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mc:AlternateContent xmlns:mc="http://schemas.openxmlformats.org/markup-compatibility/2006">
        <mc:Choice xmlns:a14="http://schemas.microsoft.com/office/drawing/2010/main" Requires="a14">
          <p:sp>
            <p:nvSpPr>
              <p:cNvPr id="22" name="EDITABLE POWERPOINT EQUATION | Representation and adaptation"/>
              <p:cNvSpPr txBox="1"/>
              <p:nvPr/>
            </p:nvSpPr>
            <p:spPr>
              <a:xfrm>
                <a:off x="1097280" y="2798064"/>
                <a:ext cx="16111728" cy="1344168"/>
              </a:xfrm>
              <a:prstGeom prst="rect">
                <a:avLst/>
              </a:prstGeom>
              <a:no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𝜙</m:t>
                          </m:r>
                        </m:e>
                        <m:sub>
                          <m:r>
                            <a:rPr>
                              <a:latin typeface="Cambria Math" panose="02040503050406030204" pitchFamily="18" charset="0"/>
                            </a:rPr>
                            <m:t>0</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𝐸</m:t>
                          </m:r>
                        </m:e>
                        <m:sub>
                          <m:r>
                            <a:rPr>
                              <a:latin typeface="Cambria Math" panose="02040503050406030204" pitchFamily="18" charset="0"/>
                            </a:rPr>
                            <m:t>𝑡</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𝑞</m:t>
                          </m:r>
                        </m:e>
                        <m:sub>
                          <m:r>
                            <a:rPr>
                              <a:latin typeface="Cambria Math" panose="02040503050406030204" pitchFamily="18" charset="0"/>
                            </a:rPr>
                            <m:t>𝑡</m:t>
                          </m:r>
                        </m:sub>
                      </m:sSub>
                      <m:r>
                        <a:rPr>
                          <a:latin typeface="Cambria Math" panose="02040503050406030204" pitchFamily="18" charset="0"/>
                        </a:rPr>
                        <m:t> = </m:t>
                      </m:r>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𝑃</m:t>
                              </m:r>
                            </m:e>
                            <m:sub>
                              <m:r>
                                <a:rPr>
                                  <a:latin typeface="Cambria Math" panose="02040503050406030204" pitchFamily="18" charset="0"/>
                                </a:rPr>
                                <m:t>0</m:t>
                              </m:r>
                            </m:sub>
                          </m:sSub>
                        </m:e>
                        <m:sup>
                          <m:r>
                            <a:rPr>
                              <a:latin typeface="Cambria Math" panose="02040503050406030204" pitchFamily="18" charset="0"/>
                            </a:rPr>
                            <m:t>𝑇</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𝑢</m:t>
                          </m:r>
                        </m:e>
                        <m:sub>
                          <m:r>
                            <a:rPr>
                              <a:latin typeface="Cambria Math" panose="02040503050406030204" pitchFamily="18" charset="0"/>
                            </a:rPr>
                            <m:t>0</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ŷ</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𝑔</m:t>
                          </m:r>
                        </m:e>
                        <m:sub>
                          <m:sSub>
                            <m:sSubPr>
                              <m:ctrlPr>
                                <a:rPr>
                                  <a:latin typeface="Cambria Math" panose="02040503050406030204" pitchFamily="18" charset="0"/>
                                </a:rPr>
                              </m:ctrlPr>
                            </m:sSubPr>
                            <m:e>
                              <m:r>
                                <a:rPr>
                                  <a:latin typeface="Cambria Math" panose="02040503050406030204" pitchFamily="18" charset="0"/>
                                </a:rPr>
                                <m:t>𝜃</m:t>
                              </m:r>
                            </m:e>
                            <m:sub>
                              <m:r>
                                <a:rPr>
                                  <a:latin typeface="Cambria Math" panose="02040503050406030204" pitchFamily="18" charset="0"/>
                                </a:rPr>
                                <m:t>𝑡</m:t>
                              </m:r>
                            </m:sub>
                          </m:sSub>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𝑡</m:t>
                          </m:r>
                        </m:sub>
                      </m:sSub>
                      <m:r>
                        <a:rPr>
                          <a:latin typeface="Cambria Math" panose="02040503050406030204" pitchFamily="18" charset="0"/>
                        </a:rPr>
                        <m:t>)</m:t>
                      </m:r>
                    </m:oMath>
                  </m:oMathPara>
                </a14:m>
                <a:endParaRPr lang="en-GB" sz="2300">
                  <a:solidFill>
                    <a:srgbClr val="14233B"/>
                  </a:solidFill>
                </a:endParaRPr>
              </a:p>
            </p:txBody>
          </p:sp>
        </mc:Choice>
        <mc:Fallback>
          <p:sp>
            <p:nvSpPr>
              <p:cNvPr id="22" name="EDITABLE POWERPOINT EQUATION | Representation and adaptation"/>
              <p:cNvSpPr txBox="1">
                <a:spLocks noRot="1" noChangeAspect="1" noMove="1" noResize="1" noEditPoints="1" noAdjustHandles="1" noChangeArrowheads="1" noChangeShapeType="1" noTextEdit="1"/>
              </p:cNvSpPr>
              <p:nvPr/>
            </p:nvSpPr>
            <p:spPr>
              <a:xfrm>
                <a:off x="1097280" y="2798064"/>
                <a:ext cx="16111728" cy="1344168"/>
              </a:xfrm>
              <a:prstGeom prst="rect">
                <a:avLst/>
              </a:prstGeom>
              <a:blipFill>
                <a:blip r:embed="rId3"/>
                <a:stretch>
                  <a:fillRect/>
                </a:stretch>
              </a:blipFill>
            </p:spPr>
            <p:txBody>
              <a:bodyPr/>
              <a:lstStyle/>
              <a:p>
                <a:r>
                  <a:rPr lang="en-GB">
                    <a:noFill/>
                  </a:rPr>
                  <a:t> </a:t>
                </a:r>
              </a:p>
            </p:txBody>
          </p:sp>
        </mc:Fallback>
      </mc:AlternateContent>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sub>
                      </m:sSub>
                      <m:r>
                        <a:rPr>
                          <a:latin typeface="Cambria Math" panose="02040503050406030204" pitchFamily="18" charset="0"/>
                        </a:rPr>
                        <m:t> = </m:t>
                      </m:r>
                      <m:r>
                        <a:rPr>
                          <a:latin typeface="Cambria Math" panose="02040503050406030204" pitchFamily="18" charset="0"/>
                        </a:rPr>
                        <m:t>𝜆</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(1−</m:t>
                      </m:r>
                      <m:r>
                        <a:rPr>
                          <a:latin typeface="Cambria Math" panose="02040503050406030204" pitchFamily="18" charset="0"/>
                        </a:rPr>
                        <m:t>𝜆</m:t>
                      </m:r>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p:sp>
            <p:nvSpPr>
              <p:cNvPr id="26" name="EDITABLE POWERPOINT EQUATION | EWMA statistic and innovation"/>
              <p:cNvSpPr txBox="1">
                <a:spLocks noRot="1" noChangeAspect="1" noMove="1" noResize="1" noEditPoints="1" noAdjustHandles="1" noChangeArrowheads="1" noChangeShapeType="1" noTextEdit="1"/>
              </p:cNvSpPr>
              <p:nvPr/>
            </p:nvSpPr>
            <p:spPr>
              <a:xfrm>
                <a:off x="1033271" y="3749039"/>
                <a:ext cx="7406640" cy="493776"/>
              </a:xfrm>
              <a:prstGeom prst="rect">
                <a:avLst/>
              </a:prstGeom>
              <a:blipFill>
                <a:blip r:embed="rId3"/>
                <a:stretch>
                  <a:fillRect/>
                </a:stretch>
              </a:blipFill>
            </p:spPr>
            <p:txBody>
              <a:bodyPr/>
              <a:lstStyle/>
              <a:p>
                <a:r>
                  <a:rPr lang="en-GB">
                    <a:noFill/>
                  </a:rPr>
                  <a:t> </a:t>
                </a:r>
              </a:p>
            </p:txBody>
          </p:sp>
        </mc:Fallback>
      </mc:AlternateContent>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𝑈𝐶𝐿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m:t>
                      </m:r>
                      <m:sSub>
                        <m:sSubPr>
                          <m:ctrlPr>
                            <a:rPr>
                              <a:latin typeface="Cambria Math" panose="02040503050406030204" pitchFamily="18" charset="0"/>
                            </a:rPr>
                          </m:ctrlPr>
                        </m:sSubPr>
                        <m:e>
                          <m:r>
                            <a:rPr>
                              <a:latin typeface="Cambria Math" panose="02040503050406030204" pitchFamily="18" charset="0"/>
                            </a:rPr>
                            <m:t>𝐿𝐶𝐿</m:t>
                          </m:r>
                        </m:e>
                        <m:sub>
                          <m:r>
                            <a:rPr>
                              <a:latin typeface="Cambria Math" panose="02040503050406030204" pitchFamily="18" charset="0"/>
                            </a:rPr>
                            <m:t>𝑖</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𝑖</m:t>
                          </m:r>
                          <m:r>
                            <a:rPr>
                              <a:latin typeface="Cambria Math" panose="02040503050406030204" pitchFamily="18" charset="0"/>
                            </a:rPr>
                            <m:t>−1</m:t>
                          </m:r>
                        </m:sub>
                      </m:sSub>
                      <m:r>
                        <a:rPr>
                          <a:latin typeface="Cambria Math" panose="02040503050406030204" pitchFamily="18" charset="0"/>
                        </a:rPr>
                        <m:t> − </m:t>
                      </m:r>
                      <m:r>
                        <a:rPr>
                          <a:latin typeface="Cambria Math" panose="02040503050406030204" pitchFamily="18" charset="0"/>
                        </a:rPr>
                        <m:t>𝐿</m:t>
                      </m:r>
                      <m:sSub>
                        <m:sSubPr>
                          <m:ctrlPr>
                            <a:rPr>
                              <a:latin typeface="Cambria Math" panose="02040503050406030204" pitchFamily="18" charset="0"/>
                            </a:rPr>
                          </m:ctrlPr>
                        </m:sSub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Sub>
                    </m:oMath>
                  </m:oMathPara>
                </a14:m>
                <a:endParaRPr lang="en-GB" sz="1800">
                  <a:solidFill>
                    <a:srgbClr val="14233B"/>
                  </a:solidFill>
                </a:endParaRPr>
              </a:p>
            </p:txBody>
          </p:sp>
        </mc:Choice>
        <mc:Fallback>
          <p:sp>
            <p:nvSpPr>
              <p:cNvPr id="27" name="EDITABLE POWERPOINT EQUATION | EWMA upper and lower control limits"/>
              <p:cNvSpPr txBox="1">
                <a:spLocks noRot="1" noChangeAspect="1" noMove="1" noResize="1" noEditPoints="1" noAdjustHandles="1" noChangeArrowheads="1" noChangeShapeType="1" noTextEdit="1"/>
              </p:cNvSpPr>
              <p:nvPr/>
            </p:nvSpPr>
            <p:spPr>
              <a:xfrm>
                <a:off x="1033271" y="5193792"/>
                <a:ext cx="8641080" cy="484632"/>
              </a:xfrm>
              <a:prstGeom prst="rect">
                <a:avLst/>
              </a:prstGeom>
              <a:blipFill>
                <a:blip r:embed="rId4"/>
                <a:stretch>
                  <a:fillRect/>
                </a:stretch>
              </a:blipFill>
            </p:spPr>
            <p:txBody>
              <a:bodyPr/>
              <a:lstStyle/>
              <a:p>
                <a:r>
                  <a:rPr lang="en-GB">
                    <a:noFill/>
                  </a:rPr>
                  <a:t> </a:t>
                </a:r>
              </a:p>
            </p:txBody>
          </p:sp>
        </mc:Fallback>
      </mc:AlternateContent>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𝑒</m:t>
                              </m:r>
                            </m:e>
                            <m:sub>
                              <m:r>
                                <a:rPr>
                                  <a:latin typeface="Cambria Math" panose="02040503050406030204" pitchFamily="18" charset="0"/>
                                </a:rPr>
                                <m:t>𝑖</m:t>
                              </m:r>
                            </m:sub>
                          </m:sSub>
                        </m:e>
                        <m:sup>
                          <m:r>
                            <a:rPr>
                              <a:latin typeface="Cambria Math" panose="02040503050406030204" pitchFamily="18" charset="0"/>
                            </a:rPr>
                            <m:t>2</m:t>
                          </m:r>
                        </m:sup>
                      </m:sSup>
                      <m:r>
                        <a:rPr>
                          <a:latin typeface="Cambria Math" panose="02040503050406030204" pitchFamily="18" charset="0"/>
                        </a:rPr>
                        <m:t> + (1−</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𝑣</m:t>
                          </m:r>
                        </m:sub>
                      </m:sSub>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𝜎</m:t>
                          </m:r>
                        </m:e>
                        <m:sub>
                          <m:r>
                            <a:rPr>
                              <a:latin typeface="Cambria Math" panose="02040503050406030204" pitchFamily="18" charset="0"/>
                            </a:rPr>
                            <m:t>𝑒</m:t>
                          </m:r>
                          <m:r>
                            <a:rPr>
                              <a:latin typeface="Cambria Math" panose="02040503050406030204" pitchFamily="18" charset="0"/>
                            </a:rPr>
                            <m:t>,</m:t>
                          </m:r>
                          <m:r>
                            <a:rPr>
                              <a:latin typeface="Cambria Math" panose="02040503050406030204" pitchFamily="18" charset="0"/>
                            </a:rPr>
                            <m:t>𝑖</m:t>
                          </m:r>
                          <m:r>
                            <a:rPr>
                              <a:latin typeface="Cambria Math" panose="02040503050406030204" pitchFamily="18" charset="0"/>
                            </a:rPr>
                            <m:t>−1</m:t>
                          </m:r>
                        </m:sub>
                        <m:sup>
                          <m:r>
                            <a:rPr>
                              <a:latin typeface="Cambria Math" panose="02040503050406030204" pitchFamily="18" charset="0"/>
                            </a:rPr>
                            <m:t>2</m:t>
                          </m:r>
                        </m:sup>
                      </m:sSubSup>
                    </m:oMath>
                  </m:oMathPara>
                </a14:m>
                <a:endParaRPr lang="en-GB" sz="1800">
                  <a:solidFill>
                    <a:srgbClr val="14233B"/>
                  </a:solidFill>
                </a:endParaRPr>
              </a:p>
            </p:txBody>
          </p:sp>
        </mc:Choice>
        <mc:Fallback>
          <p:sp>
            <p:nvSpPr>
              <p:cNvPr id="28" name="EDITABLE POWERPOINT EQUATION | Variance EWMA recurrence"/>
              <p:cNvSpPr txBox="1">
                <a:spLocks noRot="1" noChangeAspect="1" noMove="1" noResize="1" noEditPoints="1" noAdjustHandles="1" noChangeArrowheads="1" noChangeShapeType="1" noTextEdit="1"/>
              </p:cNvSpPr>
              <p:nvPr/>
            </p:nvSpPr>
            <p:spPr>
              <a:xfrm>
                <a:off x="1033271" y="6556248"/>
                <a:ext cx="5513832" cy="640080"/>
              </a:xfrm>
              <a:prstGeom prst="rect">
                <a:avLst/>
              </a:prstGeom>
              <a:blipFill>
                <a:blip r:embed="rId5"/>
                <a:stretch>
                  <a:fillRect/>
                </a:stretch>
              </a:blipFill>
            </p:spPr>
            <p:txBody>
              <a:bodyPr/>
              <a:lstStyle/>
              <a:p>
                <a:r>
                  <a:rPr lang="en-GB">
                    <a:noFill/>
                  </a:rPr>
                  <a:t> </a:t>
                </a:r>
              </a:p>
            </p:txBody>
          </p:sp>
        </mc:Fallback>
      </mc:AlternateContent>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000">
                  <a:solidFill>
                    <a:srgbClr val="14233B"/>
                  </a:solidFill>
                </a:endParaRPr>
              </a:p>
            </p:txBody>
          </p:sp>
        </mc:Choice>
        <mc:Fallback>
          <p:sp>
            <p:nvSpPr>
              <p:cNvPr id="29" name="EDITABLE POWERPOINT EQUATION | Two-sample Hotelling T squared"/>
              <p:cNvSpPr txBox="1">
                <a:spLocks noRot="1" noChangeAspect="1" noMove="1" noResize="1" noEditPoints="1" noAdjustHandles="1" noChangeArrowheads="1" noChangeShapeType="1" noTextEdit="1"/>
              </p:cNvSpPr>
              <p:nvPr/>
            </p:nvSpPr>
            <p:spPr>
              <a:xfrm>
                <a:off x="10085832" y="3977639"/>
                <a:ext cx="6620256" cy="676656"/>
              </a:xfrm>
              <a:prstGeom prst="rect">
                <a:avLst/>
              </a:prstGeom>
              <a:blipFill>
                <a:blip r:embed="rId6"/>
                <a:stretch>
                  <a:fillRect/>
                </a:stretch>
              </a:blipFill>
            </p:spPr>
            <p:txBody>
              <a:bodyPr/>
              <a:lstStyle/>
              <a:p>
                <a:r>
                  <a:rPr lang="en-GB">
                    <a:noFill/>
                  </a:rPr>
                  <a:t> </a:t>
                </a:r>
              </a:p>
            </p:txBody>
          </p:sp>
        </mc:Fallback>
      </mc:AlternateContent>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𝑝</m:t>
                      </m:r>
                      <m:r>
                        <a:rPr>
                          <a:latin typeface="Cambria Math" panose="02040503050406030204" pitchFamily="18" charset="0"/>
                        </a:rPr>
                        <m:t> &lt; </m:t>
                      </m:r>
                      <m:sSub>
                        <m:sSubPr>
                          <m:ctrlPr>
                            <a:rPr>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𝑡𝑒𝑠𝑡</m:t>
                          </m:r>
                        </m:sub>
                      </m:sSub>
                      <m:r>
                        <a:rPr>
                          <a:latin typeface="Cambria Math" panose="02040503050406030204" pitchFamily="18" charset="0"/>
                        </a:rPr>
                        <m:t>,     2</m:t>
                      </m:r>
                      <m:r>
                        <a:rPr>
                          <a:latin typeface="Cambria Math" panose="02040503050406030204" pitchFamily="18" charset="0"/>
                        </a:rPr>
                        <m:t>𝐻</m:t>
                      </m:r>
                      <m:r>
                        <a:rPr>
                          <a:latin typeface="Cambria Math" panose="02040503050406030204" pitchFamily="18" charset="0"/>
                        </a:rPr>
                        <m:t> − </m:t>
                      </m:r>
                      <m:r>
                        <a:rPr>
                          <a:latin typeface="Cambria Math" panose="02040503050406030204" pitchFamily="18" charset="0"/>
                        </a:rPr>
                        <m:t>𝑑</m:t>
                      </m:r>
                      <m:r>
                        <a:rPr>
                          <a:latin typeface="Cambria Math" panose="02040503050406030204" pitchFamily="18" charset="0"/>
                        </a:rPr>
                        <m:t> − 1 &gt; 0</m:t>
                      </m:r>
                    </m:oMath>
                  </m:oMathPara>
                </a14:m>
                <a:endParaRPr lang="en-GB" sz="1800">
                  <a:solidFill>
                    <a:srgbClr val="14233B"/>
                  </a:solidFill>
                </a:endParaRPr>
              </a:p>
            </p:txBody>
          </p:sp>
        </mc:Choice>
        <mc:Fallback>
          <p:sp>
            <p:nvSpPr>
              <p:cNvPr id="30" name="EDITABLE POWERPOINT EQUATION | Detection threshold and degrees of freedom"/>
              <p:cNvSpPr txBox="1">
                <a:spLocks noRot="1" noChangeAspect="1" noMove="1" noResize="1" noEditPoints="1" noAdjustHandles="1" noChangeArrowheads="1" noChangeShapeType="1" noTextEdit="1"/>
              </p:cNvSpPr>
              <p:nvPr/>
            </p:nvSpPr>
            <p:spPr>
              <a:xfrm>
                <a:off x="10149840" y="5843016"/>
                <a:ext cx="5660136" cy="512064"/>
              </a:xfrm>
              <a:prstGeom prst="rect">
                <a:avLst/>
              </a:prstGeom>
              <a:blipFill>
                <a:blip r:embed="rId7"/>
                <a:stretch>
                  <a:fillRect/>
                </a:stretch>
              </a:blipFill>
            </p:spPr>
            <p:txBody>
              <a:bodyPr/>
              <a:lstStyle/>
              <a:p>
                <a:r>
                  <a:rPr lang="en-GB">
                    <a:noFill/>
                  </a:rPr>
                  <a:t> </a:t>
                </a:r>
              </a:p>
            </p:txBody>
          </p:sp>
        </mc:Fallback>
      </mc:AlternateContent>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mc:AlternateContent xmlns:mc="http://schemas.openxmlformats.org/markup-compatibility/2006">
        <mc:Choice xmlns:a14="http://schemas.microsoft.com/office/drawing/2010/main" Requires="a14">
          <p:sp>
            <p:nvSpPr>
              <p:cNvPr id="12" name="EDITABLE POWERPOINT EQUATION | One-sample online T squared"/>
              <p:cNvSpPr txBox="1"/>
              <p:nvPr/>
            </p:nvSpPr>
            <p:spPr>
              <a:xfrm>
                <a:off x="1234440" y="3502152"/>
                <a:ext cx="6364224" cy="886968"/>
              </a:xfrm>
              <a:prstGeom prst="rect">
                <a:avLst/>
              </a:prstGeom>
              <a:noFill/>
            </p:spPr>
            <p:txBody>
              <a:bodyPr wrap="none" lIns="0" tIns="0" rIns="0" bIns="0" anchor="ctr">
                <a:spAutoFit/>
              </a:bodyPr>
              <a:lstStyle/>
              <a:p>
                <a:pPr algn="ctr"/>
                <a14:m>
                  <m:oMathPara xmlns:m="http://schemas.openxmlformats.org/officeDocument/2006/math">
                    <m:oMath>
                      <m:sSubSup>
                        <m:sSubSupPr>
                          <m:ctrlPr>
                            <a:rPr>
                              <a:latin typeface="Cambria Math" panose="02040503050406030204" pitchFamily="18" charset="0"/>
                            </a:rPr>
                          </m:ctrlPr>
                        </m:sSubSupPr>
                        <m:e>
                          <m:r>
                            <a:rPr>
                              <a:latin typeface="Cambria Math" panose="02040503050406030204" pitchFamily="18" charset="0"/>
                            </a:rPr>
                            <m:t>𝑇</m:t>
                          </m:r>
                        </m:e>
                        <m:sub>
                          <m:r>
                            <a:rPr>
                              <a:latin typeface="Cambria Math" panose="02040503050406030204" pitchFamily="18" charset="0"/>
                            </a:rPr>
                            <m:t>𝑡</m:t>
                          </m:r>
                        </m:sub>
                        <m:sup>
                          <m:r>
                            <a:rPr>
                              <a:latin typeface="Cambria Math" panose="02040503050406030204" pitchFamily="18" charset="0"/>
                            </a:rPr>
                            <m:t>2</m:t>
                          </m:r>
                        </m:sup>
                      </m:sSubSup>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𝛴</m:t>
                              </m:r>
                            </m:e>
                            <m:sub>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𝑡</m:t>
                              </m:r>
                            </m:sub>
                          </m:sSub>
                        </m:e>
                        <m:sup>
                          <m:r>
                            <a:rPr>
                              <a:latin typeface="Cambria Math" panose="02040503050406030204" pitchFamily="18" charset="0"/>
                            </a:rPr>
                            <m:t>−1</m:t>
                          </m:r>
                        </m:sup>
                      </m:sSup>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𝑧</m:t>
                          </m:r>
                        </m:e>
                        <m:sub>
                          <m:r>
                            <a:rPr>
                              <a:latin typeface="Cambria Math" panose="02040503050406030204" pitchFamily="18" charset="0"/>
                            </a:rPr>
                            <m:t>𝑡</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𝜇</m:t>
                          </m:r>
                        </m:e>
                        <m:sub>
                          <m:r>
                            <a:rPr>
                              <a:latin typeface="Cambria Math" panose="02040503050406030204" pitchFamily="18" charset="0"/>
                            </a:rPr>
                            <m:t>0</m:t>
                          </m:r>
                        </m:sub>
                      </m:sSub>
                      <m:r>
                        <a:rPr>
                          <a:latin typeface="Cambria Math" panose="02040503050406030204" pitchFamily="18" charset="0"/>
                        </a:rPr>
                        <m:t>)</m:t>
                      </m:r>
                    </m:oMath>
                  </m:oMathPara>
                </a14:m>
                <a:endParaRPr lang="en-GB" sz="2600">
                  <a:solidFill>
                    <a:srgbClr val="14233B"/>
                  </a:solidFill>
                </a:endParaRPr>
              </a:p>
            </p:txBody>
          </p:sp>
        </mc:Choice>
        <mc:Fallback>
          <p:sp>
            <p:nvSpPr>
              <p:cNvPr id="12" name="EDITABLE POWERPOINT EQUATION | One-sample online T squared"/>
              <p:cNvSpPr txBox="1">
                <a:spLocks noRot="1" noChangeAspect="1" noMove="1" noResize="1" noEditPoints="1" noAdjustHandles="1" noChangeArrowheads="1" noChangeShapeType="1" noTextEdit="1"/>
              </p:cNvSpPr>
              <p:nvPr/>
            </p:nvSpPr>
            <p:spPr>
              <a:xfrm>
                <a:off x="1234440" y="3502152"/>
                <a:ext cx="6364224" cy="88696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mc:AlternateContent xmlns:mc="http://schemas.openxmlformats.org/markup-compatibility/2006">
        <mc:Choice xmlns:a14="http://schemas.microsoft.com/office/drawing/2010/main" Requires="a14">
          <p:sp>
            <p:nvSpPr>
              <p:cNvPr id="13" name="EDITABLE POWERPOINT EQUATION | Pooled two-sample Hotelling"/>
              <p:cNvSpPr txBox="1"/>
              <p:nvPr/>
            </p:nvSpPr>
            <p:spPr>
              <a:xfrm>
                <a:off x="1234440" y="6035040"/>
                <a:ext cx="7872983" cy="960120"/>
              </a:xfrm>
              <a:prstGeom prst="rect">
                <a:avLst/>
              </a:prstGeom>
              <a:noFill/>
            </p:spPr>
            <p:txBody>
              <a:bodyPr wrap="none" lIns="0" tIns="0" rIns="0" bIns="0" anchor="ctr">
                <a:spAutoFit/>
              </a:bodyPr>
              <a:lstStyle/>
              <a:p>
                <a:pPr algn="ctr"/>
                <a14:m>
                  <m:oMathPara xmlns:m="http://schemas.openxmlformats.org/officeDocument/2006/math">
                    <m:oMath>
                      <m:sSup>
                        <m:sSupPr>
                          <m:ctrlPr>
                            <a:rPr>
                              <a:latin typeface="Cambria Math" panose="02040503050406030204" pitchFamily="18" charset="0"/>
                            </a:rPr>
                          </m:ctrlPr>
                        </m:sSupPr>
                        <m:e>
                          <m:r>
                            <a:rPr>
                              <a:latin typeface="Cambria Math" panose="02040503050406030204" pitchFamily="18" charset="0"/>
                            </a:rPr>
                            <m:t>𝑇</m:t>
                          </m:r>
                        </m:e>
                        <m:sup>
                          <m:r>
                            <a:rPr>
                              <a:latin typeface="Cambria Math" panose="02040503050406030204" pitchFamily="18" charset="0"/>
                            </a:rPr>
                            <m:t>2</m:t>
                          </m:r>
                        </m:sup>
                      </m:sSup>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r>
                            <a:rPr>
                              <a:latin typeface="Cambria Math" panose="02040503050406030204" pitchFamily="18" charset="0"/>
                            </a:rPr>
                            <m:t> + </m:t>
                          </m:r>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i="1">
                              <a:latin typeface="Cambria Math" panose="02040503050406030204" pitchFamily="18" charset="0"/>
                            </a:rPr>
                          </m:ctrlPr>
                        </m:sSupPr>
                        <m:e>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𝑝</m:t>
                              </m:r>
                            </m:sub>
                          </m:sSub>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2800">
                  <a:solidFill>
                    <a:srgbClr val="14233B"/>
                  </a:solidFill>
                </a:endParaRPr>
              </a:p>
            </p:txBody>
          </p:sp>
        </mc:Choice>
        <mc:Fallback>
          <p:sp>
            <p:nvSpPr>
              <p:cNvPr id="13" name="EDITABLE POWERPOINT EQUATION | Pooled two-sample Hotelling"/>
              <p:cNvSpPr txBox="1">
                <a:spLocks noRot="1" noChangeAspect="1" noMove="1" noResize="1" noEditPoints="1" noAdjustHandles="1" noChangeArrowheads="1" noChangeShapeType="1" noTextEdit="1"/>
              </p:cNvSpPr>
              <p:nvPr/>
            </p:nvSpPr>
            <p:spPr>
              <a:xfrm>
                <a:off x="1234440" y="6035040"/>
                <a:ext cx="7872983" cy="960120"/>
              </a:xfrm>
              <a:prstGeom prst="rect">
                <a:avLst/>
              </a:prstGeom>
              <a:blipFill>
                <a:blip r:embed="rId4"/>
                <a:stretch>
                  <a:fillRect/>
                </a:stretch>
              </a:blipFill>
            </p:spPr>
            <p:txBody>
              <a:bodyPr/>
              <a:lstStyle/>
              <a:p>
                <a:r>
                  <a:rPr lang="en-GB">
                    <a:noFill/>
                  </a:rPr>
                  <a:t> </a:t>
                </a:r>
              </a:p>
            </p:txBody>
          </p:sp>
        </mc:Fallback>
      </mc:AlternateContent>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mc:AlternateContent xmlns:mc="http://schemas.openxmlformats.org/markup-compatibility/2006">
        <mc:Choice xmlns:a14="http://schemas.microsoft.com/office/drawing/2010/main" Requires="a14">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tIns="0" rIns="0" bIns="0" anchor="ctr">
                <a:spAutoFit/>
              </a:bodyPr>
              <a:lstStyle/>
              <a:p>
                <a:pPr algn="ctr"/>
                <a14:m>
                  <m:oMathPara xmlns:m="http://schemas.openxmlformats.org/officeDocument/2006/math">
                    <m:oMath>
                      <m:r>
                        <a:rPr>
                          <a:latin typeface="Cambria Math" panose="02040503050406030204" pitchFamily="18" charset="0"/>
                        </a:rPr>
                        <m:t>𝑄</m:t>
                      </m:r>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𝑇</m:t>
                          </m:r>
                        </m:sup>
                      </m:sSup>
                      <m:sSup>
                        <m:sSupPr>
                          <m:ctrlPr>
                            <a:rPr>
                              <a:latin typeface="Cambria Math" panose="02040503050406030204" pitchFamily="18" charset="0"/>
                            </a:rPr>
                          </m:ctrlPr>
                        </m:sSupPr>
                        <m:e>
                          <m:r>
                            <a:rPr>
                              <a:latin typeface="Cambria Math" panose="02040503050406030204" pitchFamily="18" charset="0"/>
                            </a:rPr>
                            <m:t>(</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1</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1</m:t>
                                  </m:r>
                                </m:sub>
                              </m:sSub>
                            </m:den>
                          </m:f>
                          <m:r>
                            <a:rPr>
                              <a:latin typeface="Cambria Math" panose="02040503050406030204" pitchFamily="18" charset="0"/>
                            </a:rPr>
                            <m:t> + </m:t>
                          </m:r>
                          <m:f>
                            <m:fPr>
                              <m:ctrlPr>
                                <a:rPr i="1">
                                  <a:latin typeface="Cambria Math" panose="02040503050406030204" pitchFamily="18" charset="0"/>
                                </a:rPr>
                              </m:ctrlPr>
                            </m:fPr>
                            <m:num>
                              <m:sSub>
                                <m:sSubPr>
                                  <m:ctrlPr>
                                    <a:rPr>
                                      <a:latin typeface="Cambria Math" panose="02040503050406030204" pitchFamily="18" charset="0"/>
                                    </a:rPr>
                                  </m:ctrlPr>
                                </m:sSubPr>
                                <m:e>
                                  <m:r>
                                    <a:rPr>
                                      <a:latin typeface="Cambria Math" panose="02040503050406030204" pitchFamily="18" charset="0"/>
                                    </a:rPr>
                                    <m:t>𝑆</m:t>
                                  </m:r>
                                </m:e>
                                <m:sub>
                                  <m:r>
                                    <a:rPr>
                                      <a:latin typeface="Cambria Math" panose="02040503050406030204" pitchFamily="18" charset="0"/>
                                    </a:rPr>
                                    <m:t>2</m:t>
                                  </m:r>
                                </m:sub>
                              </m:sSub>
                            </m:num>
                            <m:den>
                              <m:sSub>
                                <m:sSubPr>
                                  <m:ctrlPr>
                                    <a:rPr>
                                      <a:latin typeface="Cambria Math" panose="02040503050406030204" pitchFamily="18" charset="0"/>
                                    </a:rPr>
                                  </m:ctrlPr>
                                </m:sSubPr>
                                <m:e>
                                  <m:r>
                                    <a:rPr>
                                      <a:latin typeface="Cambria Math" panose="02040503050406030204" pitchFamily="18" charset="0"/>
                                    </a:rPr>
                                    <m:t>𝑛</m:t>
                                  </m:r>
                                </m:e>
                                <m:sub>
                                  <m:r>
                                    <a:rPr>
                                      <a:latin typeface="Cambria Math" panose="02040503050406030204" pitchFamily="18" charset="0"/>
                                    </a:rPr>
                                    <m:t>2</m:t>
                                  </m:r>
                                </m:sub>
                              </m:sSub>
                            </m:den>
                          </m:f>
                          <m:r>
                            <a:rPr>
                              <a:latin typeface="Cambria Math" panose="02040503050406030204" pitchFamily="18" charset="0"/>
                            </a:rPr>
                            <m:t>)</m:t>
                          </m:r>
                        </m:e>
                        <m:sup>
                          <m:r>
                            <a:rPr>
                              <a:latin typeface="Cambria Math" panose="02040503050406030204" pitchFamily="18" charset="0"/>
                            </a:rPr>
                            <m:t>−1</m:t>
                          </m:r>
                        </m:sup>
                      </m:sSup>
                      <m:r>
                        <a:rPr>
                          <a:latin typeface="Cambria Math" panose="02040503050406030204" pitchFamily="18" charset="0"/>
                        </a:rPr>
                        <m:t>(</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e>
                      </m:acc>
                      <m:r>
                        <a:rPr>
                          <a:latin typeface="Cambria Math" panose="02040503050406030204" pitchFamily="18" charset="0"/>
                        </a:rPr>
                        <m:t> − </m:t>
                      </m:r>
                      <m:acc>
                        <m:accPr>
                          <m:chr m:val="̄"/>
                          <m:ctrlPr>
                            <a:rPr i="1">
                              <a:latin typeface="Cambria Math" panose="02040503050406030204" pitchFamily="18" charset="0"/>
                            </a:rPr>
                          </m:ctrlPr>
                        </m:accPr>
                        <m:e>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2</m:t>
                              </m:r>
                            </m:sub>
                          </m:sSub>
                        </m:e>
                      </m:acc>
                      <m:r>
                        <a:rPr>
                          <a:latin typeface="Cambria Math" panose="02040503050406030204" pitchFamily="18" charset="0"/>
                        </a:rPr>
                        <m:t>)</m:t>
                      </m:r>
                    </m:oMath>
                  </m:oMathPara>
                </a14:m>
                <a:endParaRPr lang="en-GB" sz="3000">
                  <a:solidFill>
                    <a:srgbClr val="14233B"/>
                  </a:solidFill>
                </a:endParaRPr>
              </a:p>
            </p:txBody>
          </p:sp>
        </mc:Choice>
        <mc:Fallback>
          <p:sp>
            <p:nvSpPr>
              <p:cNvPr id="10" name="EDITABLE POWERPOINT EQUATION | Unpooled covariance weighted mean difference"/>
              <p:cNvSpPr txBox="1">
                <a:spLocks noRot="1" noChangeAspect="1" noMove="1" noResize="1" noEditPoints="1" noAdjustHandles="1" noChangeArrowheads="1" noChangeShapeType="1" noTextEdit="1"/>
              </p:cNvSpPr>
              <p:nvPr/>
            </p:nvSpPr>
            <p:spPr>
              <a:xfrm>
                <a:off x="1234440" y="3429000"/>
                <a:ext cx="8257031" cy="1024128"/>
              </a:xfrm>
              <a:prstGeom prst="rect">
                <a:avLst/>
              </a:prstGeom>
              <a:blipFill>
                <a:blip r:embed="rId3"/>
                <a:stretch>
                  <a:fillRect/>
                </a:stretch>
              </a:blipFill>
            </p:spPr>
            <p:txBody>
              <a:bodyPr/>
              <a:lstStyle/>
              <a:p>
                <a:r>
                  <a:rPr lang="en-GB">
                    <a:noFill/>
                  </a:rPr>
                  <a:t> </a:t>
                </a:r>
              </a:p>
            </p:txBody>
          </p:sp>
        </mc:Fallback>
      </mc:AlternateContent>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mc:AlternateContent xmlns:mc="http://schemas.openxmlformats.org/markup-compatibility/2006">
        <mc:Choice xmlns:a14="http://schemas.microsoft.com/office/drawing/2010/main" Requires="a14">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tIns="0" rIns="0" bIns="0" anchor="ctr">
                <a:spAutoFit/>
              </a:bodyPr>
              <a:lstStyle/>
              <a:p>
                <a:pPr algn="ctr"/>
                <a14:m>
                  <m:oMathPara xmlns:m="http://schemas.openxmlformats.org/officeDocument/2006/math">
                    <m:oMath>
                      <m:sSub>
                        <m:sSubPr>
                          <m:ctrlPr>
                            <a:rPr>
                              <a:latin typeface="Cambria Math" panose="02040503050406030204" pitchFamily="18" charset="0"/>
                            </a:rPr>
                          </m:ctrlPr>
                        </m:sSubPr>
                        <m:e>
                          <m:r>
                            <a:rPr>
                              <a:latin typeface="Cambria Math" panose="02040503050406030204" pitchFamily="18" charset="0"/>
                            </a:rPr>
                            <m:t>𝑄</m:t>
                          </m:r>
                        </m:e>
                        <m:sub>
                          <m:r>
                            <a:rPr>
                              <a:latin typeface="Cambria Math" panose="02040503050406030204" pitchFamily="18" charset="0"/>
                            </a:rPr>
                            <m:t>𝑡</m:t>
                          </m:r>
                        </m:sub>
                      </m:sSub>
                      <m:r>
                        <a:rPr>
                          <a:latin typeface="Cambria Math" panose="02040503050406030204" pitchFamily="18" charset="0"/>
                        </a:rPr>
                        <m:t> = </m:t>
                      </m:r>
                      <m:r>
                        <a:rPr>
                          <a:latin typeface="Cambria Math" panose="02040503050406030204" pitchFamily="18" charset="0"/>
                        </a:rPr>
                        <m:t>𝑑</m:t>
                      </m:r>
                      <m:sSub>
                        <m:sSubPr>
                          <m:ctrlPr>
                            <a:rPr>
                              <a:latin typeface="Cambria Math" panose="02040503050406030204" pitchFamily="18" charset="0"/>
                            </a:rPr>
                          </m:ctrlPr>
                        </m:sSubPr>
                        <m:e>
                          <m:r>
                            <a:rPr>
                              <a:latin typeface="Cambria Math" panose="02040503050406030204" pitchFamily="18" charset="0"/>
                            </a:rPr>
                            <m:t>𝐿</m:t>
                          </m:r>
                        </m:e>
                        <m:sub>
                          <m:r>
                            <a:rPr>
                              <a:latin typeface="Cambria Math" panose="02040503050406030204" pitchFamily="18" charset="0"/>
                            </a:rPr>
                            <m:t>𝑡</m:t>
                          </m:r>
                        </m:sub>
                      </m:sSub>
                    </m:oMath>
                  </m:oMathPara>
                </a14:m>
                <a:endParaRPr lang="en-GB" sz="1800">
                  <a:solidFill>
                    <a:srgbClr val="075F57"/>
                  </a:solidFill>
                </a:endParaRPr>
              </a:p>
            </p:txBody>
          </p:sp>
        </mc:Choice>
        <mc:Fallback>
          <p:sp>
            <p:nvSpPr>
              <p:cNvPr id="22" name="EDITABLE POWERPOINT EQUATION | CUSUM auxiliary quantity"/>
              <p:cNvSpPr txBox="1">
                <a:spLocks noRot="1" noChangeAspect="1" noMove="1" noResize="1" noEditPoints="1" noAdjustHandles="1" noChangeArrowheads="1" noChangeShapeType="1" noTextEdit="1"/>
              </p:cNvSpPr>
              <p:nvPr/>
            </p:nvSpPr>
            <p:spPr>
              <a:xfrm>
                <a:off x="14785848" y="8732520"/>
                <a:ext cx="1216152" cy="365760"/>
              </a:xfrm>
              <a:prstGeom prst="rect">
                <a:avLst/>
              </a:prstGeom>
              <a:blipFill>
                <a:blip r:embed="rId3"/>
                <a:stretch>
                  <a:fillRect l="-1508" b="-10000"/>
                </a:stretch>
              </a:blipFill>
            </p:spPr>
            <p:txBody>
              <a:bodyPr/>
              <a:lstStyle/>
              <a:p>
                <a:r>
                  <a:rPr lang="en-GB">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TotalTime>
  <Words>9563</Words>
  <Application>Microsoft Office PowerPoint</Application>
  <PresentationFormat>Custom</PresentationFormat>
  <Paragraphs>1127</Paragraphs>
  <Slides>45</Slides>
  <Notes>35</Notes>
  <HiddenSlides>0</HiddenSlides>
  <MMClips>0</MMClips>
  <ScaleCrop>false</ScaleCrop>
  <HeadingPairs>
    <vt:vector size="6" baseType="variant">
      <vt:variant>
        <vt:lpstr>Fonts Used</vt:lpstr>
      </vt:variant>
      <vt:variant>
        <vt:i4>18</vt:i4>
      </vt:variant>
      <vt:variant>
        <vt:lpstr>Theme</vt:lpstr>
      </vt:variant>
      <vt:variant>
        <vt:i4>1</vt:i4>
      </vt:variant>
      <vt:variant>
        <vt:lpstr>Slide Titles</vt:lpstr>
      </vt:variant>
      <vt:variant>
        <vt:i4>45</vt:i4>
      </vt:variant>
    </vt:vector>
  </HeadingPairs>
  <TitlesOfParts>
    <vt:vector size="64" baseType="lpstr">
      <vt:lpstr>Calibri (MS) Bold</vt:lpstr>
      <vt:lpstr>Roboto</vt:lpstr>
      <vt:lpstr>DejaVu Sans Bold</vt:lpstr>
      <vt:lpstr>Calibri (MS)</vt:lpstr>
      <vt:lpstr>DejaVu Sans Light</vt:lpstr>
      <vt:lpstr>Inter Semi-Bold</vt:lpstr>
      <vt:lpstr>Inter</vt:lpstr>
      <vt:lpstr>Inter Bold</vt:lpstr>
      <vt:lpstr>Aptos Bold</vt:lpstr>
      <vt:lpstr>Cambria Math</vt:lpstr>
      <vt:lpstr>Consolas</vt:lpstr>
      <vt:lpstr>Calibri (MS) Italics</vt:lpstr>
      <vt:lpstr>Inter Medium</vt:lpstr>
      <vt:lpstr>Roboto Bold</vt:lpstr>
      <vt:lpstr>Calibri</vt:lpstr>
      <vt:lpstr>Inter Italics</vt:lpstr>
      <vt:lpstr>Arial</vt:lpstr>
      <vt:lpstr>Aptos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2026-10-15T20:24:39Z</dcterms:modified>
  <dc:identifier>DAHYBaR-K0c</dc:identifier>
</cp:coreProperties>
</file>