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5" r:id="rId9"/>
    <p:sldId id="263" r:id="rId10"/>
    <p:sldId id="264" r:id="rId11"/>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Updated evidence includes complementary 20-seed and 100-seed synthetic experiments and a magnitude-6 comparison. Stored results are an evidence snapshot, not proof that every output was regenerated at this commit.</a:t>
            </a:r>
          </a:p>
          <a:p>
            <a:r>
              <a:t/>
            </a: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current pipeline covers CSE reconstruction, separate supervised and bagging components, and complementary score/residual monitoring. Full CSE-UAEL integration remains open. The listed session splits describe Table-I CSE, not the separate classifier benchmark.</a:t>
            </a:r>
          </a:p>
          <a:p>
            <a:r>
              <a:t/>
            </a: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Literature chain: Raza et al. (2015), EWMA model based shift-detection methods; Chowdhury et al. (2018), Online Covariate Shift Detection-Based Adaptive Brain–Computer Interface to Trigger Hand Exoskeleton Feedback for Neuro-Rehabilitation; Raza et al. (2019), Covariate shift estimation based adaptive ensemble learning; Rao (2013), Brain–Computer Interfacing; Heyden et al. (2024), ABCD; Alippi et al. (2017), Hierarchical Change-Detection Tests. Chowdhury uses CSP features from μ/β bands and linear SVM. It should not be conflated with the 2019 ten-band FBCSP implementation. HCDT is related literature, not an assertion that the ICI-CDT baseline is the same algorithm.</a:t>
            </a:r>
          </a:p>
          <a:p>
            <a:r>
              <a:t/>
            </a: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Main BCI CSE path: ten-band FBCSP, training-fitted PCA, PC1 EWMA warning and multivariate Hotelling validation. Stage II has three explicit modes. K–S and ICI-CDT support 2015 D2 comparisons. Complementary monitoring is an experimental Stage-I route. Supervised adaptation exists separately, while PWKNN pseudo-labelling, dynamic LDA ensemble growth and weighted classification remain unintegrated.</a:t>
            </a:r>
          </a:p>
          <a:p>
            <a:r>
              <a:t/>
            </a: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a:p>
            <a:r>
              <a:t>https://github.com/hlin863/ewma_covariate_shift_demo/blob/a3271c24b2aefebeaa45ca805536a6a76c17d0e6/src/adaptation/supervised.py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CSE uses the Session-I (2A) and Sessions-I–III (2B) development pools with stratified 70/30 splitting before feature fitting. The paper does not report exact partition membership or seed. Published lambda overrides remain the default Table-I runner choice. The classifier benchmark has a separate protocol: 2A fits Session I and tests II; stored 2B metrics use I–II fitting and Session III GDF-only holdout. Optional released-label 2B evaluation is not the source of the shown benchmark numbers.</a:t>
            </a:r>
          </a:p>
          <a:p>
            <a:r>
              <a:t/>
            </a: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https://github.com/hlin863/ewma_covariate_shift_demo/blob/a3271c24b2aefebeaa45ca805536a6a76c17d0e6/src/adaptation/experiments/bagging_bci.py</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Classifier accuracies are unweighted means of nine subject accuracies per dataset, calculated from bagging_bci_real.csv. Changes are percentage points using unrounded values. Bagging uses 30 linear SVM members and sample fraction 0.8. No statistical significance or universal gain is claimed.</a:t>
            </a:r>
          </a:p>
          <a:p>
            <a:r>
              <a:t>Synthetic table: outputs/complementary_100/summary.csv, 100 seeds, alpha 0.01, lambda 0.2, magnitude 3, detection horizon 20. Detection means at least one alarm within the 20-sample post-shift window. No-shift matched-window alarm rates are 21% score, 21% residual, 26% combined; full no-shift per-sample rates are 0.991%, 1.052%, 1.060%. This prevents interpreting the 1% calibration alpha as a 1% window-level rate. Magnitude-6 PC1 detection: score 88%, residual 21%, combined 82%. These controlled synthetic results do not establish real EEG shift-detection accuracy.</a:t>
            </a:r>
          </a:p>
          <a:p>
            <a:r>
              <a:t>The committed pytest report dates to 22 September and contains 216 tests with one path-format assertion failure. It is not current-HEAD verification.</a:t>
            </a:r>
          </a:p>
          <a:p>
            <a:r>
              <a:t/>
            </a:r>
          </a:p>
          <a:p>
            <a:r>
              <a:t>Repository snapshot: a3271c2, 30 September 2026.</a:t>
            </a:r>
          </a:p>
          <a:p>
            <a:r>
              <a:t>https://github.com/hlin863/ewma_covariate_shift_demo/blob/a3271c24b2aefebeaa45ca805536a6a76c17d0e6/outputs/metrics/bagging_bci_real.csv</a:t>
            </a:r>
          </a:p>
          <a:p>
            <a:r>
              <a:t>https://github.com/hlin863/ewma_covariate_shift_demo/blob/a3271c24b2aefebeaa45ca805536a6a76c17d0e6/outputs/complementary_100/summary.csv</a:t>
            </a:r>
          </a:p>
          <a:p>
            <a:r>
              <a:t>https://github.com/hlin863/ewma_covariate_shift_demo/blob/a3271c24b2aefebeaa45ca805536a6a76c17d0e6/outputs/complementary_100/config.json</a:t>
            </a:r>
          </a:p>
          <a:p>
            <a:r>
              <a:t>https://github.com/hlin863/ewma_covariate_shift_demo/blob/a3271c24b2aefebeaa45ca805536a6a76c17d0e6/outputs/complementary_magnitude6/summary.csv</a:t>
            </a:r>
          </a:p>
          <a:p>
            <a:r>
              <a:t>https://github.com/hlin863/ewma_covariate_shift_demo/blob/a3271c24b2aefebeaa45ca805536a6a76c17d0e6/scripts/run_complementary_monitoring.py</a:t>
            </a:r>
          </a:p>
          <a:p>
            <a:r>
              <a:t>https://github.com/hlin863/ewma_covariate_shift_demo/blob/a3271c24b2aefebeaa45ca805536a6a76c17d0e6/outputs/metrics/pytest_results.xml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Tracked results supersede the deck wording that basic subject-level comparison and classifier outputs were still future work. Table-I means: CSW 5.78 vs published 10.78 and CSV 0.33 vs 5.56 for 2A; CSW 14.11 vs 17.56 and CSV 0.67 vs 10.33 for 2B. Values come from the combined Table-I output. Other separately generated files may use different settings and must not be merged as if identical runs. Stage-II confirmations remain low. The repository tree at this commit contains complementary, complementary_100 and complementary_magnitude6 output folders, but no outputs/complementary_bci/traces.csv. D2/D3/D4 also show material FP/FN differences, so successful execution is not exact numerical reproduction.</a:t>
            </a:r>
          </a:p>
          <a:p>
            <a:r>
              <a:t/>
            </a:r>
          </a:p>
          <a:p>
            <a:r>
              <a:t>Repository snapshot: a3271c2, 30 September 2026.</a:t>
            </a:r>
          </a:p>
          <a:p>
            <a:r>
              <a:t>https://github.com/hlin863/ewma_covariate_shift_demo/blob/a3271c24b2aefebeaa45ca805536a6a76c17d0e6/outputs/metrics/bci_table1_reproduction.md</a:t>
            </a:r>
          </a:p>
          <a:p>
            <a:r>
              <a:t>https://github.com/hlin863/ewma_covariate_shift_demo/blob/a3271c24b2aefebeaa45ca805536a6a76c17d0e6/outputs/metrics/bci_table1_comparison.csv</a:t>
            </a:r>
          </a:p>
          <a:p>
            <a:r>
              <a:t>https://github.com/hlin863/ewma_covariate_shift_demo/blob/a3271c24b2aefebeaa45ca805536a6a76c17d0e6/outputs/metrics/paper2015/d2/table3_comparison.csv</a:t>
            </a:r>
          </a:p>
          <a:p>
            <a:r>
              <a:t>https://github.com/hlin863/ewma_covariate_shift_demo/blob/a3271c24b2aefebeaa45ca805536a6a76c17d0e6/outputs/metrics/paper2015/table4/table4_comparison.csv</a:t>
            </a:r>
          </a:p>
          <a:p>
            <a:r>
              <a:t>https://github.com/hlin863/ewma_covariate_shift_demo/blob/a3271c24b2aefebeaa45ca805536a6a76c17d0e6/scripts/run_complementary_bci.py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synthetic category includes both 2015 D2/D3/D4 reproduction streams and the separate complementary PCA-subspace scenarios. Twenty-seed magnitude-3, 100-seed magnitude-3 and 100-seed magnitude-6 outputs now exist. Real EEG complementary exports remain absent from the tracked tree. Classifier benchmark protocols differ from CSE, especially Dataset 2B.</a:t>
            </a:r>
          </a:p>
          <a:p>
            <a:r>
              <a:t/>
            </a: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https://github.com/hlin863/ewma_covariate_shift_demo/blob/a3271c24b2aefebeaa45ca805536a6a76c17d0e6/outputs/complementary/config.json</a:t>
            </a:r>
          </a:p>
          <a:p>
            <a:r>
              <a:t>https://github.com/hlin863/ewma_covariate_shift_demo/blob/a3271c24b2aefebeaa45ca805536a6a76c17d0e6/outputs/complementary_100/config.json</a:t>
            </a:r>
          </a:p>
          <a:p>
            <a:r>
              <a:t>https://github.com/hlin863/ewma_covariate_shift_demo/blob/a3271c24b2aefebeaa45ca805536a6a76c17d0e6/outputs/complementary_magnitude6/config.json</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twelve-month work-package schedule remains a proposed research plan. It does not claim that CUSUM, BOCPD, density-ratio methods, digital twins or photonic maintenance evaluation are already implemented. Current repository outputs form an initial EWMA, hierarchical-detection and classifier baseline. The immediate October emphasis is configuration provenance, Stage-II discrepancy analysis and real EEG complementary export.</a:t>
            </a:r>
          </a:p>
          <a:p>
            <a:r>
              <a:t/>
            </a:r>
          </a:p>
          <a:p>
            <a:r>
              <a:t>Repository snapshot: a3271c2, 30 September 2026.</a:t>
            </a: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Basic subject tables, classifier benchmarks and complementary synthetic outputs now exist. The next milestone therefore focuses on locked experimental configurations, discrepancies, real EEG exports and current verification. The real EEG complementary view has no ground-truth shift times, so alarm trajectories and counts cannot be labelled detector accuracy. The dashboard defaults to outputs/complementary (20 seeds); the 100-seed and magnitude-6 folders are separate stored experiments.</a:t>
            </a:r>
          </a:p>
          <a:p>
            <a:r>
              <a:t/>
            </a: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https://github.com/hlin863/ewma_covariate_shift_demo/blob/a3271c24b2aefebeaa45ca805536a6a76c17d0e6/scripts/run_complementary_bci.py</a:t>
            </a:r>
          </a:p>
          <a:p>
            <a:r>
              <a:t>https://github.com/hlin863/ewma_covariate_shift_demo/blob/a3271c24b2aefebeaa45ca805536a6a76c17d0e6/src/web/dashboard.py</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 updated 30 September 2026</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6" name="Rectangle 5">
            <a:extLst>
              <a:ext uri="{FF2B5EF4-FFF2-40B4-BE49-F238E27FC236}">
                <a16:creationId xmlns:a16="http://schemas.microsoft.com/office/drawing/2014/main" id="{2DB14461-27EF-40B7-8E78-A43C62DE7991}"/>
              </a:ext>
            </a:extLst>
          </p:cNvPr>
          <p:cNvSpPr>
            <a:spLocks noGrp="1"/>
          </p:cNvSpPr>
          <p:nvPr/>
        </p:nvSpPr>
        <p:spPr>
          <a:xfrm>
            <a:off x="1066800" y="5448300"/>
            <a:ext cx="5810250" cy="228600"/>
          </a:xfrm>
          <a:prstGeom prst="rect">
            <a:avLst/>
          </a:prstGeom>
          <a:noFill/>
          <a:ln w="0">
            <a:noFill/>
          </a:ln>
        </p:spPr>
        <p:txBody>
          <a:bodyPr wrap="square" lIns="0" tIns="0" rIns="0" bIns="0" anchor="t">
            <a:noAutofit/>
          </a:bodyPr>
          <a:lstStyle/>
          <a:p>
            <a:pPr algn="l">
              <a:buNone/>
              <a:defRPr sz="1050" b="0">
                <a:solidFill>
                  <a:srgbClr val="9CB0C3"/>
                </a:solidFill>
                <a:latin typeface="DejaVu Sans"/>
                <a:ea typeface="DejaVu Sans"/>
                <a:cs typeface="DejaVu Sans"/>
              </a:defRPr>
            </a:pPr>
            <a:r>
              <a:rPr sz="1050" b="0">
                <a:solidFill>
                  <a:srgbClr val="9CB0C3"/>
                </a:solidFill>
                <a:latin typeface="DejaVu Sans"/>
                <a:ea typeface="DejaVu Sans"/>
                <a:cs typeface="DejaVu Sans"/>
              </a:rPr>
              <a:t>Repository snapshot: a3271c2 (30 September 2026)</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BC2B8F1-18B9-4945-BFFE-9CCB3FD66329}"/>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PROGRESS SNAPSHOT</a:t>
            </a:r>
          </a:p>
        </p:txBody>
      </p:sp>
      <p:sp>
        <p:nvSpPr>
          <p:cNvPr id="2" name="Rectangle 1">
            <a:extLst>
              <a:ext uri="{FF2B5EF4-FFF2-40B4-BE49-F238E27FC236}">
                <a16:creationId xmlns:a16="http://schemas.microsoft.com/office/drawing/2014/main" id="{C411661D-9052-49DA-B402-934639008CF5}"/>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lang="en-US" sz="2550" b="1" dirty="0">
                <a:solidFill>
                  <a:srgbClr val="EAF2F8"/>
                </a:solidFill>
                <a:latin typeface="DejaVu Sans"/>
                <a:ea typeface="DejaVu Sans"/>
                <a:cs typeface="DejaVu Sans"/>
              </a:rPr>
              <a:t>Reconstruction, benchmarking and audit</a:t>
            </a:r>
            <a:endParaRPr sz="2550" b="1" dirty="0">
              <a:solidFill>
                <a:srgbClr val="EAF2F8"/>
              </a:solidFill>
              <a:latin typeface="DejaVu Sans"/>
              <a:ea typeface="DejaVu Sans"/>
              <a:cs typeface="DejaVu Sans"/>
            </a:endParaRPr>
          </a:p>
        </p:txBody>
      </p:sp>
      <p:sp>
        <p:nvSpPr>
          <p:cNvPr id="3" name="Straight Connector 2">
            <a:extLst>
              <a:ext uri="{FF2B5EF4-FFF2-40B4-BE49-F238E27FC236}">
                <a16:creationId xmlns:a16="http://schemas.microsoft.com/office/drawing/2014/main" id="{BCCA5901-7295-4811-8038-7916C9D934F0}"/>
              </a:ext>
            </a:extLst>
          </p:cNvPr>
          <p:cNvSpPr>
            <a:spLocks noGrp="1"/>
          </p:cNvSpPr>
          <p:nvPr/>
        </p:nvSpPr>
        <p:spPr>
          <a:xfrm>
            <a:off x="609600" y="1371600"/>
            <a:ext cx="10972800" cy="0"/>
          </a:xfrm>
          <a:prstGeom prst="line">
            <a:avLst/>
          </a:prstGeom>
          <a:noFill/>
          <a:ln w="19050">
            <a:solidFill>
              <a:srgbClr val="294057"/>
            </a:solidFill>
            <a:prstDash val="solid"/>
          </a:ln>
        </p:spPr>
      </p:sp>
      <p:sp>
        <p:nvSpPr>
          <p:cNvPr id="4" name="Rectangle 3">
            <a:extLst>
              <a:ext uri="{FF2B5EF4-FFF2-40B4-BE49-F238E27FC236}">
                <a16:creationId xmlns:a16="http://schemas.microsoft.com/office/drawing/2014/main" id="{66F1878A-14E8-4D79-946F-18CAA775C681}"/>
              </a:ext>
            </a:extLst>
          </p:cNvPr>
          <p:cNvSpPr>
            <a:spLocks noGrp="1"/>
          </p:cNvSpPr>
          <p:nvPr/>
        </p:nvSpPr>
        <p:spPr>
          <a:xfrm>
            <a:off x="609599" y="1676400"/>
            <a:ext cx="10972799" cy="590550"/>
          </a:xfrm>
          <a:prstGeom prst="rect">
            <a:avLst/>
          </a:prstGeom>
          <a:noFill/>
          <a:ln w="0">
            <a:noFill/>
          </a:ln>
        </p:spPr>
        <p:txBody>
          <a:bodyPr wrap="square" lIns="0" tIns="0" rIns="0" bIns="0" anchor="t">
            <a:noAutofit/>
          </a:bodyPr>
          <a:lstStyle/>
          <a:p>
            <a:pPr algn="l">
              <a:buNone/>
              <a:defRPr sz="1777" b="1">
                <a:solidFill>
                  <a:srgbClr val="EAF2F8"/>
                </a:solidFill>
                <a:latin typeface="DejaVu Sans"/>
                <a:ea typeface="DejaVu Sans"/>
                <a:cs typeface="DejaVu Sans"/>
              </a:defRPr>
            </a:pPr>
            <a:r>
              <a:rPr sz="1777" b="1">
                <a:solidFill>
                  <a:srgbClr val="EAF2F8"/>
                </a:solidFill>
                <a:latin typeface="DejaVu Sans"/>
                <a:ea typeface="DejaVu Sans"/>
                <a:cs typeface="DejaVu Sans"/>
              </a:rPr>
              <a:t>The CSE pipeline runs on BCI Competition IV 2A/2B, with reproduction outputs,</a:t>
            </a:r>
            <a:endParaRPr sz="2250" b="1">
              <a:solidFill>
                <a:srgbClr val="EAF2F8"/>
              </a:solidFill>
              <a:latin typeface="DejaVu Sans"/>
              <a:ea typeface="DejaVu Sans"/>
              <a:cs typeface="DejaVu Sans"/>
            </a:endParaRPr>
          </a:p>
          <a:p>
            <a:pPr algn="l">
              <a:buNone/>
              <a:defRPr sz="1777" b="1">
                <a:solidFill>
                  <a:srgbClr val="EAF2F8"/>
                </a:solidFill>
                <a:latin typeface="DejaVu Sans"/>
                <a:ea typeface="DejaVu Sans"/>
                <a:cs typeface="DejaVu Sans"/>
              </a:defRPr>
            </a:pPr>
            <a:r>
              <a:rPr sz="1777" b="1">
                <a:solidFill>
                  <a:srgbClr val="EAF2F8"/>
                </a:solidFill>
                <a:latin typeface="DejaVu Sans"/>
                <a:ea typeface="DejaVu Sans"/>
                <a:cs typeface="DejaVu Sans"/>
              </a:rPr>
              <a:t>sensitivity analysis and a separate classifier benchmark now stored in the repository.</a:t>
            </a:r>
            <a:endParaRPr sz="2250" b="1">
              <a:solidFill>
                <a:srgbClr val="EAF2F8"/>
              </a:solidFill>
              <a:latin typeface="DejaVu Sans"/>
              <a:ea typeface="DejaVu Sans"/>
              <a:cs typeface="DejaVu Sans"/>
            </a:endParaRPr>
          </a:p>
        </p:txBody>
      </p:sp>
      <p:sp>
        <p:nvSpPr>
          <p:cNvPr id="5" name="Rectangle 4">
            <a:extLst>
              <a:ext uri="{FF2B5EF4-FFF2-40B4-BE49-F238E27FC236}">
                <a16:creationId xmlns:a16="http://schemas.microsoft.com/office/drawing/2014/main" id="{7128F4EB-BF37-4DE7-BC90-3A6AE7BC7ACB}"/>
              </a:ext>
            </a:extLst>
          </p:cNvPr>
          <p:cNvSpPr>
            <a:spLocks noGrp="1"/>
          </p:cNvSpPr>
          <p:nvPr/>
        </p:nvSpPr>
        <p:spPr>
          <a:xfrm>
            <a:off x="609600" y="2486025"/>
            <a:ext cx="10972800" cy="514350"/>
          </a:xfrm>
          <a:prstGeom prst="rect">
            <a:avLst/>
          </a:prstGeom>
          <a:noFill/>
          <a:ln w="0">
            <a:noFill/>
          </a:ln>
        </p:spPr>
        <p:txBody>
          <a:bodyPr wrap="square" lIns="0" tIns="0" rIns="0" bIns="0" anchor="t">
            <a:noAutofit/>
          </a:bodyPr>
          <a:lstStyle/>
          <a:p>
            <a:pPr algn="l">
              <a:buNone/>
              <a:defRPr sz="1425" b="0">
                <a:solidFill>
                  <a:srgbClr val="9CB0C3"/>
                </a:solidFill>
                <a:latin typeface="DejaVu Sans"/>
                <a:ea typeface="DejaVu Sans"/>
                <a:cs typeface="DejaVu Sans"/>
              </a:defRPr>
            </a:pPr>
            <a:r>
              <a:rPr sz="1425" b="0">
                <a:solidFill>
                  <a:srgbClr val="9CB0C3"/>
                </a:solidFill>
                <a:latin typeface="DejaVu Sans"/>
                <a:ea typeface="DejaVu Sans"/>
                <a:cs typeface="DejaVu Sans"/>
              </a:rPr>
              <a:t>Tracked evidence: CSW/CSV counts, D2/D3/D4 comparisons, SVM/bagging and complementary synthetic runs.</a:t>
            </a:r>
          </a:p>
        </p:txBody>
      </p:sp>
      <p:sp>
        <p:nvSpPr>
          <p:cNvPr id="6" name="Rectangle 5">
            <a:extLst>
              <a:ext uri="{FF2B5EF4-FFF2-40B4-BE49-F238E27FC236}">
                <a16:creationId xmlns:a16="http://schemas.microsoft.com/office/drawing/2014/main" id="{359229B1-C09A-4F43-AD2F-5340A4205DA5}"/>
              </a:ext>
            </a:extLst>
          </p:cNvPr>
          <p:cNvSpPr>
            <a:spLocks noGrp="1"/>
          </p:cNvSpPr>
          <p:nvPr/>
        </p:nvSpPr>
        <p:spPr>
          <a:xfrm>
            <a:off x="609600" y="3352800"/>
            <a:ext cx="2667000" cy="704850"/>
          </a:xfrm>
          <a:prstGeom prst="rect">
            <a:avLst/>
          </a:prstGeom>
          <a:noFill/>
          <a:ln w="0">
            <a:noFill/>
          </a:ln>
        </p:spPr>
        <p:txBody>
          <a:bodyPr wrap="square" lIns="0" tIns="0" rIns="0" bIns="0" anchor="t">
            <a:normAutofit/>
          </a:bodyPr>
          <a:lstStyle/>
          <a:p>
            <a:pPr algn="l">
              <a:buNone/>
              <a:defRPr sz="3600" b="1">
                <a:solidFill>
                  <a:srgbClr val="64D98B"/>
                </a:solidFill>
                <a:latin typeface="DejaVu Sans"/>
                <a:ea typeface="DejaVu Sans"/>
                <a:cs typeface="DejaVu Sans"/>
              </a:defRPr>
            </a:pPr>
            <a:r>
              <a:rPr sz="3600" b="1">
                <a:solidFill>
                  <a:srgbClr val="64D98B"/>
                </a:solidFill>
                <a:latin typeface="DejaVu Sans"/>
                <a:ea typeface="DejaVu Sans"/>
                <a:cs typeface="DejaVu Sans"/>
              </a:rPr>
              <a:t>2A</a:t>
            </a:r>
          </a:p>
        </p:txBody>
      </p:sp>
      <p:sp>
        <p:nvSpPr>
          <p:cNvPr id="7" name="Straight Connector 6">
            <a:extLst>
              <a:ext uri="{FF2B5EF4-FFF2-40B4-BE49-F238E27FC236}">
                <a16:creationId xmlns:a16="http://schemas.microsoft.com/office/drawing/2014/main" id="{CA868DD3-83BD-4184-B707-142373396464}"/>
              </a:ext>
            </a:extLst>
          </p:cNvPr>
          <p:cNvSpPr>
            <a:spLocks noGrp="1"/>
          </p:cNvSpPr>
          <p:nvPr/>
        </p:nvSpPr>
        <p:spPr>
          <a:xfrm>
            <a:off x="609600" y="4171950"/>
            <a:ext cx="2667000" cy="0"/>
          </a:xfrm>
          <a:prstGeom prst="line">
            <a:avLst/>
          </a:prstGeom>
          <a:noFill/>
          <a:ln w="47625">
            <a:solidFill>
              <a:srgbClr val="64D98B"/>
            </a:solidFill>
            <a:prstDash val="solid"/>
          </a:ln>
        </p:spPr>
      </p:sp>
      <p:sp>
        <p:nvSpPr>
          <p:cNvPr id="8" name="Rectangle 7">
            <a:extLst>
              <a:ext uri="{FF2B5EF4-FFF2-40B4-BE49-F238E27FC236}">
                <a16:creationId xmlns:a16="http://schemas.microsoft.com/office/drawing/2014/main" id="{3DB497ED-56FB-4098-BF7B-0EDA46529131}"/>
              </a:ext>
            </a:extLst>
          </p:cNvPr>
          <p:cNvSpPr>
            <a:spLocks noGrp="1"/>
          </p:cNvSpPr>
          <p:nvPr/>
        </p:nvSpPr>
        <p:spPr>
          <a:xfrm>
            <a:off x="60960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 I development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 II held out</a:t>
            </a:r>
          </a:p>
        </p:txBody>
      </p:sp>
      <p:sp>
        <p:nvSpPr>
          <p:cNvPr id="9" name="Rectangle 8">
            <a:extLst>
              <a:ext uri="{FF2B5EF4-FFF2-40B4-BE49-F238E27FC236}">
                <a16:creationId xmlns:a16="http://schemas.microsoft.com/office/drawing/2014/main" id="{A2DEAC82-5ED2-4320-A49F-5FA6C294BA79}"/>
              </a:ext>
            </a:extLst>
          </p:cNvPr>
          <p:cNvSpPr>
            <a:spLocks noGrp="1"/>
          </p:cNvSpPr>
          <p:nvPr/>
        </p:nvSpPr>
        <p:spPr>
          <a:xfrm>
            <a:off x="4095750" y="3352800"/>
            <a:ext cx="2667000" cy="704850"/>
          </a:xfrm>
          <a:prstGeom prst="rect">
            <a:avLst/>
          </a:prstGeom>
          <a:noFill/>
          <a:ln w="0">
            <a:noFill/>
          </a:ln>
        </p:spPr>
        <p:txBody>
          <a:bodyPr wrap="square" lIns="0" tIns="0" rIns="0" bIns="0" anchor="t">
            <a:normAutofit/>
          </a:bodyPr>
          <a:lstStyle/>
          <a:p>
            <a:pPr algn="l">
              <a:buNone/>
              <a:defRPr sz="3600" b="1">
                <a:solidFill>
                  <a:srgbClr val="4EA1FF"/>
                </a:solidFill>
                <a:latin typeface="DejaVu Sans"/>
                <a:ea typeface="DejaVu Sans"/>
                <a:cs typeface="DejaVu Sans"/>
              </a:defRPr>
            </a:pPr>
            <a:r>
              <a:rPr sz="3600" b="1">
                <a:solidFill>
                  <a:srgbClr val="4EA1FF"/>
                </a:solidFill>
                <a:latin typeface="DejaVu Sans"/>
                <a:ea typeface="DejaVu Sans"/>
                <a:cs typeface="DejaVu Sans"/>
              </a:rPr>
              <a:t>2B</a:t>
            </a:r>
          </a:p>
        </p:txBody>
      </p:sp>
      <p:sp>
        <p:nvSpPr>
          <p:cNvPr id="10" name="Straight Connector 9">
            <a:extLst>
              <a:ext uri="{FF2B5EF4-FFF2-40B4-BE49-F238E27FC236}">
                <a16:creationId xmlns:a16="http://schemas.microsoft.com/office/drawing/2014/main" id="{6F0C69DE-9945-424D-85E3-C85D56722F63}"/>
              </a:ext>
            </a:extLst>
          </p:cNvPr>
          <p:cNvSpPr>
            <a:spLocks noGrp="1"/>
          </p:cNvSpPr>
          <p:nvPr/>
        </p:nvSpPr>
        <p:spPr>
          <a:xfrm>
            <a:off x="4095750" y="4171950"/>
            <a:ext cx="2667000" cy="0"/>
          </a:xfrm>
          <a:prstGeom prst="line">
            <a:avLst/>
          </a:prstGeom>
          <a:noFill/>
          <a:ln w="47625">
            <a:solidFill>
              <a:srgbClr val="4EA1FF"/>
            </a:solidFill>
            <a:prstDash val="solid"/>
          </a:ln>
        </p:spPr>
      </p:sp>
      <p:sp>
        <p:nvSpPr>
          <p:cNvPr id="11" name="Rectangle 10">
            <a:extLst>
              <a:ext uri="{FF2B5EF4-FFF2-40B4-BE49-F238E27FC236}">
                <a16:creationId xmlns:a16="http://schemas.microsoft.com/office/drawing/2014/main" id="{4365A4B9-4806-4A0D-9D15-A18D22D28C19}"/>
              </a:ext>
            </a:extLst>
          </p:cNvPr>
          <p:cNvSpPr>
            <a:spLocks noGrp="1"/>
          </p:cNvSpPr>
          <p:nvPr/>
        </p:nvSpPr>
        <p:spPr>
          <a:xfrm>
            <a:off x="409575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Sessions I–III development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Sessions IV–V held out</a:t>
            </a:r>
          </a:p>
        </p:txBody>
      </p:sp>
      <p:sp>
        <p:nvSpPr>
          <p:cNvPr id="12" name="Rectangle 11">
            <a:extLst>
              <a:ext uri="{FF2B5EF4-FFF2-40B4-BE49-F238E27FC236}">
                <a16:creationId xmlns:a16="http://schemas.microsoft.com/office/drawing/2014/main" id="{87F64875-636B-46EB-9393-5788B975E374}"/>
              </a:ext>
            </a:extLst>
          </p:cNvPr>
          <p:cNvSpPr>
            <a:spLocks noGrp="1"/>
          </p:cNvSpPr>
          <p:nvPr/>
        </p:nvSpPr>
        <p:spPr>
          <a:xfrm>
            <a:off x="7581900" y="3352800"/>
            <a:ext cx="2667000" cy="704850"/>
          </a:xfrm>
          <a:prstGeom prst="rect">
            <a:avLst/>
          </a:prstGeom>
          <a:noFill/>
          <a:ln w="0">
            <a:noFill/>
          </a:ln>
        </p:spPr>
        <p:txBody>
          <a:bodyPr wrap="square" lIns="0" tIns="0" rIns="0" bIns="0" anchor="t">
            <a:normAutofit fontScale="85000" lnSpcReduction="10000"/>
          </a:bodyPr>
          <a:lstStyle/>
          <a:p>
            <a:pPr algn="l">
              <a:buNone/>
              <a:defRPr sz="3600" b="1">
                <a:solidFill>
                  <a:srgbClr val="2DD4BF"/>
                </a:solidFill>
                <a:latin typeface="DejaVu Sans"/>
                <a:ea typeface="DejaVu Sans"/>
                <a:cs typeface="DejaVu Sans"/>
              </a:defRPr>
            </a:pPr>
            <a:r>
              <a:rPr sz="3600" b="1" dirty="0">
                <a:solidFill>
                  <a:srgbClr val="2DD4BF"/>
                </a:solidFill>
                <a:latin typeface="DejaVu Sans"/>
                <a:ea typeface="DejaVu Sans"/>
                <a:cs typeface="DejaVu Sans"/>
              </a:rPr>
              <a:t>2</a:t>
            </a:r>
            <a:r>
              <a:rPr lang="en-US" sz="3600" b="1" dirty="0">
                <a:solidFill>
                  <a:srgbClr val="2DD4BF"/>
                </a:solidFill>
                <a:latin typeface="DejaVu Sans"/>
                <a:ea typeface="DejaVu Sans"/>
                <a:cs typeface="DejaVu Sans"/>
              </a:rPr>
              <a:t>-stage CSE</a:t>
            </a:r>
            <a:endParaRPr sz="3600" b="1" dirty="0">
              <a:solidFill>
                <a:srgbClr val="2DD4BF"/>
              </a:solidFill>
              <a:latin typeface="DejaVu Sans"/>
              <a:ea typeface="DejaVu Sans"/>
              <a:cs typeface="DejaVu Sans"/>
            </a:endParaRPr>
          </a:p>
        </p:txBody>
      </p:sp>
      <p:sp>
        <p:nvSpPr>
          <p:cNvPr id="13" name="Straight Connector 12">
            <a:extLst>
              <a:ext uri="{FF2B5EF4-FFF2-40B4-BE49-F238E27FC236}">
                <a16:creationId xmlns:a16="http://schemas.microsoft.com/office/drawing/2014/main" id="{229578C5-8E1C-4718-BD61-44C2B40D3491}"/>
              </a:ext>
            </a:extLst>
          </p:cNvPr>
          <p:cNvSpPr>
            <a:spLocks noGrp="1"/>
          </p:cNvSpPr>
          <p:nvPr/>
        </p:nvSpPr>
        <p:spPr>
          <a:xfrm>
            <a:off x="7581900" y="4171950"/>
            <a:ext cx="2667000" cy="0"/>
          </a:xfrm>
          <a:prstGeom prst="line">
            <a:avLst/>
          </a:prstGeom>
          <a:noFill/>
          <a:ln w="47625">
            <a:solidFill>
              <a:srgbClr val="2DD4BF"/>
            </a:solidFill>
            <a:prstDash val="solid"/>
          </a:ln>
        </p:spPr>
      </p:sp>
      <p:sp>
        <p:nvSpPr>
          <p:cNvPr id="14" name="Rectangle 13">
            <a:extLst>
              <a:ext uri="{FF2B5EF4-FFF2-40B4-BE49-F238E27FC236}">
                <a16:creationId xmlns:a16="http://schemas.microsoft.com/office/drawing/2014/main" id="{82DD15D8-CAE4-4B08-8C2F-BC7B60878CA2}"/>
              </a:ext>
            </a:extLst>
          </p:cNvPr>
          <p:cNvSpPr>
            <a:spLocks noGrp="1"/>
          </p:cNvSpPr>
          <p:nvPr/>
        </p:nvSpPr>
        <p:spPr>
          <a:xfrm>
            <a:off x="7581900" y="4362450"/>
            <a:ext cx="2667000" cy="495300"/>
          </a:xfrm>
          <a:prstGeom prst="rect">
            <a:avLst/>
          </a:prstGeom>
          <a:noFill/>
          <a:ln w="0">
            <a:noFill/>
          </a:ln>
        </p:spPr>
        <p:txBody>
          <a:bodyPr wrap="square" lIns="0" tIns="0" rIns="0" bIns="0" anchor="t">
            <a:normAutofit fontScale="100000"/>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EWMA warnings</a:t>
            </a:r>
            <a:endParaRPr sz="1200" b="1">
              <a:solidFill>
                <a:srgbClr val="EAF2F8"/>
              </a:solidFill>
              <a:latin typeface="DejaVu Sans"/>
              <a:ea typeface="DejaVu Sans"/>
              <a:cs typeface="DejaVu Sans"/>
            </a:endParaRP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Hotelling T² validation</a:t>
            </a:r>
            <a:endParaRPr sz="1200" b="1">
              <a:solidFill>
                <a:srgbClr val="EAF2F8"/>
              </a:solidFill>
              <a:latin typeface="DejaVu Sans"/>
              <a:ea typeface="DejaVu Sans"/>
              <a:cs typeface="DejaVu Sans"/>
            </a:endParaRPr>
          </a:p>
        </p:txBody>
      </p:sp>
      <p:sp>
        <p:nvSpPr>
          <p:cNvPr id="15" name="Rectangle 14">
            <a:extLst>
              <a:ext uri="{FF2B5EF4-FFF2-40B4-BE49-F238E27FC236}">
                <a16:creationId xmlns:a16="http://schemas.microsoft.com/office/drawing/2014/main" id="{A1488553-F45B-4FF1-A081-BE3236ACA1C2}"/>
              </a:ext>
            </a:extLst>
          </p:cNvPr>
          <p:cNvSpPr>
            <a:spLocks noGrp="1"/>
          </p:cNvSpPr>
          <p:nvPr/>
        </p:nvSpPr>
        <p:spPr>
          <a:xfrm>
            <a:off x="609600" y="5467350"/>
            <a:ext cx="2095500" cy="228600"/>
          </a:xfrm>
          <a:prstGeom prst="rect">
            <a:avLst/>
          </a:prstGeom>
          <a:noFill/>
          <a:ln w="0">
            <a:noFill/>
          </a:ln>
        </p:spPr>
        <p:txBody>
          <a:bodyPr wrap="square" lIns="0" tIns="0" rIns="0" bIns="0" anchor="t">
            <a:normAutofit/>
          </a:bodyPr>
          <a:lstStyle/>
          <a:p>
            <a:pPr algn="l">
              <a:buNone/>
              <a:defRPr sz="1050" b="1">
                <a:solidFill>
                  <a:srgbClr val="9CB0C3"/>
                </a:solidFill>
                <a:latin typeface="DejaVu Sans"/>
                <a:ea typeface="DejaVu Sans"/>
                <a:cs typeface="DejaVu Sans"/>
              </a:defRPr>
            </a:pPr>
            <a:r>
              <a:rPr sz="1050" b="1">
                <a:solidFill>
                  <a:srgbClr val="9CB0C3"/>
                </a:solidFill>
                <a:latin typeface="DejaVu Sans"/>
                <a:ea typeface="DejaVu Sans"/>
                <a:cs typeface="DejaVu Sans"/>
              </a:rPr>
              <a:t>Current maturity</a:t>
            </a:r>
          </a:p>
        </p:txBody>
      </p:sp>
      <p:sp>
        <p:nvSpPr>
          <p:cNvPr id="16" name="Straight Connector 15">
            <a:extLst>
              <a:ext uri="{FF2B5EF4-FFF2-40B4-BE49-F238E27FC236}">
                <a16:creationId xmlns:a16="http://schemas.microsoft.com/office/drawing/2014/main" id="{05E1E5F8-1D28-4E29-9631-64C41F2B2F33}"/>
              </a:ext>
            </a:extLst>
          </p:cNvPr>
          <p:cNvSpPr>
            <a:spLocks noGrp="1"/>
          </p:cNvSpPr>
          <p:nvPr/>
        </p:nvSpPr>
        <p:spPr>
          <a:xfrm>
            <a:off x="2857500" y="5581650"/>
            <a:ext cx="7239000" cy="0"/>
          </a:xfrm>
          <a:prstGeom prst="line">
            <a:avLst/>
          </a:prstGeom>
          <a:noFill/>
          <a:ln w="76200">
            <a:solidFill>
              <a:srgbClr val="294057"/>
            </a:solidFill>
            <a:prstDash val="solid"/>
          </a:ln>
        </p:spPr>
      </p:sp>
      <p:sp>
        <p:nvSpPr>
          <p:cNvPr id="17" name="Straight Connector 16">
            <a:extLst>
              <a:ext uri="{FF2B5EF4-FFF2-40B4-BE49-F238E27FC236}">
                <a16:creationId xmlns:a16="http://schemas.microsoft.com/office/drawing/2014/main" id="{49989D87-5AC9-490D-B5B2-269F48142E0B}"/>
              </a:ext>
            </a:extLst>
          </p:cNvPr>
          <p:cNvSpPr>
            <a:spLocks noGrp="1"/>
          </p:cNvSpPr>
          <p:nvPr/>
        </p:nvSpPr>
        <p:spPr>
          <a:xfrm>
            <a:off x="2857500" y="5581650"/>
            <a:ext cx="5476875" cy="0"/>
          </a:xfrm>
          <a:prstGeom prst="line">
            <a:avLst/>
          </a:prstGeom>
          <a:noFill/>
          <a:ln w="76200">
            <a:solidFill>
              <a:srgbClr val="2DD4BF"/>
            </a:solidFill>
            <a:prstDash val="solid"/>
          </a:ln>
        </p:spPr>
      </p:sp>
      <p:sp>
        <p:nvSpPr>
          <p:cNvPr id="18" name="Rectangle: Rounded Corners 17">
            <a:extLst>
              <a:ext uri="{FF2B5EF4-FFF2-40B4-BE49-F238E27FC236}">
                <a16:creationId xmlns:a16="http://schemas.microsoft.com/office/drawing/2014/main" id="{6B6FE5F0-D115-4322-9E74-28246F7E442E}"/>
              </a:ext>
            </a:extLst>
          </p:cNvPr>
          <p:cNvSpPr>
            <a:spLocks noGrp="1"/>
          </p:cNvSpPr>
          <p:nvPr/>
        </p:nvSpPr>
        <p:spPr>
          <a:xfrm>
            <a:off x="8258175" y="5505450"/>
            <a:ext cx="152400" cy="152400"/>
          </a:xfrm>
          <a:prstGeom prst="roundRect">
            <a:avLst>
              <a:gd name="adj" fmla="val 50000"/>
            </a:avLst>
          </a:prstGeom>
          <a:solidFill>
            <a:srgbClr val="F5B942"/>
          </a:solidFill>
          <a:ln w="0">
            <a:noFill/>
          </a:ln>
        </p:spPr>
      </p:sp>
      <p:sp>
        <p:nvSpPr>
          <p:cNvPr id="19" name="Rectangle 18">
            <a:extLst>
              <a:ext uri="{FF2B5EF4-FFF2-40B4-BE49-F238E27FC236}">
                <a16:creationId xmlns:a16="http://schemas.microsoft.com/office/drawing/2014/main" id="{13C826AB-809A-4F14-B9FE-5880AEAEB0D9}"/>
              </a:ext>
            </a:extLst>
          </p:cNvPr>
          <p:cNvSpPr>
            <a:spLocks noGrp="1"/>
          </p:cNvSpPr>
          <p:nvPr/>
        </p:nvSpPr>
        <p:spPr>
          <a:xfrm>
            <a:off x="8382000" y="5048250"/>
            <a:ext cx="3200400" cy="476250"/>
          </a:xfrm>
          <a:prstGeom prst="rect">
            <a:avLst/>
          </a:prstGeom>
          <a:noFill/>
          <a:ln w="0">
            <a:noFill/>
          </a:ln>
        </p:spPr>
        <p:txBody>
          <a:bodyPr wrap="square" lIns="0" tIns="0" rIns="0" bIns="0" anchor="t">
            <a:normAutofit fontScale="100000"/>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Reproduction and discrepancy audit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Classifier benchmarking</a:t>
            </a:r>
          </a:p>
        </p:txBody>
      </p:sp>
      <p:sp>
        <p:nvSpPr>
          <p:cNvPr id="20" name="Rectangle 19">
            <a:extLst>
              <a:ext uri="{FF2B5EF4-FFF2-40B4-BE49-F238E27FC236}">
                <a16:creationId xmlns:a16="http://schemas.microsoft.com/office/drawing/2014/main" id="{409F4DC8-4D8E-490A-BBCF-F27362E87563}"/>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1" name="Rectangle 20">
            <a:extLst>
              <a:ext uri="{FF2B5EF4-FFF2-40B4-BE49-F238E27FC236}">
                <a16:creationId xmlns:a16="http://schemas.microsoft.com/office/drawing/2014/main" id="{E7445EB6-2F24-48F3-965C-9A2925AC5349}"/>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pPr algn="r">
              <a:buNone/>
              <a:defRPr sz="825" b="1">
                <a:solidFill>
                  <a:srgbClr val="9CB0C3"/>
                </a:solidFill>
                <a:latin typeface="DejaVu Sans"/>
                <a:ea typeface="DejaVu Sans"/>
                <a:cs typeface="DejaVu Sans"/>
              </a:defRPr>
            </a:pPr>
            <a:r>
              <a:rPr sz="825" b="1">
                <a:solidFill>
                  <a:srgbClr val="9CB0C3"/>
                </a:solidFill>
                <a:latin typeface="DejaVu Sans"/>
                <a:ea typeface="DejaVu Sans"/>
                <a:cs typeface="DejaVu Sans"/>
              </a:rPr>
              <a:t>02</a:t>
            </a:r>
          </a:p>
        </p:txBody>
      </p:sp>
      <p:sp>
        <p:nvSpPr>
          <p:cNvPr id="23" name="Protocol clarification">
            <a:extLst>
              <a:ext uri="{FF2B5EF4-FFF2-40B4-BE49-F238E27FC236}">
                <a16:creationId xmlns:a16="http://schemas.microsoft.com/office/drawing/2014/main" id="{8CD10810-E012-468A-8084-77462D919940}"/>
              </a:ext>
            </a:extLst>
          </p:cNvPr>
          <p:cNvSpPr>
            <a:spLocks noGrp="1"/>
          </p:cNvSpPr>
          <p:nvPr/>
        </p:nvSpPr>
        <p:spPr>
          <a:xfrm>
            <a:off x="609600" y="4895850"/>
            <a:ext cx="7334250" cy="257175"/>
          </a:xfrm>
          <a:prstGeom prst="rect">
            <a:avLst/>
          </a:prstGeom>
          <a:noFill/>
          <a:ln w="0">
            <a:noFill/>
          </a:ln>
        </p:spPr>
        <p:txBody>
          <a:bodyPr>
            <a:noAutofit/>
          </a:bodyPr>
          <a:lstStyle/>
          <a:p>
            <a:pPr>
              <a:defRPr sz="1050">
                <a:solidFill>
                  <a:srgbClr val="9CB0C3"/>
                </a:solidFill>
                <a:latin typeface="DejaVu Sans"/>
                <a:ea typeface="DejaVu Sans"/>
                <a:cs typeface="DejaVu Sans"/>
              </a:defRPr>
            </a:pPr>
            <a:r>
              <a:rPr sz="1050">
                <a:solidFill>
                  <a:srgbClr val="9CB0C3"/>
                </a:solidFill>
                <a:latin typeface="DejaVu Sans"/>
                <a:ea typeface="DejaVu Sans"/>
                <a:cs typeface="DejaVu Sans"/>
              </a:rPr>
              <a:t>CSE splits shown above. Classifier benchmarking uses a separate held-out protocol.</a:t>
            </a:r>
          </a:p>
        </p:txBody>
      </p:sp>
      <p:sp>
        <p:nvSpPr>
          <p:cNvPr id="24" name="Integration boundary">
            <a:extLst>
              <a:ext uri="{FF2B5EF4-FFF2-40B4-BE49-F238E27FC236}">
                <a16:creationId xmlns:a16="http://schemas.microsoft.com/office/drawing/2014/main" id="{429C7B4D-AB5E-4F20-AA71-6F5A9BD1570B}"/>
              </a:ext>
            </a:extLst>
          </p:cNvPr>
          <p:cNvSpPr>
            <a:spLocks noGrp="1"/>
          </p:cNvSpPr>
          <p:nvPr/>
        </p:nvSpPr>
        <p:spPr>
          <a:xfrm>
            <a:off x="609600" y="5953125"/>
            <a:ext cx="10972800" cy="428625"/>
          </a:xfrm>
          <a:prstGeom prst="rect">
            <a:avLst/>
          </a:prstGeom>
          <a:noFill/>
          <a:ln w="0">
            <a:noFill/>
          </a:ln>
        </p:spPr>
        <p:txBody>
          <a:bodyPr>
            <a:noAutofit/>
          </a:bodyPr>
          <a:lstStyle/>
          <a:p>
            <a:pPr>
              <a:defRPr sz="1200">
                <a:solidFill>
                  <a:srgbClr val="EAF2F8"/>
                </a:solidFill>
                <a:latin typeface="DejaVu Sans"/>
                <a:ea typeface="DejaVu Sans"/>
                <a:cs typeface="DejaVu Sans"/>
              </a:defRPr>
            </a:pPr>
            <a:r>
              <a:rPr sz="1200">
                <a:solidFill>
                  <a:srgbClr val="EAF2F8"/>
                </a:solidFill>
                <a:latin typeface="DejaVu Sans"/>
                <a:ea typeface="DejaVu Sans"/>
                <a:cs typeface="DejaVu Sans"/>
              </a:rPr>
              <a:t>Research boundary: full CSE-UAEL integration remains open, including PWKNN pseudo-labelling</a:t>
            </a:r>
          </a:p>
          <a:p>
            <a:pPr>
              <a:defRPr sz="1200">
                <a:solidFill>
                  <a:srgbClr val="EAF2F8"/>
                </a:solidFill>
                <a:latin typeface="DejaVu Sans"/>
                <a:ea typeface="DejaVu Sans"/>
                <a:cs typeface="DejaVu Sans"/>
              </a:defRPr>
            </a:pPr>
            <a:r>
              <a:rPr sz="1200">
                <a:solidFill>
                  <a:srgbClr val="EAF2F8"/>
                </a:solidFill>
                <a:latin typeface="DejaVu Sans"/>
                <a:ea typeface="DejaVu Sans"/>
                <a:cs typeface="DejaVu Sans"/>
              </a:rPr>
              <a:t>and dynamic ensemble growth.</a:t>
            </a: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000625"/>
            <a:ext cx="9715500" cy="66675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pPr algn="r">
              <a:buNone/>
              <a:defRPr sz="825" b="1">
                <a:solidFill>
                  <a:srgbClr val="9CB0C3"/>
                </a:solidFill>
                <a:latin typeface="DejaVu Sans"/>
                <a:ea typeface="DejaVu Sans"/>
                <a:cs typeface="DejaVu Sans"/>
              </a:defRPr>
            </a:pPr>
            <a:r>
              <a:rPr sz="825" b="1">
                <a:solidFill>
                  <a:srgbClr val="9CB0C3"/>
                </a:solidFill>
                <a:latin typeface="DejaVu Sans"/>
                <a:ea typeface="DejaVu Sans"/>
                <a:cs typeface="DejaVu Sans"/>
              </a:rPr>
              <a:t>03</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82CFBA0D-6112-421A-BC28-280695CB3CB5}"/>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IMPLEMENTED PIPELINE</a:t>
            </a:r>
          </a:p>
        </p:txBody>
      </p:sp>
      <p:sp>
        <p:nvSpPr>
          <p:cNvPr id="2" name="Rectangle 1">
            <a:extLst>
              <a:ext uri="{FF2B5EF4-FFF2-40B4-BE49-F238E27FC236}">
                <a16:creationId xmlns:a16="http://schemas.microsoft.com/office/drawing/2014/main" id="{946253F7-B0B1-4872-99CB-51F07E8BF15F}"/>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Implemented CSE pipeline and extension methods</a:t>
            </a:r>
          </a:p>
        </p:txBody>
      </p:sp>
      <p:sp>
        <p:nvSpPr>
          <p:cNvPr id="3" name="Straight Connector 2">
            <a:extLst>
              <a:ext uri="{FF2B5EF4-FFF2-40B4-BE49-F238E27FC236}">
                <a16:creationId xmlns:a16="http://schemas.microsoft.com/office/drawing/2014/main" id="{13DAD4E1-E0F7-4B44-8710-B2D906C687C3}"/>
              </a:ext>
            </a:extLst>
          </p:cNvPr>
          <p:cNvSpPr>
            <a:spLocks noGrp="1"/>
          </p:cNvSpPr>
          <p:nvPr/>
        </p:nvSpPr>
        <p:spPr>
          <a:xfrm>
            <a:off x="609600" y="1371600"/>
            <a:ext cx="10972800" cy="0"/>
          </a:xfrm>
          <a:prstGeom prst="line">
            <a:avLst/>
          </a:prstGeom>
          <a:noFill/>
          <a:ln w="19050">
            <a:solidFill>
              <a:srgbClr val="294057"/>
            </a:solidFill>
            <a:prstDash val="solid"/>
          </a:ln>
        </p:spPr>
      </p:sp>
      <p:sp>
        <p:nvSpPr>
          <p:cNvPr id="4" name="Rectangle: Rounded Corners 3">
            <a:extLst>
              <a:ext uri="{FF2B5EF4-FFF2-40B4-BE49-F238E27FC236}">
                <a16:creationId xmlns:a16="http://schemas.microsoft.com/office/drawing/2014/main" id="{0E33D50E-54B6-4BCD-9DDA-D5F7B88E127D}"/>
              </a:ext>
            </a:extLst>
          </p:cNvPr>
          <p:cNvSpPr>
            <a:spLocks noGrp="1"/>
          </p:cNvSpPr>
          <p:nvPr/>
        </p:nvSpPr>
        <p:spPr>
          <a:xfrm>
            <a:off x="523875" y="2333625"/>
            <a:ext cx="1952625" cy="1714500"/>
          </a:xfrm>
          <a:prstGeom prst="roundRect">
            <a:avLst>
              <a:gd name="adj" fmla="val 7778"/>
            </a:avLst>
          </a:prstGeom>
          <a:solidFill>
            <a:srgbClr val="0F1C2B"/>
          </a:solidFill>
          <a:ln w="9525">
            <a:solidFill>
              <a:srgbClr val="4EA1FF"/>
            </a:solidFill>
            <a:prstDash val="solid"/>
          </a:ln>
        </p:spPr>
      </p:sp>
      <p:sp>
        <p:nvSpPr>
          <p:cNvPr id="5" name="Rectangle: Rounded Corners 4">
            <a:extLst>
              <a:ext uri="{FF2B5EF4-FFF2-40B4-BE49-F238E27FC236}">
                <a16:creationId xmlns:a16="http://schemas.microsoft.com/office/drawing/2014/main" id="{DB6F5169-2F31-40E1-8E95-BD7D7D8A7A3D}"/>
              </a:ext>
            </a:extLst>
          </p:cNvPr>
          <p:cNvSpPr>
            <a:spLocks noGrp="1"/>
          </p:cNvSpPr>
          <p:nvPr/>
        </p:nvSpPr>
        <p:spPr>
          <a:xfrm>
            <a:off x="523875" y="2333625"/>
            <a:ext cx="1952625" cy="76200"/>
          </a:xfrm>
          <a:prstGeom prst="roundRect">
            <a:avLst>
              <a:gd name="adj" fmla="val 50000"/>
            </a:avLst>
          </a:prstGeom>
          <a:solidFill>
            <a:srgbClr val="4EA1FF"/>
          </a:solidFill>
          <a:ln w="0">
            <a:noFill/>
          </a:ln>
        </p:spPr>
      </p:sp>
      <p:sp>
        <p:nvSpPr>
          <p:cNvPr id="6" name="Rectangle 5">
            <a:extLst>
              <a:ext uri="{FF2B5EF4-FFF2-40B4-BE49-F238E27FC236}">
                <a16:creationId xmlns:a16="http://schemas.microsoft.com/office/drawing/2014/main" id="{89787917-756E-4DE7-A943-7B2E39CC3794}"/>
              </a:ext>
            </a:extLst>
          </p:cNvPr>
          <p:cNvSpPr>
            <a:spLocks noGrp="1"/>
          </p:cNvSpPr>
          <p:nvPr/>
        </p:nvSpPr>
        <p:spPr>
          <a:xfrm>
            <a:off x="695325"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BCI data</a:t>
            </a:r>
          </a:p>
        </p:txBody>
      </p:sp>
      <p:sp>
        <p:nvSpPr>
          <p:cNvPr id="7" name="Rectangle 6">
            <a:extLst>
              <a:ext uri="{FF2B5EF4-FFF2-40B4-BE49-F238E27FC236}">
                <a16:creationId xmlns:a16="http://schemas.microsoft.com/office/drawing/2014/main" id="{100DD980-736E-4443-897A-07B160D9FC4E}"/>
              </a:ext>
            </a:extLst>
          </p:cNvPr>
          <p:cNvSpPr>
            <a:spLocks noGrp="1"/>
          </p:cNvSpPr>
          <p:nvPr/>
        </p:nvSpPr>
        <p:spPr>
          <a:xfrm>
            <a:off x="695325"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Cue-aligned trials</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2A and 2B</a:t>
            </a:r>
          </a:p>
        </p:txBody>
      </p:sp>
      <p:sp>
        <p:nvSpPr>
          <p:cNvPr id="8" name="Rectangle: Rounded Corners 7">
            <a:extLst>
              <a:ext uri="{FF2B5EF4-FFF2-40B4-BE49-F238E27FC236}">
                <a16:creationId xmlns:a16="http://schemas.microsoft.com/office/drawing/2014/main" id="{FE1B088C-7DF6-4BC5-87B0-30AA61FFAE3B}"/>
              </a:ext>
            </a:extLst>
          </p:cNvPr>
          <p:cNvSpPr>
            <a:spLocks noGrp="1"/>
          </p:cNvSpPr>
          <p:nvPr/>
        </p:nvSpPr>
        <p:spPr>
          <a:xfrm>
            <a:off x="2857500" y="2333625"/>
            <a:ext cx="1952625" cy="1714500"/>
          </a:xfrm>
          <a:prstGeom prst="roundRect">
            <a:avLst>
              <a:gd name="adj" fmla="val 7778"/>
            </a:avLst>
          </a:prstGeom>
          <a:solidFill>
            <a:srgbClr val="0F1C2B"/>
          </a:solidFill>
          <a:ln w="9525">
            <a:solidFill>
              <a:srgbClr val="2DD4BF"/>
            </a:solidFill>
            <a:prstDash val="solid"/>
          </a:ln>
        </p:spPr>
      </p:sp>
      <p:sp>
        <p:nvSpPr>
          <p:cNvPr id="9" name="Rectangle: Rounded Corners 8">
            <a:extLst>
              <a:ext uri="{FF2B5EF4-FFF2-40B4-BE49-F238E27FC236}">
                <a16:creationId xmlns:a16="http://schemas.microsoft.com/office/drawing/2014/main" id="{CB0761D9-BC45-4001-89F9-1CB9667564A6}"/>
              </a:ext>
            </a:extLst>
          </p:cNvPr>
          <p:cNvSpPr>
            <a:spLocks noGrp="1"/>
          </p:cNvSpPr>
          <p:nvPr/>
        </p:nvSpPr>
        <p:spPr>
          <a:xfrm>
            <a:off x="2857500" y="2333625"/>
            <a:ext cx="1952625" cy="76200"/>
          </a:xfrm>
          <a:prstGeom prst="roundRect">
            <a:avLst>
              <a:gd name="adj" fmla="val 50000"/>
            </a:avLst>
          </a:prstGeom>
          <a:solidFill>
            <a:srgbClr val="2DD4BF"/>
          </a:solidFill>
          <a:ln w="0">
            <a:noFill/>
          </a:ln>
        </p:spPr>
      </p:sp>
      <p:sp>
        <p:nvSpPr>
          <p:cNvPr id="10" name="Rectangle 9">
            <a:extLst>
              <a:ext uri="{FF2B5EF4-FFF2-40B4-BE49-F238E27FC236}">
                <a16:creationId xmlns:a16="http://schemas.microsoft.com/office/drawing/2014/main" id="{CC508D3D-4808-409C-8F24-1069D4701E73}"/>
              </a:ext>
            </a:extLst>
          </p:cNvPr>
          <p:cNvSpPr>
            <a:spLocks noGrp="1"/>
          </p:cNvSpPr>
          <p:nvPr/>
        </p:nvSpPr>
        <p:spPr>
          <a:xfrm>
            <a:off x="3028950" y="2647950"/>
            <a:ext cx="1609725" cy="323850"/>
          </a:xfrm>
          <a:prstGeom prst="rect">
            <a:avLst/>
          </a:prstGeom>
          <a:noFill/>
          <a:ln w="0">
            <a:noFill/>
          </a:ln>
        </p:spPr>
        <p:txBody>
          <a:bodyPr wrap="square" lIns="0" tIns="0" rIns="0" bIns="0" anchor="t">
            <a:normAutofit fontScale="74561" lnSpcReduction="10000"/>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Signal representation</a:t>
            </a:r>
          </a:p>
        </p:txBody>
      </p:sp>
      <p:sp>
        <p:nvSpPr>
          <p:cNvPr id="11" name="Rectangle 10">
            <a:extLst>
              <a:ext uri="{FF2B5EF4-FFF2-40B4-BE49-F238E27FC236}">
                <a16:creationId xmlns:a16="http://schemas.microsoft.com/office/drawing/2014/main" id="{D1C417B5-D9AC-4E94-A11E-0D416955D595}"/>
              </a:ext>
            </a:extLst>
          </p:cNvPr>
          <p:cNvSpPr>
            <a:spLocks noGrp="1"/>
          </p:cNvSpPr>
          <p:nvPr/>
        </p:nvSpPr>
        <p:spPr>
          <a:xfrm>
            <a:off x="3028950"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10-band FBCSP</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scores</a:t>
            </a:r>
          </a:p>
        </p:txBody>
      </p:sp>
      <p:sp>
        <p:nvSpPr>
          <p:cNvPr id="12" name="Rectangle: Rounded Corners 11">
            <a:extLst>
              <a:ext uri="{FF2B5EF4-FFF2-40B4-BE49-F238E27FC236}">
                <a16:creationId xmlns:a16="http://schemas.microsoft.com/office/drawing/2014/main" id="{33ADF653-1DF6-40D3-B03A-CC413A5E7CA5}"/>
              </a:ext>
            </a:extLst>
          </p:cNvPr>
          <p:cNvSpPr>
            <a:spLocks noGrp="1"/>
          </p:cNvSpPr>
          <p:nvPr/>
        </p:nvSpPr>
        <p:spPr>
          <a:xfrm>
            <a:off x="5191125" y="2333625"/>
            <a:ext cx="1952625" cy="1714500"/>
          </a:xfrm>
          <a:prstGeom prst="roundRect">
            <a:avLst>
              <a:gd name="adj" fmla="val 7778"/>
            </a:avLst>
          </a:prstGeom>
          <a:solidFill>
            <a:srgbClr val="0F1C2B"/>
          </a:solidFill>
          <a:ln w="9525">
            <a:solidFill>
              <a:srgbClr val="4EA1FF"/>
            </a:solidFill>
            <a:prstDash val="solid"/>
          </a:ln>
        </p:spPr>
      </p:sp>
      <p:sp>
        <p:nvSpPr>
          <p:cNvPr id="13" name="Rectangle: Rounded Corners 12">
            <a:extLst>
              <a:ext uri="{FF2B5EF4-FFF2-40B4-BE49-F238E27FC236}">
                <a16:creationId xmlns:a16="http://schemas.microsoft.com/office/drawing/2014/main" id="{9257ED36-0B70-43AC-932E-9A8FA68D1A60}"/>
              </a:ext>
            </a:extLst>
          </p:cNvPr>
          <p:cNvSpPr>
            <a:spLocks noGrp="1"/>
          </p:cNvSpPr>
          <p:nvPr/>
        </p:nvSpPr>
        <p:spPr>
          <a:xfrm>
            <a:off x="5191125" y="2333625"/>
            <a:ext cx="1952625" cy="76200"/>
          </a:xfrm>
          <a:prstGeom prst="roundRect">
            <a:avLst>
              <a:gd name="adj" fmla="val 50000"/>
            </a:avLst>
          </a:prstGeom>
          <a:solidFill>
            <a:srgbClr val="4EA1FF"/>
          </a:solidFill>
          <a:ln w="0">
            <a:noFill/>
          </a:ln>
        </p:spPr>
      </p:sp>
      <p:sp>
        <p:nvSpPr>
          <p:cNvPr id="14" name="Rectangle 13">
            <a:extLst>
              <a:ext uri="{FF2B5EF4-FFF2-40B4-BE49-F238E27FC236}">
                <a16:creationId xmlns:a16="http://schemas.microsoft.com/office/drawing/2014/main" id="{EA72B680-B357-4457-87CB-CEB0C6360E38}"/>
              </a:ext>
            </a:extLst>
          </p:cNvPr>
          <p:cNvSpPr>
            <a:spLocks noGrp="1"/>
          </p:cNvSpPr>
          <p:nvPr/>
        </p:nvSpPr>
        <p:spPr>
          <a:xfrm>
            <a:off x="5362575"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Stage I</a:t>
            </a:r>
          </a:p>
        </p:txBody>
      </p:sp>
      <p:sp>
        <p:nvSpPr>
          <p:cNvPr id="15" name="Rectangle 14">
            <a:extLst>
              <a:ext uri="{FF2B5EF4-FFF2-40B4-BE49-F238E27FC236}">
                <a16:creationId xmlns:a16="http://schemas.microsoft.com/office/drawing/2014/main" id="{766B272C-9671-42CF-A33C-8FD98C50470F}"/>
              </a:ext>
            </a:extLst>
          </p:cNvPr>
          <p:cNvSpPr>
            <a:spLocks noGrp="1"/>
          </p:cNvSpPr>
          <p:nvPr/>
        </p:nvSpPr>
        <p:spPr>
          <a:xfrm>
            <a:off x="5362575" y="3143250"/>
            <a:ext cx="1609725" cy="51435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PC1 EWMA</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candidate warnings</a:t>
            </a:r>
          </a:p>
        </p:txBody>
      </p:sp>
      <p:sp>
        <p:nvSpPr>
          <p:cNvPr id="16" name="Rectangle: Rounded Corners 15">
            <a:extLst>
              <a:ext uri="{FF2B5EF4-FFF2-40B4-BE49-F238E27FC236}">
                <a16:creationId xmlns:a16="http://schemas.microsoft.com/office/drawing/2014/main" id="{A3E7FE36-87E0-4AB6-A7C1-4B48092CF03C}"/>
              </a:ext>
            </a:extLst>
          </p:cNvPr>
          <p:cNvSpPr>
            <a:spLocks noGrp="1"/>
          </p:cNvSpPr>
          <p:nvPr/>
        </p:nvSpPr>
        <p:spPr>
          <a:xfrm>
            <a:off x="7524750" y="2333625"/>
            <a:ext cx="1952625" cy="1714500"/>
          </a:xfrm>
          <a:prstGeom prst="roundRect">
            <a:avLst>
              <a:gd name="adj" fmla="val 7778"/>
            </a:avLst>
          </a:prstGeom>
          <a:solidFill>
            <a:srgbClr val="0F1C2B"/>
          </a:solidFill>
          <a:ln w="9525">
            <a:solidFill>
              <a:srgbClr val="F5B942"/>
            </a:solidFill>
            <a:prstDash val="solid"/>
          </a:ln>
        </p:spPr>
      </p:sp>
      <p:sp>
        <p:nvSpPr>
          <p:cNvPr id="17" name="Rectangle: Rounded Corners 16">
            <a:extLst>
              <a:ext uri="{FF2B5EF4-FFF2-40B4-BE49-F238E27FC236}">
                <a16:creationId xmlns:a16="http://schemas.microsoft.com/office/drawing/2014/main" id="{93E09973-00CE-408A-90EB-6E3C0F114EE7}"/>
              </a:ext>
            </a:extLst>
          </p:cNvPr>
          <p:cNvSpPr>
            <a:spLocks noGrp="1"/>
          </p:cNvSpPr>
          <p:nvPr/>
        </p:nvSpPr>
        <p:spPr>
          <a:xfrm>
            <a:off x="7524750" y="2333625"/>
            <a:ext cx="1952625" cy="76200"/>
          </a:xfrm>
          <a:prstGeom prst="roundRect">
            <a:avLst>
              <a:gd name="adj" fmla="val 50000"/>
            </a:avLst>
          </a:prstGeom>
          <a:solidFill>
            <a:srgbClr val="F5B942"/>
          </a:solidFill>
          <a:ln w="0">
            <a:noFill/>
          </a:ln>
        </p:spPr>
      </p:sp>
      <p:sp>
        <p:nvSpPr>
          <p:cNvPr id="18" name="Rectangle 17">
            <a:extLst>
              <a:ext uri="{FF2B5EF4-FFF2-40B4-BE49-F238E27FC236}">
                <a16:creationId xmlns:a16="http://schemas.microsoft.com/office/drawing/2014/main" id="{3D877F8F-991B-4571-8C36-5F530C5AE841}"/>
              </a:ext>
            </a:extLst>
          </p:cNvPr>
          <p:cNvSpPr>
            <a:spLocks noGrp="1"/>
          </p:cNvSpPr>
          <p:nvPr/>
        </p:nvSpPr>
        <p:spPr>
          <a:xfrm>
            <a:off x="7696200"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Stage II</a:t>
            </a:r>
          </a:p>
        </p:txBody>
      </p:sp>
      <p:sp>
        <p:nvSpPr>
          <p:cNvPr id="19" name="Rectangle 18">
            <a:extLst>
              <a:ext uri="{FF2B5EF4-FFF2-40B4-BE49-F238E27FC236}">
                <a16:creationId xmlns:a16="http://schemas.microsoft.com/office/drawing/2014/main" id="{09740D74-0B36-46AE-B787-30B18AED69A9}"/>
              </a:ext>
            </a:extLst>
          </p:cNvPr>
          <p:cNvSpPr>
            <a:spLocks noGrp="1"/>
          </p:cNvSpPr>
          <p:nvPr/>
        </p:nvSpPr>
        <p:spPr>
          <a:xfrm>
            <a:off x="7696200"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Hotelling T²</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validation</a:t>
            </a:r>
          </a:p>
        </p:txBody>
      </p:sp>
      <p:sp>
        <p:nvSpPr>
          <p:cNvPr id="20" name="Rectangle: Rounded Corners 19">
            <a:extLst>
              <a:ext uri="{FF2B5EF4-FFF2-40B4-BE49-F238E27FC236}">
                <a16:creationId xmlns:a16="http://schemas.microsoft.com/office/drawing/2014/main" id="{5D8CDCE0-8F99-4397-8AB5-BECE7661AE01}"/>
              </a:ext>
            </a:extLst>
          </p:cNvPr>
          <p:cNvSpPr>
            <a:spLocks noGrp="1"/>
          </p:cNvSpPr>
          <p:nvPr/>
        </p:nvSpPr>
        <p:spPr>
          <a:xfrm>
            <a:off x="9858375" y="2333625"/>
            <a:ext cx="1809750" cy="1714500"/>
          </a:xfrm>
          <a:prstGeom prst="roundRect">
            <a:avLst>
              <a:gd name="adj" fmla="val 7778"/>
            </a:avLst>
          </a:prstGeom>
          <a:solidFill>
            <a:srgbClr val="0F1C2B"/>
          </a:solidFill>
          <a:ln w="9525">
            <a:solidFill>
              <a:srgbClr val="64D98B"/>
            </a:solidFill>
            <a:prstDash val="solid"/>
          </a:ln>
        </p:spPr>
      </p:sp>
      <p:sp>
        <p:nvSpPr>
          <p:cNvPr id="21" name="Rectangle: Rounded Corners 20">
            <a:extLst>
              <a:ext uri="{FF2B5EF4-FFF2-40B4-BE49-F238E27FC236}">
                <a16:creationId xmlns:a16="http://schemas.microsoft.com/office/drawing/2014/main" id="{827A085D-5169-47AB-8BCC-D1115AC8DA4D}"/>
              </a:ext>
            </a:extLst>
          </p:cNvPr>
          <p:cNvSpPr>
            <a:spLocks noGrp="1"/>
          </p:cNvSpPr>
          <p:nvPr/>
        </p:nvSpPr>
        <p:spPr>
          <a:xfrm>
            <a:off x="9858375" y="2333625"/>
            <a:ext cx="1809750" cy="76200"/>
          </a:xfrm>
          <a:prstGeom prst="roundRect">
            <a:avLst>
              <a:gd name="adj" fmla="val 50000"/>
            </a:avLst>
          </a:prstGeom>
          <a:solidFill>
            <a:srgbClr val="64D98B"/>
          </a:solidFill>
          <a:ln w="0">
            <a:noFill/>
          </a:ln>
        </p:spPr>
      </p:sp>
      <p:sp>
        <p:nvSpPr>
          <p:cNvPr id="22" name="Rectangle 21">
            <a:extLst>
              <a:ext uri="{FF2B5EF4-FFF2-40B4-BE49-F238E27FC236}">
                <a16:creationId xmlns:a16="http://schemas.microsoft.com/office/drawing/2014/main" id="{62CECF4B-8574-40EA-90A0-A7E8703A2566}"/>
              </a:ext>
            </a:extLst>
          </p:cNvPr>
          <p:cNvSpPr>
            <a:spLocks noGrp="1"/>
          </p:cNvSpPr>
          <p:nvPr/>
        </p:nvSpPr>
        <p:spPr>
          <a:xfrm>
            <a:off x="10029825" y="2647950"/>
            <a:ext cx="1466850"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Evidence</a:t>
            </a:r>
          </a:p>
        </p:txBody>
      </p:sp>
      <p:sp>
        <p:nvSpPr>
          <p:cNvPr id="23" name="Rectangle 22">
            <a:extLst>
              <a:ext uri="{FF2B5EF4-FFF2-40B4-BE49-F238E27FC236}">
                <a16:creationId xmlns:a16="http://schemas.microsoft.com/office/drawing/2014/main" id="{4FB05B4A-1948-46C5-862D-B714ACCED87E}"/>
              </a:ext>
            </a:extLst>
          </p:cNvPr>
          <p:cNvSpPr>
            <a:spLocks noGrp="1"/>
          </p:cNvSpPr>
          <p:nvPr/>
        </p:nvSpPr>
        <p:spPr>
          <a:xfrm>
            <a:off x="10029825" y="3143250"/>
            <a:ext cx="1466850"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Counts, diagnostics</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and provenance</a:t>
            </a:r>
          </a:p>
        </p:txBody>
      </p:sp>
      <p:cxnSp>
        <p:nvCxnSpPr>
          <p:cNvPr id="110" name="Straight Arrow Connector 82"/>
          <p:cNvCxnSpPr>
            <a:stCxn id="4" idx="3"/>
            <a:endCxn id="8" idx="1"/>
          </p:cNvCxnSpPr>
          <p:nvPr/>
        </p:nvCxnSpPr>
        <p:spPr>
          <a:xfrm>
            <a:off x="2476500" y="3190875"/>
            <a:ext cx="381000" cy="0"/>
          </a:xfrm>
          <a:prstGeom prst="straightConnector1">
            <a:avLst/>
          </a:prstGeom>
          <a:ln w="28575">
            <a:solidFill>
              <a:srgbClr val="294057"/>
            </a:solidFill>
            <a:prstDash val="solid"/>
            <a:tailEnd type="triangle" w="sm" len="sm"/>
          </a:ln>
        </p:spPr>
      </p:cxnSp>
      <p:cxnSp>
        <p:nvCxnSpPr>
          <p:cNvPr id="111" name="Straight Arrow Connector 83"/>
          <p:cNvCxnSpPr>
            <a:stCxn id="8" idx="3"/>
            <a:endCxn id="12" idx="1"/>
          </p:cNvCxnSpPr>
          <p:nvPr/>
        </p:nvCxnSpPr>
        <p:spPr>
          <a:xfrm>
            <a:off x="4810125" y="3190875"/>
            <a:ext cx="381000" cy="0"/>
          </a:xfrm>
          <a:prstGeom prst="straightConnector1">
            <a:avLst/>
          </a:prstGeom>
          <a:ln w="28575">
            <a:solidFill>
              <a:srgbClr val="294057"/>
            </a:solidFill>
            <a:prstDash val="solid"/>
            <a:tailEnd type="triangle" w="sm" len="sm"/>
          </a:ln>
        </p:spPr>
      </p:cxnSp>
      <p:cxnSp>
        <p:nvCxnSpPr>
          <p:cNvPr id="112" name="Straight Arrow Connector 84"/>
          <p:cNvCxnSpPr>
            <a:stCxn id="12" idx="3"/>
            <a:endCxn id="16" idx="1"/>
          </p:cNvCxnSpPr>
          <p:nvPr/>
        </p:nvCxnSpPr>
        <p:spPr>
          <a:xfrm>
            <a:off x="7143750" y="3190875"/>
            <a:ext cx="381000" cy="0"/>
          </a:xfrm>
          <a:prstGeom prst="straightConnector1">
            <a:avLst/>
          </a:prstGeom>
          <a:ln w="28575">
            <a:solidFill>
              <a:srgbClr val="294057"/>
            </a:solidFill>
            <a:prstDash val="solid"/>
            <a:tailEnd type="triangle" w="sm" len="sm"/>
          </a:ln>
        </p:spPr>
      </p:cxnSp>
      <p:cxnSp>
        <p:nvCxnSpPr>
          <p:cNvPr id="113" name="Straight Arrow Connector 85"/>
          <p:cNvCxnSpPr>
            <a:stCxn id="16" idx="3"/>
            <a:endCxn id="20" idx="1"/>
          </p:cNvCxnSpPr>
          <p:nvPr/>
        </p:nvCxnSpPr>
        <p:spPr>
          <a:xfrm>
            <a:off x="9477375" y="3190875"/>
            <a:ext cx="381000" cy="0"/>
          </a:xfrm>
          <a:prstGeom prst="straightConnector1">
            <a:avLst/>
          </a:prstGeom>
          <a:ln w="28575">
            <a:solidFill>
              <a:srgbClr val="294057"/>
            </a:solidFill>
            <a:prstDash val="solid"/>
            <a:tailEnd type="triangle" w="sm" len="sm"/>
          </a:ln>
        </p:spPr>
      </p:cxnSp>
      <p:sp>
        <p:nvSpPr>
          <p:cNvPr id="28" name="Rectangle 27">
            <a:extLst>
              <a:ext uri="{FF2B5EF4-FFF2-40B4-BE49-F238E27FC236}">
                <a16:creationId xmlns:a16="http://schemas.microsoft.com/office/drawing/2014/main" id="{8B931D16-7FB5-4AA1-B865-35E61D8911D1}"/>
              </a:ext>
            </a:extLst>
          </p:cNvPr>
          <p:cNvSpPr>
            <a:spLocks noGrp="1"/>
          </p:cNvSpPr>
          <p:nvPr/>
        </p:nvSpPr>
        <p:spPr>
          <a:xfrm>
            <a:off x="5191125" y="4476750"/>
            <a:ext cx="4286250" cy="285750"/>
          </a:xfrm>
          <a:prstGeom prst="rect">
            <a:avLst/>
          </a:prstGeom>
          <a:noFill/>
          <a:ln w="0">
            <a:noFill/>
          </a:ln>
        </p:spPr>
        <p:txBody>
          <a:bodyPr wrap="square" lIns="0" tIns="0" rIns="0" bIns="0" anchor="t">
            <a:normAutofit/>
          </a:bodyPr>
          <a:lstStyle/>
          <a:p>
            <a:pPr algn="ctr">
              <a:buNone/>
              <a:defRPr sz="1125" b="1">
                <a:solidFill>
                  <a:srgbClr val="F5B942"/>
                </a:solidFill>
                <a:latin typeface="DejaVu Sans"/>
                <a:ea typeface="DejaVu Sans"/>
                <a:cs typeface="DejaVu Sans"/>
              </a:defRPr>
            </a:pPr>
            <a:r>
              <a:rPr sz="1125" b="1">
                <a:solidFill>
                  <a:srgbClr val="F5B942"/>
                </a:solidFill>
                <a:latin typeface="DejaVu Sans"/>
                <a:ea typeface="DejaVu Sans"/>
                <a:cs typeface="DejaVu Sans"/>
              </a:rPr>
              <a:t>CSE subsystem boundary</a:t>
            </a:r>
          </a:p>
        </p:txBody>
      </p:sp>
      <p:sp>
        <p:nvSpPr>
          <p:cNvPr id="29" name="Straight Connector 28">
            <a:extLst>
              <a:ext uri="{FF2B5EF4-FFF2-40B4-BE49-F238E27FC236}">
                <a16:creationId xmlns:a16="http://schemas.microsoft.com/office/drawing/2014/main" id="{0D322409-6D7A-4985-8A67-4EF94F897E6A}"/>
              </a:ext>
            </a:extLst>
          </p:cNvPr>
          <p:cNvSpPr>
            <a:spLocks noGrp="1"/>
          </p:cNvSpPr>
          <p:nvPr/>
        </p:nvSpPr>
        <p:spPr>
          <a:xfrm>
            <a:off x="5400675" y="4857750"/>
            <a:ext cx="3857625" cy="0"/>
          </a:xfrm>
          <a:prstGeom prst="line">
            <a:avLst/>
          </a:prstGeom>
          <a:noFill/>
          <a:ln w="28575">
            <a:solidFill>
              <a:srgbClr val="F5B942"/>
            </a:solidFill>
            <a:prstDash val="solid"/>
          </a:ln>
        </p:spPr>
      </p:sp>
      <p:sp>
        <p:nvSpPr>
          <p:cNvPr id="30" name="Rectangle 29">
            <a:extLst>
              <a:ext uri="{FF2B5EF4-FFF2-40B4-BE49-F238E27FC236}">
                <a16:creationId xmlns:a16="http://schemas.microsoft.com/office/drawing/2014/main" id="{8819A1DC-8EC0-47CD-A6E5-4832549F86BF}"/>
              </a:ext>
            </a:extLst>
          </p:cNvPr>
          <p:cNvSpPr>
            <a:spLocks noGrp="1"/>
          </p:cNvSpPr>
          <p:nvPr/>
        </p:nvSpPr>
        <p:spPr>
          <a:xfrm>
            <a:off x="1238250" y="5524500"/>
            <a:ext cx="9810750" cy="609600"/>
          </a:xfrm>
          <a:prstGeom prst="rect">
            <a:avLst/>
          </a:prstGeom>
          <a:noFill/>
          <a:ln w="0">
            <a:noFill/>
          </a:ln>
        </p:spPr>
        <p:txBody>
          <a:bodyPr wrap="square" lIns="0" tIns="0" rIns="0" bIns="0" anchor="t">
            <a:no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Separate classifier components: linear SVM, bagging and supervised adaptation.</a:t>
            </a:r>
          </a:p>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Full PWKNN and dynamic-ensemble integration remains open.</a:t>
            </a:r>
          </a:p>
        </p:txBody>
      </p:sp>
      <p:sp>
        <p:nvSpPr>
          <p:cNvPr id="31" name="Rectangle 30">
            <a:extLst>
              <a:ext uri="{FF2B5EF4-FFF2-40B4-BE49-F238E27FC236}">
                <a16:creationId xmlns:a16="http://schemas.microsoft.com/office/drawing/2014/main" id="{6008A090-4643-4F7F-B8D3-F29933ED9F55}"/>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2" name="Rectangle 31">
            <a:extLst>
              <a:ext uri="{FF2B5EF4-FFF2-40B4-BE49-F238E27FC236}">
                <a16:creationId xmlns:a16="http://schemas.microsoft.com/office/drawing/2014/main" id="{A8AE9E2D-37CD-4F1E-942F-9B6D3090B189}"/>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pPr algn="r">
              <a:buNone/>
              <a:defRPr sz="825" b="1">
                <a:solidFill>
                  <a:srgbClr val="9CB0C3"/>
                </a:solidFill>
                <a:latin typeface="DejaVu Sans"/>
                <a:ea typeface="DejaVu Sans"/>
                <a:cs typeface="DejaVu Sans"/>
              </a:defRPr>
            </a:pPr>
            <a:r>
              <a:rPr sz="825" b="1">
                <a:solidFill>
                  <a:srgbClr val="9CB0C3"/>
                </a:solidFill>
                <a:latin typeface="DejaVu Sans"/>
                <a:ea typeface="DejaVu Sans"/>
                <a:cs typeface="DejaVu Sans"/>
              </a:rPr>
              <a:t>04</a:t>
            </a:r>
          </a:p>
        </p:txBody>
      </p:sp>
      <p:sp>
        <p:nvSpPr>
          <p:cNvPr id="114" name="Extension methods">
            <a:extLst>
              <a:ext uri="{FF2B5EF4-FFF2-40B4-BE49-F238E27FC236}">
                <a16:creationId xmlns:a16="http://schemas.microsoft.com/office/drawing/2014/main" id="{37B6F045-BB02-477B-A018-931618D34297}"/>
              </a:ext>
            </a:extLst>
          </p:cNvPr>
          <p:cNvSpPr>
            <a:spLocks noGrp="1"/>
          </p:cNvSpPr>
          <p:nvPr/>
        </p:nvSpPr>
        <p:spPr>
          <a:xfrm>
            <a:off x="800100" y="5019675"/>
            <a:ext cx="10572750" cy="43815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Audit and extension methods: PCA score/residual monitoring, K–S validation, ICI-CDT and multivariate PCA/ICA.</a:t>
            </a:r>
          </a:p>
        </p:txBody>
      </p:sp>
    </p:spTree>
    <p:extLst>
      <p:ext uri="{BB962C8B-B14F-4D97-AF65-F5344CB8AC3E}">
        <p14:creationId xmlns:p14="http://schemas.microsoft.com/office/powerpoint/2010/main" val="1926805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pPr algn="r">
              <a:buNone/>
              <a:defRPr sz="825" b="1">
                <a:solidFill>
                  <a:srgbClr val="9CB0C3"/>
                </a:solidFill>
                <a:latin typeface="DejaVu Sans"/>
                <a:ea typeface="DejaVu Sans"/>
                <a:cs typeface="DejaVu Sans"/>
              </a:defRPr>
            </a:pPr>
            <a:r>
              <a:rPr sz="825" b="1">
                <a:solidFill>
                  <a:srgbClr val="9CB0C3"/>
                </a:solidFill>
                <a:latin typeface="DejaVu Sans"/>
                <a:ea typeface="DejaVu Sans"/>
                <a:cs typeface="DejaVu Sans"/>
              </a:rPr>
              <a:t>05</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pPr algn="r">
              <a:buNone/>
              <a:defRPr sz="825" b="1">
                <a:solidFill>
                  <a:srgbClr val="9CB0C3"/>
                </a:solidFill>
                <a:latin typeface="DejaVu Sans"/>
                <a:ea typeface="DejaVu Sans"/>
                <a:cs typeface="DejaVu Sans"/>
              </a:defRPr>
            </a:pPr>
            <a:r>
              <a:rPr sz="825" b="1">
                <a:solidFill>
                  <a:srgbClr val="9CB0C3"/>
                </a:solidFill>
                <a:latin typeface="DejaVu Sans"/>
                <a:ea typeface="DejaVu Sans"/>
                <a:cs typeface="DejaVu Sans"/>
              </a:rPr>
              <a:t>06</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Verification snapshot: 216 tests, 1 failure (22 Sep). Refresh the report against current code.</a:t>
            </a:r>
          </a:p>
        </p:txBody>
      </p:sp>
      <p:graphicFrame>
        <p:nvGraphicFramePr>
          <p:cNvPr id="36" name=""/>
          <p:cNvGraphicFramePr/>
          <p:nvPr/>
        </p:nvGraphicFramePr>
        <p:xfrm>
          <a:off x="609600" y="2647950"/>
          <a:ext cx="4762500" cy="1428750"/>
        </p:xfrm>
        <a:graphic>
          <a:graphicData uri="http://schemas.openxmlformats.org/drawingml/2006/table">
            <a:tbl>
              <a:tblPr/>
              <a:tblGrid>
                <a:gridCol w="1238250"/>
                <a:gridCol w="1714500"/>
                <a:gridCol w="1809750"/>
              </a:tblGrid>
              <a:tr h="476250">
                <a:tc>
                  <a:txBody>
                    <a:bodyPr>
                      <a:noAutofit/>
                    </a:bodyPr>
                    <a:lstStyle/>
                    <a:p>
                      <a:r>
                        <a:rPr sz="1275" b="1">
                          <a:solidFill>
                            <a:srgbClr val="2DD4BF"/>
                          </a:solidFill>
                          <a:latin typeface="DejaVu Sans"/>
                          <a:ea typeface="DejaVu Sans"/>
                          <a:cs typeface="DejaVu Sans"/>
                        </a:rPr>
                        <a:t>Dataset</a:t>
                      </a:r>
                    </a:p>
                  </a:txBody>
                  <a:tcPr marL="91440" marR="91440" marT="45720" marB="45720">
                    <a:solidFill>
                      <a:srgbClr val="122B3E"/>
                    </a:solidFill>
                  </a:tcPr>
                </a:tc>
                <a:tc>
                  <a:txBody>
                    <a:bodyPr>
                      <a:noAutofit/>
                    </a:bodyPr>
                    <a:lstStyle/>
                    <a:p>
                      <a:r>
                        <a:rPr sz="1275" b="1">
                          <a:solidFill>
                            <a:srgbClr val="2DD4BF"/>
                          </a:solidFill>
                          <a:latin typeface="DejaVu Sans"/>
                          <a:ea typeface="DejaVu Sans"/>
                          <a:cs typeface="DejaVu Sans"/>
                        </a:rPr>
                        <a:t>Single SVM</a:t>
                      </a:r>
                    </a:p>
                  </a:txBody>
                  <a:tcPr marL="91440" marR="91440" marT="45720" marB="45720">
                    <a:solidFill>
                      <a:srgbClr val="122B3E"/>
                    </a:solidFill>
                  </a:tcPr>
                </a:tc>
                <a:tc>
                  <a:txBody>
                    <a:bodyPr>
                      <a:noAutofit/>
                    </a:bodyPr>
                    <a:lstStyle/>
                    <a:p>
                      <a:r>
                        <a:rPr sz="1275" b="1">
                          <a:solidFill>
                            <a:srgbClr val="2DD4BF"/>
                          </a:solidFill>
                          <a:latin typeface="DejaVu Sans"/>
                          <a:ea typeface="DejaVu Sans"/>
                          <a:cs typeface="DejaVu Sans"/>
                        </a:rPr>
                        <a:t>Bagged SVM</a:t>
                      </a:r>
                    </a:p>
                  </a:txBody>
                  <a:tcPr marL="91440" marR="91440" marT="45720" marB="45720">
                    <a:solidFill>
                      <a:srgbClr val="122B3E"/>
                    </a:solidFill>
                  </a:tcPr>
                </a:tc>
              </a:tr>
              <a:tr h="476250">
                <a:tc>
                  <a:txBody>
                    <a:bodyPr>
                      <a:noAutofit/>
                    </a:bodyPr>
                    <a:lstStyle/>
                    <a:p>
                      <a:r>
                        <a:rPr sz="1275" b="0">
                          <a:solidFill>
                            <a:srgbClr val="EAF2F8"/>
                          </a:solidFill>
                          <a:latin typeface="DejaVu Sans"/>
                          <a:ea typeface="DejaVu Sans"/>
                          <a:cs typeface="DejaVu Sans"/>
                        </a:rPr>
                        <a:t>2A</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76.00%</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75.85%</a:t>
                      </a:r>
                    </a:p>
                  </a:txBody>
                  <a:tcPr marL="91440" marR="91440" marT="45720" marB="45720">
                    <a:solidFill>
                      <a:srgbClr val="0E1D2C"/>
                    </a:solidFill>
                  </a:tcPr>
                </a:tc>
              </a:tr>
              <a:tr h="476250">
                <a:tc>
                  <a:txBody>
                    <a:bodyPr>
                      <a:noAutofit/>
                    </a:bodyPr>
                    <a:lstStyle/>
                    <a:p>
                      <a:r>
                        <a:rPr sz="1275" b="0">
                          <a:solidFill>
                            <a:srgbClr val="EAF2F8"/>
                          </a:solidFill>
                          <a:latin typeface="DejaVu Sans"/>
                          <a:ea typeface="DejaVu Sans"/>
                          <a:cs typeface="DejaVu Sans"/>
                        </a:rPr>
                        <a:t>2B</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74.86%</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75.42%</a:t>
                      </a:r>
                    </a:p>
                  </a:txBody>
                  <a:tcPr marL="91440" marR="91440" marT="45720" marB="45720">
                    <a:solidFill>
                      <a:srgbClr val="0E1D2C"/>
                    </a:solidFill>
                  </a:tcPr>
                </a:tc>
              </a:tr>
            </a:tbl>
          </a:graphicData>
        </a:graphic>
      </p:graphicFrame>
      <p:graphicFrame>
        <p:nvGraphicFramePr>
          <p:cNvPr id="37" name=""/>
          <p:cNvGraphicFramePr/>
          <p:nvPr/>
        </p:nvGraphicFramePr>
        <p:xfrm>
          <a:off x="6238875" y="2647950"/>
          <a:ext cx="5286375" cy="1905000"/>
        </p:xfrm>
        <a:graphic>
          <a:graphicData uri="http://schemas.openxmlformats.org/drawingml/2006/table">
            <a:tbl>
              <a:tblPr/>
              <a:tblGrid>
                <a:gridCol w="1095375"/>
                <a:gridCol w="1190625"/>
                <a:gridCol w="1428750"/>
                <a:gridCol w="1571625"/>
              </a:tblGrid>
              <a:tr h="476250">
                <a:tc>
                  <a:txBody>
                    <a:bodyPr>
                      <a:noAutofit/>
                    </a:bodyPr>
                    <a:lstStyle/>
                    <a:p>
                      <a:r>
                        <a:rPr sz="1275" b="1">
                          <a:solidFill>
                            <a:srgbClr val="2DD4BF"/>
                          </a:solidFill>
                          <a:latin typeface="DejaVu Sans"/>
                          <a:ea typeface="DejaVu Sans"/>
                          <a:cs typeface="DejaVu Sans"/>
                        </a:rPr>
                        <a:t>Shift</a:t>
                      </a:r>
                    </a:p>
                  </a:txBody>
                  <a:tcPr marL="91440" marR="91440" marT="45720" marB="45720">
                    <a:solidFill>
                      <a:srgbClr val="122B3E"/>
                    </a:solidFill>
                  </a:tcPr>
                </a:tc>
                <a:tc>
                  <a:txBody>
                    <a:bodyPr>
                      <a:noAutofit/>
                    </a:bodyPr>
                    <a:lstStyle/>
                    <a:p>
                      <a:r>
                        <a:rPr sz="1275" b="1">
                          <a:solidFill>
                            <a:srgbClr val="2DD4BF"/>
                          </a:solidFill>
                          <a:latin typeface="DejaVu Sans"/>
                          <a:ea typeface="DejaVu Sans"/>
                          <a:cs typeface="DejaVu Sans"/>
                        </a:rPr>
                        <a:t>Score</a:t>
                      </a:r>
                    </a:p>
                  </a:txBody>
                  <a:tcPr marL="91440" marR="91440" marT="45720" marB="45720">
                    <a:solidFill>
                      <a:srgbClr val="122B3E"/>
                    </a:solidFill>
                  </a:tcPr>
                </a:tc>
                <a:tc>
                  <a:txBody>
                    <a:bodyPr>
                      <a:noAutofit/>
                    </a:bodyPr>
                    <a:lstStyle/>
                    <a:p>
                      <a:r>
                        <a:rPr sz="1275" b="1">
                          <a:solidFill>
                            <a:srgbClr val="2DD4BF"/>
                          </a:solidFill>
                          <a:latin typeface="DejaVu Sans"/>
                          <a:ea typeface="DejaVu Sans"/>
                          <a:cs typeface="DejaVu Sans"/>
                        </a:rPr>
                        <a:t>Residual</a:t>
                      </a:r>
                    </a:p>
                  </a:txBody>
                  <a:tcPr marL="91440" marR="91440" marT="45720" marB="45720">
                    <a:solidFill>
                      <a:srgbClr val="122B3E"/>
                    </a:solidFill>
                  </a:tcPr>
                </a:tc>
                <a:tc>
                  <a:txBody>
                    <a:bodyPr>
                      <a:noAutofit/>
                    </a:bodyPr>
                    <a:lstStyle/>
                    <a:p>
                      <a:r>
                        <a:rPr sz="1275" b="1">
                          <a:solidFill>
                            <a:srgbClr val="2DD4BF"/>
                          </a:solidFill>
                          <a:latin typeface="DejaVu Sans"/>
                          <a:ea typeface="DejaVu Sans"/>
                          <a:cs typeface="DejaVu Sans"/>
                        </a:rPr>
                        <a:t>Combined</a:t>
                      </a:r>
                    </a:p>
                  </a:txBody>
                  <a:tcPr marL="91440" marR="91440" marT="45720" marB="45720">
                    <a:solidFill>
                      <a:srgbClr val="122B3E"/>
                    </a:solidFill>
                  </a:tcPr>
                </a:tc>
              </a:tr>
              <a:tr h="476250">
                <a:tc>
                  <a:txBody>
                    <a:bodyPr>
                      <a:noAutofit/>
                    </a:bodyPr>
                    <a:lstStyle/>
                    <a:p>
                      <a:r>
                        <a:rPr sz="1275" b="0">
                          <a:solidFill>
                            <a:srgbClr val="EAF2F8"/>
                          </a:solidFill>
                          <a:latin typeface="DejaVu Sans"/>
                          <a:ea typeface="DejaVu Sans"/>
                          <a:cs typeface="DejaVu Sans"/>
                        </a:rPr>
                        <a:t>PC1</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35%</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21%</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31%</a:t>
                      </a:r>
                    </a:p>
                  </a:txBody>
                  <a:tcPr marL="91440" marR="91440" marT="45720" marB="45720">
                    <a:solidFill>
                      <a:srgbClr val="0E1D2C"/>
                    </a:solidFill>
                  </a:tcPr>
                </a:tc>
              </a:tr>
              <a:tr h="476250">
                <a:tc>
                  <a:txBody>
                    <a:bodyPr>
                      <a:noAutofit/>
                    </a:bodyPr>
                    <a:lstStyle/>
                    <a:p>
                      <a:r>
                        <a:rPr sz="1275" b="0">
                          <a:solidFill>
                            <a:srgbClr val="EAF2F8"/>
                          </a:solidFill>
                          <a:latin typeface="DejaVu Sans"/>
                          <a:ea typeface="DejaVu Sans"/>
                          <a:cs typeface="DejaVu Sans"/>
                        </a:rPr>
                        <a:t>PC2</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21%</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100%</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100%</a:t>
                      </a:r>
                    </a:p>
                  </a:txBody>
                  <a:tcPr marL="91440" marR="91440" marT="45720" marB="45720">
                    <a:solidFill>
                      <a:srgbClr val="0E1D2C"/>
                    </a:solidFill>
                  </a:tcPr>
                </a:tc>
              </a:tr>
              <a:tr h="476250">
                <a:tc>
                  <a:txBody>
                    <a:bodyPr>
                      <a:noAutofit/>
                    </a:bodyPr>
                    <a:lstStyle/>
                    <a:p>
                      <a:r>
                        <a:rPr sz="1275" b="0">
                          <a:solidFill>
                            <a:srgbClr val="EAF2F8"/>
                          </a:solidFill>
                          <a:latin typeface="DejaVu Sans"/>
                          <a:ea typeface="DejaVu Sans"/>
                          <a:cs typeface="DejaVu Sans"/>
                        </a:rPr>
                        <a:t>Both</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26%</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100%</a:t>
                      </a:r>
                    </a:p>
                  </a:txBody>
                  <a:tcPr marL="91440" marR="91440" marT="45720" marB="45720">
                    <a:solidFill>
                      <a:srgbClr val="0E1D2C"/>
                    </a:solidFill>
                  </a:tcPr>
                </a:tc>
                <a:tc>
                  <a:txBody>
                    <a:bodyPr>
                      <a:noAutofit/>
                    </a:bodyPr>
                    <a:lstStyle/>
                    <a:p>
                      <a:r>
                        <a:rPr sz="1275" b="0">
                          <a:solidFill>
                            <a:srgbClr val="EAF2F8"/>
                          </a:solidFill>
                          <a:latin typeface="DejaVu Sans"/>
                          <a:ea typeface="DejaVu Sans"/>
                          <a:cs typeface="DejaVu Sans"/>
                        </a:rPr>
                        <a:t>99%</a:t>
                      </a:r>
                    </a:p>
                  </a:txBody>
                  <a:tcPr marL="91440" marR="91440" marT="45720" marB="45720">
                    <a:solidFill>
                      <a:srgbClr val="0E1D2C"/>
                    </a:solidFill>
                  </a:tcPr>
                </a:tc>
              </a:tr>
            </a:tbl>
          </a:graphicData>
        </a:graphic>
      </p:graphicFrame>
    </p:spTree>
    <p:extLst>
      <p:ext uri="{BB962C8B-B14F-4D97-AF65-F5344CB8AC3E}">
        <p14:creationId xmlns:p14="http://schemas.microsoft.com/office/powerpoint/2010/main" val="9040942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740CA694-4EF1-4040-A776-44BC817FB09E}"/>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MANUSCRIPT STATUS</a:t>
            </a:r>
          </a:p>
        </p:txBody>
      </p:sp>
      <p:sp>
        <p:nvSpPr>
          <p:cNvPr id="2" name="Rectangle 1">
            <a:extLst>
              <a:ext uri="{FF2B5EF4-FFF2-40B4-BE49-F238E27FC236}">
                <a16:creationId xmlns:a16="http://schemas.microsoft.com/office/drawing/2014/main" id="{98EEA367-8366-4CB3-950C-B636B7DEA4F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Evidence available for the manuscript and open gaps</a:t>
            </a:r>
          </a:p>
        </p:txBody>
      </p:sp>
      <p:sp>
        <p:nvSpPr>
          <p:cNvPr id="3" name="Straight Connector 2">
            <a:extLst>
              <a:ext uri="{FF2B5EF4-FFF2-40B4-BE49-F238E27FC236}">
                <a16:creationId xmlns:a16="http://schemas.microsoft.com/office/drawing/2014/main" id="{6FF91CC9-E811-40C0-9741-F322C58C33E6}"/>
              </a:ext>
            </a:extLst>
          </p:cNvPr>
          <p:cNvSpPr>
            <a:spLocks noGrp="1"/>
          </p:cNvSpPr>
          <p:nvPr/>
        </p:nvSpPr>
        <p:spPr>
          <a:xfrm>
            <a:off x="609600" y="1371600"/>
            <a:ext cx="10972800" cy="0"/>
          </a:xfrm>
          <a:prstGeom prst="line">
            <a:avLst/>
          </a:prstGeom>
          <a:noFill/>
          <a:ln w="19050">
            <a:solidFill>
              <a:srgbClr val="294057"/>
            </a:solidFill>
            <a:prstDash val="solid"/>
          </a:ln>
        </p:spPr>
      </p:sp>
      <p:sp>
        <p:nvSpPr>
          <p:cNvPr id="4" name="Rectangle 3">
            <a:extLst>
              <a:ext uri="{FF2B5EF4-FFF2-40B4-BE49-F238E27FC236}">
                <a16:creationId xmlns:a16="http://schemas.microsoft.com/office/drawing/2014/main" id="{889A6C85-7B71-4BA8-9906-A308140E6F64}"/>
              </a:ext>
            </a:extLst>
          </p:cNvPr>
          <p:cNvSpPr>
            <a:spLocks noGrp="1"/>
          </p:cNvSpPr>
          <p:nvPr/>
        </p:nvSpPr>
        <p:spPr>
          <a:xfrm>
            <a:off x="609600" y="1790700"/>
            <a:ext cx="3048000" cy="361950"/>
          </a:xfrm>
          <a:prstGeom prst="rect">
            <a:avLst/>
          </a:prstGeom>
          <a:noFill/>
          <a:ln w="0">
            <a:noFill/>
          </a:ln>
        </p:spPr>
        <p:txBody>
          <a:bodyPr wrap="square" lIns="0" tIns="0" rIns="0" bIns="0" anchor="t">
            <a:noAutofit/>
          </a:bodyPr>
          <a:lstStyle/>
          <a:p>
            <a:pPr algn="l">
              <a:buNone/>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Evidence now tracked</a:t>
            </a:r>
          </a:p>
        </p:txBody>
      </p:sp>
      <p:sp>
        <p:nvSpPr>
          <p:cNvPr id="5" name="Straight Connector 4">
            <a:extLst>
              <a:ext uri="{FF2B5EF4-FFF2-40B4-BE49-F238E27FC236}">
                <a16:creationId xmlns:a16="http://schemas.microsoft.com/office/drawing/2014/main" id="{D1F38080-B796-481E-B793-376A2E256E5D}"/>
              </a:ext>
            </a:extLst>
          </p:cNvPr>
          <p:cNvSpPr>
            <a:spLocks noGrp="1"/>
          </p:cNvSpPr>
          <p:nvPr/>
        </p:nvSpPr>
        <p:spPr>
          <a:xfrm>
            <a:off x="609600" y="2266950"/>
            <a:ext cx="3048000" cy="0"/>
          </a:xfrm>
          <a:prstGeom prst="line">
            <a:avLst/>
          </a:prstGeom>
          <a:noFill/>
          <a:ln w="47625">
            <a:solidFill>
              <a:srgbClr val="64D98B"/>
            </a:solidFill>
            <a:prstDash val="solid"/>
          </a:ln>
        </p:spPr>
      </p:sp>
      <p:sp>
        <p:nvSpPr>
          <p:cNvPr id="6" name="Rectangle 5">
            <a:extLst>
              <a:ext uri="{FF2B5EF4-FFF2-40B4-BE49-F238E27FC236}">
                <a16:creationId xmlns:a16="http://schemas.microsoft.com/office/drawing/2014/main" id="{27225BA0-BCAC-4B62-A8CD-CE52987DA288}"/>
              </a:ext>
            </a:extLst>
          </p:cNvPr>
          <p:cNvSpPr>
            <a:spLocks noGrp="1"/>
          </p:cNvSpPr>
          <p:nvPr/>
        </p:nvSpPr>
        <p:spPr>
          <a:xfrm>
            <a:off x="609600" y="2552700"/>
            <a:ext cx="3048000" cy="2286000"/>
          </a:xfrm>
          <a:prstGeom prst="rect">
            <a:avLst/>
          </a:prstGeom>
          <a:noFill/>
          <a:ln w="0">
            <a:noFill/>
          </a:ln>
        </p:spPr>
        <p:txBody>
          <a:bodyPr wrap="square" lIns="0" tIns="0" rIns="0" bIns="0" anchor="t">
            <a:noAutofit/>
          </a:bodyPr>
          <a:lstStyle/>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Table-I subject counts</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2B L / variance sensitivity</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D2/D3/D4 comparisons</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Real EEG SVM / bagging</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Complementary synthetic runs</a:t>
            </a:r>
          </a:p>
        </p:txBody>
      </p:sp>
      <p:sp>
        <p:nvSpPr>
          <p:cNvPr id="7" name="Rectangle 6">
            <a:extLst>
              <a:ext uri="{FF2B5EF4-FFF2-40B4-BE49-F238E27FC236}">
                <a16:creationId xmlns:a16="http://schemas.microsoft.com/office/drawing/2014/main" id="{2D0AF876-13D6-4BD8-A726-33D988E0E5A1}"/>
              </a:ext>
            </a:extLst>
          </p:cNvPr>
          <p:cNvSpPr>
            <a:spLocks noGrp="1"/>
          </p:cNvSpPr>
          <p:nvPr/>
        </p:nvSpPr>
        <p:spPr>
          <a:xfrm>
            <a:off x="4133850" y="1790700"/>
            <a:ext cx="3048000" cy="361950"/>
          </a:xfrm>
          <a:prstGeom prst="rect">
            <a:avLst/>
          </a:prstGeom>
          <a:noFill/>
          <a:ln w="0">
            <a:noFill/>
          </a:ln>
        </p:spPr>
        <p:txBody>
          <a:bodyPr wrap="square" lIns="0" tIns="0" rIns="0" bIns="0" anchor="t">
            <a:noAutofit/>
          </a:bodyPr>
          <a:lstStyle/>
          <a:p>
            <a:pPr algn="l">
              <a:buNone/>
              <a:defRPr sz="1725" b="1">
                <a:solidFill>
                  <a:srgbClr val="F5B942"/>
                </a:solidFill>
                <a:latin typeface="DejaVu Sans"/>
                <a:ea typeface="DejaVu Sans"/>
                <a:cs typeface="DejaVu Sans"/>
              </a:defRPr>
            </a:pPr>
            <a:r>
              <a:rPr sz="1725" b="1">
                <a:solidFill>
                  <a:srgbClr val="F5B942"/>
                </a:solidFill>
                <a:latin typeface="DejaVu Sans"/>
                <a:ea typeface="DejaVu Sans"/>
                <a:cs typeface="DejaVu Sans"/>
              </a:rPr>
              <a:t>Reproduction gap</a:t>
            </a:r>
          </a:p>
        </p:txBody>
      </p:sp>
      <p:sp>
        <p:nvSpPr>
          <p:cNvPr id="8" name="Straight Connector 7">
            <a:extLst>
              <a:ext uri="{FF2B5EF4-FFF2-40B4-BE49-F238E27FC236}">
                <a16:creationId xmlns:a16="http://schemas.microsoft.com/office/drawing/2014/main" id="{55EA8BD3-880D-46AD-9312-AE0EBFF4CE79}"/>
              </a:ext>
            </a:extLst>
          </p:cNvPr>
          <p:cNvSpPr>
            <a:spLocks noGrp="1"/>
          </p:cNvSpPr>
          <p:nvPr/>
        </p:nvSpPr>
        <p:spPr>
          <a:xfrm>
            <a:off x="4133850" y="2266950"/>
            <a:ext cx="3048000" cy="0"/>
          </a:xfrm>
          <a:prstGeom prst="line">
            <a:avLst/>
          </a:prstGeom>
          <a:noFill/>
          <a:ln w="47625">
            <a:solidFill>
              <a:srgbClr val="F5B942"/>
            </a:solidFill>
            <a:prstDash val="solid"/>
          </a:ln>
        </p:spPr>
      </p:sp>
      <p:sp>
        <p:nvSpPr>
          <p:cNvPr id="9" name="Rectangle 8">
            <a:extLst>
              <a:ext uri="{FF2B5EF4-FFF2-40B4-BE49-F238E27FC236}">
                <a16:creationId xmlns:a16="http://schemas.microsoft.com/office/drawing/2014/main" id="{37D71A6D-529B-4C3D-B747-A5F59E6E5FC4}"/>
              </a:ext>
            </a:extLst>
          </p:cNvPr>
          <p:cNvSpPr>
            <a:spLocks noGrp="1"/>
          </p:cNvSpPr>
          <p:nvPr/>
        </p:nvSpPr>
        <p:spPr>
          <a:xfrm>
            <a:off x="4133850" y="2552700"/>
            <a:ext cx="3048000" cy="2286000"/>
          </a:xfrm>
          <a:prstGeom prst="rect">
            <a:avLst/>
          </a:prstGeom>
          <a:noFill/>
          <a:ln w="0">
            <a:noFill/>
          </a:ln>
        </p:spPr>
        <p:txBody>
          <a:bodyPr wrap="square" lIns="0" tIns="0" rIns="0" bIns="0" anchor="t">
            <a:noAutofit/>
          </a:bodyPr>
          <a:lstStyle/>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Mean CSV, computed / published</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2A: 0.33 / 5.56</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2B: 0.67 / 10.33</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Audit Stage-II windows and modes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Trace PCA and variance settings</a:t>
            </a:r>
          </a:p>
        </p:txBody>
      </p:sp>
      <p:sp>
        <p:nvSpPr>
          <p:cNvPr id="10" name="Rectangle 9">
            <a:extLst>
              <a:ext uri="{FF2B5EF4-FFF2-40B4-BE49-F238E27FC236}">
                <a16:creationId xmlns:a16="http://schemas.microsoft.com/office/drawing/2014/main" id="{450CA87D-0D93-4568-9357-BF44E8EF64BB}"/>
              </a:ext>
            </a:extLst>
          </p:cNvPr>
          <p:cNvSpPr>
            <a:spLocks noGrp="1"/>
          </p:cNvSpPr>
          <p:nvPr/>
        </p:nvSpPr>
        <p:spPr>
          <a:xfrm>
            <a:off x="7658100" y="1790700"/>
            <a:ext cx="3048000" cy="361950"/>
          </a:xfrm>
          <a:prstGeom prst="rect">
            <a:avLst/>
          </a:prstGeom>
          <a:noFill/>
          <a:ln w="0">
            <a:noFill/>
          </a:ln>
        </p:spPr>
        <p:txBody>
          <a:bodyPr wrap="square" lIns="0" tIns="0" rIns="0" bIns="0" anchor="t">
            <a:noAutofit/>
          </a:bodyPr>
          <a:lstStyle/>
          <a:p>
            <a:pPr algn="l">
              <a:buNone/>
              <a:defRPr sz="1725" b="1">
                <a:solidFill>
                  <a:srgbClr val="F07178"/>
                </a:solidFill>
                <a:latin typeface="DejaVu Sans"/>
                <a:ea typeface="DejaVu Sans"/>
                <a:cs typeface="DejaVu Sans"/>
              </a:defRPr>
            </a:pPr>
            <a:r>
              <a:rPr sz="1725" b="1">
                <a:solidFill>
                  <a:srgbClr val="F07178"/>
                </a:solidFill>
                <a:latin typeface="DejaVu Sans"/>
                <a:ea typeface="DejaVu Sans"/>
                <a:cs typeface="DejaVu Sans"/>
              </a:rPr>
              <a:t>Next evidence</a:t>
            </a:r>
          </a:p>
        </p:txBody>
      </p:sp>
      <p:sp>
        <p:nvSpPr>
          <p:cNvPr id="11" name="Straight Connector 10">
            <a:extLst>
              <a:ext uri="{FF2B5EF4-FFF2-40B4-BE49-F238E27FC236}">
                <a16:creationId xmlns:a16="http://schemas.microsoft.com/office/drawing/2014/main" id="{893686EC-B82B-429F-90B0-A4C2F5D68238}"/>
              </a:ext>
            </a:extLst>
          </p:cNvPr>
          <p:cNvSpPr>
            <a:spLocks noGrp="1"/>
          </p:cNvSpPr>
          <p:nvPr/>
        </p:nvSpPr>
        <p:spPr>
          <a:xfrm>
            <a:off x="7658100" y="2266950"/>
            <a:ext cx="3048000" cy="0"/>
          </a:xfrm>
          <a:prstGeom prst="line">
            <a:avLst/>
          </a:prstGeom>
          <a:noFill/>
          <a:ln w="47625">
            <a:solidFill>
              <a:srgbClr val="F07178"/>
            </a:solidFill>
            <a:prstDash val="solid"/>
          </a:ln>
        </p:spPr>
      </p:sp>
      <p:sp>
        <p:nvSpPr>
          <p:cNvPr id="12" name="Rectangle 11">
            <a:extLst>
              <a:ext uri="{FF2B5EF4-FFF2-40B4-BE49-F238E27FC236}">
                <a16:creationId xmlns:a16="http://schemas.microsoft.com/office/drawing/2014/main" id="{22F1C060-C217-4890-A9D2-ADA75D697F07}"/>
              </a:ext>
            </a:extLst>
          </p:cNvPr>
          <p:cNvSpPr>
            <a:spLocks noGrp="1"/>
          </p:cNvSpPr>
          <p:nvPr/>
        </p:nvSpPr>
        <p:spPr>
          <a:xfrm>
            <a:off x="7658100" y="2552700"/>
            <a:ext cx="3048000" cy="2286000"/>
          </a:xfrm>
          <a:prstGeom prst="rect">
            <a:avLst/>
          </a:prstGeom>
          <a:noFill/>
          <a:ln w="0">
            <a:noFill/>
          </a:ln>
        </p:spPr>
        <p:txBody>
          <a:bodyPr wrap="square" lIns="0" tIns="0" rIns="0" bIns="0" anchor="t">
            <a:noAutofit/>
          </a:bodyPr>
          <a:lstStyle/>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Configuration-locked rerun</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Stage-II event diagnostics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Real EEG complementary traces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Window-level false-alarm audit</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Current test report</a:t>
            </a:r>
          </a:p>
        </p:txBody>
      </p:sp>
      <p:sp>
        <p:nvSpPr>
          <p:cNvPr id="13" name="Rectangle: Rounded Corners 12">
            <a:extLst>
              <a:ext uri="{FF2B5EF4-FFF2-40B4-BE49-F238E27FC236}">
                <a16:creationId xmlns:a16="http://schemas.microsoft.com/office/drawing/2014/main" id="{9251CEAA-F8F5-42CE-ABA3-B9E4D7243892}"/>
              </a:ext>
            </a:extLst>
          </p:cNvPr>
          <p:cNvSpPr>
            <a:spLocks noGrp="1"/>
          </p:cNvSpPr>
          <p:nvPr/>
        </p:nvSpPr>
        <p:spPr>
          <a:xfrm>
            <a:off x="609600" y="5191125"/>
            <a:ext cx="10096500" cy="647700"/>
          </a:xfrm>
          <a:prstGeom prst="roundRect">
            <a:avLst>
              <a:gd name="adj" fmla="val 14706"/>
            </a:avLst>
          </a:prstGeom>
          <a:solidFill>
            <a:srgbClr val="0F1C2B"/>
          </a:solidFill>
          <a:ln w="9525">
            <a:solidFill>
              <a:srgbClr val="294057"/>
            </a:solidFill>
            <a:prstDash val="solid"/>
          </a:ln>
        </p:spPr>
      </p:sp>
      <p:sp>
        <p:nvSpPr>
          <p:cNvPr id="14" name="Rectangle 13">
            <a:extLst>
              <a:ext uri="{FF2B5EF4-FFF2-40B4-BE49-F238E27FC236}">
                <a16:creationId xmlns:a16="http://schemas.microsoft.com/office/drawing/2014/main" id="{C4EB26C4-B90D-43F1-B6CF-61E12A7E49BB}"/>
              </a:ext>
            </a:extLst>
          </p:cNvPr>
          <p:cNvSpPr>
            <a:spLocks noGrp="1"/>
          </p:cNvSpPr>
          <p:nvPr/>
        </p:nvSpPr>
        <p:spPr>
          <a:xfrm>
            <a:off x="800100" y="5381625"/>
            <a:ext cx="2000250" cy="20955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Current claim</a:t>
            </a:r>
          </a:p>
        </p:txBody>
      </p:sp>
      <p:sp>
        <p:nvSpPr>
          <p:cNvPr id="15" name="Rectangle 14">
            <a:extLst>
              <a:ext uri="{FF2B5EF4-FFF2-40B4-BE49-F238E27FC236}">
                <a16:creationId xmlns:a16="http://schemas.microsoft.com/office/drawing/2014/main" id="{655ECF7B-62D0-41B8-A889-B455D227A1F1}"/>
              </a:ext>
            </a:extLst>
          </p:cNvPr>
          <p:cNvSpPr>
            <a:spLocks noGrp="1"/>
          </p:cNvSpPr>
          <p:nvPr/>
        </p:nvSpPr>
        <p:spPr>
          <a:xfrm>
            <a:off x="2952750" y="5286375"/>
            <a:ext cx="7524750" cy="381000"/>
          </a:xfrm>
          <a:prstGeom prst="rect">
            <a:avLst/>
          </a:prstGeom>
          <a:noFill/>
          <a:ln w="0">
            <a:noFill/>
          </a:ln>
        </p:spPr>
        <p:txBody>
          <a:bodyPr wrap="square" lIns="0" tIns="0" rIns="0" bIns="0" anchor="t">
            <a:noAutofit/>
          </a:bodyPr>
          <a:lstStyle/>
          <a:p>
            <a:pPr algn="l">
              <a:buNone/>
              <a:defRPr sz="1238" b="1">
                <a:solidFill>
                  <a:srgbClr val="EAF2F8"/>
                </a:solidFill>
                <a:latin typeface="DejaVu Sans"/>
                <a:ea typeface="DejaVu Sans"/>
                <a:cs typeface="DejaVu Sans"/>
              </a:defRPr>
            </a:pPr>
            <a:r>
              <a:rPr sz="1238" b="1">
                <a:solidFill>
                  <a:srgbClr val="EAF2F8"/>
                </a:solidFill>
                <a:latin typeface="DejaVu Sans"/>
                <a:ea typeface="DejaVu Sans"/>
                <a:cs typeface="DejaVu Sans"/>
              </a:rPr>
              <a:t>The reconstruction produces auditable results. Numerical reproduction and</a:t>
            </a:r>
          </a:p>
          <a:p>
            <a:pPr algn="l">
              <a:buNone/>
              <a:defRPr sz="1238" b="1">
                <a:solidFill>
                  <a:srgbClr val="EAF2F8"/>
                </a:solidFill>
                <a:latin typeface="DejaVu Sans"/>
                <a:ea typeface="DejaVu Sans"/>
                <a:cs typeface="DejaVu Sans"/>
              </a:defRPr>
            </a:pPr>
            <a:r>
              <a:rPr sz="1238" b="1">
                <a:solidFill>
                  <a:srgbClr val="EAF2F8"/>
                </a:solidFill>
                <a:latin typeface="DejaVu Sans"/>
                <a:ea typeface="DejaVu Sans"/>
                <a:cs typeface="DejaVu Sans"/>
              </a:rPr>
              <a:t>real EEG complementary-monitoring evidence remain incomplete.</a:t>
            </a:r>
          </a:p>
        </p:txBody>
      </p:sp>
      <p:sp>
        <p:nvSpPr>
          <p:cNvPr id="16" name="Rectangle 15">
            <a:extLst>
              <a:ext uri="{FF2B5EF4-FFF2-40B4-BE49-F238E27FC236}">
                <a16:creationId xmlns:a16="http://schemas.microsoft.com/office/drawing/2014/main" id="{9D3A75AB-491C-4D94-BB99-C282ABB21604}"/>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7" name="Rectangle 16">
            <a:extLst>
              <a:ext uri="{FF2B5EF4-FFF2-40B4-BE49-F238E27FC236}">
                <a16:creationId xmlns:a16="http://schemas.microsoft.com/office/drawing/2014/main" id="{36C0CBE6-7E9C-4BAF-BC9C-CE87E40A0E2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pPr algn="r">
              <a:buNone/>
              <a:defRPr sz="825" b="1">
                <a:solidFill>
                  <a:srgbClr val="9CB0C3"/>
                </a:solidFill>
                <a:latin typeface="DejaVu Sans"/>
                <a:ea typeface="DejaVu Sans"/>
                <a:cs typeface="DejaVu Sans"/>
              </a:defRPr>
            </a:pPr>
            <a:r>
              <a:rPr sz="825" b="1">
                <a:solidFill>
                  <a:srgbClr val="9CB0C3"/>
                </a:solidFill>
                <a:latin typeface="DejaVu Sans"/>
                <a:ea typeface="DejaVu Sans"/>
                <a:cs typeface="DejaVu Sans"/>
              </a:rPr>
              <a:t>07</a:t>
            </a:r>
          </a:p>
        </p:txBody>
      </p:sp>
    </p:spTree>
    <p:extLst>
      <p:ext uri="{BB962C8B-B14F-4D97-AF65-F5344CB8AC3E}">
        <p14:creationId xmlns:p14="http://schemas.microsoft.com/office/powerpoint/2010/main" val="10010702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71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484632"/>
            <a:ext cx="4023360" cy="201168"/>
          </a:xfrm>
          <a:prstGeom prst="rect">
            <a:avLst/>
          </a:prstGeom>
          <a:noFill/>
        </p:spPr>
        <p:txBody>
          <a:bodyPr wrap="square" lIns="36576" tIns="18288" rIns="36576" bIns="18288">
            <a:normAutofit/>
          </a:bodyPr>
          <a:lstStyle/>
          <a:p>
            <a:pPr algn="l"/>
            <a:r>
              <a:rPr sz="1050" b="1">
                <a:solidFill>
                  <a:srgbClr val="35D0C2"/>
                </a:solidFill>
                <a:latin typeface="Aptos"/>
              </a:rPr>
              <a:t>DATA PROTOCOL</a:t>
            </a:r>
          </a:p>
        </p:txBody>
      </p:sp>
      <p:sp>
        <p:nvSpPr>
          <p:cNvPr id="4" name="TextBox 3"/>
          <p:cNvSpPr txBox="1"/>
          <p:nvPr/>
        </p:nvSpPr>
        <p:spPr>
          <a:xfrm>
            <a:off x="621792" y="804672"/>
            <a:ext cx="10789920" cy="502920"/>
          </a:xfrm>
          <a:prstGeom prst="rect">
            <a:avLst/>
          </a:prstGeom>
          <a:noFill/>
        </p:spPr>
        <p:txBody>
          <a:bodyPr wrap="square" lIns="36576" tIns="18288" rIns="36576" bIns="18288">
            <a:normAutofit/>
          </a:bodyPr>
          <a:lstStyle/>
          <a:p>
            <a:pPr algn="l"/>
            <a:r>
              <a:rPr sz="2950" b="1">
                <a:solidFill>
                  <a:srgbClr val="EEF4FF"/>
                </a:solidFill>
                <a:latin typeface="Aptos"/>
              </a:rPr>
              <a:t>Dataset roles and current evidence map</a:t>
            </a:r>
          </a:p>
        </p:txBody>
      </p:sp>
      <p:sp>
        <p:nvSpPr>
          <p:cNvPr id="5" name="TextBox 4"/>
          <p:cNvSpPr txBox="1"/>
          <p:nvPr/>
        </p:nvSpPr>
        <p:spPr>
          <a:xfrm>
            <a:off x="621792" y="1344168"/>
            <a:ext cx="10789920" cy="256032"/>
          </a:xfrm>
          <a:prstGeom prst="rect">
            <a:avLst/>
          </a:prstGeom>
          <a:noFill/>
        </p:spPr>
        <p:txBody>
          <a:bodyPr wrap="square" lIns="36576" tIns="18288" rIns="36576" bIns="18288">
            <a:normAutofit lnSpcReduction="10000"/>
          </a:bodyPr>
          <a:lstStyle/>
          <a:p>
            <a:pPr algn="l"/>
            <a:r>
              <a:rPr sz="1450" b="0">
                <a:solidFill>
                  <a:srgbClr val="AFC0D2"/>
                </a:solidFill>
                <a:latin typeface="Aptos"/>
              </a:rPr>
              <a:t>Where each dataset sits in the reconstruction, benchmark, and next-stage audit.</a:t>
            </a:r>
          </a:p>
        </p:txBody>
      </p:sp>
      <p:sp>
        <p:nvSpPr>
          <p:cNvPr id="6" name="Rectangle 5"/>
          <p:cNvSpPr/>
          <p:nvPr/>
        </p:nvSpPr>
        <p:spPr>
          <a:xfrm>
            <a:off x="621792" y="1554480"/>
            <a:ext cx="10972800" cy="22860"/>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21792" y="1755648"/>
            <a:ext cx="141732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4944" y="1828800"/>
            <a:ext cx="1271016" cy="292608"/>
          </a:xfrm>
          <a:prstGeom prst="rect">
            <a:avLst/>
          </a:prstGeom>
          <a:noFill/>
        </p:spPr>
        <p:txBody>
          <a:bodyPr wrap="square" lIns="36576" tIns="18288" rIns="36576" bIns="18288" anchor="ctr">
            <a:normAutofit/>
          </a:bodyPr>
          <a:lstStyle/>
          <a:p>
            <a:pPr algn="l"/>
            <a:r>
              <a:rPr sz="1060" b="1">
                <a:solidFill>
                  <a:srgbClr val="35D0C2"/>
                </a:solidFill>
                <a:latin typeface="Aptos"/>
              </a:rPr>
              <a:t>Dataset</a:t>
            </a:r>
          </a:p>
        </p:txBody>
      </p:sp>
      <p:sp>
        <p:nvSpPr>
          <p:cNvPr id="9" name="Rectangle 8"/>
          <p:cNvSpPr/>
          <p:nvPr/>
        </p:nvSpPr>
        <p:spPr>
          <a:xfrm>
            <a:off x="2039112" y="1755648"/>
            <a:ext cx="297180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12264" y="1828800"/>
            <a:ext cx="2825496" cy="292608"/>
          </a:xfrm>
          <a:prstGeom prst="rect">
            <a:avLst/>
          </a:prstGeom>
          <a:noFill/>
        </p:spPr>
        <p:txBody>
          <a:bodyPr wrap="square" lIns="36576" tIns="18288" rIns="36576" bIns="18288" anchor="ctr">
            <a:normAutofit/>
          </a:bodyPr>
          <a:lstStyle/>
          <a:p>
            <a:pPr algn="l"/>
            <a:r>
              <a:rPr sz="1060" b="1">
                <a:solidFill>
                  <a:srgbClr val="35D0C2"/>
                </a:solidFill>
                <a:latin typeface="Aptos"/>
              </a:rPr>
              <a:t>Protocol role</a:t>
            </a:r>
          </a:p>
        </p:txBody>
      </p:sp>
      <p:sp>
        <p:nvSpPr>
          <p:cNvPr id="11" name="Rectangle 10"/>
          <p:cNvSpPr/>
          <p:nvPr/>
        </p:nvSpPr>
        <p:spPr>
          <a:xfrm>
            <a:off x="5010912" y="1755648"/>
            <a:ext cx="342900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84064" y="1828800"/>
            <a:ext cx="3282696" cy="292608"/>
          </a:xfrm>
          <a:prstGeom prst="rect">
            <a:avLst/>
          </a:prstGeom>
          <a:noFill/>
        </p:spPr>
        <p:txBody>
          <a:bodyPr wrap="square" lIns="36576" tIns="18288" rIns="36576" bIns="18288" anchor="ctr">
            <a:normAutofit/>
          </a:bodyPr>
          <a:lstStyle/>
          <a:p>
            <a:pPr algn="l"/>
            <a:r>
              <a:rPr sz="1060" b="1">
                <a:solidFill>
                  <a:srgbClr val="35D0C2"/>
                </a:solidFill>
                <a:latin typeface="Aptos"/>
              </a:rPr>
              <a:t>Current tracked evidence</a:t>
            </a:r>
          </a:p>
        </p:txBody>
      </p:sp>
      <p:sp>
        <p:nvSpPr>
          <p:cNvPr id="13" name="Rectangle 12"/>
          <p:cNvSpPr/>
          <p:nvPr/>
        </p:nvSpPr>
        <p:spPr>
          <a:xfrm>
            <a:off x="8439912" y="1755648"/>
            <a:ext cx="315468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13064" y="1828800"/>
            <a:ext cx="3008376" cy="292608"/>
          </a:xfrm>
          <a:prstGeom prst="rect">
            <a:avLst/>
          </a:prstGeom>
          <a:noFill/>
        </p:spPr>
        <p:txBody>
          <a:bodyPr wrap="square" lIns="36576" tIns="18288" rIns="36576" bIns="18288" anchor="ctr">
            <a:normAutofit/>
          </a:bodyPr>
          <a:lstStyle/>
          <a:p>
            <a:pPr algn="l"/>
            <a:r>
              <a:rPr sz="1060" b="1">
                <a:solidFill>
                  <a:srgbClr val="35D0C2"/>
                </a:solidFill>
                <a:latin typeface="Aptos"/>
              </a:rPr>
              <a:t>Progress signal</a:t>
            </a:r>
          </a:p>
        </p:txBody>
      </p:sp>
      <p:sp>
        <p:nvSpPr>
          <p:cNvPr id="15" name="Rectangle 14"/>
          <p:cNvSpPr/>
          <p:nvPr/>
        </p:nvSpPr>
        <p:spPr>
          <a:xfrm>
            <a:off x="621792" y="2157984"/>
            <a:ext cx="141732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1792" y="2157984"/>
            <a:ext cx="73152" cy="749808"/>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8096" y="2322576"/>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BCI IV 2A</a:t>
            </a:r>
          </a:p>
        </p:txBody>
      </p:sp>
      <p:sp>
        <p:nvSpPr>
          <p:cNvPr id="18" name="Rectangle 17"/>
          <p:cNvSpPr/>
          <p:nvPr/>
        </p:nvSpPr>
        <p:spPr>
          <a:xfrm>
            <a:off x="2039112" y="2157984"/>
            <a:ext cx="29718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130552" y="2258568"/>
            <a:ext cx="2788920" cy="585215"/>
          </a:xfrm>
          <a:prstGeom prst="rect">
            <a:avLst/>
          </a:prstGeom>
          <a:noFill/>
        </p:spPr>
        <p:txBody>
          <a:bodyPr wrap="square" lIns="36576" tIns="18288" rIns="36576" bIns="18288" anchor="ctr">
            <a:normAutofit/>
          </a:bodyPr>
          <a:lstStyle/>
          <a:p>
            <a:pPr algn="l"/>
            <a:r>
              <a:rPr sz="1060" b="0">
                <a:solidFill>
                  <a:srgbClr val="EEF4FF"/>
                </a:solidFill>
                <a:latin typeface="Aptos"/>
              </a:rPr>
              <a:t>Session I: train / validation</a:t>
            </a:r>
            <a:br/>
            <a:r>
              <a:rPr sz="1060" b="0">
                <a:solidFill>
                  <a:srgbClr val="EEF4FF"/>
                </a:solidFill>
                <a:latin typeface="Aptos"/>
              </a:rPr>
              <a:t>Session II: held-out evaluation</a:t>
            </a:r>
          </a:p>
        </p:txBody>
      </p:sp>
      <p:sp>
        <p:nvSpPr>
          <p:cNvPr id="20" name="Rectangle 19"/>
          <p:cNvSpPr/>
          <p:nvPr/>
        </p:nvSpPr>
        <p:spPr>
          <a:xfrm>
            <a:off x="5010912" y="2157984"/>
            <a:ext cx="34290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02352" y="2258568"/>
            <a:ext cx="3246120" cy="585215"/>
          </a:xfrm>
          <a:prstGeom prst="rect">
            <a:avLst/>
          </a:prstGeom>
          <a:noFill/>
        </p:spPr>
        <p:txBody>
          <a:bodyPr wrap="square" lIns="36576" tIns="18288" rIns="36576" bIns="18288" anchor="ctr">
            <a:normAutofit/>
          </a:bodyPr>
          <a:lstStyle/>
          <a:p>
            <a:pPr algn="l"/>
            <a:r>
              <a:rPr sz="1060" b="0">
                <a:solidFill>
                  <a:srgbClr val="EEF4FF"/>
                </a:solidFill>
                <a:latin typeface="Aptos"/>
              </a:rPr>
              <a:t>Table I warning / validation counts</a:t>
            </a:r>
            <a:br/>
            <a:r>
              <a:rPr sz="1060" b="0">
                <a:solidFill>
                  <a:srgbClr val="EEF4FF"/>
                </a:solidFill>
                <a:latin typeface="Aptos"/>
              </a:rPr>
              <a:t>Real BCI bagging benchmark</a:t>
            </a:r>
          </a:p>
        </p:txBody>
      </p:sp>
      <p:sp>
        <p:nvSpPr>
          <p:cNvPr id="22" name="Rectangle 21"/>
          <p:cNvSpPr/>
          <p:nvPr/>
        </p:nvSpPr>
        <p:spPr>
          <a:xfrm>
            <a:off x="8439912" y="2157984"/>
            <a:ext cx="315468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31352" y="2258568"/>
            <a:ext cx="2971800" cy="585215"/>
          </a:xfrm>
          <a:prstGeom prst="rect">
            <a:avLst/>
          </a:prstGeom>
          <a:noFill/>
        </p:spPr>
        <p:txBody>
          <a:bodyPr wrap="square" lIns="36576" tIns="18288" rIns="36576" bIns="18288" anchor="ctr">
            <a:normAutofit/>
          </a:bodyPr>
          <a:lstStyle/>
          <a:p>
            <a:pPr algn="l"/>
            <a:r>
              <a:rPr sz="1060" b="0">
                <a:solidFill>
                  <a:srgbClr val="AFC0D2"/>
                </a:solidFill>
                <a:latin typeface="Aptos"/>
              </a:rPr>
              <a:t>Split boundary implemented</a:t>
            </a:r>
            <a:br/>
            <a:r>
              <a:rPr sz="1060" b="0">
                <a:solidFill>
                  <a:srgbClr val="AFC0D2"/>
                </a:solidFill>
                <a:latin typeface="Aptos"/>
              </a:rPr>
              <a:t>Numerical agreement still open</a:t>
            </a:r>
          </a:p>
        </p:txBody>
      </p:sp>
      <p:sp>
        <p:nvSpPr>
          <p:cNvPr id="24" name="Rectangle 23"/>
          <p:cNvSpPr/>
          <p:nvPr/>
        </p:nvSpPr>
        <p:spPr>
          <a:xfrm>
            <a:off x="621792" y="2907791"/>
            <a:ext cx="141732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1792" y="2907791"/>
            <a:ext cx="73152" cy="749808"/>
          </a:xfrm>
          <a:prstGeom prst="rect">
            <a:avLst/>
          </a:prstGeom>
          <a:solidFill>
            <a:srgbClr val="4FA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8096" y="3072384"/>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BCI IV 2B</a:t>
            </a:r>
          </a:p>
        </p:txBody>
      </p:sp>
      <p:sp>
        <p:nvSpPr>
          <p:cNvPr id="27" name="Rectangle 26"/>
          <p:cNvSpPr/>
          <p:nvPr/>
        </p:nvSpPr>
        <p:spPr>
          <a:xfrm>
            <a:off x="2039112" y="2907791"/>
            <a:ext cx="29718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130552" y="3008375"/>
            <a:ext cx="2788920" cy="585215"/>
          </a:xfrm>
          <a:prstGeom prst="rect">
            <a:avLst/>
          </a:prstGeom>
          <a:noFill/>
        </p:spPr>
        <p:txBody>
          <a:bodyPr wrap="square" lIns="36576" tIns="18288" rIns="36576" bIns="18288" anchor="ctr">
            <a:normAutofit/>
          </a:bodyPr>
          <a:lstStyle/>
          <a:p>
            <a:pPr algn="l"/>
            <a:r>
              <a:rPr sz="1060" b="0">
                <a:solidFill>
                  <a:srgbClr val="EEF4FF"/>
                </a:solidFill>
                <a:latin typeface="Aptos"/>
              </a:rPr>
              <a:t>Sessions I–III: development</a:t>
            </a:r>
            <a:br/>
            <a:r>
              <a:rPr sz="1060" b="0">
                <a:solidFill>
                  <a:srgbClr val="EEF4FF"/>
                </a:solidFill>
                <a:latin typeface="Aptos"/>
              </a:rPr>
              <a:t>Sessions IV–V: held-out evaluation</a:t>
            </a:r>
          </a:p>
        </p:txBody>
      </p:sp>
      <p:sp>
        <p:nvSpPr>
          <p:cNvPr id="29" name="Rectangle 28"/>
          <p:cNvSpPr/>
          <p:nvPr/>
        </p:nvSpPr>
        <p:spPr>
          <a:xfrm>
            <a:off x="5010912" y="2907791"/>
            <a:ext cx="34290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02352" y="3008375"/>
            <a:ext cx="3246120" cy="585215"/>
          </a:xfrm>
          <a:prstGeom prst="rect">
            <a:avLst/>
          </a:prstGeom>
          <a:noFill/>
        </p:spPr>
        <p:txBody>
          <a:bodyPr wrap="square" lIns="36576" tIns="18288" rIns="36576" bIns="18288" anchor="ctr">
            <a:normAutofit/>
          </a:bodyPr>
          <a:lstStyle/>
          <a:p>
            <a:pPr algn="l"/>
            <a:r>
              <a:rPr sz="1060" b="0" dirty="0">
                <a:solidFill>
                  <a:srgbClr val="EEF4FF"/>
                </a:solidFill>
                <a:latin typeface="Aptos"/>
              </a:rPr>
              <a:t>Table I counts; L / variance sweep</a:t>
            </a:r>
            <a:br>
              <a:rPr dirty="0"/>
            </a:br>
            <a:r>
              <a:rPr sz="1060" b="0" dirty="0">
                <a:solidFill>
                  <a:srgbClr val="EEF4FF"/>
                </a:solidFill>
                <a:latin typeface="Aptos"/>
              </a:rPr>
              <a:t>Stage-I warning event trace</a:t>
            </a:r>
          </a:p>
        </p:txBody>
      </p:sp>
      <p:sp>
        <p:nvSpPr>
          <p:cNvPr id="31" name="Rectangle 30"/>
          <p:cNvSpPr/>
          <p:nvPr/>
        </p:nvSpPr>
        <p:spPr>
          <a:xfrm>
            <a:off x="8439912" y="2907791"/>
            <a:ext cx="315468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31352" y="3008375"/>
            <a:ext cx="2971800" cy="585215"/>
          </a:xfrm>
          <a:prstGeom prst="rect">
            <a:avLst/>
          </a:prstGeom>
          <a:noFill/>
        </p:spPr>
        <p:txBody>
          <a:bodyPr wrap="square" lIns="36576" tIns="18288" rIns="36576" bIns="18288" anchor="ctr">
            <a:normAutofit/>
          </a:bodyPr>
          <a:lstStyle/>
          <a:p>
            <a:pPr algn="l"/>
            <a:r>
              <a:rPr sz="1060" b="0">
                <a:solidFill>
                  <a:srgbClr val="AFC0D2"/>
                </a:solidFill>
                <a:latin typeface="Aptos"/>
              </a:rPr>
              <a:t>Stage I close in places</a:t>
            </a:r>
            <a:br/>
            <a:r>
              <a:rPr sz="1060" b="0">
                <a:solidFill>
                  <a:srgbClr val="AFC0D2"/>
                </a:solidFill>
                <a:latin typeface="Aptos"/>
              </a:rPr>
              <a:t>Stage II gap under audit</a:t>
            </a:r>
          </a:p>
        </p:txBody>
      </p:sp>
      <p:sp>
        <p:nvSpPr>
          <p:cNvPr id="33" name="Rectangle 32"/>
          <p:cNvSpPr/>
          <p:nvPr/>
        </p:nvSpPr>
        <p:spPr>
          <a:xfrm>
            <a:off x="621792" y="3657600"/>
            <a:ext cx="141732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21792" y="3657600"/>
            <a:ext cx="73152" cy="749808"/>
          </a:xfrm>
          <a:prstGeom prst="rect">
            <a:avLst/>
          </a:prstGeom>
          <a:solidFill>
            <a:srgbClr val="E4C6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8096" y="3822191"/>
            <a:ext cx="1188720" cy="521207"/>
          </a:xfrm>
          <a:prstGeom prst="rect">
            <a:avLst/>
          </a:prstGeom>
          <a:noFill/>
        </p:spPr>
        <p:txBody>
          <a:bodyPr wrap="square" lIns="36576" tIns="18288" rIns="36576" bIns="18288" anchor="ctr">
            <a:noAutofit/>
          </a:bodyPr>
          <a:lstStyle/>
          <a:p>
            <a:pPr algn="l">
              <a:buNone/>
              <a:defRPr sz="1320" b="1">
                <a:solidFill>
                  <a:srgbClr val="EEF4FF"/>
                </a:solidFill>
                <a:latin typeface="Aptos"/>
                <a:ea typeface="Aptos"/>
                <a:cs typeface="Aptos"/>
              </a:defRPr>
            </a:pPr>
            <a:r>
              <a:rPr sz="1320" b="1">
                <a:solidFill>
                  <a:srgbClr val="EEF4FF"/>
                </a:solidFill>
                <a:latin typeface="Aptos"/>
                <a:ea typeface="Aptos"/>
                <a:cs typeface="Aptos"/>
              </a:rPr>
              <a:t>Synthetic</a:t>
            </a:r>
          </a:p>
          <a:p>
            <a:pPr algn="l">
              <a:buNone/>
              <a:defRPr sz="1320" b="1">
                <a:solidFill>
                  <a:srgbClr val="EEF4FF"/>
                </a:solidFill>
                <a:latin typeface="Aptos"/>
                <a:ea typeface="Aptos"/>
                <a:cs typeface="Aptos"/>
              </a:defRPr>
            </a:pPr>
            <a:r>
              <a:rPr sz="1320" b="1">
                <a:solidFill>
                  <a:srgbClr val="EEF4FF"/>
                </a:solidFill>
                <a:latin typeface="Aptos"/>
                <a:ea typeface="Aptos"/>
                <a:cs typeface="Aptos"/>
              </a:rPr>
              <a:t>streams</a:t>
            </a:r>
          </a:p>
        </p:txBody>
      </p:sp>
      <p:sp>
        <p:nvSpPr>
          <p:cNvPr id="36" name="Rectangle 35"/>
          <p:cNvSpPr/>
          <p:nvPr/>
        </p:nvSpPr>
        <p:spPr>
          <a:xfrm>
            <a:off x="2039112" y="3657600"/>
            <a:ext cx="29718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130552" y="3758184"/>
            <a:ext cx="27889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D2/D3/D4 known shifts</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PCA score / residual scenarios</a:t>
            </a:r>
          </a:p>
        </p:txBody>
      </p:sp>
      <p:sp>
        <p:nvSpPr>
          <p:cNvPr id="38" name="Rectangle 37"/>
          <p:cNvSpPr/>
          <p:nvPr/>
        </p:nvSpPr>
        <p:spPr>
          <a:xfrm>
            <a:off x="5010912" y="3657600"/>
            <a:ext cx="34290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02352" y="3758184"/>
            <a:ext cx="32461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Table III / IV traces and metrics</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20 / 100-seed complementary runs</a:t>
            </a:r>
          </a:p>
        </p:txBody>
      </p:sp>
      <p:sp>
        <p:nvSpPr>
          <p:cNvPr id="40" name="Rectangle 39"/>
          <p:cNvSpPr/>
          <p:nvPr/>
        </p:nvSpPr>
        <p:spPr>
          <a:xfrm>
            <a:off x="8439912" y="3657600"/>
            <a:ext cx="315468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531352" y="3758184"/>
            <a:ext cx="2971800" cy="585215"/>
          </a:xfrm>
          <a:prstGeom prst="rect">
            <a:avLst/>
          </a:prstGeom>
          <a:noFill/>
        </p:spPr>
        <p:txBody>
          <a:bodyPr wrap="square" lIns="36576" tIns="18288" rIns="36576" bIns="18288" anchor="ctr">
            <a:noAutofit/>
          </a:bodyPr>
          <a:lstStyle/>
          <a:p>
            <a:pPr algn="l">
              <a:buNone/>
              <a:defRPr sz="1060">
                <a:solidFill>
                  <a:srgbClr val="AFC0D2"/>
                </a:solidFill>
                <a:latin typeface="Aptos"/>
                <a:ea typeface="Aptos"/>
                <a:cs typeface="Aptos"/>
              </a:defRPr>
            </a:pPr>
            <a:r>
              <a:rPr sz="1060" b="0">
                <a:solidFill>
                  <a:srgbClr val="AFC0D2"/>
                </a:solidFill>
                <a:latin typeface="Aptos"/>
                <a:ea typeface="Aptos"/>
                <a:cs typeface="Aptos"/>
              </a:rPr>
              <a:t>Magnitude sensitivity now stored</a:t>
            </a:r>
          </a:p>
          <a:p>
            <a:pPr algn="l">
              <a:buNone/>
              <a:defRPr sz="1060">
                <a:solidFill>
                  <a:srgbClr val="AFC0D2"/>
                </a:solidFill>
                <a:latin typeface="Aptos"/>
                <a:ea typeface="Aptos"/>
                <a:cs typeface="Aptos"/>
              </a:defRPr>
            </a:pPr>
            <a:r>
              <a:rPr sz="1060" b="0">
                <a:solidFill>
                  <a:srgbClr val="AFC0D2"/>
                </a:solidFill>
                <a:latin typeface="Aptos"/>
                <a:ea typeface="Aptos"/>
                <a:cs typeface="Aptos"/>
              </a:rPr>
              <a:t>Real EEG extension outputs pending</a:t>
            </a:r>
          </a:p>
        </p:txBody>
      </p:sp>
      <p:sp>
        <p:nvSpPr>
          <p:cNvPr id="42" name="Rectangle 41"/>
          <p:cNvSpPr/>
          <p:nvPr/>
        </p:nvSpPr>
        <p:spPr>
          <a:xfrm>
            <a:off x="621792" y="4407408"/>
            <a:ext cx="141732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21792" y="4407408"/>
            <a:ext cx="73152" cy="749808"/>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68096" y="4572000"/>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Classifier benchmark</a:t>
            </a:r>
          </a:p>
        </p:txBody>
      </p:sp>
      <p:sp>
        <p:nvSpPr>
          <p:cNvPr id="45" name="Rectangle 44"/>
          <p:cNvSpPr/>
          <p:nvPr/>
        </p:nvSpPr>
        <p:spPr>
          <a:xfrm>
            <a:off x="2039112" y="4407408"/>
            <a:ext cx="29718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130552" y="4507992"/>
            <a:ext cx="27889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Separate classifier protocol</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2B: fit I–II, evaluate III</a:t>
            </a:r>
          </a:p>
        </p:txBody>
      </p:sp>
      <p:sp>
        <p:nvSpPr>
          <p:cNvPr id="47" name="Rectangle 46"/>
          <p:cNvSpPr/>
          <p:nvPr/>
        </p:nvSpPr>
        <p:spPr>
          <a:xfrm>
            <a:off x="5010912" y="4407408"/>
            <a:ext cx="34290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02352" y="4507992"/>
            <a:ext cx="3246120" cy="585215"/>
          </a:xfrm>
          <a:prstGeom prst="rect">
            <a:avLst/>
          </a:prstGeom>
          <a:noFill/>
        </p:spPr>
        <p:txBody>
          <a:bodyPr wrap="square" lIns="36576" tIns="18288" rIns="36576" bIns="18288" anchor="ctr">
            <a:normAutofit/>
          </a:bodyPr>
          <a:lstStyle/>
          <a:p>
            <a:pPr algn="l"/>
            <a:r>
              <a:rPr sz="1060" b="0">
                <a:solidFill>
                  <a:srgbClr val="EEF4FF"/>
                </a:solidFill>
                <a:latin typeface="Aptos"/>
              </a:rPr>
              <a:t>Single SVM versus bagged linear SVM</a:t>
            </a:r>
            <a:br/>
            <a:r>
              <a:rPr sz="1060" b="0">
                <a:solidFill>
                  <a:srgbClr val="EEF4FF"/>
                </a:solidFill>
                <a:latin typeface="Aptos"/>
              </a:rPr>
              <a:t>Subject-level held-out metrics</a:t>
            </a:r>
          </a:p>
        </p:txBody>
      </p:sp>
      <p:sp>
        <p:nvSpPr>
          <p:cNvPr id="49" name="Rectangle 48"/>
          <p:cNvSpPr/>
          <p:nvPr/>
        </p:nvSpPr>
        <p:spPr>
          <a:xfrm>
            <a:off x="8439912" y="4407408"/>
            <a:ext cx="315468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531352" y="4507992"/>
            <a:ext cx="2971800" cy="585215"/>
          </a:xfrm>
          <a:prstGeom prst="rect">
            <a:avLst/>
          </a:prstGeom>
          <a:noFill/>
        </p:spPr>
        <p:txBody>
          <a:bodyPr wrap="square" lIns="36576" tIns="18288" rIns="36576" bIns="18288" anchor="ctr">
            <a:noAutofit/>
          </a:bodyPr>
          <a:lstStyle/>
          <a:p>
            <a:pPr algn="l">
              <a:buNone/>
              <a:defRPr sz="1060">
                <a:solidFill>
                  <a:srgbClr val="AFC0D2"/>
                </a:solidFill>
                <a:latin typeface="Aptos"/>
                <a:ea typeface="Aptos"/>
                <a:cs typeface="Aptos"/>
              </a:defRPr>
            </a:pPr>
            <a:r>
              <a:rPr sz="1060" b="0">
                <a:solidFill>
                  <a:srgbClr val="AFC0D2"/>
                </a:solidFill>
                <a:latin typeface="Aptos"/>
                <a:ea typeface="Aptos"/>
                <a:cs typeface="Aptos"/>
              </a:rPr>
              <a:t>Metrics stored for 18 subjects</a:t>
            </a:r>
          </a:p>
          <a:p>
            <a:pPr algn="l">
              <a:buNone/>
              <a:defRPr sz="1060">
                <a:solidFill>
                  <a:srgbClr val="AFC0D2"/>
                </a:solidFill>
                <a:latin typeface="Aptos"/>
                <a:ea typeface="Aptos"/>
                <a:cs typeface="Aptos"/>
              </a:defRPr>
            </a:pPr>
            <a:r>
              <a:rPr sz="1060" b="0">
                <a:solidFill>
                  <a:srgbClr val="AFC0D2"/>
                </a:solidFill>
                <a:latin typeface="Aptos"/>
                <a:ea typeface="Aptos"/>
                <a:cs typeface="Aptos"/>
              </a:rPr>
              <a:t>Full CSE-UAEL integration open</a:t>
            </a:r>
          </a:p>
        </p:txBody>
      </p:sp>
      <p:sp>
        <p:nvSpPr>
          <p:cNvPr id="51" name="Rounded Rectangle 50"/>
          <p:cNvSpPr/>
          <p:nvPr/>
        </p:nvSpPr>
        <p:spPr>
          <a:xfrm>
            <a:off x="621792" y="5413248"/>
            <a:ext cx="10972800" cy="566928"/>
          </a:xfrm>
          <a:prstGeom prst="roundRect">
            <a:avLst/>
          </a:prstGeom>
          <a:solidFill>
            <a:srgbClr val="102A40"/>
          </a:solidFill>
          <a:ln w="7620">
            <a:solidFill>
              <a:srgbClr val="23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41248" y="5559552"/>
            <a:ext cx="1554480" cy="256032"/>
          </a:xfrm>
          <a:prstGeom prst="rect">
            <a:avLst/>
          </a:prstGeom>
          <a:noFill/>
        </p:spPr>
        <p:txBody>
          <a:bodyPr wrap="square" lIns="36576" tIns="18288" rIns="36576" bIns="18288" anchor="ctr">
            <a:normAutofit/>
          </a:bodyPr>
          <a:lstStyle/>
          <a:p>
            <a:pPr algn="l"/>
            <a:r>
              <a:rPr sz="1120" b="1">
                <a:solidFill>
                  <a:srgbClr val="35D0C2"/>
                </a:solidFill>
                <a:latin typeface="Aptos"/>
              </a:rPr>
              <a:t>Shared rule</a:t>
            </a:r>
          </a:p>
        </p:txBody>
      </p:sp>
      <p:sp>
        <p:nvSpPr>
          <p:cNvPr id="53" name="TextBox 52"/>
          <p:cNvSpPr txBox="1"/>
          <p:nvPr/>
        </p:nvSpPr>
        <p:spPr>
          <a:xfrm>
            <a:off x="2331720" y="5509260"/>
            <a:ext cx="8915400" cy="384048"/>
          </a:xfrm>
          <a:prstGeom prst="rect">
            <a:avLst/>
          </a:prstGeom>
          <a:noFill/>
        </p:spPr>
        <p:txBody>
          <a:bodyPr wrap="square" lIns="36576" tIns="18288" rIns="36576" bIns="18288" anchor="ctr">
            <a:noAutofit/>
          </a:bodyPr>
          <a:lstStyle/>
          <a:p>
            <a:pPr algn="l">
              <a:buNone/>
              <a:defRPr sz="1240">
                <a:solidFill>
                  <a:srgbClr val="EEF4FF"/>
                </a:solidFill>
                <a:latin typeface="Aptos"/>
                <a:ea typeface="Aptos"/>
                <a:cs typeface="Aptos"/>
              </a:defRPr>
            </a:pPr>
            <a:r>
              <a:rPr sz="1240" b="0">
                <a:solidFill>
                  <a:srgbClr val="EEF4FF"/>
                </a:solidFill>
                <a:latin typeface="Aptos"/>
                <a:ea typeface="Aptos"/>
                <a:cs typeface="Aptos"/>
              </a:rPr>
              <a:t>Evaluation trials do not enter feature-model fitting. Every result should identify its split, code version and detector configuration.</a:t>
            </a:r>
          </a:p>
        </p:txBody>
      </p:sp>
      <p:sp>
        <p:nvSpPr>
          <p:cNvPr id="54" name="TextBox 53"/>
          <p:cNvSpPr txBox="1"/>
          <p:nvPr/>
        </p:nvSpPr>
        <p:spPr>
          <a:xfrm>
            <a:off x="621792" y="6464808"/>
            <a:ext cx="3840480" cy="182880"/>
          </a:xfrm>
          <a:prstGeom prst="rect">
            <a:avLst/>
          </a:prstGeom>
          <a:noFill/>
        </p:spPr>
        <p:txBody>
          <a:bodyPr wrap="square" lIns="36576" tIns="18288" rIns="36576" bIns="18288">
            <a:normAutofit/>
          </a:bodyPr>
          <a:lstStyle/>
          <a:p>
            <a:pPr algn="l"/>
            <a:r>
              <a:rPr sz="860" b="0">
                <a:solidFill>
                  <a:srgbClr val="AFC0D2"/>
                </a:solidFill>
                <a:latin typeface="Aptos"/>
              </a:rPr>
              <a:t>hlin863/ewma_covariate_shift_demo</a:t>
            </a:r>
          </a:p>
        </p:txBody>
      </p:sp>
      <p:sp>
        <p:nvSpPr>
          <p:cNvPr id="55" name="TextBox 54"/>
          <p:cNvSpPr txBox="1"/>
          <p:nvPr/>
        </p:nvSpPr>
        <p:spPr>
          <a:xfrm>
            <a:off x="11430000" y="6464808"/>
            <a:ext cx="292608" cy="182880"/>
          </a:xfrm>
          <a:prstGeom prst="rect">
            <a:avLst/>
          </a:prstGeom>
          <a:noFill/>
        </p:spPr>
        <p:txBody>
          <a:bodyPr wrap="square" lIns="36576" tIns="18288" rIns="36576" bIns="18288">
            <a:normAutofit/>
          </a:bodyPr>
          <a:lstStyle/>
          <a:p>
            <a:pPr algn="r"/>
            <a:r>
              <a:rPr sz="950" b="1">
                <a:solidFill>
                  <a:srgbClr val="AFC0D2"/>
                </a:solidFill>
                <a:latin typeface="Aptos"/>
              </a:rPr>
              <a:t>08</a:t>
            </a:r>
          </a:p>
        </p:txBody>
      </p:sp>
    </p:spTree>
    <p:extLst>
      <p:ext uri="{BB962C8B-B14F-4D97-AF65-F5344CB8AC3E}">
        <p14:creationId xmlns:p14="http://schemas.microsoft.com/office/powerpoint/2010/main" val="344372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pPr>
              <a:buNone/>
              <a:defRPr sz="825" b="1">
                <a:solidFill>
                  <a:srgbClr val="9CB0C3"/>
                </a:solidFill>
                <a:latin typeface="DejaVu Sans"/>
                <a:ea typeface="DejaVu Sans"/>
                <a:cs typeface="DejaVu Sans"/>
              </a:defRPr>
            </a:pPr>
            <a:r>
              <a:rPr sz="825" b="1" dirty="0">
                <a:solidFill>
                  <a:srgbClr val="9CB0C3"/>
                </a:solidFill>
                <a:latin typeface="DejaVu Sans"/>
                <a:ea typeface="DejaVu Sans"/>
                <a:cs typeface="DejaVu Sans"/>
              </a:rPr>
              <a:t>0</a:t>
            </a:r>
            <a:r>
              <a:rPr lang="en-US" sz="825" b="1" dirty="0">
                <a:solidFill>
                  <a:srgbClr val="9CB0C3"/>
                </a:solidFill>
                <a:latin typeface="DejaVu Sans"/>
                <a:ea typeface="DejaVu Sans"/>
                <a:cs typeface="DejaVu Sans"/>
              </a:rPr>
              <a:t>9</a:t>
            </a:r>
            <a:endParaRPr sz="825" b="1" dirty="0">
              <a:solidFill>
                <a:srgbClr val="9CB0C3"/>
              </a:solidFill>
              <a:latin typeface="DejaVu Sans"/>
              <a:ea typeface="DejaVu Sans"/>
              <a:cs typeface="DejaVu Sans"/>
            </a:endParaRP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94EAA4EB-FEBD-4901-8CC9-064ECD7B5C84}"/>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NEXT MILESTONE</a:t>
            </a:r>
          </a:p>
        </p:txBody>
      </p:sp>
      <p:sp>
        <p:nvSpPr>
          <p:cNvPr id="2" name="Rectangle 1">
            <a:extLst>
              <a:ext uri="{FF2B5EF4-FFF2-40B4-BE49-F238E27FC236}">
                <a16:creationId xmlns:a16="http://schemas.microsoft.com/office/drawing/2014/main" id="{91DF3786-B3B6-40B4-B840-DDCC9E669D63}"/>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325" b="1">
                <a:solidFill>
                  <a:srgbClr val="EAF2F8"/>
                </a:solidFill>
                <a:latin typeface="DejaVu Sans"/>
                <a:ea typeface="DejaVu Sans"/>
                <a:cs typeface="DejaVu Sans"/>
              </a:defRPr>
            </a:pPr>
            <a:r>
              <a:rPr sz="2325" b="1">
                <a:solidFill>
                  <a:srgbClr val="EAF2F8"/>
                </a:solidFill>
                <a:latin typeface="DejaVu Sans"/>
                <a:ea typeface="DejaVu Sans"/>
                <a:cs typeface="DejaVu Sans"/>
              </a:rPr>
              <a:t>Configuration-locked reproduction and discrepancy analysis</a:t>
            </a:r>
          </a:p>
        </p:txBody>
      </p:sp>
      <p:sp>
        <p:nvSpPr>
          <p:cNvPr id="3" name="Straight Connector 2">
            <a:extLst>
              <a:ext uri="{FF2B5EF4-FFF2-40B4-BE49-F238E27FC236}">
                <a16:creationId xmlns:a16="http://schemas.microsoft.com/office/drawing/2014/main" id="{1B0D9617-62FF-4524-A142-960C9B3CBDAD}"/>
              </a:ext>
            </a:extLst>
          </p:cNvPr>
          <p:cNvSpPr>
            <a:spLocks noGrp="1"/>
          </p:cNvSpPr>
          <p:nvPr/>
        </p:nvSpPr>
        <p:spPr>
          <a:xfrm>
            <a:off x="609600" y="1371600"/>
            <a:ext cx="10972800" cy="0"/>
          </a:xfrm>
          <a:prstGeom prst="line">
            <a:avLst/>
          </a:prstGeom>
          <a:noFill/>
          <a:ln w="19050">
            <a:solidFill>
              <a:srgbClr val="294057"/>
            </a:solidFill>
            <a:prstDash val="solid"/>
          </a:ln>
        </p:spPr>
      </p:sp>
      <p:sp>
        <p:nvSpPr>
          <p:cNvPr id="4" name="Rectangle 3">
            <a:extLst>
              <a:ext uri="{FF2B5EF4-FFF2-40B4-BE49-F238E27FC236}">
                <a16:creationId xmlns:a16="http://schemas.microsoft.com/office/drawing/2014/main" id="{5C0511BD-9D7E-4AEC-8682-1E59C4CE78DD}"/>
              </a:ext>
            </a:extLst>
          </p:cNvPr>
          <p:cNvSpPr>
            <a:spLocks noGrp="1"/>
          </p:cNvSpPr>
          <p:nvPr/>
        </p:nvSpPr>
        <p:spPr>
          <a:xfrm>
            <a:off x="609600" y="1714500"/>
            <a:ext cx="4953000" cy="342900"/>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Next experimental steps</a:t>
            </a:r>
          </a:p>
        </p:txBody>
      </p:sp>
      <p:sp>
        <p:nvSpPr>
          <p:cNvPr id="5" name="Rectangle 4">
            <a:extLst>
              <a:ext uri="{FF2B5EF4-FFF2-40B4-BE49-F238E27FC236}">
                <a16:creationId xmlns:a16="http://schemas.microsoft.com/office/drawing/2014/main" id="{A3A9A73B-CBBB-4D35-8A11-E8BAD2EC47AA}"/>
              </a:ext>
            </a:extLst>
          </p:cNvPr>
          <p:cNvSpPr>
            <a:spLocks noGrp="1"/>
          </p:cNvSpPr>
          <p:nvPr/>
        </p:nvSpPr>
        <p:spPr>
          <a:xfrm>
            <a:off x="609600" y="2247900"/>
            <a:ext cx="4953000" cy="1790700"/>
          </a:xfrm>
          <a:prstGeom prst="rect">
            <a:avLst/>
          </a:prstGeom>
          <a:noFill/>
          <a:ln w="0">
            <a:noFill/>
          </a:ln>
        </p:spPr>
        <p:txBody>
          <a:bodyPr wrap="square" lIns="0" tIns="0" rIns="0" bIns="0" anchor="t">
            <a:noAutofit/>
          </a:bodyPr>
          <a:lstStyle/>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Lock splits, PCA, λ and variance settings</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Explain rejected Stage-II warnings</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Audit window-level false alarms and delay</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Export complementary traces for 2A/2B</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Refresh tests and link outputs to code</a:t>
            </a:r>
          </a:p>
        </p:txBody>
      </p:sp>
      <p:sp>
        <p:nvSpPr>
          <p:cNvPr id="6" name="Rectangle 5">
            <a:extLst>
              <a:ext uri="{FF2B5EF4-FFF2-40B4-BE49-F238E27FC236}">
                <a16:creationId xmlns:a16="http://schemas.microsoft.com/office/drawing/2014/main" id="{2962312C-EF52-41A1-8BA5-12CA8185F3DE}"/>
              </a:ext>
            </a:extLst>
          </p:cNvPr>
          <p:cNvSpPr>
            <a:spLocks noGrp="1"/>
          </p:cNvSpPr>
          <p:nvPr/>
        </p:nvSpPr>
        <p:spPr>
          <a:xfrm>
            <a:off x="6572250" y="1714500"/>
            <a:ext cx="4095750" cy="342900"/>
          </a:xfrm>
          <a:prstGeom prst="rect">
            <a:avLst/>
          </a:prstGeom>
          <a:noFill/>
          <a:ln w="0">
            <a:noFill/>
          </a:ln>
        </p:spPr>
        <p:txBody>
          <a:bodyPr wrap="square" lIns="0" tIns="0" rIns="0" bIns="0" anchor="t">
            <a:normAutofit/>
          </a:bodyPr>
          <a:lstStyle/>
          <a:p>
            <a:pPr algn="l">
              <a:buNone/>
              <a:defRPr sz="1800" b="1">
                <a:solidFill>
                  <a:srgbClr val="F5B942"/>
                </a:solidFill>
                <a:latin typeface="DejaVu Sans"/>
                <a:ea typeface="DejaVu Sans"/>
                <a:cs typeface="DejaVu Sans"/>
              </a:defRPr>
            </a:pPr>
            <a:r>
              <a:rPr sz="1800" b="1">
                <a:solidFill>
                  <a:srgbClr val="F5B942"/>
                </a:solidFill>
                <a:latin typeface="DejaVu Sans"/>
                <a:ea typeface="DejaVu Sans"/>
                <a:cs typeface="DejaVu Sans"/>
              </a:rPr>
              <a:t>Next manuscript result</a:t>
            </a:r>
          </a:p>
        </p:txBody>
      </p:sp>
      <p:sp>
        <p:nvSpPr>
          <p:cNvPr id="7" name="Rectangle 6">
            <a:extLst>
              <a:ext uri="{FF2B5EF4-FFF2-40B4-BE49-F238E27FC236}">
                <a16:creationId xmlns:a16="http://schemas.microsoft.com/office/drawing/2014/main" id="{0FB67F24-51CF-4578-91D9-84921A93DE3F}"/>
              </a:ext>
            </a:extLst>
          </p:cNvPr>
          <p:cNvSpPr>
            <a:spLocks noGrp="1"/>
          </p:cNvSpPr>
          <p:nvPr/>
        </p:nvSpPr>
        <p:spPr>
          <a:xfrm>
            <a:off x="6572250" y="2247900"/>
            <a:ext cx="4667250" cy="628650"/>
          </a:xfrm>
          <a:prstGeom prst="rect">
            <a:avLst/>
          </a:prstGeom>
          <a:noFill/>
          <a:ln w="0">
            <a:noFill/>
          </a:ln>
        </p:spPr>
        <p:txBody>
          <a:bodyPr wrap="square" lIns="0" tIns="0" rIns="0" bIns="0" anchor="t">
            <a:noAutofit/>
          </a:bodyPr>
          <a:lstStyle/>
          <a:p>
            <a:pPr algn="l">
              <a:buNone/>
              <a:defRPr sz="1575" b="1">
                <a:solidFill>
                  <a:srgbClr val="EAF2F8"/>
                </a:solidFill>
                <a:latin typeface="DejaVu Sans"/>
                <a:ea typeface="DejaVu Sans"/>
                <a:cs typeface="DejaVu Sans"/>
              </a:defRPr>
            </a:pPr>
            <a:r>
              <a:rPr sz="1575" b="1">
                <a:solidFill>
                  <a:srgbClr val="EAF2F8"/>
                </a:solidFill>
                <a:latin typeface="DejaVu Sans"/>
                <a:ea typeface="DejaVu Sans"/>
                <a:cs typeface="DejaVu Sans"/>
              </a:rPr>
              <a:t>Reproduction-gap analysis with</a:t>
            </a:r>
          </a:p>
          <a:p>
            <a:pPr algn="l">
              <a:buNone/>
              <a:defRPr sz="1575" b="1">
                <a:solidFill>
                  <a:srgbClr val="EAF2F8"/>
                </a:solidFill>
                <a:latin typeface="DejaVu Sans"/>
                <a:ea typeface="DejaVu Sans"/>
                <a:cs typeface="DejaVu Sans"/>
              </a:defRPr>
            </a:pPr>
            <a:r>
              <a:rPr sz="1575" b="1">
                <a:solidFill>
                  <a:srgbClr val="EAF2F8"/>
                </a:solidFill>
                <a:latin typeface="DejaVu Sans"/>
                <a:ea typeface="DejaVu Sans"/>
                <a:cs typeface="DejaVu Sans"/>
              </a:rPr>
              <a:t>complementary-monitoring evidence</a:t>
            </a:r>
          </a:p>
        </p:txBody>
      </p:sp>
      <p:sp>
        <p:nvSpPr>
          <p:cNvPr id="8" name="Rectangle: Rounded Corners 7">
            <a:extLst>
              <a:ext uri="{FF2B5EF4-FFF2-40B4-BE49-F238E27FC236}">
                <a16:creationId xmlns:a16="http://schemas.microsoft.com/office/drawing/2014/main" id="{155B8B96-1541-469B-A908-010D60F4DD2D}"/>
              </a:ext>
            </a:extLst>
          </p:cNvPr>
          <p:cNvSpPr>
            <a:spLocks noGrp="1"/>
          </p:cNvSpPr>
          <p:nvPr/>
        </p:nvSpPr>
        <p:spPr>
          <a:xfrm>
            <a:off x="5905500" y="3143250"/>
            <a:ext cx="1047750" cy="704850"/>
          </a:xfrm>
          <a:prstGeom prst="roundRect">
            <a:avLst>
              <a:gd name="adj" fmla="val 13514"/>
            </a:avLst>
          </a:prstGeom>
          <a:solidFill>
            <a:srgbClr val="0F1C2B"/>
          </a:solidFill>
          <a:ln w="9525">
            <a:solidFill>
              <a:srgbClr val="294057"/>
            </a:solidFill>
            <a:prstDash val="solid"/>
          </a:ln>
        </p:spPr>
      </p:sp>
      <p:sp>
        <p:nvSpPr>
          <p:cNvPr id="9" name="Rectangle 8">
            <a:extLst>
              <a:ext uri="{FF2B5EF4-FFF2-40B4-BE49-F238E27FC236}">
                <a16:creationId xmlns:a16="http://schemas.microsoft.com/office/drawing/2014/main" id="{76A030A6-634D-4314-A7B1-52A5F3243F70}"/>
              </a:ext>
            </a:extLst>
          </p:cNvPr>
          <p:cNvSpPr>
            <a:spLocks noGrp="1"/>
          </p:cNvSpPr>
          <p:nvPr/>
        </p:nvSpPr>
        <p:spPr>
          <a:xfrm>
            <a:off x="59721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Paper section</a:t>
            </a:r>
          </a:p>
        </p:txBody>
      </p:sp>
      <p:sp>
        <p:nvSpPr>
          <p:cNvPr id="10" name="Rectangle: Rounded Corners 9">
            <a:extLst>
              <a:ext uri="{FF2B5EF4-FFF2-40B4-BE49-F238E27FC236}">
                <a16:creationId xmlns:a16="http://schemas.microsoft.com/office/drawing/2014/main" id="{93EDC707-26E7-4D31-B629-54941EDE6F75}"/>
              </a:ext>
            </a:extLst>
          </p:cNvPr>
          <p:cNvSpPr>
            <a:spLocks noGrp="1"/>
          </p:cNvSpPr>
          <p:nvPr/>
        </p:nvSpPr>
        <p:spPr>
          <a:xfrm>
            <a:off x="7010400" y="3143250"/>
            <a:ext cx="1047750" cy="704850"/>
          </a:xfrm>
          <a:prstGeom prst="roundRect">
            <a:avLst>
              <a:gd name="adj" fmla="val 13514"/>
            </a:avLst>
          </a:prstGeom>
          <a:solidFill>
            <a:srgbClr val="0F1C2B"/>
          </a:solidFill>
          <a:ln w="9525">
            <a:solidFill>
              <a:srgbClr val="294057"/>
            </a:solidFill>
            <a:prstDash val="solid"/>
          </a:ln>
        </p:spPr>
      </p:sp>
      <p:sp>
        <p:nvSpPr>
          <p:cNvPr id="11" name="Rectangle 10">
            <a:extLst>
              <a:ext uri="{FF2B5EF4-FFF2-40B4-BE49-F238E27FC236}">
                <a16:creationId xmlns:a16="http://schemas.microsoft.com/office/drawing/2014/main" id="{CBC61DDE-AB5D-4C86-A323-A6BFA4A9033E}"/>
              </a:ext>
            </a:extLst>
          </p:cNvPr>
          <p:cNvSpPr>
            <a:spLocks noGrp="1"/>
          </p:cNvSpPr>
          <p:nvPr/>
        </p:nvSpPr>
        <p:spPr>
          <a:xfrm>
            <a:off x="70770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Method</a:t>
            </a:r>
          </a:p>
        </p:txBody>
      </p:sp>
      <p:sp>
        <p:nvSpPr>
          <p:cNvPr id="12" name="Rectangle: Rounded Corners 11">
            <a:extLst>
              <a:ext uri="{FF2B5EF4-FFF2-40B4-BE49-F238E27FC236}">
                <a16:creationId xmlns:a16="http://schemas.microsoft.com/office/drawing/2014/main" id="{73005D66-8086-4BB1-A37D-EE4F0C8D009F}"/>
              </a:ext>
            </a:extLst>
          </p:cNvPr>
          <p:cNvSpPr>
            <a:spLocks noGrp="1"/>
          </p:cNvSpPr>
          <p:nvPr/>
        </p:nvSpPr>
        <p:spPr>
          <a:xfrm>
            <a:off x="8115300" y="3143250"/>
            <a:ext cx="1047750" cy="704850"/>
          </a:xfrm>
          <a:prstGeom prst="roundRect">
            <a:avLst>
              <a:gd name="adj" fmla="val 13514"/>
            </a:avLst>
          </a:prstGeom>
          <a:solidFill>
            <a:srgbClr val="0F1C2B"/>
          </a:solidFill>
          <a:ln w="9525">
            <a:solidFill>
              <a:srgbClr val="294057"/>
            </a:solidFill>
            <a:prstDash val="solid"/>
          </a:ln>
        </p:spPr>
      </p:sp>
      <p:sp>
        <p:nvSpPr>
          <p:cNvPr id="13" name="Rectangle 12">
            <a:extLst>
              <a:ext uri="{FF2B5EF4-FFF2-40B4-BE49-F238E27FC236}">
                <a16:creationId xmlns:a16="http://schemas.microsoft.com/office/drawing/2014/main" id="{34518549-575C-4556-97A3-C688B1ED4633}"/>
              </a:ext>
            </a:extLst>
          </p:cNvPr>
          <p:cNvSpPr>
            <a:spLocks noGrp="1"/>
          </p:cNvSpPr>
          <p:nvPr/>
        </p:nvSpPr>
        <p:spPr>
          <a:xfrm>
            <a:off x="81819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Code</a:t>
            </a:r>
          </a:p>
        </p:txBody>
      </p:sp>
      <p:sp>
        <p:nvSpPr>
          <p:cNvPr id="14" name="Rectangle: Rounded Corners 13">
            <a:extLst>
              <a:ext uri="{FF2B5EF4-FFF2-40B4-BE49-F238E27FC236}">
                <a16:creationId xmlns:a16="http://schemas.microsoft.com/office/drawing/2014/main" id="{80CC7966-A606-48D0-925F-B58F1AC75835}"/>
              </a:ext>
            </a:extLst>
          </p:cNvPr>
          <p:cNvSpPr>
            <a:spLocks noGrp="1"/>
          </p:cNvSpPr>
          <p:nvPr/>
        </p:nvSpPr>
        <p:spPr>
          <a:xfrm>
            <a:off x="9220200" y="3143250"/>
            <a:ext cx="1047750" cy="704850"/>
          </a:xfrm>
          <a:prstGeom prst="roundRect">
            <a:avLst>
              <a:gd name="adj" fmla="val 13514"/>
            </a:avLst>
          </a:prstGeom>
          <a:solidFill>
            <a:srgbClr val="0F1C2B"/>
          </a:solidFill>
          <a:ln w="9525">
            <a:solidFill>
              <a:srgbClr val="294057"/>
            </a:solidFill>
            <a:prstDash val="solid"/>
          </a:ln>
        </p:spPr>
      </p:sp>
      <p:sp>
        <p:nvSpPr>
          <p:cNvPr id="15" name="Rectangle 14">
            <a:extLst>
              <a:ext uri="{FF2B5EF4-FFF2-40B4-BE49-F238E27FC236}">
                <a16:creationId xmlns:a16="http://schemas.microsoft.com/office/drawing/2014/main" id="{D2D45FCF-68C4-49AD-839F-7B684DD6C0D3}"/>
              </a:ext>
            </a:extLst>
          </p:cNvPr>
          <p:cNvSpPr>
            <a:spLocks noGrp="1"/>
          </p:cNvSpPr>
          <p:nvPr/>
        </p:nvSpPr>
        <p:spPr>
          <a:xfrm>
            <a:off x="92868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Experiment</a:t>
            </a:r>
          </a:p>
        </p:txBody>
      </p:sp>
      <p:sp>
        <p:nvSpPr>
          <p:cNvPr id="16" name="Rectangle: Rounded Corners 15">
            <a:extLst>
              <a:ext uri="{FF2B5EF4-FFF2-40B4-BE49-F238E27FC236}">
                <a16:creationId xmlns:a16="http://schemas.microsoft.com/office/drawing/2014/main" id="{F8548B37-C182-4593-AC06-C504519B5FF7}"/>
              </a:ext>
            </a:extLst>
          </p:cNvPr>
          <p:cNvSpPr>
            <a:spLocks noGrp="1"/>
          </p:cNvSpPr>
          <p:nvPr/>
        </p:nvSpPr>
        <p:spPr>
          <a:xfrm>
            <a:off x="10325100" y="3143250"/>
            <a:ext cx="1047750" cy="704850"/>
          </a:xfrm>
          <a:prstGeom prst="roundRect">
            <a:avLst>
              <a:gd name="adj" fmla="val 13514"/>
            </a:avLst>
          </a:prstGeom>
          <a:solidFill>
            <a:srgbClr val="0F1C2B"/>
          </a:solidFill>
          <a:ln w="9525">
            <a:solidFill>
              <a:srgbClr val="64D98B"/>
            </a:solidFill>
            <a:prstDash val="solid"/>
          </a:ln>
        </p:spPr>
      </p:sp>
      <p:sp>
        <p:nvSpPr>
          <p:cNvPr id="17" name="Rectangle 16">
            <a:extLst>
              <a:ext uri="{FF2B5EF4-FFF2-40B4-BE49-F238E27FC236}">
                <a16:creationId xmlns:a16="http://schemas.microsoft.com/office/drawing/2014/main" id="{031466FF-846B-4992-ADB0-FCDFC6F5E081}"/>
              </a:ext>
            </a:extLst>
          </p:cNvPr>
          <p:cNvSpPr>
            <a:spLocks noGrp="1"/>
          </p:cNvSpPr>
          <p:nvPr/>
        </p:nvSpPr>
        <p:spPr>
          <a:xfrm>
            <a:off x="10391775" y="3295650"/>
            <a:ext cx="914400" cy="361950"/>
          </a:xfrm>
          <a:prstGeom prst="rect">
            <a:avLst/>
          </a:prstGeom>
          <a:noFill/>
          <a:ln w="0">
            <a:noFill/>
          </a:ln>
        </p:spPr>
        <p:txBody>
          <a:bodyPr wrap="square" lIns="0" tIns="0" rIns="0" bIns="0" anchor="ctr">
            <a:normAutofit/>
          </a:bodyPr>
          <a:lstStyle/>
          <a:p>
            <a:pPr algn="ctr">
              <a:buNone/>
              <a:defRPr sz="975" b="1">
                <a:solidFill>
                  <a:srgbClr val="64D98B"/>
                </a:solidFill>
                <a:latin typeface="DejaVu Sans"/>
                <a:ea typeface="DejaVu Sans"/>
                <a:cs typeface="DejaVu Sans"/>
              </a:defRPr>
            </a:pPr>
            <a:r>
              <a:rPr sz="975" b="1">
                <a:solidFill>
                  <a:srgbClr val="64D98B"/>
                </a:solidFill>
                <a:latin typeface="DejaVu Sans"/>
                <a:ea typeface="DejaVu Sans"/>
                <a:cs typeface="DejaVu Sans"/>
              </a:rPr>
              <a:t>Result</a:t>
            </a:r>
          </a:p>
        </p:txBody>
      </p:sp>
      <p:cxnSp>
        <p:nvCxnSpPr>
          <p:cNvPr id="86" name="Straight Arrow Connector 64"/>
          <p:cNvCxnSpPr>
            <a:stCxn id="8" idx="3"/>
            <a:endCxn id="10" idx="1"/>
          </p:cNvCxnSpPr>
          <p:nvPr/>
        </p:nvCxnSpPr>
        <p:spPr>
          <a:xfrm>
            <a:off x="6953250" y="3495675"/>
            <a:ext cx="57150" cy="0"/>
          </a:xfrm>
          <a:prstGeom prst="straightConnector1">
            <a:avLst/>
          </a:prstGeom>
          <a:ln w="19050">
            <a:solidFill>
              <a:srgbClr val="9CB0C3"/>
            </a:solidFill>
            <a:prstDash val="solid"/>
            <a:tailEnd type="triangle" w="sm" len="sm"/>
          </a:ln>
        </p:spPr>
      </p:cxnSp>
      <p:cxnSp>
        <p:nvCxnSpPr>
          <p:cNvPr id="87" name="Straight Arrow Connector 65"/>
          <p:cNvCxnSpPr>
            <a:stCxn id="10" idx="3"/>
            <a:endCxn id="12" idx="1"/>
          </p:cNvCxnSpPr>
          <p:nvPr/>
        </p:nvCxnSpPr>
        <p:spPr>
          <a:xfrm>
            <a:off x="8058150" y="3495675"/>
            <a:ext cx="57150" cy="0"/>
          </a:xfrm>
          <a:prstGeom prst="straightConnector1">
            <a:avLst/>
          </a:prstGeom>
          <a:ln w="19050">
            <a:solidFill>
              <a:srgbClr val="9CB0C3"/>
            </a:solidFill>
            <a:prstDash val="solid"/>
            <a:tailEnd type="triangle" w="sm" len="sm"/>
          </a:ln>
        </p:spPr>
      </p:cxnSp>
      <p:cxnSp>
        <p:nvCxnSpPr>
          <p:cNvPr id="88" name="Straight Arrow Connector 66"/>
          <p:cNvCxnSpPr>
            <a:stCxn id="12" idx="3"/>
            <a:endCxn id="14" idx="1"/>
          </p:cNvCxnSpPr>
          <p:nvPr/>
        </p:nvCxnSpPr>
        <p:spPr>
          <a:xfrm>
            <a:off x="9163050" y="3495675"/>
            <a:ext cx="57150" cy="0"/>
          </a:xfrm>
          <a:prstGeom prst="straightConnector1">
            <a:avLst/>
          </a:prstGeom>
          <a:ln w="19050">
            <a:solidFill>
              <a:srgbClr val="9CB0C3"/>
            </a:solidFill>
            <a:prstDash val="solid"/>
            <a:tailEnd type="triangle" w="sm" len="sm"/>
          </a:ln>
        </p:spPr>
      </p:cxnSp>
      <p:cxnSp>
        <p:nvCxnSpPr>
          <p:cNvPr id="89" name="Straight Arrow Connector 67"/>
          <p:cNvCxnSpPr>
            <a:stCxn id="14" idx="3"/>
            <a:endCxn id="16" idx="1"/>
          </p:cNvCxnSpPr>
          <p:nvPr/>
        </p:nvCxnSpPr>
        <p:spPr>
          <a:xfrm>
            <a:off x="10267950" y="3495675"/>
            <a:ext cx="57150" cy="0"/>
          </a:xfrm>
          <a:prstGeom prst="straightConnector1">
            <a:avLst/>
          </a:prstGeom>
          <a:ln w="19050">
            <a:solidFill>
              <a:srgbClr val="9CB0C3"/>
            </a:solidFill>
            <a:prstDash val="solid"/>
            <a:tailEnd type="triangle" w="sm" len="sm"/>
          </a:ln>
        </p:spPr>
      </p:cxnSp>
      <p:sp>
        <p:nvSpPr>
          <p:cNvPr id="22" name="Rectangle: Rounded Corners 21">
            <a:extLst>
              <a:ext uri="{FF2B5EF4-FFF2-40B4-BE49-F238E27FC236}">
                <a16:creationId xmlns:a16="http://schemas.microsoft.com/office/drawing/2014/main" id="{7E703C61-2B59-47C1-8645-665214A1877A}"/>
              </a:ext>
            </a:extLst>
          </p:cNvPr>
          <p:cNvSpPr>
            <a:spLocks noGrp="1"/>
          </p:cNvSpPr>
          <p:nvPr/>
        </p:nvSpPr>
        <p:spPr>
          <a:xfrm>
            <a:off x="609600" y="4762500"/>
            <a:ext cx="10572750" cy="742950"/>
          </a:xfrm>
          <a:prstGeom prst="roundRect">
            <a:avLst>
              <a:gd name="adj" fmla="val 15385"/>
            </a:avLst>
          </a:prstGeom>
          <a:solidFill>
            <a:srgbClr val="0F1C2B"/>
          </a:solidFill>
          <a:ln w="9525">
            <a:solidFill>
              <a:srgbClr val="294057"/>
            </a:solidFill>
            <a:prstDash val="solid"/>
          </a:ln>
        </p:spPr>
      </p:sp>
      <p:sp>
        <p:nvSpPr>
          <p:cNvPr id="23" name="Rectangle 22">
            <a:extLst>
              <a:ext uri="{FF2B5EF4-FFF2-40B4-BE49-F238E27FC236}">
                <a16:creationId xmlns:a16="http://schemas.microsoft.com/office/drawing/2014/main" id="{4750DB69-2FBD-4FF2-826C-8509971FED4E}"/>
              </a:ext>
            </a:extLst>
          </p:cNvPr>
          <p:cNvSpPr>
            <a:spLocks noGrp="1"/>
          </p:cNvSpPr>
          <p:nvPr/>
        </p:nvSpPr>
        <p:spPr>
          <a:xfrm>
            <a:off x="819150" y="4953000"/>
            <a:ext cx="180975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Immediate action</a:t>
            </a:r>
          </a:p>
        </p:txBody>
      </p:sp>
      <p:sp>
        <p:nvSpPr>
          <p:cNvPr id="24" name="Rectangle 23">
            <a:extLst>
              <a:ext uri="{FF2B5EF4-FFF2-40B4-BE49-F238E27FC236}">
                <a16:creationId xmlns:a16="http://schemas.microsoft.com/office/drawing/2014/main" id="{80D53AEE-FC43-4DB9-B2B1-4C9DA461F787}"/>
              </a:ext>
            </a:extLst>
          </p:cNvPr>
          <p:cNvSpPr>
            <a:spLocks noGrp="1"/>
          </p:cNvSpPr>
          <p:nvPr/>
        </p:nvSpPr>
        <p:spPr>
          <a:xfrm>
            <a:off x="2667000" y="4838700"/>
            <a:ext cx="8239125" cy="619125"/>
          </a:xfrm>
          <a:prstGeom prst="rect">
            <a:avLst/>
          </a:prstGeom>
          <a:noFill/>
          <a:ln w="0">
            <a:noFill/>
          </a:ln>
        </p:spPr>
        <p:txBody>
          <a:bodyPr wrap="square" lIns="0" tIns="0" rIns="0" bIns="0" anchor="t">
            <a:noAutofit/>
          </a:bodyPr>
          <a:lstStyle/>
          <a:p>
            <a:pPr algn="l">
              <a:buNone/>
              <a:defRPr sz="1313" b="1">
                <a:solidFill>
                  <a:srgbClr val="EAF2F8"/>
                </a:solidFill>
                <a:latin typeface="DejaVu Sans"/>
                <a:ea typeface="DejaVu Sans"/>
                <a:cs typeface="DejaVu Sans"/>
              </a:defRPr>
            </a:pPr>
            <a:r>
              <a:rPr sz="1313" b="1">
                <a:solidFill>
                  <a:srgbClr val="EAF2F8"/>
                </a:solidFill>
                <a:latin typeface="DejaVu Sans"/>
                <a:ea typeface="DejaVu Sans"/>
                <a:cs typeface="DejaVu Sans"/>
              </a:rPr>
              <a:t>Trace each claim to a stored result, configuration and code version.</a:t>
            </a:r>
          </a:p>
          <a:p>
            <a:pPr algn="l">
              <a:buNone/>
              <a:defRPr sz="1313" b="1">
                <a:solidFill>
                  <a:srgbClr val="EAF2F8"/>
                </a:solidFill>
                <a:latin typeface="DejaVu Sans"/>
                <a:ea typeface="DejaVu Sans"/>
                <a:cs typeface="DejaVu Sans"/>
              </a:defRPr>
            </a:pPr>
            <a:r>
              <a:rPr sz="1313" b="1">
                <a:solidFill>
                  <a:srgbClr val="EAF2F8"/>
                </a:solidFill>
                <a:latin typeface="DejaVu Sans"/>
                <a:ea typeface="DejaVu Sans"/>
                <a:cs typeface="DejaVu Sans"/>
              </a:rPr>
              <a:t>Use synthetic shift labels for detection metrics and EEG traces for descriptive analysis.</a:t>
            </a:r>
          </a:p>
        </p:txBody>
      </p:sp>
      <p:sp>
        <p:nvSpPr>
          <p:cNvPr id="25" name="Rectangle 24">
            <a:extLst>
              <a:ext uri="{FF2B5EF4-FFF2-40B4-BE49-F238E27FC236}">
                <a16:creationId xmlns:a16="http://schemas.microsoft.com/office/drawing/2014/main" id="{39458723-FBFB-4B4E-87B4-4C298F154E19}"/>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B5A4D4A7-FEA9-4B08-9513-6705B8A8BF93}"/>
              </a:ext>
            </a:extLst>
          </p:cNvPr>
          <p:cNvSpPr>
            <a:spLocks noGrp="1"/>
          </p:cNvSpPr>
          <p:nvPr/>
        </p:nvSpPr>
        <p:spPr>
          <a:xfrm>
            <a:off x="11049000" y="6515100"/>
            <a:ext cx="533400" cy="171450"/>
          </a:xfrm>
          <a:prstGeom prst="rect">
            <a:avLst/>
          </a:prstGeom>
          <a:noFill/>
          <a:ln w="0">
            <a:noFill/>
          </a:ln>
        </p:spPr>
        <p:txBody>
          <a:bodyPr wrap="square" lIns="0" tIns="0" rIns="0" bIns="0" anchor="t">
            <a:normAutofit/>
          </a:bodyPr>
          <a:lstStyle/>
          <a:p>
            <a:pPr algn="r">
              <a:buNone/>
              <a:defRPr sz="825" b="1">
                <a:solidFill>
                  <a:srgbClr val="9CB0C3"/>
                </a:solidFill>
                <a:latin typeface="DejaVu Sans"/>
                <a:ea typeface="DejaVu Sans"/>
                <a:cs typeface="DejaVu Sans"/>
              </a:defRPr>
            </a:pPr>
            <a:r>
              <a:rPr lang="en-US" sz="825" b="1" dirty="0">
                <a:solidFill>
                  <a:srgbClr val="9CB0C3"/>
                </a:solidFill>
                <a:latin typeface="DejaVu Sans"/>
                <a:ea typeface="DejaVu Sans"/>
                <a:cs typeface="DejaVu Sans"/>
              </a:rPr>
              <a:t>10</a:t>
            </a:r>
            <a:endParaRPr sz="825" b="1" dirty="0">
              <a:solidFill>
                <a:srgbClr val="9CB0C3"/>
              </a:solidFill>
              <a:latin typeface="DejaVu Sans"/>
              <a:ea typeface="DejaVu Sans"/>
              <a:cs typeface="DejaVu Sans"/>
            </a:endParaRPr>
          </a:p>
        </p:txBody>
      </p:sp>
    </p:spTree>
    <p:extLst>
      <p:ext uri="{BB962C8B-B14F-4D97-AF65-F5344CB8AC3E}">
        <p14:creationId xmlns:p14="http://schemas.microsoft.com/office/powerpoint/2010/main" val="1903319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TotalTime>
  <Words>1177</Words>
  <Application>Microsoft Office PowerPoint</Application>
  <DocSecurity>0</DocSecurity>
  <PresentationFormat>Widescreen</PresentationFormat>
  <Paragraphs>222</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Calibri</vt:lpstr>
      <vt:lpstr>DejaVu Sans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13</cp:revision>
  <dcterms:created xsi:type="dcterms:W3CDTF">2026-09-28T11:03:11Z</dcterms:created>
  <dcterms:modified xsi:type="dcterms:W3CDTF">2026-09-30T08:55:57Z</dcterms:modified>
</cp:coreProperties>
</file>