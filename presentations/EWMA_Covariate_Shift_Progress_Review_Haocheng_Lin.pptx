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embeddedFont>
    <p:embeddedFont>
      <p:font typeface="Roboto Bold" panose="02000000000000000000" charset="0"/>
      <p:regular r:id="rId65"/>
      <p:bold r:id="rId66"/>
    </p:embeddedFont>
    <p:embeddedFont>
      <p:font typeface="Segoe UI" panose="020B0502040204020203" pitchFamily="34" charset="0"/>
      <p:regular r:id="rId67"/>
      <p:bold r:id="rId68"/>
      <p:italic r:id="rId69"/>
      <p:boldItalic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40" dt="2026-10-18T11:39:15.1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p:scale>
          <a:sx n="50" d="100"/>
          <a:sy n="50" d="100"/>
        </p:scale>
        <p:origin x="951" y="225"/>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1" Type="http://schemas.openxmlformats.org/officeDocument/2006/relationships/font" Target="fonts/font5.fntdata"/><Relationship Id="rId52" Type="http://schemas.openxmlformats.org/officeDocument/2006/relationships/font" Target="fonts/font6.fntdata"/><Relationship Id="rId53" Type="http://schemas.openxmlformats.org/officeDocument/2006/relationships/font" Target="fonts/font7.fntdata"/><Relationship Id="rId54" Type="http://schemas.openxmlformats.org/officeDocument/2006/relationships/font" Target="fonts/font8.fntdata"/><Relationship Id="rId55" Type="http://schemas.openxmlformats.org/officeDocument/2006/relationships/font" Target="fonts/font9.fntdata"/><Relationship Id="rId56" Type="http://schemas.openxmlformats.org/officeDocument/2006/relationships/font" Target="fonts/font10.fntdata"/><Relationship Id="rId57" Type="http://schemas.openxmlformats.org/officeDocument/2006/relationships/font" Target="fonts/font11.fntdata"/><Relationship Id="rId58" Type="http://schemas.openxmlformats.org/officeDocument/2006/relationships/font" Target="fonts/font12.fntdata"/><Relationship Id="rId59" Type="http://schemas.openxmlformats.org/officeDocument/2006/relationships/font" Target="fonts/font13.fntdata"/><Relationship Id="rId60" Type="http://schemas.openxmlformats.org/officeDocument/2006/relationships/font" Target="fonts/font14.fntdata"/><Relationship Id="rId61" Type="http://schemas.openxmlformats.org/officeDocument/2006/relationships/font" Target="fonts/font15.fntdata"/><Relationship Id="rId62" Type="http://schemas.openxmlformats.org/officeDocument/2006/relationships/font" Target="fonts/font16.fntdata"/><Relationship Id="rId63" Type="http://schemas.openxmlformats.org/officeDocument/2006/relationships/font" Target="fonts/font17.fntdata"/><Relationship Id="rId64" Type="http://schemas.openxmlformats.org/officeDocument/2006/relationships/font" Target="fonts/font18.fntdata"/><Relationship Id="rId65" Type="http://schemas.openxmlformats.org/officeDocument/2006/relationships/font" Target="fonts/font19.fntdata"/><Relationship Id="rId66" Type="http://schemas.openxmlformats.org/officeDocument/2006/relationships/font" Target="fonts/font20.fntdata"/><Relationship Id="rId67" Type="http://schemas.openxmlformats.org/officeDocument/2006/relationships/font" Target="fonts/font21.fntdata"/><Relationship Id="rId68" Type="http://schemas.openxmlformats.org/officeDocument/2006/relationships/font" Target="fonts/font22.fntdata"/><Relationship Id="rId69" Type="http://schemas.openxmlformats.org/officeDocument/2006/relationships/font" Target="fonts/font23.fntdata"/><Relationship Id="rId70" Type="http://schemas.openxmlformats.org/officeDocument/2006/relationships/font" Target="fonts/font24.fntdata"/><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6/11/relationships/changesInfo" Target="changesInfos/changesInfo1.xml"/><Relationship Id="rId7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custSel addSld delSld modSld">
      <pc:chgData name="Haocheng Lin" userId="3c9af17cd41df8cf" providerId="LiveId" clId="{E85DCD58-ED75-4D29-A2F4-F018EE94DF03}" dt="2026-10-18T11:40:37.111" v="509" actId="1076"/>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1:40:37.111" v="509" actId="1076"/>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https://github.com/hlin863/ewma_covariate_shift_demo/blob/main/src/bci/data.py" TargetMode="External"/><Relationship Id="rId4" Type="http://schemas.openxmlformats.org/officeDocument/2006/relationships/hyperlink" Target="https://app.notion.com/p/2dbebfe135114eb2b1dbe494cf9e450b?v=c3ec27d9aaad4594b1f5cdb438a944ba" TargetMode="External"/><Relationship Id="rId5" Type="http://schemas.openxmlformats.org/officeDocument/2006/relationships/hyperlink" Target="https://github.com/hlin863/ewma_covariate_shift_demo/blob/main/src/bci/fbcsp.py" TargetMode="External"/><Relationship Id="rId6" Type="http://schemas.openxmlformats.org/officeDocument/2006/relationships/hyperlink" Target="https://github.com/hlin863/ewma_covariate_shift_demo/blob/main/src/detection/preprocessing.py#L9-L105" TargetMode="External"/><Relationship Id="rId7" Type="http://schemas.openxmlformats.org/officeDocument/2006/relationships/hyperlink" Target="https://github.com/hlin863/ewma_covariate_shift_demo/tree/main/src/detection/stage1" TargetMode="External"/><Relationship Id="rId8" Type="http://schemas.openxmlformats.org/officeDocument/2006/relationships/hyperlink" Target="https://github.com/hlin863/ewma_covariate_shift_demo/tree/main/src/detection/stage2"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6.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1.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0.png"/><Relationship Id="rId4" Type="http://schemas.openxmlformats.org/officeDocument/2006/relationships/image" Target="../media/image13.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42.png"/><Relationship Id="rId12" Type="http://schemas.openxmlformats.org/officeDocument/2006/relationships/image" Target="../media/image43.png"/><Relationship Id="rId13"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mc:Choice xmlns:a14="http://schemas.microsoft.com/office/drawing/2010/main"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3099816"/>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3099816"/>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3529584"/>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3529584"/>
                <a:ext cx="5989320" cy="512064"/>
              </a:xfrm>
              <a:prstGeom prst="rect">
                <a:avLst/>
              </a:prstGeom>
              <a:blipFill>
                <a:blip r:embed="rId5"/>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rIns="0" t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rIns="0" t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ide 8 / step1 / heading"/>
          <p:cNvSpPr txBox="1"/>
          <p:nvPr/>
        </p:nvSpPr>
        <p:spPr>
          <a:xfrm>
            <a:off x="1412748" y="2578608"/>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01   Aggregation Across Channels</a:t>
            </a:r>
          </a:p>
        </p:txBody>
      </p:sp>
      <p:sp>
        <p:nvSpPr>
          <p:cNvPr id="38" name="Slide 8 / step1 / EDITABLE OfficeMath equation 1"/>
          <p:cNvSpPr txBox="1"/>
          <p:nvPr/>
        </p:nvSpPr>
        <p:spPr>
          <a:xfrm>
            <a:off x="1481328" y="3182112"/>
            <a:ext cx="7159752" cy="5486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Sup>
                    <m:e>
                      <m:r>
                        <m:t>ν</m:t>
                      </m:r>
                    </m:e>
                    <m:sub>
                      <m:r>
                        <m:t>t</m:t>
                      </m:r>
                    </m:sub>
                    <m:sup>
                      <m:r>
                        <m:t>max</m:t>
                      </m:r>
                    </m:sup>
                  </m:sSubSup>
                  <m:r>
                    <m:t> = </m:t>
                  </m:r>
                  <m:sSub>
                    <m:e>
                      <m:r>
                        <m:t>max</m:t>
                      </m:r>
                    </m:e>
                    <m:sub>
                      <m:r>
                        <m:t>1≤d≤p</m:t>
                      </m:r>
                    </m:sub>
                  </m:sSub>
                  <m:r>
                    <m:t> </m:t>
                  </m:r>
                  <m:sSubSup>
                    <m:e>
                      <m:r>
                        <m:t>ν</m:t>
                      </m:r>
                    </m:e>
                    <m:sub>
                      <m:r>
                        <m:t>t</m:t>
                      </m:r>
                    </m:sub>
                    <m:sup>
                      <m:r>
                        <m:t>(d)</m:t>
                      </m:r>
                    </m:sup>
                  </m:sSubSup>
                </m:oMath>
              </m:oMathPara>
            </a14:m>
            <a:endParaRPr sz="2100" lang="en-GB">
              <a:solidFill>
                <a:srgbClr val="15263E"/>
              </a:solidFill>
            </a:endParaRPr>
          </a:p>
        </p:txBody>
      </p:sp>
      <p:sp>
        <p:nvSpPr>
          <p:cNvPr id="39" name="Slide 8 / step1 / EDITABLE OfficeMath equation 2"/>
          <p:cNvSpPr txBox="1"/>
          <p:nvPr/>
        </p:nvSpPr>
        <p:spPr>
          <a:xfrm>
            <a:off x="1481328" y="3785616"/>
            <a:ext cx="7159752" cy="5486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Sup>
                    <m:e>
                      <m:r>
                        <m:t>ν</m:t>
                      </m:r>
                    </m:e>
                    <m:sub>
                      <m:r>
                        <m:t>t</m:t>
                      </m:r>
                    </m:sub>
                    <m:sup>
                      <m:r>
                        <m:t>avg</m:t>
                      </m:r>
                    </m:sup>
                  </m:sSubSup>
                  <m:r>
                    <m:t> = </m:t>
                  </m:r>
                  <m:f>
                    <m:num>
                      <m:r>
                        <m:t>1</m:t>
                      </m:r>
                    </m:num>
                    <m:den>
                      <m:r>
                        <m:t>p</m:t>
                      </m:r>
                    </m:den>
                  </m:f>
                  <m:r>
                    <m:t> </m:t>
                  </m:r>
                  <m:nary>
                    <m:naryPr>
                      <m:chr m:val="∑"/>
                    </m:naryPr>
                    <m:sub>
                      <m:r>
                        <m:t>d=1</m:t>
                      </m:r>
                    </m:sub>
                    <m:sup>
                      <m:r>
                        <m:t>p</m:t>
                      </m:r>
                    </m:sup>
                    <m:e>
                      <m:sSubSup>
                        <m:e>
                          <m:r>
                            <m:t>ν</m:t>
                          </m:r>
                        </m:e>
                        <m:sub>
                          <m:r>
                            <m:t>t</m:t>
                          </m:r>
                        </m:sub>
                        <m:sup>
                          <m:r>
                            <m:t>(d)</m:t>
                          </m:r>
                        </m:sup>
                      </m:sSubSup>
                    </m:e>
                  </m:nary>
                </m:oMath>
              </m:oMathPara>
            </a14:m>
            <a:endParaRPr sz="2100" lang="en-GB">
              <a:solidFill>
                <a:srgbClr val="15263E"/>
              </a:solidFill>
            </a:endParaRPr>
          </a:p>
        </p:txBody>
      </p:sp>
      <p:sp>
        <p:nvSpPr>
          <p:cNvPr id="20" name="Slide 8 / step1 / explanation"/>
          <p:cNvSpPr txBox="1"/>
          <p:nvPr/>
        </p:nvSpPr>
        <p:spPr>
          <a:xfrm>
            <a:off x="1440180" y="456742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Maximum and average combine channelwise mean-CUSUM evidence.</a:t>
            </a:r>
          </a:p>
        </p:txBody>
      </p:sp>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ide 8 / step2 / heading"/>
          <p:cNvSpPr txBox="1"/>
          <p:nvPr/>
        </p:nvSpPr>
        <p:spPr>
          <a:xfrm>
            <a:off x="9587484" y="2578608"/>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02   Smooth and Locate Peaks</a:t>
            </a:r>
          </a:p>
        </p:txBody>
      </p:sp>
      <p:sp>
        <p:nvSpPr>
          <p:cNvPr id="40" name="Slide 8 / step2 / EDITABLE OfficeMath equation 2"/>
          <p:cNvSpPr txBox="1"/>
          <p:nvPr/>
        </p:nvSpPr>
        <p:spPr>
          <a:xfrm>
            <a:off x="9656064" y="3995928"/>
            <a:ext cx="7159752" cy="5486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b</m:t>
                      </m:r>
                    </m:e>
                    <m:sub>
                      <m:r>
                        <m:t>g</m:t>
                      </m:r>
                    </m:sub>
                  </m:sSub>
                  <m:r>
                    <m:t> = </m:t>
                  </m:r>
                  <m:sSub>
                    <m:e>
                      <m:r>
                        <m:t>arg max</m:t>
                      </m:r>
                    </m:e>
                    <m:sub>
                      <m:r>
                        <m:t>t</m:t>
                      </m:r>
                    </m:sub>
                  </m:sSub>
                  <m:r>
                    <m:t> </m:t>
                  </m:r>
                  <m:acc>
                    <m:accPr>
                      <m:chr m:val="̃"/>
                    </m:accPr>
                    <m:e>
                      <m:sSubSup>
                        <m:e>
                          <m:r>
                            <m:t>ν</m:t>
                          </m:r>
                        </m:e>
                        <m:sub>
                          <m:r>
                            <m:t>t</m:t>
                          </m:r>
                        </m:sub>
                        <m:sup>
                          <m:r>
                            <m:t>g</m:t>
                          </m:r>
                        </m:sup>
                      </m:sSubSup>
                    </m:e>
                  </m:acc>
                </m:oMath>
              </m:oMathPara>
            </a14:m>
            <a:endParaRPr sz="2100" lang="en-GB">
              <a:solidFill>
                <a:srgbClr val="15263E"/>
              </a:solidFill>
            </a:endParaRPr>
          </a:p>
        </p:txBody>
      </p:sp>
      <p:sp>
        <p:nvSpPr>
          <p:cNvPr id="25" name="Slide 8 / step2 / explanation"/>
          <p:cNvSpPr txBox="1"/>
          <p:nvPr/>
        </p:nvSpPr>
        <p:spPr>
          <a:xfrm>
            <a:off x="9614916" y="456742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lide 8 / step3 / heading"/>
          <p:cNvSpPr txBox="1"/>
          <p:nvPr/>
        </p:nvSpPr>
        <p:spPr>
          <a:xfrm>
            <a:off x="1412748" y="5733286"/>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03   Check Unimodality</a:t>
            </a:r>
          </a:p>
        </p:txBody>
      </p:sp>
      <p:sp>
        <p:nvSpPr>
          <p:cNvPr id="41" name="Slide 8 / step3 / EDITABLE OfficeMath equation 1"/>
          <p:cNvSpPr txBox="1"/>
          <p:nvPr/>
        </p:nvSpPr>
        <p:spPr>
          <a:xfrm>
            <a:off x="1481328" y="6419088"/>
            <a:ext cx="7159752" cy="5486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p>
                    <m:e>
                      <m:r>
                        <m:t>A</m:t>
                      </m:r>
                    </m:e>
                    <m:sup>
                      <m:r>
                        <m:t>max</m:t>
                      </m:r>
                    </m:sup>
                  </m:sSup>
                  <m:sSup>
                    <m:e>
                      <m:r>
                        <m:t>A</m:t>
                      </m:r>
                    </m:e>
                    <m:sup>
                      <m:r>
                        <m:t>avg</m:t>
                      </m:r>
                    </m:sup>
                  </m:sSup>
                  <m:r>
                    <m:t> = 0</m:t>
                  </m:r>
                </m:oMath>
              </m:oMathPara>
            </a14:m>
            <a:endParaRPr sz="2100" lang="en-GB">
              <a:solidFill>
                <a:srgbClr val="15263E"/>
              </a:solidFill>
            </a:endParaRPr>
          </a:p>
        </p:txBody>
      </p:sp>
      <p:sp>
        <p:nvSpPr>
          <p:cNvPr id="29" name="Slide 8 / step3 / explanation"/>
          <p:cNvSpPr txBox="1"/>
          <p:nvPr/>
        </p:nvSpPr>
        <p:spPr>
          <a:xfrm>
            <a:off x="1440180" y="772210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ide 8 / step4 / heading"/>
          <p:cNvSpPr txBox="1"/>
          <p:nvPr/>
        </p:nvSpPr>
        <p:spPr>
          <a:xfrm>
            <a:off x="9587484" y="5733286"/>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04   Confirm and Estimate</a:t>
            </a:r>
          </a:p>
        </p:txBody>
      </p:sp>
      <p:sp>
        <p:nvSpPr>
          <p:cNvPr id="42" name="Slide 8 / step4 / EDITABLE OfficeMath equation 1"/>
          <p:cNvSpPr txBox="1"/>
          <p:nvPr/>
        </p:nvSpPr>
        <p:spPr>
          <a:xfrm>
            <a:off x="9656064" y="6336792"/>
            <a:ext cx="7159752" cy="5486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m:t>
                  </m:r>
                  <m:sSup>
                    <m:e>
                      <m:r>
                        <m:t>b</m:t>
                      </m:r>
                    </m:e>
                    <m:sup>
                      <m:r>
                        <m:t>max</m:t>
                      </m:r>
                    </m:sup>
                  </m:sSup>
                  <m:r>
                    <m:t> − </m:t>
                  </m:r>
                  <m:sSup>
                    <m:e>
                      <m:r>
                        <m:t>b</m:t>
                      </m:r>
                    </m:e>
                    <m:sup>
                      <m:r>
                        <m:t>avg</m:t>
                      </m:r>
                    </m:sup>
                  </m:sSup>
                  <m:r>
                    <m:t>| &lt; </m:t>
                  </m:r>
                  <m:f>
                    <m:num>
                      <m:rad>
                        <m:radPr>
                          <m:degHide m:val="1"/>
                        </m:radPr>
                        <m:deg/>
                        <m:e>
                          <m:r>
                            <m:t>T</m:t>
                          </m:r>
                        </m:e>
                      </m:rad>
                    </m:num>
                    <m:den>
                      <m:r>
                        <m:t>2</m:t>
                      </m:r>
                    </m:den>
                  </m:f>
                </m:oMath>
              </m:oMathPara>
            </a14:m>
            <a:endParaRPr sz="2100" lang="en-GB">
              <a:solidFill>
                <a:srgbClr val="15263E"/>
              </a:solidFill>
            </a:endParaRPr>
          </a:p>
        </p:txBody>
      </p:sp>
      <p:sp>
        <p:nvSpPr>
          <p:cNvPr id="43" name="Slide 8 / step4 / EDITABLE OfficeMath equation 2"/>
          <p:cNvSpPr txBox="1"/>
          <p:nvPr/>
        </p:nvSpPr>
        <p:spPr>
          <a:xfrm>
            <a:off x="9656064" y="6940296"/>
            <a:ext cx="7159752" cy="5486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acc>
                    <m:accPr>
                      <m:chr m:val="̂"/>
                    </m:accPr>
                    <m:e>
                      <m:r>
                        <m:t>b</m:t>
                      </m:r>
                    </m:e>
                  </m:acc>
                  <m:r>
                    <m:t> = </m:t>
                  </m:r>
                  <m:f>
                    <m:num>
                      <m:sSup>
                        <m:e>
                          <m:r>
                            <m:t>b</m:t>
                          </m:r>
                        </m:e>
                        <m:sup>
                          <m:r>
                            <m:t>max</m:t>
                          </m:r>
                        </m:sup>
                      </m:sSup>
                      <m:r>
                        <m:t> + </m:t>
                      </m:r>
                      <m:sSup>
                        <m:e>
                          <m:r>
                            <m:t>b</m:t>
                          </m:r>
                        </m:e>
                        <m:sup>
                          <m:r>
                            <m:t>avg</m:t>
                          </m:r>
                        </m:sup>
                      </m:sSup>
                    </m:num>
                    <m:den>
                      <m:r>
                        <m:t>2</m:t>
                      </m:r>
                    </m:den>
                  </m:f>
                </m:oMath>
              </m:oMathPara>
            </a14:m>
            <a:endParaRPr sz="2100" lang="en-GB">
              <a:solidFill>
                <a:srgbClr val="15263E"/>
              </a:solidFill>
            </a:endParaRPr>
          </a:p>
        </p:txBody>
      </p:sp>
      <p:sp>
        <p:nvSpPr>
          <p:cNvPr id="34" name="Slide 8 / step4 / explanation"/>
          <p:cNvSpPr txBox="1"/>
          <p:nvPr/>
        </p:nvSpPr>
        <p:spPr>
          <a:xfrm>
            <a:off x="9614916" y="772210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rIns="0" t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rIns="0" t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rIns="0" tIns="0" bIns="0">
            <a:spAutoFit/>
          </a:bodyPr>
          <a:lstStyle/>
          <a:p>
            <a:pPr algn="l">
              <a:spcAft>
                <a:spcPts val="0"/>
              </a:spcAft>
            </a:pPr>
            <a:r>
              <a:rPr sz="1335" b="0">
                <a:solidFill>
                  <a:srgbClr val="465972"/>
                </a:solidFill>
                <a:latin typeface="Aptos"/>
              </a:rPr>
              <a:t>Research progress  |  hlin863/ewma_covariate_shift_demo  |  Oct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1111</TotalTime>
  <Words>9230</Words>
  <Application>Microsoft Office PowerPoint</Application>
  <PresentationFormat>Custom</PresentationFormat>
  <Paragraphs>1095</Paragraphs>
  <Slides>44</Slides>
  <Notes>34</Notes>
  <HiddenSlides>0</HiddenSlides>
  <MMClips>0</MMClips>
  <ScaleCrop>false</ScaleCrop>
  <HeadingPairs>
    <vt:vector size="6" baseType="variant">
      <vt:variant>
        <vt:lpstr>Fonts Used</vt:lpstr>
      </vt:variant>
      <vt:variant>
        <vt:i4>19</vt:i4>
      </vt:variant>
      <vt:variant>
        <vt:lpstr>Theme</vt:lpstr>
      </vt:variant>
      <vt:variant>
        <vt:i4>1</vt:i4>
      </vt:variant>
      <vt:variant>
        <vt:lpstr>Slide Titles</vt:lpstr>
      </vt:variant>
      <vt:variant>
        <vt:i4>44</vt:i4>
      </vt:variant>
    </vt:vector>
  </HeadingPairs>
  <TitlesOfParts>
    <vt:vector size="64" baseType="lpstr">
      <vt:lpstr>Inter Italics</vt:lpstr>
      <vt:lpstr>Calibri</vt:lpstr>
      <vt:lpstr>Calibri (MS) Bold</vt:lpstr>
      <vt:lpstr>Arial</vt:lpstr>
      <vt:lpstr>Roboto</vt:lpstr>
      <vt:lpstr>DejaVu Sans Bold</vt:lpstr>
      <vt:lpstr>Calibri (MS)</vt:lpstr>
      <vt:lpstr>Aptos</vt:lpstr>
      <vt:lpstr>DejaVu Sans Light</vt:lpstr>
      <vt:lpstr>Inter Semi-Bold</vt:lpstr>
      <vt:lpstr>Inter</vt:lpstr>
      <vt:lpstr>Inter Bold</vt:lpstr>
      <vt:lpstr>Aptos Bold</vt:lpstr>
      <vt:lpstr>Consolas</vt:lpstr>
      <vt:lpstr>Segoe UI</vt:lpstr>
      <vt:lpstr>Cambria Math</vt:lpstr>
      <vt:lpstr>Calibri (MS) Italics</vt:lpstr>
      <vt:lpstr>Inter Medium</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2026-10-18T11:40:38Z</dcterms:modified>
  <dc:identifier>DAHYBaR-K0c</dc:identifier>
</cp:coreProperties>
</file>