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9" r:id="rId41"/>
    <p:sldId id="298" r:id="rId42"/>
    <p:sldId id="295" r:id="rId43"/>
    <p:sldId id="296" r:id="rId44"/>
    <p:sldId id="297" r:id="rId45"/>
  </p:sldIdLst>
  <p:sldSz cx="18288000" cy="10287000"/>
  <p:notesSz cx="6858000" cy="9144000"/>
  <p:embeddedFontLst>
    <p:embeddedFont>
      <p:font typeface="Aptos" panose="020B0004020202020204" pitchFamily="34" charset="0"/>
      <p:regular r:id="rId47"/>
    </p:embeddedFont>
    <p:embeddedFont>
      <p:font typeface="Aptos Bold" panose="020B0604020202020204" charset="0"/>
      <p:regular r:id="rId48"/>
    </p:embeddedFont>
    <p:embeddedFont>
      <p:font typeface="Calibri" panose="020F0502020204030204" pitchFamily="34" charset="0"/>
      <p:regular r:id="rId49"/>
      <p:bold r:id="rId50"/>
      <p:italic r:id="rId51"/>
      <p:boldItalic r:id="rId52"/>
    </p:embeddedFont>
    <p:embeddedFont>
      <p:font typeface="Calibri (MS)" panose="020B0604020202020204" charset="0"/>
      <p:regular r:id="rId53"/>
    </p:embeddedFont>
    <p:embeddedFont>
      <p:font typeface="Calibri (MS) Bold" panose="020B0604020202020204" charset="0"/>
      <p:regular r:id="rId54"/>
    </p:embeddedFont>
    <p:embeddedFont>
      <p:font typeface="Calibri (MS) Italics" panose="020B0604020202020204" charset="0"/>
      <p:regular r:id="rId55"/>
    </p:embeddedFont>
    <p:embeddedFont>
      <p:font typeface="Consolas" panose="020B0609020204030204" pitchFamily="49" charset="0"/>
      <p:regular r:id="rId56"/>
      <p:bold r:id="rId57"/>
      <p:italic r:id="rId58"/>
      <p:boldItalic r:id="rId59"/>
    </p:embeddedFont>
    <p:embeddedFont>
      <p:font typeface="DejaVu Sans Bold" panose="020B0604020202020204" charset="0"/>
      <p:regular r:id="rId60"/>
    </p:embeddedFont>
    <p:embeddedFont>
      <p:font typeface="DejaVu Sans Light" panose="020B0604020202020204" charset="0"/>
      <p:regular r:id="rId61"/>
    </p:embeddedFont>
    <p:embeddedFont>
      <p:font typeface="Inter" panose="020B0604020202020204" charset="0"/>
      <p:regular r:id="rId62"/>
    </p:embeddedFont>
    <p:embeddedFont>
      <p:font typeface="Inter Bold" panose="020B0604020202020204" charset="0"/>
      <p:regular r:id="rId63"/>
    </p:embeddedFont>
    <p:embeddedFont>
      <p:font typeface="Inter Italics" panose="020B0604020202020204" charset="0"/>
      <p:regular r:id="rId64"/>
    </p:embeddedFont>
    <p:embeddedFont>
      <p:font typeface="Inter Medium" panose="020B0604020202020204" charset="0"/>
      <p:regular r:id="rId65"/>
    </p:embeddedFont>
    <p:embeddedFont>
      <p:font typeface="Inter Semi-Bold" panose="020B0604020202020204" charset="0"/>
      <p:regular r:id="rId66"/>
    </p:embeddedFont>
    <p:embeddedFont>
      <p:font typeface="Roboto" panose="02000000000000000000" pitchFamily="2" charset="0"/>
      <p:regular r:id="rId67"/>
      <p:bold r:id="rId68"/>
      <p:italic r:id="rId69"/>
      <p:boldItalic r:id="rId70"/>
    </p:embeddedFont>
    <p:embeddedFont>
      <p:font typeface="Roboto Bold" panose="02000000000000000000" charset="0"/>
      <p:regular r:id="rId7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2" dt="2026-10-14T22:05:59.5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2" d="100"/>
          <a:sy n="72" d="100"/>
        </p:scale>
        <p:origin x="654" y="6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font" Target="fonts/font1.fntdata"/><Relationship Id="rId63" Type="http://schemas.openxmlformats.org/officeDocument/2006/relationships/font" Target="fonts/font17.fntdata"/><Relationship Id="rId68" Type="http://schemas.openxmlformats.org/officeDocument/2006/relationships/font" Target="fonts/font22.fntdata"/><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7.fntdata"/><Relationship Id="rId58" Type="http://schemas.openxmlformats.org/officeDocument/2006/relationships/font" Target="fonts/font12.fntdata"/><Relationship Id="rId66" Type="http://schemas.openxmlformats.org/officeDocument/2006/relationships/font" Target="fonts/font20.fntdata"/><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font" Target="fonts/font15.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2.fntdata"/><Relationship Id="rId56" Type="http://schemas.openxmlformats.org/officeDocument/2006/relationships/font" Target="fonts/font10.fntdata"/><Relationship Id="rId64" Type="http://schemas.openxmlformats.org/officeDocument/2006/relationships/font" Target="fonts/font18.fntdata"/><Relationship Id="rId69" Type="http://schemas.openxmlformats.org/officeDocument/2006/relationships/font" Target="fonts/font23.fntdata"/><Relationship Id="rId77"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font" Target="fonts/font5.fntdata"/><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59" Type="http://schemas.openxmlformats.org/officeDocument/2006/relationships/font" Target="fonts/font13.fntdata"/><Relationship Id="rId67" Type="http://schemas.openxmlformats.org/officeDocument/2006/relationships/font" Target="fonts/font2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8.fntdata"/><Relationship Id="rId62" Type="http://schemas.openxmlformats.org/officeDocument/2006/relationships/font" Target="fonts/font16.fntdata"/><Relationship Id="rId70" Type="http://schemas.openxmlformats.org/officeDocument/2006/relationships/font" Target="fonts/font24.fntdata"/><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3.fntdata"/><Relationship Id="rId57" Type="http://schemas.openxmlformats.org/officeDocument/2006/relationships/font" Target="fonts/font1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6.fntdata"/><Relationship Id="rId60" Type="http://schemas.openxmlformats.org/officeDocument/2006/relationships/font" Target="fonts/font14.fntdata"/><Relationship Id="rId65" Type="http://schemas.openxmlformats.org/officeDocument/2006/relationships/font" Target="fonts/font19.fntdata"/><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4.fntdata"/><Relationship Id="rId55" Type="http://schemas.openxmlformats.org/officeDocument/2006/relationships/font" Target="fonts/font9.fntdata"/><Relationship Id="rId76"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font" Target="fonts/font25.fntdata"/><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custSel addSld delSld modSld">
      <pc:chgData name="Haocheng Lin" userId="3c9af17cd41df8cf" providerId="LiveId" clId="{E85DCD58-ED75-4D29-A2F4-F018EE94DF03}" dt="2026-10-14T22:05:59.512" v="28"/>
      <pc:docMkLst>
        <pc:docMk/>
      </pc:docMkLst>
      <pc:sldChg chg="modSp mod">
        <pc:chgData name="Haocheng Lin" userId="3c9af17cd41df8cf" providerId="LiveId" clId="{E85DCD58-ED75-4D29-A2F4-F018EE94DF03}" dt="2026-10-14T22:01:23.443" v="19" actId="1076"/>
        <pc:sldMkLst>
          <pc:docMk/>
          <pc:sldMk cId="0" sldId="257"/>
        </pc:sldMkLst>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del">
        <pc:chgData name="Haocheng Lin" userId="3c9af17cd41df8cf" providerId="LiveId" clId="{E85DCD58-ED75-4D29-A2F4-F018EE94DF03}" dt="2026-10-14T21:54:22.215" v="6" actId="2696"/>
        <pc:sldMkLst>
          <pc:docMk/>
          <pc:sldMk cId="0" sldId="294"/>
        </pc:sldMkLst>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15.10.2026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\delta_{ij}=1\ (i=j),\qquad \delta_{ij}=0\ (i\ne 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8" Type="http://schemas.openxmlformats.org/officeDocument/2006/relationships/image" Target="../media/image33.png"/><Relationship Id="rId13" Type="http://schemas.openxmlformats.org/officeDocument/2006/relationships/image" Target="../media/image38.pn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image" Target="../media/image27.png"/><Relationship Id="rId1" Type="http://schemas.openxmlformats.org/officeDocument/2006/relationships/slideLayout" Target="../slideLayouts/slideLayout7.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29.png"/><Relationship Id="rId9" Type="http://schemas.openxmlformats.org/officeDocument/2006/relationships/image" Target="../media/image34.png"/></Relationships>
</file>

<file path=ppt/slides/_rels/slide41.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0.png"/><Relationship Id="rId7" Type="http://schemas.openxmlformats.org/officeDocument/2006/relationships/image" Target="../media/image44.png"/><Relationship Id="rId12" Type="http://schemas.openxmlformats.org/officeDocument/2006/relationships/image" Target="../media/image49.png"/><Relationship Id="rId2" Type="http://schemas.openxmlformats.org/officeDocument/2006/relationships/image" Target="../media/image39.png"/><Relationship Id="rId1" Type="http://schemas.openxmlformats.org/officeDocument/2006/relationships/slideLayout" Target="../slideLayouts/slideLayout7.xml"/><Relationship Id="rId6" Type="http://schemas.openxmlformats.org/officeDocument/2006/relationships/image" Target="../media/image43.png"/><Relationship Id="rId11" Type="http://schemas.openxmlformats.org/officeDocument/2006/relationships/image" Target="../media/image48.png"/><Relationship Id="rId5" Type="http://schemas.openxmlformats.org/officeDocument/2006/relationships/image" Target="../media/image42.png"/><Relationship Id="rId10" Type="http://schemas.openxmlformats.org/officeDocument/2006/relationships/image" Target="../media/image47.png"/><Relationship Id="rId4" Type="http://schemas.openxmlformats.org/officeDocument/2006/relationships/image" Target="../media/image41.png"/><Relationship Id="rId9" Type="http://schemas.openxmlformats.org/officeDocument/2006/relationships/image" Target="../media/image46.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038725"/>
            <a:ext cx="10858500" cy="1190625"/>
          </a:xfrm>
          <a:prstGeom prst="rect">
            <a:avLst/>
          </a:prstGeom>
        </p:spPr>
        <p:txBody>
          <a:bodyPr lIns="0" tIns="0" rIns="0" bIns="0" rtlCol="0" anchor="t">
            <a:spAutoFit/>
          </a:bodyPr>
          <a:lstStyle/>
          <a:p>
            <a:pPr algn="l">
              <a:lnSpc>
                <a:spcPts val="2970"/>
              </a:lnSpc>
            </a:pPr>
            <a:r>
              <a:rPr lang="en-US" sz="2475">
                <a:solidFill>
                  <a:srgbClr val="9CB0C3"/>
                </a:solidFill>
                <a:latin typeface="DejaVu Sans Light"/>
                <a:ea typeface="DejaVu Sans Light"/>
                <a:cs typeface="DejaVu Sans Light"/>
                <a:sym typeface="DejaVu Sans Light"/>
              </a:rPr>
              <a:t>Auditable CSE reconstruction for motor-imagery EEG</a:t>
            </a:r>
          </a:p>
          <a:p>
            <a:pPr algn="l">
              <a:lnSpc>
                <a:spcPts val="2970"/>
              </a:lnSpc>
            </a:pPr>
            <a:r>
              <a:rPr lang="en-US" sz="2475">
                <a:solidFill>
                  <a:srgbClr val="9CB0C3"/>
                </a:solidFill>
                <a:latin typeface="DejaVu Sans Light"/>
                <a:ea typeface="DejaVu Sans Light"/>
                <a:cs typeface="DejaVu Sans Light"/>
                <a:sym typeface="DejaVu Sans Light"/>
              </a:rPr>
              <a:t>Classifier benchmarks and complementary PCA monitoring</a:t>
            </a: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From published methods to implementation, reproducibility and the PhD research agenda.</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EEG non-stationarity; research lineage; clinical evidence</a:t>
            </a: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FBCSP features; frozen PCA coordinates; EWMA and Stage II</a:t>
            </a: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15" dirty="0">
                <a:solidFill>
                  <a:srgbClr val="5E6E84"/>
                </a:solidFill>
              </a:rPr>
              <a:t>Source: github.com/hlin863/ewma_covariate_shift_demo  ·  main at 15 Oct 2026</a:t>
            </a: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dirty="0">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006602"/>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a:solidFill>
                  <a:srgbClr val="A56AFF"/>
                </a:solidFill>
                <a:latin typeface="Aptos Bold"/>
                <a:ea typeface="Aptos Bold"/>
                <a:cs typeface="Aptos Bold"/>
                <a:sym typeface="Aptos Bold"/>
              </a:rPr>
              <a:t>Heyden et al. (2024): reconstruction loss basis</a:t>
            </a:r>
          </a:p>
        </p:txBody>
      </p:sp>
      <p:sp>
        <p:nvSpPr>
          <p:cNvPr id="35" name="OMML SOURCE (retained; via Selection Pane) | MSE over d dimensions"/>
          <p:cNvSpPr txBox="1"/>
          <p:nvPr/>
        </p:nvSpPr>
        <p:spPr>
          <a:xfrm>
            <a:off x="20574000" y="6815252"/>
            <a:ext cx="3386642" cy="626383"/>
          </a:xfrm>
          <a:prstGeom prst="rect">
            <a:avLst/>
          </a:prstGeom>
          <a:solidFill>
            <a:srgbClr val="DDEBF3"/>
          </a:solidFill>
        </p:spPr>
        <p:txBody>
          <a:bodyPr wrap="none" lIns="0" rIns="0" tIns="0" bIns="0">
            <a:spAutoFit/>
          </a:bodyPr>
          <a:lstStyle/>
          <a:p>
            <a:pPr algn="ctr"/>
            <a14:m xmlns:a14="http://schemas.microsoft.com/office/drawing/2010/main" xmlns:m="http://schemas.openxmlformats.org/officeDocument/2006/math">
              <m:oMathPara>
                <m:oMath>
                  <m:sSub>
                    <m:e>
                      <m:r>
                        <m:t>L</m:t>
                      </m:r>
                    </m:e>
                    <m:sub>
                      <m:r>
                        <m:t>t</m:t>
                      </m:r>
                    </m:sub>
                  </m:sSub>
                  <m:r>
                    <m:t> = MSE(</m:t>
                  </m:r>
                  <m:sSub>
                    <m:e>
                      <m:r>
                        <m:t>X</m:t>
                      </m:r>
                    </m:e>
                    <m:sub>
                      <m:r>
                        <m:t>t</m:t>
                      </m:r>
                    </m:sub>
                  </m:sSub>
                  <m:r>
                    <m:t>, </m:t>
                  </m:r>
                  <m:acc>
                    <m:accPr>
                      <m:chr m:val="̂"/>
                    </m:accPr>
                    <m:e>
                      <m:sSub>
                        <m:e>
                          <m:r>
                            <m:t>X</m:t>
                          </m:r>
                        </m:e>
                        <m:sub>
                          <m:r>
                            <m:t>t</m:t>
                          </m:r>
                        </m:sub>
                      </m:sSub>
                    </m:e>
                  </m:acc>
                  <m:r>
                    <m:t>) = </m:t>
                  </m:r>
                  <m:f>
                    <m:num>
                      <m:r>
                        <m:t>1</m:t>
                      </m:r>
                    </m:num>
                    <m:den>
                      <m:r>
                        <m:t>d</m:t>
                      </m:r>
                    </m:den>
                  </m:f>
                  <m:nary>
                    <m:naryPr>
                      <m:chr m:val="∑"/>
                    </m:naryPr>
                    <m:sub>
                      <m:r>
                        <m:t>j=1</m:t>
                      </m:r>
                    </m:sub>
                    <m:sup>
                      <m:r>
                        <m:t>d</m:t>
                      </m:r>
                    </m:sup>
                    <m:e>
                      <m:r>
                        <m:t>(</m:t>
                      </m:r>
                      <m:sSub>
                        <m:e>
                          <m:r>
                            <m:t>X</m:t>
                          </m:r>
                        </m:e>
                        <m:sub>
                          <m:r>
                            <m:t>t,j</m:t>
                          </m:r>
                        </m:sub>
                      </m:sSub>
                      <m:r>
                        <m:t> − </m:t>
                      </m:r>
                      <m:acc>
                        <m:accPr>
                          <m:chr m:val="̂"/>
                        </m:accPr>
                        <m:e>
                          <m:sSub>
                            <m:e>
                              <m:r>
                                <m:t>X</m:t>
                              </m:r>
                            </m:e>
                            <m:sub>
                              <m:r>
                                <m:t>t,j</m:t>
                              </m:r>
                            </m:sub>
                          </m:sSub>
                        </m:e>
                      </m:acc>
                      <m:sSup>
                        <m:e>
                          <m:r>
                            <m:t>)</m:t>
                          </m:r>
                        </m:e>
                        <m:sup>
                          <m:r>
                            <m:t>2</m:t>
                          </m:r>
                        </m:sup>
                      </m:sSup>
                    </m:e>
                  </m:nary>
                </m:oMath>
              </m:oMathPara>
            </a14:m>
            <a:endParaRPr sz="1800" lang="en-GB">
              <a:solidFill>
                <a:srgbClr val="14233B"/>
              </a:solidFill>
            </a:endParaRPr>
          </a:p>
        </p:txBody>
      </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p:sp>
        <p:nvSpPr>
          <p:cNvPr id="36" name="COMPACT EDITABLE FORMULA | MSE over d dimensions"/>
          <p:cNvSpPr txBox="1"/>
          <p:nvPr/>
        </p:nvSpPr>
        <p:spPr>
          <a:xfrm>
            <a:off x="12070080" y="6812280"/>
            <a:ext cx="4343400" cy="694944"/>
          </a:xfrm>
          <a:prstGeom prst="rect">
            <a:avLst/>
          </a:prstGeom>
          <a:noFill/>
        </p:spPr>
        <p:txBody>
          <a:bodyPr wrap="none" lIns="36576" rIns="36576" tIns="0" bIns="0" anchor="ctr">
            <a:spAutoFit/>
          </a:bodyPr>
          <a:lstStyle/>
          <a:p>
            <a:pPr algn="l"/>
            <a:r>
              <a:rPr sz="2300">
                <a:solidFill>
                  <a:srgbClr val="E2EDF6"/>
                </a:solidFill>
                <a:latin typeface="Cambria Math"/>
              </a:rPr>
              <a:t>Lₜ = 1/d · ∑ⱼ₌₁ᵈ (Xₜⱼ − X̂ₜⱼ)²</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2072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Step 1: aggregated feature-wise mean-CUSUM; estimate candidate split locations.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If mean change is not established: investigate second-order structure using wavelets and dynamic PCA.</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type and location of structural change.</a:t>
            </a: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58748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Stage I: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Stage II: statistical validation (Hotelling T² or two-sample K–S, depending on formulation).</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validate shift warnings before adaptation.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5176266"/>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p:sp>
        <p:nvSpPr>
          <p:cNvPr id="9" name="TextBox 9"/>
          <p:cNvSpPr txBox="1"/>
          <p:nvPr/>
        </p:nvSpPr>
        <p:spPr>
          <a:xfrm>
            <a:off x="1220724" y="3845052"/>
            <a:ext cx="7438644" cy="1971932"/>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ν_max(t): strongest feature-wise normalised mean contrast at candidate t.</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ν_avg(t): mean contrast across features.</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Both identify candidate locations; their global maxima can disagree.</a:t>
            </a:r>
          </a:p>
        </p:txBody>
      </p:sp>
      <p:grpSp>
        <p:nvGrpSpPr>
          <p:cNvPr id="10" name="Group 10"/>
          <p:cNvGrpSpPr/>
          <p:nvPr/>
        </p:nvGrpSpPr>
        <p:grpSpPr>
          <a:xfrm>
            <a:off x="9317355" y="3021711"/>
            <a:ext cx="8042910" cy="5176266"/>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587484" y="3845052"/>
            <a:ext cx="7438644" cy="4133088"/>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61872" y="8522208"/>
            <a:ext cx="16340328" cy="553212"/>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Park et al. (2023), DOI 10.29220/CSAM.2023.30.4.369; Fearnhead &amp; Rigaill (2020), DOI 10.1002/sta4.291.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IMPLEMENTED</a:t>
            </a:r>
          </a:p>
        </p:txBody>
      </p:sp>
      <p:sp>
        <p:nvSpPr>
          <p:cNvPr id="9" name="TextBox 9"/>
          <p:cNvSpPr txBox="1"/>
          <p:nvPr/>
        </p:nvSpPr>
        <p:spPr>
          <a:xfrm>
            <a:off x="1261872" y="3913375"/>
            <a:ext cx="7438644" cy="1487186"/>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Positive-mean input validation and channelwise normalised mean-CUSUM </a:t>
            </a:r>
          </a:p>
          <a:p>
            <a:pPr algn="l">
              <a:lnSpc>
                <a:spcPts val="2160"/>
              </a:lnSpc>
            </a:pPr>
            <a:r>
              <a:rPr lang="en-US" sz="1800">
                <a:solidFill>
                  <a:srgbClr val="12233B"/>
                </a:solidFill>
                <a:latin typeface="Aptos"/>
                <a:ea typeface="Aptos"/>
                <a:cs typeface="Aptos"/>
                <a:sym typeface="Aptos"/>
              </a:rPr>
              <a:t>Maximum and average aggregation across channels </a:t>
            </a:r>
          </a:p>
          <a:p>
            <a:pPr algn="l">
              <a:lnSpc>
                <a:spcPts val="2160"/>
              </a:lnSpc>
            </a:pPr>
            <a:r>
              <a:rPr lang="en-US" sz="1800">
                <a:solidFill>
                  <a:srgbClr val="12233B"/>
                </a:solidFill>
                <a:latin typeface="Aptos"/>
                <a:ea typeface="Aptos"/>
                <a:cs typeface="Aptos"/>
                <a:sym typeface="Aptos"/>
              </a:rPr>
              <a:t>Raw and LOESS-style smoothed peak estimates (span=0.1) </a:t>
            </a:r>
          </a:p>
          <a:p>
            <a:pPr algn="l">
              <a:lnSpc>
                <a:spcPts val="2160"/>
              </a:lnSpc>
            </a:pPr>
            <a:r>
              <a:rPr lang="en-US" sz="1800">
                <a:solidFill>
                  <a:srgbClr val="12233B"/>
                </a:solidFill>
                <a:latin typeface="Aptos"/>
                <a:ea typeface="Aptos"/>
                <a:cs typeface="Aptos"/>
                <a:sym typeface="Aptos"/>
              </a:rPr>
              <a:t>Peak-location agreement gaps and exploratory visualisation</a:t>
            </a: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NOT YET VERIFIED</a:t>
            </a:r>
          </a:p>
        </p:txBody>
      </p:sp>
      <p:sp>
        <p:nvSpPr>
          <p:cNvPr id="13" name="TextBox 13"/>
          <p:cNvSpPr txBox="1"/>
          <p:nvPr/>
        </p:nvSpPr>
        <p:spPr>
          <a:xfrm>
            <a:off x="9587484" y="3831336"/>
            <a:ext cx="7438644" cy="411937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Park unimodality and peak-agreement confirmation.</a:t>
            </a:r>
          </a:p>
          <a:p>
            <a:pPr algn="l">
              <a:lnSpc>
                <a:spcPts val="2340"/>
              </a:lnSpc>
            </a:pPr>
            <a:r>
              <a:rPr lang="en-US" sz="1950">
                <a:solidFill>
                  <a:srgbClr val="12233B"/>
                </a:solidFill>
                <a:latin typeface="Aptos"/>
                <a:ea typeface="Aptos"/>
                <a:cs typeface="Aptos"/>
                <a:sym typeface="Aptos"/>
              </a:rPr>
              <a:t>Multiple-change-point detection.</a:t>
            </a:r>
          </a:p>
          <a:p>
            <a:pPr algn="l">
              <a:lnSpc>
                <a:spcPts val="2340"/>
              </a:lnSpc>
            </a:pPr>
            <a:r>
              <a:rPr lang="en-US" sz="1950">
                <a:solidFill>
                  <a:srgbClr val="12233B"/>
                </a:solidFill>
                <a:latin typeface="Aptos"/>
                <a:ea typeface="Aptos"/>
                <a:cs typeface="Aptos"/>
                <a:sym typeface="Aptos"/>
              </a:rPr>
              <a:t>Calibrated false-alarm control.</a:t>
            </a:r>
          </a:p>
          <a:p>
            <a:pPr algn="l">
              <a:lnSpc>
                <a:spcPts val="2340"/>
              </a:lnSpc>
            </a:pPr>
            <a:r>
              <a:rPr lang="en-US" sz="1950">
                <a:solidFill>
                  <a:srgbClr val="12233B"/>
                </a:solidFill>
                <a:latin typeface="Aptos"/>
                <a:ea typeface="Aptos"/>
                <a:cs typeface="Aptos"/>
                <a:sym typeface="Aptos"/>
              </a:rPr>
              <a:t>Matched EEG feature-space comparisons.</a:t>
            </a:r>
          </a:p>
          <a:p>
            <a:pPr algn="l">
              <a:lnSpc>
                <a:spcPts val="2340"/>
              </a:lnSpc>
            </a:pPr>
            <a:r>
              <a:rPr lang="en-US" sz="1950">
                <a:solidFill>
                  <a:srgbClr val="12233B"/>
                </a:solidFill>
                <a:latin typeface="Aptos"/>
                <a:ea typeface="Aptos"/>
                <a:cs typeface="Aptos"/>
                <a:sym typeface="Aptos"/>
              </a:rPr>
              <a:t>Numerical Python/MATLAB parity evidence.</a:t>
            </a: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469393" y="7513320"/>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1654045" y="5845073"/>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Park et al. (2023), Eq. 2.2</a:t>
            </a:r>
          </a:p>
        </p:txBody>
      </p:sp>
      <p:sp>
        <p:nvSpPr>
          <p:cNvPr id="6070" name="OMML SOURCE (retained; via Selection Pane) | Park 2023 Eq 2.2 normalized CUSUM | ROW 1"/>
          <p:cNvSpPr txBox="1"/>
          <p:nvPr/>
        </p:nvSpPr>
        <p:spPr>
          <a:xfrm>
            <a:off x="20574000" y="6236208"/>
            <a:ext cx="6886070" cy="310896"/>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sSubSup>
                    <m:e>
                      <m:r>
                        <m:t>ν</m:t>
                      </m:r>
                    </m:e>
                    <m:sub>
                      <m:r>
                        <m:t>t</m:t>
                      </m:r>
                    </m:sub>
                    <m:sup>
                      <m:r>
                        <m:t>(d)</m:t>
                      </m:r>
                    </m:sup>
                  </m:sSubSup>
                  <m:r>
                    <m:t> = </m:t>
                  </m:r>
                  <m:f>
                    <m:num>
                      <m:r>
                        <m:t>|Aₜ⁽ᵈ⁾ − Bₜ⁽ᵈ⁾|</m:t>
                      </m:r>
                    </m:num>
                    <m:den>
                      <m:r>
                        <m:t>X̄⁽ᵈ⁾</m:t>
                      </m:r>
                    </m:den>
                  </m:f>
                </m:oMath>
              </m:oMathPara>
            </a14:m>
            <a:endParaRPr sz="1300"/>
          </a:p>
        </p:txBody>
      </p:sp>
      <p:sp>
        <p:nvSpPr>
          <p:cNvPr id="6071" name="OMML SOURCE (retained; via Selection Pane) | Park 2023 Eq 2.2 normalized CUSUM | ROW 2"/>
          <p:cNvSpPr txBox="1"/>
          <p:nvPr/>
        </p:nvSpPr>
        <p:spPr>
          <a:xfrm>
            <a:off x="20574000" y="6547104"/>
            <a:ext cx="6886070" cy="310896"/>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r>
                    <m:t>Aₜ⁽ᵈ⁾ = √((T−t)/(Tt)) ∑ᵤ₌₀ᵗ⁻¹ </m:t>
                  </m:r>
                  <m:sSubSup>
                    <m:e>
                      <m:r>
                        <m:t>X</m:t>
                      </m:r>
                    </m:e>
                    <m:sub>
                      <m:r>
                        <m:t>u,T</m:t>
                      </m:r>
                    </m:sub>
                    <m:sup>
                      <m:r>
                        <m:t>(d)</m:t>
                      </m:r>
                    </m:sup>
                  </m:sSubSup>
                </m:oMath>
              </m:oMathPara>
            </a14:m>
            <a:endParaRPr sz="1300"/>
          </a:p>
        </p:txBody>
      </p:sp>
      <p:sp>
        <p:nvSpPr>
          <p:cNvPr id="6072" name="OMML SOURCE (retained; via Selection Pane) | Park 2023 Eq 2.2 normalized CUSUM | ROW 3"/>
          <p:cNvSpPr txBox="1"/>
          <p:nvPr/>
        </p:nvSpPr>
        <p:spPr>
          <a:xfrm>
            <a:off x="20574000" y="6858000"/>
            <a:ext cx="6886070" cy="310896"/>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r>
                    <m:t>Bₜ⁽ᵈ⁾ = √(t/[T(T−t)]) ∑ᵤ₌ₜᵀ⁻¹ </m:t>
                  </m:r>
                  <m:sSubSup>
                    <m:e>
                      <m:r>
                        <m:t>X</m:t>
                      </m:r>
                    </m:e>
                    <m:sub>
                      <m:r>
                        <m:t>u,T</m:t>
                      </m:r>
                    </m:sub>
                    <m:sup>
                      <m:r>
                        <m:t>(d)</m:t>
                      </m:r>
                    </m:sup>
                  </m:sSubSup>
                </m:oMath>
              </m:oMathPara>
            </a14:m>
            <a:endParaRPr sz="1300"/>
          </a:p>
        </p:txBody>
      </p:sp>
      <p:sp>
        <p:nvSpPr>
          <p:cNvPr id="6073" name="OMML SOURCE (retained; via Selection Pane) | Park 2023 Eq 2.2 normalized CUSUM | ROW 4"/>
          <p:cNvSpPr txBox="1"/>
          <p:nvPr/>
        </p:nvSpPr>
        <p:spPr>
          <a:xfrm>
            <a:off x="20574000" y="7168896"/>
            <a:ext cx="6886070" cy="310896"/>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r>
                    <m:t>X̄⁽ᵈ⁾ = (1/T) ∑ᵤ₌₀ᵀ⁻¹ </m:t>
                  </m:r>
                  <m:sSubSup>
                    <m:e>
                      <m:r>
                        <m:t>X</m:t>
                      </m:r>
                    </m:e>
                    <m:sub>
                      <m:r>
                        <m:t>u,T</m:t>
                      </m:r>
                    </m:sub>
                    <m:sup>
                      <m:r>
                        <m:t>(d)</m:t>
                      </m:r>
                    </m:sup>
                  </m:sSubSup>
                </m:oMath>
              </m:oMathPara>
            </a14:m>
            <a:endParaRPr sz="1300"/>
          </a:p>
        </p:txBody>
      </p:sp>
      <p:sp>
        <p:nvSpPr>
          <p:cNvPr id="6074" name="COMPACT EDITABLE FORMULA | Park 2023 Eq 2.2 normalized CUSUM | ROW 1"/>
          <p:cNvSpPr txBox="1"/>
          <p:nvPr/>
        </p:nvSpPr>
        <p:spPr>
          <a:xfrm>
            <a:off x="1719072" y="6089904"/>
            <a:ext cx="6583680" cy="420624"/>
          </a:xfrm>
          <a:prstGeom prst="rect">
            <a:avLst/>
          </a:prstGeom>
          <a:noFill/>
        </p:spPr>
        <p:txBody>
          <a:bodyPr wrap="none" lIns="36576" rIns="36576" tIns="0" bIns="0" anchor="ctr">
            <a:spAutoFit/>
          </a:bodyPr>
          <a:lstStyle/>
          <a:p>
            <a:pPr algn="ctr"/>
            <a:r>
              <a:rPr sz="2500">
                <a:solidFill>
                  <a:srgbClr val="13243C"/>
                </a:solidFill>
                <a:latin typeface="Cambria Math"/>
              </a:rPr>
              <a:t>νₜ⁽ᵈ⁾ = |Aₜ⁽ᵈ⁾ − Bₜ⁽ᵈ⁾| / X̄⁽ᵈ⁾</a:t>
            </a:r>
          </a:p>
        </p:txBody>
      </p:sp>
      <p:sp>
        <p:nvSpPr>
          <p:cNvPr id="6075" name="COMPACT EDITABLE FORMULA | Park 2023 Eq 2.2 normalized CUSUM | ROW 2"/>
          <p:cNvSpPr txBox="1"/>
          <p:nvPr/>
        </p:nvSpPr>
        <p:spPr>
          <a:xfrm>
            <a:off x="1719072" y="6492240"/>
            <a:ext cx="6583680" cy="329184"/>
          </a:xfrm>
          <a:prstGeom prst="rect">
            <a:avLst/>
          </a:prstGeom>
          <a:noFill/>
        </p:spPr>
        <p:txBody>
          <a:bodyPr wrap="none" lIns="36576" rIns="36576" tIns="0" bIns="0" anchor="ctr">
            <a:spAutoFit/>
          </a:bodyPr>
          <a:lstStyle/>
          <a:p>
            <a:pPr algn="ctr"/>
            <a:r>
              <a:rPr sz="2000">
                <a:solidFill>
                  <a:srgbClr val="13243C"/>
                </a:solidFill>
                <a:latin typeface="Cambria Math"/>
              </a:rPr>
              <a:t>Aₜ⁽ᵈ⁾ = √[(T−t)/(Tt)] · ∑ᵤ₌₀ᵗ⁻¹ Xᵤ⁽ᵈ⁾</a:t>
            </a:r>
          </a:p>
        </p:txBody>
      </p:sp>
      <p:sp>
        <p:nvSpPr>
          <p:cNvPr id="6076" name="COMPACT EDITABLE FORMULA | Park 2023 Eq 2.2 normalized CUSUM | ROW 3"/>
          <p:cNvSpPr txBox="1"/>
          <p:nvPr/>
        </p:nvSpPr>
        <p:spPr>
          <a:xfrm>
            <a:off x="1719072" y="6812280"/>
            <a:ext cx="6583680" cy="329184"/>
          </a:xfrm>
          <a:prstGeom prst="rect">
            <a:avLst/>
          </a:prstGeom>
          <a:noFill/>
        </p:spPr>
        <p:txBody>
          <a:bodyPr wrap="none" lIns="36576" rIns="36576" tIns="0" bIns="0" anchor="ctr">
            <a:spAutoFit/>
          </a:bodyPr>
          <a:lstStyle/>
          <a:p>
            <a:pPr algn="ctr"/>
            <a:r>
              <a:rPr sz="2000">
                <a:solidFill>
                  <a:srgbClr val="13243C"/>
                </a:solidFill>
                <a:latin typeface="Cambria Math"/>
              </a:rPr>
              <a:t>Bₜ⁽ᵈ⁾ = √[t/(T(T−t))] · ∑ᵤ₌ₜᵀ⁻¹ Xᵤ⁽ᵈ⁾</a:t>
            </a:r>
          </a:p>
        </p:txBody>
      </p:sp>
      <p:sp>
        <p:nvSpPr>
          <p:cNvPr id="6077" name="COMPACT EDITABLE FORMULA | Park 2023 Eq 2.2 normalized CUSUM | ROW 4"/>
          <p:cNvSpPr txBox="1"/>
          <p:nvPr/>
        </p:nvSpPr>
        <p:spPr>
          <a:xfrm>
            <a:off x="1719072" y="7132320"/>
            <a:ext cx="6583680" cy="329184"/>
          </a:xfrm>
          <a:prstGeom prst="rect">
            <a:avLst/>
          </a:prstGeom>
          <a:noFill/>
        </p:spPr>
        <p:txBody>
          <a:bodyPr wrap="none" lIns="36576" rIns="36576" tIns="0" bIns="0" anchor="ctr">
            <a:spAutoFit/>
          </a:bodyPr>
          <a:lstStyle/>
          <a:p>
            <a:pPr algn="ctr"/>
            <a:r>
              <a:rPr sz="2000">
                <a:solidFill>
                  <a:srgbClr val="13243C"/>
                </a:solidFill>
                <a:latin typeface="Cambria Math"/>
              </a:rPr>
              <a:t>X̄⁽ᵈ⁾ = (1/T) ∑ᵤ₌₀ᵀ⁻¹ Xᵤ⁽ᵈ⁾</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1088136"/>
            <a:ext cx="16340328" cy="679275"/>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From Channelwise Mean-CUSUM to Smoothed Change-Point Estimates</a:t>
            </a:r>
          </a:p>
        </p:txBody>
      </p:sp>
      <p:sp>
        <p:nvSpPr>
          <p:cNvPr id="3" name="TextBox 3"/>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4" name="Group 4"/>
          <p:cNvGrpSpPr/>
          <p:nvPr/>
        </p:nvGrpSpPr>
        <p:grpSpPr>
          <a:xfrm>
            <a:off x="950595" y="3007995"/>
            <a:ext cx="8042910" cy="5162550"/>
            <a:chOff x="0" y="0"/>
            <a:chExt cx="10723880" cy="6883400"/>
          </a:xfrm>
        </p:grpSpPr>
        <p:sp>
          <p:nvSpPr>
            <p:cNvPr id="5" name="Freeform 5"/>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6" name="TextBox 6"/>
          <p:cNvSpPr txBox="1"/>
          <p:nvPr/>
        </p:nvSpPr>
        <p:spPr>
          <a:xfrm>
            <a:off x="122072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1: Aggregation Across Channels</a:t>
            </a:r>
          </a:p>
        </p:txBody>
      </p:sp>
      <p:grpSp>
        <p:nvGrpSpPr>
          <p:cNvPr id="7" name="Group 7"/>
          <p:cNvGrpSpPr/>
          <p:nvPr/>
        </p:nvGrpSpPr>
        <p:grpSpPr>
          <a:xfrm>
            <a:off x="9317355" y="3007995"/>
            <a:ext cx="8042910" cy="5162550"/>
            <a:chOff x="0" y="0"/>
            <a:chExt cx="10723880" cy="6883400"/>
          </a:xfrm>
        </p:grpSpPr>
        <p:sp>
          <p:nvSpPr>
            <p:cNvPr id="8" name="Freeform 8"/>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9" name="TextBox 9"/>
          <p:cNvSpPr txBox="1"/>
          <p:nvPr/>
        </p:nvSpPr>
        <p:spPr>
          <a:xfrm>
            <a:off x="958748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2: Smooth the Aggregated Curves</a:t>
            </a:r>
          </a:p>
        </p:txBody>
      </p:sp>
      <p:sp>
        <p:nvSpPr>
          <p:cNvPr id="10" name="TextBox 10"/>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1" name="TextBox 11"/>
          <p:cNvSpPr txBox="1"/>
          <p:nvPr/>
        </p:nvSpPr>
        <p:spPr>
          <a:xfrm>
            <a:off x="9804397" y="7505548"/>
            <a:ext cx="7068817" cy="283378"/>
          </a:xfrm>
          <a:prstGeom prst="rect">
            <a:avLst/>
          </a:prstGeom>
        </p:spPr>
        <p:txBody>
          <a:bodyPr lIns="0" tIns="0" rIns="0" bIns="0" rtlCol="0" anchor="t">
            <a:spAutoFit/>
          </a:bodyPr>
          <a:lstStyle/>
          <a:p>
            <a:pPr algn="l">
              <a:lnSpc>
                <a:spcPts val="1620"/>
              </a:lnSpc>
            </a:pPr>
            <a:r>
              <a:rPr lang="en-US" sz="1350" i="1">
                <a:solidFill>
                  <a:srgbClr val="000000"/>
                </a:solidFill>
                <a:latin typeface="Calibri (MS) Italics"/>
                <a:ea typeface="Calibri (MS) Italics"/>
                <a:cs typeface="Calibri (MS) Italics"/>
                <a:sym typeface="Calibri (MS) Italics"/>
              </a:rPr>
              <a:t>Source: Park et al. (2023), §2.3, Algorithm 1, Step 2, p. 377; smoothing motivation in §2.1, p. 373.</a:t>
            </a:r>
          </a:p>
        </p:txBody>
      </p:sp>
      <p:sp>
        <p:nvSpPr>
          <p:cNvPr id="6080" name="OMML SOURCE (retained; via Selection Pane) | Park 2023 pointwise aggregation | ROW 1"/>
          <p:cNvSpPr txBox="1"/>
          <p:nvPr/>
        </p:nvSpPr>
        <p:spPr>
          <a:xfrm>
            <a:off x="20574000" y="4425315"/>
            <a:ext cx="7384542" cy="1463040"/>
          </a:xfrm>
          <a:prstGeom prst="rect">
            <a:avLst/>
          </a:prstGeom>
          <a:noFill/>
        </p:spPr>
        <p:txBody>
          <a:bodyPr wrap="none" lIns="45720" rIns="45720" tIns="36576" bIns="36576">
            <a:spAutoFit/>
          </a:bodyPr>
          <a:lstStyle/>
          <a:p>
            <a:pPr algn="ctr">
              <a:spcAft>
                <a:spcPts val="800"/>
              </a:spcAft>
            </a:pPr>
            <a14:m xmlns:a14="http://schemas.microsoft.com/office/drawing/2010/main" xmlns:m="http://schemas.openxmlformats.org/officeDocument/2006/math">
              <m:oMathPara>
                <m:oMath>
                  <m:sSubSup>
                    <m:e>
                      <m:r>
                        <m:t>ν</m:t>
                      </m:r>
                    </m:e>
                    <m:sub>
                      <m:r>
                        <m:t>t</m:t>
                      </m:r>
                    </m:sub>
                    <m:sup>
                      <m:r>
                        <m:t>max</m:t>
                      </m:r>
                    </m:sup>
                  </m:sSubSup>
                  <m:r>
                    <m:t> = max₍₁≤d≤p₎ </m:t>
                  </m:r>
                  <m:sSubSup>
                    <m:e>
                      <m:r>
                        <m:t>ν</m:t>
                      </m:r>
                    </m:e>
                    <m:sub>
                      <m:r>
                        <m:t>t</m:t>
                      </m:r>
                    </m:sub>
                    <m:sup>
                      <m:r>
                        <m:t>(d)</m:t>
                      </m:r>
                    </m:sup>
                  </m:sSubSup>
                </m:oMath>
              </m:oMathPara>
            </a14:m>
            <a:endParaRPr sz="2400"/>
          </a:p>
        </p:txBody>
      </p:sp>
      <p:sp>
        <p:nvSpPr>
          <p:cNvPr id="6081" name="OMML SOURCE (retained; via Selection Pane) | Park 2023 pointwise aggregation | ROW 2"/>
          <p:cNvSpPr txBox="1"/>
          <p:nvPr/>
        </p:nvSpPr>
        <p:spPr>
          <a:xfrm>
            <a:off x="20574000" y="5888355"/>
            <a:ext cx="7384542" cy="1463040"/>
          </a:xfrm>
          <a:prstGeom prst="rect">
            <a:avLst/>
          </a:prstGeom>
          <a:noFill/>
        </p:spPr>
        <p:txBody>
          <a:bodyPr wrap="none" lIns="45720" rIns="45720" tIns="36576" bIns="36576">
            <a:spAutoFit/>
          </a:bodyPr>
          <a:lstStyle/>
          <a:p>
            <a:pPr algn="ctr">
              <a:spcAft>
                <a:spcPts val="800"/>
              </a:spcAft>
            </a:pPr>
            <a14:m xmlns:a14="http://schemas.microsoft.com/office/drawing/2010/main" xmlns:m="http://schemas.openxmlformats.org/officeDocument/2006/math">
              <m:oMathPara>
                <m:oMath>
                  <m:sSubSup>
                    <m:e>
                      <m:r>
                        <m:t>ν</m:t>
                      </m:r>
                    </m:e>
                    <m:sub>
                      <m:r>
                        <m:t>t</m:t>
                      </m:r>
                    </m:sub>
                    <m:sup>
                      <m:r>
                        <m:t>avg</m:t>
                      </m:r>
                    </m:sup>
                  </m:sSubSup>
                  <m:r>
                    <m:t> = </m:t>
                  </m:r>
                  <m:f>
                    <m:num>
                      <m:r>
                        <m:t>1</m:t>
                      </m:r>
                    </m:num>
                    <m:den>
                      <m:r>
                        <m:t>p</m:t>
                      </m:r>
                    </m:den>
                  </m:f>
                  <m:r>
                    <m:t> ∑ᵈ₌₁ᵖ </m:t>
                  </m:r>
                  <m:sSubSup>
                    <m:e>
                      <m:r>
                        <m:t>ν</m:t>
                      </m:r>
                    </m:e>
                    <m:sub>
                      <m:r>
                        <m:t>t</m:t>
                      </m:r>
                    </m:sub>
                    <m:sup>
                      <m:r>
                        <m:t>(d)</m:t>
                      </m:r>
                    </m:sup>
                  </m:sSubSup>
                </m:oMath>
              </m:oMathPara>
            </a14:m>
            <a:endParaRPr sz="2400"/>
          </a:p>
        </p:txBody>
      </p:sp>
      <p:sp>
        <p:nvSpPr>
          <p:cNvPr id="6080" name="OMML SOURCE (retained; via Selection Pane) | Code-grounded LOESS and peak estimates | ROW 1"/>
          <p:cNvSpPr txBox="1"/>
          <p:nvPr/>
        </p:nvSpPr>
        <p:spPr>
          <a:xfrm>
            <a:off x="20574000" y="4425315"/>
            <a:ext cx="7384542" cy="731520"/>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r>
                    <m:t>ν̃ₜᵐᵃˣ = LOESS₀.₁(νₜᵐᵃˣ)</m:t>
                  </m:r>
                </m:oMath>
              </m:oMathPara>
            </a14:m>
            <a:endParaRPr sz="1900"/>
          </a:p>
        </p:txBody>
      </p:sp>
      <p:sp>
        <p:nvSpPr>
          <p:cNvPr id="6081" name="OMML SOURCE (retained; via Selection Pane) | Code-grounded LOESS and peak estimates | ROW 2"/>
          <p:cNvSpPr txBox="1"/>
          <p:nvPr/>
        </p:nvSpPr>
        <p:spPr>
          <a:xfrm>
            <a:off x="20574000" y="5156835"/>
            <a:ext cx="7384542" cy="731520"/>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r>
                    <m:t>ν̃ₜᵃᵛᵍ = LOESS₀.₁(νₜᵃᵛᵍ)</m:t>
                  </m:r>
                </m:oMath>
              </m:oMathPara>
            </a14:m>
            <a:endParaRPr sz="1900"/>
          </a:p>
        </p:txBody>
      </p:sp>
      <p:sp>
        <p:nvSpPr>
          <p:cNvPr id="6082" name="OMML SOURCE (retained; via Selection Pane) | Code-grounded LOESS and peak estimates | ROW 3"/>
          <p:cNvSpPr txBox="1"/>
          <p:nvPr/>
        </p:nvSpPr>
        <p:spPr>
          <a:xfrm>
            <a:off x="20574000" y="5888355"/>
            <a:ext cx="7384542" cy="731520"/>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r>
                    <m:t>bₘₐₓ = argmaxₜ ν̃ₜᵐᵃˣ</m:t>
                  </m:r>
                </m:oMath>
              </m:oMathPara>
            </a14:m>
            <a:endParaRPr sz="1900"/>
          </a:p>
        </p:txBody>
      </p:sp>
      <p:sp>
        <p:nvSpPr>
          <p:cNvPr id="6083" name="OMML SOURCE (retained; via Selection Pane) | Code-grounded LOESS and peak estimates | ROW 4"/>
          <p:cNvSpPr txBox="1"/>
          <p:nvPr/>
        </p:nvSpPr>
        <p:spPr>
          <a:xfrm>
            <a:off x="20574000" y="6619875"/>
            <a:ext cx="7384542" cy="731520"/>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r>
                    <m:t>bₐᵥg = argmaxₜ ν̃ₜᵃᵛᵍ</m:t>
                  </m:r>
                </m:oMath>
              </m:oMathPara>
            </a14:m>
            <a:endParaRPr sz="1900"/>
          </a:p>
        </p:txBody>
      </p:sp>
      <p:sp>
        <p:nvSpPr>
          <p:cNvPr id="6084" name="COMPACT EDITABLE FORMULA | Park 2023 pointwise aggregation | ROW 1"/>
          <p:cNvSpPr txBox="1"/>
          <p:nvPr/>
        </p:nvSpPr>
        <p:spPr>
          <a:xfrm>
            <a:off x="1353312" y="4325112"/>
            <a:ext cx="7150608" cy="640080"/>
          </a:xfrm>
          <a:prstGeom prst="rect">
            <a:avLst/>
          </a:prstGeom>
          <a:noFill/>
        </p:spPr>
        <p:txBody>
          <a:bodyPr wrap="none" lIns="36576" rIns="36576" tIns="0" bIns="0" anchor="ctr">
            <a:spAutoFit/>
          </a:bodyPr>
          <a:lstStyle/>
          <a:p>
            <a:pPr algn="ctr"/>
            <a:r>
              <a:rPr sz="3200">
                <a:solidFill>
                  <a:srgbClr val="13243C"/>
                </a:solidFill>
                <a:latin typeface="Cambria Math"/>
              </a:rPr>
              <a:t>νₜᵐᵃˣ = max₁≤d≤p νₜ⁽ᵈ⁾</a:t>
            </a:r>
          </a:p>
        </p:txBody>
      </p:sp>
      <p:sp>
        <p:nvSpPr>
          <p:cNvPr id="6085" name="COMPACT EDITABLE FORMULA | Park 2023 pointwise aggregation | ROW 2"/>
          <p:cNvSpPr txBox="1"/>
          <p:nvPr/>
        </p:nvSpPr>
        <p:spPr>
          <a:xfrm>
            <a:off x="1353312" y="5586984"/>
            <a:ext cx="7150608" cy="640080"/>
          </a:xfrm>
          <a:prstGeom prst="rect">
            <a:avLst/>
          </a:prstGeom>
          <a:noFill/>
        </p:spPr>
        <p:txBody>
          <a:bodyPr wrap="none" lIns="36576" rIns="36576" tIns="0" bIns="0" anchor="ctr">
            <a:spAutoFit/>
          </a:bodyPr>
          <a:lstStyle/>
          <a:p>
            <a:pPr algn="ctr"/>
            <a:r>
              <a:rPr sz="3200">
                <a:solidFill>
                  <a:srgbClr val="13243C"/>
                </a:solidFill>
                <a:latin typeface="Cambria Math"/>
              </a:rPr>
              <a:t>νₜᵃᵛᵍ = (1/p) ∑ᵈ₌₁ᵖ νₜ⁽ᵈ⁾</a:t>
            </a:r>
          </a:p>
        </p:txBody>
      </p:sp>
      <p:sp>
        <p:nvSpPr>
          <p:cNvPr id="6086" name="COMPACT EDITABLE FORMULA | Code-grounded LOESS and peak estimates | ROW 1"/>
          <p:cNvSpPr txBox="1"/>
          <p:nvPr/>
        </p:nvSpPr>
        <p:spPr>
          <a:xfrm>
            <a:off x="9738360" y="4361688"/>
            <a:ext cx="7132320" cy="530352"/>
          </a:xfrm>
          <a:prstGeom prst="rect">
            <a:avLst/>
          </a:prstGeom>
          <a:noFill/>
        </p:spPr>
        <p:txBody>
          <a:bodyPr wrap="none" lIns="36576" rIns="36576" tIns="0" bIns="0" anchor="ctr">
            <a:spAutoFit/>
          </a:bodyPr>
          <a:lstStyle/>
          <a:p>
            <a:pPr algn="ctr"/>
            <a:r>
              <a:rPr sz="2800">
                <a:solidFill>
                  <a:srgbClr val="13243C"/>
                </a:solidFill>
                <a:latin typeface="Cambria Math"/>
              </a:rPr>
              <a:t>ν̃ₜᵐᵃˣ = LOESS₀.₁(νₜᵐᵃˣ)</a:t>
            </a:r>
          </a:p>
        </p:txBody>
      </p:sp>
      <p:sp>
        <p:nvSpPr>
          <p:cNvPr id="6087" name="COMPACT EDITABLE FORMULA | Code-grounded LOESS and peak estimates | ROW 2"/>
          <p:cNvSpPr txBox="1"/>
          <p:nvPr/>
        </p:nvSpPr>
        <p:spPr>
          <a:xfrm>
            <a:off x="9738360" y="5074920"/>
            <a:ext cx="7132320" cy="530352"/>
          </a:xfrm>
          <a:prstGeom prst="rect">
            <a:avLst/>
          </a:prstGeom>
          <a:noFill/>
        </p:spPr>
        <p:txBody>
          <a:bodyPr wrap="none" lIns="36576" rIns="36576" tIns="0" bIns="0" anchor="ctr">
            <a:spAutoFit/>
          </a:bodyPr>
          <a:lstStyle/>
          <a:p>
            <a:pPr algn="ctr"/>
            <a:r>
              <a:rPr sz="2800">
                <a:solidFill>
                  <a:srgbClr val="13243C"/>
                </a:solidFill>
                <a:latin typeface="Cambria Math"/>
              </a:rPr>
              <a:t>ν̃ₜᵃᵛᵍ = LOESS₀.₁(νₜᵃᵛᵍ)</a:t>
            </a:r>
          </a:p>
        </p:txBody>
      </p:sp>
      <p:sp>
        <p:nvSpPr>
          <p:cNvPr id="6088" name="COMPACT EDITABLE FORMULA | Code-grounded LOESS and peak estimates | ROW 3"/>
          <p:cNvSpPr txBox="1"/>
          <p:nvPr/>
        </p:nvSpPr>
        <p:spPr>
          <a:xfrm>
            <a:off x="9738360" y="5788152"/>
            <a:ext cx="7132320" cy="530352"/>
          </a:xfrm>
          <a:prstGeom prst="rect">
            <a:avLst/>
          </a:prstGeom>
          <a:noFill/>
        </p:spPr>
        <p:txBody>
          <a:bodyPr wrap="none" lIns="36576" rIns="36576" tIns="0" bIns="0" anchor="ctr">
            <a:spAutoFit/>
          </a:bodyPr>
          <a:lstStyle/>
          <a:p>
            <a:pPr algn="ctr"/>
            <a:r>
              <a:rPr sz="2700">
                <a:solidFill>
                  <a:srgbClr val="13243C"/>
                </a:solidFill>
                <a:latin typeface="Cambria Math"/>
              </a:rPr>
              <a:t>bₘₐₓ = argmaxₜ ν̃ₜᵐᵃˣ</a:t>
            </a:r>
          </a:p>
        </p:txBody>
      </p:sp>
      <p:sp>
        <p:nvSpPr>
          <p:cNvPr id="6089" name="COMPACT EDITABLE FORMULA | Code-grounded LOESS and peak estimates | ROW 4"/>
          <p:cNvSpPr txBox="1"/>
          <p:nvPr/>
        </p:nvSpPr>
        <p:spPr>
          <a:xfrm>
            <a:off x="9738360" y="6501384"/>
            <a:ext cx="7132320" cy="530352"/>
          </a:xfrm>
          <a:prstGeom prst="rect">
            <a:avLst/>
          </a:prstGeom>
          <a:noFill/>
        </p:spPr>
        <p:txBody>
          <a:bodyPr wrap="none" lIns="36576" rIns="36576" tIns="0" bIns="0" anchor="ctr">
            <a:spAutoFit/>
          </a:bodyPr>
          <a:lstStyle/>
          <a:p>
            <a:pPr algn="ctr"/>
            <a:r>
              <a:rPr sz="2700">
                <a:solidFill>
                  <a:srgbClr val="13243C"/>
                </a:solidFill>
                <a:latin typeface="Cambria Math"/>
              </a:rPr>
              <a:t>bₐᵥg = argmaxₜ ν̃ₜᵃᵛᵍ</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Kronecker delta identifies matching indices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today’s Park Notion annotations and mathematical clarification. General identities, not a verbatim paper equation.</a:t>
            </a:r>
          </a:p>
        </p:txBody>
      </p:sp>
      <p:sp>
        <p:nvSpPr>
          <p:cNvPr id="10" name="OMML SOURCE (retained; via Selection Pane) | Kronecker delta"/>
          <p:cNvSpPr txBox="1"/>
          <p:nvPr/>
        </p:nvSpPr>
        <p:spPr>
          <a:xfrm>
            <a:off x="20574000" y="3566160"/>
            <a:ext cx="7263184" cy="82296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t>δ</m:t>
                      </m:r>
                    </m:e>
                    <m:sub>
                      <m:r>
                        <m:t>ij</m:t>
                      </m:r>
                    </m:sub>
                  </m:sSub>
                  <m:r>
                    <m:t> = 1 (i = j),     </m:t>
                  </m:r>
                  <m:sSub>
                    <m:e>
                      <m:r>
                        <m:t>δ</m:t>
                      </m:r>
                    </m:e>
                    <m:sub>
                      <m:r>
                        <m:t>ij</m:t>
                      </m:r>
                    </m:sub>
                  </m:sSub>
                  <m:r>
                    <m:t> = 0 (i ≠ j)</m:t>
                  </m:r>
                </m:oMath>
              </m:oMathPara>
            </a14:m>
            <a:endParaRPr sz="2400" lang="en-GB">
              <a:solidFill>
                <a:srgbClr val="14233B"/>
              </a:solidFill>
            </a:endParaRPr>
          </a:p>
        </p:txBody>
      </p:sp>
      <p:sp>
        <p:nvSpPr>
          <p:cNvPr id="8" name="TextBox 8"/>
          <p:cNvSpPr txBox="1"/>
          <p:nvPr/>
        </p:nvSpPr>
        <p:spPr>
          <a:xfrm>
            <a:off x="1325880" y="5120640"/>
            <a:ext cx="763524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i and j label coordinates or components.</a:t>
            </a:r>
          </a:p>
          <a:p>
            <a:pPr algn="l">
              <a:lnSpc>
                <a:spcPts val="3779"/>
              </a:lnSpc>
            </a:pPr>
            <a:r>
              <a:rPr lang="en-US" sz="3150">
                <a:solidFill>
                  <a:srgbClr val="12233B"/>
                </a:solidFill>
                <a:latin typeface="Aptos"/>
                <a:ea typeface="Aptos"/>
                <a:cs typeface="Aptos"/>
                <a:sym typeface="Aptos"/>
              </a:rPr>
              <a:t>The comparison concerns indices, even when two observed values happen to be equal.</a:t>
            </a:r>
          </a:p>
        </p:txBody>
      </p:sp>
      <p:sp>
        <p:nvSpPr>
          <p:cNvPr id="9" name="TextBox 9"/>
          <p:cNvSpPr txBox="1"/>
          <p:nvPr/>
        </p:nvSpPr>
        <p:spPr>
          <a:xfrm>
            <a:off x="9692640" y="5120640"/>
            <a:ext cx="708660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The matrix [δᵢⱼ] is the identity matrix.</a:t>
            </a:r>
          </a:p>
          <a:p>
            <a:pPr algn="l">
              <a:lnSpc>
                <a:spcPts val="3779"/>
              </a:lnSpc>
            </a:pPr>
            <a:r>
              <a:rPr lang="en-US" sz="3150">
                <a:solidFill>
                  <a:srgbClr val="12233B"/>
                </a:solidFill>
                <a:latin typeface="Aptos"/>
                <a:ea typeface="Aptos"/>
                <a:cs typeface="Aptos"/>
                <a:sym typeface="Aptos"/>
              </a:rPr>
              <a:t>A delta expression alone does not specify a random variable’s variance or independence.</a:t>
            </a:r>
          </a:p>
        </p:txBody>
      </p:sp>
      <p:sp>
        <p:nvSpPr>
          <p:cNvPr id="11" name="COMPACT EDITABLE FORMULA | Kronecker delta"/>
          <p:cNvSpPr txBox="1"/>
          <p:nvPr/>
        </p:nvSpPr>
        <p:spPr>
          <a:xfrm>
            <a:off x="1234440" y="3566160"/>
            <a:ext cx="7260336" cy="822960"/>
          </a:xfrm>
          <a:prstGeom prst="rect">
            <a:avLst/>
          </a:prstGeom>
          <a:noFill/>
        </p:spPr>
        <p:txBody>
          <a:bodyPr wrap="none" lIns="36576" rIns="36576" tIns="0" bIns="0" anchor="ctr">
            <a:spAutoFit/>
          </a:bodyPr>
          <a:lstStyle/>
          <a:p>
            <a:pPr algn="ctr"/>
            <a:r>
              <a:rPr sz="3500">
                <a:solidFill>
                  <a:srgbClr val="13243C"/>
                </a:solidFill>
                <a:latin typeface="Cambria Math"/>
              </a:rPr>
              <a:t>δᵢⱼ = 1 (i = j),     δᵢⱼ = 0 (i ≠ j)</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p:sp>
        <p:nvSpPr>
          <p:cNvPr id="10" name="OMML SOURCE (retained; via Selection Pane) | Covariance and Kronecker identity"/>
          <p:cNvSpPr txBox="1"/>
          <p:nvPr/>
        </p:nvSpPr>
        <p:spPr>
          <a:xfrm>
            <a:off x="20574000" y="3429000"/>
            <a:ext cx="7152456" cy="96012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r>
                    <m:t>Cov(</m:t>
                  </m:r>
                  <m:sSub>
                    <m:e>
                      <m:r>
                        <m:t>Z</m:t>
                      </m:r>
                    </m:e>
                    <m:sub>
                      <m:r>
                        <m:t>i</m:t>
                      </m:r>
                    </m:sub>
                  </m:sSub>
                  <m:r>
                    <m:t>,</m:t>
                  </m:r>
                  <m:sSub>
                    <m:e>
                      <m:r>
                        <m:t>Z</m:t>
                      </m:r>
                    </m:e>
                    <m:sub>
                      <m:r>
                        <m:t>j</m:t>
                      </m:r>
                    </m:sub>
                  </m:sSub>
                  <m:r>
                    <m:t>) = E[</m:t>
                  </m:r>
                  <m:sSub>
                    <m:e>
                      <m:r>
                        <m:t>Z</m:t>
                      </m:r>
                    </m:e>
                    <m:sub>
                      <m:r>
                        <m:t>i</m:t>
                      </m:r>
                    </m:sub>
                  </m:sSub>
                  <m:sSub>
                    <m:e>
                      <m:r>
                        <m:t>Z</m:t>
                      </m:r>
                    </m:e>
                    <m:sub>
                      <m:r>
                        <m:t>j</m:t>
                      </m:r>
                    </m:sub>
                  </m:sSub>
                  <m:r>
                    <m:t>] = </m:t>
                  </m:r>
                  <m:sSub>
                    <m:e>
                      <m:r>
                        <m:t>δ</m:t>
                      </m:r>
                    </m:e>
                    <m:sub>
                      <m:r>
                        <m:t>ij</m:t>
                      </m:r>
                    </m:sub>
                  </m:sSub>
                </m:oMath>
              </m:oMathPara>
            </a14:m>
            <a:endParaRPr sz="2800" lang="en-GB">
              <a:solidFill>
                <a:srgbClr val="14233B"/>
              </a:solidFill>
            </a:endParaRPr>
          </a:p>
        </p:txBody>
      </p:sp>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
        <p:nvSpPr>
          <p:cNvPr id="11" name="COMPACT EDITABLE FORMULA | Covariance and Kronecker identity"/>
          <p:cNvSpPr txBox="1"/>
          <p:nvPr/>
        </p:nvSpPr>
        <p:spPr>
          <a:xfrm>
            <a:off x="1234440" y="3429000"/>
            <a:ext cx="7150608" cy="960120"/>
          </a:xfrm>
          <a:prstGeom prst="rect">
            <a:avLst/>
          </a:prstGeom>
          <a:noFill/>
        </p:spPr>
        <p:txBody>
          <a:bodyPr wrap="none" lIns="36576" rIns="36576" tIns="0" bIns="0" anchor="ctr">
            <a:spAutoFit/>
          </a:bodyPr>
          <a:lstStyle/>
          <a:p>
            <a:pPr algn="ctr"/>
            <a:r>
              <a:rPr sz="3300">
                <a:solidFill>
                  <a:srgbClr val="13243C"/>
                </a:solidFill>
                <a:latin typeface="Cambria Math"/>
              </a:rPr>
              <a:t>Cov(Zᵢ, Zⱼ) = E[Zᵢ Zⱼ] = δᵢⱼ</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p:sp>
        <p:nvSpPr>
          <p:cNvPr id="15" name="OMML SOURCE (retained; via Selection Pane) | Partial derivative identity"/>
          <p:cNvSpPr txBox="1"/>
          <p:nvPr/>
        </p:nvSpPr>
        <p:spPr>
          <a:xfrm>
            <a:off x="20574000" y="3429000"/>
            <a:ext cx="1778251" cy="96012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f>
                    <m:num>
                      <m:r>
                        <m:t>∂wᵢ</m:t>
                      </m:r>
                    </m:num>
                    <m:den>
                      <m:r>
                        <m:t>∂wⱼ</m:t>
                      </m:r>
                    </m:den>
                  </m:f>
                  <m:r>
                    <m:t> = </m:t>
                  </m:r>
                  <m:sSub>
                    <m:e>
                      <m:r>
                        <m:t>δ</m:t>
                      </m:r>
                    </m:e>
                    <m:sub>
                      <m:r>
                        <m:t>ij</m:t>
                      </m:r>
                    </m:sub>
                  </m:sSub>
                </m:oMath>
              </m:oMathPara>
            </a14:m>
            <a:endParaRPr sz="2800" lang="en-GB">
              <a:solidFill>
                <a:srgbClr val="14233B"/>
              </a:solidFill>
            </a:endParaRPr>
          </a:p>
        </p:txBody>
      </p:sp>
      <p:sp>
        <p:nvSpPr>
          <p:cNvPr id="16" name="OMML SOURCE (retained; via Selection Pane) | Variance identity"/>
          <p:cNvSpPr txBox="1"/>
          <p:nvPr/>
        </p:nvSpPr>
        <p:spPr>
          <a:xfrm>
            <a:off x="20574000" y="3429000"/>
            <a:ext cx="7209787" cy="96012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r>
                    <m:t>Var(</m:t>
                  </m:r>
                  <m:sSub>
                    <m:e>
                      <m:r>
                        <m:t>Z</m:t>
                      </m:r>
                    </m:e>
                    <m:sub>
                      <m:r>
                        <m:t>i</m:t>
                      </m:r>
                    </m:sub>
                  </m:sSub>
                  <m:r>
                    <m:t>) = E[(</m:t>
                  </m:r>
                  <m:sSub>
                    <m:e>
                      <m:r>
                        <m:t>Z</m:t>
                      </m:r>
                    </m:e>
                    <m:sub>
                      <m:r>
                        <m:t>i</m:t>
                      </m:r>
                    </m:sub>
                  </m:sSub>
                  <m:r>
                    <m:t> − E[</m:t>
                  </m:r>
                  <m:sSub>
                    <m:e>
                      <m:r>
                        <m:t>Z</m:t>
                      </m:r>
                    </m:e>
                    <m:sub>
                      <m:r>
                        <m:t>i</m:t>
                      </m:r>
                    </m:sub>
                  </m:sSub>
                  <m:r>
                    <m:t>]</m:t>
                  </m:r>
                  <m:sSup>
                    <m:e>
                      <m:r>
                        <m:t>)</m:t>
                      </m:r>
                    </m:e>
                    <m:sup>
                      <m:r>
                        <m:t>2</m:t>
                      </m:r>
                    </m:sup>
                  </m:sSup>
                  <m:r>
                    <m:t>]</m:t>
                  </m:r>
                </m:oMath>
              </m:oMathPara>
            </a14:m>
            <a:endParaRPr sz="2800" lang="en-GB">
              <a:solidFill>
                <a:srgbClr val="14233B"/>
              </a:solidFill>
            </a:endParaRPr>
          </a:p>
        </p:txBody>
      </p:sp>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p:sp>
        <p:nvSpPr>
          <p:cNvPr id="17" name="OMML SOURCE (retained; via Selection Pane) | Online update"/>
          <p:cNvSpPr txBox="1"/>
          <p:nvPr/>
        </p:nvSpPr>
        <p:spPr>
          <a:xfrm>
            <a:off x="20574000" y="7269480"/>
            <a:ext cx="6078074" cy="68580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t>w</m:t>
                      </m:r>
                    </m:e>
                    <m:sub>
                      <m:r>
                        <m:t>i</m:t>
                      </m:r>
                    </m:sub>
                  </m:sSub>
                  <m:r>
                    <m:t>(t+1) = </m:t>
                  </m:r>
                  <m:sSub>
                    <m:e>
                      <m:r>
                        <m:t>w</m:t>
                      </m:r>
                    </m:e>
                    <m:sub>
                      <m:r>
                        <m:t>i</m:t>
                      </m:r>
                    </m:sub>
                  </m:sSub>
                  <m:r>
                    <m:t>(t) + ηe(t)</m:t>
                  </m:r>
                  <m:sSub>
                    <m:e>
                      <m:r>
                        <m:t>x</m:t>
                      </m:r>
                    </m:e>
                    <m:sub>
                      <m:r>
                        <m:t>i</m:t>
                      </m:r>
                    </m:sub>
                  </m:sSub>
                  <m:r>
                    <m:t>(t)</m:t>
                  </m:r>
                </m:oMath>
              </m:oMathPara>
            </a14:m>
            <a:endParaRPr sz="2000" lang="en-GB">
              <a:solidFill>
                <a:srgbClr val="14233B"/>
              </a:solidFill>
            </a:endParaRPr>
          </a:p>
        </p:txBody>
      </p:sp>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
        <p:nvSpPr>
          <p:cNvPr id="18" name="COMPACT EDITABLE FORMULA | Partial derivative identity"/>
          <p:cNvSpPr txBox="1"/>
          <p:nvPr/>
        </p:nvSpPr>
        <p:spPr>
          <a:xfrm>
            <a:off x="1234440" y="3429000"/>
            <a:ext cx="6858000" cy="960120"/>
          </a:xfrm>
          <a:prstGeom prst="rect">
            <a:avLst/>
          </a:prstGeom>
          <a:noFill/>
        </p:spPr>
        <p:txBody>
          <a:bodyPr wrap="none" lIns="36576" rIns="36576" tIns="0" bIns="0" anchor="ctr">
            <a:spAutoFit/>
          </a:bodyPr>
          <a:lstStyle/>
          <a:p>
            <a:pPr algn="ctr"/>
            <a:r>
              <a:rPr sz="3100">
                <a:solidFill>
                  <a:srgbClr val="13243C"/>
                </a:solidFill>
                <a:latin typeface="Cambria Math"/>
              </a:rPr>
              <a:t>∂wᵢ / ∂wⱼ = δᵢⱼ</a:t>
            </a:r>
          </a:p>
        </p:txBody>
      </p:sp>
      <p:sp>
        <p:nvSpPr>
          <p:cNvPr id="19" name="COMPACT EDITABLE FORMULA | Variance identity"/>
          <p:cNvSpPr txBox="1"/>
          <p:nvPr/>
        </p:nvSpPr>
        <p:spPr>
          <a:xfrm>
            <a:off x="9326880" y="3429000"/>
            <a:ext cx="7205472" cy="960120"/>
          </a:xfrm>
          <a:prstGeom prst="rect">
            <a:avLst/>
          </a:prstGeom>
          <a:noFill/>
        </p:spPr>
        <p:txBody>
          <a:bodyPr wrap="none" lIns="36576" rIns="36576" tIns="0" bIns="0" anchor="ctr">
            <a:spAutoFit/>
          </a:bodyPr>
          <a:lstStyle/>
          <a:p>
            <a:pPr algn="ctr"/>
            <a:r>
              <a:rPr sz="3000">
                <a:solidFill>
                  <a:srgbClr val="13243C"/>
                </a:solidFill>
                <a:latin typeface="Cambria Math"/>
              </a:rPr>
              <a:t>Var(Zᵢ) = E[(Zᵢ − E[Zᵢ])²]</a:t>
            </a:r>
          </a:p>
        </p:txBody>
      </p:sp>
      <p:sp>
        <p:nvSpPr>
          <p:cNvPr id="20" name="COMPACT EDITABLE FORMULA | Online update"/>
          <p:cNvSpPr txBox="1"/>
          <p:nvPr/>
        </p:nvSpPr>
        <p:spPr>
          <a:xfrm>
            <a:off x="1234440" y="7269480"/>
            <a:ext cx="6080760" cy="685800"/>
          </a:xfrm>
          <a:prstGeom prst="rect">
            <a:avLst/>
          </a:prstGeom>
          <a:noFill/>
        </p:spPr>
        <p:txBody>
          <a:bodyPr wrap="none" lIns="36576" rIns="36576" tIns="0" bIns="0" anchor="ctr">
            <a:spAutoFit/>
          </a:bodyPr>
          <a:lstStyle/>
          <a:p>
            <a:pPr algn="ctr"/>
            <a:r>
              <a:rPr sz="2900">
                <a:solidFill>
                  <a:srgbClr val="13243C"/>
                </a:solidFill>
                <a:latin typeface="Cambria Math"/>
              </a:rPr>
              <a:t>wᵢ(t + 1) = wᵢ(t) + ηe(t)xᵢ(t)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p:sp>
        <p:nvSpPr>
          <p:cNvPr id="10" name="OMML SOURCE (retained; via Selection Pane) | Vanishing wavelet moments"/>
          <p:cNvSpPr txBox="1"/>
          <p:nvPr/>
        </p:nvSpPr>
        <p:spPr>
          <a:xfrm>
            <a:off x="20574000" y="3497580"/>
            <a:ext cx="7342346" cy="82296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r>
                    <m:t>∫ </m:t>
                  </m:r>
                  <m:sSup>
                    <m:e>
                      <m:r>
                        <m:t>t</m:t>
                      </m:r>
                    </m:e>
                    <m:sup>
                      <m:r>
                        <m:t>m</m:t>
                      </m:r>
                    </m:sup>
                  </m:sSup>
                  <m:r>
                    <m:t>ψ(t)dt = 0,     m = 0,…,N − 1</m:t>
                  </m:r>
                </m:oMath>
              </m:oMathPara>
            </a14:m>
            <a:endParaRPr sz="2400" lang="en-GB">
              <a:solidFill>
                <a:srgbClr val="14233B"/>
              </a:solidFill>
            </a:endParaRPr>
          </a:p>
        </p:txBody>
      </p:sp>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
        <p:nvSpPr>
          <p:cNvPr id="11" name="COMPACT EDITABLE FORMULA | Vanishing wavelet moments"/>
          <p:cNvSpPr txBox="1"/>
          <p:nvPr/>
        </p:nvSpPr>
        <p:spPr>
          <a:xfrm>
            <a:off x="1234440" y="3502152"/>
            <a:ext cx="7342631" cy="822960"/>
          </a:xfrm>
          <a:prstGeom prst="rect">
            <a:avLst/>
          </a:prstGeom>
          <a:noFill/>
        </p:spPr>
        <p:txBody>
          <a:bodyPr wrap="none" lIns="36576" rIns="36576" tIns="0" bIns="0" anchor="ctr">
            <a:spAutoFit/>
          </a:bodyPr>
          <a:lstStyle/>
          <a:p>
            <a:pPr algn="ctr"/>
            <a:r>
              <a:rPr sz="3200">
                <a:solidFill>
                  <a:srgbClr val="13243C"/>
                </a:solidFill>
                <a:latin typeface="Cambria Math"/>
              </a:rPr>
              <a:t>∫ tᵐ ψ(t) dt = 0,      m = 0, …, N − 1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p:sp>
        <p:nvSpPr>
          <p:cNvPr id="11" name="OMML SOURCE (retained; via Selection Pane) | Linear transformation and covariance"/>
          <p:cNvSpPr txBox="1"/>
          <p:nvPr/>
        </p:nvSpPr>
        <p:spPr>
          <a:xfrm>
            <a:off x="20574000" y="3360420"/>
            <a:ext cx="12084587" cy="96012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r>
                    <m:t>Y = AZ,    Cov(Z) = I    ⇒    Cov(Y) = A</m:t>
                  </m:r>
                  <m:sSup>
                    <m:e>
                      <m:r>
                        <m:t>A</m:t>
                      </m:r>
                    </m:e>
                    <m:sup>
                      <m:r>
                        <m:t>T</m:t>
                      </m:r>
                    </m:sup>
                  </m:sSup>
                </m:oMath>
              </m:oMathPara>
            </a14:m>
            <a:endParaRPr sz="2300" lang="en-GB">
              <a:solidFill>
                <a:srgbClr val="14233B"/>
              </a:solidFill>
            </a:endParaRPr>
          </a:p>
        </p:txBody>
      </p:sp>
      <p:sp>
        <p:nvSpPr>
          <p:cNvPr id="12" name="OMML SOURCE (retained; via Selection Pane) | Correlation construction"/>
          <p:cNvSpPr txBox="1"/>
          <p:nvPr/>
        </p:nvSpPr>
        <p:spPr>
          <a:xfrm>
            <a:off x="20574000" y="4869180"/>
            <a:ext cx="13716000" cy="991876"/>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t>Y</m:t>
                      </m:r>
                    </m:e>
                    <m:sub>
                      <m:r>
                        <m:t>1</m:t>
                      </m:r>
                    </m:sub>
                  </m:sSub>
                  <m:r>
                    <m:t> = </m:t>
                  </m:r>
                  <m:sSub>
                    <m:e>
                      <m:r>
                        <m:t>Z</m:t>
                      </m:r>
                    </m:e>
                    <m:sub>
                      <m:r>
                        <m:t>1</m:t>
                      </m:r>
                    </m:sub>
                  </m:sSub>
                  <m:r>
                    <m:t>,    </m:t>
                  </m:r>
                  <m:sSub>
                    <m:e>
                      <m:r>
                        <m:t>Y</m:t>
                      </m:r>
                    </m:e>
                    <m:sub>
                      <m:r>
                        <m:t>2</m:t>
                      </m:r>
                    </m:sub>
                  </m:sSub>
                  <m:r>
                    <m:t> = a</m:t>
                  </m:r>
                  <m:sSub>
                    <m:e>
                      <m:r>
                        <m:t>Z</m:t>
                      </m:r>
                    </m:e>
                    <m:sub>
                      <m:r>
                        <m:t>1</m:t>
                      </m:r>
                    </m:sub>
                  </m:sSub>
                  <m:r>
                    <m:t> + </m:t>
                  </m:r>
                  <m:sSub>
                    <m:e>
                      <m:r>
                        <m:t>Z</m:t>
                      </m:r>
                    </m:e>
                    <m:sub>
                      <m:r>
                        <m:t>2</m:t>
                      </m:r>
                    </m:sub>
                  </m:sSub>
                  <m:r>
                    <m:t>,    Cov(</m:t>
                  </m:r>
                  <m:sSub>
                    <m:e>
                      <m:r>
                        <m:t>Y</m:t>
                      </m:r>
                    </m:e>
                    <m:sub>
                      <m:r>
                        <m:t>1</m:t>
                      </m:r>
                    </m:sub>
                  </m:sSub>
                  <m:r>
                    <m:t>,</m:t>
                  </m:r>
                  <m:sSub>
                    <m:e>
                      <m:r>
                        <m:t>Y</m:t>
                      </m:r>
                    </m:e>
                    <m:sub>
                      <m:r>
                        <m:t>2</m:t>
                      </m:r>
                    </m:sub>
                  </m:sSub>
                  <m:r>
                    <m:t>) = a</m:t>
                  </m:r>
                </m:oMath>
              </m:oMathPara>
            </a14:m>
            <a:endParaRPr sz="2300" lang="en-GB">
              <a:solidFill>
                <a:srgbClr val="14233B"/>
              </a:solidFill>
            </a:endParaRPr>
          </a:p>
        </p:txBody>
      </p:sp>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
        <p:nvSpPr>
          <p:cNvPr id="13" name="COMPACT EDITABLE FORMULA | Linear transformation and covariance"/>
          <p:cNvSpPr txBox="1"/>
          <p:nvPr/>
        </p:nvSpPr>
        <p:spPr>
          <a:xfrm>
            <a:off x="1234440" y="3355848"/>
            <a:ext cx="12088368" cy="960120"/>
          </a:xfrm>
          <a:prstGeom prst="rect">
            <a:avLst/>
          </a:prstGeom>
          <a:noFill/>
        </p:spPr>
        <p:txBody>
          <a:bodyPr wrap="none" lIns="36576" rIns="36576" tIns="0" bIns="0" anchor="ctr">
            <a:spAutoFit/>
          </a:bodyPr>
          <a:lstStyle/>
          <a:p>
            <a:pPr algn="ctr"/>
            <a:r>
              <a:rPr sz="3000">
                <a:solidFill>
                  <a:srgbClr val="13243C"/>
                </a:solidFill>
                <a:latin typeface="Cambria Math"/>
              </a:rPr>
              <a:t>Y = AZ,     Cov(Z) = I   ⇒   Cov(Y) = AAᵀ</a:t>
            </a:r>
          </a:p>
        </p:txBody>
      </p:sp>
      <p:sp>
        <p:nvSpPr>
          <p:cNvPr id="14" name="COMPACT EDITABLE FORMULA | Correlation construction"/>
          <p:cNvSpPr txBox="1"/>
          <p:nvPr/>
        </p:nvSpPr>
        <p:spPr>
          <a:xfrm>
            <a:off x="1234440" y="4873752"/>
            <a:ext cx="13716000" cy="987552"/>
          </a:xfrm>
          <a:prstGeom prst="rect">
            <a:avLst/>
          </a:prstGeom>
          <a:noFill/>
        </p:spPr>
        <p:txBody>
          <a:bodyPr wrap="none" lIns="36576" rIns="36576" tIns="0" bIns="0" anchor="ctr">
            <a:spAutoFit/>
          </a:bodyPr>
          <a:lstStyle/>
          <a:p>
            <a:pPr algn="ctr"/>
            <a:r>
              <a:rPr sz="2900">
                <a:solidFill>
                  <a:srgbClr val="13243C"/>
                </a:solidFill>
                <a:latin typeface="Cambria Math"/>
              </a:rPr>
              <a:t>Y₁ = Z₁,    Y₂ = aZ₁ + Z₂,    Cov(Y₁, Y₂) = 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0"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sp>
        <p:nvSpPr>
          <p:cNvPr id="23" name="OMML SOURCE (retained; via Selection Pane) | CSP spatial filter"/>
          <p:cNvSpPr txBox="1"/>
          <p:nvPr/>
        </p:nvSpPr>
        <p:spPr>
          <a:xfrm>
            <a:off x="20574000" y="3700462"/>
            <a:ext cx="1583055" cy="485775"/>
          </a:xfrm>
          <a:prstGeom prst="rect">
            <a:avLst/>
          </a:prstGeom>
          <a:solidFill>
            <a:srgbClr val="DDEBF3"/>
          </a:solidFill>
        </p:spPr>
        <p:txBody>
          <a:bodyPr wrap="none" lIns="0" rIns="0" tIns="0" bIns="0">
            <a:spAutoFit/>
          </a:bodyPr>
          <a:lstStyle/>
          <a:p>
            <a:pPr algn="ctr"/>
            <a14:m xmlns:a14="http://schemas.microsoft.com/office/drawing/2010/main" xmlns:m="http://schemas.openxmlformats.org/officeDocument/2006/math">
              <m:oMathPara>
                <m:oMath>
                  <m:r>
                    <m:t>Z = WE</m:t>
                  </m:r>
                </m:oMath>
              </m:oMathPara>
            </a14:m>
            <a:endParaRPr sz="1800" lang="en-GB">
              <a:solidFill>
                <a:srgbClr val="14233B"/>
              </a:solidFill>
            </a:endParaRPr>
          </a:p>
        </p:txBody>
      </p:sp>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sp>
        <p:nvSpPr>
          <p:cNvPr id="24" name="OMML SOURCE (retained; via Selection Pane) | Normalised CSP log-variance feature"/>
          <p:cNvSpPr txBox="1"/>
          <p:nvPr/>
        </p:nvSpPr>
        <p:spPr>
          <a:xfrm>
            <a:off x="20574000" y="5226368"/>
            <a:ext cx="3697605" cy="1343025"/>
          </a:xfrm>
          <a:prstGeom prst="rect">
            <a:avLst/>
          </a:prstGeom>
          <a:solidFill>
            <a:srgbClr val="DDEBF3"/>
          </a:solidFill>
        </p:spPr>
        <p:txBody>
          <a:bodyPr wrap="none" lIns="0" rIns="0" tIns="0" bIns="0">
            <a:spAutoFit/>
          </a:bodyPr>
          <a:lstStyle/>
          <a:p>
            <a:pPr algn="ctr"/>
            <a14:m xmlns:a14="http://schemas.microsoft.com/office/drawing/2010/main" xmlns:m="http://schemas.openxmlformats.org/officeDocument/2006/math">
              <m:oMathPara>
                <m:oMath>
                  <m:sSub>
                    <m:e>
                      <m:r>
                        <m:t>f</m:t>
                      </m:r>
                    </m:e>
                    <m:sub>
                      <m:r>
                        <m:t>j</m:t>
                      </m:r>
                    </m:sub>
                  </m:sSub>
                  <m:r>
                    <m:t> = log</m:t>
                  </m:r>
                  <m:r>
                    <m:t>(</m:t>
                  </m:r>
                  <m:f>
                    <m:num>
                      <m:r>
                        <m:t>Var(</m:t>
                      </m:r>
                      <m:sSub>
                        <m:e>
                          <m:r>
                            <m:t>Z</m:t>
                          </m:r>
                        </m:e>
                        <m:sub>
                          <m:r>
                            <m:t>j</m:t>
                          </m:r>
                        </m:sub>
                      </m:sSub>
                      <m:r>
                        <m:t>)</m:t>
                      </m:r>
                    </m:num>
                    <m:den>
                      <m:nary>
                        <m:naryPr>
                          <m:chr m:val="∑"/>
                        </m:naryPr>
                        <m:sub>
                          <m:r>
                            <m:t>k=1</m:t>
                          </m:r>
                        </m:sub>
                        <m:sup>
                          <m:r>
                            <m:t>2m</m:t>
                          </m:r>
                        </m:sup>
                        <m:e>
                          <m:r>
                            <m:t>Var(</m:t>
                          </m:r>
                          <m:sSub>
                            <m:e>
                              <m:r>
                                <m:t>Z</m:t>
                              </m:r>
                            </m:e>
                            <m:sub>
                              <m:r>
                                <m:t>k</m:t>
                              </m:r>
                            </m:sub>
                          </m:sSub>
                          <m:r>
                            <m:t>)</m:t>
                          </m:r>
                        </m:e>
                      </m:nary>
                    </m:den>
                  </m:f>
                  <m:r>
                    <m:t>)</m:t>
                  </m:r>
                </m:oMath>
              </m:oMathPara>
            </a14:m>
            <a:endParaRPr sz="2600" lang="en-GB">
              <a:solidFill>
                <a:srgbClr val="14233B"/>
              </a:solidFill>
            </a:endParaRPr>
          </a:p>
        </p:txBody>
      </p:sp>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sp>
        <p:nvSpPr>
          <p:cNvPr id="25" name="OMML SOURCE (retained; via Selection Pane) | PCA projection and first component"/>
          <p:cNvSpPr txBox="1"/>
          <p:nvPr/>
        </p:nvSpPr>
        <p:spPr>
          <a:xfrm>
            <a:off x="20574000" y="7420928"/>
            <a:ext cx="5383530" cy="588645"/>
          </a:xfrm>
          <a:prstGeom prst="rect">
            <a:avLst/>
          </a:prstGeom>
          <a:solidFill>
            <a:srgbClr val="DDEBF3"/>
          </a:solidFill>
        </p:spPr>
        <p:txBody>
          <a:bodyPr wrap="none" lIns="0" rIns="0" tIns="0" bIns="0">
            <a:spAutoFit/>
          </a:bodyPr>
          <a:lstStyle/>
          <a:p>
            <a:pPr algn="ctr"/>
            <a14:m xmlns:a14="http://schemas.microsoft.com/office/drawing/2010/main" xmlns:m="http://schemas.openxmlformats.org/officeDocument/2006/math">
              <m:oMathPara>
                <m:oMath>
                  <m:sSub>
                    <m:e>
                      <m:r>
                        <m:t>s</m:t>
                      </m:r>
                    </m:e>
                    <m:sub>
                      <m:r>
                        <m:t>i</m:t>
                      </m:r>
                    </m:sub>
                  </m:sSub>
                  <m:r>
                    <m:t> = </m:t>
                  </m:r>
                  <m:sSup>
                    <m:e>
                      <m:r>
                        <m:t>P</m:t>
                      </m:r>
                    </m:e>
                    <m:sup>
                      <m:r>
                        <m:t>T</m:t>
                      </m:r>
                    </m:sup>
                  </m:sSup>
                  <m:r>
                    <m:t>(</m:t>
                  </m:r>
                  <m:sSub>
                    <m:e>
                      <m:r>
                        <m:t>f</m:t>
                      </m:r>
                    </m:e>
                    <m:sub>
                      <m:r>
                        <m:t>i</m:t>
                      </m:r>
                    </m:sub>
                  </m:sSub>
                  <m:r>
                    <m:t> − </m:t>
                  </m:r>
                  <m:sSub>
                    <m:e>
                      <m:r>
                        <m:t>μ</m:t>
                      </m:r>
                    </m:e>
                    <m:sub>
                      <m:r>
                        <m:t>cal</m:t>
                      </m:r>
                    </m:sub>
                  </m:sSub>
                  <m:r>
                    <m:t>),     </m:t>
                  </m:r>
                  <m:sSub>
                    <m:e>
                      <m:r>
                        <m:t>X</m:t>
                      </m:r>
                    </m:e>
                    <m:sub>
                      <m:r>
                        <m:t>i</m:t>
                      </m:r>
                    </m:sub>
                  </m:sSub>
                  <m:r>
                    <m:t> = </m:t>
                  </m:r>
                  <m:sSub>
                    <m:e>
                      <m:r>
                        <m:t>s</m:t>
                      </m:r>
                    </m:e>
                    <m:sub>
                      <m:r>
                        <m:t>i,1</m:t>
                      </m:r>
                    </m:sub>
                  </m:sSub>
                </m:oMath>
              </m:oMathPara>
            </a14:m>
            <a:endParaRPr sz="1800" lang="en-GB">
              <a:solidFill>
                <a:srgbClr val="14233B"/>
              </a:solidFill>
            </a:endParaRPr>
          </a:p>
        </p:txBody>
      </p:sp>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
        <p:nvSpPr>
          <p:cNvPr id="26" name="COMPACT EDITABLE FORMULA | CSP spatial filter"/>
          <p:cNvSpPr txBox="1"/>
          <p:nvPr/>
        </p:nvSpPr>
        <p:spPr>
          <a:xfrm>
            <a:off x="1024128" y="3703320"/>
            <a:ext cx="5029200" cy="484632"/>
          </a:xfrm>
          <a:prstGeom prst="rect">
            <a:avLst/>
          </a:prstGeom>
          <a:noFill/>
        </p:spPr>
        <p:txBody>
          <a:bodyPr wrap="none" lIns="36576" rIns="36576" tIns="0" bIns="0" anchor="ctr">
            <a:spAutoFit/>
          </a:bodyPr>
          <a:lstStyle/>
          <a:p>
            <a:pPr algn="l"/>
            <a:r>
              <a:rPr sz="3000">
                <a:solidFill>
                  <a:srgbClr val="E2EDF6"/>
                </a:solidFill>
                <a:latin typeface="Cambria Math"/>
              </a:rPr>
              <a:t>Z = WE</a:t>
            </a:r>
          </a:p>
        </p:txBody>
      </p:sp>
      <p:sp>
        <p:nvSpPr>
          <p:cNvPr id="27" name="COMPACT EDITABLE FORMULA | Normalised CSP log-variance feature"/>
          <p:cNvSpPr txBox="1"/>
          <p:nvPr/>
        </p:nvSpPr>
        <p:spPr>
          <a:xfrm>
            <a:off x="1024128" y="5285232"/>
            <a:ext cx="7040880" cy="621792"/>
          </a:xfrm>
          <a:prstGeom prst="rect">
            <a:avLst/>
          </a:prstGeom>
          <a:noFill/>
        </p:spPr>
        <p:txBody>
          <a:bodyPr wrap="none" lIns="36576" rIns="36576" tIns="0" bIns="0" anchor="ctr">
            <a:spAutoFit/>
          </a:bodyPr>
          <a:lstStyle/>
          <a:p>
            <a:pPr algn="l"/>
            <a:r>
              <a:rPr sz="2900">
                <a:solidFill>
                  <a:srgbClr val="E2EDF6"/>
                </a:solidFill>
                <a:latin typeface="Cambria Math"/>
              </a:rPr>
              <a:t>fⱼ = log[ Var(Zⱼ) / ∑ₖ₌₁²ᵐ Var(Zₖ) ]</a:t>
            </a:r>
          </a:p>
        </p:txBody>
      </p:sp>
      <p:sp>
        <p:nvSpPr>
          <p:cNvPr id="28" name="COMPACT EDITABLE FORMULA | PCA projection and first component"/>
          <p:cNvSpPr txBox="1"/>
          <p:nvPr/>
        </p:nvSpPr>
        <p:spPr>
          <a:xfrm>
            <a:off x="1024128" y="7424927"/>
            <a:ext cx="7955279" cy="585216"/>
          </a:xfrm>
          <a:prstGeom prst="rect">
            <a:avLst/>
          </a:prstGeom>
          <a:noFill/>
        </p:spPr>
        <p:txBody>
          <a:bodyPr wrap="none" lIns="36576" rIns="36576" tIns="0" bIns="0" anchor="ctr">
            <a:spAutoFit/>
          </a:bodyPr>
          <a:lstStyle/>
          <a:p>
            <a:pPr algn="l"/>
            <a:r>
              <a:rPr sz="2700">
                <a:solidFill>
                  <a:srgbClr val="E2EDF6"/>
                </a:solidFill>
                <a:latin typeface="Cambria Math"/>
              </a:rPr>
              <a:t>sᵢ = Pᵀ(fᵢ − μ_cal),     Xᵢ = sᵢ,₁</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sp>
        <p:nvSpPr>
          <p:cNvPr id="22" name="OMML SOURCE (retained; via Selection Pane) | Representation and adaptation"/>
          <p:cNvSpPr txBox="1"/>
          <p:nvPr/>
        </p:nvSpPr>
        <p:spPr>
          <a:xfrm>
            <a:off x="20574000" y="2798064"/>
            <a:ext cx="16116300" cy="1342063"/>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
                    <m:e>
                      <m:r>
                        <m:t>f</m:t>
                      </m:r>
                    </m:e>
                    <m:sub>
                      <m:r>
                        <m:t>t</m:t>
                      </m:r>
                    </m:sub>
                  </m:sSub>
                  <m:r>
                    <m:t> = </m:t>
                  </m:r>
                  <m:sSub>
                    <m:e>
                      <m:r>
                        <m:t>ϕ</m:t>
                      </m:r>
                    </m:e>
                    <m:sub>
                      <m:r>
                        <m:t>0</m:t>
                      </m:r>
                    </m:sub>
                  </m:sSub>
                  <m:r>
                    <m:t>(</m:t>
                  </m:r>
                  <m:sSub>
                    <m:e>
                      <m:r>
                        <m:t>E</m:t>
                      </m:r>
                    </m:e>
                    <m:sub>
                      <m:r>
                        <m:t>t</m:t>
                      </m:r>
                    </m:sub>
                  </m:sSub>
                  <m:r>
                    <m:t>),    </m:t>
                  </m:r>
                  <m:sSub>
                    <m:e>
                      <m:r>
                        <m:t>q</m:t>
                      </m:r>
                    </m:e>
                    <m:sub>
                      <m:r>
                        <m:t>t</m:t>
                      </m:r>
                    </m:sub>
                  </m:sSub>
                  <m:r>
                    <m:t> = </m:t>
                  </m:r>
                  <m:sSup>
                    <m:e>
                      <m:sSub>
                        <m:e>
                          <m:r>
                            <m:t>P</m:t>
                          </m:r>
                        </m:e>
                        <m:sub>
                          <m:r>
                            <m:t>0</m:t>
                          </m:r>
                        </m:sub>
                      </m:sSub>
                    </m:e>
                    <m:sup>
                      <m:r>
                        <m:t>T</m:t>
                      </m:r>
                    </m:sup>
                  </m:sSup>
                  <m:r>
                    <m:t>(</m:t>
                  </m:r>
                  <m:sSub>
                    <m:e>
                      <m:r>
                        <m:t>f</m:t>
                      </m:r>
                    </m:e>
                    <m:sub>
                      <m:r>
                        <m:t>t</m:t>
                      </m:r>
                    </m:sub>
                  </m:sSub>
                  <m:r>
                    <m:t> − </m:t>
                  </m:r>
                  <m:sSub>
                    <m:e>
                      <m:r>
                        <m:t>u</m:t>
                      </m:r>
                    </m:e>
                    <m:sub>
                      <m:r>
                        <m:t>0</m:t>
                      </m:r>
                    </m:sub>
                  </m:sSub>
                  <m:r>
                    <m:t>),    </m:t>
                  </m:r>
                  <m:sSub>
                    <m:e>
                      <m:r>
                        <m:t>ŷ</m:t>
                      </m:r>
                    </m:e>
                    <m:sub>
                      <m:r>
                        <m:t>t</m:t>
                      </m:r>
                    </m:sub>
                  </m:sSub>
                  <m:r>
                    <m:t> = </m:t>
                  </m:r>
                  <m:sSub>
                    <m:e>
                      <m:r>
                        <m:t>g</m:t>
                      </m:r>
                    </m:e>
                    <m:sub>
                      <m:sSub>
                        <m:e>
                          <m:r>
                            <m:t>θ</m:t>
                          </m:r>
                        </m:e>
                        <m:sub>
                          <m:r>
                            <m:t>t</m:t>
                          </m:r>
                        </m:sub>
                      </m:sSub>
                    </m:sub>
                  </m:sSub>
                  <m:r>
                    <m:t>(</m:t>
                  </m:r>
                  <m:sSub>
                    <m:e>
                      <m:r>
                        <m:t>f</m:t>
                      </m:r>
                    </m:e>
                    <m:sub>
                      <m:r>
                        <m:t>t</m:t>
                      </m:r>
                    </m:sub>
                  </m:sSub>
                  <m:r>
                    <m:t>)</m:t>
                  </m:r>
                </m:oMath>
              </m:oMathPara>
            </a14:m>
            <a:endParaRPr sz="2300" lang="en-GB">
              <a:solidFill>
                <a:srgbClr val="14233B"/>
              </a:solidFill>
            </a:endParaRPr>
          </a:p>
        </p:txBody>
      </p:sp>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
        <p:nvSpPr>
          <p:cNvPr id="23" name="COMPACT EDITABLE FORMULA | Representation and adaptation"/>
          <p:cNvSpPr txBox="1"/>
          <p:nvPr/>
        </p:nvSpPr>
        <p:spPr>
          <a:xfrm>
            <a:off x="1097280" y="2798064"/>
            <a:ext cx="16111728" cy="1344168"/>
          </a:xfrm>
          <a:prstGeom prst="rect">
            <a:avLst/>
          </a:prstGeom>
          <a:noFill/>
        </p:spPr>
        <p:txBody>
          <a:bodyPr wrap="none" lIns="36576" rIns="36576" tIns="0" bIns="0" anchor="ctr">
            <a:spAutoFit/>
          </a:bodyPr>
          <a:lstStyle/>
          <a:p>
            <a:pPr algn="l"/>
            <a:r>
              <a:rPr sz="3100">
                <a:solidFill>
                  <a:srgbClr val="13243C"/>
                </a:solidFill>
                <a:latin typeface="Cambria Math"/>
              </a:rPr>
              <a:t>fₜ = ϕ₀(Eₜ),     qₜ = P₀ᵀ(fₜ − μ₀),     ŷₜ = g_θₜ(fₜ)</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sp>
        <p:nvSpPr>
          <p:cNvPr id="26" name="OMML SOURCE (retained; via Selection Pane) | EWMA statistic and innovation"/>
          <p:cNvSpPr txBox="1"/>
          <p:nvPr/>
        </p:nvSpPr>
        <p:spPr>
          <a:xfrm>
            <a:off x="20574000" y="3745611"/>
            <a:ext cx="7406640" cy="491490"/>
          </a:xfrm>
          <a:prstGeom prst="rect">
            <a:avLst/>
          </a:prstGeom>
          <a:solidFill>
            <a:srgbClr val="DDEBF3"/>
          </a:solidFill>
        </p:spPr>
        <p:txBody>
          <a:bodyPr wrap="none" lIns="0" rIns="0" tIns="0" bIns="0">
            <a:spAutoFit/>
          </a:bodyPr>
          <a:lstStyle/>
          <a:p>
            <a:pPr algn="ctr"/>
            <a14:m xmlns:a14="http://schemas.microsoft.com/office/drawing/2010/main" xmlns:m="http://schemas.openxmlformats.org/officeDocument/2006/math">
              <m:oMathPara>
                <m:oMath>
                  <m:sSub>
                    <m:e>
                      <m:r>
                        <m:t>z</m:t>
                      </m:r>
                    </m:e>
                    <m:sub>
                      <m:r>
                        <m:t>i</m:t>
                      </m:r>
                    </m:sub>
                  </m:sSub>
                  <m:r>
                    <m:t> = λ</m:t>
                  </m:r>
                  <m:sSub>
                    <m:e>
                      <m:r>
                        <m:t>x</m:t>
                      </m:r>
                    </m:e>
                    <m:sub>
                      <m:r>
                        <m:t>i</m:t>
                      </m:r>
                    </m:sub>
                  </m:sSub>
                  <m:r>
                    <m:t> + (1−λ)</m:t>
                  </m:r>
                  <m:sSub>
                    <m:e>
                      <m:r>
                        <m:t>z</m:t>
                      </m:r>
                    </m:e>
                    <m:sub>
                      <m:r>
                        <m:t>i−1</m:t>
                      </m:r>
                    </m:sub>
                  </m:sSub>
                  <m:r>
                    <m:t>,    </m:t>
                  </m:r>
                  <m:sSub>
                    <m:e>
                      <m:r>
                        <m:t>e</m:t>
                      </m:r>
                    </m:e>
                    <m:sub>
                      <m:r>
                        <m:t>i</m:t>
                      </m:r>
                    </m:sub>
                  </m:sSub>
                  <m:r>
                    <m:t> = </m:t>
                  </m:r>
                  <m:sSub>
                    <m:e>
                      <m:r>
                        <m:t>x</m:t>
                      </m:r>
                    </m:e>
                    <m:sub>
                      <m:r>
                        <m:t>i</m:t>
                      </m:r>
                    </m:sub>
                  </m:sSub>
                  <m:r>
                    <m:t> − </m:t>
                  </m:r>
                  <m:sSub>
                    <m:e>
                      <m:r>
                        <m:t>z</m:t>
                      </m:r>
                    </m:e>
                    <m:sub>
                      <m:r>
                        <m:t>i−1</m:t>
                      </m:r>
                    </m:sub>
                  </m:sSub>
                </m:oMath>
              </m:oMathPara>
            </a14:m>
            <a:endParaRPr sz="1800" lang="en-GB">
              <a:solidFill>
                <a:srgbClr val="14233B"/>
              </a:solidFill>
            </a:endParaRPr>
          </a:p>
        </p:txBody>
      </p:sp>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sp>
        <p:nvSpPr>
          <p:cNvPr id="27" name="OMML SOURCE (retained; via Selection Pane) | EWMA upper and lower control limits"/>
          <p:cNvSpPr txBox="1"/>
          <p:nvPr/>
        </p:nvSpPr>
        <p:spPr>
          <a:xfrm>
            <a:off x="20574000" y="5189563"/>
            <a:ext cx="8641080" cy="483946"/>
          </a:xfrm>
          <a:prstGeom prst="rect">
            <a:avLst/>
          </a:prstGeom>
          <a:solidFill>
            <a:srgbClr val="DDEBF3"/>
          </a:solidFill>
        </p:spPr>
        <p:txBody>
          <a:bodyPr wrap="none" lIns="0" rIns="0" tIns="0" bIns="0">
            <a:spAutoFit/>
          </a:bodyPr>
          <a:lstStyle/>
          <a:p>
            <a:pPr algn="ctr"/>
            <a14:m xmlns:a14="http://schemas.microsoft.com/office/drawing/2010/main" xmlns:m="http://schemas.openxmlformats.org/officeDocument/2006/math">
              <m:oMathPara>
                <m:oMath>
                  <m:sSub>
                    <m:e>
                      <m:r>
                        <m:t>UCL</m:t>
                      </m:r>
                    </m:e>
                    <m:sub>
                      <m:r>
                        <m:t>i</m:t>
                      </m:r>
                    </m:sub>
                  </m:sSub>
                  <m:r>
                    <m:t> = </m:t>
                  </m:r>
                  <m:sSub>
                    <m:e>
                      <m:r>
                        <m:t>z</m:t>
                      </m:r>
                    </m:e>
                    <m:sub>
                      <m:r>
                        <m:t>i−1</m:t>
                      </m:r>
                    </m:sub>
                  </m:sSub>
                  <m:r>
                    <m:t> + L</m:t>
                  </m:r>
                  <m:sSub>
                    <m:e>
                      <m:r>
                        <m:t>σ</m:t>
                      </m:r>
                    </m:e>
                    <m:sub>
                      <m:r>
                        <m:t>e,i−1</m:t>
                      </m:r>
                    </m:sub>
                  </m:sSub>
                  <m:r>
                    <m:t>,    </m:t>
                  </m:r>
                  <m:sSub>
                    <m:e>
                      <m:r>
                        <m:t>LCL</m:t>
                      </m:r>
                    </m:e>
                    <m:sub>
                      <m:r>
                        <m:t>i</m:t>
                      </m:r>
                    </m:sub>
                  </m:sSub>
                  <m:r>
                    <m:t> = </m:t>
                  </m:r>
                  <m:sSub>
                    <m:e>
                      <m:r>
                        <m:t>z</m:t>
                      </m:r>
                    </m:e>
                    <m:sub>
                      <m:r>
                        <m:t>i−1</m:t>
                      </m:r>
                    </m:sub>
                  </m:sSub>
                  <m:r>
                    <m:t> − L</m:t>
                  </m:r>
                  <m:sSub>
                    <m:e>
                      <m:r>
                        <m:t>σ</m:t>
                      </m:r>
                    </m:e>
                    <m:sub>
                      <m:r>
                        <m:t>e,i−1</m:t>
                      </m:r>
                    </m:sub>
                  </m:sSub>
                </m:oMath>
              </m:oMathPara>
            </a14:m>
            <a:endParaRPr sz="1800" lang="en-GB">
              <a:solidFill>
                <a:srgbClr val="14233B"/>
              </a:solidFill>
            </a:endParaRPr>
          </a:p>
        </p:txBody>
      </p:sp>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sp>
        <p:nvSpPr>
          <p:cNvPr id="28" name="OMML SOURCE (retained; via Selection Pane) | Variance EWMA recurrence"/>
          <p:cNvSpPr txBox="1"/>
          <p:nvPr/>
        </p:nvSpPr>
        <p:spPr>
          <a:xfrm>
            <a:off x="20574000" y="6551676"/>
            <a:ext cx="5514975" cy="640080"/>
          </a:xfrm>
          <a:prstGeom prst="rect">
            <a:avLst/>
          </a:prstGeom>
          <a:solidFill>
            <a:srgbClr val="DDEBF3"/>
          </a:solidFill>
        </p:spPr>
        <p:txBody>
          <a:bodyPr wrap="none" lIns="0" rIns="0" tIns="0" bIns="0">
            <a:spAutoFit/>
          </a:bodyPr>
          <a:lstStyle/>
          <a:p>
            <a:pPr algn="ctr"/>
            <a14:m xmlns:a14="http://schemas.microsoft.com/office/drawing/2010/main" xmlns:m="http://schemas.openxmlformats.org/officeDocument/2006/math">
              <m:oMathPara>
                <m:oMath>
                  <m:sSubSup>
                    <m:e>
                      <m:r>
                        <m:t>σ</m:t>
                      </m:r>
                    </m:e>
                    <m:sub>
                      <m:r>
                        <m:t>e,i</m:t>
                      </m:r>
                    </m:sub>
                    <m:sup>
                      <m:r>
                        <m:t>2</m:t>
                      </m:r>
                    </m:sup>
                  </m:sSubSup>
                  <m:r>
                    <m:t> = </m:t>
                  </m:r>
                  <m:sSub>
                    <m:e>
                      <m:r>
                        <m:t>α</m:t>
                      </m:r>
                    </m:e>
                    <m:sub>
                      <m:r>
                        <m:t>v</m:t>
                      </m:r>
                    </m:sub>
                  </m:sSub>
                  <m:sSup>
                    <m:e>
                      <m:sSub>
                        <m:e>
                          <m:r>
                            <m:t>e</m:t>
                          </m:r>
                        </m:e>
                        <m:sub>
                          <m:r>
                            <m:t>i</m:t>
                          </m:r>
                        </m:sub>
                      </m:sSub>
                    </m:e>
                    <m:sup>
                      <m:r>
                        <m:t>2</m:t>
                      </m:r>
                    </m:sup>
                  </m:sSup>
                  <m:r>
                    <m:t> + (1−</m:t>
                  </m:r>
                  <m:sSub>
                    <m:e>
                      <m:r>
                        <m:t>α</m:t>
                      </m:r>
                    </m:e>
                    <m:sub>
                      <m:r>
                        <m:t>v</m:t>
                      </m:r>
                    </m:sub>
                  </m:sSub>
                  <m:r>
                    <m:t>)</m:t>
                  </m:r>
                  <m:sSubSup>
                    <m:e>
                      <m:r>
                        <m:t>σ</m:t>
                      </m:r>
                    </m:e>
                    <m:sub>
                      <m:r>
                        <m:t>e,i−1</m:t>
                      </m:r>
                    </m:sub>
                    <m:sup>
                      <m:r>
                        <m:t>2</m:t>
                      </m:r>
                    </m:sup>
                  </m:sSubSup>
                </m:oMath>
              </m:oMathPara>
            </a14:m>
            <a:endParaRPr sz="1800" lang="en-GB">
              <a:solidFill>
                <a:srgbClr val="14233B"/>
              </a:solidFill>
            </a:endParaRPr>
          </a:p>
        </p:txBody>
      </p:sp>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sp>
        <p:nvSpPr>
          <p:cNvPr id="29" name="OMML SOURCE (retained; via Selection Pane) | Two-sample Hotelling T squared"/>
          <p:cNvSpPr txBox="1"/>
          <p:nvPr/>
        </p:nvSpPr>
        <p:spPr>
          <a:xfrm>
            <a:off x="20574000" y="3980497"/>
            <a:ext cx="6623685" cy="680085"/>
          </a:xfrm>
          <a:prstGeom prst="rect">
            <a:avLst/>
          </a:prstGeom>
          <a:solidFill>
            <a:srgbClr val="DDEBF3"/>
          </a:solidFill>
        </p:spPr>
        <p:txBody>
          <a:bodyPr wrap="none" lIns="0" rIns="0" tIns="0" bIns="0">
            <a:spAutoFit/>
          </a:bodyPr>
          <a:lstStyle/>
          <a:p>
            <a:pPr algn="ctr"/>
            <a14:m xmlns:a14="http://schemas.microsoft.com/office/drawing/2010/main" xmlns:m="http://schemas.openxmlformats.org/officeDocument/2006/math">
              <m:oMathPara>
                <m:oMath>
                  <m:sSup>
                    <m:e>
                      <m:r>
                        <m:t>T</m:t>
                      </m:r>
                    </m:e>
                    <m:sup>
                      <m:r>
                        <m:t>2</m:t>
                      </m:r>
                    </m:sup>
                  </m:sSup>
                  <m:r>
                    <m:t> = </m:t>
                  </m:r>
                  <m:f>
                    <m:num>
                      <m:sSub>
                        <m:e>
                          <m:r>
                            <m:t>n</m:t>
                          </m:r>
                        </m:e>
                        <m:sub>
                          <m:r>
                            <m:t>1</m:t>
                          </m:r>
                        </m:sub>
                      </m:sSub>
                      <m:sSub>
                        <m:e>
                          <m:r>
                            <m:t>n</m:t>
                          </m:r>
                        </m:e>
                        <m:sub>
                          <m:r>
                            <m:t>2</m:t>
                          </m:r>
                        </m:sub>
                      </m:sSub>
                    </m:num>
                    <m:den>
                      <m:sSub>
                        <m:e>
                          <m:r>
                            <m:t>n</m:t>
                          </m:r>
                        </m:e>
                        <m:sub>
                          <m:r>
                            <m:t>1</m:t>
                          </m:r>
                        </m:sub>
                      </m:sSub>
                      <m:r>
                        <m:t>+</m:t>
                      </m:r>
                      <m:sSub>
                        <m:e>
                          <m:r>
                            <m:t>n</m:t>
                          </m:r>
                        </m:e>
                        <m:sub>
                          <m:r>
                            <m:t>2</m:t>
                          </m:r>
                        </m:sub>
                      </m:sSub>
                    </m:den>
                  </m:f>
                  <m:r>
                    <m:t>(</m:t>
                  </m:r>
                  <m:acc>
                    <m:accPr>
                      <m:chr m:val="̄"/>
                    </m:accPr>
                    <m:e>
                      <m:sSub>
                        <m:e>
                          <m:r>
                            <m:t>x</m:t>
                          </m:r>
                        </m:e>
                        <m:sub>
                          <m:r>
                            <m:t>1</m:t>
                          </m:r>
                        </m:sub>
                      </m:sSub>
                    </m:e>
                  </m:acc>
                  <m:r>
                    <m:t> − </m:t>
                  </m:r>
                  <m:acc>
                    <m:accPr>
                      <m:chr m:val="̄"/>
                    </m:accPr>
                    <m:e>
                      <m:sSub>
                        <m:e>
                          <m:r>
                            <m:t>x</m:t>
                          </m:r>
                        </m:e>
                        <m:sub>
                          <m:r>
                            <m:t>2</m:t>
                          </m:r>
                        </m:sub>
                      </m:sSub>
                    </m:e>
                  </m:acc>
                  <m:sSup>
                    <m:e>
                      <m:r>
                        <m:t>)</m:t>
                      </m:r>
                    </m:e>
                    <m:sup>
                      <m:r>
                        <m:t>T</m:t>
                      </m:r>
                    </m:sup>
                  </m:sSup>
                  <m:sSup>
                    <m:e>
                      <m:sSub>
                        <m:e>
                          <m:r>
                            <m:t>S</m:t>
                          </m:r>
                        </m:e>
                        <m:sub>
                          <m:r>
                            <m:t>p</m:t>
                          </m:r>
                        </m:sub>
                      </m:sSub>
                    </m:e>
                    <m:sup>
                      <m:r>
                        <m:t>−1</m:t>
                      </m:r>
                    </m:sup>
                  </m:sSup>
                  <m:r>
                    <m:t>(</m:t>
                  </m:r>
                  <m:acc>
                    <m:accPr>
                      <m:chr m:val="̄"/>
                    </m:accPr>
                    <m:e>
                      <m:sSub>
                        <m:e>
                          <m:r>
                            <m:t>x</m:t>
                          </m:r>
                        </m:e>
                        <m:sub>
                          <m:r>
                            <m:t>1</m:t>
                          </m:r>
                        </m:sub>
                      </m:sSub>
                    </m:e>
                  </m:acc>
                  <m:r>
                    <m:t> − </m:t>
                  </m:r>
                  <m:acc>
                    <m:accPr>
                      <m:chr m:val="̄"/>
                    </m:accPr>
                    <m:e>
                      <m:sSub>
                        <m:e>
                          <m:r>
                            <m:t>x</m:t>
                          </m:r>
                        </m:e>
                        <m:sub>
                          <m:r>
                            <m:t>2</m:t>
                          </m:r>
                        </m:sub>
                      </m:sSub>
                    </m:e>
                  </m:acc>
                  <m:r>
                    <m:t>)</m:t>
                  </m:r>
                </m:oMath>
              </m:oMathPara>
            </a14:m>
            <a:endParaRPr sz="2000" lang="en-GB">
              <a:solidFill>
                <a:srgbClr val="14233B"/>
              </a:solidFill>
            </a:endParaRPr>
          </a:p>
        </p:txBody>
      </p:sp>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sp>
        <p:nvSpPr>
          <p:cNvPr id="30" name="OMML SOURCE (retained; via Selection Pane) | Detection threshold and degrees of freedom"/>
          <p:cNvSpPr txBox="1"/>
          <p:nvPr/>
        </p:nvSpPr>
        <p:spPr>
          <a:xfrm>
            <a:off x="20574000" y="5842444"/>
            <a:ext cx="5657850" cy="508635"/>
          </a:xfrm>
          <a:prstGeom prst="rect">
            <a:avLst/>
          </a:prstGeom>
          <a:solidFill>
            <a:srgbClr val="DDEBF3"/>
          </a:solidFill>
        </p:spPr>
        <p:txBody>
          <a:bodyPr wrap="none" lIns="0" rIns="0" tIns="0" bIns="0">
            <a:spAutoFit/>
          </a:bodyPr>
          <a:lstStyle/>
          <a:p>
            <a:pPr algn="ctr"/>
            <a14:m xmlns:a14="http://schemas.microsoft.com/office/drawing/2010/main" xmlns:m="http://schemas.openxmlformats.org/officeDocument/2006/math">
              <m:oMathPara>
                <m:oMath>
                  <m:r>
                    <m:t>p &lt; </m:t>
                  </m:r>
                  <m:sSub>
                    <m:e>
                      <m:r>
                        <m:t>α</m:t>
                      </m:r>
                    </m:e>
                    <m:sub>
                      <m:r>
                        <m:t>test</m:t>
                      </m:r>
                    </m:sub>
                  </m:sSub>
                  <m:r>
                    <m:t>,     2H − d − 1 &gt; 0</m:t>
                  </m:r>
                </m:oMath>
              </m:oMathPara>
            </a14:m>
            <a:endParaRPr sz="1800" lang="en-GB">
              <a:solidFill>
                <a:srgbClr val="14233B"/>
              </a:solidFill>
            </a:endParaRPr>
          </a:p>
        </p:txBody>
      </p:sp>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
        <p:nvSpPr>
          <p:cNvPr id="31" name="COMPACT EDITABLE FORMULA | EWMA statistic and innovation"/>
          <p:cNvSpPr txBox="1"/>
          <p:nvPr/>
        </p:nvSpPr>
        <p:spPr>
          <a:xfrm>
            <a:off x="1024128" y="3749039"/>
            <a:ext cx="7406640" cy="512064"/>
          </a:xfrm>
          <a:prstGeom prst="rect">
            <a:avLst/>
          </a:prstGeom>
          <a:noFill/>
        </p:spPr>
        <p:txBody>
          <a:bodyPr wrap="none" lIns="36576" rIns="36576" tIns="0" bIns="0" anchor="ctr">
            <a:spAutoFit/>
          </a:bodyPr>
          <a:lstStyle/>
          <a:p>
            <a:pPr algn="l"/>
            <a:r>
              <a:rPr sz="2800">
                <a:solidFill>
                  <a:srgbClr val="E2EDF6"/>
                </a:solidFill>
                <a:latin typeface="Cambria Math"/>
              </a:rPr>
              <a:t>zᵢ = λxᵢ + (1 − λ)zᵢ₋₁,     eᵢ = xᵢ − zᵢ₋₁</a:t>
            </a:r>
          </a:p>
        </p:txBody>
      </p:sp>
      <p:sp>
        <p:nvSpPr>
          <p:cNvPr id="32" name="COMPACT EDITABLE FORMULA | EWMA upper and lower control limits"/>
          <p:cNvSpPr txBox="1"/>
          <p:nvPr/>
        </p:nvSpPr>
        <p:spPr>
          <a:xfrm>
            <a:off x="1024128" y="5193792"/>
            <a:ext cx="8641080" cy="512064"/>
          </a:xfrm>
          <a:prstGeom prst="rect">
            <a:avLst/>
          </a:prstGeom>
          <a:noFill/>
        </p:spPr>
        <p:txBody>
          <a:bodyPr wrap="none" lIns="36576" rIns="36576" tIns="0" bIns="0" anchor="ctr">
            <a:spAutoFit/>
          </a:bodyPr>
          <a:lstStyle/>
          <a:p>
            <a:pPr algn="l"/>
            <a:r>
              <a:rPr sz="2500">
                <a:solidFill>
                  <a:srgbClr val="E2EDF6"/>
                </a:solidFill>
                <a:latin typeface="Cambria Math"/>
              </a:rPr>
              <a:t>UCLᵢ = zᵢ₋₁ + Lσₑ,ᵢ₋₁,     LCLᵢ = zᵢ₋₁ − Lσₑ,ᵢ₋₁</a:t>
            </a:r>
          </a:p>
        </p:txBody>
      </p:sp>
      <p:sp>
        <p:nvSpPr>
          <p:cNvPr id="33" name="COMPACT EDITABLE FORMULA | Variance EWMA recurrence"/>
          <p:cNvSpPr txBox="1"/>
          <p:nvPr/>
        </p:nvSpPr>
        <p:spPr>
          <a:xfrm>
            <a:off x="1024128" y="6556248"/>
            <a:ext cx="5513832" cy="640080"/>
          </a:xfrm>
          <a:prstGeom prst="rect">
            <a:avLst/>
          </a:prstGeom>
          <a:noFill/>
        </p:spPr>
        <p:txBody>
          <a:bodyPr wrap="none" lIns="36576" rIns="36576" tIns="0" bIns="0" anchor="ctr">
            <a:spAutoFit/>
          </a:bodyPr>
          <a:lstStyle/>
          <a:p>
            <a:pPr algn="l"/>
            <a:r>
              <a:rPr sz="2800">
                <a:solidFill>
                  <a:srgbClr val="E2EDF6"/>
                </a:solidFill>
                <a:latin typeface="Cambria Math"/>
              </a:rPr>
              <a:t>σ²ₑ,ᵢ = αᵥeᵢ² + (1 − αᵥ)σ²ₑ,ᵢ₋₁</a:t>
            </a:r>
          </a:p>
        </p:txBody>
      </p:sp>
      <p:sp>
        <p:nvSpPr>
          <p:cNvPr id="34" name="COMPACT EDITABLE FORMULA | Two-sample Hotelling T squared"/>
          <p:cNvSpPr txBox="1"/>
          <p:nvPr/>
        </p:nvSpPr>
        <p:spPr>
          <a:xfrm>
            <a:off x="10085832" y="3977639"/>
            <a:ext cx="6620256" cy="676656"/>
          </a:xfrm>
          <a:prstGeom prst="rect">
            <a:avLst/>
          </a:prstGeom>
          <a:noFill/>
        </p:spPr>
        <p:txBody>
          <a:bodyPr wrap="none" lIns="36576" rIns="36576" tIns="0" bIns="0" anchor="ctr">
            <a:spAutoFit/>
          </a:bodyPr>
          <a:lstStyle/>
          <a:p>
            <a:pPr algn="l"/>
            <a:r>
              <a:rPr sz="2300">
                <a:solidFill>
                  <a:srgbClr val="E2EDF6"/>
                </a:solidFill>
                <a:latin typeface="Cambria Math"/>
              </a:rPr>
              <a:t>T² = [n₁n₂/(n₁+n₂)] (x̄₁ − x̄₂)ᵀ Sₚ⁻¹ (x̄₁ − x̄₂)</a:t>
            </a:r>
          </a:p>
        </p:txBody>
      </p:sp>
      <p:sp>
        <p:nvSpPr>
          <p:cNvPr id="35" name="COMPACT EDITABLE FORMULA | Detection threshold and degrees of freedom"/>
          <p:cNvSpPr txBox="1"/>
          <p:nvPr/>
        </p:nvSpPr>
        <p:spPr>
          <a:xfrm>
            <a:off x="10149840" y="5843016"/>
            <a:ext cx="5660136" cy="512064"/>
          </a:xfrm>
          <a:prstGeom prst="rect">
            <a:avLst/>
          </a:prstGeom>
          <a:noFill/>
        </p:spPr>
        <p:txBody>
          <a:bodyPr wrap="none" lIns="36576" rIns="36576" tIns="0" bIns="0" anchor="ctr">
            <a:spAutoFit/>
          </a:bodyPr>
          <a:lstStyle/>
          <a:p>
            <a:pPr algn="l"/>
            <a:r>
              <a:rPr sz="2600">
                <a:solidFill>
                  <a:srgbClr val="E2EDF6"/>
                </a:solidFill>
                <a:latin typeface="Cambria Math"/>
              </a:rPr>
              <a:t>p &lt; α_test,     2H − d − 1 &gt; 0</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p:sp>
        <p:nvSpPr>
          <p:cNvPr id="12" name="OMML SOURCE (retained; via Selection Pane) | One-sample online T squared"/>
          <p:cNvSpPr txBox="1"/>
          <p:nvPr/>
        </p:nvSpPr>
        <p:spPr>
          <a:xfrm>
            <a:off x="20574000" y="3497580"/>
            <a:ext cx="6359652" cy="89154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bSup>
                    <m:e>
                      <m:r>
                        <m:t>T</m:t>
                      </m:r>
                    </m:e>
                    <m:sub>
                      <m:r>
                        <m:t>t</m:t>
                      </m:r>
                    </m:sub>
                    <m:sup>
                      <m:r>
                        <m:t>2</m:t>
                      </m:r>
                    </m:sup>
                  </m:sSubSup>
                  <m:r>
                    <m:t> = (</m:t>
                  </m:r>
                  <m:sSub>
                    <m:e>
                      <m:r>
                        <m:t>z</m:t>
                      </m:r>
                    </m:e>
                    <m:sub>
                      <m:r>
                        <m:t>t</m:t>
                      </m:r>
                    </m:sub>
                  </m:sSub>
                  <m:r>
                    <m:t> − </m:t>
                  </m:r>
                  <m:sSub>
                    <m:e>
                      <m:r>
                        <m:t>μ</m:t>
                      </m:r>
                    </m:e>
                    <m:sub>
                      <m:r>
                        <m:t>0</m:t>
                      </m:r>
                    </m:sub>
                  </m:sSub>
                  <m:sSup>
                    <m:e>
                      <m:r>
                        <m:t>)</m:t>
                      </m:r>
                    </m:e>
                    <m:sup>
                      <m:r>
                        <m:t>T</m:t>
                      </m:r>
                    </m:sup>
                  </m:sSup>
                  <m:sSup>
                    <m:e>
                      <m:sSub>
                        <m:e>
                          <m:r>
                            <m:t>Σ</m:t>
                          </m:r>
                        </m:e>
                        <m:sub>
                          <m:r>
                            <m:t>z,t</m:t>
                          </m:r>
                        </m:sub>
                      </m:sSub>
                    </m:e>
                    <m:sup>
                      <m:r>
                        <m:t>−1</m:t>
                      </m:r>
                    </m:sup>
                  </m:sSup>
                  <m:r>
                    <m:t>(</m:t>
                  </m:r>
                  <m:sSub>
                    <m:e>
                      <m:r>
                        <m:t>z</m:t>
                      </m:r>
                    </m:e>
                    <m:sub>
                      <m:r>
                        <m:t>t</m:t>
                      </m:r>
                    </m:sub>
                  </m:sSub>
                  <m:r>
                    <m:t> − </m:t>
                  </m:r>
                  <m:sSub>
                    <m:e>
                      <m:r>
                        <m:t>μ</m:t>
                      </m:r>
                    </m:e>
                    <m:sub>
                      <m:r>
                        <m:t>0</m:t>
                      </m:r>
                    </m:sub>
                  </m:sSub>
                  <m:r>
                    <m:t>)</m:t>
                  </m:r>
                </m:oMath>
              </m:oMathPara>
            </a14:m>
            <a:endParaRPr sz="2600" lang="en-GB">
              <a:solidFill>
                <a:srgbClr val="14233B"/>
              </a:solidFill>
            </a:endParaRPr>
          </a:p>
        </p:txBody>
      </p:sp>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p:sp>
        <p:nvSpPr>
          <p:cNvPr id="13" name="OMML SOURCE (retained; via Selection Pane) | Pooled two-sample Hotelling"/>
          <p:cNvSpPr txBox="1"/>
          <p:nvPr/>
        </p:nvSpPr>
        <p:spPr>
          <a:xfrm>
            <a:off x="20574000" y="6035040"/>
            <a:ext cx="7874470" cy="96012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sSup>
                    <m:e>
                      <m:r>
                        <m:t>T</m:t>
                      </m:r>
                    </m:e>
                    <m:sup>
                      <m:r>
                        <m:t>2</m:t>
                      </m:r>
                    </m:sup>
                  </m:sSup>
                  <m:r>
                    <m:t> = </m:t>
                  </m:r>
                  <m:f>
                    <m:num>
                      <m:sSub>
                        <m:e>
                          <m:r>
                            <m:t>n</m:t>
                          </m:r>
                        </m:e>
                        <m:sub>
                          <m:r>
                            <m:t>1</m:t>
                          </m:r>
                        </m:sub>
                      </m:sSub>
                      <m:sSub>
                        <m:e>
                          <m:r>
                            <m:t>n</m:t>
                          </m:r>
                        </m:e>
                        <m:sub>
                          <m:r>
                            <m:t>2</m:t>
                          </m:r>
                        </m:sub>
                      </m:sSub>
                    </m:num>
                    <m:den>
                      <m:sSub>
                        <m:e>
                          <m:r>
                            <m:t>n</m:t>
                          </m:r>
                        </m:e>
                        <m:sub>
                          <m:r>
                            <m:t>1</m:t>
                          </m:r>
                        </m:sub>
                      </m:sSub>
                      <m:r>
                        <m:t> + </m:t>
                      </m:r>
                      <m:sSub>
                        <m:e>
                          <m:r>
                            <m:t>n</m:t>
                          </m:r>
                        </m:e>
                        <m:sub>
                          <m:r>
                            <m:t>2</m:t>
                          </m:r>
                        </m:sub>
                      </m:sSub>
                    </m:den>
                  </m:f>
                  <m:r>
                    <m:t>(</m:t>
                  </m:r>
                  <m:acc>
                    <m:accPr>
                      <m:chr m:val="̄"/>
                    </m:accPr>
                    <m:e>
                      <m:sSub>
                        <m:e>
                          <m:r>
                            <m:t>x</m:t>
                          </m:r>
                        </m:e>
                        <m:sub>
                          <m:r>
                            <m:t>1</m:t>
                          </m:r>
                        </m:sub>
                      </m:sSub>
                    </m:e>
                  </m:acc>
                  <m:r>
                    <m:t> − </m:t>
                  </m:r>
                  <m:acc>
                    <m:accPr>
                      <m:chr m:val="̄"/>
                    </m:accPr>
                    <m:e>
                      <m:sSub>
                        <m:e>
                          <m:r>
                            <m:t>x</m:t>
                          </m:r>
                        </m:e>
                        <m:sub>
                          <m:r>
                            <m:t>2</m:t>
                          </m:r>
                        </m:sub>
                      </m:sSub>
                    </m:e>
                  </m:acc>
                  <m:sSup>
                    <m:e>
                      <m:r>
                        <m:t>)</m:t>
                      </m:r>
                    </m:e>
                    <m:sup>
                      <m:r>
                        <m:t>T</m:t>
                      </m:r>
                    </m:sup>
                  </m:sSup>
                  <m:sSup>
                    <m:e>
                      <m:sSub>
                        <m:e>
                          <m:r>
                            <m:t>S</m:t>
                          </m:r>
                        </m:e>
                        <m:sub>
                          <m:r>
                            <m:t>p</m:t>
                          </m:r>
                        </m:sub>
                      </m:sSub>
                    </m:e>
                    <m:sup>
                      <m:r>
                        <m:t>−1</m:t>
                      </m:r>
                    </m:sup>
                  </m:sSup>
                  <m:r>
                    <m:t>(</m:t>
                  </m:r>
                  <m:acc>
                    <m:accPr>
                      <m:chr m:val="̄"/>
                    </m:accPr>
                    <m:e>
                      <m:sSub>
                        <m:e>
                          <m:r>
                            <m:t>x</m:t>
                          </m:r>
                        </m:e>
                        <m:sub>
                          <m:r>
                            <m:t>1</m:t>
                          </m:r>
                        </m:sub>
                      </m:sSub>
                    </m:e>
                  </m:acc>
                  <m:r>
                    <m:t> − </m:t>
                  </m:r>
                  <m:acc>
                    <m:accPr>
                      <m:chr m:val="̄"/>
                    </m:accPr>
                    <m:e>
                      <m:sSub>
                        <m:e>
                          <m:r>
                            <m:t>x</m:t>
                          </m:r>
                        </m:e>
                        <m:sub>
                          <m:r>
                            <m:t>2</m:t>
                          </m:r>
                        </m:sub>
                      </m:sSub>
                    </m:e>
                  </m:acc>
                  <m:r>
                    <m:t>)</m:t>
                  </m:r>
                </m:oMath>
              </m:oMathPara>
            </a14:m>
            <a:endParaRPr sz="2800" lang="en-GB">
              <a:solidFill>
                <a:srgbClr val="14233B"/>
              </a:solidFill>
            </a:endParaRPr>
          </a:p>
        </p:txBody>
      </p:sp>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
        <p:nvSpPr>
          <p:cNvPr id="14" name="COMPACT EDITABLE FORMULA | One-sample online T squared"/>
          <p:cNvSpPr txBox="1"/>
          <p:nvPr/>
        </p:nvSpPr>
        <p:spPr>
          <a:xfrm>
            <a:off x="1234440" y="3502152"/>
            <a:ext cx="6364224" cy="886968"/>
          </a:xfrm>
          <a:prstGeom prst="rect">
            <a:avLst/>
          </a:prstGeom>
          <a:noFill/>
        </p:spPr>
        <p:txBody>
          <a:bodyPr wrap="none" lIns="36576" rIns="36576" tIns="0" bIns="0" anchor="ctr">
            <a:spAutoFit/>
          </a:bodyPr>
          <a:lstStyle/>
          <a:p>
            <a:pPr algn="ctr"/>
            <a:r>
              <a:rPr sz="2900">
                <a:solidFill>
                  <a:srgbClr val="13243C"/>
                </a:solidFill>
                <a:latin typeface="Cambria Math"/>
              </a:rPr>
              <a:t>Tₜ² = (zₜ − μ₀)ᵀ Σ⁻¹_z,t (zₜ − μ₀)</a:t>
            </a:r>
          </a:p>
        </p:txBody>
      </p:sp>
      <p:sp>
        <p:nvSpPr>
          <p:cNvPr id="15" name="COMPACT EDITABLE FORMULA | Pooled two-sample Hotelling"/>
          <p:cNvSpPr txBox="1"/>
          <p:nvPr/>
        </p:nvSpPr>
        <p:spPr>
          <a:xfrm>
            <a:off x="1234440" y="6035040"/>
            <a:ext cx="7872983" cy="960120"/>
          </a:xfrm>
          <a:prstGeom prst="rect">
            <a:avLst/>
          </a:prstGeom>
          <a:noFill/>
        </p:spPr>
        <p:txBody>
          <a:bodyPr wrap="none" lIns="36576" rIns="36576" tIns="0" bIns="0" anchor="ctr">
            <a:spAutoFit/>
          </a:bodyPr>
          <a:lstStyle/>
          <a:p>
            <a:pPr algn="ctr"/>
            <a:r>
              <a:rPr sz="2500">
                <a:solidFill>
                  <a:srgbClr val="13243C"/>
                </a:solidFill>
                <a:latin typeface="Cambria Math"/>
              </a:rPr>
              <a:t>T² = [n₁n₂/(n₁+n₂)] (x̄₁ − x̄₂)ᵀ Sₚ⁻¹ (x̄₁ − x̄₂)</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p:sp>
        <p:nvSpPr>
          <p:cNvPr id="10" name="OMML SOURCE (retained; via Selection Pane) | Unpooled covariance weighted mean difference"/>
          <p:cNvSpPr txBox="1"/>
          <p:nvPr/>
        </p:nvSpPr>
        <p:spPr>
          <a:xfrm>
            <a:off x="20574000" y="3429000"/>
            <a:ext cx="8260080" cy="1028700"/>
          </a:xfrm>
          <a:prstGeom prst="rect">
            <a:avLst/>
          </a:prstGeom>
          <a:noFill/>
        </p:spPr>
        <p:txBody>
          <a:bodyPr wrap="none" lIns="0" rIns="0" tIns="0" bIns="0">
            <a:spAutoFit/>
          </a:bodyPr>
          <a:lstStyle/>
          <a:p>
            <a:pPr algn="ctr"/>
            <a14:m xmlns:a14="http://schemas.microsoft.com/office/drawing/2010/main" xmlns:m="http://schemas.openxmlformats.org/officeDocument/2006/math">
              <m:oMathPara>
                <m:oMath>
                  <m:r>
                    <m:t>Q = (</m:t>
                  </m:r>
                  <m:acc>
                    <m:accPr>
                      <m:chr m:val="̄"/>
                    </m:accPr>
                    <m:e>
                      <m:sSub>
                        <m:e>
                          <m:r>
                            <m:t>x</m:t>
                          </m:r>
                        </m:e>
                        <m:sub>
                          <m:r>
                            <m:t>1</m:t>
                          </m:r>
                        </m:sub>
                      </m:sSub>
                    </m:e>
                  </m:acc>
                  <m:r>
                    <m:t> − </m:t>
                  </m:r>
                  <m:acc>
                    <m:accPr>
                      <m:chr m:val="̄"/>
                    </m:accPr>
                    <m:e>
                      <m:sSub>
                        <m:e>
                          <m:r>
                            <m:t>x</m:t>
                          </m:r>
                        </m:e>
                        <m:sub>
                          <m:r>
                            <m:t>2</m:t>
                          </m:r>
                        </m:sub>
                      </m:sSub>
                    </m:e>
                  </m:acc>
                  <m:sSup>
                    <m:e>
                      <m:r>
                        <m:t>)</m:t>
                      </m:r>
                    </m:e>
                    <m:sup>
                      <m:r>
                        <m:t>T</m:t>
                      </m:r>
                    </m:sup>
                  </m:sSup>
                  <m:sSup>
                    <m:e>
                      <m:r>
                        <m:t>(</m:t>
                      </m:r>
                      <m:f>
                        <m:num>
                          <m:sSub>
                            <m:e>
                              <m:r>
                                <m:t>S</m:t>
                              </m:r>
                            </m:e>
                            <m:sub>
                              <m:r>
                                <m:t>1</m:t>
                              </m:r>
                            </m:sub>
                          </m:sSub>
                        </m:num>
                        <m:den>
                          <m:sSub>
                            <m:e>
                              <m:r>
                                <m:t>n</m:t>
                              </m:r>
                            </m:e>
                            <m:sub>
                              <m:r>
                                <m:t>1</m:t>
                              </m:r>
                            </m:sub>
                          </m:sSub>
                        </m:den>
                      </m:f>
                      <m:r>
                        <m:t> + </m:t>
                      </m:r>
                      <m:f>
                        <m:num>
                          <m:sSub>
                            <m:e>
                              <m:r>
                                <m:t>S</m:t>
                              </m:r>
                            </m:e>
                            <m:sub>
                              <m:r>
                                <m:t>2</m:t>
                              </m:r>
                            </m:sub>
                          </m:sSub>
                        </m:num>
                        <m:den>
                          <m:sSub>
                            <m:e>
                              <m:r>
                                <m:t>n</m:t>
                              </m:r>
                            </m:e>
                            <m:sub>
                              <m:r>
                                <m:t>2</m:t>
                              </m:r>
                            </m:sub>
                          </m:sSub>
                        </m:den>
                      </m:f>
                      <m:r>
                        <m:t>)</m:t>
                      </m:r>
                    </m:e>
                    <m:sup>
                      <m:r>
                        <m:t>−1</m:t>
                      </m:r>
                    </m:sup>
                  </m:sSup>
                  <m:r>
                    <m:t>(</m:t>
                  </m:r>
                  <m:acc>
                    <m:accPr>
                      <m:chr m:val="̄"/>
                    </m:accPr>
                    <m:e>
                      <m:sSub>
                        <m:e>
                          <m:r>
                            <m:t>x</m:t>
                          </m:r>
                        </m:e>
                        <m:sub>
                          <m:r>
                            <m:t>1</m:t>
                          </m:r>
                        </m:sub>
                      </m:sSub>
                    </m:e>
                  </m:acc>
                  <m:r>
                    <m:t> − </m:t>
                  </m:r>
                  <m:acc>
                    <m:accPr>
                      <m:chr m:val="̄"/>
                    </m:accPr>
                    <m:e>
                      <m:sSub>
                        <m:e>
                          <m:r>
                            <m:t>x</m:t>
                          </m:r>
                        </m:e>
                        <m:sub>
                          <m:r>
                            <m:t>2</m:t>
                          </m:r>
                        </m:sub>
                      </m:sSub>
                    </m:e>
                  </m:acc>
                  <m:r>
                    <m:t>)</m:t>
                  </m:r>
                </m:oMath>
              </m:oMathPara>
            </a14:m>
            <a:endParaRPr sz="3000" lang="en-GB">
              <a:solidFill>
                <a:srgbClr val="14233B"/>
              </a:solidFill>
            </a:endParaRPr>
          </a:p>
        </p:txBody>
      </p:sp>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
        <p:nvSpPr>
          <p:cNvPr id="11" name="COMPACT EDITABLE FORMULA | Unpooled covariance weighted mean difference"/>
          <p:cNvSpPr txBox="1"/>
          <p:nvPr/>
        </p:nvSpPr>
        <p:spPr>
          <a:xfrm>
            <a:off x="1234440" y="3429000"/>
            <a:ext cx="8257031" cy="1024128"/>
          </a:xfrm>
          <a:prstGeom prst="rect">
            <a:avLst/>
          </a:prstGeom>
          <a:noFill/>
        </p:spPr>
        <p:txBody>
          <a:bodyPr wrap="none" lIns="36576" rIns="36576" tIns="0" bIns="0" anchor="ctr">
            <a:spAutoFit/>
          </a:bodyPr>
          <a:lstStyle/>
          <a:p>
            <a:pPr algn="ctr"/>
            <a:r>
              <a:rPr sz="2600">
                <a:solidFill>
                  <a:srgbClr val="13243C"/>
                </a:solidFill>
                <a:latin typeface="Cambria Math"/>
              </a:rPr>
              <a:t>Q = (x̄₁ − x̄₂)ᵀ (S₁/n₁ + S₂/n₂)⁻¹ (x̄₁ − x̄₂)</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p:sp>
        <p:nvSpPr>
          <p:cNvPr id="22" name="OMML SOURCE (retained; via Selection Pane) | CUSUM auxiliary quantity"/>
          <p:cNvSpPr txBox="1"/>
          <p:nvPr/>
        </p:nvSpPr>
        <p:spPr>
          <a:xfrm>
            <a:off x="20574000" y="8738902"/>
            <a:ext cx="914962" cy="250288"/>
          </a:xfrm>
          <a:prstGeom prst="rect">
            <a:avLst/>
          </a:prstGeom>
          <a:solidFill>
            <a:srgbClr val="D5F6F1"/>
          </a:solidFill>
        </p:spPr>
        <p:txBody>
          <a:bodyPr wrap="none" lIns="0" rIns="0" tIns="0" bIns="0">
            <a:spAutoFit/>
          </a:bodyPr>
          <a:lstStyle/>
          <a:p>
            <a:pPr algn="ctr"/>
            <a14:m xmlns:a14="http://schemas.microsoft.com/office/drawing/2010/main" xmlns:m="http://schemas.openxmlformats.org/officeDocument/2006/math">
              <m:oMathPara>
                <m:oMath>
                  <m:sSub>
                    <m:e>
                      <m:r>
                        <m:t>Q</m:t>
                      </m:r>
                    </m:e>
                    <m:sub>
                      <m:r>
                        <m:t>t</m:t>
                      </m:r>
                    </m:sub>
                  </m:sSub>
                  <m:r>
                    <m:t> = d</m:t>
                  </m:r>
                  <m:sSub>
                    <m:e>
                      <m:r>
                        <m:t>L</m:t>
                      </m:r>
                    </m:e>
                    <m:sub>
                      <m:r>
                        <m:t>t</m:t>
                      </m:r>
                    </m:sub>
                  </m:sSub>
                </m:oMath>
              </m:oMathPara>
            </a14:m>
            <a:endParaRPr sz="1800" lang="en-GB">
              <a:solidFill>
                <a:srgbClr val="075F57"/>
              </a:solidFill>
            </a:endParaRPr>
          </a:p>
        </p:txBody>
      </p:sp>
      <p:sp>
        <p:nvSpPr>
          <p:cNvPr id="23" name="COMPACT EDITABLE FORMULA | CUSUM auxiliary quantity"/>
          <p:cNvSpPr txBox="1"/>
          <p:nvPr/>
        </p:nvSpPr>
        <p:spPr>
          <a:xfrm>
            <a:off x="14630400" y="8659368"/>
            <a:ext cx="1828800" cy="438912"/>
          </a:xfrm>
          <a:prstGeom prst="rect">
            <a:avLst/>
          </a:prstGeom>
          <a:noFill/>
        </p:spPr>
        <p:txBody>
          <a:bodyPr wrap="none" lIns="36576" rIns="36576" tIns="0" bIns="0" anchor="ctr">
            <a:spAutoFit/>
          </a:bodyPr>
          <a:lstStyle/>
          <a:p>
            <a:pPr algn="l"/>
            <a:r>
              <a:rPr sz="2200">
                <a:solidFill>
                  <a:srgbClr val="0A797A"/>
                </a:solidFill>
                <a:latin typeface="Cambria Math"/>
              </a:rPr>
              <a:t>Qₜ = dLₜ</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54</TotalTime>
  <Words>8820</Words>
  <Application>Microsoft Office PowerPoint</Application>
  <PresentationFormat>Custom</PresentationFormat>
  <Paragraphs>1043</Paragraphs>
  <Slides>44</Slides>
  <Notes>34</Notes>
  <HiddenSlides>0</HiddenSlides>
  <MMClips>0</MMClips>
  <ScaleCrop>false</ScaleCrop>
  <HeadingPairs>
    <vt:vector size="6" baseType="variant">
      <vt:variant>
        <vt:lpstr>Fonts Used</vt:lpstr>
      </vt:variant>
      <vt:variant>
        <vt:i4>17</vt:i4>
      </vt:variant>
      <vt:variant>
        <vt:lpstr>Theme</vt:lpstr>
      </vt:variant>
      <vt:variant>
        <vt:i4>1</vt:i4>
      </vt:variant>
      <vt:variant>
        <vt:lpstr>Slide Titles</vt:lpstr>
      </vt:variant>
      <vt:variant>
        <vt:i4>44</vt:i4>
      </vt:variant>
    </vt:vector>
  </HeadingPairs>
  <TitlesOfParts>
    <vt:vector size="62" baseType="lpstr">
      <vt:lpstr>Calibri (MS) Bold</vt:lpstr>
      <vt:lpstr>Calibri (MS)</vt:lpstr>
      <vt:lpstr>Roboto Bold</vt:lpstr>
      <vt:lpstr>Calibri (MS) Italics</vt:lpstr>
      <vt:lpstr>Calibri</vt:lpstr>
      <vt:lpstr>Inter Bold</vt:lpstr>
      <vt:lpstr>Inter Italics</vt:lpstr>
      <vt:lpstr>Consolas</vt:lpstr>
      <vt:lpstr>Arial</vt:lpstr>
      <vt:lpstr>Inter Semi-Bold</vt:lpstr>
      <vt:lpstr>DejaVu Sans Bold</vt:lpstr>
      <vt:lpstr>Aptos</vt:lpstr>
      <vt:lpstr>Inter Medium</vt:lpstr>
      <vt:lpstr>DejaVu Sans Light</vt:lpstr>
      <vt:lpstr>Aptos Bold</vt:lpstr>
      <vt:lpstr>Inter</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20</cp:revision>
  <dcterms:created xsi:type="dcterms:W3CDTF">2006-08-16T00:00:00Z</dcterms:created>
  <dcterms:modified xsi:type="dcterms:W3CDTF">2026-10-15T10:38:23Z</dcterms:modified>
  <dc:identifier>DAHYBaR-K0c</dc:identifier>
</cp:coreProperties>
</file>