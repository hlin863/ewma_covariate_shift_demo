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24"/>
  </p:notesMasterIdLst>
  <p:sldIdLst>
    <p:sldId id="256" r:id="rId3"/>
    <p:sldId id="257" r:id="rId4"/>
    <p:sldId id="258" r:id="rId5"/>
    <p:sldId id="1000" r:id="rId6"/>
    <p:sldId id="1001" r:id="rId7"/>
    <p:sldId id="1002" r:id="rId8"/>
    <p:sldId id="1003" r:id="rId9"/>
    <p:sldId id="1004" r:id="rId10"/>
    <p:sldId id="1005" r:id="rId11"/>
    <p:sldId id="259" r:id="rId12"/>
    <p:sldId id="266" r:id="rId13"/>
    <p:sldId id="260" r:id="rId14"/>
    <p:sldId id="261" r:id="rId15"/>
    <p:sldId id="267" r:id="rId16"/>
    <p:sldId id="262" r:id="rId17"/>
    <p:sldId id="265" r:id="rId18"/>
    <p:sldId id="2000" r:id="rId19"/>
    <p:sldId id="2001" r:id="rId20"/>
    <p:sldId id="2002" r:id="rId21"/>
    <p:sldId id="263" r:id="rId22"/>
    <p:sldId id="264" r:id="rId23"/>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835" autoAdjust="0"/>
  </p:normalViewPr>
  <p:slideViewPr>
    <p:cSldViewPr snapToGrid="0">
      <p:cViewPr varScale="1">
        <p:scale>
          <a:sx n="60" d="100"/>
          <a:sy n="60" d="100"/>
        </p:scale>
        <p:origin x="1530"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modSld">
      <pc:chgData name="Haocheng Lin" userId="3c9af17cd41df8cf" providerId="LiveId" clId="{E85DCD58-ED75-4D29-A2F4-F018EE94DF03}" dt="2026-10-04T12:43:25.747" v="0" actId="21"/>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Implemented achievements</a:t>
            </a:r>
          </a:p>
          <a:p>
            <a:endParaRPr/>
          </a:p>
          <a:p>
            <a:r>
              <a:t>Suggested explanation (30–60 seconds):</a:t>
            </a:r>
          </a:p>
          <a:p>
            <a:r>
              <a:t>The main engineering milestone is the separation of representation, detection, validation and adaptation. Supervised updates use revealed labels; the transductive path uses confidence-gated pseudo-labels. Neither is yet the full dynamic CSE-UAEL ensemble.</a:t>
            </a:r>
          </a:p>
          <a:p>
            <a:endParaRPr/>
          </a:p>
          <a:p>
            <a:r>
              <a:t>Likely question and answer:</a:t>
            </a:r>
          </a:p>
          <a:p>
            <a:r>
              <a:t>Does implemented mean validated? No. Code and tests support behaviour; experiments must establish scientific benefit.</a:t>
            </a:r>
          </a:p>
          <a:p>
            <a:endParaRPr/>
          </a:p>
          <a:p>
            <a:r>
              <a:t>Evidence and cautions:</a:t>
            </a:r>
          </a:p>
          <a:p>
            <a:r>
              <a:t>Repository README and src/adaptation/transductive.py; inspected at f3ef2e8.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Research lineage</a:t>
            </a:r>
          </a:p>
          <a:p>
            <a:endParaRPr/>
          </a:p>
          <a:p>
            <a:r>
              <a:t>Suggested explanation (30–60 seconds):</a:t>
            </a:r>
          </a:p>
          <a:p>
            <a:r>
              <a:t>Raza motivates detector reconstruction. Chowdhury demonstrates online supervised BCI adaptation. The later CSE-UAEL work motivates transductive updates and ensembles. Rao and Heyden motivate the subspace question. Diethe provides a maintenance architecture.</a:t>
            </a:r>
          </a:p>
          <a:p>
            <a:endParaRPr/>
          </a:p>
          <a:p>
            <a:r>
              <a:t>Likely question and answer:</a:t>
            </a:r>
          </a:p>
          <a:p>
            <a:r>
              <a:t>Why Diethe 2019 when Notion says 2018? The supplied PDF identifies a 2018 workshop and arXiv v2 dated March 2019. State the version being cited consistently.</a:t>
            </a:r>
          </a:p>
          <a:p>
            <a:endParaRPr/>
          </a:p>
          <a:p>
            <a:r>
              <a:t>Evidence and cautions:</a:t>
            </a:r>
          </a:p>
          <a:p>
            <a:r>
              <a:t>Transition: first explain what the clinical BCI paper established.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Chowdhury protocol</a:t>
            </a:r>
          </a:p>
          <a:p>
            <a:endParaRPr/>
          </a:p>
          <a:p>
            <a:r>
              <a:t>Suggested explanation (30–60 seconds):</a:t>
            </a:r>
          </a:p>
          <a:p>
            <a:r>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a:p>
          <a:p>
            <a:r>
              <a:t>Likely question and answer:</a:t>
            </a:r>
          </a:p>
          <a:p>
            <a:r>
              <a:t>Did your repository reproduce the clinical system? No. It uses BCI Competition data and a different feature pipeline; the paper provides methodological context.</a:t>
            </a:r>
          </a:p>
          <a:p>
            <a:endParaRPr/>
          </a:p>
          <a:p>
            <a:r>
              <a:t>Evidence and cautions:</a:t>
            </a:r>
          </a:p>
          <a:p>
            <a:r>
              <a:t>Chowdhury II.B p1072; II.D–E p1073; II.E.3 pp1074–1075.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Published accuracy</a:t>
            </a:r>
          </a:p>
          <a:p>
            <a:endParaRPr/>
          </a:p>
          <a:p>
            <a:r>
              <a:t>Suggested explanation (30–60 seconds):</a:t>
            </a:r>
          </a:p>
          <a:p>
            <a:r>
              <a:t>The reported healthy-group gain is 6.25 percentage points and stroke-group gain is 5.50 points. Both paired comparisons were significant. These are paper results, not my repository results.</a:t>
            </a:r>
          </a:p>
          <a:p>
            <a:endParaRPr/>
          </a:p>
          <a:p>
            <a:r>
              <a:t>Likely question and answer:</a:t>
            </a:r>
          </a:p>
          <a:p>
            <a:r>
              <a:t>Does this prove recovery? No. It demonstrates better decoding and online feasibility, without longitudinal motor-recovery outcomes.</a:t>
            </a:r>
          </a:p>
          <a:p>
            <a:endParaRPr/>
          </a:p>
          <a:p>
            <a:r>
              <a:t>Evidence and cautions:</a:t>
            </a:r>
          </a:p>
          <a:p>
            <a:r>
              <a:t>Chowdhury III p1076 Tables II–IV. Mean ± SD; paired Wilcoxon significance.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Validation evidence</a:t>
            </a:r>
          </a:p>
          <a:p>
            <a:endParaRPr/>
          </a:p>
          <a:p>
            <a:r>
              <a:t>Suggested explanation (30–60 seconds):</a:t>
            </a:r>
          </a:p>
          <a:p>
            <a:r>
              <a:t>CSW and CSV here are percentages of trials. Validation reduces the fraction triggering retraining. The correlation with accuracy gain is an association, not an isolated causal effect of the detector.</a:t>
            </a:r>
          </a:p>
          <a:p>
            <a:endParaRPr/>
          </a:p>
          <a:p>
            <a:r>
              <a:t>Likely question and answer:</a:t>
            </a:r>
          </a:p>
          <a:p>
            <a:r>
              <a:t>Were rejected warnings false alarms? We cannot determine that without independent shift truth. Rejection is a statistical outcome, not a ground-truth label.</a:t>
            </a:r>
          </a:p>
          <a:p>
            <a:endParaRPr/>
          </a:p>
          <a:p>
            <a:r>
              <a:t>Evidence and cautions:</a:t>
            </a:r>
          </a:p>
          <a:p>
            <a:r>
              <a:t>Chowdhury II.E.4 Eqs10–11 p1075; III p1077 Tables VI–VIII and Fig7.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Author-stated limitations</a:t>
            </a:r>
          </a:p>
          <a:p>
            <a:endParaRPr/>
          </a:p>
          <a:p>
            <a:r>
              <a:t>Suggested explanation (30–60 seconds):</a:t>
            </a:r>
          </a:p>
          <a:p>
            <a:r>
              <a:t>Fixed bands, binary tasks and known cue labels constrain transfer to other settings. The authors also discuss continuous and asynchronous operation as extensions.</a:t>
            </a:r>
          </a:p>
          <a:p>
            <a:endParaRPr/>
          </a:p>
          <a:p>
            <a:r>
              <a:t>Likely question and answer:</a:t>
            </a:r>
          </a:p>
          <a:p>
            <a:r>
              <a:t>Why are cue labels imperfect? The intended task is known, but actual participant compliance is assumed.</a:t>
            </a:r>
          </a:p>
          <a:p>
            <a:endParaRPr/>
          </a:p>
          <a:p>
            <a:r>
              <a:t>Evidence and cautions:</a:t>
            </a:r>
          </a:p>
          <a:p>
            <a:r>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Design-derived limitations</a:t>
            </a:r>
          </a:p>
          <a:p>
            <a:endParaRPr/>
          </a:p>
          <a:p>
            <a:r>
              <a:t>Suggested explanation (30–60 seconds):</a:t>
            </a:r>
          </a:p>
          <a:p>
            <a:r>
              <a:t>My critical interpretation concerns small cohorts, a short feedback run and the offline baseline. The study supports short-term feasibility; it leaves generalisation and therapeutic efficacy unresolved.</a:t>
            </a:r>
          </a:p>
          <a:p>
            <a:endParaRPr/>
          </a:p>
          <a:p>
            <a:r>
              <a:t>Likely question and answer:</a:t>
            </a:r>
          </a:p>
          <a:p>
            <a:r>
              <a:t>Are these author admissions? These are inferences from the protocol and outcome measures, not all direct limitations stated by the authors.</a:t>
            </a:r>
          </a:p>
          <a:p>
            <a:endParaRPr/>
          </a:p>
          <a:p>
            <a:r>
              <a:t>Evidence and cautions:</a:t>
            </a:r>
          </a:p>
          <a:p>
            <a:r>
              <a:t>Chowdhury II.B p1072; II.D–E p1073; III pp1075–1077. Notion limitations page reviewed.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Paper-to-project bridge</a:t>
            </a:r>
          </a:p>
          <a:p>
            <a:endParaRPr/>
          </a:p>
          <a:p>
            <a:r>
              <a:t>Suggested explanation (30–60 seconds):</a:t>
            </a:r>
          </a:p>
          <a:p>
            <a:r>
              <a:t>The shared mechanism is warning, validation and selective adaptation. The paper uses two bands and four CSP features; the repository uses ten-band FBCSP for its Competition protocols. I preserve those distinctions when interpreting reproduction.</a:t>
            </a:r>
          </a:p>
          <a:p>
            <a:endParaRPr/>
          </a:p>
          <a:p>
            <a:r>
              <a:t>Likely question and answer:</a:t>
            </a:r>
          </a:p>
          <a:p>
            <a:r>
              <a:t>Why not copy every paper detail? Some temporal sample and update-batch choices are underspecified; alternatives should be named and tested.</a:t>
            </a:r>
          </a:p>
          <a:p>
            <a:endParaRPr/>
          </a:p>
          <a:p>
            <a:r>
              <a:t>Evidence and cautions:</a:t>
            </a:r>
          </a:p>
          <a:p>
            <a:r>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Implementation responsibilities</a:t>
            </a:r>
          </a:p>
          <a:p>
            <a:endParaRPr/>
          </a:p>
          <a:p>
            <a:r>
              <a:t>Suggested explanation (30–60 seconds):</a:t>
            </a:r>
          </a:p>
          <a:p>
            <a:r>
              <a:t>The update policy consumes evidence. A warning, a confirmation and performance deterioration are different signals. Labels can be supervised or pseudo-labelled. The current Diethe experiment uses fixed CSE, not the complementary score/residual extension.</a:t>
            </a:r>
          </a:p>
          <a:p>
            <a:endParaRPr/>
          </a:p>
          <a:p>
            <a:r>
              <a:t>Likely question and answer:</a:t>
            </a:r>
          </a:p>
          <a:p>
            <a:r>
              <a:t>Is the whole model continuously learning? The current loop appends data and retrains; representation and detector stay fixed in Diethe.</a:t>
            </a:r>
          </a:p>
          <a:p>
            <a:endParaRPr/>
          </a:p>
          <a:p>
            <a:r>
              <a:t>Evidence and cautions:</a:t>
            </a:r>
          </a:p>
          <a:p>
            <a:r>
              <a:t>src/adaptation/experiments/diethe.py and docs/diethe_experiments.md.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Equation explanation</a:t>
            </a:r>
          </a:p>
          <a:p>
            <a:endParaRPr/>
          </a:p>
          <a:p>
            <a:r>
              <a:t>Suggested explanation (30–60 seconds):</a:t>
            </a:r>
          </a:p>
          <a:p>
            <a:r>
              <a:t>Explain x as a PC1 score, z as its EWMA and e as the score prediction error. This is not a classification error. Then explain Stage II as comparison of multivariate means under the selected test.</a:t>
            </a:r>
          </a:p>
          <a:p>
            <a:endParaRPr/>
          </a:p>
          <a:p>
            <a:r>
              <a:t>Likely question and answer:</a:t>
            </a:r>
          </a:p>
          <a:p>
            <a:r>
              <a:t>Is this exactly Chowdhury Eq9? No. Chowdhury prints separate covariance-over-sample-size terms. The slide shows the pooled repository mode; H is the sample-window size and d its dimension. The degrees-of-freedom condition alone does not guarantee invertible covariance.</a:t>
            </a:r>
          </a:p>
          <a:p>
            <a:endParaRPr/>
          </a:p>
          <a:p>
            <a:r>
              <a:t>Evidence and cautions:</a:t>
            </a:r>
          </a:p>
          <a:p>
            <a:r>
              <a:t>Chowdhury II.E.3 Eqs3–9 pp1074–1075. Repository paper_two_sample mode. Do not call Hotelling nonparametric or claim it detects every distribution change.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Protocol separation</a:t>
            </a:r>
          </a:p>
          <a:p>
            <a:endParaRPr/>
          </a:p>
          <a:p>
            <a:r>
              <a:t>Suggested explanation (30–60 seconds):</a:t>
            </a:r>
          </a:p>
          <a:p>
            <a:r>
              <a:t>Fit preprocessing only on development training data and reuse it for held-out evaluation. CSE reproduction and classifier benchmarking have distinct split contracts.</a:t>
            </a:r>
          </a:p>
          <a:p>
            <a:endParaRPr/>
          </a:p>
          <a:p>
            <a:r>
              <a:t>Likely question and answer:</a:t>
            </a:r>
          </a:p>
          <a:p>
            <a:r>
              <a:t>Why does 2B use different sessions in different slides? Different experiments answer different questions. Use the protocol table on slide16 to keep them explicit.</a:t>
            </a:r>
          </a:p>
          <a:p>
            <a:endParaRPr/>
          </a:p>
          <a:p>
            <a:r>
              <a:t>Evidence and cautions:</a:t>
            </a:r>
          </a:p>
          <a:p>
            <a:r>
              <a:t>Repository dataset runners and stored bagging evaluation_scope fields.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Stored benchmark evidence</a:t>
            </a:r>
          </a:p>
          <a:p>
            <a:endParaRPr/>
          </a:p>
          <a:p>
            <a:r>
              <a:t>Suggested explanation (30–60 seconds):</a:t>
            </a:r>
          </a:p>
          <a:p>
            <a:r>
              <a:t>Bagging changes accuracy only slightly and inconsistently across datasets. In synthetic monitoring, residuals detect orthogonal shifts missed by PC1, but combination has sensitivity and alarm-burden trade-offs.</a:t>
            </a:r>
          </a:p>
          <a:p>
            <a:endParaRPr/>
          </a:p>
          <a:p>
            <a:r>
              <a:t>Likely question and answer:</a:t>
            </a:r>
          </a:p>
          <a:p>
            <a:r>
              <a:t>Does 100% PC2 detection establish superiority? Only for the specified synthetic conditions. The no-change window alarm rate and PC1 trade-off must also be reported.</a:t>
            </a:r>
          </a:p>
          <a:p>
            <a:endParaRPr/>
          </a:p>
          <a:p>
            <a:r>
              <a:t>Evidence and cautions:</a:t>
            </a:r>
          </a:p>
          <a:p>
            <a:r>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B01 discrepancy</a:t>
            </a:r>
          </a:p>
          <a:p>
            <a:endParaRPr/>
          </a:p>
          <a:p>
            <a:r>
              <a:t>Suggested explanation (30–60 seconds):</a:t>
            </a:r>
          </a:p>
          <a:p>
            <a:r>
              <a:t>Two committed files agree on 17 warnings but disagree on validated totals, five versus zero. This is why result provenance matters. I cannot infer that one run supersedes the other from these tables alone.</a:t>
            </a:r>
          </a:p>
          <a:p>
            <a:endParaRPr/>
          </a:p>
          <a:p>
            <a:r>
              <a:t>Likely question and answer:</a:t>
            </a:r>
          </a:p>
          <a:p>
            <a:r>
              <a:t>What caused the difference? Not established by the saved CSVs. Check validation mode, windows, covariance, input representation and generating configuration.</a:t>
            </a:r>
          </a:p>
          <a:p>
            <a:endParaRPr/>
          </a:p>
          <a:p>
            <a:r>
              <a:t>Evidence and cautions:</a:t>
            </a:r>
          </a:p>
          <a:p>
            <a:r>
              <a:t>outputs/metrics/bci_2b_table1_results.csv and bci_table1_comparison.csv.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Reproduction boundary</a:t>
            </a:r>
          </a:p>
          <a:p>
            <a:endParaRPr/>
          </a:p>
          <a:p>
            <a:r>
              <a:t>Suggested explanation (30–60 seconds):</a:t>
            </a:r>
          </a:p>
          <a:p>
            <a:r>
              <a:t>The combined results remain far below published validation counts. I can claim an executable reconstruction with measured discrepancies, but cannot claim numerical reproduction.</a:t>
            </a:r>
          </a:p>
          <a:p>
            <a:endParaRPr/>
          </a:p>
          <a:p>
            <a:r>
              <a:t>Likely question and answer:</a:t>
            </a:r>
          </a:p>
          <a:p>
            <a:r>
              <a:t>Should parameters be tuned to match published test counts? That would risk fitting to the evaluation target. Select on development data and report sensitivity separately.</a:t>
            </a:r>
          </a:p>
          <a:p>
            <a:endParaRPr/>
          </a:p>
          <a:p>
            <a:r>
              <a:t>Evidence and cautions:</a:t>
            </a:r>
          </a:p>
          <a:p>
            <a:r>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Dataset roles</a:t>
            </a:r>
          </a:p>
          <a:p>
            <a:endParaRPr/>
          </a:p>
          <a:p>
            <a:r>
              <a:t>Suggested explanation (30–60 seconds):</a:t>
            </a:r>
          </a:p>
          <a:p>
            <a:r>
              <a:t>Read this as a protocol map. For complementary 2B, I–II fit the representation, III calibrates thresholds, and IV–V evaluate. That differs from the classifier benchmark and Table-I path.</a:t>
            </a:r>
          </a:p>
          <a:p>
            <a:endParaRPr/>
          </a:p>
          <a:p>
            <a:r>
              <a:t>Likely question and answer:</a:t>
            </a:r>
          </a:p>
          <a:p>
            <a:r>
              <a:t>Are real EEG warnings true detections? They are descriptive alarms unless independently annotated or experimentally injected shifts provide ground truth.</a:t>
            </a:r>
          </a:p>
          <a:p>
            <a:endParaRPr/>
          </a:p>
          <a:p>
            <a:r>
              <a:t>Evidence and cautions:</a:t>
            </a:r>
          </a:p>
          <a:p>
            <a:r>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Diethe architecture</a:t>
            </a:r>
          </a:p>
          <a:p>
            <a:endParaRPr/>
          </a:p>
          <a:p>
            <a:r>
              <a:t>Suggested explanation (30–60 seconds):</a:t>
            </a:r>
          </a:p>
          <a:p>
            <a:r>
              <a:t>Diethe separates data monitoring, prediction monitoring and update policy. My implementation operationalises part of this architecture using five explicit rules and saved evidence.</a:t>
            </a:r>
          </a:p>
          <a:p>
            <a:endParaRPr/>
          </a:p>
          <a:p>
            <a:r>
              <a:t>Likely question and answer:</a:t>
            </a:r>
          </a:p>
          <a:p>
            <a:r>
              <a:t>Have you implemented Diethe completely? No. The paper discusses much broader state, actions, provenance and policy learning. My rules do not implement rollback, learned policy optimisation or energy accounting.</a:t>
            </a:r>
          </a:p>
          <a:p>
            <a:endParaRPr/>
          </a:p>
          <a:p>
            <a:r>
              <a:t>Evidence and cautions:</a:t>
            </a:r>
          </a:p>
          <a:p>
            <a:r>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Controlled scenarios</a:t>
            </a:r>
          </a:p>
          <a:p>
            <a:endParaRPr/>
          </a:p>
          <a:p>
            <a:r>
              <a:t>Suggested explanation (30–60 seconds):</a:t>
            </a:r>
          </a:p>
          <a:p>
            <a:r>
              <a:t>No shift measures baseline burden. Feature shift changes inputs while preserving the label rule. Relationship shift changes the label rule with the same input stream, so input monitoring can miss performance deterioration.</a:t>
            </a:r>
          </a:p>
          <a:p>
            <a:endParaRPr/>
          </a:p>
          <a:p>
            <a:r>
              <a:t>Likely question and answer:</a:t>
            </a:r>
          </a:p>
          <a:p>
            <a:r>
              <a:t>When are labels available? Immediately after prediction, before any update. The validated policy waits for validation_time, not the earlier warning time.</a:t>
            </a:r>
          </a:p>
          <a:p>
            <a:endParaRPr/>
          </a:p>
          <a:p>
            <a:r>
              <a:t>Evidence and cautions:</a:t>
            </a:r>
          </a:p>
          <a:p>
            <a:r>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First Diethe result</a:t>
            </a:r>
          </a:p>
          <a:p>
            <a:endParaRPr/>
          </a:p>
          <a:p>
            <a:r>
              <a:t>Suggested explanation (30–60 seconds):</a:t>
            </a:r>
          </a:p>
          <a:p>
            <a:r>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a:p>
          <a:p>
            <a:r>
              <a:t>Likely question and answer:</a:t>
            </a:r>
          </a:p>
          <a:p>
            <a:r>
              <a:t>Is periodic best? Not established from one seed. Post-change accuracy is 99.17% for never and performance-drop versus 98.33% for the other three. The one-prediction overall advantage does not establish post-shift benefit.</a:t>
            </a:r>
          </a:p>
          <a:p>
            <a:endParaRPr/>
          </a:p>
          <a:p>
            <a:r>
              <a:t>Evidence and cautions:</a:t>
            </a:r>
          </a:p>
          <a:p>
            <a: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Timeline</a:t>
            </a:r>
          </a:p>
          <a:p>
            <a:endParaRPr/>
          </a:p>
          <a:p>
            <a:r>
              <a:t>Suggested explanation (30–60 seconds):</a:t>
            </a:r>
          </a:p>
          <a:p>
            <a:r>
              <a:t>This is a proposed first-year plan. The current reconstruction and pilot experiments provide starting evidence for early work packages; the digital twin, sustainability and cross-domain work are future objectives.</a:t>
            </a:r>
          </a:p>
          <a:p>
            <a:endParaRPr/>
          </a:p>
          <a:p>
            <a:r>
              <a:t>Likely question and answer:</a:t>
            </a:r>
          </a:p>
          <a:p>
            <a:r>
              <a:t>Are these packages already completed? No. Distinguish the existing benchmark foundation from planned research outcomes.</a:t>
            </a:r>
          </a:p>
          <a:p>
            <a:endParaRPr/>
          </a:p>
          <a:p>
            <a:r>
              <a:t>Evidence and cautions:</a:t>
            </a:r>
          </a:p>
          <a:p>
            <a:r>
              <a:t>Proposed October2026–September2027 timeline retained from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Closing</a:t>
            </a:r>
          </a:p>
          <a:p>
            <a:endParaRPr/>
          </a:p>
          <a:p>
            <a:r>
              <a:t>Suggested explanation (30–60 seconds):</a:t>
            </a:r>
          </a:p>
          <a:p>
            <a:r>
              <a:t>The next milestone is a reproducible evidence package: reconcile detector runs, repeat the policy experiment across scenarios and seeds, and generate real EEG complementary traces. Then judge benefit alongside update burden and uncertainty.</a:t>
            </a:r>
          </a:p>
          <a:p>
            <a:endParaRPr/>
          </a:p>
          <a:p>
            <a:r>
              <a:t>Likely question and answer:</a:t>
            </a:r>
          </a:p>
          <a:p>
            <a:r>
              <a:t>What would count as success? Traceable configurations, repeated results with variability, a clear failure analysis, and evidence supporting a specific update policy under stated assumptions.</a:t>
            </a:r>
          </a:p>
          <a:p>
            <a:endParaRPr/>
          </a:p>
          <a:p>
            <a:r>
              <a:t>Evidence and cautions:</a:t>
            </a:r>
          </a:p>
          <a:p>
            <a:r>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Detection and adaptation are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02</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33756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10</a:t>
            </a:r>
          </a:p>
        </p:txBody>
      </p:sp>
    </p:spTree>
    <p:extLst>
      <p:ext uri="{BB962C8B-B14F-4D97-AF65-F5344CB8AC3E}">
        <p14:creationId xmlns:p14="http://schemas.microsoft.com/office/powerpoint/2010/main" val="1926805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31223"/>
        </a:solidFill>
        <a:effectLst/>
      </p:bgPr>
    </p:bg>
    <p:spTree>
      <p:nvGrpSpPr>
        <p:cNvPr id="1" name=""/>
        <p:cNvGrpSpPr/>
        <p:nvPr/>
      </p:nvGrpSpPr>
      <p:grpSpPr>
        <a:xfrm>
          <a:off x="0" y="0"/>
          <a:ext cx="0" cy="0"/>
          <a:chOff x="0" y="0"/>
          <a:chExt cx="0" cy="0"/>
        </a:xfrm>
      </p:grpSpPr>
      <p:sp>
        <p:nvSpPr>
          <p:cNvPr id="2" name="TextBox 1"/>
          <p:cNvSpPr txBox="1"/>
          <p:nvPr/>
        </p:nvSpPr>
        <p:spPr>
          <a:xfrm>
            <a:off x="609600" y="400050"/>
            <a:ext cx="3300000" cy="240000"/>
          </a:xfrm>
          <a:prstGeom prst="rect">
            <a:avLst/>
          </a:prstGeom>
          <a:noFill/>
        </p:spPr>
        <p:txBody>
          <a:bodyPr wrap="square" lIns="0" tIns="0" rIns="0" bIns="0">
            <a:spAutoFit/>
          </a:bodyPr>
          <a:lstStyle/>
          <a:p>
            <a:pPr algn="l"/>
            <a:r>
              <a:rPr sz="1600" b="1">
                <a:solidFill>
                  <a:srgbClr val="3FEEE0"/>
                </a:solidFill>
                <a:latin typeface="Aptos"/>
              </a:rPr>
              <a:t>DETECTOR MATHEMATICS</a:t>
            </a:r>
          </a:p>
        </p:txBody>
      </p:sp>
      <p:sp>
        <p:nvSpPr>
          <p:cNvPr id="3" name="TextBox 2"/>
          <p:cNvSpPr txBox="1"/>
          <p:nvPr/>
        </p:nvSpPr>
        <p:spPr>
          <a:xfrm>
            <a:off x="609600" y="685800"/>
            <a:ext cx="10953750" cy="552450"/>
          </a:xfrm>
          <a:prstGeom prst="rect">
            <a:avLst/>
          </a:prstGeom>
          <a:noFill/>
        </p:spPr>
        <p:txBody>
          <a:bodyPr wrap="square" lIns="0" tIns="0" rIns="0" bIns="0">
            <a:spAutoFit/>
          </a:bodyPr>
          <a:lstStyle/>
          <a:p>
            <a:pPr algn="l"/>
            <a:r>
              <a:rPr sz="2700" b="1">
                <a:solidFill>
                  <a:srgbClr val="EAF0F6"/>
                </a:solidFill>
                <a:latin typeface="Aptos"/>
              </a:rPr>
              <a:t>Detector equations and the selected validation mode</a:t>
            </a:r>
          </a:p>
        </p:txBody>
      </p:sp>
      <p:cxnSp>
        <p:nvCxnSpPr>
          <p:cNvPr id="4" name="Connector 3"/>
          <p:cNvCxnSpPr/>
          <p:nvPr/>
        </p:nvCxnSpPr>
        <p:spPr>
          <a:xfrm>
            <a:off x="609600" y="1371600"/>
            <a:ext cx="10972800" cy="0"/>
          </a:xfrm>
          <a:prstGeom prst="line">
            <a:avLst/>
          </a:prstGeom>
          <a:ln w="12700">
            <a:solidFill>
              <a:srgbClr val="4662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09600" y="1510000"/>
            <a:ext cx="10900000" cy="250000"/>
          </a:xfrm>
          <a:prstGeom prst="rect">
            <a:avLst/>
          </a:prstGeom>
          <a:noFill/>
        </p:spPr>
        <p:txBody>
          <a:bodyPr wrap="square" lIns="0" tIns="0" rIns="0" bIns="0">
            <a:spAutoFit/>
          </a:bodyPr>
          <a:lstStyle/>
          <a:p>
            <a:pPr algn="l"/>
            <a:r>
              <a:rPr sz="1400" b="0">
                <a:solidFill>
                  <a:srgbClr val="ACBCD2"/>
                </a:solidFill>
                <a:latin typeface="Aptos"/>
              </a:rPr>
              <a:t>Stage I follows the EWMA lineage. Stage II below is the repository’s paper_two_sample mode.</a:t>
            </a:r>
          </a:p>
        </p:txBody>
      </p:sp>
      <p:sp>
        <p:nvSpPr>
          <p:cNvPr id="6" name="Rounded Rectangle 5"/>
          <p:cNvSpPr/>
          <p:nvPr/>
        </p:nvSpPr>
        <p:spPr>
          <a:xfrm>
            <a:off x="950000" y="1810000"/>
            <a:ext cx="10200000" cy="680000"/>
          </a:xfrm>
          <a:prstGeom prst="roundRect">
            <a:avLst>
              <a:gd name="adj" fmla="val 3000"/>
            </a:avLst>
          </a:prstGeom>
          <a:solidFill>
            <a:srgbClr val="052036"/>
          </a:solidFill>
          <a:ln w="13970">
            <a:solidFill>
              <a:srgbClr val="3FEE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0000" y="1920000"/>
            <a:ext cx="3200000" cy="160000"/>
          </a:xfrm>
          <a:prstGeom prst="rect">
            <a:avLst/>
          </a:prstGeom>
          <a:noFill/>
        </p:spPr>
        <p:txBody>
          <a:bodyPr wrap="square" lIns="0" tIns="0" rIns="0" bIns="0">
            <a:spAutoFit/>
          </a:bodyPr>
          <a:lstStyle/>
          <a:p>
            <a:pPr algn="l"/>
            <a:r>
              <a:rPr sz="1400" b="1">
                <a:solidFill>
                  <a:srgbClr val="3FEEE0"/>
                </a:solidFill>
                <a:latin typeface="Aptos"/>
              </a:rPr>
              <a:t>Representation input</a:t>
            </a:r>
          </a:p>
        </p:txBody>
      </p:sp>
      <p:pic>
        <p:nvPicPr>
          <p:cNvPr id="8" name="Picture 7" descr="image.png"/>
          <p:cNvPicPr>
            <a:picLocks noChangeAspect="1"/>
          </p:cNvPicPr>
          <p:nvPr/>
        </p:nvPicPr>
        <p:blipFill>
          <a:blip r:embed="rId3"/>
          <a:stretch>
            <a:fillRect/>
          </a:stretch>
        </p:blipFill>
        <p:spPr>
          <a:xfrm>
            <a:off x="1170000" y="2150000"/>
            <a:ext cx="1645912" cy="310000"/>
          </a:xfrm>
          <a:prstGeom prst="rect">
            <a:avLst/>
          </a:prstGeom>
        </p:spPr>
      </p:pic>
      <p:sp>
        <p:nvSpPr>
          <p:cNvPr id="9" name="TextBox 8"/>
          <p:cNvSpPr txBox="1"/>
          <p:nvPr/>
        </p:nvSpPr>
        <p:spPr>
          <a:xfrm>
            <a:off x="2920000" y="2170000"/>
            <a:ext cx="6700000" cy="220000"/>
          </a:xfrm>
          <a:prstGeom prst="rect">
            <a:avLst/>
          </a:prstGeom>
          <a:noFill/>
        </p:spPr>
        <p:txBody>
          <a:bodyPr wrap="square" lIns="0" tIns="0" rIns="0" bIns="0">
            <a:spAutoFit/>
          </a:bodyPr>
          <a:lstStyle/>
          <a:p>
            <a:pPr algn="l"/>
            <a:r>
              <a:rPr sz="1700" b="0">
                <a:solidFill>
                  <a:srgbClr val="EAF0F6"/>
                </a:solidFill>
                <a:latin typeface="Aptos"/>
              </a:rPr>
              <a:t>retained PC1 score passed to Stage-I EWMA</a:t>
            </a:r>
          </a:p>
        </p:txBody>
      </p:sp>
      <p:sp>
        <p:nvSpPr>
          <p:cNvPr id="10" name="Rounded Rectangle 9"/>
          <p:cNvSpPr/>
          <p:nvPr/>
        </p:nvSpPr>
        <p:spPr>
          <a:xfrm>
            <a:off x="900000" y="2760000"/>
            <a:ext cx="4650000" cy="2600000"/>
          </a:xfrm>
          <a:prstGeom prst="roundRect">
            <a:avLst>
              <a:gd name="adj" fmla="val 2000"/>
            </a:avLst>
          </a:prstGeom>
          <a:solidFill>
            <a:srgbClr val="08182C"/>
          </a:solidFill>
          <a:ln w="15240">
            <a:solidFill>
              <a:srgbClr val="56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850000" y="2760000"/>
            <a:ext cx="5100000" cy="2600000"/>
          </a:xfrm>
          <a:prstGeom prst="roundRect">
            <a:avLst>
              <a:gd name="adj" fmla="val 2000"/>
            </a:avLst>
          </a:prstGeom>
          <a:solidFill>
            <a:srgbClr val="08182C"/>
          </a:solidFill>
          <a:ln w="15240">
            <a:solidFill>
              <a:srgbClr val="F5BF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00000" y="2760000"/>
            <a:ext cx="4650000" cy="70000"/>
          </a:xfrm>
          <a:prstGeom prst="rect">
            <a:avLst/>
          </a:prstGeom>
          <a:solidFill>
            <a:srgbClr val="5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0000" y="2760000"/>
            <a:ext cx="5100000" cy="70000"/>
          </a:xfrm>
          <a:prstGeom prst="rect">
            <a:avLst/>
          </a:prstGeom>
          <a:solidFill>
            <a:srgbClr val="F5BF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00000" y="2990000"/>
            <a:ext cx="3350000" cy="250000"/>
          </a:xfrm>
          <a:prstGeom prst="rect">
            <a:avLst/>
          </a:prstGeom>
          <a:noFill/>
        </p:spPr>
        <p:txBody>
          <a:bodyPr wrap="square" lIns="0" tIns="0" rIns="0" bIns="0">
            <a:spAutoFit/>
          </a:bodyPr>
          <a:lstStyle/>
          <a:p>
            <a:pPr algn="l"/>
            <a:r>
              <a:rPr sz="2000" b="1">
                <a:solidFill>
                  <a:srgbClr val="EAF0F6"/>
                </a:solidFill>
                <a:latin typeface="Aptos"/>
              </a:rPr>
              <a:t>Stage I: EWMA warning</a:t>
            </a:r>
          </a:p>
        </p:txBody>
      </p:sp>
      <p:sp>
        <p:nvSpPr>
          <p:cNvPr id="15" name="TextBox 14"/>
          <p:cNvSpPr txBox="1"/>
          <p:nvPr/>
        </p:nvSpPr>
        <p:spPr>
          <a:xfrm>
            <a:off x="1100000" y="3370000"/>
            <a:ext cx="3200000" cy="150000"/>
          </a:xfrm>
          <a:prstGeom prst="rect">
            <a:avLst/>
          </a:prstGeom>
          <a:noFill/>
        </p:spPr>
        <p:txBody>
          <a:bodyPr wrap="square" lIns="0" tIns="0" rIns="0" bIns="0">
            <a:spAutoFit/>
          </a:bodyPr>
          <a:lstStyle/>
          <a:p>
            <a:pPr algn="l"/>
            <a:r>
              <a:rPr sz="1300" b="1">
                <a:solidFill>
                  <a:srgbClr val="3FEEE0"/>
                </a:solidFill>
                <a:latin typeface="Aptos"/>
              </a:rPr>
              <a:t>EWMA state update</a:t>
            </a:r>
          </a:p>
        </p:txBody>
      </p:sp>
      <p:pic>
        <p:nvPicPr>
          <p:cNvPr id="16" name="Picture 15" descr="image.png"/>
          <p:cNvPicPr>
            <a:picLocks noChangeAspect="1"/>
          </p:cNvPicPr>
          <p:nvPr/>
        </p:nvPicPr>
        <p:blipFill>
          <a:blip r:embed="rId4"/>
          <a:stretch>
            <a:fillRect/>
          </a:stretch>
        </p:blipFill>
        <p:spPr>
          <a:xfrm>
            <a:off x="1100000" y="3540000"/>
            <a:ext cx="2052239" cy="250000"/>
          </a:xfrm>
          <a:prstGeom prst="rect">
            <a:avLst/>
          </a:prstGeom>
        </p:spPr>
      </p:pic>
      <p:sp>
        <p:nvSpPr>
          <p:cNvPr id="17" name="TextBox 16"/>
          <p:cNvSpPr txBox="1"/>
          <p:nvPr/>
        </p:nvSpPr>
        <p:spPr>
          <a:xfrm>
            <a:off x="1100000" y="3890000"/>
            <a:ext cx="3200000" cy="150000"/>
          </a:xfrm>
          <a:prstGeom prst="rect">
            <a:avLst/>
          </a:prstGeom>
          <a:noFill/>
        </p:spPr>
        <p:txBody>
          <a:bodyPr wrap="square" lIns="0" tIns="0" rIns="0" bIns="0">
            <a:spAutoFit/>
          </a:bodyPr>
          <a:lstStyle/>
          <a:p>
            <a:pPr algn="l"/>
            <a:r>
              <a:rPr sz="1300" b="1">
                <a:solidFill>
                  <a:srgbClr val="3FEEE0"/>
                </a:solidFill>
                <a:latin typeface="Aptos"/>
              </a:rPr>
              <a:t>One-step-ahead prediction error</a:t>
            </a:r>
          </a:p>
        </p:txBody>
      </p:sp>
      <p:pic>
        <p:nvPicPr>
          <p:cNvPr id="18" name="Picture 17" descr="image.png"/>
          <p:cNvPicPr>
            <a:picLocks noChangeAspect="1"/>
          </p:cNvPicPr>
          <p:nvPr/>
        </p:nvPicPr>
        <p:blipFill>
          <a:blip r:embed="rId5"/>
          <a:stretch>
            <a:fillRect/>
          </a:stretch>
        </p:blipFill>
        <p:spPr>
          <a:xfrm>
            <a:off x="1100000" y="4060000"/>
            <a:ext cx="1253130" cy="240000"/>
          </a:xfrm>
          <a:prstGeom prst="rect">
            <a:avLst/>
          </a:prstGeom>
        </p:spPr>
      </p:pic>
      <p:sp>
        <p:nvSpPr>
          <p:cNvPr id="19" name="TextBox 18"/>
          <p:cNvSpPr txBox="1"/>
          <p:nvPr/>
        </p:nvSpPr>
        <p:spPr>
          <a:xfrm>
            <a:off x="1100000" y="4390000"/>
            <a:ext cx="3200000" cy="150000"/>
          </a:xfrm>
          <a:prstGeom prst="rect">
            <a:avLst/>
          </a:prstGeom>
          <a:noFill/>
        </p:spPr>
        <p:txBody>
          <a:bodyPr wrap="square" lIns="0" tIns="0" rIns="0" bIns="0">
            <a:spAutoFit/>
          </a:bodyPr>
          <a:lstStyle/>
          <a:p>
            <a:pPr algn="l"/>
            <a:r>
              <a:rPr sz="1300" b="1">
                <a:solidFill>
                  <a:srgbClr val="3FEEE0"/>
                </a:solidFill>
                <a:latin typeface="Aptos"/>
              </a:rPr>
              <a:t>Warning boundaries</a:t>
            </a:r>
          </a:p>
        </p:txBody>
      </p:sp>
      <p:pic>
        <p:nvPicPr>
          <p:cNvPr id="20" name="Picture 19" descr="image.png"/>
          <p:cNvPicPr>
            <a:picLocks noChangeAspect="1"/>
          </p:cNvPicPr>
          <p:nvPr/>
        </p:nvPicPr>
        <p:blipFill>
          <a:blip r:embed="rId6"/>
          <a:stretch>
            <a:fillRect/>
          </a:stretch>
        </p:blipFill>
        <p:spPr>
          <a:xfrm>
            <a:off x="1100000" y="4560000"/>
            <a:ext cx="3219847" cy="185000"/>
          </a:xfrm>
          <a:prstGeom prst="rect">
            <a:avLst/>
          </a:prstGeom>
        </p:spPr>
      </p:pic>
      <p:pic>
        <p:nvPicPr>
          <p:cNvPr id="21" name="Picture 20" descr="image.png"/>
          <p:cNvPicPr>
            <a:picLocks noChangeAspect="1"/>
          </p:cNvPicPr>
          <p:nvPr/>
        </p:nvPicPr>
        <p:blipFill>
          <a:blip r:embed="rId7"/>
          <a:stretch>
            <a:fillRect/>
          </a:stretch>
        </p:blipFill>
        <p:spPr>
          <a:xfrm>
            <a:off x="1100000" y="4935000"/>
            <a:ext cx="2252240" cy="235000"/>
          </a:xfrm>
          <a:prstGeom prst="rect">
            <a:avLst/>
          </a:prstGeom>
        </p:spPr>
      </p:pic>
      <p:sp>
        <p:nvSpPr>
          <p:cNvPr id="22" name="TextBox 21"/>
          <p:cNvSpPr txBox="1"/>
          <p:nvPr/>
        </p:nvSpPr>
        <p:spPr>
          <a:xfrm>
            <a:off x="6050000" y="2990000"/>
            <a:ext cx="4550000" cy="250000"/>
          </a:xfrm>
          <a:prstGeom prst="rect">
            <a:avLst/>
          </a:prstGeom>
          <a:noFill/>
        </p:spPr>
        <p:txBody>
          <a:bodyPr wrap="square" lIns="0" tIns="0" rIns="0" bIns="0">
            <a:spAutoFit/>
          </a:bodyPr>
          <a:lstStyle/>
          <a:p>
            <a:pPr algn="l"/>
            <a:r>
              <a:rPr sz="2000" b="1">
                <a:solidFill>
                  <a:srgbClr val="EAF0F6"/>
                </a:solidFill>
                <a:latin typeface="Aptos"/>
              </a:rPr>
              <a:t>Stage II: Hotelling validation</a:t>
            </a:r>
          </a:p>
        </p:txBody>
      </p:sp>
      <p:sp>
        <p:nvSpPr>
          <p:cNvPr id="23" name="TextBox 22"/>
          <p:cNvSpPr txBox="1"/>
          <p:nvPr/>
        </p:nvSpPr>
        <p:spPr>
          <a:xfrm>
            <a:off x="6050000" y="3450000"/>
            <a:ext cx="3400000" cy="150000"/>
          </a:xfrm>
          <a:prstGeom prst="rect">
            <a:avLst/>
          </a:prstGeom>
          <a:noFill/>
        </p:spPr>
        <p:txBody>
          <a:bodyPr wrap="square" lIns="0" tIns="0" rIns="0" bIns="0">
            <a:spAutoFit/>
          </a:bodyPr>
          <a:lstStyle/>
          <a:p>
            <a:pPr algn="l"/>
            <a:r>
              <a:rPr sz="1300" b="1">
                <a:solidFill>
                  <a:srgbClr val="F5BF42"/>
                </a:solidFill>
                <a:latin typeface="Aptos"/>
              </a:rPr>
              <a:t>Two-sample validation statistic</a:t>
            </a:r>
          </a:p>
        </p:txBody>
      </p:sp>
      <p:pic>
        <p:nvPicPr>
          <p:cNvPr id="24" name="Picture 23" descr="image.png"/>
          <p:cNvPicPr>
            <a:picLocks noChangeAspect="1"/>
          </p:cNvPicPr>
          <p:nvPr/>
        </p:nvPicPr>
        <p:blipFill>
          <a:blip r:embed="rId8"/>
          <a:stretch>
            <a:fillRect/>
          </a:stretch>
        </p:blipFill>
        <p:spPr>
          <a:xfrm>
            <a:off x="6050000" y="3650000"/>
            <a:ext cx="2656667" cy="285000"/>
          </a:xfrm>
          <a:prstGeom prst="rect">
            <a:avLst/>
          </a:prstGeom>
        </p:spPr>
      </p:pic>
      <p:sp>
        <p:nvSpPr>
          <p:cNvPr id="25" name="TextBox 24"/>
          <p:cNvSpPr txBox="1"/>
          <p:nvPr/>
        </p:nvSpPr>
        <p:spPr>
          <a:xfrm>
            <a:off x="6050000" y="4230000"/>
            <a:ext cx="3300000" cy="150000"/>
          </a:xfrm>
          <a:prstGeom prst="rect">
            <a:avLst/>
          </a:prstGeom>
          <a:noFill/>
        </p:spPr>
        <p:txBody>
          <a:bodyPr wrap="square" lIns="0" tIns="0" rIns="0" bIns="0">
            <a:spAutoFit/>
          </a:bodyPr>
          <a:lstStyle/>
          <a:p>
            <a:pPr algn="l"/>
            <a:r>
              <a:rPr sz="1300" b="1">
                <a:solidFill>
                  <a:srgbClr val="F5BF42"/>
                </a:solidFill>
                <a:latin typeface="Aptos"/>
              </a:rPr>
              <a:t>Decision rule</a:t>
            </a:r>
          </a:p>
        </p:txBody>
      </p:sp>
      <p:pic>
        <p:nvPicPr>
          <p:cNvPr id="26" name="Picture 25" descr="image.png"/>
          <p:cNvPicPr>
            <a:picLocks noChangeAspect="1"/>
          </p:cNvPicPr>
          <p:nvPr/>
        </p:nvPicPr>
        <p:blipFill>
          <a:blip r:embed="rId9"/>
          <a:stretch>
            <a:fillRect/>
          </a:stretch>
        </p:blipFill>
        <p:spPr>
          <a:xfrm>
            <a:off x="6050000" y="4410000"/>
            <a:ext cx="1173134" cy="240000"/>
          </a:xfrm>
          <a:prstGeom prst="rect">
            <a:avLst/>
          </a:prstGeom>
        </p:spPr>
      </p:pic>
      <p:sp>
        <p:nvSpPr>
          <p:cNvPr id="27" name="TextBox 26"/>
          <p:cNvSpPr txBox="1"/>
          <p:nvPr/>
        </p:nvSpPr>
        <p:spPr>
          <a:xfrm>
            <a:off x="6050000" y="4740000"/>
            <a:ext cx="3300000" cy="150000"/>
          </a:xfrm>
          <a:prstGeom prst="rect">
            <a:avLst/>
          </a:prstGeom>
          <a:noFill/>
        </p:spPr>
        <p:txBody>
          <a:bodyPr wrap="square" lIns="0" tIns="0" rIns="0" bIns="0">
            <a:spAutoFit/>
          </a:bodyPr>
          <a:lstStyle/>
          <a:p>
            <a:pPr algn="l"/>
            <a:r>
              <a:rPr sz="1300" b="1">
                <a:solidFill>
                  <a:srgbClr val="F5BF42"/>
                </a:solidFill>
                <a:latin typeface="Aptos"/>
              </a:rPr>
              <a:t>Stage-II admissibility</a:t>
            </a:r>
          </a:p>
        </p:txBody>
      </p:sp>
      <p:pic>
        <p:nvPicPr>
          <p:cNvPr id="28" name="Picture 27" descr="image.png"/>
          <p:cNvPicPr>
            <a:picLocks noChangeAspect="1"/>
          </p:cNvPicPr>
          <p:nvPr/>
        </p:nvPicPr>
        <p:blipFill>
          <a:blip r:embed="rId10"/>
          <a:stretch>
            <a:fillRect/>
          </a:stretch>
        </p:blipFill>
        <p:spPr>
          <a:xfrm>
            <a:off x="6050000" y="4920000"/>
            <a:ext cx="1351908" cy="230000"/>
          </a:xfrm>
          <a:prstGeom prst="rect">
            <a:avLst/>
          </a:prstGeom>
        </p:spPr>
      </p:pic>
      <p:sp>
        <p:nvSpPr>
          <p:cNvPr id="29" name="TextBox 28"/>
          <p:cNvSpPr txBox="1"/>
          <p:nvPr/>
        </p:nvSpPr>
        <p:spPr>
          <a:xfrm>
            <a:off x="7900000" y="4935000"/>
            <a:ext cx="2800000" cy="320000"/>
          </a:xfrm>
          <a:prstGeom prst="rect">
            <a:avLst/>
          </a:prstGeom>
          <a:noFill/>
        </p:spPr>
        <p:txBody>
          <a:bodyPr wrap="square" lIns="0" tIns="0" rIns="0" bIns="0">
            <a:spAutoFit/>
          </a:bodyPr>
          <a:lstStyle/>
          <a:p>
            <a:pPr algn="l"/>
            <a:r>
              <a:rPr sz="1100" b="0">
                <a:solidFill>
                  <a:srgbClr val="ACBCD2"/>
                </a:solidFill>
                <a:latin typeface="Aptos"/>
              </a:rPr>
              <a:t>H = validation-window size
d = retained PCA dimension</a:t>
            </a:r>
          </a:p>
        </p:txBody>
      </p:sp>
      <p:sp>
        <p:nvSpPr>
          <p:cNvPr id="30" name="TextBox 29"/>
          <p:cNvSpPr txBox="1"/>
          <p:nvPr/>
        </p:nvSpPr>
        <p:spPr>
          <a:xfrm>
            <a:off x="609600" y="6515100"/>
            <a:ext cx="4095750" cy="171450"/>
          </a:xfrm>
          <a:prstGeom prst="rect">
            <a:avLst/>
          </a:prstGeom>
          <a:noFill/>
        </p:spPr>
        <p:txBody>
          <a:bodyPr wrap="square" lIns="0" tIns="0" rIns="0" bIns="0">
            <a:spAutoFit/>
          </a:bodyPr>
          <a:lstStyle/>
          <a:p>
            <a:pPr algn="l"/>
            <a:r>
              <a:rPr sz="1000" b="0">
                <a:solidFill>
                  <a:srgbClr val="ACBCD2"/>
                </a:solidFill>
                <a:latin typeface="Aptos"/>
              </a:rPr>
              <a:t>hlin863/ewma_covariate_shift_demo</a:t>
            </a:r>
          </a:p>
        </p:txBody>
      </p:sp>
      <p:sp>
        <p:nvSpPr>
          <p:cNvPr id="31" name="TextBox 30"/>
          <p:cNvSpPr txBox="1"/>
          <p:nvPr/>
        </p:nvSpPr>
        <p:spPr>
          <a:xfrm>
            <a:off x="11049000" y="6515100"/>
            <a:ext cx="533400" cy="171450"/>
          </a:xfrm>
          <a:prstGeom prst="rect">
            <a:avLst/>
          </a:prstGeom>
          <a:noFill/>
        </p:spPr>
        <p:txBody>
          <a:bodyPr wrap="square" lIns="0" tIns="0" rIns="0" bIns="0">
            <a:spAutoFit/>
          </a:bodyPr>
          <a:lstStyle/>
          <a:p>
            <a:r>
              <a:t>11</a:t>
            </a:r>
          </a:p>
        </p:txBody>
      </p:sp>
      <p:sp>
        <p:nvSpPr>
          <p:cNvPr id="32" name="TextBox 31"/>
          <p:cNvSpPr txBox="1"/>
          <p:nvPr/>
        </p:nvSpPr>
        <p:spPr>
          <a:xfrm>
            <a:off x="685800" y="5605272"/>
            <a:ext cx="10789920" cy="548640"/>
          </a:xfrm>
          <a:prstGeom prst="rect">
            <a:avLst/>
          </a:prstGeom>
          <a:noFill/>
        </p:spPr>
        <p:txBody>
          <a:bodyPr wrap="square" lIns="0" rIns="0">
            <a:spAutoFit/>
          </a:bodyPr>
          <a:lstStyle/>
          <a:p>
            <a:pPr>
              <a:spcAft>
                <a:spcPts val="800"/>
              </a:spcAft>
              <a:defRPr sz="1200" b="0">
                <a:solidFill>
                  <a:srgbClr val="9CB0C3"/>
                </a:solidFill>
                <a:latin typeface="DejaVu Sans"/>
              </a:defRPr>
            </a:pPr>
            <a:r>
              <a:t>Chowdhury §II.E.3, Eqs. (3)–(9): Eq. (9) uses separate covariance terms.</a:t>
            </a:r>
          </a:p>
          <a:p>
            <a:pPr>
              <a:spcAft>
                <a:spcPts val="800"/>
              </a:spcAft>
              <a:defRPr sz="1200" b="0">
                <a:solidFill>
                  <a:srgbClr val="9CB0C3"/>
                </a:solidFill>
                <a:latin typeface="DejaVu Sans"/>
              </a:defRPr>
            </a:pPr>
            <a:r>
              <a:t>The pooled statistic and equal-window rule here are implementation choices, not a direct transcription.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12</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13</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851392" y="5843016"/>
            <a:ext cx="1005840" cy="73152"/>
          </a:xfrm>
          <a:prstGeom prst="rect">
            <a:avLst/>
          </a:prstGeom>
          <a:noFill/>
        </p:spPr>
        <p:txBody>
          <a:bodyPr wrap="none" lIns="0" tIns="0" rIns="0" bIns="0">
            <a:spAutoFit/>
          </a:bodyPr>
          <a:lstStyle/>
          <a:p>
            <a:r>
              <a:rPr sz="560" b="1">
                <a:solidFill>
                  <a:srgbClr val="1DE7D5"/>
                </a:solidFill>
                <a:latin typeface="Aptos"/>
              </a:rPr>
              <a:t>residual relation</a:t>
            </a: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14</a:t>
            </a:r>
          </a:p>
        </p:txBody>
      </p:sp>
    </p:spTree>
    <p:extLst>
      <p:ext uri="{BB962C8B-B14F-4D97-AF65-F5344CB8AC3E}">
        <p14:creationId xmlns:p14="http://schemas.microsoft.com/office/powerpoint/2010/main" val="34239414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15</a:t>
            </a:r>
          </a:p>
        </p:txBody>
      </p:sp>
    </p:spTree>
    <p:extLst>
      <p:ext uri="{BB962C8B-B14F-4D97-AF65-F5344CB8AC3E}">
        <p14:creationId xmlns:p14="http://schemas.microsoft.com/office/powerpoint/2010/main" val="10010702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16</a:t>
            </a:r>
          </a:p>
        </p:txBody>
      </p:sp>
    </p:spTree>
    <p:extLst>
      <p:ext uri="{BB962C8B-B14F-4D97-AF65-F5344CB8AC3E}">
        <p14:creationId xmlns:p14="http://schemas.microsoft.com/office/powerpoint/2010/main" val="3443722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92608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pPr>
              <a:spcAft>
                <a:spcPts val="900"/>
              </a:spcAft>
              <a:defRPr sz="1800" b="0">
                <a:solidFill>
                  <a:srgbClr val="78D8CC"/>
                </a:solidFill>
                <a:latin typeface="DejaVu Sans"/>
              </a:defRPr>
            </a:pPr>
            <a:r>
              <a:t>First five-policy run is saved. Repeated comparisons across scenarios and seeds remain pending.</a:t>
            </a:r>
          </a:p>
          <a:p>
            <a:pPr>
              <a:spcAft>
                <a:spcPts val="900"/>
              </a:spcAft>
              <a:defRPr sz="1800" b="0">
                <a:solidFill>
                  <a:srgbClr val="78D8CC"/>
                </a:solidFill>
                <a:latin typeface="DejaVu Sans"/>
              </a:defRPr>
            </a:pPr>
            <a:r>
              <a:t>The five-policy comparison is a repository experiment inspired by the paper.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Five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t>Policy</a:t>
                      </a:r>
                    </a:p>
                  </a:txBody>
                  <a:tcPr marL="109728">
                    <a:solidFill>
                      <a:srgbClr val="142838"/>
                    </a:solidFill>
                  </a:tcPr>
                </a:tc>
                <a:tc>
                  <a:txBody>
                    <a:bodyPr/>
                    <a:lstStyle/>
                    <a:p>
                      <a:pPr>
                        <a:defRPr sz="1800" b="1">
                          <a:solidFill>
                            <a:srgbClr val="78D8CC"/>
                          </a:solidFill>
                          <a:latin typeface="DejaVu Sans"/>
                        </a:defRPr>
                      </a:pPr>
                      <a:r>
                        <a:t>Accuracy</a:t>
                      </a:r>
                    </a:p>
                  </a:txBody>
                  <a:tcPr marL="109728">
                    <a:solidFill>
                      <a:srgbClr val="142838"/>
                    </a:solidFill>
                  </a:tcPr>
                </a:tc>
                <a:tc>
                  <a:txBody>
                    <a:bodyPr/>
                    <a:lstStyle/>
                    <a:p>
                      <a:pPr>
                        <a:defRPr sz="1800" b="1">
                          <a:solidFill>
                            <a:srgbClr val="78D8CC"/>
                          </a:solidFill>
                          <a:latin typeface="DejaVu Sans"/>
                        </a:defRPr>
                      </a:pPr>
                      <a:r>
                        <a:t>Updates</a:t>
                      </a:r>
                    </a:p>
                  </a:txBody>
                  <a:tcPr marL="109728">
                    <a:solidFill>
                      <a:srgbClr val="142838"/>
                    </a:solidFill>
                  </a:tcPr>
                </a:tc>
                <a:tc>
                  <a:txBody>
                    <a:bodyPr/>
                    <a:lstStyle/>
                    <a:p>
                      <a:pPr>
                        <a:defRPr sz="1800" b="1">
                          <a:solidFill>
                            <a:srgbClr val="78D8CC"/>
                          </a:solidFill>
                          <a:latin typeface="DejaVu Sans"/>
                        </a:defRPr>
                      </a:pPr>
                      <a:r>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t>Never</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t>Periodic</a:t>
                      </a:r>
                    </a:p>
                  </a:txBody>
                  <a:tcPr marL="109728">
                    <a:solidFill>
                      <a:srgbClr val="101D2A"/>
                    </a:solidFill>
                  </a:tcPr>
                </a:tc>
                <a:tc>
                  <a:txBody>
                    <a:bodyPr/>
                    <a:lstStyle/>
                    <a:p>
                      <a:pPr>
                        <a:defRPr sz="1800" b="0">
                          <a:solidFill>
                            <a:srgbClr val="EAF2F8"/>
                          </a:solidFill>
                          <a:latin typeface="DejaVu Sans"/>
                        </a:defRPr>
                      </a:pPr>
                      <a:r>
                        <a:t>98.33%</a:t>
                      </a:r>
                    </a:p>
                  </a:txBody>
                  <a:tcPr marL="109728">
                    <a:solidFill>
                      <a:srgbClr val="101D2A"/>
                    </a:solidFill>
                  </a:tcPr>
                </a:tc>
                <a:tc>
                  <a:txBody>
                    <a:bodyPr/>
                    <a:lstStyle/>
                    <a:p>
                      <a:pPr>
                        <a:defRPr sz="1800" b="0">
                          <a:solidFill>
                            <a:srgbClr val="EAF2F8"/>
                          </a:solidFill>
                          <a:latin typeface="DejaVu Sans"/>
                        </a:defRPr>
                      </a:pPr>
                      <a:r>
                        <a:t>12</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t>Warning</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3</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t>Validated</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1</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t>Performance drop</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t>Periodic updating gains one correct prediction overall for 12 updates.</a:t>
            </a:r>
          </a:p>
          <a:p>
            <a:pPr>
              <a:spcAft>
                <a:spcPts val="800"/>
              </a:spcAft>
              <a:defRPr sz="1900" b="0">
                <a:solidFill>
                  <a:srgbClr val="78D8CC"/>
                </a:solidFill>
                <a:latin typeface="DejaVu Sans"/>
              </a:defRPr>
            </a:pPr>
            <a:r>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800"/>
              </a:spcAft>
              <a:defRPr sz="800" b="0">
                <a:solidFill>
                  <a:srgbClr val="9CB0C3"/>
                </a:solidFill>
                <a:latin typeface="DejaVu Sans"/>
              </a:defRPr>
            </a:pPr>
            <a: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20</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21</a:t>
            </a: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249</TotalTime>
  <Words>4576</Words>
  <Application>Microsoft Office PowerPoint</Application>
  <DocSecurity>0</DocSecurity>
  <PresentationFormat>Widescreen</PresentationFormat>
  <Paragraphs>645</Paragraphs>
  <Slides>21</Slides>
  <Notes>21</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21</vt:i4>
      </vt:variant>
    </vt:vector>
  </HeadingPairs>
  <TitlesOfParts>
    <vt:vector size="26" baseType="lpstr">
      <vt:lpstr>DejaVu Sans</vt:lpstr>
      <vt:lpstr>Aptos</vt:lpstr>
      <vt:lpstr>Calibri</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23</cp:revision>
  <dcterms:created xsi:type="dcterms:W3CDTF">2026-09-28T11:03:11Z</dcterms:created>
  <dcterms:modified xsi:type="dcterms:W3CDTF">2026-10-04T12:43:27Z</dcterms:modified>
</cp:coreProperties>
</file>