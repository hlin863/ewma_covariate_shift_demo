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8288000" cy="10287000"/>
  <p:notesSz cx="6858000" cy="9144000"/>
  <p:embeddedFontLst>
    <p:embeddedFont>
      <p:font typeface="Aptos Bold" panose="020B0604020202020204" charset="0"/>
      <p:regular r:id="rId45"/>
    </p:embeddedFont>
    <p:embeddedFont>
      <p:font typeface="Calibri (MS)" panose="020B0604020202020204" charset="0"/>
      <p:regular r:id="rId46"/>
    </p:embeddedFont>
    <p:embeddedFont>
      <p:font typeface="Calibri (MS) Bold" panose="020B0604020202020204" charset="0"/>
      <p:regular r:id="rId47"/>
    </p:embeddedFont>
    <p:embeddedFont>
      <p:font typeface="Calibri (MS) Italics" panose="020B0604020202020204" charset="0"/>
      <p:regular r:id="rId48"/>
    </p:embeddedFont>
    <p:embeddedFont>
      <p:font typeface="Consolas" panose="020B0609020204030204" pitchFamily="49" charset="0"/>
      <p:regular r:id="rId49"/>
      <p:bold r:id="rId50"/>
      <p:italic r:id="rId51"/>
      <p:boldItalic r:id="rId52"/>
    </p:embeddedFont>
    <p:embeddedFont>
      <p:font typeface="DejaVu Sans Bold" panose="020B0604020202020204" charset="0"/>
      <p:regular r:id="rId53"/>
    </p:embeddedFont>
    <p:embeddedFont>
      <p:font typeface="DejaVu Sans Light" panose="020B0604020202020204" charset="0"/>
      <p:regular r:id="rId5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1" d="100"/>
          <a:sy n="61" d="100"/>
        </p:scale>
        <p:origin x="321" y="2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modSld">
      <pc:chgData name="Haocheng Lin" userId="3c9af17cd41df8cf" providerId="LiveId" clId="{E85DCD58-ED75-4D29-A2F4-F018EE94DF03}" dt="2026-10-14T21:41:28.527" v="3" actId="207"/>
      <pc:docMkLst>
        <pc:docMk/>
      </pc:docMkLst>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14.10.2026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Timeline</a:t>
            </a:r>
          </a:p>
          <a:p>
            <a:endParaRPr lang="en-US"/>
          </a:p>
          <a:p>
            <a:r>
              <a:rPr lang="en-US"/>
              <a:t>Suggested explanation (30–60 seconds):</a:t>
            </a:r>
          </a:p>
          <a:p>
            <a:r>
              <a:rPr lang="en-US"/>
              <a:t>This is a proposed first-year plan. The current reconstruction and pilot experiments provide starting evidence for early work packages; the digital twin, sustainability and cross-domain work are future objectives.</a:t>
            </a:r>
          </a:p>
          <a:p>
            <a:endParaRPr lang="en-US"/>
          </a:p>
          <a:p>
            <a:r>
              <a:rPr lang="en-US"/>
              <a:t>Likely question and answer:</a:t>
            </a:r>
          </a:p>
          <a:p>
            <a:r>
              <a:rPr lang="en-US"/>
              <a:t>Are these packages already completed? No. Distinguish the existing benchmark foundation from planned research outcomes.</a:t>
            </a:r>
          </a:p>
          <a:p>
            <a:endParaRPr lang="en-US"/>
          </a:p>
          <a:p>
            <a:r>
              <a:rPr lang="en-US"/>
              <a:t>Evidence and cautions:</a:t>
            </a:r>
          </a:p>
          <a:p>
            <a:r>
              <a:rPr lang="en-US"/>
              <a:t>Proposed October2026–September2027 timeline retained from the source deck.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a:solidFill>
                  <a:srgbClr val="EAF2F8"/>
                </a:solidFill>
                <a:latin typeface="DejaVu Sans Bold"/>
                <a:ea typeface="DejaVu Sans Bold"/>
                <a:cs typeface="DejaVu Sans Bold"/>
                <a:sym typeface="DejaVu Sans Bold"/>
              </a:rPr>
              <a:t>EWMA Covariate</a:t>
            </a:r>
          </a:p>
          <a:p>
            <a:pPr algn="l">
              <a:lnSpc>
                <a:spcPts val="7289"/>
              </a:lnSpc>
            </a:pPr>
            <a:r>
              <a:rPr lang="en-US" sz="6075" b="1">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Problem and literature</a:t>
            </a:r>
          </a:p>
        </p:txBody>
      </p:sp>
      <p:sp>
        <p:nvSpPr>
          <p:cNvPr id="10" name="TextBox 10"/>
          <p:cNvSpPr txBox="1"/>
          <p:nvPr/>
        </p:nvSpPr>
        <p:spPr>
          <a:xfrm>
            <a:off x="7223760" y="3204591"/>
            <a:ext cx="9281160" cy="48044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223760" y="4576191"/>
            <a:ext cx="9281160" cy="48044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223760" y="5947791"/>
            <a:ext cx="9281160" cy="48044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223760" y="7319391"/>
            <a:ext cx="9281160" cy="48044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id="17" name="Group 17"/>
          <p:cNvGrpSpPr/>
          <p:nvPr/>
        </p:nvGrpSpPr>
        <p:grpSpPr>
          <a:xfrm>
            <a:off x="1548317" y="5753290"/>
            <a:ext cx="6886070" cy="1727854"/>
            <a:chOff x="0" y="0"/>
            <a:chExt cx="9181427" cy="2303805"/>
          </a:xfrm>
        </p:grpSpPr>
        <p:sp>
          <p:nvSpPr>
            <p:cNvPr id="18" name="Freeform 18"/>
            <p:cNvSpPr/>
            <p:nvPr/>
          </p:nvSpPr>
          <p:spPr>
            <a:xfrm>
              <a:off x="0" y="0"/>
              <a:ext cx="9181465" cy="2303780"/>
            </a:xfrm>
            <a:custGeom>
              <a:avLst/>
              <a:gdLst/>
              <a:ahLst/>
              <a:cxnLst/>
              <a:rect l="l" t="t" r="r" b="b"/>
              <a:pathLst>
                <a:path w="9181465" h="2303780">
                  <a:moveTo>
                    <a:pt x="0" y="0"/>
                  </a:moveTo>
                  <a:lnTo>
                    <a:pt x="9181465" y="0"/>
                  </a:lnTo>
                  <a:lnTo>
                    <a:pt x="9181465" y="2303780"/>
                  </a:lnTo>
                  <a:lnTo>
                    <a:pt x="0" y="2303780"/>
                  </a:lnTo>
                  <a:close/>
                </a:path>
              </a:pathLst>
            </a:custGeom>
            <a:blipFill>
              <a:blip r:embed="rId2">
                <a:alphaModFix amt="0"/>
              </a:blip>
              <a:stretch>
                <a:fillRect t="-27654" b="-27655"/>
              </a:stretch>
            </a:blipFill>
            <a:ln w="28575" cap="sq">
              <a:solidFill>
                <a:srgbClr val="156082"/>
              </a:solidFill>
              <a:prstDash val="solid"/>
              <a:miter/>
            </a:ln>
          </p:spPr>
          <p:txBody>
            <a:bodyPr/>
            <a:lstStyle/>
            <a:p>
              <a:endParaRPr lang="en-GB"/>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id="6" name="Group 6"/>
          <p:cNvGrpSpPr/>
          <p:nvPr/>
        </p:nvGrpSpPr>
        <p:grpSpPr>
          <a:xfrm>
            <a:off x="1234440" y="3566160"/>
            <a:ext cx="7263184" cy="822960"/>
            <a:chOff x="0" y="0"/>
            <a:chExt cx="9684245" cy="1097280"/>
          </a:xfrm>
        </p:grpSpPr>
        <p:sp>
          <p:nvSpPr>
            <p:cNvPr id="7" name="Freeform 7" descr="eq1.png"/>
            <p:cNvSpPr/>
            <p:nvPr/>
          </p:nvSpPr>
          <p:spPr>
            <a:xfrm>
              <a:off x="0" y="0"/>
              <a:ext cx="9684258" cy="1097280"/>
            </a:xfrm>
            <a:custGeom>
              <a:avLst/>
              <a:gdLst/>
              <a:ahLst/>
              <a:cxnLst/>
              <a:rect l="l" t="t" r="r" b="b"/>
              <a:pathLst>
                <a:path w="9684258" h="1097280">
                  <a:moveTo>
                    <a:pt x="0" y="0"/>
                  </a:moveTo>
                  <a:lnTo>
                    <a:pt x="9684258" y="0"/>
                  </a:lnTo>
                  <a:lnTo>
                    <a:pt x="9684258"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id="6" name="Group 6"/>
          <p:cNvGrpSpPr/>
          <p:nvPr/>
        </p:nvGrpSpPr>
        <p:grpSpPr>
          <a:xfrm>
            <a:off x="1234440" y="3429000"/>
            <a:ext cx="7152456" cy="960120"/>
            <a:chOff x="0" y="0"/>
            <a:chExt cx="9536608" cy="1280160"/>
          </a:xfrm>
        </p:grpSpPr>
        <p:sp>
          <p:nvSpPr>
            <p:cNvPr id="7" name="Freeform 7" descr="eq2.png"/>
            <p:cNvSpPr/>
            <p:nvPr/>
          </p:nvSpPr>
          <p:spPr>
            <a:xfrm>
              <a:off x="0" y="0"/>
              <a:ext cx="9536557" cy="1280160"/>
            </a:xfrm>
            <a:custGeom>
              <a:avLst/>
              <a:gdLst/>
              <a:ahLst/>
              <a:cxnLst/>
              <a:rect l="l" t="t" r="r" b="b"/>
              <a:pathLst>
                <a:path w="9536557" h="1280160">
                  <a:moveTo>
                    <a:pt x="0" y="0"/>
                  </a:moveTo>
                  <a:lnTo>
                    <a:pt x="9536557" y="0"/>
                  </a:lnTo>
                  <a:lnTo>
                    <a:pt x="9536557" y="1280160"/>
                  </a:lnTo>
                  <a:lnTo>
                    <a:pt x="0" y="128016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id="6" name="Group 6"/>
          <p:cNvGrpSpPr/>
          <p:nvPr/>
        </p:nvGrpSpPr>
        <p:grpSpPr>
          <a:xfrm>
            <a:off x="1234440" y="3429000"/>
            <a:ext cx="1778251" cy="960120"/>
            <a:chOff x="0" y="0"/>
            <a:chExt cx="2371001" cy="1280160"/>
          </a:xfrm>
        </p:grpSpPr>
        <p:sp>
          <p:nvSpPr>
            <p:cNvPr id="7" name="Freeform 7" descr="eq3.png"/>
            <p:cNvSpPr/>
            <p:nvPr/>
          </p:nvSpPr>
          <p:spPr>
            <a:xfrm>
              <a:off x="0" y="0"/>
              <a:ext cx="2370963" cy="1280160"/>
            </a:xfrm>
            <a:custGeom>
              <a:avLst/>
              <a:gdLst/>
              <a:ahLst/>
              <a:cxnLst/>
              <a:rect l="l" t="t" r="r" b="b"/>
              <a:pathLst>
                <a:path w="2370963" h="1280160">
                  <a:moveTo>
                    <a:pt x="0" y="0"/>
                  </a:moveTo>
                  <a:lnTo>
                    <a:pt x="2370963" y="0"/>
                  </a:lnTo>
                  <a:lnTo>
                    <a:pt x="2370963" y="1280160"/>
                  </a:lnTo>
                  <a:lnTo>
                    <a:pt x="0" y="1280160"/>
                  </a:lnTo>
                  <a:lnTo>
                    <a:pt x="0" y="0"/>
                  </a:lnTo>
                  <a:close/>
                </a:path>
              </a:pathLst>
            </a:custGeom>
            <a:blipFill>
              <a:blip r:embed="rId3"/>
              <a:stretch>
                <a:fillRect r="-1"/>
              </a:stretch>
            </a:blipFill>
          </p:spPr>
          <p:txBody>
            <a:bodyPr/>
            <a:lstStyle/>
            <a:p>
              <a:endParaRPr lang="en-GB"/>
            </a:p>
          </p:txBody>
        </p:sp>
      </p:grpSp>
      <p:grpSp>
        <p:nvGrpSpPr>
          <p:cNvPr id="8" name="Group 8"/>
          <p:cNvGrpSpPr/>
          <p:nvPr/>
        </p:nvGrpSpPr>
        <p:grpSpPr>
          <a:xfrm>
            <a:off x="9326880" y="3429000"/>
            <a:ext cx="7209787" cy="960120"/>
            <a:chOff x="0" y="0"/>
            <a:chExt cx="9613049" cy="1280160"/>
          </a:xfrm>
        </p:grpSpPr>
        <p:sp>
          <p:nvSpPr>
            <p:cNvPr id="9" name="Freeform 9" descr="eq4.png"/>
            <p:cNvSpPr/>
            <p:nvPr/>
          </p:nvSpPr>
          <p:spPr>
            <a:xfrm>
              <a:off x="0" y="0"/>
              <a:ext cx="9613011" cy="1280160"/>
            </a:xfrm>
            <a:custGeom>
              <a:avLst/>
              <a:gdLst/>
              <a:ahLst/>
              <a:cxnLst/>
              <a:rect l="l" t="t" r="r" b="b"/>
              <a:pathLst>
                <a:path w="9613011" h="1280160">
                  <a:moveTo>
                    <a:pt x="0" y="0"/>
                  </a:moveTo>
                  <a:lnTo>
                    <a:pt x="9613011" y="0"/>
                  </a:lnTo>
                  <a:lnTo>
                    <a:pt x="9613011" y="1280160"/>
                  </a:lnTo>
                  <a:lnTo>
                    <a:pt x="0" y="1280160"/>
                  </a:lnTo>
                  <a:lnTo>
                    <a:pt x="0" y="0"/>
                  </a:lnTo>
                  <a:close/>
                </a:path>
              </a:pathLst>
            </a:custGeom>
            <a:blipFill>
              <a:blip r:embed="rId4"/>
              <a:stretch>
                <a:fillRect/>
              </a:stretch>
            </a:blipFill>
          </p:spPr>
          <p:txBody>
            <a:bodyPr/>
            <a:lstStyle/>
            <a:p>
              <a:endParaRPr lang="en-GB"/>
            </a:p>
          </p:txBody>
        </p:sp>
      </p:gr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id="12" name="Group 12"/>
          <p:cNvGrpSpPr/>
          <p:nvPr/>
        </p:nvGrpSpPr>
        <p:grpSpPr>
          <a:xfrm>
            <a:off x="1234440" y="7269480"/>
            <a:ext cx="6078074" cy="685800"/>
            <a:chOff x="0" y="0"/>
            <a:chExt cx="8104099" cy="914400"/>
          </a:xfrm>
        </p:grpSpPr>
        <p:sp>
          <p:nvSpPr>
            <p:cNvPr id="13" name="Freeform 13" descr="eq5.png"/>
            <p:cNvSpPr/>
            <p:nvPr/>
          </p:nvSpPr>
          <p:spPr>
            <a:xfrm>
              <a:off x="0" y="0"/>
              <a:ext cx="8104124" cy="914400"/>
            </a:xfrm>
            <a:custGeom>
              <a:avLst/>
              <a:gdLst/>
              <a:ahLst/>
              <a:cxnLst/>
              <a:rect l="l" t="t" r="r" b="b"/>
              <a:pathLst>
                <a:path w="8104124" h="914400">
                  <a:moveTo>
                    <a:pt x="0" y="0"/>
                  </a:moveTo>
                  <a:lnTo>
                    <a:pt x="8104124" y="0"/>
                  </a:lnTo>
                  <a:lnTo>
                    <a:pt x="8104124" y="914400"/>
                  </a:lnTo>
                  <a:lnTo>
                    <a:pt x="0" y="914400"/>
                  </a:lnTo>
                  <a:lnTo>
                    <a:pt x="0" y="0"/>
                  </a:lnTo>
                  <a:close/>
                </a:path>
              </a:pathLst>
            </a:custGeom>
            <a:blipFill>
              <a:blip r:embed="rId5"/>
              <a:stretch>
                <a:fillRect/>
              </a:stretch>
            </a:blipFill>
          </p:spPr>
          <p:txBody>
            <a:bodyPr/>
            <a:lstStyle/>
            <a:p>
              <a:endParaRPr lang="en-GB"/>
            </a:p>
          </p:txBody>
        </p:sp>
      </p:gr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id="6" name="Group 6"/>
          <p:cNvGrpSpPr/>
          <p:nvPr/>
        </p:nvGrpSpPr>
        <p:grpSpPr>
          <a:xfrm>
            <a:off x="1234440" y="3497580"/>
            <a:ext cx="7342346" cy="822960"/>
            <a:chOff x="0" y="0"/>
            <a:chExt cx="9789795" cy="1097280"/>
          </a:xfrm>
        </p:grpSpPr>
        <p:sp>
          <p:nvSpPr>
            <p:cNvPr id="7" name="Freeform 7" descr="eq6.png"/>
            <p:cNvSpPr/>
            <p:nvPr/>
          </p:nvSpPr>
          <p:spPr>
            <a:xfrm>
              <a:off x="0" y="0"/>
              <a:ext cx="9789795" cy="1097280"/>
            </a:xfrm>
            <a:custGeom>
              <a:avLst/>
              <a:gdLst/>
              <a:ahLst/>
              <a:cxnLst/>
              <a:rect l="l" t="t" r="r" b="b"/>
              <a:pathLst>
                <a:path w="9789795" h="1097280">
                  <a:moveTo>
                    <a:pt x="0" y="0"/>
                  </a:moveTo>
                  <a:lnTo>
                    <a:pt x="9789795" y="0"/>
                  </a:lnTo>
                  <a:lnTo>
                    <a:pt x="9789795"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id="6" name="Group 6"/>
          <p:cNvGrpSpPr/>
          <p:nvPr/>
        </p:nvGrpSpPr>
        <p:grpSpPr>
          <a:xfrm>
            <a:off x="1234440" y="3360420"/>
            <a:ext cx="12084587" cy="960120"/>
            <a:chOff x="0" y="0"/>
            <a:chExt cx="16112782" cy="1280160"/>
          </a:xfrm>
        </p:grpSpPr>
        <p:sp>
          <p:nvSpPr>
            <p:cNvPr id="7" name="Freeform 7" descr="eq7.png"/>
            <p:cNvSpPr/>
            <p:nvPr/>
          </p:nvSpPr>
          <p:spPr>
            <a:xfrm>
              <a:off x="0" y="0"/>
              <a:ext cx="16112744" cy="1280160"/>
            </a:xfrm>
            <a:custGeom>
              <a:avLst/>
              <a:gdLst/>
              <a:ahLst/>
              <a:cxnLst/>
              <a:rect l="l" t="t" r="r" b="b"/>
              <a:pathLst>
                <a:path w="16112744" h="1280160">
                  <a:moveTo>
                    <a:pt x="0" y="0"/>
                  </a:moveTo>
                  <a:lnTo>
                    <a:pt x="16112744" y="0"/>
                  </a:lnTo>
                  <a:lnTo>
                    <a:pt x="16112744" y="1280160"/>
                  </a:lnTo>
                  <a:lnTo>
                    <a:pt x="0" y="128016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234440" y="4869180"/>
            <a:ext cx="13716000" cy="991876"/>
            <a:chOff x="0" y="0"/>
            <a:chExt cx="18288000" cy="1322502"/>
          </a:xfrm>
        </p:grpSpPr>
        <p:sp>
          <p:nvSpPr>
            <p:cNvPr id="9" name="Freeform 9" descr="eq8.png"/>
            <p:cNvSpPr/>
            <p:nvPr/>
          </p:nvSpPr>
          <p:spPr>
            <a:xfrm>
              <a:off x="0" y="0"/>
              <a:ext cx="18288000" cy="1322451"/>
            </a:xfrm>
            <a:custGeom>
              <a:avLst/>
              <a:gdLst/>
              <a:ahLst/>
              <a:cxnLst/>
              <a:rect l="l" t="t" r="r" b="b"/>
              <a:pathLst>
                <a:path w="18288000" h="1322451">
                  <a:moveTo>
                    <a:pt x="0" y="0"/>
                  </a:moveTo>
                  <a:lnTo>
                    <a:pt x="18288000" y="0"/>
                  </a:lnTo>
                  <a:lnTo>
                    <a:pt x="18288000" y="1322451"/>
                  </a:lnTo>
                  <a:lnTo>
                    <a:pt x="0" y="1322451"/>
                  </a:lnTo>
                  <a:lnTo>
                    <a:pt x="0" y="0"/>
                  </a:lnTo>
                  <a:close/>
                </a:path>
              </a:pathLst>
            </a:custGeom>
            <a:blipFill>
              <a:blip r:embed="rId4"/>
              <a:stretch>
                <a:fillRect b="-3"/>
              </a:stretch>
            </a:blipFill>
          </p:spPr>
          <p:txBody>
            <a:bodyPr/>
            <a:lstStyle/>
            <a:p>
              <a:endParaRPr lang="en-GB"/>
            </a:p>
          </p:txBody>
        </p:sp>
      </p:gr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grpSp>
        <p:nvGrpSpPr>
          <p:cNvPr id="8" name="Group 8"/>
          <p:cNvGrpSpPr/>
          <p:nvPr/>
        </p:nvGrpSpPr>
        <p:grpSpPr>
          <a:xfrm>
            <a:off x="1028700" y="3700462"/>
            <a:ext cx="1583055" cy="485775"/>
            <a:chOff x="0" y="0"/>
            <a:chExt cx="2110740" cy="647700"/>
          </a:xfrm>
        </p:grpSpPr>
        <p:sp>
          <p:nvSpPr>
            <p:cNvPr id="9" name="Freeform 9" descr="image.png"/>
            <p:cNvSpPr/>
            <p:nvPr/>
          </p:nvSpPr>
          <p:spPr>
            <a:xfrm>
              <a:off x="0" y="0"/>
              <a:ext cx="2110740" cy="647700"/>
            </a:xfrm>
            <a:custGeom>
              <a:avLst/>
              <a:gdLst/>
              <a:ahLst/>
              <a:cxnLst/>
              <a:rect l="l" t="t" r="r" b="b"/>
              <a:pathLst>
                <a:path w="2110740" h="647700">
                  <a:moveTo>
                    <a:pt x="0" y="0"/>
                  </a:moveTo>
                  <a:lnTo>
                    <a:pt x="2110740" y="0"/>
                  </a:lnTo>
                  <a:lnTo>
                    <a:pt x="2110740" y="647700"/>
                  </a:lnTo>
                  <a:lnTo>
                    <a:pt x="0" y="64770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grpSp>
        <p:nvGrpSpPr>
          <p:cNvPr id="13" name="Group 13"/>
          <p:cNvGrpSpPr/>
          <p:nvPr/>
        </p:nvGrpSpPr>
        <p:grpSpPr>
          <a:xfrm>
            <a:off x="1028700" y="5226368"/>
            <a:ext cx="3697605" cy="1343025"/>
            <a:chOff x="0" y="0"/>
            <a:chExt cx="4930140" cy="1790700"/>
          </a:xfrm>
        </p:grpSpPr>
        <p:sp>
          <p:nvSpPr>
            <p:cNvPr id="14" name="Freeform 14" descr="image.png"/>
            <p:cNvSpPr/>
            <p:nvPr/>
          </p:nvSpPr>
          <p:spPr>
            <a:xfrm>
              <a:off x="0" y="0"/>
              <a:ext cx="4930140" cy="1790700"/>
            </a:xfrm>
            <a:custGeom>
              <a:avLst/>
              <a:gdLst/>
              <a:ahLst/>
              <a:cxnLst/>
              <a:rect l="l" t="t" r="r" b="b"/>
              <a:pathLst>
                <a:path w="4930140" h="1790700">
                  <a:moveTo>
                    <a:pt x="0" y="0"/>
                  </a:moveTo>
                  <a:lnTo>
                    <a:pt x="4930140" y="0"/>
                  </a:lnTo>
                  <a:lnTo>
                    <a:pt x="4930140" y="1790700"/>
                  </a:lnTo>
                  <a:lnTo>
                    <a:pt x="0" y="1790700"/>
                  </a:lnTo>
                  <a:lnTo>
                    <a:pt x="0" y="0"/>
                  </a:lnTo>
                  <a:close/>
                </a:path>
              </a:pathLst>
            </a:custGeom>
            <a:blipFill>
              <a:blip r:embed="rId4"/>
              <a:stretch>
                <a:fillRect/>
              </a:stretch>
            </a:blipFill>
          </p:spPr>
          <p:txBody>
            <a:bodyPr/>
            <a:lstStyle/>
            <a:p>
              <a:endParaRPr lang="en-GB"/>
            </a:p>
          </p:txBody>
        </p:sp>
      </p:gr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grpSp>
        <p:nvGrpSpPr>
          <p:cNvPr id="18" name="Group 18"/>
          <p:cNvGrpSpPr/>
          <p:nvPr/>
        </p:nvGrpSpPr>
        <p:grpSpPr>
          <a:xfrm>
            <a:off x="1028700" y="7420928"/>
            <a:ext cx="5383530" cy="588645"/>
            <a:chOff x="0" y="0"/>
            <a:chExt cx="7178040" cy="784860"/>
          </a:xfrm>
        </p:grpSpPr>
        <p:sp>
          <p:nvSpPr>
            <p:cNvPr id="19" name="Freeform 19" descr="image.png"/>
            <p:cNvSpPr/>
            <p:nvPr/>
          </p:nvSpPr>
          <p:spPr>
            <a:xfrm>
              <a:off x="0" y="0"/>
              <a:ext cx="7178040" cy="784860"/>
            </a:xfrm>
            <a:custGeom>
              <a:avLst/>
              <a:gdLst/>
              <a:ahLst/>
              <a:cxnLst/>
              <a:rect l="l" t="t" r="r" b="b"/>
              <a:pathLst>
                <a:path w="7178040" h="784860">
                  <a:moveTo>
                    <a:pt x="0" y="0"/>
                  </a:moveTo>
                  <a:lnTo>
                    <a:pt x="7178040" y="0"/>
                  </a:lnTo>
                  <a:lnTo>
                    <a:pt x="7178040" y="784860"/>
                  </a:lnTo>
                  <a:lnTo>
                    <a:pt x="0" y="784860"/>
                  </a:lnTo>
                  <a:lnTo>
                    <a:pt x="0" y="0"/>
                  </a:lnTo>
                  <a:close/>
                </a:path>
              </a:pathLst>
            </a:custGeom>
            <a:blipFill>
              <a:blip r:embed="rId5"/>
              <a:stretch>
                <a:fillRect/>
              </a:stretch>
            </a:blipFill>
          </p:spPr>
          <p:txBody>
            <a:bodyPr/>
            <a:lstStyle/>
            <a:p>
              <a:endParaRPr lang="en-GB"/>
            </a:p>
          </p:txBody>
        </p:sp>
      </p:gr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id="8" name="Group 8"/>
          <p:cNvGrpSpPr/>
          <p:nvPr/>
        </p:nvGrpSpPr>
        <p:grpSpPr>
          <a:xfrm>
            <a:off x="1028700" y="3745611"/>
            <a:ext cx="7406640" cy="491490"/>
            <a:chOff x="0" y="0"/>
            <a:chExt cx="9875520" cy="655320"/>
          </a:xfrm>
        </p:grpSpPr>
        <p:sp>
          <p:nvSpPr>
            <p:cNvPr id="9" name="Freeform 9" descr="image.png"/>
            <p:cNvSpPr/>
            <p:nvPr/>
          </p:nvSpPr>
          <p:spPr>
            <a:xfrm>
              <a:off x="0" y="0"/>
              <a:ext cx="9875520" cy="655320"/>
            </a:xfrm>
            <a:custGeom>
              <a:avLst/>
              <a:gdLst/>
              <a:ahLst/>
              <a:cxnLst/>
              <a:rect l="l" t="t" r="r" b="b"/>
              <a:pathLst>
                <a:path w="9875520" h="655320">
                  <a:moveTo>
                    <a:pt x="0" y="0"/>
                  </a:moveTo>
                  <a:lnTo>
                    <a:pt x="9875520" y="0"/>
                  </a:lnTo>
                  <a:lnTo>
                    <a:pt x="9875520" y="655320"/>
                  </a:lnTo>
                  <a:lnTo>
                    <a:pt x="0" y="65532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id="11" name="Group 11"/>
          <p:cNvGrpSpPr/>
          <p:nvPr/>
        </p:nvGrpSpPr>
        <p:grpSpPr>
          <a:xfrm>
            <a:off x="1028700" y="5189563"/>
            <a:ext cx="8641080" cy="483946"/>
            <a:chOff x="0" y="0"/>
            <a:chExt cx="11521440" cy="645262"/>
          </a:xfrm>
        </p:grpSpPr>
        <p:sp>
          <p:nvSpPr>
            <p:cNvPr id="12" name="Freeform 12" descr="image.png"/>
            <p:cNvSpPr/>
            <p:nvPr/>
          </p:nvSpPr>
          <p:spPr>
            <a:xfrm>
              <a:off x="0" y="0"/>
              <a:ext cx="11521440" cy="645287"/>
            </a:xfrm>
            <a:custGeom>
              <a:avLst/>
              <a:gdLst/>
              <a:ahLst/>
              <a:cxnLst/>
              <a:rect l="l" t="t" r="r" b="b"/>
              <a:pathLst>
                <a:path w="11521440" h="645287">
                  <a:moveTo>
                    <a:pt x="0" y="0"/>
                  </a:moveTo>
                  <a:lnTo>
                    <a:pt x="11521440" y="0"/>
                  </a:lnTo>
                  <a:lnTo>
                    <a:pt x="11521440" y="645287"/>
                  </a:lnTo>
                  <a:lnTo>
                    <a:pt x="0" y="645287"/>
                  </a:lnTo>
                  <a:lnTo>
                    <a:pt x="0" y="0"/>
                  </a:lnTo>
                  <a:close/>
                </a:path>
              </a:pathLst>
            </a:custGeom>
            <a:blipFill>
              <a:blip r:embed="rId4"/>
              <a:stretch>
                <a:fillRect b="4"/>
              </a:stretch>
            </a:blipFill>
          </p:spPr>
          <p:txBody>
            <a:bodyPr/>
            <a:lstStyle/>
            <a:p>
              <a:endParaRPr lang="en-GB"/>
            </a:p>
          </p:txBody>
        </p:sp>
      </p:gr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id="14" name="Group 14"/>
          <p:cNvGrpSpPr/>
          <p:nvPr/>
        </p:nvGrpSpPr>
        <p:grpSpPr>
          <a:xfrm>
            <a:off x="1028700" y="6551676"/>
            <a:ext cx="5514975" cy="640080"/>
            <a:chOff x="0" y="0"/>
            <a:chExt cx="7353300" cy="853440"/>
          </a:xfrm>
        </p:grpSpPr>
        <p:sp>
          <p:nvSpPr>
            <p:cNvPr id="15" name="Freeform 15" descr="image.png"/>
            <p:cNvSpPr/>
            <p:nvPr/>
          </p:nvSpPr>
          <p:spPr>
            <a:xfrm>
              <a:off x="0" y="0"/>
              <a:ext cx="7353300" cy="853440"/>
            </a:xfrm>
            <a:custGeom>
              <a:avLst/>
              <a:gdLst/>
              <a:ahLst/>
              <a:cxnLst/>
              <a:rect l="l" t="t" r="r" b="b"/>
              <a:pathLst>
                <a:path w="7353300" h="853440">
                  <a:moveTo>
                    <a:pt x="0" y="0"/>
                  </a:moveTo>
                  <a:lnTo>
                    <a:pt x="7353300" y="0"/>
                  </a:lnTo>
                  <a:lnTo>
                    <a:pt x="7353300" y="853440"/>
                  </a:lnTo>
                  <a:lnTo>
                    <a:pt x="0" y="853440"/>
                  </a:lnTo>
                  <a:lnTo>
                    <a:pt x="0" y="0"/>
                  </a:lnTo>
                  <a:close/>
                </a:path>
              </a:pathLst>
            </a:custGeom>
            <a:blipFill>
              <a:blip r:embed="rId5"/>
              <a:stretch>
                <a:fillRect/>
              </a:stretch>
            </a:blipFill>
          </p:spPr>
          <p:txBody>
            <a:bodyPr/>
            <a:lstStyle/>
            <a:p>
              <a:endParaRPr lang="en-GB"/>
            </a:p>
          </p:txBody>
        </p:sp>
      </p:gr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id="19" name="Group 19"/>
          <p:cNvGrpSpPr/>
          <p:nvPr/>
        </p:nvGrpSpPr>
        <p:grpSpPr>
          <a:xfrm>
            <a:off x="10081260" y="3980497"/>
            <a:ext cx="6623685" cy="680085"/>
            <a:chOff x="0" y="0"/>
            <a:chExt cx="8831580" cy="906780"/>
          </a:xfrm>
        </p:grpSpPr>
        <p:sp>
          <p:nvSpPr>
            <p:cNvPr id="20" name="Freeform 20" descr="image.png"/>
            <p:cNvSpPr/>
            <p:nvPr/>
          </p:nvSpPr>
          <p:spPr>
            <a:xfrm>
              <a:off x="0" y="0"/>
              <a:ext cx="8831580" cy="906780"/>
            </a:xfrm>
            <a:custGeom>
              <a:avLst/>
              <a:gdLst/>
              <a:ahLst/>
              <a:cxnLst/>
              <a:rect l="l" t="t" r="r" b="b"/>
              <a:pathLst>
                <a:path w="8831580" h="906780">
                  <a:moveTo>
                    <a:pt x="0" y="0"/>
                  </a:moveTo>
                  <a:lnTo>
                    <a:pt x="8831580" y="0"/>
                  </a:lnTo>
                  <a:lnTo>
                    <a:pt x="8831580" y="906780"/>
                  </a:lnTo>
                  <a:lnTo>
                    <a:pt x="0" y="906780"/>
                  </a:lnTo>
                  <a:lnTo>
                    <a:pt x="0" y="0"/>
                  </a:lnTo>
                  <a:close/>
                </a:path>
              </a:pathLst>
            </a:custGeom>
            <a:blipFill>
              <a:blip r:embed="rId6"/>
              <a:stretch>
                <a:fillRect/>
              </a:stretch>
            </a:blipFill>
          </p:spPr>
          <p:txBody>
            <a:bodyPr/>
            <a:lstStyle/>
            <a:p>
              <a:endParaRPr lang="en-GB"/>
            </a:p>
          </p:txBody>
        </p:sp>
      </p:gr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id="22" name="Group 22"/>
          <p:cNvGrpSpPr/>
          <p:nvPr/>
        </p:nvGrpSpPr>
        <p:grpSpPr>
          <a:xfrm>
            <a:off x="10149840" y="5842444"/>
            <a:ext cx="5657850" cy="508635"/>
            <a:chOff x="0" y="0"/>
            <a:chExt cx="7543800" cy="678180"/>
          </a:xfrm>
        </p:grpSpPr>
        <p:sp>
          <p:nvSpPr>
            <p:cNvPr id="23" name="Freeform 23" descr="image.png"/>
            <p:cNvSpPr/>
            <p:nvPr/>
          </p:nvSpPr>
          <p:spPr>
            <a:xfrm>
              <a:off x="0" y="0"/>
              <a:ext cx="7543800" cy="678180"/>
            </a:xfrm>
            <a:custGeom>
              <a:avLst/>
              <a:gdLst/>
              <a:ahLst/>
              <a:cxnLst/>
              <a:rect l="l" t="t" r="r" b="b"/>
              <a:pathLst>
                <a:path w="7543800" h="678180">
                  <a:moveTo>
                    <a:pt x="0" y="0"/>
                  </a:moveTo>
                  <a:lnTo>
                    <a:pt x="7543800" y="0"/>
                  </a:lnTo>
                  <a:lnTo>
                    <a:pt x="7543800" y="678180"/>
                  </a:lnTo>
                  <a:lnTo>
                    <a:pt x="0" y="678180"/>
                  </a:lnTo>
                  <a:lnTo>
                    <a:pt x="0" y="0"/>
                  </a:lnTo>
                  <a:close/>
                </a:path>
              </a:pathLst>
            </a:custGeom>
            <a:blipFill>
              <a:blip r:embed="rId7"/>
              <a:stretch>
                <a:fillRect/>
              </a:stretch>
            </a:blipFill>
          </p:spPr>
          <p:txBody>
            <a:bodyPr/>
            <a:lstStyle/>
            <a:p>
              <a:endParaRPr lang="en-GB"/>
            </a:p>
          </p:txBody>
        </p:sp>
      </p:gr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id="6" name="Group 6"/>
          <p:cNvGrpSpPr/>
          <p:nvPr/>
        </p:nvGrpSpPr>
        <p:grpSpPr>
          <a:xfrm>
            <a:off x="1234440" y="3497580"/>
            <a:ext cx="6359652" cy="891540"/>
            <a:chOff x="0" y="0"/>
            <a:chExt cx="8479536" cy="1188720"/>
          </a:xfrm>
        </p:grpSpPr>
        <p:sp>
          <p:nvSpPr>
            <p:cNvPr id="7" name="Freeform 7" descr="eq9.png"/>
            <p:cNvSpPr/>
            <p:nvPr/>
          </p:nvSpPr>
          <p:spPr>
            <a:xfrm>
              <a:off x="0" y="0"/>
              <a:ext cx="8479536" cy="1188720"/>
            </a:xfrm>
            <a:custGeom>
              <a:avLst/>
              <a:gdLst/>
              <a:ahLst/>
              <a:cxnLst/>
              <a:rect l="l" t="t" r="r" b="b"/>
              <a:pathLst>
                <a:path w="8479536" h="1188720">
                  <a:moveTo>
                    <a:pt x="0" y="0"/>
                  </a:moveTo>
                  <a:lnTo>
                    <a:pt x="8479536" y="0"/>
                  </a:lnTo>
                  <a:lnTo>
                    <a:pt x="8479536" y="1188720"/>
                  </a:lnTo>
                  <a:lnTo>
                    <a:pt x="0" y="118872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id="9" name="Group 9"/>
          <p:cNvGrpSpPr/>
          <p:nvPr/>
        </p:nvGrpSpPr>
        <p:grpSpPr>
          <a:xfrm>
            <a:off x="1234440" y="6035040"/>
            <a:ext cx="7874470" cy="960120"/>
            <a:chOff x="0" y="0"/>
            <a:chExt cx="10499293" cy="1280160"/>
          </a:xfrm>
        </p:grpSpPr>
        <p:sp>
          <p:nvSpPr>
            <p:cNvPr id="10" name="Freeform 10" descr="eq10.png"/>
            <p:cNvSpPr/>
            <p:nvPr/>
          </p:nvSpPr>
          <p:spPr>
            <a:xfrm>
              <a:off x="0" y="0"/>
              <a:ext cx="10499344" cy="1280160"/>
            </a:xfrm>
            <a:custGeom>
              <a:avLst/>
              <a:gdLst/>
              <a:ahLst/>
              <a:cxnLst/>
              <a:rect l="l" t="t" r="r" b="b"/>
              <a:pathLst>
                <a:path w="10499344" h="1280160">
                  <a:moveTo>
                    <a:pt x="0" y="0"/>
                  </a:moveTo>
                  <a:lnTo>
                    <a:pt x="10499344" y="0"/>
                  </a:lnTo>
                  <a:lnTo>
                    <a:pt x="10499344" y="1280160"/>
                  </a:lnTo>
                  <a:lnTo>
                    <a:pt x="0" y="1280160"/>
                  </a:lnTo>
                  <a:lnTo>
                    <a:pt x="0" y="0"/>
                  </a:lnTo>
                  <a:close/>
                </a:path>
              </a:pathLst>
            </a:custGeom>
            <a:blipFill>
              <a:blip r:embed="rId4"/>
              <a:stretch>
                <a:fillRect/>
              </a:stretch>
            </a:blipFill>
          </p:spPr>
          <p:txBody>
            <a:bodyPr/>
            <a:lstStyle/>
            <a:p>
              <a:endParaRPr lang="en-GB"/>
            </a:p>
          </p:txBody>
        </p:sp>
      </p:gr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id="6" name="Group 6"/>
          <p:cNvGrpSpPr/>
          <p:nvPr/>
        </p:nvGrpSpPr>
        <p:grpSpPr>
          <a:xfrm>
            <a:off x="1234440" y="3429000"/>
            <a:ext cx="8260080" cy="1028700"/>
            <a:chOff x="0" y="0"/>
            <a:chExt cx="11013440" cy="1371600"/>
          </a:xfrm>
        </p:grpSpPr>
        <p:sp>
          <p:nvSpPr>
            <p:cNvPr id="7" name="Freeform 7" descr="eq11.png"/>
            <p:cNvSpPr/>
            <p:nvPr/>
          </p:nvSpPr>
          <p:spPr>
            <a:xfrm>
              <a:off x="0" y="0"/>
              <a:ext cx="11013440" cy="1371600"/>
            </a:xfrm>
            <a:custGeom>
              <a:avLst/>
              <a:gdLst/>
              <a:ahLst/>
              <a:cxnLst/>
              <a:rect l="l" t="t" r="r" b="b"/>
              <a:pathLst>
                <a:path w="11013440" h="1371600">
                  <a:moveTo>
                    <a:pt x="0" y="0"/>
                  </a:moveTo>
                  <a:lnTo>
                    <a:pt x="11013440" y="0"/>
                  </a:lnTo>
                  <a:lnTo>
                    <a:pt x="11013440" y="1371600"/>
                  </a:lnTo>
                  <a:lnTo>
                    <a:pt x="0" y="13716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Never / periodic</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No update / every configured interval</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Warning / validated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Stage-I warning / available Stage-II confirmation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Performance drop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Rolling accuracy drops below the validation reference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nvGraphicFramePr>
        <p:xfrm>
          <a:off x="1028700" y="3223260"/>
          <a:ext cx="16135350" cy="3543300"/>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97.92%</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0.00 pp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Periodic</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98.33%</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12</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Warning</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97.50%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3</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Validated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97.50%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1</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Performance drop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97.92%</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rgbClr val="000000"/>
                          </a:solidFill>
                          <a:latin typeface="DejaVu Sans Light"/>
                          <a:ea typeface="DejaVu Sans Light"/>
                          <a:cs typeface="DejaVu Sans Light"/>
                          <a:sym typeface="DejaVu Sans Light"/>
                        </a:rPr>
                        <a:t>0.00 pp</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0"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nvGraphicFramePr>
        <p:xfrm>
          <a:off x="1028700" y="2674620"/>
          <a:ext cx="16154400" cy="34290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Published reference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14</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10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Standalone diagnostic</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17</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5</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Combined Table-I file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17</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rgbClr val="000000"/>
                          </a:solidFill>
                          <a:latin typeface="DejaVu Sans Light"/>
                          <a:ea typeface="DejaVu Sans Light"/>
                          <a:cs typeface="DejaVu Sans Light"/>
                          <a:sym typeface="DejaVu Sans Light"/>
                        </a:rPr>
                        <a:t>0</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nvGraphicFramePr>
        <p:xfrm>
          <a:off x="1028700" y="2674620"/>
          <a:ext cx="16154400"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Dataset 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0.33</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5.56</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Dataset 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0.67</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rgbClr val="000000"/>
                          </a:solidFill>
                          <a:latin typeface="DejaVu Sans Light"/>
                          <a:ea typeface="DejaVu Sans Light"/>
                          <a:cs typeface="DejaVu Sans Light"/>
                          <a:sym typeface="DejaVu Sans Light"/>
                        </a:rPr>
                        <a:t>10.33</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8389620" cy="26098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PROJECT TIMELINE</a:t>
            </a:r>
          </a:p>
        </p:txBody>
      </p:sp>
      <p:sp>
        <p:nvSpPr>
          <p:cNvPr id="3" name="TextBox 3"/>
          <p:cNvSpPr txBox="1"/>
          <p:nvPr/>
        </p:nvSpPr>
        <p:spPr>
          <a:xfrm>
            <a:off x="1005840" y="1064895"/>
            <a:ext cx="16390620" cy="746760"/>
          </a:xfrm>
          <a:prstGeom prst="rect">
            <a:avLst/>
          </a:prstGeom>
        </p:spPr>
        <p:txBody>
          <a:bodyPr lIns="0" tIns="0" rIns="0" bIns="0" rtlCol="0" anchor="t">
            <a:spAutoFit/>
          </a:bodyPr>
          <a:lstStyle/>
          <a:p>
            <a:pPr algn="l">
              <a:lnSpc>
                <a:spcPts val="4320"/>
              </a:lnSpc>
            </a:pPr>
            <a:r>
              <a:rPr lang="en-US" sz="3600" b="1">
                <a:solidFill>
                  <a:srgbClr val="EAF2F8"/>
                </a:solidFill>
                <a:latin typeface="DejaVu Sans Bold"/>
                <a:ea typeface="DejaVu Sans Bold"/>
                <a:cs typeface="DejaVu Sans Bold"/>
                <a:sym typeface="DejaVu Sans Bold"/>
              </a:rPr>
              <a:t>First-year objectives across twelve months</a:t>
            </a:r>
          </a:p>
        </p:txBody>
      </p:sp>
      <p:sp>
        <p:nvSpPr>
          <p:cNvPr id="4" name="TextBox 4"/>
          <p:cNvSpPr txBox="1"/>
          <p:nvPr/>
        </p:nvSpPr>
        <p:spPr>
          <a:xfrm>
            <a:off x="1005840" y="2055495"/>
            <a:ext cx="16247745" cy="38481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Proposed October 2026 to September 2027 plan. Existing outputs provide the initial baseline.</a:t>
            </a:r>
          </a:p>
        </p:txBody>
      </p:sp>
      <p:sp>
        <p:nvSpPr>
          <p:cNvPr id="5" name="TextBox 5"/>
          <p:cNvSpPr txBox="1"/>
          <p:nvPr/>
        </p:nvSpPr>
        <p:spPr>
          <a:xfrm>
            <a:off x="1005840" y="9808845"/>
            <a:ext cx="7675245" cy="203835"/>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7236440" y="9761220"/>
            <a:ext cx="388620" cy="25146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25</a:t>
            </a:r>
          </a:p>
        </p:txBody>
      </p:sp>
      <p:graphicFrame>
        <p:nvGraphicFramePr>
          <p:cNvPr id="7" name="Table 7"/>
          <p:cNvGraphicFramePr>
            <a:graphicFrameLocks noGrp="1"/>
          </p:cNvGraphicFramePr>
          <p:nvPr/>
        </p:nvGraphicFramePr>
        <p:xfrm>
          <a:off x="914400" y="2828925"/>
          <a:ext cx="16440150" cy="5657850"/>
        </p:xfrm>
        <a:graphic>
          <a:graphicData uri="http://schemas.openxmlformats.org/drawingml/2006/table">
            <a:tbl>
              <a:tblPr/>
              <a:tblGrid>
                <a:gridCol w="4352644">
                  <a:extLst>
                    <a:ext uri="{9D8B030D-6E8A-4147-A177-3AD203B41FA5}">
                      <a16:colId xmlns:a16="http://schemas.microsoft.com/office/drawing/2014/main" val="20000"/>
                    </a:ext>
                  </a:extLst>
                </a:gridCol>
                <a:gridCol w="685006">
                  <a:extLst>
                    <a:ext uri="{9D8B030D-6E8A-4147-A177-3AD203B41FA5}">
                      <a16:colId xmlns:a16="http://schemas.microsoft.com/office/drawing/2014/main" val="20001"/>
                    </a:ext>
                  </a:extLst>
                </a:gridCol>
                <a:gridCol w="685006">
                  <a:extLst>
                    <a:ext uri="{9D8B030D-6E8A-4147-A177-3AD203B41FA5}">
                      <a16:colId xmlns:a16="http://schemas.microsoft.com/office/drawing/2014/main" val="20002"/>
                    </a:ext>
                  </a:extLst>
                </a:gridCol>
                <a:gridCol w="685006">
                  <a:extLst>
                    <a:ext uri="{9D8B030D-6E8A-4147-A177-3AD203B41FA5}">
                      <a16:colId xmlns:a16="http://schemas.microsoft.com/office/drawing/2014/main" val="20003"/>
                    </a:ext>
                  </a:extLst>
                </a:gridCol>
                <a:gridCol w="685006">
                  <a:extLst>
                    <a:ext uri="{9D8B030D-6E8A-4147-A177-3AD203B41FA5}">
                      <a16:colId xmlns:a16="http://schemas.microsoft.com/office/drawing/2014/main" val="20004"/>
                    </a:ext>
                  </a:extLst>
                </a:gridCol>
                <a:gridCol w="685006">
                  <a:extLst>
                    <a:ext uri="{9D8B030D-6E8A-4147-A177-3AD203B41FA5}">
                      <a16:colId xmlns:a16="http://schemas.microsoft.com/office/drawing/2014/main" val="20005"/>
                    </a:ext>
                  </a:extLst>
                </a:gridCol>
                <a:gridCol w="685006">
                  <a:extLst>
                    <a:ext uri="{9D8B030D-6E8A-4147-A177-3AD203B41FA5}">
                      <a16:colId xmlns:a16="http://schemas.microsoft.com/office/drawing/2014/main" val="20006"/>
                    </a:ext>
                  </a:extLst>
                </a:gridCol>
                <a:gridCol w="685006">
                  <a:extLst>
                    <a:ext uri="{9D8B030D-6E8A-4147-A177-3AD203B41FA5}">
                      <a16:colId xmlns:a16="http://schemas.microsoft.com/office/drawing/2014/main" val="20007"/>
                    </a:ext>
                  </a:extLst>
                </a:gridCol>
                <a:gridCol w="685006">
                  <a:extLst>
                    <a:ext uri="{9D8B030D-6E8A-4147-A177-3AD203B41FA5}">
                      <a16:colId xmlns:a16="http://schemas.microsoft.com/office/drawing/2014/main" val="20008"/>
                    </a:ext>
                  </a:extLst>
                </a:gridCol>
                <a:gridCol w="685006">
                  <a:extLst>
                    <a:ext uri="{9D8B030D-6E8A-4147-A177-3AD203B41FA5}">
                      <a16:colId xmlns:a16="http://schemas.microsoft.com/office/drawing/2014/main" val="20009"/>
                    </a:ext>
                  </a:extLst>
                </a:gridCol>
                <a:gridCol w="685006">
                  <a:extLst>
                    <a:ext uri="{9D8B030D-6E8A-4147-A177-3AD203B41FA5}">
                      <a16:colId xmlns:a16="http://schemas.microsoft.com/office/drawing/2014/main" val="20010"/>
                    </a:ext>
                  </a:extLst>
                </a:gridCol>
                <a:gridCol w="685006">
                  <a:extLst>
                    <a:ext uri="{9D8B030D-6E8A-4147-A177-3AD203B41FA5}">
                      <a16:colId xmlns:a16="http://schemas.microsoft.com/office/drawing/2014/main" val="20011"/>
                    </a:ext>
                  </a:extLst>
                </a:gridCol>
                <a:gridCol w="685006">
                  <a:extLst>
                    <a:ext uri="{9D8B030D-6E8A-4147-A177-3AD203B41FA5}">
                      <a16:colId xmlns:a16="http://schemas.microsoft.com/office/drawing/2014/main" val="20012"/>
                    </a:ext>
                  </a:extLst>
                </a:gridCol>
                <a:gridCol w="3867431">
                  <a:extLst>
                    <a:ext uri="{9D8B030D-6E8A-4147-A177-3AD203B41FA5}">
                      <a16:colId xmlns:a16="http://schemas.microsoft.com/office/drawing/2014/main" val="20013"/>
                    </a:ext>
                  </a:extLst>
                </a:gridCol>
              </a:tblGrid>
              <a:tr h="625491">
                <a:tc>
                  <a:txBody>
                    <a:bodyPr/>
                    <a:lstStyle/>
                    <a:p>
                      <a:pPr algn="l">
                        <a:lnSpc>
                          <a:spcPts val="1755"/>
                        </a:lnSpc>
                        <a:defRPr/>
                      </a:pPr>
                      <a:r>
                        <a:rPr lang="en-US" sz="1462" b="1">
                          <a:solidFill>
                            <a:srgbClr val="2DD4BF"/>
                          </a:solidFill>
                          <a:latin typeface="DejaVu Sans Bold"/>
                          <a:ea typeface="DejaVu Sans Bold"/>
                          <a:cs typeface="DejaVu Sans Bold"/>
                          <a:sym typeface="DejaVu Sans Bold"/>
                        </a:rPr>
                        <a:t>WORK PACKAGE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Oct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Jul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Aug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Sep</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l">
                        <a:lnSpc>
                          <a:spcPts val="1755"/>
                        </a:lnSpc>
                        <a:defRPr/>
                      </a:pPr>
                      <a:r>
                        <a:rPr lang="en-US" sz="1462" b="1">
                          <a:solidFill>
                            <a:srgbClr val="2DD4BF"/>
                          </a:solidFill>
                          <a:latin typeface="DejaVu Sans Bold"/>
                          <a:ea typeface="DejaVu Sans Bold"/>
                          <a:cs typeface="DejaVu Sans Bold"/>
                          <a:sym typeface="DejaVu Sans Bold"/>
                        </a:rPr>
                        <a:t>EXPECTED OUTPUT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Nov</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Dec</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Jan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Feb</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Mar</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Apr</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May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tc>
                  <a:txBody>
                    <a:bodyPr/>
                    <a:lstStyle/>
                    <a:p>
                      <a:pPr algn="ctr">
                        <a:lnSpc>
                          <a:spcPts val="1485"/>
                        </a:lnSpc>
                        <a:defRPr/>
                      </a:pPr>
                      <a:r>
                        <a:rPr lang="en-US" sz="1237" b="1">
                          <a:solidFill>
                            <a:srgbClr val="2DD4BF"/>
                          </a:solidFill>
                          <a:latin typeface="DejaVu Sans Bold"/>
                          <a:ea typeface="DejaVu Sans Bold"/>
                          <a:cs typeface="DejaVu Sans Bold"/>
                          <a:sym typeface="DejaVu Sans Bold"/>
                        </a:rPr>
                        <a:t>Jun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253A"/>
                    </a:solidFill>
                  </a:tcPr>
                </a:tc>
                <a:extLst>
                  <a:ext uri="{0D108BD9-81ED-4DB2-BD59-A6C34878D82A}">
                    <a16:rowId xmlns:a16="http://schemas.microsoft.com/office/drawing/2014/main" val="10000"/>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WP1  Theory and architecture</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CPD, CL and twin design</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Architecture specification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extLst>
                  <a:ext uri="{0D108BD9-81ED-4DB2-BD59-A6C34878D82A}">
                    <a16:rowId xmlns:a16="http://schemas.microsoft.com/office/drawing/2014/main" val="10001"/>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WP2  CPD benchmarking</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EWMA, CUSUM, BOCPD, density ratios</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Benchmark suite and report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extLst>
                  <a:ext uri="{0D108BD9-81ED-4DB2-BD59-A6C34878D82A}">
                    <a16:rowId xmlns:a16="http://schemas.microsoft.com/office/drawing/2014/main" val="10002"/>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WP3  Continual learning and sustainability</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Replay, forgetting, energy costs</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CL module and cost analysis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extLst>
                  <a:ext uri="{0D108BD9-81ED-4DB2-BD59-A6C34878D82A}">
                    <a16:rowId xmlns:a16="http://schemas.microsoft.com/office/drawing/2014/main" val="10003"/>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WP4  Digital twin co-evolution</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Disagreement, joint updates, safety</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Twin framework and testbed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extLst>
                  <a:ext uri="{0D108BD9-81ED-4DB2-BD59-A6C34878D82A}">
                    <a16:rowId xmlns:a16="http://schemas.microsoft.com/office/drawing/2014/main" val="10004"/>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WP5  Cross-domain evaluation</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BCI and photonic maintenance</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Compare retraining and periodic updates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B1A2A"/>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DD4BF"/>
                    </a:solidFill>
                  </a:tcPr>
                </a:tc>
                <a:extLst>
                  <a:ext uri="{0D108BD9-81ED-4DB2-BD59-A6C34878D82A}">
                    <a16:rowId xmlns:a16="http://schemas.microsoft.com/office/drawing/2014/main" val="10005"/>
                  </a:ext>
                </a:extLst>
              </a:tr>
              <a:tr h="838727">
                <a:tc>
                  <a:txBody>
                    <a:bodyPr/>
                    <a:lstStyle/>
                    <a:p>
                      <a:pPr algn="l">
                        <a:lnSpc>
                          <a:spcPts val="1889"/>
                        </a:lnSpc>
                        <a:defRPr/>
                      </a:pPr>
                      <a:r>
                        <a:rPr lang="en-US" sz="1575" b="1">
                          <a:solidFill>
                            <a:srgbClr val="EAF2F8"/>
                          </a:solidFill>
                          <a:latin typeface="DejaVu Sans Bold"/>
                          <a:ea typeface="DejaVu Sans Bold"/>
                          <a:cs typeface="DejaVu Sans Bold"/>
                          <a:sym typeface="DejaVu Sans Bold"/>
                        </a:rPr>
                        <a:t>WP6  Synthesis and engagement</a:t>
                      </a:r>
                      <a:endParaRPr lang="en-US" sz="1100"/>
                    </a:p>
                    <a:p>
                      <a:pPr algn="l">
                        <a:lnSpc>
                          <a:spcPts val="1889"/>
                        </a:lnSpc>
                      </a:pPr>
                      <a:r>
                        <a:rPr lang="en-US" sz="1575" b="1">
                          <a:solidFill>
                            <a:srgbClr val="EAF2F8"/>
                          </a:solidFill>
                          <a:latin typeface="DejaVu Sans Bold"/>
                          <a:ea typeface="DejaVu Sans Bold"/>
                          <a:cs typeface="DejaVu Sans Bold"/>
                          <a:sym typeface="DejaVu Sans Bold"/>
                        </a:rPr>
                        <a:t>Manuscripts, release, stakeholders</a:t>
                      </a:r>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EA1FF"/>
                    </a:solidFill>
                  </a:tcPr>
                </a:tc>
                <a:tc>
                  <a:txBody>
                    <a:bodyPr/>
                    <a:lstStyle/>
                    <a:p>
                      <a:pPr algn="l">
                        <a:lnSpc>
                          <a:spcPts val="1755"/>
                        </a:lnSpc>
                        <a:defRPr/>
                      </a:pPr>
                      <a:r>
                        <a:rPr lang="en-US" sz="1462">
                          <a:solidFill>
                            <a:srgbClr val="B9CAD9"/>
                          </a:solidFill>
                          <a:latin typeface="DejaVu Sans Light"/>
                          <a:ea typeface="DejaVu Sans Light"/>
                          <a:cs typeface="DejaVu Sans Light"/>
                          <a:sym typeface="DejaVu Sans Light"/>
                        </a:rPr>
                        <a:t>Submissions and adoption roadmap</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tc>
                  <a:txBody>
                    <a:bodyPr/>
                    <a:lstStyle/>
                    <a:p>
                      <a:pPr algn="l">
                        <a:lnSpc>
                          <a:spcPts val="1679"/>
                        </a:lnSpc>
                        <a:defRPr/>
                      </a:pP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2031"/>
                    </a:solidFill>
                  </a:tcPr>
                </a:tc>
                <a:extLst>
                  <a:ext uri="{0D108BD9-81ED-4DB2-BD59-A6C34878D82A}">
                    <a16:rowId xmlns:a16="http://schemas.microsoft.com/office/drawing/2014/main" val="10006"/>
                  </a:ext>
                </a:extLst>
              </a:tr>
            </a:tbl>
          </a:graphicData>
        </a:graphic>
      </p:graphicFrame>
      <p:sp>
        <p:nvSpPr>
          <p:cNvPr id="8" name="TextBox 8"/>
          <p:cNvSpPr txBox="1"/>
          <p:nvPr/>
        </p:nvSpPr>
        <p:spPr>
          <a:xfrm>
            <a:off x="1120140" y="8894445"/>
            <a:ext cx="15961995" cy="532447"/>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October priority: lock reproduction settings, explain Stage-II gaps and export real EEG complementary traces.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8479</Words>
  <Application>Microsoft Office PowerPoint</Application>
  <PresentationFormat>Custom</PresentationFormat>
  <Paragraphs>989</Paragraphs>
  <Slides>42</Slides>
  <Notes>35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42</vt:i4>
      </vt:variant>
    </vt:vector>
  </HeadingPairs>
  <TitlesOfParts>
    <vt:vector size="53" baseType="lpstr">
      <vt:lpstr>Aptos</vt:lpstr>
      <vt:lpstr>Arial</vt:lpstr>
      <vt:lpstr>Calibri (MS)</vt:lpstr>
      <vt:lpstr>Aptos Bold</vt:lpstr>
      <vt:lpstr>Calibri (MS) Italics</vt:lpstr>
      <vt:lpstr>Calibri (MS) Bold</vt:lpstr>
      <vt:lpstr>Calibri</vt:lpstr>
      <vt:lpstr>DejaVu Sans Bold</vt:lpstr>
      <vt:lpstr>Consolas</vt:lpstr>
      <vt:lpstr>DejaVu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1</cp:revision>
  <dcterms:created xsi:type="dcterms:W3CDTF">2006-08-16T00:00:00Z</dcterms:created>
  <dcterms:modified xsi:type="dcterms:W3CDTF">2026-10-14T21:41:29Z</dcterms:modified>
  <dc:identifier>DAHYBaR-K0c</dc:identifier>
</cp:coreProperties>
</file>