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Bold" panose="020B0604020202020204" charset="0"/>
      <p:regular r:id="rId47"/>
    </p:embeddedFont>
    <p:embeddedFont>
      <p:font typeface="Calibri" panose="020F0502020204030204" pitchFamily="34" charset="0"/>
      <p:regular r:id="rId48"/>
      <p:bold r:id="rId49"/>
      <p:italic r:id="rId50"/>
      <p:boldItalic r:id="rId51"/>
    </p:embeddedFont>
    <p:embeddedFont>
      <p:font typeface="Calibri (MS)" panose="020B0604020202020204" charset="0"/>
      <p:regular r:id="rId52"/>
    </p:embeddedFont>
    <p:embeddedFont>
      <p:font typeface="Calibri (MS) Bold" panose="020B0604020202020204" charset="0"/>
      <p:regular r:id="rId53"/>
    </p:embeddedFont>
    <p:embeddedFont>
      <p:font typeface="Calibri (MS) Italics" panose="020B0604020202020204" charset="0"/>
      <p:regular r:id="rId54"/>
    </p:embeddedFont>
    <p:embeddedFont>
      <p:font typeface="Consolas" panose="020B0609020204030204" pitchFamily="49" charset="0"/>
      <p:regular r:id="rId55"/>
      <p:bold r:id="rId56"/>
      <p:italic r:id="rId57"/>
      <p:boldItalic r:id="rId58"/>
    </p:embeddedFont>
    <p:embeddedFont>
      <p:font typeface="DejaVu Sans Bold" panose="020B0604020202020204" charset="0"/>
      <p:regular r:id="rId59"/>
    </p:embeddedFont>
    <p:embeddedFont>
      <p:font typeface="DejaVu Sans Light" panose="020B0604020202020204" charset="0"/>
      <p:regular r:id="rId60"/>
    </p:embeddedFont>
    <p:embeddedFont>
      <p:font typeface="Inter" panose="020B0604020202020204" charset="0"/>
      <p:regular r:id="rId61"/>
    </p:embeddedFont>
    <p:embeddedFont>
      <p:font typeface="Inter Bold" panose="020B0604020202020204" charset="0"/>
      <p:regular r:id="rId62"/>
    </p:embeddedFont>
    <p:embeddedFont>
      <p:font typeface="Inter Italics" panose="020B0604020202020204" charset="0"/>
      <p:regular r:id="rId63"/>
    </p:embeddedFont>
    <p:embeddedFont>
      <p:font typeface="Inter Medium" panose="020B0604020202020204" charset="0"/>
      <p:regular r:id="rId64"/>
    </p:embeddedFont>
    <p:embeddedFont>
      <p:font typeface="Inter Semi-Bold" panose="020B0604020202020204" charset="0"/>
      <p:regular r:id="rId65"/>
    </p:embeddedFont>
    <p:embeddedFont>
      <p:font typeface="Roboto" panose="02000000000000000000" pitchFamily="2" charset="0"/>
      <p:regular r:id="rId66"/>
      <p:bold r:id="rId67"/>
      <p:italic r:id="rId68"/>
      <p:boldItalic r:id="rId69"/>
    </p:embeddedFont>
    <p:embeddedFont>
      <p:font typeface="Roboto Bold" panose="02000000000000000000" charset="0"/>
      <p:regular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41.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a:t>
            </a:r>
            <a:r>
              <a:rPr lang="en-US" sz="2100" dirty="0" err="1">
                <a:solidFill>
                  <a:srgbClr val="53657C"/>
                </a:solidFill>
                <a:latin typeface="Aptos"/>
                <a:ea typeface="Aptos"/>
                <a:cs typeface="Aptos"/>
                <a:sym typeface="Aptos"/>
              </a:rPr>
              <a:t>Diethe</a:t>
            </a:r>
            <a:r>
              <a:rPr lang="en-US" sz="2100" dirty="0">
                <a:solidFill>
                  <a:srgbClr val="53657C"/>
                </a:solidFill>
                <a:latin typeface="Aptos"/>
                <a:ea typeface="Aptos"/>
                <a:cs typeface="Aptos"/>
                <a:sym typeface="Aptos"/>
              </a:rPr>
              <a:t>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 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grpSp>
        <p:nvGrpSpPr>
          <p:cNvPr id="32" name="Group 32"/>
          <p:cNvGrpSpPr/>
          <p:nvPr/>
        </p:nvGrpSpPr>
        <p:grpSpPr>
          <a:xfrm>
            <a:off x="12365584" y="6815252"/>
            <a:ext cx="3386642" cy="626383"/>
            <a:chOff x="0" y="0"/>
            <a:chExt cx="4515523" cy="835177"/>
          </a:xfrm>
        </p:grpSpPr>
        <p:sp>
          <p:nvSpPr>
            <p:cNvPr id="33" name="Freeform 33" descr="formula_loss.png"/>
            <p:cNvSpPr/>
            <p:nvPr/>
          </p:nvSpPr>
          <p:spPr>
            <a:xfrm>
              <a:off x="0" y="0"/>
              <a:ext cx="4515485" cy="835152"/>
            </a:xfrm>
            <a:custGeom>
              <a:avLst/>
              <a:gdLst/>
              <a:ahLst/>
              <a:cxnLst/>
              <a:rect l="l" t="t" r="r" b="b"/>
              <a:pathLst>
                <a:path w="4515485" h="835152">
                  <a:moveTo>
                    <a:pt x="0" y="0"/>
                  </a:moveTo>
                  <a:lnTo>
                    <a:pt x="4515485" y="0"/>
                  </a:lnTo>
                  <a:lnTo>
                    <a:pt x="4515485" y="835152"/>
                  </a:lnTo>
                  <a:lnTo>
                    <a:pt x="0" y="835152"/>
                  </a:lnTo>
                  <a:lnTo>
                    <a:pt x="0" y="0"/>
                  </a:lnTo>
                  <a:close/>
                </a:path>
              </a:pathLst>
            </a:custGeom>
            <a:blipFill>
              <a:blip r:embed="rId3"/>
              <a:stretch>
                <a:fillRect b="-2"/>
              </a:stretch>
            </a:blipFill>
          </p:spPr>
          <p:txBody>
            <a:bodyPr/>
            <a:lstStyle/>
            <a:p>
              <a:endParaRPr lang="en-GB"/>
            </a:p>
          </p:txBody>
        </p:sp>
      </p:gr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grpSp>
        <p:nvGrpSpPr>
          <p:cNvPr id="17" name="Group 17"/>
          <p:cNvGrpSpPr/>
          <p:nvPr/>
        </p:nvGrpSpPr>
        <p:grpSpPr>
          <a:xfrm>
            <a:off x="1548317" y="5753290"/>
            <a:ext cx="6886070" cy="1727854"/>
            <a:chOff x="0" y="0"/>
            <a:chExt cx="9181427" cy="2303805"/>
          </a:xfrm>
        </p:grpSpPr>
        <p:sp>
          <p:nvSpPr>
            <p:cNvPr id="18" name="Freeform 18"/>
            <p:cNvSpPr/>
            <p:nvPr/>
          </p:nvSpPr>
          <p:spPr>
            <a:xfrm>
              <a:off x="0" y="0"/>
              <a:ext cx="9181465" cy="2303780"/>
            </a:xfrm>
            <a:custGeom>
              <a:avLst/>
              <a:gdLst/>
              <a:ahLst/>
              <a:cxnLst/>
              <a:rect l="l" t="t" r="r" b="b"/>
              <a:pathLst>
                <a:path w="9181465" h="2303780">
                  <a:moveTo>
                    <a:pt x="0" y="0"/>
                  </a:moveTo>
                  <a:lnTo>
                    <a:pt x="9181465" y="0"/>
                  </a:lnTo>
                  <a:lnTo>
                    <a:pt x="9181465" y="2303780"/>
                  </a:lnTo>
                  <a:lnTo>
                    <a:pt x="0" y="2303780"/>
                  </a:lnTo>
                  <a:close/>
                </a:path>
              </a:pathLst>
            </a:custGeom>
            <a:blipFill>
              <a:blip r:embed="rId2">
                <a:alphaModFix amt="0"/>
              </a:blip>
              <a:stretch>
                <a:fillRect t="-27654" b="-27655"/>
              </a:stretch>
            </a:blipFill>
            <a:ln w="28575" cap="sq">
              <a:solidFill>
                <a:srgbClr val="156082"/>
              </a:solidFill>
              <a:prstDash val="solid"/>
              <a:miter/>
            </a:ln>
          </p:spPr>
          <p:txBody>
            <a:bodyPr/>
            <a:lstStyle/>
            <a:p>
              <a:endParaRPr lang="en-GB"/>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grpSp>
        <p:nvGrpSpPr>
          <p:cNvPr id="6" name="Group 6"/>
          <p:cNvGrpSpPr/>
          <p:nvPr/>
        </p:nvGrpSpPr>
        <p:grpSpPr>
          <a:xfrm>
            <a:off x="1234440" y="3566160"/>
            <a:ext cx="7263184" cy="822960"/>
            <a:chOff x="0" y="0"/>
            <a:chExt cx="9684245" cy="1097280"/>
          </a:xfrm>
        </p:grpSpPr>
        <p:sp>
          <p:nvSpPr>
            <p:cNvPr id="7" name="Freeform 7" descr="eq1.png"/>
            <p:cNvSpPr/>
            <p:nvPr/>
          </p:nvSpPr>
          <p:spPr>
            <a:xfrm>
              <a:off x="0" y="0"/>
              <a:ext cx="9684258" cy="1097280"/>
            </a:xfrm>
            <a:custGeom>
              <a:avLst/>
              <a:gdLst/>
              <a:ahLst/>
              <a:cxnLst/>
              <a:rect l="l" t="t" r="r" b="b"/>
              <a:pathLst>
                <a:path w="9684258" h="1097280">
                  <a:moveTo>
                    <a:pt x="0" y="0"/>
                  </a:moveTo>
                  <a:lnTo>
                    <a:pt x="9684258" y="0"/>
                  </a:lnTo>
                  <a:lnTo>
                    <a:pt x="9684258"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grpSp>
        <p:nvGrpSpPr>
          <p:cNvPr id="6" name="Group 6"/>
          <p:cNvGrpSpPr/>
          <p:nvPr/>
        </p:nvGrpSpPr>
        <p:grpSpPr>
          <a:xfrm>
            <a:off x="1234440" y="3429000"/>
            <a:ext cx="7152456" cy="960120"/>
            <a:chOff x="0" y="0"/>
            <a:chExt cx="9536608" cy="1280160"/>
          </a:xfrm>
        </p:grpSpPr>
        <p:sp>
          <p:nvSpPr>
            <p:cNvPr id="7" name="Freeform 7" descr="eq2.png"/>
            <p:cNvSpPr/>
            <p:nvPr/>
          </p:nvSpPr>
          <p:spPr>
            <a:xfrm>
              <a:off x="0" y="0"/>
              <a:ext cx="9536557" cy="1280160"/>
            </a:xfrm>
            <a:custGeom>
              <a:avLst/>
              <a:gdLst/>
              <a:ahLst/>
              <a:cxnLst/>
              <a:rect l="l" t="t" r="r" b="b"/>
              <a:pathLst>
                <a:path w="9536557" h="1280160">
                  <a:moveTo>
                    <a:pt x="0" y="0"/>
                  </a:moveTo>
                  <a:lnTo>
                    <a:pt x="9536557" y="0"/>
                  </a:lnTo>
                  <a:lnTo>
                    <a:pt x="9536557" y="1280160"/>
                  </a:lnTo>
                  <a:lnTo>
                    <a:pt x="0" y="128016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grpSp>
        <p:nvGrpSpPr>
          <p:cNvPr id="6" name="Group 6"/>
          <p:cNvGrpSpPr/>
          <p:nvPr/>
        </p:nvGrpSpPr>
        <p:grpSpPr>
          <a:xfrm>
            <a:off x="1234440" y="3429000"/>
            <a:ext cx="1778251" cy="960120"/>
            <a:chOff x="0" y="0"/>
            <a:chExt cx="2371001" cy="1280160"/>
          </a:xfrm>
        </p:grpSpPr>
        <p:sp>
          <p:nvSpPr>
            <p:cNvPr id="7" name="Freeform 7" descr="eq3.png"/>
            <p:cNvSpPr/>
            <p:nvPr/>
          </p:nvSpPr>
          <p:spPr>
            <a:xfrm>
              <a:off x="0" y="0"/>
              <a:ext cx="2370963" cy="1280160"/>
            </a:xfrm>
            <a:custGeom>
              <a:avLst/>
              <a:gdLst/>
              <a:ahLst/>
              <a:cxnLst/>
              <a:rect l="l" t="t" r="r" b="b"/>
              <a:pathLst>
                <a:path w="2370963" h="1280160">
                  <a:moveTo>
                    <a:pt x="0" y="0"/>
                  </a:moveTo>
                  <a:lnTo>
                    <a:pt x="2370963" y="0"/>
                  </a:lnTo>
                  <a:lnTo>
                    <a:pt x="2370963" y="1280160"/>
                  </a:lnTo>
                  <a:lnTo>
                    <a:pt x="0" y="1280160"/>
                  </a:lnTo>
                  <a:lnTo>
                    <a:pt x="0" y="0"/>
                  </a:lnTo>
                  <a:close/>
                </a:path>
              </a:pathLst>
            </a:custGeom>
            <a:blipFill>
              <a:blip r:embed="rId3"/>
              <a:stretch>
                <a:fillRect r="-1"/>
              </a:stretch>
            </a:blipFill>
          </p:spPr>
          <p:txBody>
            <a:bodyPr/>
            <a:lstStyle/>
            <a:p>
              <a:endParaRPr lang="en-GB"/>
            </a:p>
          </p:txBody>
        </p:sp>
      </p:grpSp>
      <p:grpSp>
        <p:nvGrpSpPr>
          <p:cNvPr id="8" name="Group 8"/>
          <p:cNvGrpSpPr/>
          <p:nvPr/>
        </p:nvGrpSpPr>
        <p:grpSpPr>
          <a:xfrm>
            <a:off x="9326880" y="3429000"/>
            <a:ext cx="7209787" cy="960120"/>
            <a:chOff x="0" y="0"/>
            <a:chExt cx="9613049" cy="1280160"/>
          </a:xfrm>
        </p:grpSpPr>
        <p:sp>
          <p:nvSpPr>
            <p:cNvPr id="9" name="Freeform 9" descr="eq4.png"/>
            <p:cNvSpPr/>
            <p:nvPr/>
          </p:nvSpPr>
          <p:spPr>
            <a:xfrm>
              <a:off x="0" y="0"/>
              <a:ext cx="9613011" cy="1280160"/>
            </a:xfrm>
            <a:custGeom>
              <a:avLst/>
              <a:gdLst/>
              <a:ahLst/>
              <a:cxnLst/>
              <a:rect l="l" t="t" r="r" b="b"/>
              <a:pathLst>
                <a:path w="9613011" h="1280160">
                  <a:moveTo>
                    <a:pt x="0" y="0"/>
                  </a:moveTo>
                  <a:lnTo>
                    <a:pt x="9613011" y="0"/>
                  </a:lnTo>
                  <a:lnTo>
                    <a:pt x="9613011" y="1280160"/>
                  </a:lnTo>
                  <a:lnTo>
                    <a:pt x="0" y="1280160"/>
                  </a:lnTo>
                  <a:lnTo>
                    <a:pt x="0" y="0"/>
                  </a:lnTo>
                  <a:close/>
                </a:path>
              </a:pathLst>
            </a:custGeom>
            <a:blipFill>
              <a:blip r:embed="rId4"/>
              <a:stretch>
                <a:fillRect/>
              </a:stretch>
            </a:blipFill>
          </p:spPr>
          <p:txBody>
            <a:bodyPr/>
            <a:lstStyle/>
            <a:p>
              <a:endParaRPr lang="en-GB"/>
            </a:p>
          </p:txBody>
        </p:sp>
      </p:gr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grpSp>
        <p:nvGrpSpPr>
          <p:cNvPr id="12" name="Group 12"/>
          <p:cNvGrpSpPr/>
          <p:nvPr/>
        </p:nvGrpSpPr>
        <p:grpSpPr>
          <a:xfrm>
            <a:off x="1234440" y="7269480"/>
            <a:ext cx="6078074" cy="685800"/>
            <a:chOff x="0" y="0"/>
            <a:chExt cx="8104099" cy="914400"/>
          </a:xfrm>
        </p:grpSpPr>
        <p:sp>
          <p:nvSpPr>
            <p:cNvPr id="13" name="Freeform 13" descr="eq5.png"/>
            <p:cNvSpPr/>
            <p:nvPr/>
          </p:nvSpPr>
          <p:spPr>
            <a:xfrm>
              <a:off x="0" y="0"/>
              <a:ext cx="8104124" cy="914400"/>
            </a:xfrm>
            <a:custGeom>
              <a:avLst/>
              <a:gdLst/>
              <a:ahLst/>
              <a:cxnLst/>
              <a:rect l="l" t="t" r="r" b="b"/>
              <a:pathLst>
                <a:path w="8104124" h="914400">
                  <a:moveTo>
                    <a:pt x="0" y="0"/>
                  </a:moveTo>
                  <a:lnTo>
                    <a:pt x="8104124" y="0"/>
                  </a:lnTo>
                  <a:lnTo>
                    <a:pt x="8104124" y="914400"/>
                  </a:lnTo>
                  <a:lnTo>
                    <a:pt x="0" y="914400"/>
                  </a:lnTo>
                  <a:lnTo>
                    <a:pt x="0" y="0"/>
                  </a:lnTo>
                  <a:close/>
                </a:path>
              </a:pathLst>
            </a:custGeom>
            <a:blipFill>
              <a:blip r:embed="rId5"/>
              <a:stretch>
                <a:fillRect/>
              </a:stretch>
            </a:blipFill>
          </p:spPr>
          <p:txBody>
            <a:bodyPr/>
            <a:lstStyle/>
            <a:p>
              <a:endParaRPr lang="en-GB"/>
            </a:p>
          </p:txBody>
        </p:sp>
      </p:gr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grpSp>
        <p:nvGrpSpPr>
          <p:cNvPr id="6" name="Group 6"/>
          <p:cNvGrpSpPr/>
          <p:nvPr/>
        </p:nvGrpSpPr>
        <p:grpSpPr>
          <a:xfrm>
            <a:off x="1234440" y="3497580"/>
            <a:ext cx="7342346" cy="822960"/>
            <a:chOff x="0" y="0"/>
            <a:chExt cx="9789795" cy="1097280"/>
          </a:xfrm>
        </p:grpSpPr>
        <p:sp>
          <p:nvSpPr>
            <p:cNvPr id="7" name="Freeform 7" descr="eq6.png"/>
            <p:cNvSpPr/>
            <p:nvPr/>
          </p:nvSpPr>
          <p:spPr>
            <a:xfrm>
              <a:off x="0" y="0"/>
              <a:ext cx="9789795" cy="1097280"/>
            </a:xfrm>
            <a:custGeom>
              <a:avLst/>
              <a:gdLst/>
              <a:ahLst/>
              <a:cxnLst/>
              <a:rect l="l" t="t" r="r" b="b"/>
              <a:pathLst>
                <a:path w="9789795" h="1097280">
                  <a:moveTo>
                    <a:pt x="0" y="0"/>
                  </a:moveTo>
                  <a:lnTo>
                    <a:pt x="9789795" y="0"/>
                  </a:lnTo>
                  <a:lnTo>
                    <a:pt x="9789795"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grpSp>
        <p:nvGrpSpPr>
          <p:cNvPr id="6" name="Group 6"/>
          <p:cNvGrpSpPr/>
          <p:nvPr/>
        </p:nvGrpSpPr>
        <p:grpSpPr>
          <a:xfrm>
            <a:off x="1234440" y="3360420"/>
            <a:ext cx="12084587" cy="960120"/>
            <a:chOff x="0" y="0"/>
            <a:chExt cx="16112782" cy="1280160"/>
          </a:xfrm>
        </p:grpSpPr>
        <p:sp>
          <p:nvSpPr>
            <p:cNvPr id="7" name="Freeform 7" descr="eq7.png"/>
            <p:cNvSpPr/>
            <p:nvPr/>
          </p:nvSpPr>
          <p:spPr>
            <a:xfrm>
              <a:off x="0" y="0"/>
              <a:ext cx="16112744" cy="1280160"/>
            </a:xfrm>
            <a:custGeom>
              <a:avLst/>
              <a:gdLst/>
              <a:ahLst/>
              <a:cxnLst/>
              <a:rect l="l" t="t" r="r" b="b"/>
              <a:pathLst>
                <a:path w="16112744" h="1280160">
                  <a:moveTo>
                    <a:pt x="0" y="0"/>
                  </a:moveTo>
                  <a:lnTo>
                    <a:pt x="16112744" y="0"/>
                  </a:lnTo>
                  <a:lnTo>
                    <a:pt x="16112744" y="1280160"/>
                  </a:lnTo>
                  <a:lnTo>
                    <a:pt x="0" y="128016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234440" y="4869180"/>
            <a:ext cx="13716000" cy="991876"/>
            <a:chOff x="0" y="0"/>
            <a:chExt cx="18288000" cy="1322502"/>
          </a:xfrm>
        </p:grpSpPr>
        <p:sp>
          <p:nvSpPr>
            <p:cNvPr id="9" name="Freeform 9" descr="eq8.png"/>
            <p:cNvSpPr/>
            <p:nvPr/>
          </p:nvSpPr>
          <p:spPr>
            <a:xfrm>
              <a:off x="0" y="0"/>
              <a:ext cx="18288000" cy="1322451"/>
            </a:xfrm>
            <a:custGeom>
              <a:avLst/>
              <a:gdLst/>
              <a:ahLst/>
              <a:cxnLst/>
              <a:rect l="l" t="t" r="r" b="b"/>
              <a:pathLst>
                <a:path w="18288000" h="1322451">
                  <a:moveTo>
                    <a:pt x="0" y="0"/>
                  </a:moveTo>
                  <a:lnTo>
                    <a:pt x="18288000" y="0"/>
                  </a:lnTo>
                  <a:lnTo>
                    <a:pt x="18288000" y="1322451"/>
                  </a:lnTo>
                  <a:lnTo>
                    <a:pt x="0" y="1322451"/>
                  </a:lnTo>
                  <a:lnTo>
                    <a:pt x="0" y="0"/>
                  </a:lnTo>
                  <a:close/>
                </a:path>
              </a:pathLst>
            </a:custGeom>
            <a:blipFill>
              <a:blip r:embed="rId4"/>
              <a:stretch>
                <a:fillRect b="-3"/>
              </a:stretch>
            </a:blipFill>
          </p:spPr>
          <p:txBody>
            <a:bodyPr/>
            <a:lstStyle/>
            <a:p>
              <a:endParaRPr lang="en-GB"/>
            </a:p>
          </p:txBody>
        </p:sp>
      </p:gr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grpSp>
        <p:nvGrpSpPr>
          <p:cNvPr id="8" name="Group 8"/>
          <p:cNvGrpSpPr/>
          <p:nvPr/>
        </p:nvGrpSpPr>
        <p:grpSpPr>
          <a:xfrm>
            <a:off x="1028700" y="3700462"/>
            <a:ext cx="1583055" cy="485775"/>
            <a:chOff x="0" y="0"/>
            <a:chExt cx="2110740" cy="647700"/>
          </a:xfrm>
        </p:grpSpPr>
        <p:sp>
          <p:nvSpPr>
            <p:cNvPr id="9" name="Freeform 9" descr="image.png"/>
            <p:cNvSpPr/>
            <p:nvPr/>
          </p:nvSpPr>
          <p:spPr>
            <a:xfrm>
              <a:off x="0" y="0"/>
              <a:ext cx="2110740" cy="647700"/>
            </a:xfrm>
            <a:custGeom>
              <a:avLst/>
              <a:gdLst/>
              <a:ahLst/>
              <a:cxnLst/>
              <a:rect l="l" t="t" r="r" b="b"/>
              <a:pathLst>
                <a:path w="2110740" h="647700">
                  <a:moveTo>
                    <a:pt x="0" y="0"/>
                  </a:moveTo>
                  <a:lnTo>
                    <a:pt x="2110740" y="0"/>
                  </a:lnTo>
                  <a:lnTo>
                    <a:pt x="2110740" y="647700"/>
                  </a:lnTo>
                  <a:lnTo>
                    <a:pt x="0" y="64770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grpSp>
        <p:nvGrpSpPr>
          <p:cNvPr id="13" name="Group 13"/>
          <p:cNvGrpSpPr/>
          <p:nvPr/>
        </p:nvGrpSpPr>
        <p:grpSpPr>
          <a:xfrm>
            <a:off x="1028700" y="5226368"/>
            <a:ext cx="3697605" cy="1343025"/>
            <a:chOff x="0" y="0"/>
            <a:chExt cx="4930140" cy="1790700"/>
          </a:xfrm>
        </p:grpSpPr>
        <p:sp>
          <p:nvSpPr>
            <p:cNvPr id="14" name="Freeform 14" descr="image.png"/>
            <p:cNvSpPr/>
            <p:nvPr/>
          </p:nvSpPr>
          <p:spPr>
            <a:xfrm>
              <a:off x="0" y="0"/>
              <a:ext cx="4930140" cy="1790700"/>
            </a:xfrm>
            <a:custGeom>
              <a:avLst/>
              <a:gdLst/>
              <a:ahLst/>
              <a:cxnLst/>
              <a:rect l="l" t="t" r="r" b="b"/>
              <a:pathLst>
                <a:path w="4930140" h="1790700">
                  <a:moveTo>
                    <a:pt x="0" y="0"/>
                  </a:moveTo>
                  <a:lnTo>
                    <a:pt x="4930140" y="0"/>
                  </a:lnTo>
                  <a:lnTo>
                    <a:pt x="4930140" y="1790700"/>
                  </a:lnTo>
                  <a:lnTo>
                    <a:pt x="0" y="1790700"/>
                  </a:lnTo>
                  <a:lnTo>
                    <a:pt x="0" y="0"/>
                  </a:lnTo>
                  <a:close/>
                </a:path>
              </a:pathLst>
            </a:custGeom>
            <a:blipFill>
              <a:blip r:embed="rId4"/>
              <a:stretch>
                <a:fillRect/>
              </a:stretch>
            </a:blipFill>
          </p:spPr>
          <p:txBody>
            <a:bodyPr/>
            <a:lstStyle/>
            <a:p>
              <a:endParaRPr lang="en-GB"/>
            </a:p>
          </p:txBody>
        </p:sp>
      </p:gr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grpSp>
        <p:nvGrpSpPr>
          <p:cNvPr id="18" name="Group 18"/>
          <p:cNvGrpSpPr/>
          <p:nvPr/>
        </p:nvGrpSpPr>
        <p:grpSpPr>
          <a:xfrm>
            <a:off x="1028700" y="7420928"/>
            <a:ext cx="5383530" cy="588645"/>
            <a:chOff x="0" y="0"/>
            <a:chExt cx="7178040" cy="784860"/>
          </a:xfrm>
        </p:grpSpPr>
        <p:sp>
          <p:nvSpPr>
            <p:cNvPr id="19" name="Freeform 19" descr="image.png"/>
            <p:cNvSpPr/>
            <p:nvPr/>
          </p:nvSpPr>
          <p:spPr>
            <a:xfrm>
              <a:off x="0" y="0"/>
              <a:ext cx="7178040" cy="784860"/>
            </a:xfrm>
            <a:custGeom>
              <a:avLst/>
              <a:gdLst/>
              <a:ahLst/>
              <a:cxnLst/>
              <a:rect l="l" t="t" r="r" b="b"/>
              <a:pathLst>
                <a:path w="7178040" h="784860">
                  <a:moveTo>
                    <a:pt x="0" y="0"/>
                  </a:moveTo>
                  <a:lnTo>
                    <a:pt x="7178040" y="0"/>
                  </a:lnTo>
                  <a:lnTo>
                    <a:pt x="7178040" y="784860"/>
                  </a:lnTo>
                  <a:lnTo>
                    <a:pt x="0" y="784860"/>
                  </a:lnTo>
                  <a:lnTo>
                    <a:pt x="0" y="0"/>
                  </a:lnTo>
                  <a:close/>
                </a:path>
              </a:pathLst>
            </a:custGeom>
            <a:blipFill>
              <a:blip r:embed="rId5"/>
              <a:stretch>
                <a:fillRect/>
              </a:stretch>
            </a:blipFill>
          </p:spPr>
          <p:txBody>
            <a:bodyPr/>
            <a:lstStyle/>
            <a:p>
              <a:endParaRPr lang="en-GB"/>
            </a:p>
          </p:txBody>
        </p:sp>
      </p:gr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097280" y="2798064"/>
            <a:ext cx="16116300" cy="1342063"/>
            <a:chOff x="0" y="0"/>
            <a:chExt cx="21488400" cy="1789417"/>
          </a:xfrm>
        </p:grpSpPr>
        <p:sp>
          <p:nvSpPr>
            <p:cNvPr id="7" name="Freeform 7" descr="ewma_representation_equation.png"/>
            <p:cNvSpPr/>
            <p:nvPr/>
          </p:nvSpPr>
          <p:spPr>
            <a:xfrm>
              <a:off x="0" y="0"/>
              <a:ext cx="21488400" cy="1789430"/>
            </a:xfrm>
            <a:custGeom>
              <a:avLst/>
              <a:gdLst/>
              <a:ahLst/>
              <a:cxnLst/>
              <a:rect l="l" t="t" r="r" b="b"/>
              <a:pathLst>
                <a:path w="21488400" h="1789430">
                  <a:moveTo>
                    <a:pt x="0" y="0"/>
                  </a:moveTo>
                  <a:lnTo>
                    <a:pt x="21488400" y="0"/>
                  </a:lnTo>
                  <a:lnTo>
                    <a:pt x="21488400" y="1789430"/>
                  </a:lnTo>
                  <a:lnTo>
                    <a:pt x="0" y="178943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grpSp>
        <p:nvGrpSpPr>
          <p:cNvPr id="8" name="Group 8"/>
          <p:cNvGrpSpPr/>
          <p:nvPr/>
        </p:nvGrpSpPr>
        <p:grpSpPr>
          <a:xfrm>
            <a:off x="1028700" y="3745611"/>
            <a:ext cx="7406640" cy="491490"/>
            <a:chOff x="0" y="0"/>
            <a:chExt cx="9875520" cy="655320"/>
          </a:xfrm>
        </p:grpSpPr>
        <p:sp>
          <p:nvSpPr>
            <p:cNvPr id="9" name="Freeform 9" descr="image.png"/>
            <p:cNvSpPr/>
            <p:nvPr/>
          </p:nvSpPr>
          <p:spPr>
            <a:xfrm>
              <a:off x="0" y="0"/>
              <a:ext cx="9875520" cy="655320"/>
            </a:xfrm>
            <a:custGeom>
              <a:avLst/>
              <a:gdLst/>
              <a:ahLst/>
              <a:cxnLst/>
              <a:rect l="l" t="t" r="r" b="b"/>
              <a:pathLst>
                <a:path w="9875520" h="655320">
                  <a:moveTo>
                    <a:pt x="0" y="0"/>
                  </a:moveTo>
                  <a:lnTo>
                    <a:pt x="9875520" y="0"/>
                  </a:lnTo>
                  <a:lnTo>
                    <a:pt x="9875520" y="655320"/>
                  </a:lnTo>
                  <a:lnTo>
                    <a:pt x="0" y="65532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grpSp>
        <p:nvGrpSpPr>
          <p:cNvPr id="11" name="Group 11"/>
          <p:cNvGrpSpPr/>
          <p:nvPr/>
        </p:nvGrpSpPr>
        <p:grpSpPr>
          <a:xfrm>
            <a:off x="1028700" y="5189563"/>
            <a:ext cx="8641080" cy="483946"/>
            <a:chOff x="0" y="0"/>
            <a:chExt cx="11521440" cy="645262"/>
          </a:xfrm>
        </p:grpSpPr>
        <p:sp>
          <p:nvSpPr>
            <p:cNvPr id="12" name="Freeform 12" descr="image.png"/>
            <p:cNvSpPr/>
            <p:nvPr/>
          </p:nvSpPr>
          <p:spPr>
            <a:xfrm>
              <a:off x="0" y="0"/>
              <a:ext cx="11521440" cy="645287"/>
            </a:xfrm>
            <a:custGeom>
              <a:avLst/>
              <a:gdLst/>
              <a:ahLst/>
              <a:cxnLst/>
              <a:rect l="l" t="t" r="r" b="b"/>
              <a:pathLst>
                <a:path w="11521440" h="645287">
                  <a:moveTo>
                    <a:pt x="0" y="0"/>
                  </a:moveTo>
                  <a:lnTo>
                    <a:pt x="11521440" y="0"/>
                  </a:lnTo>
                  <a:lnTo>
                    <a:pt x="11521440" y="645287"/>
                  </a:lnTo>
                  <a:lnTo>
                    <a:pt x="0" y="645287"/>
                  </a:lnTo>
                  <a:lnTo>
                    <a:pt x="0" y="0"/>
                  </a:lnTo>
                  <a:close/>
                </a:path>
              </a:pathLst>
            </a:custGeom>
            <a:blipFill>
              <a:blip r:embed="rId4"/>
              <a:stretch>
                <a:fillRect b="4"/>
              </a:stretch>
            </a:blipFill>
          </p:spPr>
          <p:txBody>
            <a:bodyPr/>
            <a:lstStyle/>
            <a:p>
              <a:endParaRPr lang="en-GB"/>
            </a:p>
          </p:txBody>
        </p:sp>
      </p:gr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grpSp>
        <p:nvGrpSpPr>
          <p:cNvPr id="14" name="Group 14"/>
          <p:cNvGrpSpPr/>
          <p:nvPr/>
        </p:nvGrpSpPr>
        <p:grpSpPr>
          <a:xfrm>
            <a:off x="1028700" y="6551676"/>
            <a:ext cx="5514975" cy="640080"/>
            <a:chOff x="0" y="0"/>
            <a:chExt cx="7353300" cy="853440"/>
          </a:xfrm>
        </p:grpSpPr>
        <p:sp>
          <p:nvSpPr>
            <p:cNvPr id="15" name="Freeform 15" descr="image.png"/>
            <p:cNvSpPr/>
            <p:nvPr/>
          </p:nvSpPr>
          <p:spPr>
            <a:xfrm>
              <a:off x="0" y="0"/>
              <a:ext cx="7353300" cy="853440"/>
            </a:xfrm>
            <a:custGeom>
              <a:avLst/>
              <a:gdLst/>
              <a:ahLst/>
              <a:cxnLst/>
              <a:rect l="l" t="t" r="r" b="b"/>
              <a:pathLst>
                <a:path w="7353300" h="853440">
                  <a:moveTo>
                    <a:pt x="0" y="0"/>
                  </a:moveTo>
                  <a:lnTo>
                    <a:pt x="7353300" y="0"/>
                  </a:lnTo>
                  <a:lnTo>
                    <a:pt x="7353300" y="853440"/>
                  </a:lnTo>
                  <a:lnTo>
                    <a:pt x="0" y="853440"/>
                  </a:lnTo>
                  <a:lnTo>
                    <a:pt x="0" y="0"/>
                  </a:lnTo>
                  <a:close/>
                </a:path>
              </a:pathLst>
            </a:custGeom>
            <a:blipFill>
              <a:blip r:embed="rId5"/>
              <a:stretch>
                <a:fillRect/>
              </a:stretch>
            </a:blipFill>
          </p:spPr>
          <p:txBody>
            <a:bodyPr/>
            <a:lstStyle/>
            <a:p>
              <a:endParaRPr lang="en-GB"/>
            </a:p>
          </p:txBody>
        </p:sp>
      </p:gr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grpSp>
        <p:nvGrpSpPr>
          <p:cNvPr id="19" name="Group 19"/>
          <p:cNvGrpSpPr/>
          <p:nvPr/>
        </p:nvGrpSpPr>
        <p:grpSpPr>
          <a:xfrm>
            <a:off x="10081260" y="3980497"/>
            <a:ext cx="6623685" cy="680085"/>
            <a:chOff x="0" y="0"/>
            <a:chExt cx="8831580" cy="906780"/>
          </a:xfrm>
        </p:grpSpPr>
        <p:sp>
          <p:nvSpPr>
            <p:cNvPr id="20" name="Freeform 20" descr="image.png"/>
            <p:cNvSpPr/>
            <p:nvPr/>
          </p:nvSpPr>
          <p:spPr>
            <a:xfrm>
              <a:off x="0" y="0"/>
              <a:ext cx="8831580" cy="906780"/>
            </a:xfrm>
            <a:custGeom>
              <a:avLst/>
              <a:gdLst/>
              <a:ahLst/>
              <a:cxnLst/>
              <a:rect l="l" t="t" r="r" b="b"/>
              <a:pathLst>
                <a:path w="8831580" h="906780">
                  <a:moveTo>
                    <a:pt x="0" y="0"/>
                  </a:moveTo>
                  <a:lnTo>
                    <a:pt x="8831580" y="0"/>
                  </a:lnTo>
                  <a:lnTo>
                    <a:pt x="8831580" y="906780"/>
                  </a:lnTo>
                  <a:lnTo>
                    <a:pt x="0" y="906780"/>
                  </a:lnTo>
                  <a:lnTo>
                    <a:pt x="0" y="0"/>
                  </a:lnTo>
                  <a:close/>
                </a:path>
              </a:pathLst>
            </a:custGeom>
            <a:blipFill>
              <a:blip r:embed="rId6"/>
              <a:stretch>
                <a:fillRect/>
              </a:stretch>
            </a:blipFill>
          </p:spPr>
          <p:txBody>
            <a:bodyPr/>
            <a:lstStyle/>
            <a:p>
              <a:endParaRPr lang="en-GB"/>
            </a:p>
          </p:txBody>
        </p:sp>
      </p:gr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grpSp>
        <p:nvGrpSpPr>
          <p:cNvPr id="22" name="Group 22"/>
          <p:cNvGrpSpPr/>
          <p:nvPr/>
        </p:nvGrpSpPr>
        <p:grpSpPr>
          <a:xfrm>
            <a:off x="10149840" y="5842444"/>
            <a:ext cx="5657850" cy="508635"/>
            <a:chOff x="0" y="0"/>
            <a:chExt cx="7543800" cy="678180"/>
          </a:xfrm>
        </p:grpSpPr>
        <p:sp>
          <p:nvSpPr>
            <p:cNvPr id="23" name="Freeform 23" descr="image.png"/>
            <p:cNvSpPr/>
            <p:nvPr/>
          </p:nvSpPr>
          <p:spPr>
            <a:xfrm>
              <a:off x="0" y="0"/>
              <a:ext cx="7543800" cy="678180"/>
            </a:xfrm>
            <a:custGeom>
              <a:avLst/>
              <a:gdLst/>
              <a:ahLst/>
              <a:cxnLst/>
              <a:rect l="l" t="t" r="r" b="b"/>
              <a:pathLst>
                <a:path w="7543800" h="678180">
                  <a:moveTo>
                    <a:pt x="0" y="0"/>
                  </a:moveTo>
                  <a:lnTo>
                    <a:pt x="7543800" y="0"/>
                  </a:lnTo>
                  <a:lnTo>
                    <a:pt x="7543800" y="678180"/>
                  </a:lnTo>
                  <a:lnTo>
                    <a:pt x="0" y="678180"/>
                  </a:lnTo>
                  <a:lnTo>
                    <a:pt x="0" y="0"/>
                  </a:lnTo>
                  <a:close/>
                </a:path>
              </a:pathLst>
            </a:custGeom>
            <a:blipFill>
              <a:blip r:embed="rId7"/>
              <a:stretch>
                <a:fillRect/>
              </a:stretch>
            </a:blipFill>
          </p:spPr>
          <p:txBody>
            <a:bodyPr/>
            <a:lstStyle/>
            <a:p>
              <a:endParaRPr lang="en-GB"/>
            </a:p>
          </p:txBody>
        </p:sp>
      </p:gr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grpSp>
        <p:nvGrpSpPr>
          <p:cNvPr id="6" name="Group 6"/>
          <p:cNvGrpSpPr/>
          <p:nvPr/>
        </p:nvGrpSpPr>
        <p:grpSpPr>
          <a:xfrm>
            <a:off x="1234440" y="3497580"/>
            <a:ext cx="6359652" cy="891540"/>
            <a:chOff x="0" y="0"/>
            <a:chExt cx="8479536" cy="1188720"/>
          </a:xfrm>
        </p:grpSpPr>
        <p:sp>
          <p:nvSpPr>
            <p:cNvPr id="7" name="Freeform 7" descr="eq9.png"/>
            <p:cNvSpPr/>
            <p:nvPr/>
          </p:nvSpPr>
          <p:spPr>
            <a:xfrm>
              <a:off x="0" y="0"/>
              <a:ext cx="8479536" cy="1188720"/>
            </a:xfrm>
            <a:custGeom>
              <a:avLst/>
              <a:gdLst/>
              <a:ahLst/>
              <a:cxnLst/>
              <a:rect l="l" t="t" r="r" b="b"/>
              <a:pathLst>
                <a:path w="8479536" h="1188720">
                  <a:moveTo>
                    <a:pt x="0" y="0"/>
                  </a:moveTo>
                  <a:lnTo>
                    <a:pt x="8479536" y="0"/>
                  </a:lnTo>
                  <a:lnTo>
                    <a:pt x="8479536" y="1188720"/>
                  </a:lnTo>
                  <a:lnTo>
                    <a:pt x="0" y="118872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grpSp>
        <p:nvGrpSpPr>
          <p:cNvPr id="9" name="Group 9"/>
          <p:cNvGrpSpPr/>
          <p:nvPr/>
        </p:nvGrpSpPr>
        <p:grpSpPr>
          <a:xfrm>
            <a:off x="1234440" y="6035040"/>
            <a:ext cx="7874470" cy="960120"/>
            <a:chOff x="0" y="0"/>
            <a:chExt cx="10499293" cy="1280160"/>
          </a:xfrm>
        </p:grpSpPr>
        <p:sp>
          <p:nvSpPr>
            <p:cNvPr id="10" name="Freeform 10" descr="eq10.png"/>
            <p:cNvSpPr/>
            <p:nvPr/>
          </p:nvSpPr>
          <p:spPr>
            <a:xfrm>
              <a:off x="0" y="0"/>
              <a:ext cx="10499344" cy="1280160"/>
            </a:xfrm>
            <a:custGeom>
              <a:avLst/>
              <a:gdLst/>
              <a:ahLst/>
              <a:cxnLst/>
              <a:rect l="l" t="t" r="r" b="b"/>
              <a:pathLst>
                <a:path w="10499344" h="1280160">
                  <a:moveTo>
                    <a:pt x="0" y="0"/>
                  </a:moveTo>
                  <a:lnTo>
                    <a:pt x="10499344" y="0"/>
                  </a:lnTo>
                  <a:lnTo>
                    <a:pt x="10499344" y="1280160"/>
                  </a:lnTo>
                  <a:lnTo>
                    <a:pt x="0" y="1280160"/>
                  </a:lnTo>
                  <a:lnTo>
                    <a:pt x="0" y="0"/>
                  </a:lnTo>
                  <a:close/>
                </a:path>
              </a:pathLst>
            </a:custGeom>
            <a:blipFill>
              <a:blip r:embed="rId4"/>
              <a:stretch>
                <a:fillRect/>
              </a:stretch>
            </a:blipFill>
          </p:spPr>
          <p:txBody>
            <a:bodyPr/>
            <a:lstStyle/>
            <a:p>
              <a:endParaRPr lang="en-GB"/>
            </a:p>
          </p:txBody>
        </p:sp>
      </p:gr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grpSp>
        <p:nvGrpSpPr>
          <p:cNvPr id="6" name="Group 6"/>
          <p:cNvGrpSpPr/>
          <p:nvPr/>
        </p:nvGrpSpPr>
        <p:grpSpPr>
          <a:xfrm>
            <a:off x="1234440" y="3429000"/>
            <a:ext cx="8260080" cy="1028700"/>
            <a:chOff x="0" y="0"/>
            <a:chExt cx="11013440" cy="1371600"/>
          </a:xfrm>
        </p:grpSpPr>
        <p:sp>
          <p:nvSpPr>
            <p:cNvPr id="7" name="Freeform 7" descr="eq11.png"/>
            <p:cNvSpPr/>
            <p:nvPr/>
          </p:nvSpPr>
          <p:spPr>
            <a:xfrm>
              <a:off x="0" y="0"/>
              <a:ext cx="11013440" cy="1371600"/>
            </a:xfrm>
            <a:custGeom>
              <a:avLst/>
              <a:gdLst/>
              <a:ahLst/>
              <a:cxnLst/>
              <a:rect l="l" t="t" r="r" b="b"/>
              <a:pathLst>
                <a:path w="11013440" h="1371600">
                  <a:moveTo>
                    <a:pt x="0" y="0"/>
                  </a:moveTo>
                  <a:lnTo>
                    <a:pt x="11013440" y="0"/>
                  </a:lnTo>
                  <a:lnTo>
                    <a:pt x="11013440" y="1371600"/>
                  </a:lnTo>
                  <a:lnTo>
                    <a:pt x="0" y="13716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grpSp>
        <p:nvGrpSpPr>
          <p:cNvPr id="20" name="Group 20"/>
          <p:cNvGrpSpPr/>
          <p:nvPr/>
        </p:nvGrpSpPr>
        <p:grpSpPr>
          <a:xfrm>
            <a:off x="14785848" y="8738902"/>
            <a:ext cx="914962" cy="250288"/>
            <a:chOff x="0" y="0"/>
            <a:chExt cx="1219949" cy="333718"/>
          </a:xfrm>
        </p:grpSpPr>
        <p:sp>
          <p:nvSpPr>
            <p:cNvPr id="21" name="Freeform 21" descr="formula_relation.png"/>
            <p:cNvSpPr/>
            <p:nvPr/>
          </p:nvSpPr>
          <p:spPr>
            <a:xfrm>
              <a:off x="0" y="0"/>
              <a:ext cx="1219962" cy="333756"/>
            </a:xfrm>
            <a:custGeom>
              <a:avLst/>
              <a:gdLst/>
              <a:ahLst/>
              <a:cxnLst/>
              <a:rect l="l" t="t" r="r" b="b"/>
              <a:pathLst>
                <a:path w="1219962" h="333756">
                  <a:moveTo>
                    <a:pt x="0" y="0"/>
                  </a:moveTo>
                  <a:lnTo>
                    <a:pt x="1219962" y="0"/>
                  </a:lnTo>
                  <a:lnTo>
                    <a:pt x="1219962" y="333756"/>
                  </a:lnTo>
                  <a:lnTo>
                    <a:pt x="0" y="333756"/>
                  </a:lnTo>
                  <a:lnTo>
                    <a:pt x="0" y="0"/>
                  </a:lnTo>
                  <a:close/>
                </a:path>
              </a:pathLst>
            </a:custGeom>
            <a:blipFill>
              <a:blip r:embed="rId3"/>
              <a:stretch>
                <a:fillRect r="1" b="11"/>
              </a:stretch>
            </a:blipFill>
          </p:spPr>
          <p:txBody>
            <a:bodyPr/>
            <a:lstStyle/>
            <a:p>
              <a:endParaRPr lang="en-GB"/>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48</TotalTime>
  <Words>8819</Words>
  <Application>Microsoft Office PowerPoint</Application>
  <PresentationFormat>Custom</PresentationFormat>
  <Paragraphs>1042</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Roboto Bold</vt:lpstr>
      <vt:lpstr>Calibri (MS)</vt:lpstr>
      <vt:lpstr>Inter Semi-Bold</vt:lpstr>
      <vt:lpstr>Inter</vt:lpstr>
      <vt:lpstr>Arial</vt:lpstr>
      <vt:lpstr>DejaVu Sans Bold</vt:lpstr>
      <vt:lpstr>Aptos Bold</vt:lpstr>
      <vt:lpstr>Calibri (MS) Italics</vt:lpstr>
      <vt:lpstr>Consolas</vt:lpstr>
      <vt:lpstr>Inter Medium</vt:lpstr>
      <vt:lpstr>Inter Bold</vt:lpstr>
      <vt:lpstr>Roboto</vt:lpstr>
      <vt:lpstr>DejaVu Sans Light</vt:lpstr>
      <vt:lpstr>Inter Italics</vt:lpstr>
      <vt:lpstr>Aptos</vt:lpstr>
      <vt:lpstr>Calibri (MS)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16</cp:revision>
  <dcterms:created xsi:type="dcterms:W3CDTF">2006-08-16T00:00:00Z</dcterms:created>
  <dcterms:modified xsi:type="dcterms:W3CDTF">2026-10-15T09:37:48Z</dcterms:modified>
  <dc:identifier>DAHYBaR-K0c</dc:identifier>
</cp:coreProperties>
</file>