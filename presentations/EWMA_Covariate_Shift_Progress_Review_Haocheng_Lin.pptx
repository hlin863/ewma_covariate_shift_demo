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2"/>
  </p:sldMasterIdLst>
  <p:notesMasterIdLst>
    <p:notesMasterId r:id="rId24"/>
  </p:notesMasterIdLst>
  <p:sldIdLst>
    <p:sldId id="256" r:id="rId3"/>
    <p:sldId id="257" r:id="rId4"/>
    <p:sldId id="258" r:id="rId5"/>
    <p:sldId id="1000" r:id="rId6"/>
    <p:sldId id="1001" r:id="rId7"/>
    <p:sldId id="1002" r:id="rId8"/>
    <p:sldId id="1003" r:id="rId9"/>
    <p:sldId id="1004" r:id="rId10"/>
    <p:sldId id="1005" r:id="rId11"/>
    <p:sldId id="259" r:id="rId12"/>
    <p:sldId id="266" r:id="rId13"/>
    <p:sldId id="260" r:id="rId14"/>
    <p:sldId id="261" r:id="rId15"/>
    <p:sldId id="267" r:id="rId16"/>
    <p:sldId id="262" r:id="rId17"/>
    <p:sldId id="265" r:id="rId18"/>
    <p:sldId id="2000" r:id="rId19"/>
    <p:sldId id="2001" r:id="rId20"/>
    <p:sldId id="2002" r:id="rId21"/>
    <p:sldId id="263" r:id="rId22"/>
    <p:sldId id="264" r:id="rId23"/>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1" d="100"/>
          <a:sy n="91" d="100"/>
        </p:scale>
        <p:origin x="351"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modSld">
      <pc:chgData name="Haocheng Lin" userId="3c9af17cd41df8cf" providerId="LiveId" clId="{E85DCD58-ED75-4D29-A2F4-F018EE94DF03}" dt="2026-10-04T11:19:44.586" v="0" actId="1076"/>
      <pc:docMkLst>
        <pc:docMk/>
      </pc:docMkLst>
      <pc:sldChg chg="modSp mod">
        <pc:chgData name="Haocheng Lin" userId="3c9af17cd41df8cf" providerId="LiveId" clId="{E85DCD58-ED75-4D29-A2F4-F018EE94DF03}" dt="2026-10-04T11:19:44.586" v="0" actId="1076"/>
        <pc:sldMkLst>
          <pc:docMk/>
          <pc:sldMk cId="0" sldId="2002"/>
        </pc:sldMkLst>
        <pc:graphicFrameChg chg="mod">
          <ac:chgData name="Haocheng Lin" userId="3c9af17cd41df8cf" providerId="LiveId" clId="{E85DCD58-ED75-4D29-A2F4-F018EE94DF03}" dt="2026-10-04T11:19:44.586" v="0" actId="1076"/>
          <ac:graphicFrameMkLst>
            <pc:docMk/>
            <pc:sldMk cId="0" sldId="2002"/>
            <ac:graphicFrameMk id="8" creationId="{00000000-0000-0000-0000-00000000000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Updated evidence includes complementary 20-seed and 100-seed synthetic experiments and a magnitude-6 comparison. Stored results are an evidence snapshot, not proof that every output was regenerated at this commit.</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https://github.com/hlin863/ewma_covariate_shift_demo/blob/a3271c24b2aefebeaa45ca805536a6a76c17d0e6/outputs/complementary_100/summary.csv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Repository evidence: 2a8d20b. Implemented capabilities and stored results are distinguished.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Literature chain: Raza et al. (2015), EWMA model based shift-detection methods; Chowdhury et al. (2018), Online Covariate Shift Detection-Based Adaptive Brain–Computer Interface to Trigger Hand Exoskeleton Feedback for Neuro-Rehabilitation; Raza et al. (2019), Covariate shift estimation based adaptive ensemble learning; Rao (2013), Brain–Computer Interfacing; Heyden et al. (2024), ABCD; Alippi et al. (2017), Hierarchical Change-Detection Tests. Chowdhury uses CSP features from μ/β bands and linear SVM. It should not be conflated with the 2019 ten-band FBCSP implementation. HCDT is related literature, not an assertion that the ICI-CDT baseline is the same algorithm.</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https://github.com/hlin863/ewma_covariate_shift_demo/blob/a3271c24b2aefebeaa45ca805536a6a76c17d0e6/src/detection/stage1/complementary.py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Chowdhury, A., Raza, H., Meena, Y. K., Dutta, A., &amp; Prasad, G. (2018). Online Covariate Shift Detection-Based Adaptive Brain–Computer Interface to Trigger Hand Exoskeleton Feedback for Neuro-Rehabilitation. IEEE Transactions on Cognitive and Developmental Systems, 10(4), 1070–1080.</a:t>
            </a:r>
          </a:p>
          <a:p>
            <a:r>
              <a:t>Protocol: two calibration runs of 40 trials and one online feedback run of 40 trials per participant. Ten healthy and ten hemiplegic participants. EEG-CSAC alone ran online, with EEG-NAC applied afterwards offline to the same data (§II.E, p. 1073). Classifier predicts left/right hand motor imagery, not healthy/patient status. Stage-I uses PC1 of four CSP features. Stage-II compares multivariate feature sets. Validated shifts trigger appending labelled data and SVM retraining (§II.E.3, pp. 1074–1075).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Chowdhury, A., Raza, H., Meena, Y. K., Dutta, A., &amp; Prasad, G. (2018). Online Covariate Shift Detection-Based Adaptive Brain–Computer Interface to Trigger Hand Exoskeleton Feedback for Neuro-Rehabilitation. IEEE Transactions on Cognitive and Developmental Systems, 10(4), 1070–1080.</a:t>
            </a:r>
          </a:p>
          <a:p>
            <a:r>
              <a:t>Accuracy values are reported means ± SD. Both paired comparisons are significant at p &lt; 0.01 using the Wilcoxon signed-rank test (§II.E.4, p. 1075). Gains of 6.25 and 5.50 percentage points are calculated by subtracting published group means. Kappa also improves significantly (Table IV). All participants could trigger the hand exoskeleton (§IV, p. 1078). These are paper results, not repository reproduction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Chowdhury, A., Raza, H., Meena, Y. K., Dutta, A., &amp; Prasad, G. (2018). Online Covariate Shift Detection-Based Adaptive Brain–Computer Interface to Trigger Hand Exoskeleton Feedback for Neuro-Rehabilitation. IEEE Transactions on Cognitive and Developmental Systems, 10(4), 1070–1080.</a:t>
            </a:r>
          </a:p>
          <a:p>
            <a:r>
              <a:t>CSW and CSV are percentages of all trials, defined in Eqs. (10)–(11). Reported mean ± SD: healthy CSW 15.75 ± 5.65%, CSV 9.25 ± 3.54%; stroke CSW 16.75 ± 2.89%, CSV 9.00 ± 2.10%. Reductions significant at p &lt; 0.01. CSV and accuracy gain correlate at r = 0.853, p &lt; 0.01. Critical interpretation: this association does not prove each detected event is a true distributional shift. Rejected warnings alone cannot identify false positives without independent ground truth.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Chowdhury, A., Raza, H., Meena, Y. K., Dutta, A., &amp; Prasad, G. (2018). Online Covariate Shift Detection-Based Adaptive Brain–Computer Interface to Trigger Hand Exoskeleton Feedback for Neuro-Rehabilitation. IEEE Transactions on Cognitive and Developmental Systems, 10(4), 1070–1080.</a:t>
            </a:r>
          </a:p>
          <a:p>
            <a:r>
              <a:t>All limitations on this slide are explicit in the Discussion. Binary classification and fixed frequency bands, plus inability to make direct comparisons with other adaptive BCI systems: p. 1078 right column. Artefacts/noise and preprocessing trade-off: p. 1078 right column. Feedback once per trial: p. 1078 left column. Known labels and assumed cue compliance, proposed partially supervised adaptation and future continuous/asynchronous operation: p. 1079 left column.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Chowdhury, A., Raza, H., Meena, Y. K., Dutta, A., &amp; Prasad, G. (2018). Online Covariate Shift Detection-Based Adaptive Brain–Computer Interface to Trigger Hand Exoskeleton Feedback for Neuro-Rehabilitation. IEEE Transactions on Cognitive and Developmental Systems, 10(4), 1070–1080.</a:t>
            </a:r>
          </a:p>
          <a:p>
            <a:r>
              <a:t>These are critical interpretations of the reported design, not a list explicitly stated by the authors. Cohort size n = 10 per group limits subgroup/generalisation evidence (§II.D). One 40-trial feedback run does not establish reliability over repeated sessions (§II.B). EEG-NAC was applied offline to data generated in the adaptive condition (§II.E), so this was not a separate randomised online comparison. The outcomes concern decoding, kappa, ITR and detector rates, not longitudinal clinical recovery (§III). This supports online feasibility and decoding benefit, while leaving durable rehabilitation efficacy unresolved.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Chowdhury, A., Raza, H., Meena, Y. K., Dutta, A., &amp; Prasad, G. (2018). Online Covariate Shift Detection-Based Adaptive Brain–Computer Interface to Trigger Hand Exoskeleton Feedback for Neuro-Rehabilitation. IEEE Transactions on Cognitive and Developmental Systems, 10(4), 1070–1080.</a:t>
            </a:r>
          </a:p>
          <a:p>
            <a:r>
              <a:t>Project mapping uses only the supplied presentation snapshot. It is not a fresh repository audit. Paper: two fixed bands, four CSP features, PC1 for Stage-I, multivariate Hotelling validation, supervised SVM adaptation, online exoskeleton feedback. Deck: ten-band FBCSP pipeline on BCI Competition IV 2A/2B, reproduction/discrepancy audit, separate classifier benchmark, complementary score/residual monitoring. Proposed priorities retain the deck’s configuration-locked rerun, Stage-II diagnostics and synthetic false-alarm/delay evaluation. No claim of clinical deployment or numerical reproduction is added.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Repository evidence: 2a8d20b. Implemented capabilities and stored results are distinguished.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CSE uses the Session-I (2A) and Sessions-I–III (2B) development pools with stratified 70/30 splitting before feature fitting. The paper does not report exact partition membership or seed. Published lambda overrides remain the default Table-I runner choice. The classifier benchmark has a separate protocol: 2A fits Session I and tests II; stored 2B metrics use I–II fitting and Session III GDF-only holdout. Optional released-label 2B evaluation is not the source of the shown benchmark numbers.</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https://github.com/hlin863/ewma_covariate_shift_demo/blob/a3271c24b2aefebeaa45ca805536a6a76c17d0e6/src/adaptation/experiments/bagging_bci.py</a:t>
            </a:r>
          </a:p>
          <a:p>
            <a:r>
              <a:t>https://github.com/hlin863/ewma_covariate_shift_demo/blob/a3271c24b2aefebeaa45ca805536a6a76c17d0e6/outputs/metrics/bagging_bci_real.csv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Classifier accuracies are unweighted means of nine subject accuracies per dataset, calculated from bagging_bci_real.csv. Changes are percentage points using unrounded values. Bagging uses 30 linear SVM members and sample fraction 0.8. No statistical significance or universal gain is claimed.</a:t>
            </a:r>
          </a:p>
          <a:p>
            <a:r>
              <a:t>Synthetic table: outputs/complementary_100/summary.csv, 100 seeds, alpha 0.01, lambda 0.2, magnitude 3, detection horizon 20. Detection means at least one alarm within the 20-sample post-shift window. No-shift matched-window alarm rates are 21% score, 21% residual, 26% combined; full no-shift per-sample rates are 0.991%, 1.052%, 1.060%. This prevents interpreting the 1% calibration alpha as a 1% window-level rate. Magnitude-6 PC1 detection: score 88%, residual 21%, combined 82%. These controlled synthetic results do not establish real EEG shift-detection accuracy.</a:t>
            </a:r>
          </a:p>
          <a:p>
            <a:r>
              <a:t>The committed pytest report dates to 22 September and contains 216 tests with one path-format assertion failure. It is not current-HEAD verification.</a:t>
            </a:r>
          </a:p>
          <a:p>
            <a:endParaRPr/>
          </a:p>
          <a:p>
            <a:r>
              <a:t>Repository snapshot: a3271c2, 30 September 2026.</a:t>
            </a:r>
          </a:p>
          <a:p>
            <a:r>
              <a:t>https://github.com/hlin863/ewma_covariate_shift_demo/blob/a3271c24b2aefebeaa45ca805536a6a76c17d0e6/outputs/metrics/bagging_bci_real.csv</a:t>
            </a:r>
          </a:p>
          <a:p>
            <a:r>
              <a:t>https://github.com/hlin863/ewma_covariate_shift_demo/blob/a3271c24b2aefebeaa45ca805536a6a76c17d0e6/outputs/complementary_100/summary.csv</a:t>
            </a:r>
          </a:p>
          <a:p>
            <a:r>
              <a:t>https://github.com/hlin863/ewma_covariate_shift_demo/blob/a3271c24b2aefebeaa45ca805536a6a76c17d0e6/outputs/complementary_100/config.json</a:t>
            </a:r>
          </a:p>
          <a:p>
            <a:r>
              <a:t>https://github.com/hlin863/ewma_covariate_shift_demo/blob/a3271c24b2aefebeaa45ca805536a6a76c17d0e6/outputs/complementary_magnitude6/summary.csv</a:t>
            </a:r>
          </a:p>
          <a:p>
            <a:r>
              <a:t>https://github.com/hlin863/ewma_covariate_shift_demo/blob/a3271c24b2aefebeaa45ca805536a6a76c17d0e6/scripts/run_complementary_monitoring.py</a:t>
            </a:r>
          </a:p>
          <a:p>
            <a:r>
              <a:t>https://github.com/hlin863/ewma_covariate_shift_demo/blob/a3271c24b2aefebeaa45ca805536a6a76c17d0e6/outputs/metrics/pytest_results.xml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outputs/metrics/bci_2b_table1_results.csv and bci_table1_comparison.csv at 2a8d20b.</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14279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outputs/metrics/bci_table1_comparison.csv at 2a8d20b; means calculated across nine subjects per dataset.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current runners and stored result files at 2a8d20b. Evaluation data do not fit the feature representation.</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16936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Sources: Diethe et al. (2019), §§3–5; docs/diethe_experiments.md; src/adaptation/experiments/diethe.py.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docs/diethe_experiments.md and current CLI. Defaults: 240 trials, 20-trial interval, 30-trial performance window.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scripts/run_diethe_experiment.py and export_experiment(). No committed Diethe run outputs in reviewed tree.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twelve-month work-package schedule remains a proposed research plan. It does not claim that CUSUM, BOCPD, density-ratio methods, digital twins or photonic maintenance evaluation are already implemented. Current repository outputs form an initial EWMA, hierarchical-detection and classifier baseline. The immediate October emphasis is configuration provenance, Stage-II discrepancy analysis and real EEG complementary export.</a:t>
            </a:r>
          </a:p>
          <a:p>
            <a:endParaRPr/>
          </a:p>
          <a:p>
            <a:r>
              <a:t>Repository snapshot: a3271c2, 30 September 2026.</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Repository evidence: 2a8d20b. Implemented capabilities and stored results are distinguished.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AAD795F9-EEE3-477E-9BD4-F29627706AB5}"/>
              </a:ext>
            </a:extLst>
          </p:cNvPr>
          <p:cNvSpPr>
            <a:spLocks noGrp="1"/>
          </p:cNvSpPr>
          <p:nvPr/>
        </p:nvSpPr>
        <p:spPr>
          <a:xfrm>
            <a:off x="5791200" y="22098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3EC0BBB8-82CA-4980-ACC4-FA6C6F2E599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Subtitle">
            <a:extLst>
              <a:ext uri="{FF2B5EF4-FFF2-40B4-BE49-F238E27FC236}">
                <a16:creationId xmlns:a16="http://schemas.microsoft.com/office/drawing/2014/main" id="{C8AC04D1-8889-449F-888C-0F2081ED49A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3" name="Accent rule">
            <a:extLst>
              <a:ext uri="{FF2B5EF4-FFF2-40B4-BE49-F238E27FC236}">
                <a16:creationId xmlns:a16="http://schemas.microsoft.com/office/drawing/2014/main" id="{30FA1085-E867-43EB-A162-23373335B381}"/>
              </a:ext>
            </a:extLst>
          </p:cNvPr>
          <p:cNvSpPr>
            <a:spLocks noGrp="1"/>
          </p:cNvSpPr>
          <p:nvPr/>
        </p:nvSpPr>
        <p:spPr>
          <a:xfrm>
            <a:off x="5791200" y="2476500"/>
            <a:ext cx="609600" cy="38100"/>
          </a:xfrm>
          <a:prstGeom prst="rect">
            <a:avLst/>
          </a:prstGeom>
          <a:solidFill>
            <a:schemeClr val="accent1"/>
          </a:solidFill>
          <a:ln>
            <a:noFill/>
            <a:prstDash val="solid"/>
          </a:ln>
        </p:spPr>
      </p:sp>
      <p:sp>
        <p:nvSpPr>
          <p:cNvPr id="2" name="Section title">
            <a:extLst>
              <a:ext uri="{FF2B5EF4-FFF2-40B4-BE49-F238E27FC236}">
                <a16:creationId xmlns:a16="http://schemas.microsoft.com/office/drawing/2014/main" id="{ABCE7717-965A-4AC1-91FA-A691A887B63E}"/>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62DC6B76-B7F5-48BE-BD49-D12294C60D6A}"/>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FD5C62DE-A32F-4CF4-868F-9111AF2AE97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Body">
            <a:extLst>
              <a:ext uri="{FF2B5EF4-FFF2-40B4-BE49-F238E27FC236}">
                <a16:creationId xmlns:a16="http://schemas.microsoft.com/office/drawing/2014/main" id="{A7E428D4-365B-4497-99E6-D8A945FC3C7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5" name="Accent rule">
            <a:extLst>
              <a:ext uri="{FF2B5EF4-FFF2-40B4-BE49-F238E27FC236}">
                <a16:creationId xmlns:a16="http://schemas.microsoft.com/office/drawing/2014/main" id="{8BFA7C53-65FB-47FB-B421-CC2A9BF21BFD}"/>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1DB9BDD-008D-40E8-93A0-946C12C0D11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2047D79C-9359-409F-B301-C1051B66F51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4" name="Right column">
            <a:extLst>
              <a:ext uri="{FF2B5EF4-FFF2-40B4-BE49-F238E27FC236}">
                <a16:creationId xmlns:a16="http://schemas.microsoft.com/office/drawing/2014/main" id="{BEE3D567-B07E-4948-9F1A-A1B4C9F325D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04F57580-5D92-48DA-A809-39AD8E2CE619}"/>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91D2DEF-44F4-4631-8CE8-CAA8300B7C7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590231D8-00E1-463F-A1B3-8A59FEB76EF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txBody>
          <a:bodyPr/>
          <a:lstStyle/>
          <a:p>
            <a:endParaRPr/>
          </a:p>
        </p:txBody>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Research progress review</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2857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txBody>
          <a:bodyPr/>
          <a:lstStyle/>
          <a:p>
            <a:endParaRPr/>
          </a:p>
        </p:txBody>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txBody>
          <a:bodyPr/>
          <a:lstStyle/>
          <a:p>
            <a:endParaRPr/>
          </a:p>
        </p:txBody>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txBody>
          <a:bodyPr/>
          <a:lstStyle/>
          <a:p>
            <a:endParaRPr/>
          </a:p>
        </p:txBody>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txBody>
          <a:bodyPr/>
          <a:lstStyle/>
          <a:p>
            <a:endParaRPr/>
          </a:p>
        </p:txBody>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txBody>
          <a:bodyPr/>
          <a:lstStyle/>
          <a:p>
            <a:endParaRPr/>
          </a:p>
        </p:txBody>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txBody>
          <a:bodyPr/>
          <a:lstStyle/>
          <a:p>
            <a:endParaRPr/>
          </a:p>
        </p:txBody>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txBody>
          <a:bodyPr/>
          <a:lstStyle/>
          <a:p>
            <a:endParaRPr/>
          </a:p>
        </p:txBody>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txBody>
          <a:bodyPr/>
          <a:lstStyle/>
          <a:p>
            <a:endParaRPr/>
          </a:p>
        </p:txBody>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txBody>
          <a:bodyPr/>
          <a:lstStyle/>
          <a:p>
            <a:endParaRPr/>
          </a:p>
        </p:txBody>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txBody>
          <a:bodyPr/>
          <a:lstStyle/>
          <a:p>
            <a:endParaRPr/>
          </a:p>
        </p:txBody>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txBody>
          <a:bodyPr/>
          <a:lstStyle/>
          <a:p>
            <a:endParaRPr/>
          </a:p>
        </p:txBody>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txBody>
          <a:bodyPr/>
          <a:lstStyle/>
          <a:p>
            <a:endParaRPr/>
          </a:p>
        </p:txBody>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txBody>
          <a:bodyPr/>
          <a:lstStyle/>
          <a:p>
            <a:endParaRPr/>
          </a:p>
        </p:txBody>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txBody>
          <a:bodyPr/>
          <a:lstStyle/>
          <a:p>
            <a:endParaRPr/>
          </a:p>
        </p:txBody>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txBody>
          <a:bodyPr/>
          <a:lstStyle/>
          <a:p>
            <a:endParaRPr/>
          </a:p>
        </p:txBody>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PROJECT PROGRESS</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Detection and adaptation are implemented</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19" cy="3372612"/>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tblGrid>
              <a:tr h="541020">
                <a:tc>
                  <a:txBody>
                    <a:bodyPr/>
                    <a:lstStyle/>
                    <a:p>
                      <a:pPr>
                        <a:defRPr sz="1800" b="1">
                          <a:solidFill>
                            <a:srgbClr val="78D8CC"/>
                          </a:solidFill>
                          <a:latin typeface="DejaVu Sans"/>
                        </a:defRPr>
                      </a:pPr>
                      <a:r>
                        <a:t>Workstream</a:t>
                      </a:r>
                    </a:p>
                  </a:txBody>
                  <a:tcPr marL="109728" marT="73152">
                    <a:solidFill>
                      <a:srgbClr val="142838"/>
                    </a:solidFill>
                  </a:tcPr>
                </a:tc>
                <a:tc>
                  <a:txBody>
                    <a:bodyPr/>
                    <a:lstStyle/>
                    <a:p>
                      <a:pPr>
                        <a:defRPr sz="1800" b="1">
                          <a:solidFill>
                            <a:srgbClr val="78D8CC"/>
                          </a:solidFill>
                          <a:latin typeface="DejaVu Sans"/>
                        </a:defRPr>
                      </a:pPr>
                      <a:r>
                        <a:t>Current position</a:t>
                      </a:r>
                    </a:p>
                  </a:txBody>
                  <a:tcPr marL="109728" marT="73152">
                    <a:solidFill>
                      <a:srgbClr val="142838"/>
                    </a:solidFill>
                  </a:tcPr>
                </a:tc>
                <a:extLst>
                  <a:ext uri="{0D108BD9-81ED-4DB2-BD59-A6C34878D82A}">
                    <a16:rowId xmlns:a16="http://schemas.microsoft.com/office/drawing/2014/main" val="10000"/>
                  </a:ext>
                </a:extLst>
              </a:tr>
              <a:tr h="541020">
                <a:tc>
                  <a:txBody>
                    <a:bodyPr/>
                    <a:lstStyle/>
                    <a:p>
                      <a:pPr>
                        <a:defRPr sz="1800" b="0">
                          <a:solidFill>
                            <a:srgbClr val="EAF2F8"/>
                          </a:solidFill>
                          <a:latin typeface="DejaVu Sans"/>
                        </a:defRPr>
                      </a:pPr>
                      <a:r>
                        <a:t>CSE reconstruction</a:t>
                      </a:r>
                    </a:p>
                  </a:txBody>
                  <a:tcPr marL="109728" marT="73152">
                    <a:solidFill>
                      <a:srgbClr val="101D2A"/>
                    </a:solidFill>
                  </a:tcPr>
                </a:tc>
                <a:tc>
                  <a:txBody>
                    <a:bodyPr/>
                    <a:lstStyle/>
                    <a:p>
                      <a:pPr>
                        <a:defRPr sz="1800" b="0">
                          <a:solidFill>
                            <a:srgbClr val="EAF2F8"/>
                          </a:solidFill>
                          <a:latin typeface="DejaVu Sans"/>
                        </a:defRPr>
                      </a:pPr>
                      <a:r>
                        <a:t>EEG features, EWMA warnings and Stage-II diagnostics</a:t>
                      </a:r>
                    </a:p>
                  </a:txBody>
                  <a:tcPr marL="109728" marT="73152">
                    <a:solidFill>
                      <a:srgbClr val="101D2A"/>
                    </a:solidFill>
                  </a:tcPr>
                </a:tc>
                <a:extLst>
                  <a:ext uri="{0D108BD9-81ED-4DB2-BD59-A6C34878D82A}">
                    <a16:rowId xmlns:a16="http://schemas.microsoft.com/office/drawing/2014/main" val="10001"/>
                  </a:ext>
                </a:extLst>
              </a:tr>
              <a:tr h="541020">
                <a:tc>
                  <a:txBody>
                    <a:bodyPr/>
                    <a:lstStyle/>
                    <a:p>
                      <a:pPr>
                        <a:defRPr sz="1800" b="0">
                          <a:solidFill>
                            <a:srgbClr val="EAF2F8"/>
                          </a:solidFill>
                          <a:latin typeface="DejaVu Sans"/>
                        </a:defRPr>
                      </a:pPr>
                      <a:r>
                        <a:t>Supervised adaptation</a:t>
                      </a:r>
                    </a:p>
                  </a:txBody>
                  <a:tcPr marL="109728" marT="73152">
                    <a:solidFill>
                      <a:srgbClr val="101D2A"/>
                    </a:solidFill>
                  </a:tcPr>
                </a:tc>
                <a:tc>
                  <a:txBody>
                    <a:bodyPr/>
                    <a:lstStyle/>
                    <a:p>
                      <a:pPr>
                        <a:defRPr sz="1800" b="0">
                          <a:solidFill>
                            <a:srgbClr val="EAF2F8"/>
                          </a:solidFill>
                          <a:latin typeface="DejaVu Sans"/>
                        </a:defRPr>
                      </a:pPr>
                      <a:r>
                        <a:t>Predict first, then update using the revealed label</a:t>
                      </a:r>
                    </a:p>
                  </a:txBody>
                  <a:tcPr marL="109728" marT="73152">
                    <a:solidFill>
                      <a:srgbClr val="101D2A"/>
                    </a:solidFill>
                  </a:tcPr>
                </a:tc>
                <a:extLst>
                  <a:ext uri="{0D108BD9-81ED-4DB2-BD59-A6C34878D82A}">
                    <a16:rowId xmlns:a16="http://schemas.microsoft.com/office/drawing/2014/main" val="10002"/>
                  </a:ext>
                </a:extLst>
              </a:tr>
              <a:tr h="541020">
                <a:tc>
                  <a:txBody>
                    <a:bodyPr/>
                    <a:lstStyle/>
                    <a:p>
                      <a:pPr>
                        <a:defRPr sz="1800" b="0">
                          <a:solidFill>
                            <a:srgbClr val="EAF2F8"/>
                          </a:solidFill>
                          <a:latin typeface="DejaVu Sans"/>
                        </a:defRPr>
                      </a:pPr>
                      <a:r>
                        <a:t>Transductive adaptation</a:t>
                      </a:r>
                    </a:p>
                  </a:txBody>
                  <a:tcPr marL="109728" marT="73152">
                    <a:solidFill>
                      <a:srgbClr val="101D2A"/>
                    </a:solidFill>
                  </a:tcPr>
                </a:tc>
                <a:tc>
                  <a:txBody>
                    <a:bodyPr/>
                    <a:lstStyle/>
                    <a:p>
                      <a:pPr>
                        <a:defRPr sz="1800" b="0">
                          <a:solidFill>
                            <a:srgbClr val="EAF2F8"/>
                          </a:solidFill>
                          <a:latin typeface="DejaVu Sans"/>
                        </a:defRPr>
                      </a:pPr>
                      <a:r>
                        <a:t>PWKNN pseudo-labels; confidence-gated training updates</a:t>
                      </a:r>
                    </a:p>
                  </a:txBody>
                  <a:tcPr marL="109728" marT="73152">
                    <a:solidFill>
                      <a:srgbClr val="101D2A"/>
                    </a:solidFill>
                  </a:tcPr>
                </a:tc>
                <a:extLst>
                  <a:ext uri="{0D108BD9-81ED-4DB2-BD59-A6C34878D82A}">
                    <a16:rowId xmlns:a16="http://schemas.microsoft.com/office/drawing/2014/main" val="10003"/>
                  </a:ext>
                </a:extLst>
              </a:tr>
              <a:tr h="541020">
                <a:tc>
                  <a:txBody>
                    <a:bodyPr/>
                    <a:lstStyle/>
                    <a:p>
                      <a:pPr>
                        <a:defRPr sz="1800" b="0">
                          <a:solidFill>
                            <a:srgbClr val="EAF2F8"/>
                          </a:solidFill>
                          <a:latin typeface="DejaVu Sans"/>
                        </a:defRPr>
                      </a:pPr>
                      <a:r>
                        <a:t>Policy experiments</a:t>
                      </a:r>
                    </a:p>
                  </a:txBody>
                  <a:tcPr marL="109728" marT="73152">
                    <a:solidFill>
                      <a:srgbClr val="101D2A"/>
                    </a:solidFill>
                  </a:tcPr>
                </a:tc>
                <a:tc>
                  <a:txBody>
                    <a:bodyPr/>
                    <a:lstStyle/>
                    <a:p>
                      <a:pPr>
                        <a:defRPr sz="1800" b="0">
                          <a:solidFill>
                            <a:srgbClr val="EAF2F8"/>
                          </a:solidFill>
                          <a:latin typeface="DejaVu Sans"/>
                        </a:defRPr>
                      </a:pPr>
                      <a:r>
                        <a:t>Five Diethe-inspired policies on matched streams</a:t>
                      </a:r>
                    </a:p>
                  </a:txBody>
                  <a:tcPr marL="109728" marT="73152">
                    <a:solidFill>
                      <a:srgbClr val="101D2A"/>
                    </a:solidFill>
                  </a:tcPr>
                </a:tc>
                <a:extLst>
                  <a:ext uri="{0D108BD9-81ED-4DB2-BD59-A6C34878D82A}">
                    <a16:rowId xmlns:a16="http://schemas.microsoft.com/office/drawing/2014/main" val="10004"/>
                  </a:ext>
                </a:extLst>
              </a:tr>
              <a:tr h="541020">
                <a:tc>
                  <a:txBody>
                    <a:bodyPr/>
                    <a:lstStyle/>
                    <a:p>
                      <a:pPr>
                        <a:defRPr sz="1800" b="0">
                          <a:solidFill>
                            <a:srgbClr val="EAF2F8"/>
                          </a:solidFill>
                          <a:latin typeface="DejaVu Sans"/>
                        </a:defRPr>
                      </a:pPr>
                      <a:r>
                        <a:t>Evidence still needed</a:t>
                      </a:r>
                    </a:p>
                  </a:txBody>
                  <a:tcPr marL="109728" marT="73152">
                    <a:solidFill>
                      <a:srgbClr val="101D2A"/>
                    </a:solidFill>
                  </a:tcPr>
                </a:tc>
                <a:tc>
                  <a:txBody>
                    <a:bodyPr/>
                    <a:lstStyle/>
                    <a:p>
                      <a:pPr>
                        <a:defRPr sz="1800" b="0">
                          <a:solidFill>
                            <a:srgbClr val="EAF2F8"/>
                          </a:solidFill>
                          <a:latin typeface="DejaVu Sans"/>
                        </a:defRPr>
                      </a:pPr>
                      <a:r>
                        <a:t>Matched reproduction runs and saved adaptation comparisons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57800"/>
            <a:ext cx="10789920" cy="502920"/>
          </a:xfrm>
          <a:prstGeom prst="rect">
            <a:avLst/>
          </a:prstGeom>
          <a:noFill/>
        </p:spPr>
        <p:txBody>
          <a:bodyPr wrap="square" lIns="0" rIns="0">
            <a:spAutoFit/>
          </a:bodyPr>
          <a:lstStyle/>
          <a:p>
            <a:pPr>
              <a:spcAft>
                <a:spcPts val="900"/>
              </a:spcAft>
              <a:defRPr sz="2000" b="0">
                <a:solidFill>
                  <a:srgbClr val="78D8CC"/>
                </a:solidFill>
                <a:latin typeface="DejaVu Sans"/>
              </a:defRPr>
            </a:pPr>
            <a:r>
              <a:t>Full dynamic CSE-UAEL ensemble growth and weighted voting remain open.</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02</a:t>
            </a:r>
          </a:p>
        </p:txBody>
      </p:sp>
    </p:spTree>
    <p:extLst>
      <p:ext uri="{BB962C8B-B14F-4D97-AF65-F5344CB8AC3E}">
        <p14:creationId xmlns:p14="http://schemas.microsoft.com/office/powerpoint/2010/main" val="382100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txBody>
          <a:bodyPr/>
          <a:lstStyle/>
          <a:p>
            <a:endParaRPr/>
          </a:p>
        </p:txBody>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txBody>
          <a:bodyPr/>
          <a:lstStyle/>
          <a:p>
            <a:endParaRPr/>
          </a:p>
        </p:txBody>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txBody>
          <a:bodyPr/>
          <a:lstStyle/>
          <a:p>
            <a:endParaRPr/>
          </a:p>
        </p:txBody>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txBody>
          <a:bodyPr/>
          <a:lstStyle/>
          <a:p>
            <a:endParaRPr/>
          </a:p>
        </p:txBody>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txBody>
          <a:bodyPr/>
          <a:lstStyle/>
          <a:p>
            <a:endParaRPr/>
          </a:p>
        </p:txBody>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504688"/>
            <a:ext cx="9715500" cy="50292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03</a:t>
            </a:r>
          </a:p>
        </p:txBody>
      </p:sp>
      <p:sp>
        <p:nvSpPr>
          <p:cNvPr id="28" name="Rounded Rectangle 27"/>
          <p:cNvSpPr/>
          <p:nvPr/>
        </p:nvSpPr>
        <p:spPr>
          <a:xfrm>
            <a:off x="7498079" y="4297680"/>
            <a:ext cx="3794760" cy="658368"/>
          </a:xfrm>
          <a:prstGeom prst="roundRect">
            <a:avLst/>
          </a:prstGeom>
          <a:solidFill>
            <a:srgbClr val="091A2B"/>
          </a:solidFill>
          <a:ln w="12700">
            <a:solidFill>
              <a:srgbClr val="A56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62672" y="4389120"/>
            <a:ext cx="3429000" cy="146304"/>
          </a:xfrm>
          <a:prstGeom prst="rect">
            <a:avLst/>
          </a:prstGeom>
          <a:noFill/>
        </p:spPr>
        <p:txBody>
          <a:bodyPr wrap="none" lIns="0" tIns="0" rIns="0" bIns="0">
            <a:spAutoFit/>
          </a:bodyPr>
          <a:lstStyle/>
          <a:p>
            <a:r>
              <a:rPr sz="840" b="1">
                <a:solidFill>
                  <a:srgbClr val="A56AFF"/>
                </a:solidFill>
                <a:latin typeface="Aptos"/>
              </a:rPr>
              <a:t>Heyden et al. (2024): reconstruction loss basis</a:t>
            </a:r>
          </a:p>
        </p:txBody>
      </p:sp>
      <p:pic>
        <p:nvPicPr>
          <p:cNvPr id="30" name="Picture 29" descr="formula_loss.png"/>
          <p:cNvPicPr>
            <a:picLocks noChangeAspect="1"/>
          </p:cNvPicPr>
          <p:nvPr/>
        </p:nvPicPr>
        <p:blipFill>
          <a:blip r:embed="rId3"/>
          <a:stretch>
            <a:fillRect/>
          </a:stretch>
        </p:blipFill>
        <p:spPr>
          <a:xfrm>
            <a:off x="8243720" y="4543501"/>
            <a:ext cx="2257760" cy="417589"/>
          </a:xfrm>
          <a:prstGeom prst="rect">
            <a:avLst/>
          </a:prstGeom>
        </p:spPr>
      </p:pic>
      <p:sp>
        <p:nvSpPr>
          <p:cNvPr id="31" name="TextBox 30"/>
          <p:cNvSpPr txBox="1"/>
          <p:nvPr/>
        </p:nvSpPr>
        <p:spPr>
          <a:xfrm>
            <a:off x="685800" y="4251960"/>
            <a:ext cx="6217920" cy="731520"/>
          </a:xfrm>
          <a:prstGeom prst="rect">
            <a:avLst/>
          </a:prstGeom>
          <a:noFill/>
        </p:spPr>
        <p:txBody>
          <a:bodyPr wrap="square" lIns="0" rIns="0">
            <a:spAutoFit/>
          </a:bodyPr>
          <a:lstStyle/>
          <a:p>
            <a:pPr>
              <a:spcAft>
                <a:spcPts val="900"/>
              </a:spcAft>
              <a:defRPr sz="1700" b="0">
                <a:solidFill>
                  <a:srgbClr val="78D8CC"/>
                </a:solidFill>
                <a:latin typeface="DejaVu Sans"/>
              </a:defRPr>
            </a:pPr>
            <a:r>
              <a:t>Diethe et al. (2019)</a:t>
            </a:r>
          </a:p>
          <a:p>
            <a:pPr>
              <a:spcAft>
                <a:spcPts val="900"/>
              </a:spcAft>
              <a:defRPr sz="1700" b="0">
                <a:solidFill>
                  <a:srgbClr val="78D8CC"/>
                </a:solidFill>
                <a:latin typeface="DejaVu Sans"/>
              </a:defRPr>
            </a:pPr>
            <a:r>
              <a:t>Monitoring, update policies and adaptation cost</a:t>
            </a:r>
          </a:p>
        </p:txBody>
      </p:sp>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C73467D-92E1-49D1-BC9C-9D8392E03158}"/>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 CONTEXT</a:t>
            </a:r>
          </a:p>
        </p:txBody>
      </p:sp>
      <p:sp>
        <p:nvSpPr>
          <p:cNvPr id="2" name="Rectangle 1">
            <a:extLst>
              <a:ext uri="{FF2B5EF4-FFF2-40B4-BE49-F238E27FC236}">
                <a16:creationId xmlns:a16="http://schemas.microsoft.com/office/drawing/2014/main" id="{51BC6A5F-5889-4080-9041-29F0130CD2E3}"/>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Chowdhury et al. (2018): online adaptive BCI</a:t>
            </a:r>
          </a:p>
        </p:txBody>
      </p:sp>
      <p:sp>
        <p:nvSpPr>
          <p:cNvPr id="3" name="Rectangle 2">
            <a:extLst>
              <a:ext uri="{FF2B5EF4-FFF2-40B4-BE49-F238E27FC236}">
                <a16:creationId xmlns:a16="http://schemas.microsoft.com/office/drawing/2014/main" id="{DD9956DE-BC9F-48D5-9D25-720A04105D9B}"/>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pp. 1073–1075 · Figs. 1, 3 and 4</a:t>
            </a:r>
          </a:p>
        </p:txBody>
      </p:sp>
      <p:sp>
        <p:nvSpPr>
          <p:cNvPr id="4" name="Rectangle 3">
            <a:extLst>
              <a:ext uri="{FF2B5EF4-FFF2-40B4-BE49-F238E27FC236}">
                <a16:creationId xmlns:a16="http://schemas.microsoft.com/office/drawing/2014/main" id="{30CAC83B-915E-4EB4-8717-7AF7B5CB7FF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A3075AC5-F436-489B-B235-207A81CE5655}"/>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04</a:t>
            </a:r>
          </a:p>
        </p:txBody>
      </p:sp>
      <p:sp>
        <p:nvSpPr>
          <p:cNvPr id="6" name="Rectangle 5">
            <a:extLst>
              <a:ext uri="{FF2B5EF4-FFF2-40B4-BE49-F238E27FC236}">
                <a16:creationId xmlns:a16="http://schemas.microsoft.com/office/drawing/2014/main" id="{0F80E30B-4E5D-4B71-9AD7-3AD545D15EAA}"/>
              </a:ext>
            </a:extLst>
          </p:cNvPr>
          <p:cNvSpPr>
            <a:spLocks noGrp="1"/>
          </p:cNvSpPr>
          <p:nvPr/>
        </p:nvSpPr>
        <p:spPr>
          <a:xfrm>
            <a:off x="609600" y="1695450"/>
            <a:ext cx="504825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Calibration and task</a:t>
            </a:r>
          </a:p>
        </p:txBody>
      </p:sp>
      <p:sp>
        <p:nvSpPr>
          <p:cNvPr id="7" name="Rectangle 6">
            <a:extLst>
              <a:ext uri="{FF2B5EF4-FFF2-40B4-BE49-F238E27FC236}">
                <a16:creationId xmlns:a16="http://schemas.microsoft.com/office/drawing/2014/main" id="{8282C969-F565-4435-B6B3-CF4AF6ECAC21}"/>
              </a:ext>
            </a:extLst>
          </p:cNvPr>
          <p:cNvSpPr>
            <a:spLocks noGrp="1"/>
          </p:cNvSpPr>
          <p:nvPr/>
        </p:nvSpPr>
        <p:spPr>
          <a:xfrm>
            <a:off x="609600" y="2190750"/>
            <a:ext cx="50482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healthy participants + 10 stroke patients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80 calibration trials, then 40 online trials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Left- versus right-hand motor imagery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Initial linear SVM and CSD parameters</a:t>
            </a:r>
          </a:p>
        </p:txBody>
      </p:sp>
      <p:sp>
        <p:nvSpPr>
          <p:cNvPr id="8" name="Rectangle 7">
            <a:extLst>
              <a:ext uri="{FF2B5EF4-FFF2-40B4-BE49-F238E27FC236}">
                <a16:creationId xmlns:a16="http://schemas.microsoft.com/office/drawing/2014/main" id="{7F3B666E-A0A2-4174-86FB-F1CE957B27B3}"/>
              </a:ext>
            </a:extLst>
          </p:cNvPr>
          <p:cNvSpPr>
            <a:spLocks noGrp="1"/>
          </p:cNvSpPr>
          <p:nvPr/>
        </p:nvSpPr>
        <p:spPr>
          <a:xfrm>
            <a:off x="6572250" y="1695450"/>
            <a:ext cx="485775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Signal and adaptation</a:t>
            </a:r>
          </a:p>
        </p:txBody>
      </p:sp>
      <p:sp>
        <p:nvSpPr>
          <p:cNvPr id="9" name="Rectangle 8">
            <a:extLst>
              <a:ext uri="{FF2B5EF4-FFF2-40B4-BE49-F238E27FC236}">
                <a16:creationId xmlns:a16="http://schemas.microsoft.com/office/drawing/2014/main" id="{D0F2BE02-8E68-4865-879A-C5431945F0D3}"/>
              </a:ext>
            </a:extLst>
          </p:cNvPr>
          <p:cNvSpPr>
            <a:spLocks noGrp="1"/>
          </p:cNvSpPr>
          <p:nvPr/>
        </p:nvSpPr>
        <p:spPr>
          <a:xfrm>
            <a:off x="6572250" y="2190750"/>
            <a:ext cx="48577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μ 8–12 Hz and β 16–24 Hz</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CSP yields four log-variance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PC1 EWMA warning, then Hotelling T²</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Validated shift triggers SVM retraining</a:t>
            </a:r>
          </a:p>
        </p:txBody>
      </p:sp>
      <p:sp>
        <p:nvSpPr>
          <p:cNvPr id="10" name="Rectangle 9">
            <a:extLst>
              <a:ext uri="{FF2B5EF4-FFF2-40B4-BE49-F238E27FC236}">
                <a16:creationId xmlns:a16="http://schemas.microsoft.com/office/drawing/2014/main" id="{BC0E3D3E-A4E7-46D8-AA89-1C5BB8C079DB}"/>
              </a:ext>
            </a:extLst>
          </p:cNvPr>
          <p:cNvSpPr>
            <a:spLocks noGrp="1"/>
          </p:cNvSpPr>
          <p:nvPr/>
        </p:nvSpPr>
        <p:spPr>
          <a:xfrm>
            <a:off x="609600" y="4105275"/>
            <a:ext cx="2286000" cy="3238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Online output</a:t>
            </a:r>
          </a:p>
        </p:txBody>
      </p:sp>
      <p:sp>
        <p:nvSpPr>
          <p:cNvPr id="11" name="Rectangle 10">
            <a:extLst>
              <a:ext uri="{FF2B5EF4-FFF2-40B4-BE49-F238E27FC236}">
                <a16:creationId xmlns:a16="http://schemas.microsoft.com/office/drawing/2014/main" id="{D12F69B4-7947-47BA-A5B5-CCAEDB7549F8}"/>
              </a:ext>
            </a:extLst>
          </p:cNvPr>
          <p:cNvSpPr>
            <a:spLocks noGrp="1"/>
          </p:cNvSpPr>
          <p:nvPr/>
        </p:nvSpPr>
        <p:spPr>
          <a:xfrm>
            <a:off x="609600" y="4572000"/>
            <a:ext cx="10477500" cy="61912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Visual feedback and hand-exoskeleton movement follow MI classification.</a:t>
            </a:r>
          </a:p>
        </p:txBody>
      </p:sp>
      <p:sp>
        <p:nvSpPr>
          <p:cNvPr id="12" name="Rectangle 11">
            <a:extLst>
              <a:ext uri="{FF2B5EF4-FFF2-40B4-BE49-F238E27FC236}">
                <a16:creationId xmlns:a16="http://schemas.microsoft.com/office/drawing/2014/main" id="{7C6DFCD8-5DEF-4F8A-945C-EC337317CBBE}"/>
              </a:ext>
            </a:extLst>
          </p:cNvPr>
          <p:cNvSpPr>
            <a:spLocks noGrp="1"/>
          </p:cNvSpPr>
          <p:nvPr/>
        </p:nvSpPr>
        <p:spPr>
          <a:xfrm>
            <a:off x="609600" y="5372100"/>
            <a:ext cx="10763250" cy="476250"/>
          </a:xfrm>
          <a:prstGeom prst="rect">
            <a:avLst/>
          </a:prstGeom>
          <a:noFill/>
          <a:ln w="0">
            <a:noFill/>
          </a:ln>
        </p:spPr>
        <p:txBody>
          <a:bodyPr>
            <a:noAutofit/>
          </a:bodyPr>
          <a:lstStyle/>
          <a:p>
            <a:pPr>
              <a:defRPr sz="1725" b="0">
                <a:solidFill>
                  <a:srgbClr val="9CB0C3"/>
                </a:solidFill>
                <a:latin typeface="DejaVu Sans"/>
                <a:ea typeface="DejaVu Sans"/>
                <a:cs typeface="DejaVu Sans"/>
              </a:defRPr>
            </a:pPr>
            <a:r>
              <a:rPr sz="1725" b="0">
                <a:solidFill>
                  <a:srgbClr val="9CB0C3"/>
                </a:solidFill>
                <a:latin typeface="DejaVu Sans"/>
                <a:ea typeface="DejaVu Sans"/>
                <a:cs typeface="DejaVu Sans"/>
              </a:rPr>
              <a:t>Comparator: EEG-NAC replays the same recorded data offline with a fixed classifier.</a:t>
            </a:r>
          </a:p>
        </p:txBody>
      </p:sp>
    </p:spTree>
    <p:extLst>
      <p:ext uri="{BB962C8B-B14F-4D97-AF65-F5344CB8AC3E}">
        <p14:creationId xmlns:p14="http://schemas.microsoft.com/office/powerpoint/2010/main" val="1070568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FB2E451-F872-416C-B551-22675E87317C}"/>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REPORTED ACHIEVEMENTS</a:t>
            </a:r>
          </a:p>
        </p:txBody>
      </p:sp>
      <p:sp>
        <p:nvSpPr>
          <p:cNvPr id="2" name="Rectangle 1">
            <a:extLst>
              <a:ext uri="{FF2B5EF4-FFF2-40B4-BE49-F238E27FC236}">
                <a16:creationId xmlns:a16="http://schemas.microsoft.com/office/drawing/2014/main" id="{91813C24-8621-4BE0-91ED-F6242B3FBFED}"/>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Decoding improved relative to the fixed classifier</a:t>
            </a:r>
          </a:p>
        </p:txBody>
      </p:sp>
      <p:sp>
        <p:nvSpPr>
          <p:cNvPr id="3" name="Rectangle 2">
            <a:extLst>
              <a:ext uri="{FF2B5EF4-FFF2-40B4-BE49-F238E27FC236}">
                <a16:creationId xmlns:a16="http://schemas.microsoft.com/office/drawing/2014/main" id="{5DFA99EB-11D6-4748-8EC5-96EE28BB781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§III, p. 1076, Tables II–IV and Fig. 6 · §IV, p. 1078</a:t>
            </a:r>
          </a:p>
        </p:txBody>
      </p:sp>
      <p:sp>
        <p:nvSpPr>
          <p:cNvPr id="4" name="Rectangle 3">
            <a:extLst>
              <a:ext uri="{FF2B5EF4-FFF2-40B4-BE49-F238E27FC236}">
                <a16:creationId xmlns:a16="http://schemas.microsoft.com/office/drawing/2014/main" id="{D499976B-23A1-4E3C-A161-DA9B6F4F0051}"/>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52560EFB-447D-4B5E-8EE5-88D0B4F5E160}"/>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05</a:t>
            </a:r>
          </a:p>
        </p:txBody>
      </p:sp>
      <p:graphicFrame>
        <p:nvGraphicFramePr>
          <p:cNvPr id="14" name="Table 13"/>
          <p:cNvGraphicFramePr/>
          <p:nvPr/>
        </p:nvGraphicFramePr>
        <p:xfrm>
          <a:off x="609600" y="1809750"/>
          <a:ext cx="10972800" cy="2190750"/>
        </p:xfrm>
        <a:graphic>
          <a:graphicData uri="http://schemas.openxmlformats.org/drawingml/2006/table">
            <a:tbl>
              <a:tblPr/>
              <a:tblGrid>
                <a:gridCol w="2857500">
                  <a:extLst>
                    <a:ext uri="{9D8B030D-6E8A-4147-A177-3AD203B41FA5}">
                      <a16:colId xmlns:a16="http://schemas.microsoft.com/office/drawing/2014/main" val="20000"/>
                    </a:ext>
                  </a:extLst>
                </a:gridCol>
                <a:gridCol w="2952750">
                  <a:extLst>
                    <a:ext uri="{9D8B030D-6E8A-4147-A177-3AD203B41FA5}">
                      <a16:colId xmlns:a16="http://schemas.microsoft.com/office/drawing/2014/main" val="20001"/>
                    </a:ext>
                  </a:extLst>
                </a:gridCol>
                <a:gridCol w="2952750">
                  <a:extLst>
                    <a:ext uri="{9D8B030D-6E8A-4147-A177-3AD203B41FA5}">
                      <a16:colId xmlns:a16="http://schemas.microsoft.com/office/drawing/2014/main" val="20002"/>
                    </a:ext>
                  </a:extLst>
                </a:gridCol>
                <a:gridCol w="2209800">
                  <a:extLst>
                    <a:ext uri="{9D8B030D-6E8A-4147-A177-3AD203B41FA5}">
                      <a16:colId xmlns:a16="http://schemas.microsoft.com/office/drawing/2014/main" val="20003"/>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EEG-NAC</a:t>
                      </a:r>
                    </a:p>
                  </a:txBody>
                  <a:tcPr>
                    <a:solidFill>
                      <a:srgbClr val="132436"/>
                    </a:solidFill>
                  </a:tcPr>
                </a:tc>
                <a:tc>
                  <a:txBody>
                    <a:bodyPr/>
                    <a:lstStyle/>
                    <a:p>
                      <a:r>
                        <a:rPr sz="1725" b="1">
                          <a:solidFill>
                            <a:srgbClr val="2DD4BF"/>
                          </a:solidFill>
                          <a:latin typeface="DejaVu Sans"/>
                          <a:ea typeface="DejaVu Sans"/>
                          <a:cs typeface="DejaVu Sans"/>
                        </a:rPr>
                        <a:t>EEG-CSAC</a:t>
                      </a:r>
                    </a:p>
                  </a:txBody>
                  <a:tcPr>
                    <a:solidFill>
                      <a:srgbClr val="132436"/>
                    </a:solidFill>
                  </a:tcPr>
                </a:tc>
                <a:tc>
                  <a:txBody>
                    <a:bodyPr/>
                    <a:lstStyle/>
                    <a:p>
                      <a:r>
                        <a:rPr sz="1725" b="1">
                          <a:solidFill>
                            <a:srgbClr val="2DD4BF"/>
                          </a:solidFill>
                          <a:latin typeface="DejaVu Sans"/>
                          <a:ea typeface="DejaVu Sans"/>
                          <a:cs typeface="DejaVu Sans"/>
                        </a:rPr>
                        <a:t>Gain</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 (n = 10)</a:t>
                      </a:r>
                    </a:p>
                  </a:txBody>
                  <a:tcPr>
                    <a:solidFill>
                      <a:srgbClr val="09121F"/>
                    </a:solidFill>
                  </a:tcPr>
                </a:tc>
                <a:tc>
                  <a:txBody>
                    <a:bodyPr/>
                    <a:lstStyle/>
                    <a:p>
                      <a:r>
                        <a:rPr sz="1725" b="0">
                          <a:solidFill>
                            <a:srgbClr val="EAF2F8"/>
                          </a:solidFill>
                          <a:latin typeface="DejaVu Sans"/>
                          <a:ea typeface="DejaVu Sans"/>
                          <a:cs typeface="DejaVu Sans"/>
                        </a:rPr>
                        <a:t>75.25 ± 5.46%</a:t>
                      </a:r>
                    </a:p>
                  </a:txBody>
                  <a:tcPr>
                    <a:solidFill>
                      <a:srgbClr val="09121F"/>
                    </a:solidFill>
                  </a:tcPr>
                </a:tc>
                <a:tc>
                  <a:txBody>
                    <a:bodyPr/>
                    <a:lstStyle/>
                    <a:p>
                      <a:r>
                        <a:rPr sz="1725" b="0">
                          <a:solidFill>
                            <a:srgbClr val="EAF2F8"/>
                          </a:solidFill>
                          <a:latin typeface="DejaVu Sans"/>
                          <a:ea typeface="DejaVu Sans"/>
                          <a:cs typeface="DejaVu Sans"/>
                        </a:rPr>
                        <a:t>81.50 ± 4.89%</a:t>
                      </a:r>
                    </a:p>
                  </a:txBody>
                  <a:tcPr>
                    <a:solidFill>
                      <a:srgbClr val="09121F"/>
                    </a:solidFill>
                  </a:tcPr>
                </a:tc>
                <a:tc>
                  <a:txBody>
                    <a:bodyPr/>
                    <a:lstStyle/>
                    <a:p>
                      <a:r>
                        <a:rPr sz="1725" b="0">
                          <a:solidFill>
                            <a:srgbClr val="EAF2F8"/>
                          </a:solidFill>
                          <a:latin typeface="DejaVu Sans"/>
                          <a:ea typeface="DejaVu Sans"/>
                          <a:cs typeface="DejaVu Sans"/>
                        </a:rPr>
                        <a:t>+6.25 pp</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 (n = 10)</a:t>
                      </a:r>
                    </a:p>
                  </a:txBody>
                  <a:tcPr>
                    <a:solidFill>
                      <a:srgbClr val="09121F"/>
                    </a:solidFill>
                  </a:tcPr>
                </a:tc>
                <a:tc>
                  <a:txBody>
                    <a:bodyPr/>
                    <a:lstStyle/>
                    <a:p>
                      <a:r>
                        <a:rPr sz="1725" b="0">
                          <a:solidFill>
                            <a:srgbClr val="EAF2F8"/>
                          </a:solidFill>
                          <a:latin typeface="DejaVu Sans"/>
                          <a:ea typeface="DejaVu Sans"/>
                          <a:cs typeface="DejaVu Sans"/>
                        </a:rPr>
                        <a:t>70.25 ± 3.43%</a:t>
                      </a:r>
                    </a:p>
                  </a:txBody>
                  <a:tcPr>
                    <a:solidFill>
                      <a:srgbClr val="09121F"/>
                    </a:solidFill>
                  </a:tcPr>
                </a:tc>
                <a:tc>
                  <a:txBody>
                    <a:bodyPr/>
                    <a:lstStyle/>
                    <a:p>
                      <a:r>
                        <a:rPr sz="1725" b="0">
                          <a:solidFill>
                            <a:srgbClr val="EAF2F8"/>
                          </a:solidFill>
                          <a:latin typeface="DejaVu Sans"/>
                          <a:ea typeface="DejaVu Sans"/>
                          <a:cs typeface="DejaVu Sans"/>
                        </a:rPr>
                        <a:t>75.75 ± 3.92%</a:t>
                      </a:r>
                    </a:p>
                  </a:txBody>
                  <a:tcPr>
                    <a:solidFill>
                      <a:srgbClr val="09121F"/>
                    </a:solidFill>
                  </a:tcPr>
                </a:tc>
                <a:tc>
                  <a:txBody>
                    <a:bodyPr/>
                    <a:lstStyle/>
                    <a:p>
                      <a:r>
                        <a:rPr sz="1725" b="0">
                          <a:solidFill>
                            <a:srgbClr val="EAF2F8"/>
                          </a:solidFill>
                          <a:latin typeface="DejaVu Sans"/>
                          <a:ea typeface="DejaVu Sans"/>
                          <a:cs typeface="DejaVu Sans"/>
                        </a:rPr>
                        <a:t>+5.50 pp</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DFAFF44C-5534-4667-8C27-4E9F0398B0C7}"/>
              </a:ext>
            </a:extLst>
          </p:cNvPr>
          <p:cNvSpPr>
            <a:spLocks noGrp="1"/>
          </p:cNvSpPr>
          <p:nvPr/>
        </p:nvSpPr>
        <p:spPr>
          <a:xfrm>
            <a:off x="609600" y="4286250"/>
            <a:ext cx="10477500" cy="428625"/>
          </a:xfrm>
          <a:prstGeom prst="rect">
            <a:avLst/>
          </a:prstGeom>
          <a:noFill/>
          <a:ln w="0">
            <a:noFill/>
          </a:ln>
        </p:spPr>
        <p:txBody>
          <a:bodyPr>
            <a:noAutofit/>
          </a:bodyPr>
          <a:lstStyle/>
          <a:p>
            <a:pPr>
              <a:defRPr sz="2175" b="1">
                <a:solidFill>
                  <a:srgbClr val="2DD4BF"/>
                </a:solidFill>
                <a:latin typeface="DejaVu Sans"/>
                <a:ea typeface="DejaVu Sans"/>
                <a:cs typeface="DejaVu Sans"/>
              </a:defRPr>
            </a:pPr>
            <a:r>
              <a:rPr sz="2175" b="1">
                <a:solidFill>
                  <a:srgbClr val="2DD4BF"/>
                </a:solidFill>
                <a:latin typeface="DejaVu Sans"/>
                <a:ea typeface="DejaVu Sans"/>
                <a:cs typeface="DejaVu Sans"/>
              </a:rPr>
              <a:t>Both accuracy comparisons: p &lt; 0.01</a:t>
            </a:r>
          </a:p>
        </p:txBody>
      </p:sp>
      <p:sp>
        <p:nvSpPr>
          <p:cNvPr id="8" name="Rectangle 7">
            <a:extLst>
              <a:ext uri="{FF2B5EF4-FFF2-40B4-BE49-F238E27FC236}">
                <a16:creationId xmlns:a16="http://schemas.microsoft.com/office/drawing/2014/main" id="{CD016C73-4E18-46FA-B6A9-62EE71568FBB}"/>
              </a:ext>
            </a:extLst>
          </p:cNvPr>
          <p:cNvSpPr>
            <a:spLocks noGrp="1"/>
          </p:cNvSpPr>
          <p:nvPr/>
        </p:nvSpPr>
        <p:spPr>
          <a:xfrm>
            <a:off x="609600" y="4905375"/>
            <a:ext cx="10763250" cy="7239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Kappa also improved significantly. Every participant could trigger the exoskeleton.</a:t>
            </a:r>
          </a:p>
        </p:txBody>
      </p:sp>
    </p:spTree>
    <p:extLst>
      <p:ext uri="{BB962C8B-B14F-4D97-AF65-F5344CB8AC3E}">
        <p14:creationId xmlns:p14="http://schemas.microsoft.com/office/powerpoint/2010/main" val="1723685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B48FDCA-0A79-4CB9-9106-510303F2D584}"/>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DETECTOR EVIDENCE</a:t>
            </a:r>
          </a:p>
        </p:txBody>
      </p:sp>
      <p:sp>
        <p:nvSpPr>
          <p:cNvPr id="2" name="Rectangle 1">
            <a:extLst>
              <a:ext uri="{FF2B5EF4-FFF2-40B4-BE49-F238E27FC236}">
                <a16:creationId xmlns:a16="http://schemas.microsoft.com/office/drawing/2014/main" id="{749077A3-3187-47DB-AB86-250128C45F5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Stage-II validation reduced retraining triggers</a:t>
            </a:r>
          </a:p>
        </p:txBody>
      </p:sp>
      <p:sp>
        <p:nvSpPr>
          <p:cNvPr id="3" name="Rectangle 2">
            <a:extLst>
              <a:ext uri="{FF2B5EF4-FFF2-40B4-BE49-F238E27FC236}">
                <a16:creationId xmlns:a16="http://schemas.microsoft.com/office/drawing/2014/main" id="{217C6558-ABBB-4B58-A4D9-039BF6923D3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§II.E.4, p. 1075, Eqs. (10)–(11) · §III, p. 1077, Tables VI–VIII and Fig. 7</a:t>
            </a:r>
          </a:p>
        </p:txBody>
      </p:sp>
      <p:sp>
        <p:nvSpPr>
          <p:cNvPr id="4" name="Rectangle 3">
            <a:extLst>
              <a:ext uri="{FF2B5EF4-FFF2-40B4-BE49-F238E27FC236}">
                <a16:creationId xmlns:a16="http://schemas.microsoft.com/office/drawing/2014/main" id="{687BB4F1-12DE-4A5B-9B7E-A2698DAC5ACA}"/>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7AA0F6E8-2029-4720-9BDA-CE0D8FC2EDCD}"/>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06</a:t>
            </a:r>
          </a:p>
        </p:txBody>
      </p:sp>
      <p:graphicFrame>
        <p:nvGraphicFramePr>
          <p:cNvPr id="15" name="Table 14"/>
          <p:cNvGraphicFramePr/>
          <p:nvPr/>
        </p:nvGraphicFramePr>
        <p:xfrm>
          <a:off x="609600" y="1809750"/>
          <a:ext cx="10972800" cy="2190750"/>
        </p:xfrm>
        <a:graphic>
          <a:graphicData uri="http://schemas.openxmlformats.org/drawingml/2006/table">
            <a:tbl>
              <a:tblPr/>
              <a:tblGrid>
                <a:gridCol w="3429000">
                  <a:extLst>
                    <a:ext uri="{9D8B030D-6E8A-4147-A177-3AD203B41FA5}">
                      <a16:colId xmlns:a16="http://schemas.microsoft.com/office/drawing/2014/main" val="20000"/>
                    </a:ext>
                  </a:extLst>
                </a:gridCol>
                <a:gridCol w="3771900">
                  <a:extLst>
                    <a:ext uri="{9D8B030D-6E8A-4147-A177-3AD203B41FA5}">
                      <a16:colId xmlns:a16="http://schemas.microsoft.com/office/drawing/2014/main" val="20001"/>
                    </a:ext>
                  </a:extLst>
                </a:gridCol>
                <a:gridCol w="3771900">
                  <a:extLst>
                    <a:ext uri="{9D8B030D-6E8A-4147-A177-3AD203B41FA5}">
                      <a16:colId xmlns:a16="http://schemas.microsoft.com/office/drawing/2014/main" val="20002"/>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Stage-I CSW</a:t>
                      </a:r>
                    </a:p>
                  </a:txBody>
                  <a:tcPr>
                    <a:solidFill>
                      <a:srgbClr val="132436"/>
                    </a:solidFill>
                  </a:tcPr>
                </a:tc>
                <a:tc>
                  <a:txBody>
                    <a:bodyPr/>
                    <a:lstStyle/>
                    <a:p>
                      <a:r>
                        <a:rPr sz="1725" b="1">
                          <a:solidFill>
                            <a:srgbClr val="2DD4BF"/>
                          </a:solidFill>
                          <a:latin typeface="DejaVu Sans"/>
                          <a:ea typeface="DejaVu Sans"/>
                          <a:cs typeface="DejaVu Sans"/>
                        </a:rPr>
                        <a:t>Stage-II CSV</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a:t>
                      </a:r>
                    </a:p>
                  </a:txBody>
                  <a:tcPr>
                    <a:solidFill>
                      <a:srgbClr val="09121F"/>
                    </a:solidFill>
                  </a:tcPr>
                </a:tc>
                <a:tc>
                  <a:txBody>
                    <a:bodyPr/>
                    <a:lstStyle/>
                    <a:p>
                      <a:r>
                        <a:rPr sz="1725" b="0">
                          <a:solidFill>
                            <a:srgbClr val="EAF2F8"/>
                          </a:solidFill>
                          <a:latin typeface="DejaVu Sans"/>
                          <a:ea typeface="DejaVu Sans"/>
                          <a:cs typeface="DejaVu Sans"/>
                        </a:rPr>
                        <a:t>15.75 ± 5.65%</a:t>
                      </a:r>
                    </a:p>
                  </a:txBody>
                  <a:tcPr>
                    <a:solidFill>
                      <a:srgbClr val="09121F"/>
                    </a:solidFill>
                  </a:tcPr>
                </a:tc>
                <a:tc>
                  <a:txBody>
                    <a:bodyPr/>
                    <a:lstStyle/>
                    <a:p>
                      <a:r>
                        <a:rPr sz="1725" b="0">
                          <a:solidFill>
                            <a:srgbClr val="EAF2F8"/>
                          </a:solidFill>
                          <a:latin typeface="DejaVu Sans"/>
                          <a:ea typeface="DejaVu Sans"/>
                          <a:cs typeface="DejaVu Sans"/>
                        </a:rPr>
                        <a:t>9.25 ± 3.54%</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a:t>
                      </a:r>
                    </a:p>
                  </a:txBody>
                  <a:tcPr>
                    <a:solidFill>
                      <a:srgbClr val="09121F"/>
                    </a:solidFill>
                  </a:tcPr>
                </a:tc>
                <a:tc>
                  <a:txBody>
                    <a:bodyPr/>
                    <a:lstStyle/>
                    <a:p>
                      <a:r>
                        <a:rPr sz="1725" b="0">
                          <a:solidFill>
                            <a:srgbClr val="EAF2F8"/>
                          </a:solidFill>
                          <a:latin typeface="DejaVu Sans"/>
                          <a:ea typeface="DejaVu Sans"/>
                          <a:cs typeface="DejaVu Sans"/>
                        </a:rPr>
                        <a:t>16.75 ± 2.89%</a:t>
                      </a:r>
                    </a:p>
                  </a:txBody>
                  <a:tcPr>
                    <a:solidFill>
                      <a:srgbClr val="09121F"/>
                    </a:solidFill>
                  </a:tcPr>
                </a:tc>
                <a:tc>
                  <a:txBody>
                    <a:bodyPr/>
                    <a:lstStyle/>
                    <a:p>
                      <a:r>
                        <a:rPr sz="1725" b="0">
                          <a:solidFill>
                            <a:srgbClr val="EAF2F8"/>
                          </a:solidFill>
                          <a:latin typeface="DejaVu Sans"/>
                          <a:ea typeface="DejaVu Sans"/>
                          <a:cs typeface="DejaVu Sans"/>
                        </a:rPr>
                        <a:t>9.00 ± 2.10%</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3B74377A-D001-4C2B-9C5B-BE906B684D55}"/>
              </a:ext>
            </a:extLst>
          </p:cNvPr>
          <p:cNvSpPr>
            <a:spLocks noGrp="1"/>
          </p:cNvSpPr>
          <p:nvPr/>
        </p:nvSpPr>
        <p:spPr>
          <a:xfrm>
            <a:off x="609600" y="4210050"/>
            <a:ext cx="10668000" cy="409575"/>
          </a:xfrm>
          <a:prstGeom prst="rect">
            <a:avLst/>
          </a:prstGeom>
          <a:noFill/>
          <a:ln w="0">
            <a:noFill/>
          </a:ln>
        </p:spPr>
        <p:txBody>
          <a:bodyPr>
            <a:noAutofit/>
          </a:bodyPr>
          <a:lstStyle/>
          <a:p>
            <a:pPr>
              <a:defRPr sz="1950" b="1">
                <a:solidFill>
                  <a:srgbClr val="2DD4BF"/>
                </a:solidFill>
                <a:latin typeface="DejaVu Sans"/>
                <a:ea typeface="DejaVu Sans"/>
                <a:cs typeface="DejaVu Sans"/>
              </a:defRPr>
            </a:pPr>
            <a:r>
              <a:rPr sz="1950" b="1">
                <a:solidFill>
                  <a:srgbClr val="2DD4BF"/>
                </a:solidFill>
                <a:latin typeface="DejaVu Sans"/>
                <a:ea typeface="DejaVu Sans"/>
                <a:cs typeface="DejaVu Sans"/>
              </a:rPr>
              <a:t>Rates are percentages of trials. Both reductions: p &lt; 0.01.</a:t>
            </a:r>
          </a:p>
        </p:txBody>
      </p:sp>
      <p:sp>
        <p:nvSpPr>
          <p:cNvPr id="8" name="Rectangle 7">
            <a:extLst>
              <a:ext uri="{FF2B5EF4-FFF2-40B4-BE49-F238E27FC236}">
                <a16:creationId xmlns:a16="http://schemas.microsoft.com/office/drawing/2014/main" id="{C3255682-1A7A-4207-9B3A-6AF81DEF0384}"/>
              </a:ext>
            </a:extLst>
          </p:cNvPr>
          <p:cNvSpPr>
            <a:spLocks noGrp="1"/>
          </p:cNvSpPr>
          <p:nvPr/>
        </p:nvSpPr>
        <p:spPr>
          <a:xfrm>
            <a:off x="609600" y="4752975"/>
            <a:ext cx="10858500" cy="4572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Validated-shift rate and accuracy gain correlate: r = 0.853, p &lt; 0.01.</a:t>
            </a:r>
          </a:p>
        </p:txBody>
      </p:sp>
      <p:sp>
        <p:nvSpPr>
          <p:cNvPr id="9" name="Rectangle 8">
            <a:extLst>
              <a:ext uri="{FF2B5EF4-FFF2-40B4-BE49-F238E27FC236}">
                <a16:creationId xmlns:a16="http://schemas.microsoft.com/office/drawing/2014/main" id="{B8244E5D-66D8-42B5-AA1A-7F84AEB2BEEF}"/>
              </a:ext>
            </a:extLst>
          </p:cNvPr>
          <p:cNvSpPr>
            <a:spLocks noGrp="1"/>
          </p:cNvSpPr>
          <p:nvPr/>
        </p:nvSpPr>
        <p:spPr>
          <a:xfrm>
            <a:off x="609600" y="5314950"/>
            <a:ext cx="10858500" cy="533400"/>
          </a:xfrm>
          <a:prstGeom prst="rect">
            <a:avLst/>
          </a:prstGeom>
          <a:noFill/>
          <a:ln w="0">
            <a:noFill/>
          </a:ln>
        </p:spPr>
        <p:txBody>
          <a:bodyPr>
            <a:noAutofit/>
          </a:bodyPr>
          <a:lstStyle/>
          <a:p>
            <a:pPr>
              <a:defRPr sz="1800" b="0">
                <a:solidFill>
                  <a:srgbClr val="F5B942"/>
                </a:solidFill>
                <a:latin typeface="DejaVu Sans"/>
                <a:ea typeface="DejaVu Sans"/>
                <a:cs typeface="DejaVu Sans"/>
              </a:defRPr>
            </a:pPr>
            <a:r>
              <a:rPr sz="1800" b="0">
                <a:solidFill>
                  <a:srgbClr val="F5B942"/>
                </a:solidFill>
                <a:latin typeface="DejaVu Sans"/>
                <a:ea typeface="DejaVu Sans"/>
                <a:cs typeface="DejaVu Sans"/>
              </a:rPr>
              <a:t>Interpretation: fewer retraining triggers do not independently quantify false alarms.</a:t>
            </a:r>
          </a:p>
        </p:txBody>
      </p:sp>
    </p:spTree>
    <p:extLst>
      <p:ext uri="{BB962C8B-B14F-4D97-AF65-F5344CB8AC3E}">
        <p14:creationId xmlns:p14="http://schemas.microsoft.com/office/powerpoint/2010/main" val="670811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63FB1BD-E5D2-40CE-8730-FFB82FA8D881}"/>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AUTHOR-STATED LIMITATIONS</a:t>
            </a:r>
          </a:p>
        </p:txBody>
      </p:sp>
      <p:sp>
        <p:nvSpPr>
          <p:cNvPr id="2" name="Rectangle 1">
            <a:extLst>
              <a:ext uri="{FF2B5EF4-FFF2-40B4-BE49-F238E27FC236}">
                <a16:creationId xmlns:a16="http://schemas.microsoft.com/office/drawing/2014/main" id="{D6FD115A-7BA8-469C-A5E7-AABA5D373434}"/>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Limitations acknowledged by the authors</a:t>
            </a:r>
          </a:p>
        </p:txBody>
      </p:sp>
      <p:sp>
        <p:nvSpPr>
          <p:cNvPr id="3" name="Rectangle 2">
            <a:extLst>
              <a:ext uri="{FF2B5EF4-FFF2-40B4-BE49-F238E27FC236}">
                <a16:creationId xmlns:a16="http://schemas.microsoft.com/office/drawing/2014/main" id="{7535EA30-56E4-444B-8215-98A0138FB5AE}"/>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§IV, p. 1078 (scope, frequency bands, comparator, noise) · pp. 1078–1079 (control and labels)</a:t>
            </a:r>
          </a:p>
        </p:txBody>
      </p:sp>
      <p:sp>
        <p:nvSpPr>
          <p:cNvPr id="4" name="Rectangle 3">
            <a:extLst>
              <a:ext uri="{FF2B5EF4-FFF2-40B4-BE49-F238E27FC236}">
                <a16:creationId xmlns:a16="http://schemas.microsoft.com/office/drawing/2014/main" id="{8BF9EDD2-35B9-4F61-93A4-BE69572B11E3}"/>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CF54E7D-174E-4D5D-9981-3A2A33CEB1BD}"/>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07</a:t>
            </a:r>
          </a:p>
        </p:txBody>
      </p:sp>
      <p:sp>
        <p:nvSpPr>
          <p:cNvPr id="6" name="Rectangle 5">
            <a:extLst>
              <a:ext uri="{FF2B5EF4-FFF2-40B4-BE49-F238E27FC236}">
                <a16:creationId xmlns:a16="http://schemas.microsoft.com/office/drawing/2014/main" id="{A5240896-1CF8-44D3-9017-94C250BD6764}"/>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Representation and comparison</a:t>
            </a:r>
          </a:p>
        </p:txBody>
      </p:sp>
      <p:sp>
        <p:nvSpPr>
          <p:cNvPr id="7" name="Rectangle 6">
            <a:extLst>
              <a:ext uri="{FF2B5EF4-FFF2-40B4-BE49-F238E27FC236}">
                <a16:creationId xmlns:a16="http://schemas.microsoft.com/office/drawing/2014/main" id="{7AA359AB-6EC1-4B39-9569-9807102F2F82}"/>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Binary left/right MI classification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μ/β bands for all participants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direct test against other adaptive BCIs</a:t>
            </a:r>
          </a:p>
        </p:txBody>
      </p:sp>
      <p:sp>
        <p:nvSpPr>
          <p:cNvPr id="8" name="Rectangle 7">
            <a:extLst>
              <a:ext uri="{FF2B5EF4-FFF2-40B4-BE49-F238E27FC236}">
                <a16:creationId xmlns:a16="http://schemas.microsoft.com/office/drawing/2014/main" id="{928BE198-6215-4AD5-8BCC-F005E73162EC}"/>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Labels and online control</a:t>
            </a:r>
          </a:p>
        </p:txBody>
      </p:sp>
      <p:sp>
        <p:nvSpPr>
          <p:cNvPr id="9" name="Rectangle 8">
            <a:extLst>
              <a:ext uri="{FF2B5EF4-FFF2-40B4-BE49-F238E27FC236}">
                <a16:creationId xmlns:a16="http://schemas.microsoft.com/office/drawing/2014/main" id="{1CDA3A94-A823-4FD3-85DD-52ACAD8F8826}"/>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Supervised adaptation assumes cue compliance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Synchronous BCI, one feedback event per trial</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Continuous/asynchronous control remains future work</a:t>
            </a:r>
          </a:p>
        </p:txBody>
      </p:sp>
      <p:sp>
        <p:nvSpPr>
          <p:cNvPr id="10" name="Rectangle 9">
            <a:extLst>
              <a:ext uri="{FF2B5EF4-FFF2-40B4-BE49-F238E27FC236}">
                <a16:creationId xmlns:a16="http://schemas.microsoft.com/office/drawing/2014/main" id="{5B940A4A-6F2A-4251-998F-C35D3FF1AC62}"/>
              </a:ext>
            </a:extLst>
          </p:cNvPr>
          <p:cNvSpPr>
            <a:spLocks noGrp="1"/>
          </p:cNvSpPr>
          <p:nvPr/>
        </p:nvSpPr>
        <p:spPr>
          <a:xfrm>
            <a:off x="609600" y="4238625"/>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Artefacts and external noise</a:t>
            </a:r>
          </a:p>
        </p:txBody>
      </p:sp>
      <p:sp>
        <p:nvSpPr>
          <p:cNvPr id="11" name="Rectangle 10">
            <a:extLst>
              <a:ext uri="{FF2B5EF4-FFF2-40B4-BE49-F238E27FC236}">
                <a16:creationId xmlns:a16="http://schemas.microsoft.com/office/drawing/2014/main" id="{C3D649F0-40C5-4A90-8F50-A4C90C2C4C55}"/>
              </a:ext>
            </a:extLst>
          </p:cNvPr>
          <p:cNvSpPr>
            <a:spLocks noGrp="1"/>
          </p:cNvSpPr>
          <p:nvPr/>
        </p:nvSpPr>
        <p:spPr>
          <a:xfrm>
            <a:off x="609600" y="4762500"/>
            <a:ext cx="10477500" cy="8572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Online preprocessing adds latency. The authors acknowledge that contaminated EEG can reduce decoding accuracy.</a:t>
            </a:r>
          </a:p>
        </p:txBody>
      </p:sp>
    </p:spTree>
    <p:extLst>
      <p:ext uri="{BB962C8B-B14F-4D97-AF65-F5344CB8AC3E}">
        <p14:creationId xmlns:p14="http://schemas.microsoft.com/office/powerpoint/2010/main" val="8977773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97BCF06-50E8-4C95-A638-034D85C0C5F7}"/>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DESIGN-DERIVED LIMITATIONS</a:t>
            </a:r>
          </a:p>
        </p:txBody>
      </p:sp>
      <p:sp>
        <p:nvSpPr>
          <p:cNvPr id="2" name="Rectangle 1">
            <a:extLst>
              <a:ext uri="{FF2B5EF4-FFF2-40B4-BE49-F238E27FC236}">
                <a16:creationId xmlns:a16="http://schemas.microsoft.com/office/drawing/2014/main" id="{0CFC8749-33CC-4D70-A889-2F6DBE34AD22}"/>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Limits of the experimental evidence</a:t>
            </a:r>
          </a:p>
        </p:txBody>
      </p:sp>
      <p:sp>
        <p:nvSpPr>
          <p:cNvPr id="3" name="Rectangle 2">
            <a:extLst>
              <a:ext uri="{FF2B5EF4-FFF2-40B4-BE49-F238E27FC236}">
                <a16:creationId xmlns:a16="http://schemas.microsoft.com/office/drawing/2014/main" id="{4DA6A4E3-9F3C-4B4B-9F20-E22E00F2CF6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 1073 · §III, pp. 1075–1077</a:t>
            </a:r>
          </a:p>
        </p:txBody>
      </p:sp>
      <p:sp>
        <p:nvSpPr>
          <p:cNvPr id="4" name="Rectangle 3">
            <a:extLst>
              <a:ext uri="{FF2B5EF4-FFF2-40B4-BE49-F238E27FC236}">
                <a16:creationId xmlns:a16="http://schemas.microsoft.com/office/drawing/2014/main" id="{DADF693E-8345-438C-A2BA-3ABC108E4899}"/>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5724533-E50E-4453-9086-22484B524701}"/>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08</a:t>
            </a:r>
          </a:p>
        </p:txBody>
      </p:sp>
      <p:sp>
        <p:nvSpPr>
          <p:cNvPr id="6" name="Rectangle 5">
            <a:extLst>
              <a:ext uri="{FF2B5EF4-FFF2-40B4-BE49-F238E27FC236}">
                <a16:creationId xmlns:a16="http://schemas.microsoft.com/office/drawing/2014/main" id="{731BBF49-70EE-4796-8305-C330C90075C3}"/>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Small cohort and short follow-up</a:t>
            </a:r>
          </a:p>
        </p:txBody>
      </p:sp>
      <p:sp>
        <p:nvSpPr>
          <p:cNvPr id="7" name="Rectangle 6">
            <a:extLst>
              <a:ext uri="{FF2B5EF4-FFF2-40B4-BE49-F238E27FC236}">
                <a16:creationId xmlns:a16="http://schemas.microsoft.com/office/drawing/2014/main" id="{E79F930B-4282-4C8C-BCD6-873195D0EF98}"/>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participants in each group</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One 40-trial online feedback run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Limited evidence across patient subgroups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and repeated rehabilitation sessions</a:t>
            </a:r>
          </a:p>
        </p:txBody>
      </p:sp>
      <p:sp>
        <p:nvSpPr>
          <p:cNvPr id="8" name="Rectangle 7">
            <a:extLst>
              <a:ext uri="{FF2B5EF4-FFF2-40B4-BE49-F238E27FC236}">
                <a16:creationId xmlns:a16="http://schemas.microsoft.com/office/drawing/2014/main" id="{A405965E-4F51-46BA-9434-F59F578DD3DB}"/>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Comparison and recovery</a:t>
            </a:r>
          </a:p>
        </p:txBody>
      </p:sp>
      <p:sp>
        <p:nvSpPr>
          <p:cNvPr id="9" name="Rectangle 8">
            <a:extLst>
              <a:ext uri="{FF2B5EF4-FFF2-40B4-BE49-F238E27FC236}">
                <a16:creationId xmlns:a16="http://schemas.microsoft.com/office/drawing/2014/main" id="{08C65342-1951-4F4D-9D4D-3693DAB9BE7F}"/>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baseline applied offline to the same data</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parallel online nonadaptive condition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Reported metrics concern BCI performance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Durable motor recovery remains untested</a:t>
            </a:r>
          </a:p>
        </p:txBody>
      </p:sp>
      <p:sp>
        <p:nvSpPr>
          <p:cNvPr id="10" name="Rectangle 9">
            <a:extLst>
              <a:ext uri="{FF2B5EF4-FFF2-40B4-BE49-F238E27FC236}">
                <a16:creationId xmlns:a16="http://schemas.microsoft.com/office/drawing/2014/main" id="{4064C1CF-2216-45D6-A611-5C44F2C7662E}"/>
              </a:ext>
            </a:extLst>
          </p:cNvPr>
          <p:cNvSpPr>
            <a:spLocks noGrp="1"/>
          </p:cNvSpPr>
          <p:nvPr/>
        </p:nvSpPr>
        <p:spPr>
          <a:xfrm>
            <a:off x="609600" y="44005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Supported conclusion</a:t>
            </a:r>
          </a:p>
        </p:txBody>
      </p:sp>
      <p:sp>
        <p:nvSpPr>
          <p:cNvPr id="11" name="Rectangle 10">
            <a:extLst>
              <a:ext uri="{FF2B5EF4-FFF2-40B4-BE49-F238E27FC236}">
                <a16:creationId xmlns:a16="http://schemas.microsoft.com/office/drawing/2014/main" id="{CFE52AD5-F091-40C5-8A96-91447B6D402F}"/>
              </a:ext>
            </a:extLst>
          </p:cNvPr>
          <p:cNvSpPr>
            <a:spLocks noGrp="1"/>
          </p:cNvSpPr>
          <p:nvPr/>
        </p:nvSpPr>
        <p:spPr>
          <a:xfrm>
            <a:off x="609600" y="4895850"/>
            <a:ext cx="10572750" cy="90487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The study establishes online technical feasibility and improved decoding. Longer-term reliability and rehabilitation benefit require further evaluation.</a:t>
            </a:r>
          </a:p>
        </p:txBody>
      </p:sp>
    </p:spTree>
    <p:extLst>
      <p:ext uri="{BB962C8B-B14F-4D97-AF65-F5344CB8AC3E}">
        <p14:creationId xmlns:p14="http://schemas.microsoft.com/office/powerpoint/2010/main" val="35275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9E41D8A-7649-4C6A-88F9-A64B59CCE169}"/>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PAPER-TO-PROJECT MAPPING</a:t>
            </a:r>
          </a:p>
        </p:txBody>
      </p:sp>
      <p:sp>
        <p:nvSpPr>
          <p:cNvPr id="2" name="Rectangle 1">
            <a:extLst>
              <a:ext uri="{FF2B5EF4-FFF2-40B4-BE49-F238E27FC236}">
                <a16:creationId xmlns:a16="http://schemas.microsoft.com/office/drawing/2014/main" id="{B4CB27A3-5EBF-436A-8A8A-92CD05F8E2F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Relevance to the current EWMA project</a:t>
            </a:r>
          </a:p>
        </p:txBody>
      </p:sp>
      <p:sp>
        <p:nvSpPr>
          <p:cNvPr id="3" name="Rectangle 2">
            <a:extLst>
              <a:ext uri="{FF2B5EF4-FFF2-40B4-BE49-F238E27FC236}">
                <a16:creationId xmlns:a16="http://schemas.microsoft.com/office/drawing/2014/main" id="{27D04DF1-F38D-4BC6-822F-763DB4FD681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Sources: Chowdhury et al. (2018), §II.E and §III–IV · supplied deck: pipeline, results and next-milestone slides</a:t>
            </a:r>
          </a:p>
        </p:txBody>
      </p:sp>
      <p:sp>
        <p:nvSpPr>
          <p:cNvPr id="4" name="Rectangle 3">
            <a:extLst>
              <a:ext uri="{FF2B5EF4-FFF2-40B4-BE49-F238E27FC236}">
                <a16:creationId xmlns:a16="http://schemas.microsoft.com/office/drawing/2014/main" id="{4ECCB7C7-6FC1-4F46-BB10-46C0A42EF24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3B1A2ED-84E1-4F78-8BCF-D5F6412F39DA}"/>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09</a:t>
            </a:r>
          </a:p>
        </p:txBody>
      </p:sp>
      <p:sp>
        <p:nvSpPr>
          <p:cNvPr id="6" name="Rectangle 5">
            <a:extLst>
              <a:ext uri="{FF2B5EF4-FFF2-40B4-BE49-F238E27FC236}">
                <a16:creationId xmlns:a16="http://schemas.microsoft.com/office/drawing/2014/main" id="{79A5B623-9B8E-47C6-B1BA-8E3AEB27266C}"/>
              </a:ext>
            </a:extLst>
          </p:cNvPr>
          <p:cNvSpPr>
            <a:spLocks noGrp="1"/>
          </p:cNvSpPr>
          <p:nvPr/>
        </p:nvSpPr>
        <p:spPr>
          <a:xfrm>
            <a:off x="609600" y="1657350"/>
            <a:ext cx="5095875"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Methodological connection</a:t>
            </a:r>
          </a:p>
        </p:txBody>
      </p:sp>
      <p:sp>
        <p:nvSpPr>
          <p:cNvPr id="7" name="Rectangle 6">
            <a:extLst>
              <a:ext uri="{FF2B5EF4-FFF2-40B4-BE49-F238E27FC236}">
                <a16:creationId xmlns:a16="http://schemas.microsoft.com/office/drawing/2014/main" id="{F9F2C781-70F4-4F6A-AE1E-BEC48A47B6A4}"/>
              </a:ext>
            </a:extLst>
          </p:cNvPr>
          <p:cNvSpPr>
            <a:spLocks noGrp="1"/>
          </p:cNvSpPr>
          <p:nvPr/>
        </p:nvSpPr>
        <p:spPr>
          <a:xfrm>
            <a:off x="609600" y="2152650"/>
            <a:ext cx="5095875"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EWMA warning followed by shift validation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Selective adaptation motivates event auditing</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Paper uses two bands and four CSP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Current deck uses 10-band FBCSP on 2A/2B</a:t>
            </a:r>
          </a:p>
        </p:txBody>
      </p:sp>
      <p:sp>
        <p:nvSpPr>
          <p:cNvPr id="8" name="Rectangle 7">
            <a:extLst>
              <a:ext uri="{FF2B5EF4-FFF2-40B4-BE49-F238E27FC236}">
                <a16:creationId xmlns:a16="http://schemas.microsoft.com/office/drawing/2014/main" id="{5B45E2FC-1932-4402-A55C-7C2401EE1239}"/>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Existing next-step priorities</a:t>
            </a:r>
          </a:p>
        </p:txBody>
      </p:sp>
      <p:sp>
        <p:nvSpPr>
          <p:cNvPr id="9" name="Rectangle 8">
            <a:extLst>
              <a:ext uri="{FF2B5EF4-FFF2-40B4-BE49-F238E27FC236}">
                <a16:creationId xmlns:a16="http://schemas.microsoft.com/office/drawing/2014/main" id="{111D300B-1A71-44C1-BE73-F67B3DA88730}"/>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Lock the reproduction configuration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Explain accepted and rejected Stage-II events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Measure synthetic false alarms and delay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Export real EEG score/residual traces</a:t>
            </a:r>
          </a:p>
        </p:txBody>
      </p:sp>
      <p:sp>
        <p:nvSpPr>
          <p:cNvPr id="10" name="Rectangle 9">
            <a:extLst>
              <a:ext uri="{FF2B5EF4-FFF2-40B4-BE49-F238E27FC236}">
                <a16:creationId xmlns:a16="http://schemas.microsoft.com/office/drawing/2014/main" id="{1B624334-4B72-4A4F-A895-A50327838DD6}"/>
              </a:ext>
            </a:extLst>
          </p:cNvPr>
          <p:cNvSpPr>
            <a:spLocks noGrp="1"/>
          </p:cNvSpPr>
          <p:nvPr/>
        </p:nvSpPr>
        <p:spPr>
          <a:xfrm>
            <a:off x="609600" y="44386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Evidence boundary</a:t>
            </a:r>
          </a:p>
        </p:txBody>
      </p:sp>
      <p:sp>
        <p:nvSpPr>
          <p:cNvPr id="11" name="Rectangle 10">
            <a:extLst>
              <a:ext uri="{FF2B5EF4-FFF2-40B4-BE49-F238E27FC236}">
                <a16:creationId xmlns:a16="http://schemas.microsoft.com/office/drawing/2014/main" id="{23F10FD9-20DE-4B86-9CD7-F6BAEBE7B99E}"/>
              </a:ext>
            </a:extLst>
          </p:cNvPr>
          <p:cNvSpPr>
            <a:spLocks noGrp="1"/>
          </p:cNvSpPr>
          <p:nvPr/>
        </p:nvSpPr>
        <p:spPr>
          <a:xfrm>
            <a:off x="609600" y="4933950"/>
            <a:ext cx="10572750" cy="8953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Keep the paper’s online results separate from repository benchmarks. Numerical reproduction and real EEG extension evidence remain open in the current deck.</a:t>
            </a:r>
          </a:p>
        </p:txBody>
      </p:sp>
    </p:spTree>
    <p:extLst>
      <p:ext uri="{BB962C8B-B14F-4D97-AF65-F5344CB8AC3E}">
        <p14:creationId xmlns:p14="http://schemas.microsoft.com/office/powerpoint/2010/main" val="1767529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IMPLEMENTED PIPELINE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How evidence becomes an update decision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45920"/>
          <a:ext cx="10789920" cy="333756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556260">
                <a:tc>
                  <a:txBody>
                    <a:bodyPr/>
                    <a:lstStyle/>
                    <a:p>
                      <a:pPr>
                        <a:defRPr sz="1800" b="1">
                          <a:solidFill>
                            <a:srgbClr val="78D8CC"/>
                          </a:solidFill>
                          <a:latin typeface="DejaVu Sans"/>
                        </a:defRPr>
                      </a:pPr>
                      <a:r>
                        <a:t>Responsibility</a:t>
                      </a:r>
                    </a:p>
                  </a:txBody>
                  <a:tcPr marL="109728" marT="73152">
                    <a:solidFill>
                      <a:srgbClr val="142838"/>
                    </a:solidFill>
                  </a:tcPr>
                </a:tc>
                <a:tc>
                  <a:txBody>
                    <a:bodyPr/>
                    <a:lstStyle/>
                    <a:p>
                      <a:pPr>
                        <a:defRPr sz="1800" b="1">
                          <a:solidFill>
                            <a:srgbClr val="78D8CC"/>
                          </a:solidFill>
                          <a:latin typeface="DejaVu Sans"/>
                        </a:defRPr>
                      </a:pPr>
                      <a:r>
                        <a:t>Implemented behaviour</a:t>
                      </a:r>
                    </a:p>
                  </a:txBody>
                  <a:tcPr marL="109728" marT="73152">
                    <a:solidFill>
                      <a:srgbClr val="142838"/>
                    </a:solidFill>
                  </a:tcPr>
                </a:tc>
                <a:extLst>
                  <a:ext uri="{0D108BD9-81ED-4DB2-BD59-A6C34878D82A}">
                    <a16:rowId xmlns:a16="http://schemas.microsoft.com/office/drawing/2014/main" val="10000"/>
                  </a:ext>
                </a:extLst>
              </a:tr>
              <a:tr h="556260">
                <a:tc>
                  <a:txBody>
                    <a:bodyPr/>
                    <a:lstStyle/>
                    <a:p>
                      <a:pPr>
                        <a:defRPr sz="1800" b="0">
                          <a:solidFill>
                            <a:srgbClr val="EAF2F8"/>
                          </a:solidFill>
                          <a:latin typeface="DejaVu Sans"/>
                        </a:defRPr>
                      </a:pPr>
                      <a:r>
                        <a:t>Representation</a:t>
                      </a:r>
                    </a:p>
                  </a:txBody>
                  <a:tcPr marL="109728" marT="73152">
                    <a:solidFill>
                      <a:srgbClr val="101D2A"/>
                    </a:solidFill>
                  </a:tcPr>
                </a:tc>
                <a:tc>
                  <a:txBody>
                    <a:bodyPr/>
                    <a:lstStyle/>
                    <a:p>
                      <a:pPr>
                        <a:defRPr sz="1800" b="0">
                          <a:solidFill>
                            <a:srgbClr val="EAF2F8"/>
                          </a:solidFill>
                          <a:latin typeface="DejaVu Sans"/>
                        </a:defRPr>
                      </a:pPr>
                      <a:r>
                        <a:t>Cue-aligned EEG; FBCSP; PCA fitted on training data</a:t>
                      </a:r>
                    </a:p>
                  </a:txBody>
                  <a:tcPr marL="109728" marT="73152">
                    <a:solidFill>
                      <a:srgbClr val="101D2A"/>
                    </a:solidFill>
                  </a:tcPr>
                </a:tc>
                <a:extLst>
                  <a:ext uri="{0D108BD9-81ED-4DB2-BD59-A6C34878D82A}">
                    <a16:rowId xmlns:a16="http://schemas.microsoft.com/office/drawing/2014/main" val="10001"/>
                  </a:ext>
                </a:extLst>
              </a:tr>
              <a:tr h="556260">
                <a:tc>
                  <a:txBody>
                    <a:bodyPr/>
                    <a:lstStyle/>
                    <a:p>
                      <a:pPr>
                        <a:defRPr sz="1800" b="0">
                          <a:solidFill>
                            <a:srgbClr val="EAF2F8"/>
                          </a:solidFill>
                          <a:latin typeface="DejaVu Sans"/>
                        </a:defRPr>
                      </a:pPr>
                      <a:r>
                        <a:t>Detection and validation</a:t>
                      </a:r>
                    </a:p>
                  </a:txBody>
                  <a:tcPr marL="109728" marT="73152">
                    <a:solidFill>
                      <a:srgbClr val="101D2A"/>
                    </a:solidFill>
                  </a:tcPr>
                </a:tc>
                <a:tc>
                  <a:txBody>
                    <a:bodyPr/>
                    <a:lstStyle/>
                    <a:p>
                      <a:pPr>
                        <a:defRPr sz="1800" b="0">
                          <a:solidFill>
                            <a:srgbClr val="EAF2F8"/>
                          </a:solidFill>
                          <a:latin typeface="DejaVu Sans"/>
                        </a:defRPr>
                      </a:pPr>
                      <a:r>
                        <a:t>EWMA warnings; explicit Stage-II interpretations</a:t>
                      </a:r>
                    </a:p>
                  </a:txBody>
                  <a:tcPr marL="109728" marT="73152">
                    <a:solidFill>
                      <a:srgbClr val="101D2A"/>
                    </a:solidFill>
                  </a:tcPr>
                </a:tc>
                <a:extLst>
                  <a:ext uri="{0D108BD9-81ED-4DB2-BD59-A6C34878D82A}">
                    <a16:rowId xmlns:a16="http://schemas.microsoft.com/office/drawing/2014/main" val="10002"/>
                  </a:ext>
                </a:extLst>
              </a:tr>
              <a:tr h="556260">
                <a:tc>
                  <a:txBody>
                    <a:bodyPr/>
                    <a:lstStyle/>
                    <a:p>
                      <a:pPr>
                        <a:defRPr sz="1800" b="0">
                          <a:solidFill>
                            <a:srgbClr val="EAF2F8"/>
                          </a:solidFill>
                          <a:latin typeface="DejaVu Sans"/>
                        </a:defRPr>
                      </a:pPr>
                      <a:r>
                        <a:t>Update policy</a:t>
                      </a:r>
                    </a:p>
                  </a:txBody>
                  <a:tcPr marL="109728" marT="73152">
                    <a:solidFill>
                      <a:srgbClr val="101D2A"/>
                    </a:solidFill>
                  </a:tcPr>
                </a:tc>
                <a:tc>
                  <a:txBody>
                    <a:bodyPr/>
                    <a:lstStyle/>
                    <a:p>
                      <a:pPr>
                        <a:defRPr sz="1800" b="0">
                          <a:solidFill>
                            <a:srgbClr val="EAF2F8"/>
                          </a:solidFill>
                          <a:latin typeface="DejaVu Sans"/>
                        </a:defRPr>
                      </a:pPr>
                      <a:r>
                        <a:t>Never, periodic, warning, validated or performance-drop</a:t>
                      </a:r>
                    </a:p>
                  </a:txBody>
                  <a:tcPr marL="109728" marT="73152">
                    <a:solidFill>
                      <a:srgbClr val="101D2A"/>
                    </a:solidFill>
                  </a:tcPr>
                </a:tc>
                <a:extLst>
                  <a:ext uri="{0D108BD9-81ED-4DB2-BD59-A6C34878D82A}">
                    <a16:rowId xmlns:a16="http://schemas.microsoft.com/office/drawing/2014/main" val="10003"/>
                  </a:ext>
                </a:extLst>
              </a:tr>
              <a:tr h="556260">
                <a:tc>
                  <a:txBody>
                    <a:bodyPr/>
                    <a:lstStyle/>
                    <a:p>
                      <a:pPr>
                        <a:defRPr sz="1800" b="0">
                          <a:solidFill>
                            <a:srgbClr val="EAF2F8"/>
                          </a:solidFill>
                          <a:latin typeface="DejaVu Sans"/>
                        </a:defRPr>
                      </a:pPr>
                      <a:r>
                        <a:t>Label regime</a:t>
                      </a:r>
                    </a:p>
                  </a:txBody>
                  <a:tcPr marL="109728" marT="73152">
                    <a:solidFill>
                      <a:srgbClr val="101D2A"/>
                    </a:solidFill>
                  </a:tcPr>
                </a:tc>
                <a:tc>
                  <a:txBody>
                    <a:bodyPr/>
                    <a:lstStyle/>
                    <a:p>
                      <a:pPr>
                        <a:defRPr sz="1800" b="0">
                          <a:solidFill>
                            <a:srgbClr val="EAF2F8"/>
                          </a:solidFill>
                          <a:latin typeface="DejaVu Sans"/>
                        </a:defRPr>
                      </a:pPr>
                      <a:r>
                        <a:t>Supervised labels or confidence-gated PWKNN pseudo-labels</a:t>
                      </a:r>
                    </a:p>
                  </a:txBody>
                  <a:tcPr marL="109728" marT="73152">
                    <a:solidFill>
                      <a:srgbClr val="101D2A"/>
                    </a:solidFill>
                  </a:tcPr>
                </a:tc>
                <a:extLst>
                  <a:ext uri="{0D108BD9-81ED-4DB2-BD59-A6C34878D82A}">
                    <a16:rowId xmlns:a16="http://schemas.microsoft.com/office/drawing/2014/main" val="10004"/>
                  </a:ext>
                </a:extLst>
              </a:tr>
              <a:tr h="556260">
                <a:tc>
                  <a:txBody>
                    <a:bodyPr/>
                    <a:lstStyle/>
                    <a:p>
                      <a:pPr>
                        <a:defRPr sz="1800" b="0">
                          <a:solidFill>
                            <a:srgbClr val="EAF2F8"/>
                          </a:solidFill>
                          <a:latin typeface="DejaVu Sans"/>
                        </a:defRPr>
                      </a:pPr>
                      <a:r>
                        <a:t>Audit outputs</a:t>
                      </a:r>
                    </a:p>
                  </a:txBody>
                  <a:tcPr marL="109728" marT="73152">
                    <a:solidFill>
                      <a:srgbClr val="101D2A"/>
                    </a:solidFill>
                  </a:tcPr>
                </a:tc>
                <a:tc>
                  <a:txBody>
                    <a:bodyPr/>
                    <a:lstStyle/>
                    <a:p>
                      <a:pPr>
                        <a:defRPr sz="1800" b="0">
                          <a:solidFill>
                            <a:srgbClr val="EAF2F8"/>
                          </a:solidFill>
                          <a:latin typeface="DejaVu Sans"/>
                        </a:defRPr>
                      </a:pPr>
                      <a:r>
                        <a:t>Predictions, accepted/rejected evidence and update events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30368"/>
            <a:ext cx="10789920" cy="685800"/>
          </a:xfrm>
          <a:prstGeom prst="rect">
            <a:avLst/>
          </a:prstGeom>
          <a:noFill/>
        </p:spPr>
        <p:txBody>
          <a:bodyPr wrap="square" lIns="0" rIns="0">
            <a:spAutoFit/>
          </a:bodyPr>
          <a:lstStyle/>
          <a:p>
            <a:pPr>
              <a:spcAft>
                <a:spcPts val="900"/>
              </a:spcAft>
              <a:defRPr sz="1800" b="0">
                <a:solidFill>
                  <a:srgbClr val="78D8CC"/>
                </a:solidFill>
                <a:latin typeface="DejaVu Sans"/>
              </a:defRPr>
            </a:pPr>
            <a:r>
              <a:t>Score-plus-residual monitoring is a separate Stage-I extension.</a:t>
            </a:r>
          </a:p>
          <a:p>
            <a:pPr>
              <a:spcAft>
                <a:spcPts val="900"/>
              </a:spcAft>
              <a:defRPr sz="1800" b="0">
                <a:solidFill>
                  <a:srgbClr val="78D8CC"/>
                </a:solidFill>
                <a:latin typeface="DejaVu Sans"/>
              </a:defRPr>
            </a:pPr>
            <a:r>
              <a:t>The Diethe comparison currently uses the fixed CSE detector.</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10</a:t>
            </a:r>
          </a:p>
        </p:txBody>
      </p:sp>
    </p:spTree>
    <p:extLst>
      <p:ext uri="{BB962C8B-B14F-4D97-AF65-F5344CB8AC3E}">
        <p14:creationId xmlns:p14="http://schemas.microsoft.com/office/powerpoint/2010/main" val="19268053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31223"/>
        </a:solidFill>
        <a:effectLst/>
      </p:bgPr>
    </p:bg>
    <p:spTree>
      <p:nvGrpSpPr>
        <p:cNvPr id="1" name=""/>
        <p:cNvGrpSpPr/>
        <p:nvPr/>
      </p:nvGrpSpPr>
      <p:grpSpPr>
        <a:xfrm>
          <a:off x="0" y="0"/>
          <a:ext cx="0" cy="0"/>
          <a:chOff x="0" y="0"/>
          <a:chExt cx="0" cy="0"/>
        </a:xfrm>
      </p:grpSpPr>
      <p:sp>
        <p:nvSpPr>
          <p:cNvPr id="2" name="TextBox 1"/>
          <p:cNvSpPr txBox="1"/>
          <p:nvPr/>
        </p:nvSpPr>
        <p:spPr>
          <a:xfrm>
            <a:off x="609600" y="400050"/>
            <a:ext cx="3300000" cy="240000"/>
          </a:xfrm>
          <a:prstGeom prst="rect">
            <a:avLst/>
          </a:prstGeom>
          <a:noFill/>
        </p:spPr>
        <p:txBody>
          <a:bodyPr wrap="square" lIns="0" tIns="0" rIns="0" bIns="0">
            <a:spAutoFit/>
          </a:bodyPr>
          <a:lstStyle/>
          <a:p>
            <a:pPr algn="l"/>
            <a:r>
              <a:rPr sz="1600" b="1">
                <a:solidFill>
                  <a:srgbClr val="3FEEE0"/>
                </a:solidFill>
                <a:latin typeface="Aptos"/>
              </a:rPr>
              <a:t>DETECTOR MATHEMATICS</a:t>
            </a:r>
          </a:p>
        </p:txBody>
      </p:sp>
      <p:sp>
        <p:nvSpPr>
          <p:cNvPr id="3" name="TextBox 2"/>
          <p:cNvSpPr txBox="1"/>
          <p:nvPr/>
        </p:nvSpPr>
        <p:spPr>
          <a:xfrm>
            <a:off x="609600" y="685800"/>
            <a:ext cx="10953750" cy="552450"/>
          </a:xfrm>
          <a:prstGeom prst="rect">
            <a:avLst/>
          </a:prstGeom>
          <a:noFill/>
        </p:spPr>
        <p:txBody>
          <a:bodyPr wrap="square" lIns="0" tIns="0" rIns="0" bIns="0">
            <a:spAutoFit/>
          </a:bodyPr>
          <a:lstStyle/>
          <a:p>
            <a:pPr algn="l"/>
            <a:r>
              <a:rPr sz="2700" b="1">
                <a:solidFill>
                  <a:srgbClr val="EAF0F6"/>
                </a:solidFill>
                <a:latin typeface="Aptos"/>
              </a:rPr>
              <a:t>Stage-I and Stage-II equations</a:t>
            </a:r>
          </a:p>
        </p:txBody>
      </p:sp>
      <p:cxnSp>
        <p:nvCxnSpPr>
          <p:cNvPr id="4" name="Connector 3"/>
          <p:cNvCxnSpPr/>
          <p:nvPr/>
        </p:nvCxnSpPr>
        <p:spPr>
          <a:xfrm>
            <a:off x="609600" y="1371600"/>
            <a:ext cx="10972800" cy="0"/>
          </a:xfrm>
          <a:prstGeom prst="line">
            <a:avLst/>
          </a:prstGeom>
          <a:ln w="12700">
            <a:solidFill>
              <a:srgbClr val="46628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09600" y="1510000"/>
            <a:ext cx="10900000" cy="250000"/>
          </a:xfrm>
          <a:prstGeom prst="rect">
            <a:avLst/>
          </a:prstGeom>
          <a:noFill/>
        </p:spPr>
        <p:txBody>
          <a:bodyPr wrap="square" lIns="0" tIns="0" rIns="0" bIns="0">
            <a:spAutoFit/>
          </a:bodyPr>
          <a:lstStyle/>
          <a:p>
            <a:pPr algn="l"/>
            <a:r>
              <a:rPr sz="1400" b="0">
                <a:solidFill>
                  <a:srgbClr val="ACBCD2"/>
                </a:solidFill>
                <a:latin typeface="Aptos"/>
              </a:rPr>
              <a:t>A compact equation view of how PCA scores become warnings, and how warnings become validated shifts.</a:t>
            </a:r>
          </a:p>
        </p:txBody>
      </p:sp>
      <p:sp>
        <p:nvSpPr>
          <p:cNvPr id="6" name="Rounded Rectangle 5"/>
          <p:cNvSpPr/>
          <p:nvPr/>
        </p:nvSpPr>
        <p:spPr>
          <a:xfrm>
            <a:off x="950000" y="1810000"/>
            <a:ext cx="10200000" cy="680000"/>
          </a:xfrm>
          <a:prstGeom prst="roundRect">
            <a:avLst>
              <a:gd name="adj" fmla="val 3000"/>
            </a:avLst>
          </a:prstGeom>
          <a:solidFill>
            <a:srgbClr val="052036"/>
          </a:solidFill>
          <a:ln w="13970">
            <a:solidFill>
              <a:srgbClr val="3FEE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70000" y="1920000"/>
            <a:ext cx="3200000" cy="160000"/>
          </a:xfrm>
          <a:prstGeom prst="rect">
            <a:avLst/>
          </a:prstGeom>
          <a:noFill/>
        </p:spPr>
        <p:txBody>
          <a:bodyPr wrap="square" lIns="0" tIns="0" rIns="0" bIns="0">
            <a:spAutoFit/>
          </a:bodyPr>
          <a:lstStyle/>
          <a:p>
            <a:pPr algn="l"/>
            <a:r>
              <a:rPr sz="1400" b="1">
                <a:solidFill>
                  <a:srgbClr val="3FEEE0"/>
                </a:solidFill>
                <a:latin typeface="Aptos"/>
              </a:rPr>
              <a:t>Representation input</a:t>
            </a:r>
          </a:p>
        </p:txBody>
      </p:sp>
      <p:pic>
        <p:nvPicPr>
          <p:cNvPr id="8" name="Picture 7" descr="image.png"/>
          <p:cNvPicPr>
            <a:picLocks noChangeAspect="1"/>
          </p:cNvPicPr>
          <p:nvPr/>
        </p:nvPicPr>
        <p:blipFill>
          <a:blip r:embed="rId2"/>
          <a:stretch>
            <a:fillRect/>
          </a:stretch>
        </p:blipFill>
        <p:spPr>
          <a:xfrm>
            <a:off x="1170000" y="2150000"/>
            <a:ext cx="1645912" cy="310000"/>
          </a:xfrm>
          <a:prstGeom prst="rect">
            <a:avLst/>
          </a:prstGeom>
        </p:spPr>
      </p:pic>
      <p:sp>
        <p:nvSpPr>
          <p:cNvPr id="9" name="TextBox 8"/>
          <p:cNvSpPr txBox="1"/>
          <p:nvPr/>
        </p:nvSpPr>
        <p:spPr>
          <a:xfrm>
            <a:off x="2920000" y="2170000"/>
            <a:ext cx="6700000" cy="220000"/>
          </a:xfrm>
          <a:prstGeom prst="rect">
            <a:avLst/>
          </a:prstGeom>
          <a:noFill/>
        </p:spPr>
        <p:txBody>
          <a:bodyPr wrap="square" lIns="0" tIns="0" rIns="0" bIns="0">
            <a:spAutoFit/>
          </a:bodyPr>
          <a:lstStyle/>
          <a:p>
            <a:pPr algn="l"/>
            <a:r>
              <a:rPr sz="1700" b="0">
                <a:solidFill>
                  <a:srgbClr val="EAF0F6"/>
                </a:solidFill>
                <a:latin typeface="Aptos"/>
              </a:rPr>
              <a:t>retained PC1 score passed to Stage-I EWMA</a:t>
            </a:r>
          </a:p>
        </p:txBody>
      </p:sp>
      <p:sp>
        <p:nvSpPr>
          <p:cNvPr id="10" name="Rounded Rectangle 9"/>
          <p:cNvSpPr/>
          <p:nvPr/>
        </p:nvSpPr>
        <p:spPr>
          <a:xfrm>
            <a:off x="900000" y="2760000"/>
            <a:ext cx="4650000" cy="2600000"/>
          </a:xfrm>
          <a:prstGeom prst="roundRect">
            <a:avLst>
              <a:gd name="adj" fmla="val 2000"/>
            </a:avLst>
          </a:prstGeom>
          <a:solidFill>
            <a:srgbClr val="08182C"/>
          </a:solidFill>
          <a:ln w="15240">
            <a:solidFill>
              <a:srgbClr val="56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850000" y="2760000"/>
            <a:ext cx="5100000" cy="2600000"/>
          </a:xfrm>
          <a:prstGeom prst="roundRect">
            <a:avLst>
              <a:gd name="adj" fmla="val 2000"/>
            </a:avLst>
          </a:prstGeom>
          <a:solidFill>
            <a:srgbClr val="08182C"/>
          </a:solidFill>
          <a:ln w="15240">
            <a:solidFill>
              <a:srgbClr val="F5BF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00000" y="2760000"/>
            <a:ext cx="4650000" cy="70000"/>
          </a:xfrm>
          <a:prstGeom prst="rect">
            <a:avLst/>
          </a:prstGeom>
          <a:solidFill>
            <a:srgbClr val="5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850000" y="2760000"/>
            <a:ext cx="5100000" cy="70000"/>
          </a:xfrm>
          <a:prstGeom prst="rect">
            <a:avLst/>
          </a:prstGeom>
          <a:solidFill>
            <a:srgbClr val="F5BF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00000" y="2990000"/>
            <a:ext cx="3350000" cy="250000"/>
          </a:xfrm>
          <a:prstGeom prst="rect">
            <a:avLst/>
          </a:prstGeom>
          <a:noFill/>
        </p:spPr>
        <p:txBody>
          <a:bodyPr wrap="square" lIns="0" tIns="0" rIns="0" bIns="0">
            <a:spAutoFit/>
          </a:bodyPr>
          <a:lstStyle/>
          <a:p>
            <a:pPr algn="l"/>
            <a:r>
              <a:rPr sz="2000" b="1">
                <a:solidFill>
                  <a:srgbClr val="EAF0F6"/>
                </a:solidFill>
                <a:latin typeface="Aptos"/>
              </a:rPr>
              <a:t>Stage I: EWMA warning</a:t>
            </a:r>
          </a:p>
        </p:txBody>
      </p:sp>
      <p:sp>
        <p:nvSpPr>
          <p:cNvPr id="15" name="TextBox 14"/>
          <p:cNvSpPr txBox="1"/>
          <p:nvPr/>
        </p:nvSpPr>
        <p:spPr>
          <a:xfrm>
            <a:off x="1100000" y="3370000"/>
            <a:ext cx="3200000" cy="150000"/>
          </a:xfrm>
          <a:prstGeom prst="rect">
            <a:avLst/>
          </a:prstGeom>
          <a:noFill/>
        </p:spPr>
        <p:txBody>
          <a:bodyPr wrap="square" lIns="0" tIns="0" rIns="0" bIns="0">
            <a:spAutoFit/>
          </a:bodyPr>
          <a:lstStyle/>
          <a:p>
            <a:pPr algn="l"/>
            <a:r>
              <a:rPr sz="1300" b="1">
                <a:solidFill>
                  <a:srgbClr val="3FEEE0"/>
                </a:solidFill>
                <a:latin typeface="Aptos"/>
              </a:rPr>
              <a:t>EWMA state update</a:t>
            </a:r>
          </a:p>
        </p:txBody>
      </p:sp>
      <p:pic>
        <p:nvPicPr>
          <p:cNvPr id="16" name="Picture 15" descr="image.png"/>
          <p:cNvPicPr>
            <a:picLocks noChangeAspect="1"/>
          </p:cNvPicPr>
          <p:nvPr/>
        </p:nvPicPr>
        <p:blipFill>
          <a:blip r:embed="rId3"/>
          <a:stretch>
            <a:fillRect/>
          </a:stretch>
        </p:blipFill>
        <p:spPr>
          <a:xfrm>
            <a:off x="1100000" y="3540000"/>
            <a:ext cx="2052239" cy="250000"/>
          </a:xfrm>
          <a:prstGeom prst="rect">
            <a:avLst/>
          </a:prstGeom>
        </p:spPr>
      </p:pic>
      <p:sp>
        <p:nvSpPr>
          <p:cNvPr id="17" name="TextBox 16"/>
          <p:cNvSpPr txBox="1"/>
          <p:nvPr/>
        </p:nvSpPr>
        <p:spPr>
          <a:xfrm>
            <a:off x="1100000" y="3890000"/>
            <a:ext cx="3200000" cy="150000"/>
          </a:xfrm>
          <a:prstGeom prst="rect">
            <a:avLst/>
          </a:prstGeom>
          <a:noFill/>
        </p:spPr>
        <p:txBody>
          <a:bodyPr wrap="square" lIns="0" tIns="0" rIns="0" bIns="0">
            <a:spAutoFit/>
          </a:bodyPr>
          <a:lstStyle/>
          <a:p>
            <a:pPr algn="l"/>
            <a:r>
              <a:rPr sz="1300" b="1">
                <a:solidFill>
                  <a:srgbClr val="3FEEE0"/>
                </a:solidFill>
                <a:latin typeface="Aptos"/>
              </a:rPr>
              <a:t>One-step-ahead prediction error</a:t>
            </a:r>
          </a:p>
        </p:txBody>
      </p:sp>
      <p:pic>
        <p:nvPicPr>
          <p:cNvPr id="18" name="Picture 17" descr="image.png"/>
          <p:cNvPicPr>
            <a:picLocks noChangeAspect="1"/>
          </p:cNvPicPr>
          <p:nvPr/>
        </p:nvPicPr>
        <p:blipFill>
          <a:blip r:embed="rId4"/>
          <a:stretch>
            <a:fillRect/>
          </a:stretch>
        </p:blipFill>
        <p:spPr>
          <a:xfrm>
            <a:off x="1100000" y="4060000"/>
            <a:ext cx="1253130" cy="240000"/>
          </a:xfrm>
          <a:prstGeom prst="rect">
            <a:avLst/>
          </a:prstGeom>
        </p:spPr>
      </p:pic>
      <p:sp>
        <p:nvSpPr>
          <p:cNvPr id="19" name="TextBox 18"/>
          <p:cNvSpPr txBox="1"/>
          <p:nvPr/>
        </p:nvSpPr>
        <p:spPr>
          <a:xfrm>
            <a:off x="1100000" y="4390000"/>
            <a:ext cx="3200000" cy="150000"/>
          </a:xfrm>
          <a:prstGeom prst="rect">
            <a:avLst/>
          </a:prstGeom>
          <a:noFill/>
        </p:spPr>
        <p:txBody>
          <a:bodyPr wrap="square" lIns="0" tIns="0" rIns="0" bIns="0">
            <a:spAutoFit/>
          </a:bodyPr>
          <a:lstStyle/>
          <a:p>
            <a:pPr algn="l"/>
            <a:r>
              <a:rPr sz="1300" b="1">
                <a:solidFill>
                  <a:srgbClr val="3FEEE0"/>
                </a:solidFill>
                <a:latin typeface="Aptos"/>
              </a:rPr>
              <a:t>Warning boundaries</a:t>
            </a:r>
          </a:p>
        </p:txBody>
      </p:sp>
      <p:pic>
        <p:nvPicPr>
          <p:cNvPr id="20" name="Picture 19" descr="image.png"/>
          <p:cNvPicPr>
            <a:picLocks noChangeAspect="1"/>
          </p:cNvPicPr>
          <p:nvPr/>
        </p:nvPicPr>
        <p:blipFill>
          <a:blip r:embed="rId5"/>
          <a:stretch>
            <a:fillRect/>
          </a:stretch>
        </p:blipFill>
        <p:spPr>
          <a:xfrm>
            <a:off x="1100000" y="4560000"/>
            <a:ext cx="3219847" cy="185000"/>
          </a:xfrm>
          <a:prstGeom prst="rect">
            <a:avLst/>
          </a:prstGeom>
        </p:spPr>
      </p:pic>
      <p:pic>
        <p:nvPicPr>
          <p:cNvPr id="21" name="Picture 20" descr="image.png"/>
          <p:cNvPicPr>
            <a:picLocks noChangeAspect="1"/>
          </p:cNvPicPr>
          <p:nvPr/>
        </p:nvPicPr>
        <p:blipFill>
          <a:blip r:embed="rId6"/>
          <a:stretch>
            <a:fillRect/>
          </a:stretch>
        </p:blipFill>
        <p:spPr>
          <a:xfrm>
            <a:off x="1100000" y="4935000"/>
            <a:ext cx="2252240" cy="235000"/>
          </a:xfrm>
          <a:prstGeom prst="rect">
            <a:avLst/>
          </a:prstGeom>
        </p:spPr>
      </p:pic>
      <p:sp>
        <p:nvSpPr>
          <p:cNvPr id="22" name="TextBox 21"/>
          <p:cNvSpPr txBox="1"/>
          <p:nvPr/>
        </p:nvSpPr>
        <p:spPr>
          <a:xfrm>
            <a:off x="6050000" y="2990000"/>
            <a:ext cx="4550000" cy="250000"/>
          </a:xfrm>
          <a:prstGeom prst="rect">
            <a:avLst/>
          </a:prstGeom>
          <a:noFill/>
        </p:spPr>
        <p:txBody>
          <a:bodyPr wrap="square" lIns="0" tIns="0" rIns="0" bIns="0">
            <a:spAutoFit/>
          </a:bodyPr>
          <a:lstStyle/>
          <a:p>
            <a:pPr algn="l"/>
            <a:r>
              <a:rPr sz="2000" b="1">
                <a:solidFill>
                  <a:srgbClr val="EAF0F6"/>
                </a:solidFill>
                <a:latin typeface="Aptos"/>
              </a:rPr>
              <a:t>Stage II: Hotelling validation</a:t>
            </a:r>
          </a:p>
        </p:txBody>
      </p:sp>
      <p:sp>
        <p:nvSpPr>
          <p:cNvPr id="23" name="TextBox 22"/>
          <p:cNvSpPr txBox="1"/>
          <p:nvPr/>
        </p:nvSpPr>
        <p:spPr>
          <a:xfrm>
            <a:off x="6050000" y="3450000"/>
            <a:ext cx="3400000" cy="150000"/>
          </a:xfrm>
          <a:prstGeom prst="rect">
            <a:avLst/>
          </a:prstGeom>
          <a:noFill/>
        </p:spPr>
        <p:txBody>
          <a:bodyPr wrap="square" lIns="0" tIns="0" rIns="0" bIns="0">
            <a:spAutoFit/>
          </a:bodyPr>
          <a:lstStyle/>
          <a:p>
            <a:pPr algn="l"/>
            <a:r>
              <a:rPr sz="1300" b="1">
                <a:solidFill>
                  <a:srgbClr val="F5BF42"/>
                </a:solidFill>
                <a:latin typeface="Aptos"/>
              </a:rPr>
              <a:t>Two-sample validation statistic</a:t>
            </a:r>
          </a:p>
        </p:txBody>
      </p:sp>
      <p:pic>
        <p:nvPicPr>
          <p:cNvPr id="24" name="Picture 23" descr="image.png"/>
          <p:cNvPicPr>
            <a:picLocks noChangeAspect="1"/>
          </p:cNvPicPr>
          <p:nvPr/>
        </p:nvPicPr>
        <p:blipFill>
          <a:blip r:embed="rId7"/>
          <a:stretch>
            <a:fillRect/>
          </a:stretch>
        </p:blipFill>
        <p:spPr>
          <a:xfrm>
            <a:off x="6050000" y="3650000"/>
            <a:ext cx="2656667" cy="285000"/>
          </a:xfrm>
          <a:prstGeom prst="rect">
            <a:avLst/>
          </a:prstGeom>
        </p:spPr>
      </p:pic>
      <p:sp>
        <p:nvSpPr>
          <p:cNvPr id="25" name="TextBox 24"/>
          <p:cNvSpPr txBox="1"/>
          <p:nvPr/>
        </p:nvSpPr>
        <p:spPr>
          <a:xfrm>
            <a:off x="6050000" y="4230000"/>
            <a:ext cx="3300000" cy="150000"/>
          </a:xfrm>
          <a:prstGeom prst="rect">
            <a:avLst/>
          </a:prstGeom>
          <a:noFill/>
        </p:spPr>
        <p:txBody>
          <a:bodyPr wrap="square" lIns="0" tIns="0" rIns="0" bIns="0">
            <a:spAutoFit/>
          </a:bodyPr>
          <a:lstStyle/>
          <a:p>
            <a:pPr algn="l"/>
            <a:r>
              <a:rPr sz="1300" b="1">
                <a:solidFill>
                  <a:srgbClr val="F5BF42"/>
                </a:solidFill>
                <a:latin typeface="Aptos"/>
              </a:rPr>
              <a:t>Decision rule</a:t>
            </a:r>
          </a:p>
        </p:txBody>
      </p:sp>
      <p:pic>
        <p:nvPicPr>
          <p:cNvPr id="26" name="Picture 25" descr="image.png"/>
          <p:cNvPicPr>
            <a:picLocks noChangeAspect="1"/>
          </p:cNvPicPr>
          <p:nvPr/>
        </p:nvPicPr>
        <p:blipFill>
          <a:blip r:embed="rId8"/>
          <a:stretch>
            <a:fillRect/>
          </a:stretch>
        </p:blipFill>
        <p:spPr>
          <a:xfrm>
            <a:off x="6050000" y="4410000"/>
            <a:ext cx="1173134" cy="240000"/>
          </a:xfrm>
          <a:prstGeom prst="rect">
            <a:avLst/>
          </a:prstGeom>
        </p:spPr>
      </p:pic>
      <p:sp>
        <p:nvSpPr>
          <p:cNvPr id="27" name="TextBox 26"/>
          <p:cNvSpPr txBox="1"/>
          <p:nvPr/>
        </p:nvSpPr>
        <p:spPr>
          <a:xfrm>
            <a:off x="6050000" y="4740000"/>
            <a:ext cx="3300000" cy="150000"/>
          </a:xfrm>
          <a:prstGeom prst="rect">
            <a:avLst/>
          </a:prstGeom>
          <a:noFill/>
        </p:spPr>
        <p:txBody>
          <a:bodyPr wrap="square" lIns="0" tIns="0" rIns="0" bIns="0">
            <a:spAutoFit/>
          </a:bodyPr>
          <a:lstStyle/>
          <a:p>
            <a:pPr algn="l"/>
            <a:r>
              <a:rPr sz="1300" b="1">
                <a:solidFill>
                  <a:srgbClr val="F5BF42"/>
                </a:solidFill>
                <a:latin typeface="Aptos"/>
              </a:rPr>
              <a:t>Stage-II admissibility</a:t>
            </a:r>
          </a:p>
        </p:txBody>
      </p:sp>
      <p:pic>
        <p:nvPicPr>
          <p:cNvPr id="28" name="Picture 27" descr="image.png"/>
          <p:cNvPicPr>
            <a:picLocks noChangeAspect="1"/>
          </p:cNvPicPr>
          <p:nvPr/>
        </p:nvPicPr>
        <p:blipFill>
          <a:blip r:embed="rId9"/>
          <a:stretch>
            <a:fillRect/>
          </a:stretch>
        </p:blipFill>
        <p:spPr>
          <a:xfrm>
            <a:off x="6050000" y="4920000"/>
            <a:ext cx="1351908" cy="230000"/>
          </a:xfrm>
          <a:prstGeom prst="rect">
            <a:avLst/>
          </a:prstGeom>
        </p:spPr>
      </p:pic>
      <p:sp>
        <p:nvSpPr>
          <p:cNvPr id="29" name="TextBox 28"/>
          <p:cNvSpPr txBox="1"/>
          <p:nvPr/>
        </p:nvSpPr>
        <p:spPr>
          <a:xfrm>
            <a:off x="7900000" y="4935000"/>
            <a:ext cx="2800000" cy="320000"/>
          </a:xfrm>
          <a:prstGeom prst="rect">
            <a:avLst/>
          </a:prstGeom>
          <a:noFill/>
        </p:spPr>
        <p:txBody>
          <a:bodyPr wrap="square" lIns="0" tIns="0" rIns="0" bIns="0">
            <a:spAutoFit/>
          </a:bodyPr>
          <a:lstStyle/>
          <a:p>
            <a:pPr algn="l"/>
            <a:r>
              <a:rPr sz="1100" b="0">
                <a:solidFill>
                  <a:srgbClr val="ACBCD2"/>
                </a:solidFill>
                <a:latin typeface="Aptos"/>
              </a:rPr>
              <a:t>H = validation-window size
d = retained PCA dimension</a:t>
            </a:r>
          </a:p>
        </p:txBody>
      </p:sp>
      <p:sp>
        <p:nvSpPr>
          <p:cNvPr id="30" name="TextBox 29"/>
          <p:cNvSpPr txBox="1"/>
          <p:nvPr/>
        </p:nvSpPr>
        <p:spPr>
          <a:xfrm>
            <a:off x="609600" y="6515100"/>
            <a:ext cx="4095750" cy="171450"/>
          </a:xfrm>
          <a:prstGeom prst="rect">
            <a:avLst/>
          </a:prstGeom>
          <a:noFill/>
        </p:spPr>
        <p:txBody>
          <a:bodyPr wrap="square" lIns="0" tIns="0" rIns="0" bIns="0">
            <a:spAutoFit/>
          </a:bodyPr>
          <a:lstStyle/>
          <a:p>
            <a:pPr algn="l"/>
            <a:r>
              <a:rPr sz="1000" b="0">
                <a:solidFill>
                  <a:srgbClr val="ACBCD2"/>
                </a:solidFill>
                <a:latin typeface="Aptos"/>
              </a:rPr>
              <a:t>hlin863/ewma_covariate_shift_demo</a:t>
            </a:r>
          </a:p>
        </p:txBody>
      </p:sp>
      <p:sp>
        <p:nvSpPr>
          <p:cNvPr id="31" name="TextBox 30"/>
          <p:cNvSpPr txBox="1"/>
          <p:nvPr/>
        </p:nvSpPr>
        <p:spPr>
          <a:xfrm>
            <a:off x="11049000" y="6515100"/>
            <a:ext cx="533400" cy="171450"/>
          </a:xfrm>
          <a:prstGeom prst="rect">
            <a:avLst/>
          </a:prstGeom>
          <a:noFill/>
        </p:spPr>
        <p:txBody>
          <a:bodyPr wrap="square" lIns="0" tIns="0" rIns="0" bIns="0">
            <a:spAutoFit/>
          </a:bodyPr>
          <a:lstStyle/>
          <a:p>
            <a: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txBody>
          <a:bodyPr/>
          <a:lstStyle/>
          <a:p>
            <a:endParaRPr/>
          </a:p>
        </p:txBody>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txBody>
          <a:bodyPr/>
          <a:lstStyle/>
          <a:p>
            <a:endParaRPr/>
          </a:p>
        </p:txBody>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Record the split seed and effective detector configuration.</a:t>
            </a:r>
            <a:endParaRPr sz="1425" b="1">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12</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13</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a:solidFill>
                  <a:srgbClr val="F5B942"/>
                </a:solidFill>
                <a:latin typeface="DejaVu Sans"/>
                <a:ea typeface="DejaVu Sans"/>
                <a:cs typeface="DejaVu Sans"/>
              </a:rPr>
              <a:t>CI at 2a8d20b: 255 passed, 1 failed. Homepage test expects /diethe; route is /results/diethe.</a:t>
            </a:r>
          </a:p>
        </p:txBody>
      </p:sp>
      <p:graphicFrame>
        <p:nvGraphicFramePr>
          <p:cNvPr id="36" name="Table 35"/>
          <p:cNvGraphicFramePr/>
          <p:nvPr/>
        </p:nvGraphicFramePr>
        <p:xfrm>
          <a:off x="609600" y="2647950"/>
          <a:ext cx="4762500" cy="1428750"/>
        </p:xfrm>
        <a:graphic>
          <a:graphicData uri="http://schemas.openxmlformats.org/drawingml/2006/table">
            <a:tbl>
              <a:tblPr/>
              <a:tblGrid>
                <a:gridCol w="123825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76250">
                <a:tc>
                  <a:txBody>
                    <a:bodyPr/>
                    <a:lstStyle/>
                    <a:p>
                      <a:r>
                        <a:rPr sz="1275" b="1">
                          <a:solidFill>
                            <a:srgbClr val="2DD4BF"/>
                          </a:solidFill>
                          <a:latin typeface="DejaVu Sans"/>
                          <a:ea typeface="DejaVu Sans"/>
                          <a:cs typeface="DejaVu Sans"/>
                        </a:rPr>
                        <a:t>Dataset</a:t>
                      </a:r>
                    </a:p>
                  </a:txBody>
                  <a:tcPr>
                    <a:solidFill>
                      <a:srgbClr val="122B3E"/>
                    </a:solidFill>
                  </a:tcPr>
                </a:tc>
                <a:tc>
                  <a:txBody>
                    <a:bodyPr/>
                    <a:lstStyle/>
                    <a:p>
                      <a:r>
                        <a:rPr sz="1275" b="1">
                          <a:solidFill>
                            <a:srgbClr val="2DD4BF"/>
                          </a:solidFill>
                          <a:latin typeface="DejaVu Sans"/>
                          <a:ea typeface="DejaVu Sans"/>
                          <a:cs typeface="DejaVu Sans"/>
                        </a:rPr>
                        <a:t>Single SVM</a:t>
                      </a:r>
                    </a:p>
                  </a:txBody>
                  <a:tcPr>
                    <a:solidFill>
                      <a:srgbClr val="122B3E"/>
                    </a:solidFill>
                  </a:tcPr>
                </a:tc>
                <a:tc>
                  <a:txBody>
                    <a:bodyPr/>
                    <a:lstStyle/>
                    <a:p>
                      <a:r>
                        <a:rPr sz="1275" b="1">
                          <a:solidFill>
                            <a:srgbClr val="2DD4BF"/>
                          </a:solidFill>
                          <a:latin typeface="DejaVu Sans"/>
                          <a:ea typeface="DejaVu Sans"/>
                          <a:cs typeface="DejaVu Sans"/>
                        </a:rPr>
                        <a:t>Bagged SVM</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2A</a:t>
                      </a:r>
                    </a:p>
                  </a:txBody>
                  <a:tcPr>
                    <a:solidFill>
                      <a:srgbClr val="0E1D2C"/>
                    </a:solidFill>
                  </a:tcPr>
                </a:tc>
                <a:tc>
                  <a:txBody>
                    <a:bodyPr/>
                    <a:lstStyle/>
                    <a:p>
                      <a:r>
                        <a:rPr sz="1275" b="0">
                          <a:solidFill>
                            <a:srgbClr val="EAF2F8"/>
                          </a:solidFill>
                          <a:latin typeface="DejaVu Sans"/>
                          <a:ea typeface="DejaVu Sans"/>
                          <a:cs typeface="DejaVu Sans"/>
                        </a:rPr>
                        <a:t>76.00%</a:t>
                      </a:r>
                    </a:p>
                  </a:txBody>
                  <a:tcPr>
                    <a:solidFill>
                      <a:srgbClr val="0E1D2C"/>
                    </a:solidFill>
                  </a:tcPr>
                </a:tc>
                <a:tc>
                  <a:txBody>
                    <a:bodyPr/>
                    <a:lstStyle/>
                    <a:p>
                      <a:r>
                        <a:rPr sz="1275" b="0">
                          <a:solidFill>
                            <a:srgbClr val="EAF2F8"/>
                          </a:solidFill>
                          <a:latin typeface="DejaVu Sans"/>
                          <a:ea typeface="DejaVu Sans"/>
                          <a:cs typeface="DejaVu Sans"/>
                        </a:rPr>
                        <a:t>75.85%</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2B</a:t>
                      </a:r>
                    </a:p>
                  </a:txBody>
                  <a:tcPr>
                    <a:solidFill>
                      <a:srgbClr val="0E1D2C"/>
                    </a:solidFill>
                  </a:tcPr>
                </a:tc>
                <a:tc>
                  <a:txBody>
                    <a:bodyPr/>
                    <a:lstStyle/>
                    <a:p>
                      <a:r>
                        <a:rPr sz="1275" b="0">
                          <a:solidFill>
                            <a:srgbClr val="EAF2F8"/>
                          </a:solidFill>
                          <a:latin typeface="DejaVu Sans"/>
                          <a:ea typeface="DejaVu Sans"/>
                          <a:cs typeface="DejaVu Sans"/>
                        </a:rPr>
                        <a:t>74.86%</a:t>
                      </a:r>
                    </a:p>
                  </a:txBody>
                  <a:tcPr>
                    <a:solidFill>
                      <a:srgbClr val="0E1D2C"/>
                    </a:solidFill>
                  </a:tcPr>
                </a:tc>
                <a:tc>
                  <a:txBody>
                    <a:bodyPr/>
                    <a:lstStyle/>
                    <a:p>
                      <a:r>
                        <a:rPr sz="1275" b="0">
                          <a:solidFill>
                            <a:srgbClr val="EAF2F8"/>
                          </a:solidFill>
                          <a:latin typeface="DejaVu Sans"/>
                          <a:ea typeface="DejaVu Sans"/>
                          <a:cs typeface="DejaVu Sans"/>
                        </a:rPr>
                        <a:t>75.42%</a:t>
                      </a:r>
                    </a:p>
                  </a:txBody>
                  <a:tcPr>
                    <a:solidFill>
                      <a:srgbClr val="0E1D2C"/>
                    </a:solidFill>
                  </a:tcPr>
                </a:tc>
                <a:extLst>
                  <a:ext uri="{0D108BD9-81ED-4DB2-BD59-A6C34878D82A}">
                    <a16:rowId xmlns:a16="http://schemas.microsoft.com/office/drawing/2014/main" val="10002"/>
                  </a:ext>
                </a:extLst>
              </a:tr>
            </a:tbl>
          </a:graphicData>
        </a:graphic>
      </p:graphicFrame>
      <p:graphicFrame>
        <p:nvGraphicFramePr>
          <p:cNvPr id="37" name="Table 36"/>
          <p:cNvGraphicFramePr/>
          <p:nvPr/>
        </p:nvGraphicFramePr>
        <p:xfrm>
          <a:off x="6238875" y="2647950"/>
          <a:ext cx="5286375" cy="1905000"/>
        </p:xfrm>
        <a:graphic>
          <a:graphicData uri="http://schemas.openxmlformats.org/drawingml/2006/table">
            <a:tbl>
              <a:tblPr/>
              <a:tblGrid>
                <a:gridCol w="1095375">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571625">
                  <a:extLst>
                    <a:ext uri="{9D8B030D-6E8A-4147-A177-3AD203B41FA5}">
                      <a16:colId xmlns:a16="http://schemas.microsoft.com/office/drawing/2014/main" val="20003"/>
                    </a:ext>
                  </a:extLst>
                </a:gridCol>
              </a:tblGrid>
              <a:tr h="476250">
                <a:tc>
                  <a:txBody>
                    <a:bodyPr/>
                    <a:lstStyle/>
                    <a:p>
                      <a:r>
                        <a:rPr sz="1275" b="1">
                          <a:solidFill>
                            <a:srgbClr val="2DD4BF"/>
                          </a:solidFill>
                          <a:latin typeface="DejaVu Sans"/>
                          <a:ea typeface="DejaVu Sans"/>
                          <a:cs typeface="DejaVu Sans"/>
                        </a:rPr>
                        <a:t>Shift</a:t>
                      </a:r>
                    </a:p>
                  </a:txBody>
                  <a:tcPr>
                    <a:solidFill>
                      <a:srgbClr val="122B3E"/>
                    </a:solidFill>
                  </a:tcPr>
                </a:tc>
                <a:tc>
                  <a:txBody>
                    <a:bodyPr/>
                    <a:lstStyle/>
                    <a:p>
                      <a:r>
                        <a:rPr sz="1275" b="1">
                          <a:solidFill>
                            <a:srgbClr val="2DD4BF"/>
                          </a:solidFill>
                          <a:latin typeface="DejaVu Sans"/>
                          <a:ea typeface="DejaVu Sans"/>
                          <a:cs typeface="DejaVu Sans"/>
                        </a:rPr>
                        <a:t>Score</a:t>
                      </a:r>
                    </a:p>
                  </a:txBody>
                  <a:tcPr>
                    <a:solidFill>
                      <a:srgbClr val="122B3E"/>
                    </a:solidFill>
                  </a:tcPr>
                </a:tc>
                <a:tc>
                  <a:txBody>
                    <a:bodyPr/>
                    <a:lstStyle/>
                    <a:p>
                      <a:r>
                        <a:rPr sz="1275" b="1">
                          <a:solidFill>
                            <a:srgbClr val="2DD4BF"/>
                          </a:solidFill>
                          <a:latin typeface="DejaVu Sans"/>
                          <a:ea typeface="DejaVu Sans"/>
                          <a:cs typeface="DejaVu Sans"/>
                        </a:rPr>
                        <a:t>Residual</a:t>
                      </a:r>
                    </a:p>
                  </a:txBody>
                  <a:tcPr>
                    <a:solidFill>
                      <a:srgbClr val="122B3E"/>
                    </a:solidFill>
                  </a:tcPr>
                </a:tc>
                <a:tc>
                  <a:txBody>
                    <a:bodyPr/>
                    <a:lstStyle/>
                    <a:p>
                      <a:r>
                        <a:rPr sz="1275" b="1">
                          <a:solidFill>
                            <a:srgbClr val="2DD4BF"/>
                          </a:solidFill>
                          <a:latin typeface="DejaVu Sans"/>
                          <a:ea typeface="DejaVu Sans"/>
                          <a:cs typeface="DejaVu Sans"/>
                        </a:rPr>
                        <a:t>Combined</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PC1</a:t>
                      </a:r>
                    </a:p>
                  </a:txBody>
                  <a:tcPr>
                    <a:solidFill>
                      <a:srgbClr val="0E1D2C"/>
                    </a:solidFill>
                  </a:tcPr>
                </a:tc>
                <a:tc>
                  <a:txBody>
                    <a:bodyPr/>
                    <a:lstStyle/>
                    <a:p>
                      <a:r>
                        <a:rPr sz="1275" b="0">
                          <a:solidFill>
                            <a:srgbClr val="EAF2F8"/>
                          </a:solidFill>
                          <a:latin typeface="DejaVu Sans"/>
                          <a:ea typeface="DejaVu Sans"/>
                          <a:cs typeface="DejaVu Sans"/>
                        </a:rPr>
                        <a:t>35%</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31%</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PC2</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extLst>
                  <a:ext uri="{0D108BD9-81ED-4DB2-BD59-A6C34878D82A}">
                    <a16:rowId xmlns:a16="http://schemas.microsoft.com/office/drawing/2014/main" val="10002"/>
                  </a:ext>
                </a:extLst>
              </a:tr>
              <a:tr h="476250">
                <a:tc>
                  <a:txBody>
                    <a:bodyPr/>
                    <a:lstStyle/>
                    <a:p>
                      <a:r>
                        <a:rPr sz="1275" b="0">
                          <a:solidFill>
                            <a:srgbClr val="EAF2F8"/>
                          </a:solidFill>
                          <a:latin typeface="DejaVu Sans"/>
                          <a:ea typeface="DejaVu Sans"/>
                          <a:cs typeface="DejaVu Sans"/>
                        </a:rPr>
                        <a:t>Both</a:t>
                      </a:r>
                    </a:p>
                  </a:txBody>
                  <a:tcPr>
                    <a:solidFill>
                      <a:srgbClr val="0E1D2C"/>
                    </a:solidFill>
                  </a:tcPr>
                </a:tc>
                <a:tc>
                  <a:txBody>
                    <a:bodyPr/>
                    <a:lstStyle/>
                    <a:p>
                      <a:r>
                        <a:rPr sz="1275" b="0">
                          <a:solidFill>
                            <a:srgbClr val="EAF2F8"/>
                          </a:solidFill>
                          <a:latin typeface="DejaVu Sans"/>
                          <a:ea typeface="DejaVu Sans"/>
                          <a:cs typeface="DejaVu Sans"/>
                        </a:rPr>
                        <a:t>26%</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99%</a:t>
                      </a:r>
                    </a:p>
                  </a:txBody>
                  <a:tcPr>
                    <a:solidFill>
                      <a:srgbClr val="0E1D2C"/>
                    </a:solidFill>
                  </a:tcPr>
                </a:tc>
                <a:extLst>
                  <a:ext uri="{0D108BD9-81ED-4DB2-BD59-A6C34878D82A}">
                    <a16:rowId xmlns:a16="http://schemas.microsoft.com/office/drawing/2014/main" val="10003"/>
                  </a:ext>
                </a:extLst>
              </a:tr>
            </a:tbl>
          </a:graphicData>
        </a:graphic>
      </p:graphicFrame>
      <p:sp>
        <p:nvSpPr>
          <p:cNvPr id="38" name="Rounded Rectangle 37"/>
          <p:cNvSpPr/>
          <p:nvPr/>
        </p:nvSpPr>
        <p:spPr>
          <a:xfrm>
            <a:off x="8732520" y="5779008"/>
            <a:ext cx="2542032" cy="228600"/>
          </a:xfrm>
          <a:prstGeom prst="roundRect">
            <a:avLst/>
          </a:prstGeom>
          <a:solidFill>
            <a:srgbClr val="071422"/>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851392" y="5843016"/>
            <a:ext cx="1005840" cy="73152"/>
          </a:xfrm>
          <a:prstGeom prst="rect">
            <a:avLst/>
          </a:prstGeom>
          <a:noFill/>
        </p:spPr>
        <p:txBody>
          <a:bodyPr wrap="none" lIns="0" tIns="0" rIns="0" bIns="0">
            <a:spAutoFit/>
          </a:bodyPr>
          <a:lstStyle/>
          <a:p>
            <a:r>
              <a:rPr sz="560" b="1">
                <a:solidFill>
                  <a:srgbClr val="1DE7D5"/>
                </a:solidFill>
                <a:latin typeface="Aptos"/>
              </a:rPr>
              <a:t>residual relation</a:t>
            </a:r>
          </a:p>
        </p:txBody>
      </p:sp>
      <p:pic>
        <p:nvPicPr>
          <p:cNvPr id="40" name="Picture 39" descr="formula_relation.png"/>
          <p:cNvPicPr>
            <a:picLocks noChangeAspect="1"/>
          </p:cNvPicPr>
          <p:nvPr/>
        </p:nvPicPr>
        <p:blipFill>
          <a:blip r:embed="rId3"/>
          <a:stretch>
            <a:fillRect/>
          </a:stretch>
        </p:blipFill>
        <p:spPr>
          <a:xfrm>
            <a:off x="9857232" y="5825937"/>
            <a:ext cx="609976" cy="166859"/>
          </a:xfrm>
          <a:prstGeom prst="rect">
            <a:avLst/>
          </a:prstGeom>
        </p:spPr>
      </p:pic>
    </p:spTree>
    <p:extLst>
      <p:ext uri="{BB962C8B-B14F-4D97-AF65-F5344CB8AC3E}">
        <p14:creationId xmlns:p14="http://schemas.microsoft.com/office/powerpoint/2010/main" val="9040942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REPRODUCTION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B01: two saved runs give different validation totals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outputs/metrics/bci_2b_table1_results.csv and bci_table1_comparison.csv at 2a8d20b.</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22860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71500">
                <a:tc>
                  <a:txBody>
                    <a:bodyPr/>
                    <a:lstStyle/>
                    <a:p>
                      <a:pPr>
                        <a:defRPr sz="2000" b="1">
                          <a:solidFill>
                            <a:srgbClr val="78D8CC"/>
                          </a:solidFill>
                          <a:latin typeface="DejaVu Sans"/>
                        </a:defRPr>
                      </a:pPr>
                      <a:r>
                        <a:t>B01 evidence</a:t>
                      </a:r>
                    </a:p>
                  </a:txBody>
                  <a:tcPr marL="109728" marT="73152">
                    <a:solidFill>
                      <a:srgbClr val="142838"/>
                    </a:solidFill>
                  </a:tcPr>
                </a:tc>
                <a:tc>
                  <a:txBody>
                    <a:bodyPr/>
                    <a:lstStyle/>
                    <a:p>
                      <a:pPr>
                        <a:defRPr sz="2000" b="1">
                          <a:solidFill>
                            <a:srgbClr val="78D8CC"/>
                          </a:solidFill>
                          <a:latin typeface="DejaVu Sans"/>
                        </a:defRPr>
                      </a:pPr>
                      <a:r>
                        <a:t>Warnings</a:t>
                      </a:r>
                    </a:p>
                  </a:txBody>
                  <a:tcPr marL="109728" marT="73152">
                    <a:solidFill>
                      <a:srgbClr val="142838"/>
                    </a:solidFill>
                  </a:tcPr>
                </a:tc>
                <a:tc>
                  <a:txBody>
                    <a:bodyPr/>
                    <a:lstStyle/>
                    <a:p>
                      <a:pPr>
                        <a:defRPr sz="2000" b="1">
                          <a:solidFill>
                            <a:srgbClr val="78D8CC"/>
                          </a:solidFill>
                          <a:latin typeface="DejaVu Sans"/>
                        </a:defRPr>
                      </a:pPr>
                      <a:r>
                        <a:t>Validated shifts</a:t>
                      </a:r>
                    </a:p>
                  </a:txBody>
                  <a:tcPr marL="109728" marT="73152">
                    <a:solidFill>
                      <a:srgbClr val="142838"/>
                    </a:solidFill>
                  </a:tcPr>
                </a:tc>
                <a:extLst>
                  <a:ext uri="{0D108BD9-81ED-4DB2-BD59-A6C34878D82A}">
                    <a16:rowId xmlns:a16="http://schemas.microsoft.com/office/drawing/2014/main" val="10000"/>
                  </a:ext>
                </a:extLst>
              </a:tr>
              <a:tr h="571500">
                <a:tc>
                  <a:txBody>
                    <a:bodyPr/>
                    <a:lstStyle/>
                    <a:p>
                      <a:pPr>
                        <a:defRPr sz="2000" b="0">
                          <a:solidFill>
                            <a:srgbClr val="EAF2F8"/>
                          </a:solidFill>
                          <a:latin typeface="DejaVu Sans"/>
                        </a:defRPr>
                      </a:pPr>
                      <a:r>
                        <a:t>Published reference</a:t>
                      </a:r>
                    </a:p>
                  </a:txBody>
                  <a:tcPr marL="109728" marT="73152">
                    <a:solidFill>
                      <a:srgbClr val="101D2A"/>
                    </a:solidFill>
                  </a:tcPr>
                </a:tc>
                <a:tc>
                  <a:txBody>
                    <a:bodyPr/>
                    <a:lstStyle/>
                    <a:p>
                      <a:pPr>
                        <a:defRPr sz="2000" b="0">
                          <a:solidFill>
                            <a:srgbClr val="EAF2F8"/>
                          </a:solidFill>
                          <a:latin typeface="DejaVu Sans"/>
                        </a:defRPr>
                      </a:pPr>
                      <a:r>
                        <a:t>14</a:t>
                      </a:r>
                    </a:p>
                  </a:txBody>
                  <a:tcPr marL="109728" marT="73152">
                    <a:solidFill>
                      <a:srgbClr val="101D2A"/>
                    </a:solidFill>
                  </a:tcPr>
                </a:tc>
                <a:tc>
                  <a:txBody>
                    <a:bodyPr/>
                    <a:lstStyle/>
                    <a:p>
                      <a:pPr>
                        <a:defRPr sz="2000" b="0">
                          <a:solidFill>
                            <a:srgbClr val="EAF2F8"/>
                          </a:solidFill>
                          <a:latin typeface="DejaVu Sans"/>
                        </a:defRPr>
                      </a:pPr>
                      <a:r>
                        <a:t>10</a:t>
                      </a:r>
                    </a:p>
                  </a:txBody>
                  <a:tcPr marL="109728" marT="73152">
                    <a:solidFill>
                      <a:srgbClr val="101D2A"/>
                    </a:solidFill>
                  </a:tcPr>
                </a:tc>
                <a:extLst>
                  <a:ext uri="{0D108BD9-81ED-4DB2-BD59-A6C34878D82A}">
                    <a16:rowId xmlns:a16="http://schemas.microsoft.com/office/drawing/2014/main" val="10001"/>
                  </a:ext>
                </a:extLst>
              </a:tr>
              <a:tr h="571500">
                <a:tc>
                  <a:txBody>
                    <a:bodyPr/>
                    <a:lstStyle/>
                    <a:p>
                      <a:pPr>
                        <a:defRPr sz="2000" b="0">
                          <a:solidFill>
                            <a:srgbClr val="EAF2F8"/>
                          </a:solidFill>
                          <a:latin typeface="DejaVu Sans"/>
                        </a:defRPr>
                      </a:pPr>
                      <a:r>
                        <a:t>Standalone diagnostic</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5</a:t>
                      </a:r>
                    </a:p>
                  </a:txBody>
                  <a:tcPr marL="109728" marT="73152">
                    <a:solidFill>
                      <a:srgbClr val="101D2A"/>
                    </a:solidFill>
                  </a:tcPr>
                </a:tc>
                <a:extLst>
                  <a:ext uri="{0D108BD9-81ED-4DB2-BD59-A6C34878D82A}">
                    <a16:rowId xmlns:a16="http://schemas.microsoft.com/office/drawing/2014/main" val="10002"/>
                  </a:ext>
                </a:extLst>
              </a:tr>
              <a:tr h="571500">
                <a:tc>
                  <a:txBody>
                    <a:bodyPr/>
                    <a:lstStyle/>
                    <a:p>
                      <a:pPr>
                        <a:defRPr sz="2000" b="0">
                          <a:solidFill>
                            <a:srgbClr val="EAF2F8"/>
                          </a:solidFill>
                          <a:latin typeface="DejaVu Sans"/>
                        </a:defRPr>
                      </a:pPr>
                      <a:r>
                        <a:t>Combined Table-I file</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0</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4370832"/>
            <a:ext cx="10789920" cy="365760"/>
          </a:xfrm>
          <a:prstGeom prst="rect">
            <a:avLst/>
          </a:prstGeom>
          <a:noFill/>
        </p:spPr>
        <p:txBody>
          <a:bodyPr wrap="square" lIns="0" rIns="0">
            <a:spAutoFit/>
          </a:bodyPr>
          <a:lstStyle/>
          <a:p>
            <a:pPr>
              <a:spcAft>
                <a:spcPts val="900"/>
              </a:spcAft>
              <a:defRPr sz="2200" b="1">
                <a:solidFill>
                  <a:srgbClr val="78D8CC"/>
                </a:solidFill>
                <a:latin typeface="DejaVu Sans"/>
              </a:defRPr>
            </a:pPr>
            <a:r>
              <a:t>What this means</a:t>
            </a:r>
          </a:p>
        </p:txBody>
      </p:sp>
      <p:sp>
        <p:nvSpPr>
          <p:cNvPr id="8" name="TextBox 7"/>
          <p:cNvSpPr txBox="1"/>
          <p:nvPr/>
        </p:nvSpPr>
        <p:spPr>
          <a:xfrm>
            <a:off x="685800" y="4809744"/>
            <a:ext cx="10789920" cy="594360"/>
          </a:xfrm>
          <a:prstGeom prst="rect">
            <a:avLst/>
          </a:prstGeom>
          <a:noFill/>
        </p:spPr>
        <p:txBody>
          <a:bodyPr wrap="square" lIns="0" rIns="0">
            <a:spAutoFit/>
          </a:bodyPr>
          <a:lstStyle/>
          <a:p>
            <a:pPr>
              <a:spcAft>
                <a:spcPts val="900"/>
              </a:spcAft>
              <a:defRPr sz="2100" b="0">
                <a:solidFill>
                  <a:srgbClr val="EAF2F8"/>
                </a:solidFill>
                <a:latin typeface="DejaVu Sans"/>
              </a:defRPr>
            </a:pPr>
            <a:r>
              <a:t>Both stored runs differ from the published result. Neither file proves that one run supersedes the other.</a:t>
            </a:r>
          </a:p>
        </p:txBody>
      </p:sp>
      <p:sp>
        <p:nvSpPr>
          <p:cNvPr id="9" name="TextBox 8"/>
          <p:cNvSpPr txBox="1"/>
          <p:nvPr/>
        </p:nvSpPr>
        <p:spPr>
          <a:xfrm>
            <a:off x="685800" y="5513832"/>
            <a:ext cx="10789920" cy="411480"/>
          </a:xfrm>
          <a:prstGeom prst="rect">
            <a:avLst/>
          </a:prstGeom>
          <a:noFill/>
        </p:spPr>
        <p:txBody>
          <a:bodyPr wrap="square" lIns="0" rIns="0">
            <a:spAutoFit/>
          </a:bodyPr>
          <a:lstStyle/>
          <a:p>
            <a:pPr>
              <a:spcAft>
                <a:spcPts val="900"/>
              </a:spcAft>
              <a:defRPr sz="1700" b="0">
                <a:solidFill>
                  <a:srgbClr val="9CB0C3"/>
                </a:solidFill>
                <a:latin typeface="DejaVu Sans"/>
              </a:defRPr>
            </a:pPr>
            <a:r>
              <a:t>Next: record the Stage-II mode, window settings and generating commit for each run.</a:t>
            </a:r>
          </a:p>
        </p:txBody>
      </p:sp>
      <p:sp>
        <p:nvSpPr>
          <p:cNvPr id="10" name="TextBox 9"/>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14</a:t>
            </a:r>
          </a:p>
        </p:txBody>
      </p:sp>
    </p:spTree>
    <p:extLst>
      <p:ext uri="{BB962C8B-B14F-4D97-AF65-F5344CB8AC3E}">
        <p14:creationId xmlns:p14="http://schemas.microsoft.com/office/powerpoint/2010/main" val="34239414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MANUSCRIPT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Numerical reproduction remains unresolved</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outputs/metrics/bci_table1_comparison.csv at 2a8d20b; means calculated across nine subjects per dataset.</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16916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63880">
                <a:tc>
                  <a:txBody>
                    <a:bodyPr/>
                    <a:lstStyle/>
                    <a:p>
                      <a:pPr>
                        <a:defRPr sz="2100" b="1">
                          <a:solidFill>
                            <a:srgbClr val="78D8CC"/>
                          </a:solidFill>
                          <a:latin typeface="DejaVu Sans"/>
                        </a:defRPr>
                      </a:pPr>
                      <a:r>
                        <a:t>Mean validated-shift count</a:t>
                      </a:r>
                    </a:p>
                  </a:txBody>
                  <a:tcPr marL="109728" marT="73152">
                    <a:solidFill>
                      <a:srgbClr val="142838"/>
                    </a:solidFill>
                  </a:tcPr>
                </a:tc>
                <a:tc>
                  <a:txBody>
                    <a:bodyPr/>
                    <a:lstStyle/>
                    <a:p>
                      <a:pPr>
                        <a:defRPr sz="2100" b="1">
                          <a:solidFill>
                            <a:srgbClr val="78D8CC"/>
                          </a:solidFill>
                          <a:latin typeface="DejaVu Sans"/>
                        </a:defRPr>
                      </a:pPr>
                      <a:r>
                        <a:t>Computed</a:t>
                      </a:r>
                    </a:p>
                  </a:txBody>
                  <a:tcPr marL="109728" marT="73152">
                    <a:solidFill>
                      <a:srgbClr val="142838"/>
                    </a:solidFill>
                  </a:tcPr>
                </a:tc>
                <a:tc>
                  <a:txBody>
                    <a:bodyPr/>
                    <a:lstStyle/>
                    <a:p>
                      <a:pPr>
                        <a:defRPr sz="2100" b="1">
                          <a:solidFill>
                            <a:srgbClr val="78D8CC"/>
                          </a:solidFill>
                          <a:latin typeface="DejaVu Sans"/>
                        </a:defRPr>
                      </a:pPr>
                      <a:r>
                        <a:t>Published</a:t>
                      </a:r>
                    </a:p>
                  </a:txBody>
                  <a:tcPr marL="109728" marT="73152">
                    <a:solidFill>
                      <a:srgbClr val="142838"/>
                    </a:solidFill>
                  </a:tcPr>
                </a:tc>
                <a:extLst>
                  <a:ext uri="{0D108BD9-81ED-4DB2-BD59-A6C34878D82A}">
                    <a16:rowId xmlns:a16="http://schemas.microsoft.com/office/drawing/2014/main" val="10000"/>
                  </a:ext>
                </a:extLst>
              </a:tr>
              <a:tr h="563880">
                <a:tc>
                  <a:txBody>
                    <a:bodyPr/>
                    <a:lstStyle/>
                    <a:p>
                      <a:pPr>
                        <a:defRPr sz="2100" b="0">
                          <a:solidFill>
                            <a:srgbClr val="EAF2F8"/>
                          </a:solidFill>
                          <a:latin typeface="DejaVu Sans"/>
                        </a:defRPr>
                      </a:pPr>
                      <a:r>
                        <a:t>Dataset 2A</a:t>
                      </a:r>
                    </a:p>
                  </a:txBody>
                  <a:tcPr marL="109728" marT="73152">
                    <a:solidFill>
                      <a:srgbClr val="101D2A"/>
                    </a:solidFill>
                  </a:tcPr>
                </a:tc>
                <a:tc>
                  <a:txBody>
                    <a:bodyPr/>
                    <a:lstStyle/>
                    <a:p>
                      <a:pPr>
                        <a:defRPr sz="2100" b="0">
                          <a:solidFill>
                            <a:srgbClr val="EAF2F8"/>
                          </a:solidFill>
                          <a:latin typeface="DejaVu Sans"/>
                        </a:defRPr>
                      </a:pPr>
                      <a:r>
                        <a:t>0.33</a:t>
                      </a:r>
                    </a:p>
                  </a:txBody>
                  <a:tcPr marL="109728" marT="73152">
                    <a:solidFill>
                      <a:srgbClr val="101D2A"/>
                    </a:solidFill>
                  </a:tcPr>
                </a:tc>
                <a:tc>
                  <a:txBody>
                    <a:bodyPr/>
                    <a:lstStyle/>
                    <a:p>
                      <a:pPr>
                        <a:defRPr sz="2100" b="0">
                          <a:solidFill>
                            <a:srgbClr val="EAF2F8"/>
                          </a:solidFill>
                          <a:latin typeface="DejaVu Sans"/>
                        </a:defRPr>
                      </a:pPr>
                      <a:r>
                        <a:t>5.56</a:t>
                      </a:r>
                    </a:p>
                  </a:txBody>
                  <a:tcPr marL="109728" marT="73152">
                    <a:solidFill>
                      <a:srgbClr val="101D2A"/>
                    </a:solidFill>
                  </a:tcPr>
                </a:tc>
                <a:extLst>
                  <a:ext uri="{0D108BD9-81ED-4DB2-BD59-A6C34878D82A}">
                    <a16:rowId xmlns:a16="http://schemas.microsoft.com/office/drawing/2014/main" val="10001"/>
                  </a:ext>
                </a:extLst>
              </a:tr>
              <a:tr h="563880">
                <a:tc>
                  <a:txBody>
                    <a:bodyPr/>
                    <a:lstStyle/>
                    <a:p>
                      <a:pPr>
                        <a:defRPr sz="2100" b="0">
                          <a:solidFill>
                            <a:srgbClr val="EAF2F8"/>
                          </a:solidFill>
                          <a:latin typeface="DejaVu Sans"/>
                        </a:defRPr>
                      </a:pPr>
                      <a:r>
                        <a:t>Dataset 2B</a:t>
                      </a:r>
                    </a:p>
                  </a:txBody>
                  <a:tcPr marL="109728" marT="73152">
                    <a:solidFill>
                      <a:srgbClr val="101D2A"/>
                    </a:solidFill>
                  </a:tcPr>
                </a:tc>
                <a:tc>
                  <a:txBody>
                    <a:bodyPr/>
                    <a:lstStyle/>
                    <a:p>
                      <a:pPr>
                        <a:defRPr sz="2100" b="0">
                          <a:solidFill>
                            <a:srgbClr val="EAF2F8"/>
                          </a:solidFill>
                          <a:latin typeface="DejaVu Sans"/>
                        </a:defRPr>
                      </a:pPr>
                      <a:r>
                        <a:t>0.67</a:t>
                      </a:r>
                    </a:p>
                  </a:txBody>
                  <a:tcPr marL="109728" marT="73152">
                    <a:solidFill>
                      <a:srgbClr val="101D2A"/>
                    </a:solidFill>
                  </a:tcPr>
                </a:tc>
                <a:tc>
                  <a:txBody>
                    <a:bodyPr/>
                    <a:lstStyle/>
                    <a:p>
                      <a:pPr>
                        <a:defRPr sz="2100" b="0">
                          <a:solidFill>
                            <a:srgbClr val="EAF2F8"/>
                          </a:solidFill>
                          <a:latin typeface="DejaVu Sans"/>
                        </a:defRPr>
                      </a:pPr>
                      <a:r>
                        <a:t>10.33</a:t>
                      </a:r>
                    </a:p>
                  </a:txBody>
                  <a:tcPr marL="109728" marT="73152">
                    <a:solidFill>
                      <a:srgbClr val="101D2A"/>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68580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available</a:t>
            </a:r>
          </a:p>
        </p:txBody>
      </p:sp>
      <p:sp>
        <p:nvSpPr>
          <p:cNvPr id="8" name="TextBox 7"/>
          <p:cNvSpPr txBox="1"/>
          <p:nvPr/>
        </p:nvSpPr>
        <p:spPr>
          <a:xfrm>
            <a:off x="68580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Subject-level comparisons</a:t>
            </a:r>
          </a:p>
          <a:p>
            <a:pPr>
              <a:spcAft>
                <a:spcPts val="900"/>
              </a:spcAft>
              <a:defRPr sz="2000" b="0">
                <a:solidFill>
                  <a:srgbClr val="EAF2F8"/>
                </a:solidFill>
                <a:latin typeface="DejaVu Sans"/>
              </a:defRPr>
            </a:pPr>
            <a:r>
              <a:t>Classifier benchmarks</a:t>
            </a:r>
          </a:p>
          <a:p>
            <a:pPr>
              <a:spcAft>
                <a:spcPts val="900"/>
              </a:spcAft>
              <a:defRPr sz="2000" b="0">
                <a:solidFill>
                  <a:srgbClr val="EAF2F8"/>
                </a:solidFill>
                <a:latin typeface="DejaVu Sans"/>
              </a:defRPr>
            </a:pPr>
            <a:r>
              <a:t>Synthetic score/residual ablations</a:t>
            </a:r>
          </a:p>
        </p:txBody>
      </p:sp>
      <p:sp>
        <p:nvSpPr>
          <p:cNvPr id="9" name="TextBox 8"/>
          <p:cNvSpPr txBox="1"/>
          <p:nvPr/>
        </p:nvSpPr>
        <p:spPr>
          <a:xfrm>
            <a:off x="630936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to complete</a:t>
            </a:r>
          </a:p>
        </p:txBody>
      </p:sp>
      <p:sp>
        <p:nvSpPr>
          <p:cNvPr id="10" name="TextBox 9"/>
          <p:cNvSpPr txBox="1"/>
          <p:nvPr/>
        </p:nvSpPr>
        <p:spPr>
          <a:xfrm>
            <a:off x="630936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One configuration per reproducible run</a:t>
            </a:r>
          </a:p>
          <a:p>
            <a:pPr>
              <a:spcAft>
                <a:spcPts val="900"/>
              </a:spcAft>
              <a:defRPr sz="2000" b="0">
                <a:solidFill>
                  <a:srgbClr val="EAF2F8"/>
                </a:solidFill>
                <a:latin typeface="DejaVu Sans"/>
              </a:defRPr>
            </a:pPr>
            <a:r>
              <a:t>Stage-II acceptance/rejection analysis</a:t>
            </a:r>
          </a:p>
          <a:p>
            <a:pPr>
              <a:spcAft>
                <a:spcPts val="900"/>
              </a:spcAft>
              <a:defRPr sz="2000" b="0">
                <a:solidFill>
                  <a:srgbClr val="EAF2F8"/>
                </a:solidFill>
                <a:latin typeface="DejaVu Sans"/>
              </a:defRPr>
            </a:pPr>
            <a:r>
              <a:t>Saved real EEG and Diethe outputs</a:t>
            </a:r>
          </a:p>
        </p:txBody>
      </p:sp>
      <p:sp>
        <p:nvSpPr>
          <p:cNvPr id="11" name="TextBox 10"/>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15</a:t>
            </a:r>
          </a:p>
        </p:txBody>
      </p:sp>
    </p:spTree>
    <p:extLst>
      <p:ext uri="{BB962C8B-B14F-4D97-AF65-F5344CB8AC3E}">
        <p14:creationId xmlns:p14="http://schemas.microsoft.com/office/powerpoint/2010/main" val="10010702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DATA PROTOCOL</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Dataset roles differ across experiments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current runners and stored result files at 2a8d20b. Evaluation data do not fit the feature representation.</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20" cy="356616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713232">
                <a:tc>
                  <a:txBody>
                    <a:bodyPr/>
                    <a:lstStyle/>
                    <a:p>
                      <a:pPr>
                        <a:defRPr sz="1700" b="1">
                          <a:solidFill>
                            <a:srgbClr val="78D8CC"/>
                          </a:solidFill>
                          <a:latin typeface="DejaVu Sans"/>
                        </a:defRPr>
                      </a:pPr>
                      <a:r>
                        <a:t>Experiment</a:t>
                      </a:r>
                    </a:p>
                  </a:txBody>
                  <a:tcPr marL="109728" marT="73152">
                    <a:solidFill>
                      <a:srgbClr val="142838"/>
                    </a:solidFill>
                  </a:tcPr>
                </a:tc>
                <a:tc>
                  <a:txBody>
                    <a:bodyPr/>
                    <a:lstStyle/>
                    <a:p>
                      <a:pPr>
                        <a:defRPr sz="1700" b="1">
                          <a:solidFill>
                            <a:srgbClr val="78D8CC"/>
                          </a:solidFill>
                          <a:latin typeface="DejaVu Sans"/>
                        </a:defRPr>
                      </a:pPr>
                      <a:r>
                        <a:t>2A</a:t>
                      </a:r>
                    </a:p>
                  </a:txBody>
                  <a:tcPr marL="109728" marT="73152">
                    <a:solidFill>
                      <a:srgbClr val="142838"/>
                    </a:solidFill>
                  </a:tcPr>
                </a:tc>
                <a:tc>
                  <a:txBody>
                    <a:bodyPr/>
                    <a:lstStyle/>
                    <a:p>
                      <a:pPr>
                        <a:defRPr sz="1700" b="1">
                          <a:solidFill>
                            <a:srgbClr val="78D8CC"/>
                          </a:solidFill>
                          <a:latin typeface="DejaVu Sans"/>
                        </a:defRPr>
                      </a:pPr>
                      <a:r>
                        <a:t>2B</a:t>
                      </a:r>
                    </a:p>
                  </a:txBody>
                  <a:tcPr marL="109728" marT="73152">
                    <a:solidFill>
                      <a:srgbClr val="142838"/>
                    </a:solidFill>
                  </a:tcPr>
                </a:tc>
                <a:extLst>
                  <a:ext uri="{0D108BD9-81ED-4DB2-BD59-A6C34878D82A}">
                    <a16:rowId xmlns:a16="http://schemas.microsoft.com/office/drawing/2014/main" val="10000"/>
                  </a:ext>
                </a:extLst>
              </a:tr>
              <a:tr h="713232">
                <a:tc>
                  <a:txBody>
                    <a:bodyPr/>
                    <a:lstStyle/>
                    <a:p>
                      <a:pPr>
                        <a:defRPr sz="1700" b="0">
                          <a:solidFill>
                            <a:srgbClr val="EAF2F8"/>
                          </a:solidFill>
                          <a:latin typeface="DejaVu Sans"/>
                        </a:defRPr>
                      </a:pPr>
                      <a:r>
                        <a:t>Table-I CSE</a:t>
                      </a:r>
                    </a:p>
                  </a:txBody>
                  <a:tcPr marL="109728" marT="73152">
                    <a:solidFill>
                      <a:srgbClr val="101D2A"/>
                    </a:solidFill>
                  </a:tcPr>
                </a:tc>
                <a:tc>
                  <a:txBody>
                    <a:bodyPr/>
                    <a:lstStyle/>
                    <a:p>
                      <a:pPr>
                        <a:defRPr sz="1700" b="0">
                          <a:solidFill>
                            <a:srgbClr val="EAF2F8"/>
                          </a:solidFill>
                          <a:latin typeface="DejaVu Sans"/>
                        </a:defRPr>
                      </a:pPr>
                      <a:r>
                        <a:t>Session I development;</a:t>
                      </a:r>
                    </a:p>
                    <a:p>
                      <a:pPr>
                        <a:defRPr sz="1700" b="0">
                          <a:solidFill>
                            <a:srgbClr val="EAF2F8"/>
                          </a:solidFill>
                          <a:latin typeface="DejaVu Sans"/>
                        </a:defRPr>
                      </a:pPr>
                      <a:r>
                        <a:t>Session II evaluation</a:t>
                      </a:r>
                    </a:p>
                  </a:txBody>
                  <a:tcPr marL="109728" marT="73152">
                    <a:solidFill>
                      <a:srgbClr val="101D2A"/>
                    </a:solidFill>
                  </a:tcPr>
                </a:tc>
                <a:tc>
                  <a:txBody>
                    <a:bodyPr/>
                    <a:lstStyle/>
                    <a:p>
                      <a:pPr>
                        <a:defRPr sz="1700" b="0">
                          <a:solidFill>
                            <a:srgbClr val="EAF2F8"/>
                          </a:solidFill>
                          <a:latin typeface="DejaVu Sans"/>
                        </a:defRPr>
                      </a:pPr>
                      <a:r>
                        <a:t>I–III development;</a:t>
                      </a:r>
                    </a:p>
                    <a:p>
                      <a:pPr>
                        <a:defRPr sz="1700" b="0">
                          <a:solidFill>
                            <a:srgbClr val="EAF2F8"/>
                          </a:solidFill>
                          <a:latin typeface="DejaVu Sans"/>
                        </a:defRPr>
                      </a:pPr>
                      <a:r>
                        <a:t>IV–V evaluation</a:t>
                      </a:r>
                    </a:p>
                  </a:txBody>
                  <a:tcPr marL="109728" marT="73152">
                    <a:solidFill>
                      <a:srgbClr val="101D2A"/>
                    </a:solidFill>
                  </a:tcPr>
                </a:tc>
                <a:extLst>
                  <a:ext uri="{0D108BD9-81ED-4DB2-BD59-A6C34878D82A}">
                    <a16:rowId xmlns:a16="http://schemas.microsoft.com/office/drawing/2014/main" val="10001"/>
                  </a:ext>
                </a:extLst>
              </a:tr>
              <a:tr h="713232">
                <a:tc>
                  <a:txBody>
                    <a:bodyPr/>
                    <a:lstStyle/>
                    <a:p>
                      <a:pPr>
                        <a:defRPr sz="1700" b="0">
                          <a:solidFill>
                            <a:srgbClr val="EAF2F8"/>
                          </a:solidFill>
                          <a:latin typeface="DejaVu Sans"/>
                        </a:defRPr>
                      </a:pPr>
                      <a:r>
                        <a:t>Stored classifier benchmark</a:t>
                      </a:r>
                    </a:p>
                  </a:txBody>
                  <a:tcPr marL="109728" marT="73152">
                    <a:solidFill>
                      <a:srgbClr val="101D2A"/>
                    </a:solidFill>
                  </a:tcPr>
                </a:tc>
                <a:tc>
                  <a:txBody>
                    <a:bodyPr/>
                    <a:lstStyle/>
                    <a:p>
                      <a:pPr>
                        <a:defRPr sz="1700" b="0">
                          <a:solidFill>
                            <a:srgbClr val="EAF2F8"/>
                          </a:solidFill>
                          <a:latin typeface="DejaVu Sans"/>
                        </a:defRPr>
                      </a:pPr>
                      <a:r>
                        <a:t>Fit I; evaluate II</a:t>
                      </a:r>
                    </a:p>
                  </a:txBody>
                  <a:tcPr marL="109728" marT="73152">
                    <a:solidFill>
                      <a:srgbClr val="101D2A"/>
                    </a:solidFill>
                  </a:tcPr>
                </a:tc>
                <a:tc>
                  <a:txBody>
                    <a:bodyPr/>
                    <a:lstStyle/>
                    <a:p>
                      <a:pPr>
                        <a:defRPr sz="1700" b="0">
                          <a:solidFill>
                            <a:srgbClr val="EAF2F8"/>
                          </a:solidFill>
                          <a:latin typeface="DejaVu Sans"/>
                        </a:defRPr>
                      </a:pPr>
                      <a:r>
                        <a:t>Fit I–II; evaluate III</a:t>
                      </a:r>
                    </a:p>
                  </a:txBody>
                  <a:tcPr marL="109728" marT="73152">
                    <a:solidFill>
                      <a:srgbClr val="101D2A"/>
                    </a:solidFill>
                  </a:tcPr>
                </a:tc>
                <a:extLst>
                  <a:ext uri="{0D108BD9-81ED-4DB2-BD59-A6C34878D82A}">
                    <a16:rowId xmlns:a16="http://schemas.microsoft.com/office/drawing/2014/main" val="10002"/>
                  </a:ext>
                </a:extLst>
              </a:tr>
              <a:tr h="713232">
                <a:tc>
                  <a:txBody>
                    <a:bodyPr/>
                    <a:lstStyle/>
                    <a:p>
                      <a:pPr>
                        <a:defRPr sz="1700" b="0">
                          <a:solidFill>
                            <a:srgbClr val="EAF2F8"/>
                          </a:solidFill>
                          <a:latin typeface="DejaVu Sans"/>
                        </a:defRPr>
                      </a:pPr>
                      <a:r>
                        <a:t>Complementary EEG runner</a:t>
                      </a:r>
                    </a:p>
                  </a:txBody>
                  <a:tcPr marL="109728" marT="73152">
                    <a:solidFill>
                      <a:srgbClr val="101D2A"/>
                    </a:solidFill>
                  </a:tcPr>
                </a:tc>
                <a:tc>
                  <a:txBody>
                    <a:bodyPr/>
                    <a:lstStyle/>
                    <a:p>
                      <a:pPr>
                        <a:defRPr sz="1700" b="0">
                          <a:solidFill>
                            <a:srgbClr val="EAF2F8"/>
                          </a:solidFill>
                          <a:latin typeface="DejaVu Sans"/>
                        </a:defRPr>
                      </a:pPr>
                      <a:r>
                        <a:t>I: training/calibration split;</a:t>
                      </a:r>
                    </a:p>
                    <a:p>
                      <a:pPr>
                        <a:defRPr sz="1700" b="0">
                          <a:solidFill>
                            <a:srgbClr val="EAF2F8"/>
                          </a:solidFill>
                          <a:latin typeface="DejaVu Sans"/>
                        </a:defRPr>
                      </a:pPr>
                      <a:r>
                        <a:t>II evaluation</a:t>
                      </a:r>
                    </a:p>
                  </a:txBody>
                  <a:tcPr marL="109728" marT="73152">
                    <a:solidFill>
                      <a:srgbClr val="101D2A"/>
                    </a:solidFill>
                  </a:tcPr>
                </a:tc>
                <a:tc>
                  <a:txBody>
                    <a:bodyPr/>
                    <a:lstStyle/>
                    <a:p>
                      <a:pPr>
                        <a:defRPr sz="1700" b="0">
                          <a:solidFill>
                            <a:srgbClr val="EAF2F8"/>
                          </a:solidFill>
                          <a:latin typeface="DejaVu Sans"/>
                        </a:defRPr>
                      </a:pPr>
                      <a:r>
                        <a:t>Fit I–II; calibrate III;</a:t>
                      </a:r>
                    </a:p>
                    <a:p>
                      <a:pPr>
                        <a:defRPr sz="1700" b="0">
                          <a:solidFill>
                            <a:srgbClr val="EAF2F8"/>
                          </a:solidFill>
                          <a:latin typeface="DejaVu Sans"/>
                        </a:defRPr>
                      </a:pPr>
                      <a:r>
                        <a:t>evaluate IV–V</a:t>
                      </a:r>
                    </a:p>
                  </a:txBody>
                  <a:tcPr marL="109728" marT="73152">
                    <a:solidFill>
                      <a:srgbClr val="101D2A"/>
                    </a:solidFill>
                  </a:tcPr>
                </a:tc>
                <a:extLst>
                  <a:ext uri="{0D108BD9-81ED-4DB2-BD59-A6C34878D82A}">
                    <a16:rowId xmlns:a16="http://schemas.microsoft.com/office/drawing/2014/main" val="10003"/>
                  </a:ext>
                </a:extLst>
              </a:tr>
              <a:tr h="713232">
                <a:tc>
                  <a:txBody>
                    <a:bodyPr/>
                    <a:lstStyle/>
                    <a:p>
                      <a:pPr>
                        <a:defRPr sz="1700" b="0">
                          <a:solidFill>
                            <a:srgbClr val="EAF2F8"/>
                          </a:solidFill>
                          <a:latin typeface="DejaVu Sans"/>
                        </a:defRPr>
                      </a:pPr>
                      <a:r>
                        <a:t>Diethe policy laboratory</a:t>
                      </a:r>
                    </a:p>
                  </a:txBody>
                  <a:tcPr marL="109728" marT="73152">
                    <a:solidFill>
                      <a:srgbClr val="101D2A"/>
                    </a:solidFill>
                  </a:tcPr>
                </a:tc>
                <a:tc>
                  <a:txBody>
                    <a:bodyPr/>
                    <a:lstStyle/>
                    <a:p>
                      <a:pPr>
                        <a:defRPr sz="1700" b="0">
                          <a:solidFill>
                            <a:srgbClr val="EAF2F8"/>
                          </a:solidFill>
                          <a:latin typeface="DejaVu Sans"/>
                        </a:defRPr>
                      </a:pPr>
                      <a:r>
                        <a:t>Synthetic feature streams by default; prepared EEG features accepted by CLI</a:t>
                      </a:r>
                    </a:p>
                  </a:txBody>
                  <a:tcPr marL="109728" marT="73152">
                    <a:solidFill>
                      <a:srgbClr val="101D2A"/>
                    </a:solidFill>
                  </a:tcPr>
                </a:tc>
                <a:tc>
                  <a:txBody>
                    <a:bodyPr/>
                    <a:lstStyle/>
                    <a:p>
                      <a:pPr>
                        <a:defRPr sz="1700" b="0">
                          <a:solidFill>
                            <a:srgbClr val="EAF2F8"/>
                          </a:solidFill>
                          <a:latin typeface="DejaVu Sans"/>
                        </a:defRPr>
                      </a:pPr>
                      <a:r>
                        <a:t>Raw EEG loading is not automatically integrated</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504688"/>
            <a:ext cx="10789920" cy="457200"/>
          </a:xfrm>
          <a:prstGeom prst="rect">
            <a:avLst/>
          </a:prstGeom>
          <a:noFill/>
        </p:spPr>
        <p:txBody>
          <a:bodyPr wrap="square" lIns="0" rIns="0">
            <a:spAutoFit/>
          </a:bodyPr>
          <a:lstStyle/>
          <a:p>
            <a:pPr>
              <a:spcAft>
                <a:spcPts val="900"/>
              </a:spcAft>
              <a:defRPr sz="1800" b="0">
                <a:solidFill>
                  <a:srgbClr val="78D8CC"/>
                </a:solidFill>
                <a:latin typeface="DejaVu Sans"/>
              </a:defRPr>
            </a:pPr>
            <a:r>
              <a:t>Real EEG alarm traces describe alert burden. They do not supply ground-truth shift times.</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16</a:t>
            </a:r>
          </a:p>
        </p:txBody>
      </p:sp>
    </p:spTree>
    <p:extLst>
      <p:ext uri="{BB962C8B-B14F-4D97-AF65-F5344CB8AC3E}">
        <p14:creationId xmlns:p14="http://schemas.microsoft.com/office/powerpoint/2010/main" val="3443722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POLICY LABORATORY</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Diethe: separate change, performance and action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Diethe et al. (2019), §§3–5; docs/diethe_experiments.md; src/adaptation/experiments/diethe.py.</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292608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585216">
                <a:tc>
                  <a:txBody>
                    <a:bodyPr/>
                    <a:lstStyle/>
                    <a:p>
                      <a:pPr>
                        <a:defRPr sz="1900" b="1">
                          <a:solidFill>
                            <a:srgbClr val="78D8CC"/>
                          </a:solidFill>
                          <a:latin typeface="DejaVu Sans"/>
                        </a:defRPr>
                      </a:pPr>
                      <a:r>
                        <a:t>Question</a:t>
                      </a:r>
                    </a:p>
                  </a:txBody>
                  <a:tcPr marL="109728" marT="73152">
                    <a:solidFill>
                      <a:srgbClr val="142838"/>
                    </a:solidFill>
                  </a:tcPr>
                </a:tc>
                <a:tc>
                  <a:txBody>
                    <a:bodyPr/>
                    <a:lstStyle/>
                    <a:p>
                      <a:pPr>
                        <a:defRPr sz="1900" b="1">
                          <a:solidFill>
                            <a:srgbClr val="78D8CC"/>
                          </a:solidFill>
                          <a:latin typeface="DejaVu Sans"/>
                        </a:defRPr>
                      </a:pPr>
                      <a:r>
                        <a:t>Repository experiment</a:t>
                      </a:r>
                    </a:p>
                  </a:txBody>
                  <a:tcPr marL="109728" marT="73152">
                    <a:solidFill>
                      <a:srgbClr val="142838"/>
                    </a:solidFill>
                  </a:tcPr>
                </a:tc>
                <a:extLst>
                  <a:ext uri="{0D108BD9-81ED-4DB2-BD59-A6C34878D82A}">
                    <a16:rowId xmlns:a16="http://schemas.microsoft.com/office/drawing/2014/main" val="10000"/>
                  </a:ext>
                </a:extLst>
              </a:tr>
              <a:tr h="585216">
                <a:tc>
                  <a:txBody>
                    <a:bodyPr/>
                    <a:lstStyle/>
                    <a:p>
                      <a:pPr>
                        <a:defRPr sz="1900" b="0">
                          <a:solidFill>
                            <a:srgbClr val="EAF2F8"/>
                          </a:solidFill>
                          <a:latin typeface="DejaVu Sans"/>
                        </a:defRPr>
                      </a:pPr>
                      <a:r>
                        <a:t>Has the input changed?</a:t>
                      </a:r>
                    </a:p>
                  </a:txBody>
                  <a:tcPr marL="109728" marT="73152">
                    <a:solidFill>
                      <a:srgbClr val="101D2A"/>
                    </a:solidFill>
                  </a:tcPr>
                </a:tc>
                <a:tc>
                  <a:txBody>
                    <a:bodyPr/>
                    <a:lstStyle/>
                    <a:p>
                      <a:pPr>
                        <a:defRPr sz="1900" b="0">
                          <a:solidFill>
                            <a:srgbClr val="EAF2F8"/>
                          </a:solidFill>
                          <a:latin typeface="DejaVu Sans"/>
                        </a:defRPr>
                      </a:pPr>
                      <a:r>
                        <a:t>Shared CSE warnings and Stage-II validation records</a:t>
                      </a:r>
                    </a:p>
                  </a:txBody>
                  <a:tcPr marL="109728" marT="73152">
                    <a:solidFill>
                      <a:srgbClr val="101D2A"/>
                    </a:solidFill>
                  </a:tcPr>
                </a:tc>
                <a:extLst>
                  <a:ext uri="{0D108BD9-81ED-4DB2-BD59-A6C34878D82A}">
                    <a16:rowId xmlns:a16="http://schemas.microsoft.com/office/drawing/2014/main" val="10001"/>
                  </a:ext>
                </a:extLst>
              </a:tr>
              <a:tr h="585216">
                <a:tc>
                  <a:txBody>
                    <a:bodyPr/>
                    <a:lstStyle/>
                    <a:p>
                      <a:pPr>
                        <a:defRPr sz="1900" b="0">
                          <a:solidFill>
                            <a:srgbClr val="EAF2F8"/>
                          </a:solidFill>
                          <a:latin typeface="DejaVu Sans"/>
                        </a:defRPr>
                      </a:pPr>
                      <a:r>
                        <a:t>Has prediction quality changed?</a:t>
                      </a:r>
                    </a:p>
                  </a:txBody>
                  <a:tcPr marL="109728" marT="73152">
                    <a:solidFill>
                      <a:srgbClr val="101D2A"/>
                    </a:solidFill>
                  </a:tcPr>
                </a:tc>
                <a:tc>
                  <a:txBody>
                    <a:bodyPr/>
                    <a:lstStyle/>
                    <a:p>
                      <a:pPr>
                        <a:defRPr sz="1900" b="0">
                          <a:solidFill>
                            <a:srgbClr val="EAF2F8"/>
                          </a:solidFill>
                          <a:latin typeface="DejaVu Sans"/>
                        </a:defRPr>
                      </a:pPr>
                      <a:r>
                        <a:t>Rolling accuracy against a held-out validation reference</a:t>
                      </a:r>
                    </a:p>
                  </a:txBody>
                  <a:tcPr marL="109728" marT="73152">
                    <a:solidFill>
                      <a:srgbClr val="101D2A"/>
                    </a:solidFill>
                  </a:tcPr>
                </a:tc>
                <a:extLst>
                  <a:ext uri="{0D108BD9-81ED-4DB2-BD59-A6C34878D82A}">
                    <a16:rowId xmlns:a16="http://schemas.microsoft.com/office/drawing/2014/main" val="10002"/>
                  </a:ext>
                </a:extLst>
              </a:tr>
              <a:tr h="585216">
                <a:tc>
                  <a:txBody>
                    <a:bodyPr/>
                    <a:lstStyle/>
                    <a:p>
                      <a:pPr>
                        <a:defRPr sz="1900" b="0">
                          <a:solidFill>
                            <a:srgbClr val="EAF2F8"/>
                          </a:solidFill>
                          <a:latin typeface="DejaVu Sans"/>
                        </a:defRPr>
                      </a:pPr>
                      <a:r>
                        <a:t>Should the model update?</a:t>
                      </a:r>
                    </a:p>
                  </a:txBody>
                  <a:tcPr marL="109728" marT="73152">
                    <a:solidFill>
                      <a:srgbClr val="101D2A"/>
                    </a:solidFill>
                  </a:tcPr>
                </a:tc>
                <a:tc>
                  <a:txBody>
                    <a:bodyPr/>
                    <a:lstStyle/>
                    <a:p>
                      <a:pPr>
                        <a:defRPr sz="1900" b="0">
                          <a:solidFill>
                            <a:srgbClr val="EAF2F8"/>
                          </a:solidFill>
                          <a:latin typeface="DejaVu Sans"/>
                        </a:defRPr>
                      </a:pPr>
                      <a:r>
                        <a:t>Five explicit rules compared on the same stream</a:t>
                      </a:r>
                    </a:p>
                  </a:txBody>
                  <a:tcPr marL="109728" marT="73152">
                    <a:solidFill>
                      <a:srgbClr val="101D2A"/>
                    </a:solidFill>
                  </a:tcPr>
                </a:tc>
                <a:extLst>
                  <a:ext uri="{0D108BD9-81ED-4DB2-BD59-A6C34878D82A}">
                    <a16:rowId xmlns:a16="http://schemas.microsoft.com/office/drawing/2014/main" val="10003"/>
                  </a:ext>
                </a:extLst>
              </a:tr>
              <a:tr h="585216">
                <a:tc>
                  <a:txBody>
                    <a:bodyPr/>
                    <a:lstStyle/>
                    <a:p>
                      <a:pPr>
                        <a:defRPr sz="1900" b="0">
                          <a:solidFill>
                            <a:srgbClr val="EAF2F8"/>
                          </a:solidFill>
                          <a:latin typeface="DejaVu Sans"/>
                        </a:defRPr>
                      </a:pPr>
                      <a:r>
                        <a:t>What does updating cost?</a:t>
                      </a:r>
                    </a:p>
                  </a:txBody>
                  <a:tcPr marL="109728" marT="73152">
                    <a:solidFill>
                      <a:srgbClr val="101D2A"/>
                    </a:solidFill>
                  </a:tcPr>
                </a:tc>
                <a:tc>
                  <a:txBody>
                    <a:bodyPr/>
                    <a:lstStyle/>
                    <a:p>
                      <a:pPr>
                        <a:defRPr sz="1900" b="0">
                          <a:solidFill>
                            <a:srgbClr val="EAF2F8"/>
                          </a:solidFill>
                          <a:latin typeface="DejaVu Sans"/>
                        </a:defRPr>
                      </a:pPr>
                      <a:r>
                        <a:t>Update count, fitting time, prediction time and training size</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047488"/>
            <a:ext cx="10789920" cy="822960"/>
          </a:xfrm>
          <a:prstGeom prst="rect">
            <a:avLst/>
          </a:prstGeom>
          <a:noFill/>
        </p:spPr>
        <p:txBody>
          <a:bodyPr wrap="square" lIns="0" rIns="0">
            <a:spAutoFit/>
          </a:bodyPr>
          <a:lstStyle/>
          <a:p>
            <a:pPr>
              <a:spcAft>
                <a:spcPts val="900"/>
              </a:spcAft>
              <a:defRPr sz="1800" b="0">
                <a:solidFill>
                  <a:srgbClr val="78D8CC"/>
                </a:solidFill>
                <a:latin typeface="DejaVu Sans"/>
              </a:defRPr>
            </a:pPr>
            <a:r>
              <a:t>Implemented experiment framework; comparative results still need to be generated and saved.</a:t>
            </a:r>
          </a:p>
          <a:p>
            <a:pPr>
              <a:spcAft>
                <a:spcPts val="900"/>
              </a:spcAft>
              <a:defRPr sz="1800" b="0">
                <a:solidFill>
                  <a:srgbClr val="78D8CC"/>
                </a:solidFill>
                <a:latin typeface="DejaVu Sans"/>
              </a:defRPr>
            </a:pPr>
            <a:r>
              <a:t>The five-policy comparison is a repository experiment inspired by the paper.</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EXPERIMENT DESIGN</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Five policies, three controlled scenarios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docs/diethe_experiments.md and current CLI. Defaults: 240 trials, 20-trial interval, 30-trial performance window.</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73352"/>
          <a:ext cx="10789920" cy="19659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tblGrid>
              <a:tr h="491490">
                <a:tc>
                  <a:txBody>
                    <a:bodyPr/>
                    <a:lstStyle/>
                    <a:p>
                      <a:pPr>
                        <a:defRPr sz="1800" b="1">
                          <a:solidFill>
                            <a:srgbClr val="78D8CC"/>
                          </a:solidFill>
                          <a:latin typeface="DejaVu Sans"/>
                        </a:defRPr>
                      </a:pPr>
                      <a:r>
                        <a:t>Policy</a:t>
                      </a:r>
                    </a:p>
                  </a:txBody>
                  <a:tcPr marL="109728" marT="73152">
                    <a:solidFill>
                      <a:srgbClr val="142838"/>
                    </a:solidFill>
                  </a:tcPr>
                </a:tc>
                <a:tc>
                  <a:txBody>
                    <a:bodyPr/>
                    <a:lstStyle/>
                    <a:p>
                      <a:pPr>
                        <a:defRPr sz="1800" b="1">
                          <a:solidFill>
                            <a:srgbClr val="78D8CC"/>
                          </a:solidFill>
                          <a:latin typeface="DejaVu Sans"/>
                        </a:defRPr>
                      </a:pPr>
                      <a:r>
                        <a:t>Update trigger</a:t>
                      </a:r>
                    </a:p>
                  </a:txBody>
                  <a:tcPr marL="109728" marT="73152">
                    <a:solidFill>
                      <a:srgbClr val="142838"/>
                    </a:solidFill>
                  </a:tcPr>
                </a:tc>
                <a:extLst>
                  <a:ext uri="{0D108BD9-81ED-4DB2-BD59-A6C34878D82A}">
                    <a16:rowId xmlns:a16="http://schemas.microsoft.com/office/drawing/2014/main" val="10000"/>
                  </a:ext>
                </a:extLst>
              </a:tr>
              <a:tr h="491490">
                <a:tc>
                  <a:txBody>
                    <a:bodyPr/>
                    <a:lstStyle/>
                    <a:p>
                      <a:pPr>
                        <a:defRPr sz="1800" b="0">
                          <a:solidFill>
                            <a:srgbClr val="EAF2F8"/>
                          </a:solidFill>
                          <a:latin typeface="DejaVu Sans"/>
                        </a:defRPr>
                      </a:pPr>
                      <a:r>
                        <a:t>Never / periodic</a:t>
                      </a:r>
                    </a:p>
                  </a:txBody>
                  <a:tcPr marL="109728" marT="73152">
                    <a:solidFill>
                      <a:srgbClr val="101D2A"/>
                    </a:solidFill>
                  </a:tcPr>
                </a:tc>
                <a:tc>
                  <a:txBody>
                    <a:bodyPr/>
                    <a:lstStyle/>
                    <a:p>
                      <a:pPr>
                        <a:defRPr sz="1800" b="0">
                          <a:solidFill>
                            <a:srgbClr val="EAF2F8"/>
                          </a:solidFill>
                          <a:latin typeface="DejaVu Sans"/>
                        </a:defRPr>
                      </a:pPr>
                      <a:r>
                        <a:t>No update / every configured interval</a:t>
                      </a:r>
                    </a:p>
                  </a:txBody>
                  <a:tcPr marL="109728" marT="73152">
                    <a:solidFill>
                      <a:srgbClr val="101D2A"/>
                    </a:solidFill>
                  </a:tcPr>
                </a:tc>
                <a:extLst>
                  <a:ext uri="{0D108BD9-81ED-4DB2-BD59-A6C34878D82A}">
                    <a16:rowId xmlns:a16="http://schemas.microsoft.com/office/drawing/2014/main" val="10001"/>
                  </a:ext>
                </a:extLst>
              </a:tr>
              <a:tr h="491490">
                <a:tc>
                  <a:txBody>
                    <a:bodyPr/>
                    <a:lstStyle/>
                    <a:p>
                      <a:pPr>
                        <a:defRPr sz="1800" b="0">
                          <a:solidFill>
                            <a:srgbClr val="EAF2F8"/>
                          </a:solidFill>
                          <a:latin typeface="DejaVu Sans"/>
                        </a:defRPr>
                      </a:pPr>
                      <a:r>
                        <a:t>Warning / validated</a:t>
                      </a:r>
                    </a:p>
                  </a:txBody>
                  <a:tcPr marL="109728" marT="73152">
                    <a:solidFill>
                      <a:srgbClr val="101D2A"/>
                    </a:solidFill>
                  </a:tcPr>
                </a:tc>
                <a:tc>
                  <a:txBody>
                    <a:bodyPr/>
                    <a:lstStyle/>
                    <a:p>
                      <a:pPr>
                        <a:defRPr sz="1800" b="0">
                          <a:solidFill>
                            <a:srgbClr val="EAF2F8"/>
                          </a:solidFill>
                          <a:latin typeface="DejaVu Sans"/>
                        </a:defRPr>
                      </a:pPr>
                      <a:r>
                        <a:t>Stage-I warning / available Stage-II confirmation</a:t>
                      </a:r>
                    </a:p>
                  </a:txBody>
                  <a:tcPr marL="109728" marT="73152">
                    <a:solidFill>
                      <a:srgbClr val="101D2A"/>
                    </a:solidFill>
                  </a:tcPr>
                </a:tc>
                <a:extLst>
                  <a:ext uri="{0D108BD9-81ED-4DB2-BD59-A6C34878D82A}">
                    <a16:rowId xmlns:a16="http://schemas.microsoft.com/office/drawing/2014/main" val="10002"/>
                  </a:ext>
                </a:extLst>
              </a:tr>
              <a:tr h="491490">
                <a:tc>
                  <a:txBody>
                    <a:bodyPr/>
                    <a:lstStyle/>
                    <a:p>
                      <a:pPr>
                        <a:defRPr sz="1800" b="0">
                          <a:solidFill>
                            <a:srgbClr val="EAF2F8"/>
                          </a:solidFill>
                          <a:latin typeface="DejaVu Sans"/>
                        </a:defRPr>
                      </a:pPr>
                      <a:r>
                        <a:t>Performance drop</a:t>
                      </a:r>
                    </a:p>
                  </a:txBody>
                  <a:tcPr marL="109728" marT="73152">
                    <a:solidFill>
                      <a:srgbClr val="101D2A"/>
                    </a:solidFill>
                  </a:tcPr>
                </a:tc>
                <a:tc>
                  <a:txBody>
                    <a:bodyPr/>
                    <a:lstStyle/>
                    <a:p>
                      <a:pPr>
                        <a:defRPr sz="1800" b="0">
                          <a:solidFill>
                            <a:srgbClr val="EAF2F8"/>
                          </a:solidFill>
                          <a:latin typeface="DejaVu Sans"/>
                        </a:defRPr>
                      </a:pPr>
                      <a:r>
                        <a:t>Rolling accuracy drops below the validation reference</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3895344"/>
            <a:ext cx="10789920" cy="1234440"/>
          </a:xfrm>
          <a:prstGeom prst="rect">
            <a:avLst/>
          </a:prstGeom>
          <a:noFill/>
        </p:spPr>
        <p:txBody>
          <a:bodyPr wrap="square" lIns="0" rIns="0">
            <a:spAutoFit/>
          </a:bodyPr>
          <a:lstStyle/>
          <a:p>
            <a:pPr>
              <a:spcAft>
                <a:spcPts val="900"/>
              </a:spcAft>
              <a:defRPr sz="2000" b="0">
                <a:solidFill>
                  <a:srgbClr val="EAF2F8"/>
                </a:solidFill>
                <a:latin typeface="DejaVu Sans"/>
              </a:defRPr>
            </a:pPr>
            <a:r>
              <a:t>No shift: baseline alert and update burden.</a:t>
            </a:r>
          </a:p>
          <a:p>
            <a:pPr>
              <a:spcAft>
                <a:spcPts val="900"/>
              </a:spcAft>
              <a:defRPr sz="2000" b="0">
                <a:solidFill>
                  <a:srgbClr val="EAF2F8"/>
                </a:solidFill>
                <a:latin typeface="DejaVu Sans"/>
              </a:defRPr>
            </a:pPr>
            <a:r>
              <a:t>Feature shift: P(X) changes; the label rule stays fixed.</a:t>
            </a:r>
          </a:p>
          <a:p>
            <a:pPr>
              <a:spcAft>
                <a:spcPts val="900"/>
              </a:spcAft>
              <a:defRPr sz="2000" b="0">
                <a:solidFill>
                  <a:srgbClr val="EAF2F8"/>
                </a:solidFill>
                <a:latin typeface="DejaVu Sans"/>
              </a:defRPr>
            </a:pPr>
            <a:r>
              <a:t>Relationship shift: the label rule changes; P(X) stays fixed.</a:t>
            </a:r>
          </a:p>
        </p:txBody>
      </p:sp>
      <p:sp>
        <p:nvSpPr>
          <p:cNvPr id="8" name="TextBox 7"/>
          <p:cNvSpPr txBox="1"/>
          <p:nvPr/>
        </p:nvSpPr>
        <p:spPr>
          <a:xfrm>
            <a:off x="685800" y="5367528"/>
            <a:ext cx="10789920" cy="594360"/>
          </a:xfrm>
          <a:prstGeom prst="rect">
            <a:avLst/>
          </a:prstGeom>
          <a:noFill/>
        </p:spPr>
        <p:txBody>
          <a:bodyPr wrap="square" lIns="0" rIns="0">
            <a:spAutoFit/>
          </a:bodyPr>
          <a:lstStyle/>
          <a:p>
            <a:pPr>
              <a:spcAft>
                <a:spcPts val="900"/>
              </a:spcAft>
              <a:defRPr sz="1600" b="0">
                <a:solidFill>
                  <a:srgbClr val="9CB0C3"/>
                </a:solidFill>
                <a:latin typeface="DejaVu Sans"/>
              </a:defRPr>
            </a:pPr>
            <a:r>
              <a:t>Predict before revealing each label. Training expands after updates.</a:t>
            </a:r>
          </a:p>
          <a:p>
            <a:pPr>
              <a:spcAft>
                <a:spcPts val="900"/>
              </a:spcAft>
              <a:defRPr sz="1600" b="0">
                <a:solidFill>
                  <a:srgbClr val="9CB0C3"/>
                </a:solidFill>
                <a:latin typeface="DejaVu Sans"/>
              </a:defRPr>
            </a:pPr>
            <a:r>
              <a:t>Delayed labels, rollback and energy measurement remain outside this experiment.</a:t>
            </a:r>
          </a:p>
        </p:txBody>
      </p:sp>
      <p:sp>
        <p:nvSpPr>
          <p:cNvPr id="9" name="TextBox 8"/>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OUTPUT PLAN</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The next Diethe result is an accuracy–cost comparison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scripts/run_diethe_experiment.py and export_experiment(). No committed Diethe run outputs in reviewed tree.</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sp>
        <p:nvSpPr>
          <p:cNvPr id="6" name="TextBox 5"/>
          <p:cNvSpPr txBox="1"/>
          <p:nvPr/>
        </p:nvSpPr>
        <p:spPr>
          <a:xfrm>
            <a:off x="685800" y="1691640"/>
            <a:ext cx="10789920" cy="457200"/>
          </a:xfrm>
          <a:prstGeom prst="rect">
            <a:avLst/>
          </a:prstGeom>
          <a:noFill/>
        </p:spPr>
        <p:txBody>
          <a:bodyPr wrap="square" lIns="0" rIns="0">
            <a:spAutoFit/>
          </a:bodyPr>
          <a:lstStyle/>
          <a:p>
            <a:pPr>
              <a:spcAft>
                <a:spcPts val="900"/>
              </a:spcAft>
              <a:defRPr sz="2400" b="1">
                <a:solidFill>
                  <a:srgbClr val="78D8CC"/>
                </a:solidFill>
                <a:latin typeface="DejaVu Sans"/>
              </a:defRPr>
            </a:pPr>
            <a:r>
              <a:t>Run each scenario across the same 20 seeds</a:t>
            </a:r>
          </a:p>
        </p:txBody>
      </p:sp>
      <p:sp>
        <p:nvSpPr>
          <p:cNvPr id="7" name="TextBox 6"/>
          <p:cNvSpPr txBox="1"/>
          <p:nvPr/>
        </p:nvSpPr>
        <p:spPr>
          <a:xfrm>
            <a:off x="685800" y="2313432"/>
            <a:ext cx="10789920" cy="731520"/>
          </a:xfrm>
          <a:prstGeom prst="rect">
            <a:avLst/>
          </a:prstGeom>
          <a:noFill/>
        </p:spPr>
        <p:txBody>
          <a:bodyPr wrap="square" lIns="0" rIns="0">
            <a:spAutoFit/>
          </a:bodyPr>
          <a:lstStyle/>
          <a:p>
            <a:pPr>
              <a:spcAft>
                <a:spcPts val="900"/>
              </a:spcAft>
              <a:defRPr sz="2100" b="0">
                <a:solidFill>
                  <a:srgbClr val="EAF2F8"/>
                </a:solidFill>
                <a:latin typeface="DejaVu Sans"/>
              </a:defRPr>
            </a:pPr>
            <a:r>
              <a:t>Each run compares all five policies. Keep detector settings, label availability and update scope fixed.</a:t>
            </a:r>
          </a:p>
        </p:txBody>
      </p:sp>
      <p:graphicFrame>
        <p:nvGraphicFramePr>
          <p:cNvPr id="8" name="Table 7"/>
          <p:cNvGraphicFramePr>
            <a:graphicFrameLocks noGrp="1"/>
          </p:cNvGraphicFramePr>
          <p:nvPr>
            <p:extLst>
              <p:ext uri="{D42A27DB-BD31-4B8C-83A1-F6EECF244321}">
                <p14:modId xmlns:p14="http://schemas.microsoft.com/office/powerpoint/2010/main" val="1262304696"/>
              </p:ext>
            </p:extLst>
          </p:nvPr>
        </p:nvGraphicFramePr>
        <p:xfrm>
          <a:off x="685800" y="3139440"/>
          <a:ext cx="10789920" cy="2319528"/>
        </p:xfrm>
        <a:graphic>
          <a:graphicData uri="http://schemas.openxmlformats.org/drawingml/2006/table">
            <a:tbl>
              <a:tblPr firstRow="1" bandRow="1">
                <a:tableStyleId>{5C22544A-7EE6-4342-B048-85BDC9FD1C3A}</a:tableStyleId>
              </a:tblPr>
              <a:tblGrid>
                <a:gridCol w="393192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20624">
                <a:tc>
                  <a:txBody>
                    <a:bodyPr/>
                    <a:lstStyle/>
                    <a:p>
                      <a:pPr>
                        <a:defRPr sz="1700" b="1">
                          <a:solidFill>
                            <a:srgbClr val="78D8CC"/>
                          </a:solidFill>
                          <a:latin typeface="DejaVu Sans"/>
                        </a:defRPr>
                      </a:pPr>
                      <a:r>
                        <a:t>Saved evidence</a:t>
                      </a:r>
                    </a:p>
                  </a:txBody>
                  <a:tcPr marL="109728" marT="73152">
                    <a:solidFill>
                      <a:srgbClr val="142838"/>
                    </a:solidFill>
                  </a:tcPr>
                </a:tc>
                <a:tc>
                  <a:txBody>
                    <a:bodyPr/>
                    <a:lstStyle/>
                    <a:p>
                      <a:pPr>
                        <a:defRPr sz="1700" b="1">
                          <a:solidFill>
                            <a:srgbClr val="78D8CC"/>
                          </a:solidFill>
                          <a:latin typeface="DejaVu Sans"/>
                        </a:defRPr>
                      </a:pPr>
                      <a:r>
                        <a:t>Purpose</a:t>
                      </a:r>
                    </a:p>
                  </a:txBody>
                  <a:tcPr marL="109728" marT="73152">
                    <a:solidFill>
                      <a:srgbClr val="142838"/>
                    </a:solidFill>
                  </a:tcPr>
                </a:tc>
                <a:extLst>
                  <a:ext uri="{0D108BD9-81ED-4DB2-BD59-A6C34878D82A}">
                    <a16:rowId xmlns:a16="http://schemas.microsoft.com/office/drawing/2014/main" val="10000"/>
                  </a:ext>
                </a:extLst>
              </a:tr>
              <a:tr h="420624">
                <a:tc>
                  <a:txBody>
                    <a:bodyPr/>
                    <a:lstStyle/>
                    <a:p>
                      <a:pPr>
                        <a:defRPr sz="1700" b="0">
                          <a:solidFill>
                            <a:srgbClr val="EAF2F8"/>
                          </a:solidFill>
                          <a:latin typeface="DejaVu Sans"/>
                        </a:defRPr>
                      </a:pPr>
                      <a:r>
                        <a:t>summary.csv</a:t>
                      </a:r>
                    </a:p>
                  </a:txBody>
                  <a:tcPr marL="109728" marT="73152">
                    <a:solidFill>
                      <a:srgbClr val="101D2A"/>
                    </a:solidFill>
                  </a:tcPr>
                </a:tc>
                <a:tc>
                  <a:txBody>
                    <a:bodyPr/>
                    <a:lstStyle/>
                    <a:p>
                      <a:pPr>
                        <a:defRPr sz="1700" b="0">
                          <a:solidFill>
                            <a:srgbClr val="EAF2F8"/>
                          </a:solidFill>
                          <a:latin typeface="DejaVu Sans"/>
                        </a:defRPr>
                      </a:pPr>
                      <a:r>
                        <a:t>Accuracy, gain versus never, updates, runtime and training size</a:t>
                      </a:r>
                    </a:p>
                  </a:txBody>
                  <a:tcPr marL="109728" marT="73152">
                    <a:solidFill>
                      <a:srgbClr val="101D2A"/>
                    </a:solidFill>
                  </a:tcPr>
                </a:tc>
                <a:extLst>
                  <a:ext uri="{0D108BD9-81ED-4DB2-BD59-A6C34878D82A}">
                    <a16:rowId xmlns:a16="http://schemas.microsoft.com/office/drawing/2014/main" val="10001"/>
                  </a:ext>
                </a:extLst>
              </a:tr>
              <a:tr h="420624">
                <a:tc>
                  <a:txBody>
                    <a:bodyPr/>
                    <a:lstStyle/>
                    <a:p>
                      <a:pPr>
                        <a:defRPr sz="1700" b="0">
                          <a:solidFill>
                            <a:srgbClr val="EAF2F8"/>
                          </a:solidFill>
                          <a:latin typeface="DejaVu Sans"/>
                        </a:defRPr>
                      </a:pPr>
                      <a:r>
                        <a:t>warnings.csv / validations.csv</a:t>
                      </a:r>
                    </a:p>
                  </a:txBody>
                  <a:tcPr marL="109728" marT="73152">
                    <a:solidFill>
                      <a:srgbClr val="101D2A"/>
                    </a:solidFill>
                  </a:tcPr>
                </a:tc>
                <a:tc>
                  <a:txBody>
                    <a:bodyPr/>
                    <a:lstStyle/>
                    <a:p>
                      <a:pPr>
                        <a:defRPr sz="1700" b="0">
                          <a:solidFill>
                            <a:srgbClr val="EAF2F8"/>
                          </a:solidFill>
                          <a:latin typeface="DejaVu Sans"/>
                        </a:defRPr>
                      </a:pPr>
                      <a:r>
                        <a:t>Audit detector decisions and confirmation timing</a:t>
                      </a:r>
                    </a:p>
                  </a:txBody>
                  <a:tcPr marL="109728" marT="73152">
                    <a:solidFill>
                      <a:srgbClr val="101D2A"/>
                    </a:solidFill>
                  </a:tcPr>
                </a:tc>
                <a:extLst>
                  <a:ext uri="{0D108BD9-81ED-4DB2-BD59-A6C34878D82A}">
                    <a16:rowId xmlns:a16="http://schemas.microsoft.com/office/drawing/2014/main" val="10002"/>
                  </a:ext>
                </a:extLst>
              </a:tr>
              <a:tr h="420624">
                <a:tc>
                  <a:txBody>
                    <a:bodyPr/>
                    <a:lstStyle/>
                    <a:p>
                      <a:pPr>
                        <a:defRPr sz="1700" b="0">
                          <a:solidFill>
                            <a:srgbClr val="EAF2F8"/>
                          </a:solidFill>
                          <a:latin typeface="DejaVu Sans"/>
                        </a:defRPr>
                      </a:pPr>
                      <a:r>
                        <a:t>Policy trials / updates CSVs</a:t>
                      </a:r>
                    </a:p>
                  </a:txBody>
                  <a:tcPr marL="109728" marT="73152">
                    <a:solidFill>
                      <a:srgbClr val="101D2A"/>
                    </a:solidFill>
                  </a:tcPr>
                </a:tc>
                <a:tc>
                  <a:txBody>
                    <a:bodyPr/>
                    <a:lstStyle/>
                    <a:p>
                      <a:pPr>
                        <a:defRPr sz="1700" b="0">
                          <a:solidFill>
                            <a:srgbClr val="EAF2F8"/>
                          </a:solidFill>
                          <a:latin typeface="DejaVu Sans"/>
                        </a:defRPr>
                      </a:pPr>
                      <a:r>
                        <a:t>Trace prediction quality and each retraining event</a:t>
                      </a:r>
                    </a:p>
                  </a:txBody>
                  <a:tcPr marL="109728" marT="73152">
                    <a:solidFill>
                      <a:srgbClr val="101D2A"/>
                    </a:solidFill>
                  </a:tcPr>
                </a:tc>
                <a:extLst>
                  <a:ext uri="{0D108BD9-81ED-4DB2-BD59-A6C34878D82A}">
                    <a16:rowId xmlns:a16="http://schemas.microsoft.com/office/drawing/2014/main" val="10003"/>
                  </a:ext>
                </a:extLst>
              </a:tr>
              <a:tr h="420624">
                <a:tc>
                  <a:txBody>
                    <a:bodyPr/>
                    <a:lstStyle/>
                    <a:p>
                      <a:pPr>
                        <a:defRPr sz="1700" b="0">
                          <a:solidFill>
                            <a:srgbClr val="EAF2F8"/>
                          </a:solidFill>
                          <a:latin typeface="DejaVu Sans"/>
                        </a:defRPr>
                      </a:pPr>
                      <a:r>
                        <a:t>experiment.json</a:t>
                      </a:r>
                    </a:p>
                  </a:txBody>
                  <a:tcPr marL="109728" marT="73152">
                    <a:solidFill>
                      <a:srgbClr val="101D2A"/>
                    </a:solidFill>
                  </a:tcPr>
                </a:tc>
                <a:tc>
                  <a:txBody>
                    <a:bodyPr/>
                    <a:lstStyle/>
                    <a:p>
                      <a:pPr>
                        <a:defRPr sz="1700" b="0">
                          <a:solidFill>
                            <a:srgbClr val="EAF2F8"/>
                          </a:solidFill>
                          <a:latin typeface="DejaVu Sans"/>
                        </a:defRPr>
                      </a:pPr>
                      <a:r>
                        <a:rPr dirty="0"/>
                        <a:t>Preserve settings, provenance and complete run evidence</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9" name="TextBox 8"/>
          <p:cNvSpPr txBox="1"/>
          <p:nvPr/>
        </p:nvSpPr>
        <p:spPr>
          <a:xfrm>
            <a:off x="685800" y="5550408"/>
            <a:ext cx="10789920" cy="411480"/>
          </a:xfrm>
          <a:prstGeom prst="rect">
            <a:avLst/>
          </a:prstGeom>
          <a:noFill/>
        </p:spPr>
        <p:txBody>
          <a:bodyPr wrap="square" lIns="0" rIns="0">
            <a:spAutoFit/>
          </a:bodyPr>
          <a:lstStyle/>
          <a:p>
            <a:pPr>
              <a:spcAft>
                <a:spcPts val="900"/>
              </a:spcAft>
              <a:defRPr sz="1700" b="0">
                <a:solidFill>
                  <a:srgbClr val="78D8CC"/>
                </a:solidFill>
                <a:latin typeface="DejaVu Sans"/>
              </a:defRPr>
            </a:pPr>
            <a:r>
              <a:t>Report differences across seeds, including variability. Keep these synthetic results separate from EEG.</a:t>
            </a:r>
          </a:p>
        </p:txBody>
      </p:sp>
      <p:sp>
        <p:nvSpPr>
          <p:cNvPr id="10" name="TextBox 9"/>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r>
              <a:t>20</a:t>
            </a: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a:solidFill>
                            <a:srgbClr val="2DD4BF"/>
                          </a:solidFill>
                          <a:latin typeface="DejaVu Sans"/>
                          <a:ea typeface="DejaVu Sans"/>
                          <a:cs typeface="DejaVu Sans"/>
                        </a:rPr>
                        <a:t>Oct</a:t>
                      </a:r>
                    </a:p>
                  </a:txBody>
                  <a:tcPr anchor="ctr">
                    <a:solidFill>
                      <a:srgbClr val="10253A"/>
                    </a:solidFill>
                  </a:tcPr>
                </a:tc>
                <a:tc>
                  <a:txBody>
                    <a:bodyPr/>
                    <a:lstStyle/>
                    <a:p>
                      <a:pPr algn="ctr"/>
                      <a:r>
                        <a:rPr sz="825" b="1">
                          <a:solidFill>
                            <a:srgbClr val="2DD4BF"/>
                          </a:solidFill>
                          <a:latin typeface="DejaVu Sans"/>
                          <a:ea typeface="DejaVu Sans"/>
                          <a:cs typeface="DejaVu Sans"/>
                        </a:rPr>
                        <a:t>Nov</a:t>
                      </a:r>
                    </a:p>
                  </a:txBody>
                  <a:tcPr anchor="ctr">
                    <a:solidFill>
                      <a:srgbClr val="10253A"/>
                    </a:solidFill>
                  </a:tcPr>
                </a:tc>
                <a:tc>
                  <a:txBody>
                    <a:bodyPr/>
                    <a:lstStyle/>
                    <a:p>
                      <a:pPr algn="ctr"/>
                      <a:r>
                        <a:rPr sz="825" b="1">
                          <a:solidFill>
                            <a:srgbClr val="2DD4BF"/>
                          </a:solidFill>
                          <a:latin typeface="DejaVu Sans"/>
                          <a:ea typeface="DejaVu Sans"/>
                          <a:cs typeface="DejaVu Sans"/>
                        </a:rPr>
                        <a:t>Dec</a:t>
                      </a:r>
                    </a:p>
                  </a:txBody>
                  <a:tcPr anchor="ctr">
                    <a:solidFill>
                      <a:srgbClr val="10253A"/>
                    </a:solidFill>
                  </a:tcPr>
                </a:tc>
                <a:tc>
                  <a:txBody>
                    <a:bodyPr/>
                    <a:lstStyle/>
                    <a:p>
                      <a:pPr algn="ctr"/>
                      <a:r>
                        <a:rPr sz="825" b="1">
                          <a:solidFill>
                            <a:srgbClr val="2DD4BF"/>
                          </a:solidFill>
                          <a:latin typeface="DejaVu Sans"/>
                          <a:ea typeface="DejaVu Sans"/>
                          <a:cs typeface="DejaVu Sans"/>
                        </a:rPr>
                        <a:t>Jan</a:t>
                      </a:r>
                    </a:p>
                  </a:txBody>
                  <a:tcPr anchor="ctr">
                    <a:solidFill>
                      <a:srgbClr val="10253A"/>
                    </a:solidFill>
                  </a:tcPr>
                </a:tc>
                <a:tc>
                  <a:txBody>
                    <a:bodyPr/>
                    <a:lstStyle/>
                    <a:p>
                      <a:pPr algn="ctr"/>
                      <a:r>
                        <a:rPr sz="825" b="1">
                          <a:solidFill>
                            <a:srgbClr val="2DD4BF"/>
                          </a:solidFill>
                          <a:latin typeface="DejaVu Sans"/>
                          <a:ea typeface="DejaVu Sans"/>
                          <a:cs typeface="DejaVu Sans"/>
                        </a:rPr>
                        <a:t>Feb</a:t>
                      </a:r>
                    </a:p>
                  </a:txBody>
                  <a:tcPr anchor="ctr">
                    <a:solidFill>
                      <a:srgbClr val="10253A"/>
                    </a:solidFill>
                  </a:tcPr>
                </a:tc>
                <a:tc>
                  <a:txBody>
                    <a:bodyPr/>
                    <a:lstStyle/>
                    <a:p>
                      <a:pPr algn="ctr"/>
                      <a:r>
                        <a:rPr sz="825" b="1">
                          <a:solidFill>
                            <a:srgbClr val="2DD4BF"/>
                          </a:solidFill>
                          <a:latin typeface="DejaVu Sans"/>
                          <a:ea typeface="DejaVu Sans"/>
                          <a:cs typeface="DejaVu Sans"/>
                        </a:rPr>
                        <a:t>Mar</a:t>
                      </a:r>
                    </a:p>
                  </a:txBody>
                  <a:tcPr anchor="ctr">
                    <a:solidFill>
                      <a:srgbClr val="10253A"/>
                    </a:solidFill>
                  </a:tcPr>
                </a:tc>
                <a:tc>
                  <a:txBody>
                    <a:bodyPr/>
                    <a:lstStyle/>
                    <a:p>
                      <a:pPr algn="ctr"/>
                      <a:r>
                        <a:rPr sz="825" b="1">
                          <a:solidFill>
                            <a:srgbClr val="2DD4BF"/>
                          </a:solidFill>
                          <a:latin typeface="DejaVu Sans"/>
                          <a:ea typeface="DejaVu Sans"/>
                          <a:cs typeface="DejaVu Sans"/>
                        </a:rPr>
                        <a:t>Apr</a:t>
                      </a:r>
                    </a:p>
                  </a:txBody>
                  <a:tcPr anchor="ctr">
                    <a:solidFill>
                      <a:srgbClr val="10253A"/>
                    </a:solidFill>
                  </a:tcPr>
                </a:tc>
                <a:tc>
                  <a:txBody>
                    <a:bodyPr/>
                    <a:lstStyle/>
                    <a:p>
                      <a:pPr algn="ctr"/>
                      <a:r>
                        <a:rPr sz="825" b="1">
                          <a:solidFill>
                            <a:srgbClr val="2DD4BF"/>
                          </a:solidFill>
                          <a:latin typeface="DejaVu Sans"/>
                          <a:ea typeface="DejaVu Sans"/>
                          <a:cs typeface="DejaVu Sans"/>
                        </a:rPr>
                        <a:t>May</a:t>
                      </a:r>
                    </a:p>
                  </a:txBody>
                  <a:tcPr anchor="ctr">
                    <a:solidFill>
                      <a:srgbClr val="10253A"/>
                    </a:solidFill>
                  </a:tcPr>
                </a:tc>
                <a:tc>
                  <a:txBody>
                    <a:bodyPr/>
                    <a:lstStyle/>
                    <a:p>
                      <a:pPr algn="ctr"/>
                      <a:r>
                        <a:rPr sz="825" b="1">
                          <a:solidFill>
                            <a:srgbClr val="2DD4BF"/>
                          </a:solidFill>
                          <a:latin typeface="DejaVu Sans"/>
                          <a:ea typeface="DejaVu Sans"/>
                          <a:cs typeface="DejaVu Sans"/>
                        </a:rPr>
                        <a:t>Jun</a:t>
                      </a:r>
                    </a:p>
                  </a:txBody>
                  <a:tcPr anchor="ctr">
                    <a:solidFill>
                      <a:srgbClr val="10253A"/>
                    </a:solidFill>
                  </a:tcPr>
                </a:tc>
                <a:tc>
                  <a:txBody>
                    <a:bodyPr/>
                    <a:lstStyle/>
                    <a:p>
                      <a:pPr algn="ctr"/>
                      <a:r>
                        <a:rPr sz="825" b="1">
                          <a:solidFill>
                            <a:srgbClr val="2DD4BF"/>
                          </a:solidFill>
                          <a:latin typeface="DejaVu Sans"/>
                          <a:ea typeface="DejaVu Sans"/>
                          <a:cs typeface="DejaVu Sans"/>
                        </a:rPr>
                        <a:t>Jul</a:t>
                      </a:r>
                    </a:p>
                  </a:txBody>
                  <a:tcPr anchor="ctr">
                    <a:solidFill>
                      <a:srgbClr val="10253A"/>
                    </a:solidFill>
                  </a:tcPr>
                </a:tc>
                <a:tc>
                  <a:txBody>
                    <a:bodyPr/>
                    <a:lstStyle/>
                    <a:p>
                      <a:pPr algn="ctr"/>
                      <a:r>
                        <a:rPr sz="825" b="1">
                          <a:solidFill>
                            <a:srgbClr val="2DD4BF"/>
                          </a:solidFill>
                          <a:latin typeface="DejaVu Sans"/>
                          <a:ea typeface="DejaVu Sans"/>
                          <a:cs typeface="DejaVu Sans"/>
                        </a:rPr>
                        <a:t>Aug</a:t>
                      </a:r>
                    </a:p>
                  </a:txBody>
                  <a:tcPr anchor="ctr">
                    <a:solidFill>
                      <a:srgbClr val="10253A"/>
                    </a:solidFill>
                  </a:tcPr>
                </a:tc>
                <a:tc>
                  <a:txBody>
                    <a:bodyPr/>
                    <a:lstStyle/>
                    <a:p>
                      <a:pPr algn="ctr"/>
                      <a:r>
                        <a:rPr sz="825" b="1">
                          <a:solidFill>
                            <a:srgbClr val="2DD4BF"/>
                          </a:solidFill>
                          <a:latin typeface="DejaVu Sans"/>
                          <a:ea typeface="DejaVu Sans"/>
                          <a:cs typeface="DejaVu Sans"/>
                        </a:rPr>
                        <a:t>Sep</a:t>
                      </a:r>
                    </a:p>
                  </a:txBody>
                  <a:tcPr anchor="ctr">
                    <a:solidFill>
                      <a:srgbClr val="10253A"/>
                    </a:solidFill>
                  </a:tcPr>
                </a:tc>
                <a:tc>
                  <a:txBody>
                    <a:bodyPr/>
                    <a:lstStyle/>
                    <a:p>
                      <a:pPr algn="l"/>
                      <a:r>
                        <a:rPr sz="975" b="1">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a:solidFill>
                            <a:srgbClr val="EAF2F8"/>
                          </a:solidFill>
                          <a:latin typeface="DejaVu Sans"/>
                          <a:ea typeface="DejaVu Sans"/>
                          <a:cs typeface="DejaVu Sans"/>
                        </a:rPr>
                        <a:t>WP1  Theory and architecture</a:t>
                      </a:r>
                    </a:p>
                    <a:p>
                      <a:pPr algn="l"/>
                      <a:r>
                        <a:rPr sz="1050" b="1">
                          <a:solidFill>
                            <a:srgbClr val="EAF2F8"/>
                          </a:solidFill>
                          <a:latin typeface="DejaVu Sans"/>
                          <a:ea typeface="DejaVu Sans"/>
                          <a:cs typeface="DejaVu Sans"/>
                        </a:rPr>
                        <a:t>CPD, CL and twin design</a:t>
                      </a: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a:solidFill>
                            <a:srgbClr val="EAF2F8"/>
                          </a:solidFill>
                          <a:latin typeface="DejaVu Sans"/>
                          <a:ea typeface="DejaVu Sans"/>
                          <a:cs typeface="DejaVu Sans"/>
                        </a:rPr>
                        <a:t>WP2  CPD benchmarking</a:t>
                      </a:r>
                    </a:p>
                    <a:p>
                      <a:pPr algn="l"/>
                      <a:r>
                        <a:rPr sz="1050" b="1">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a:solidFill>
                            <a:srgbClr val="EAF2F8"/>
                          </a:solidFill>
                          <a:latin typeface="DejaVu Sans"/>
                          <a:ea typeface="DejaVu Sans"/>
                          <a:cs typeface="DejaVu Sans"/>
                        </a:rPr>
                        <a:t>WP3  Continual learning and sustainability</a:t>
                      </a:r>
                    </a:p>
                    <a:p>
                      <a:pPr algn="l"/>
                      <a:r>
                        <a:rPr sz="1050" b="1">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a:solidFill>
                            <a:srgbClr val="EAF2F8"/>
                          </a:solidFill>
                          <a:latin typeface="DejaVu Sans"/>
                          <a:ea typeface="DejaVu Sans"/>
                          <a:cs typeface="DejaVu Sans"/>
                        </a:rPr>
                        <a:t>WP4  Digital twin co-evolution</a:t>
                      </a:r>
                    </a:p>
                    <a:p>
                      <a:pPr algn="l"/>
                      <a:r>
                        <a:rPr sz="1050" b="1">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a:solidFill>
                            <a:srgbClr val="EAF2F8"/>
                          </a:solidFill>
                          <a:latin typeface="DejaVu Sans"/>
                          <a:ea typeface="DejaVu Sans"/>
                          <a:cs typeface="DejaVu Sans"/>
                        </a:rPr>
                        <a:t>WP5  Cross-domain evaluation</a:t>
                      </a:r>
                    </a:p>
                    <a:p>
                      <a:pPr algn="l"/>
                      <a:r>
                        <a:rPr sz="1050" b="1">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a:solidFill>
                            <a:srgbClr val="EAF2F8"/>
                          </a:solidFill>
                          <a:latin typeface="DejaVu Sans"/>
                          <a:ea typeface="DejaVu Sans"/>
                          <a:cs typeface="DejaVu Sans"/>
                        </a:rPr>
                        <a:t>WP6  Synthesis and engagement</a:t>
                      </a:r>
                    </a:p>
                    <a:p>
                      <a:pPr algn="l"/>
                      <a:r>
                        <a:rPr sz="1050" b="1">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pPr algn="l"/>
                      <a:r>
                        <a:rPr sz="975" b="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NEXT MILESTONE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Next milestone: a reproducible evidence package</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sp>
        <p:nvSpPr>
          <p:cNvPr id="6" name="TextBox 5"/>
          <p:cNvSpPr txBox="1"/>
          <p:nvPr/>
        </p:nvSpPr>
        <p:spPr>
          <a:xfrm>
            <a:off x="685800" y="170992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1. Reconcile the saved reproduction runs</a:t>
            </a:r>
          </a:p>
        </p:txBody>
      </p:sp>
      <p:sp>
        <p:nvSpPr>
          <p:cNvPr id="7" name="TextBox 6"/>
          <p:cNvSpPr txBox="1"/>
          <p:nvPr/>
        </p:nvSpPr>
        <p:spPr>
          <a:xfrm>
            <a:off x="685800" y="2249424"/>
            <a:ext cx="10789920" cy="548640"/>
          </a:xfrm>
          <a:prstGeom prst="rect">
            <a:avLst/>
          </a:prstGeom>
          <a:noFill/>
        </p:spPr>
        <p:txBody>
          <a:bodyPr wrap="square" lIns="0" rIns="0">
            <a:spAutoFit/>
          </a:bodyPr>
          <a:lstStyle/>
          <a:p>
            <a:pPr>
              <a:spcAft>
                <a:spcPts val="900"/>
              </a:spcAft>
              <a:defRPr sz="2000" b="0">
                <a:solidFill>
                  <a:srgbClr val="EAF2F8"/>
                </a:solidFill>
                <a:latin typeface="DejaVu Sans"/>
              </a:defRPr>
            </a:pPr>
            <a:r>
              <a:t>Lock settings and explain the Stage-II accepted, rejected and ineligible events.</a:t>
            </a:r>
          </a:p>
        </p:txBody>
      </p:sp>
      <p:sp>
        <p:nvSpPr>
          <p:cNvPr id="8" name="TextBox 7"/>
          <p:cNvSpPr txBox="1"/>
          <p:nvPr/>
        </p:nvSpPr>
        <p:spPr>
          <a:xfrm>
            <a:off x="685800" y="299008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2. Generate adaptation and real EEG evidence</a:t>
            </a:r>
          </a:p>
        </p:txBody>
      </p:sp>
      <p:sp>
        <p:nvSpPr>
          <p:cNvPr id="9" name="TextBox 8"/>
          <p:cNvSpPr txBox="1"/>
          <p:nvPr/>
        </p:nvSpPr>
        <p:spPr>
          <a:xfrm>
            <a:off x="685800" y="3529584"/>
            <a:ext cx="10789920" cy="640080"/>
          </a:xfrm>
          <a:prstGeom prst="rect">
            <a:avLst/>
          </a:prstGeom>
          <a:noFill/>
        </p:spPr>
        <p:txBody>
          <a:bodyPr wrap="square" lIns="0" rIns="0">
            <a:spAutoFit/>
          </a:bodyPr>
          <a:lstStyle/>
          <a:p>
            <a:pPr>
              <a:spcAft>
                <a:spcPts val="900"/>
              </a:spcAft>
              <a:defRPr sz="2000" b="0">
                <a:solidFill>
                  <a:srgbClr val="EAF2F8"/>
                </a:solidFill>
                <a:latin typeface="DejaVu Sans"/>
              </a:defRPr>
            </a:pPr>
            <a:r>
              <a:t>Save the three-scenario Diethe comparison across seeds. Export 2A/2B complementary traces.</a:t>
            </a:r>
          </a:p>
        </p:txBody>
      </p:sp>
      <p:sp>
        <p:nvSpPr>
          <p:cNvPr id="10" name="TextBox 9"/>
          <p:cNvSpPr txBox="1"/>
          <p:nvPr/>
        </p:nvSpPr>
        <p:spPr>
          <a:xfrm>
            <a:off x="685800" y="4389120"/>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3. Align tests, slides and research notes</a:t>
            </a:r>
          </a:p>
        </p:txBody>
      </p:sp>
      <p:sp>
        <p:nvSpPr>
          <p:cNvPr id="11" name="TextBox 10"/>
          <p:cNvSpPr txBox="1"/>
          <p:nvPr/>
        </p:nvSpPr>
        <p:spPr>
          <a:xfrm>
            <a:off x="685800" y="4919472"/>
            <a:ext cx="10789920" cy="777240"/>
          </a:xfrm>
          <a:prstGeom prst="rect">
            <a:avLst/>
          </a:prstGeom>
          <a:noFill/>
        </p:spPr>
        <p:txBody>
          <a:bodyPr wrap="square" lIns="0" rIns="0">
            <a:spAutoFit/>
          </a:bodyPr>
          <a:lstStyle/>
          <a:p>
            <a:pPr>
              <a:spcAft>
                <a:spcPts val="900"/>
              </a:spcAft>
              <a:defRPr sz="2000" b="0">
                <a:solidFill>
                  <a:srgbClr val="EAF2F8"/>
                </a:solidFill>
                <a:latin typeface="DejaVu Sans"/>
              </a:defRPr>
            </a:pPr>
            <a:r>
              <a:t>Resolve the homepage route assertion. Refresh Notion implementation status and link every numerical claim to its run.</a:t>
            </a:r>
          </a:p>
        </p:txBody>
      </p:sp>
      <p:sp>
        <p:nvSpPr>
          <p:cNvPr id="12" name="TextBox 11"/>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21</a:t>
            </a:r>
          </a:p>
        </p:txBody>
      </p:sp>
    </p:spTree>
    <p:extLst>
      <p:ext uri="{BB962C8B-B14F-4D97-AF65-F5344CB8AC3E}">
        <p14:creationId xmlns:p14="http://schemas.microsoft.com/office/powerpoint/2010/main" val="19033191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248</TotalTime>
  <Words>4390</Words>
  <Application>Microsoft Office PowerPoint</Application>
  <DocSecurity>0</DocSecurity>
  <PresentationFormat>Widescreen</PresentationFormat>
  <Paragraphs>470</Paragraphs>
  <Slides>21</Slides>
  <Notes>20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21</vt:i4>
      </vt:variant>
    </vt:vector>
  </HeadingPairs>
  <TitlesOfParts>
    <vt:vector size="26" baseType="lpstr">
      <vt:lpstr>DejaVu Sans</vt:lpstr>
      <vt:lpstr>Aptos</vt:lpstr>
      <vt:lpstr>Calibri</vt:lpstr>
      <vt:lpstr>ChatGPT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Haocheng Lin</cp:lastModifiedBy>
  <cp:revision>23</cp:revision>
  <dcterms:created xsi:type="dcterms:W3CDTF">2026-09-28T11:03:11Z</dcterms:created>
  <dcterms:modified xsi:type="dcterms:W3CDTF">2026-10-04T11:19:48Z</dcterms:modified>
</cp:coreProperties>
</file>