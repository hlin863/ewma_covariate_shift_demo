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5" r:id="rId9"/>
    <p:sldId id="263" r:id="rId10"/>
    <p:sldId id="264" r:id="rId11"/>
  </p:sldIdLst>
  <p:sldSz cx="12192000" cy="6858000"/>
  <p:notesSz cx="6858000" cy="9144000"/>
  <p:defaultTextStyle>
    <a:defPPr>
      <a:buNone/>
    </a:defPPr>
    <a:lvl1pPr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grounded in the author-supplied abstract (28 September 2026) and the source progress review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Repository evidence snapshot: hlin863/ewma_covariate_shift_demo, commit 167f976 (29 September 2026), as documented in the supplied repository review. https://github.com/hlin863/ewma_covariate_shift_demo/tree/167f976</a:t>
            </a:r>
          </a:p>
          <a:p>
            <a:r>
              <a:t>The tracked outputs include Table-I subject-level warning and confirmation counts, sensitivity runs, D2 Table III and D3/D4 Table IV comparisons, and separate real-data SVM/bagging metrics. These demonstrate executable reconstruction, not numerical agreement with all published results. Stage-II confirmation discrepancies remain under investigation.</a:t>
            </a:r>
          </a:p>
          <a:p>
            <a:r>
              <a:t>The 2A and 2B splits shown are for CSE Table-I reconstruction. The separate 2B bagging benchmark normally fits Sessions I–II and holds out Session III.</a:t>
            </a:r>
          </a:p>
          <a:p>
            <a:r>
              <a:t>Implemented classifier components include linear SVM, supervised adaptation and bootstrap aggregation. Full 2019 CSE-UAEL integration, particularly PWKNN pseudo-labelling, dynamic LDA ensemble growth and weighted ensemble classification, remains open. Complementary score/residual monitoring code exists, but its generated outputs were absent from this evidence snapshot.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grounded in the author-supplied abstract (28 September 2026) and the source progress review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grounded in the author-supplied abstract (28 September 2026) and the source progress review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grounded in the author-supplied abstract (28 September 2026) and the source progress review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grounded in the author-supplied abstract (28 September 2026) and the source progress review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grounded in the author-supplied abstract (28 September 2026) and the source progress review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Proposed first-year work packages transcribed from the source deck. WP1 M1–3, WP2 M2–5, WP3 M4–7, WP4 M5–9, WP5 M7–11, WP6 M10–12. Bars represent October 2026 through September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7169360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Proposed first-year work packages transcribed from the source deck. WP1 M1–3, WP2 M2–5, WP3 M4–7, WP4 M5–9, WP5 M7–11, WP6 M10–12. Bars represent October 2026 through September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Update grounded in the author-supplied abstract (28 September 2026) and the source progress review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5FB7A1BC-9F50-412C-AD08-6A0907BD5F8D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5250" cy="4953000"/>
          </a:xfrm>
          <a:prstGeom prst="rect">
            <a:avLst/>
          </a:prstGeom>
          <a:solidFill>
            <a:srgbClr val="2DD4BF"/>
          </a:solidFill>
          <a:ln w="0">
            <a:noFill/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D122F1-24A1-464A-9263-EC7D882DFD91}"/>
              </a:ext>
            </a:extLst>
          </p:cNvPr>
          <p:cNvSpPr>
            <a:spLocks noGrp="1"/>
          </p:cNvSpPr>
          <p:nvPr/>
        </p:nvSpPr>
        <p:spPr>
          <a:xfrm>
            <a:off x="1047750" y="1047750"/>
            <a:ext cx="7239000" cy="1524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405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405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EWMA Covariate</a:t>
            </a:r>
          </a:p>
          <a:p>
            <a:pPr algn="l">
              <a:buNone/>
              <a:defRPr sz="405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405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Shift Demo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8CA1C25-D797-45EF-8E63-B3F29F301C6D}"/>
              </a:ext>
            </a:extLst>
          </p:cNvPr>
          <p:cNvSpPr>
            <a:spLocks noGrp="1"/>
          </p:cNvSpPr>
          <p:nvPr/>
        </p:nvSpPr>
        <p:spPr>
          <a:xfrm>
            <a:off x="1066800" y="28003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75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Manuscript and implementation review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3AA9472-82BB-48BB-A352-5C29C535E8AC}"/>
              </a:ext>
            </a:extLst>
          </p:cNvPr>
          <p:cNvSpPr>
            <a:spLocks noGrp="1"/>
          </p:cNvSpPr>
          <p:nvPr/>
        </p:nvSpPr>
        <p:spPr>
          <a:xfrm>
            <a:off x="1066800" y="3371850"/>
            <a:ext cx="72390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6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Auditable CSE reconstruction for motor-imagery EEG</a:t>
            </a:r>
          </a:p>
          <a:p>
            <a:pPr algn="l">
              <a:buNone/>
              <a:defRPr sz="16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6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Writing, coding, and literature progress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C9C5016-122B-4D29-A204-F4E2046D950A}"/>
              </a:ext>
            </a:extLst>
          </p:cNvPr>
          <p:cNvSpPr>
            <a:spLocks noGrp="1"/>
          </p:cNvSpPr>
          <p:nvPr/>
        </p:nvSpPr>
        <p:spPr>
          <a:xfrm>
            <a:off x="1066800" y="5086350"/>
            <a:ext cx="3238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lang="en-US" sz="1200" b="1" dirty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Haocheng Lin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B14461-27EF-40B7-8E78-A43C62DE7991}"/>
              </a:ext>
            </a:extLst>
          </p:cNvPr>
          <p:cNvSpPr>
            <a:spLocks noGrp="1"/>
          </p:cNvSpPr>
          <p:nvPr/>
        </p:nvSpPr>
        <p:spPr>
          <a:xfrm>
            <a:off x="1066800" y="5448300"/>
            <a:ext cx="4000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0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Scope: CSE subsystem and classifier benchmark</a:t>
            </a: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17DC29CC-1D2C-4B14-8435-1D09CBA58E14}"/>
              </a:ext>
            </a:extLst>
          </p:cNvPr>
          <p:cNvSpPr>
            <a:spLocks noGrp="1"/>
          </p:cNvSpPr>
          <p:nvPr/>
        </p:nvSpPr>
        <p:spPr>
          <a:xfrm flipV="1">
            <a:off x="8572500" y="1219200"/>
            <a:ext cx="647700" cy="400050"/>
          </a:xfrm>
          <a:prstGeom prst="line">
            <a:avLst/>
          </a:prstGeom>
          <a:noFill/>
          <a:ln w="28575">
            <a:solidFill>
              <a:srgbClr val="2DD4BF"/>
            </a:solidFill>
            <a:prstDash val="solid"/>
          </a:ln>
        </p:spPr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16F07650-6530-4543-9433-EA373012096E}"/>
              </a:ext>
            </a:extLst>
          </p:cNvPr>
          <p:cNvSpPr>
            <a:spLocks noGrp="1"/>
          </p:cNvSpPr>
          <p:nvPr/>
        </p:nvSpPr>
        <p:spPr>
          <a:xfrm>
            <a:off x="9220200" y="1219200"/>
            <a:ext cx="666750" cy="971550"/>
          </a:xfrm>
          <a:prstGeom prst="line">
            <a:avLst/>
          </a:prstGeom>
          <a:noFill/>
          <a:ln w="28575">
            <a:solidFill>
              <a:srgbClr val="4EA1FF"/>
            </a:solidFill>
            <a:prstDash val="solid"/>
          </a:ln>
        </p:spPr>
      </p:sp>
      <p:sp>
        <p:nvSpPr>
          <p:cNvPr id="9" name="Straight Connector 8">
            <a:extLst>
              <a:ext uri="{FF2B5EF4-FFF2-40B4-BE49-F238E27FC236}">
                <a16:creationId xmlns:a16="http://schemas.microsoft.com/office/drawing/2014/main" id="{78903F61-9ED7-484C-8B3B-095EB461B443}"/>
              </a:ext>
            </a:extLst>
          </p:cNvPr>
          <p:cNvSpPr>
            <a:spLocks noGrp="1"/>
          </p:cNvSpPr>
          <p:nvPr/>
        </p:nvSpPr>
        <p:spPr>
          <a:xfrm flipV="1">
            <a:off x="9886950" y="1733550"/>
            <a:ext cx="628650" cy="457200"/>
          </a:xfrm>
          <a:prstGeom prst="line">
            <a:avLst/>
          </a:prstGeom>
          <a:noFill/>
          <a:ln w="28575">
            <a:solidFill>
              <a:srgbClr val="2DD4BF"/>
            </a:solidFill>
            <a:prstDash val="solid"/>
          </a:ln>
        </p:spPr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5AA64371-039C-466E-916C-B117BEA3E6CC}"/>
              </a:ext>
            </a:extLst>
          </p:cNvPr>
          <p:cNvSpPr>
            <a:spLocks noGrp="1"/>
          </p:cNvSpPr>
          <p:nvPr/>
        </p:nvSpPr>
        <p:spPr>
          <a:xfrm>
            <a:off x="10515600" y="1733550"/>
            <a:ext cx="647700" cy="952500"/>
          </a:xfrm>
          <a:prstGeom prst="line">
            <a:avLst/>
          </a:prstGeom>
          <a:noFill/>
          <a:ln w="28575">
            <a:solidFill>
              <a:srgbClr val="4EA1FF"/>
            </a:solidFill>
            <a:prstDash val="solid"/>
          </a:ln>
        </p:spPr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FF7FE505-030C-432A-9D5C-E15B74B8AF64}"/>
              </a:ext>
            </a:extLst>
          </p:cNvPr>
          <p:cNvSpPr>
            <a:spLocks noGrp="1"/>
          </p:cNvSpPr>
          <p:nvPr/>
        </p:nvSpPr>
        <p:spPr>
          <a:xfrm flipH="1">
            <a:off x="10325100" y="2686050"/>
            <a:ext cx="838200" cy="704850"/>
          </a:xfrm>
          <a:prstGeom prst="line">
            <a:avLst/>
          </a:prstGeom>
          <a:noFill/>
          <a:ln w="28575">
            <a:solidFill>
              <a:srgbClr val="2DD4BF"/>
            </a:solidFill>
            <a:prstDash val="solid"/>
          </a:ln>
        </p:spPr>
      </p:sp>
      <p:sp>
        <p:nvSpPr>
          <p:cNvPr id="12" name="Straight Connector 11">
            <a:extLst>
              <a:ext uri="{FF2B5EF4-FFF2-40B4-BE49-F238E27FC236}">
                <a16:creationId xmlns:a16="http://schemas.microsoft.com/office/drawing/2014/main" id="{47BD7E3D-F20C-467A-8236-AACCFBA5D4B1}"/>
              </a:ext>
            </a:extLst>
          </p:cNvPr>
          <p:cNvSpPr>
            <a:spLocks noGrp="1"/>
          </p:cNvSpPr>
          <p:nvPr/>
        </p:nvSpPr>
        <p:spPr>
          <a:xfrm flipH="1" flipV="1">
            <a:off x="9353550" y="3009900"/>
            <a:ext cx="971550" cy="381000"/>
          </a:xfrm>
          <a:prstGeom prst="line">
            <a:avLst/>
          </a:prstGeom>
          <a:noFill/>
          <a:ln w="28575">
            <a:solidFill>
              <a:srgbClr val="4EA1FF"/>
            </a:solidFill>
            <a:prstDash val="solid"/>
          </a:ln>
        </p:spPr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1EA5F974-D9BE-4707-AFC1-1496231FD398}"/>
              </a:ext>
            </a:extLst>
          </p:cNvPr>
          <p:cNvSpPr>
            <a:spLocks noGrp="1"/>
          </p:cNvSpPr>
          <p:nvPr/>
        </p:nvSpPr>
        <p:spPr>
          <a:xfrm flipH="1">
            <a:off x="8686800" y="3009900"/>
            <a:ext cx="666750" cy="895350"/>
          </a:xfrm>
          <a:prstGeom prst="line">
            <a:avLst/>
          </a:prstGeom>
          <a:noFill/>
          <a:ln w="28575">
            <a:solidFill>
              <a:srgbClr val="2DD4BF"/>
            </a:solidFill>
            <a:prstDash val="solid"/>
          </a:ln>
        </p:spPr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5E14B93-7F85-4455-8048-9406362F7CC7}"/>
              </a:ext>
            </a:extLst>
          </p:cNvPr>
          <p:cNvSpPr>
            <a:spLocks noGrp="1"/>
          </p:cNvSpPr>
          <p:nvPr/>
        </p:nvSpPr>
        <p:spPr>
          <a:xfrm>
            <a:off x="8515350" y="15621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0">
            <a:noFill/>
          </a:ln>
        </p:spPr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2680F17-AE51-430B-A782-B2D55F386D1F}"/>
              </a:ext>
            </a:extLst>
          </p:cNvPr>
          <p:cNvSpPr>
            <a:spLocks noGrp="1"/>
          </p:cNvSpPr>
          <p:nvPr/>
        </p:nvSpPr>
        <p:spPr>
          <a:xfrm>
            <a:off x="9163050" y="11620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0">
            <a:noFill/>
          </a:ln>
        </p:spPr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E767A00D-09BD-49C4-8743-4F50945C2B4B}"/>
              </a:ext>
            </a:extLst>
          </p:cNvPr>
          <p:cNvSpPr>
            <a:spLocks noGrp="1"/>
          </p:cNvSpPr>
          <p:nvPr/>
        </p:nvSpPr>
        <p:spPr>
          <a:xfrm>
            <a:off x="9829800" y="21336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0">
            <a:noFill/>
          </a:ln>
        </p:spPr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BD805D9-E3C8-4713-AE6D-B22F85B683A7}"/>
              </a:ext>
            </a:extLst>
          </p:cNvPr>
          <p:cNvSpPr>
            <a:spLocks noGrp="1"/>
          </p:cNvSpPr>
          <p:nvPr/>
        </p:nvSpPr>
        <p:spPr>
          <a:xfrm>
            <a:off x="10458450" y="16764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0">
            <a:noFill/>
          </a:ln>
        </p:spPr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810B203-C9DC-4405-A7A9-21298EF454C6}"/>
              </a:ext>
            </a:extLst>
          </p:cNvPr>
          <p:cNvSpPr>
            <a:spLocks noGrp="1"/>
          </p:cNvSpPr>
          <p:nvPr/>
        </p:nvSpPr>
        <p:spPr>
          <a:xfrm>
            <a:off x="11106150" y="26289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F5B942"/>
          </a:solidFill>
          <a:ln w="0">
            <a:noFill/>
          </a:ln>
        </p:spPr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4352F27-3D12-46B5-ADB7-7BD751194200}"/>
              </a:ext>
            </a:extLst>
          </p:cNvPr>
          <p:cNvSpPr>
            <a:spLocks noGrp="1"/>
          </p:cNvSpPr>
          <p:nvPr/>
        </p:nvSpPr>
        <p:spPr>
          <a:xfrm>
            <a:off x="10267950" y="33337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0">
            <a:noFill/>
          </a:ln>
        </p:spPr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ED7F06F-E0D5-49C1-A526-EC90A7866E18}"/>
              </a:ext>
            </a:extLst>
          </p:cNvPr>
          <p:cNvSpPr>
            <a:spLocks noGrp="1"/>
          </p:cNvSpPr>
          <p:nvPr/>
        </p:nvSpPr>
        <p:spPr>
          <a:xfrm>
            <a:off x="9296400" y="295275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0">
            <a:noFill/>
          </a:ln>
        </p:spPr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B6AAE89-9F53-45FB-91C5-CC373DD2AE64}"/>
              </a:ext>
            </a:extLst>
          </p:cNvPr>
          <p:cNvSpPr>
            <a:spLocks noGrp="1"/>
          </p:cNvSpPr>
          <p:nvPr/>
        </p:nvSpPr>
        <p:spPr>
          <a:xfrm>
            <a:off x="8629650" y="3848100"/>
            <a:ext cx="114300" cy="1143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0">
            <a:noFill/>
          </a:ln>
        </p:spPr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64B7A778-1F53-4BDB-9587-61D271DA34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258" y="5315817"/>
            <a:ext cx="2172383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46543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CBC2B8F1-18B9-4945-BFFE-9CCB3FD66329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PROGRESS SNAPSHOT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411661D-9052-49DA-B402-934639008CF5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lang="en-US" sz="2550" b="1" dirty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Reconstruction, benchmarking and audit</a:t>
            </a:r>
            <a:endParaRPr sz="2550" b="1" dirty="0">
              <a:solidFill>
                <a:srgbClr val="EAF2F8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BCCA5901-7295-4811-8038-7916C9D934F0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10972800" cy="0"/>
          </a:xfrm>
          <a:prstGeom prst="line">
            <a:avLst/>
          </a:prstGeom>
          <a:noFill/>
          <a:ln w="19050">
            <a:solidFill>
              <a:srgbClr val="294057"/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6F1878A-14E8-4D79-946F-18CAA775C681}"/>
              </a:ext>
            </a:extLst>
          </p:cNvPr>
          <p:cNvSpPr>
            <a:spLocks noGrp="1"/>
          </p:cNvSpPr>
          <p:nvPr/>
        </p:nvSpPr>
        <p:spPr>
          <a:xfrm>
            <a:off x="609599" y="1676400"/>
            <a:ext cx="10972799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buNone/>
              <a:defRPr sz="1777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777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The CSE pipeline runs on BCI Competition IV 2A/2B, with reproduction outputs,</a:t>
            </a:r>
            <a:endParaRPr sz="2250" b="1">
              <a:solidFill>
                <a:srgbClr val="EAF2F8"/>
              </a:solidFill>
              <a:latin typeface="DejaVu Sans"/>
              <a:ea typeface="DejaVu Sans"/>
              <a:cs typeface="DejaVu Sans"/>
            </a:endParaRPr>
          </a:p>
          <a:p>
            <a:pPr algn="l">
              <a:buNone/>
              <a:defRPr sz="1777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777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sensitivity analysis and a separate classifier benchmark now stored in the repository.</a:t>
            </a:r>
            <a:endParaRPr sz="2250" b="1">
              <a:solidFill>
                <a:srgbClr val="EAF2F8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128F4EB-BF37-4DE7-BC90-3A6AE7BC7ACB}"/>
              </a:ext>
            </a:extLst>
          </p:cNvPr>
          <p:cNvSpPr>
            <a:spLocks noGrp="1"/>
          </p:cNvSpPr>
          <p:nvPr/>
        </p:nvSpPr>
        <p:spPr>
          <a:xfrm>
            <a:off x="609600" y="2486025"/>
            <a:ext cx="109728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buNone/>
              <a:defRPr sz="14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Tracked evidence includes subject-level CSW/CSV counts, D2/D3/D4 comparisons and SVM/bagging results.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59229B1-C09A-4F43-AD2F-5340A4205DA5}"/>
              </a:ext>
            </a:extLst>
          </p:cNvPr>
          <p:cNvSpPr>
            <a:spLocks noGrp="1"/>
          </p:cNvSpPr>
          <p:nvPr/>
        </p:nvSpPr>
        <p:spPr>
          <a:xfrm>
            <a:off x="609600" y="3352800"/>
            <a:ext cx="26670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600" b="1">
                <a:solidFill>
                  <a:srgbClr val="64D98B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64D98B"/>
                </a:solidFill>
                <a:latin typeface="DejaVu Sans"/>
                <a:ea typeface="DejaVu Sans"/>
                <a:cs typeface="DejaVu Sans"/>
              </a:rPr>
              <a:t>2A</a:t>
            </a: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CA868DD3-83BD-4184-B707-142373396464}"/>
              </a:ext>
            </a:extLst>
          </p:cNvPr>
          <p:cNvSpPr>
            <a:spLocks noGrp="1"/>
          </p:cNvSpPr>
          <p:nvPr/>
        </p:nvSpPr>
        <p:spPr>
          <a:xfrm>
            <a:off x="609600" y="4171950"/>
            <a:ext cx="2667000" cy="0"/>
          </a:xfrm>
          <a:prstGeom prst="line">
            <a:avLst/>
          </a:prstGeom>
          <a:noFill/>
          <a:ln w="47625">
            <a:solidFill>
              <a:srgbClr val="64D98B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B497ED-56FB-4098-BF7B-0EDA46529131}"/>
              </a:ext>
            </a:extLst>
          </p:cNvPr>
          <p:cNvSpPr>
            <a:spLocks noGrp="1"/>
          </p:cNvSpPr>
          <p:nvPr/>
        </p:nvSpPr>
        <p:spPr>
          <a:xfrm>
            <a:off x="609600" y="4362450"/>
            <a:ext cx="26670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Session I development</a:t>
            </a:r>
          </a:p>
          <a:p>
            <a:pPr algn="l">
              <a:buNone/>
              <a:def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Session II held out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DEAC82-5ED2-4320-A49F-5FA6C294BA79}"/>
              </a:ext>
            </a:extLst>
          </p:cNvPr>
          <p:cNvSpPr>
            <a:spLocks noGrp="1"/>
          </p:cNvSpPr>
          <p:nvPr/>
        </p:nvSpPr>
        <p:spPr>
          <a:xfrm>
            <a:off x="4095750" y="3352800"/>
            <a:ext cx="26670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3600" b="1">
                <a:solidFill>
                  <a:srgbClr val="4EA1FF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>
                <a:solidFill>
                  <a:srgbClr val="4EA1FF"/>
                </a:solidFill>
                <a:latin typeface="DejaVu Sans"/>
                <a:ea typeface="DejaVu Sans"/>
                <a:cs typeface="DejaVu Sans"/>
              </a:rPr>
              <a:t>2B</a:t>
            </a:r>
          </a:p>
        </p:txBody>
      </p:sp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6F0C69DE-9945-424D-85E3-C85D56722F63}"/>
              </a:ext>
            </a:extLst>
          </p:cNvPr>
          <p:cNvSpPr>
            <a:spLocks noGrp="1"/>
          </p:cNvSpPr>
          <p:nvPr/>
        </p:nvSpPr>
        <p:spPr>
          <a:xfrm>
            <a:off x="4095750" y="4171950"/>
            <a:ext cx="2667000" cy="0"/>
          </a:xfrm>
          <a:prstGeom prst="line">
            <a:avLst/>
          </a:prstGeom>
          <a:noFill/>
          <a:ln w="47625">
            <a:solidFill>
              <a:srgbClr val="4EA1FF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365A4B9-4806-4A0D-9D15-A18D22D28C19}"/>
              </a:ext>
            </a:extLst>
          </p:cNvPr>
          <p:cNvSpPr>
            <a:spLocks noGrp="1"/>
          </p:cNvSpPr>
          <p:nvPr/>
        </p:nvSpPr>
        <p:spPr>
          <a:xfrm>
            <a:off x="4095750" y="4362450"/>
            <a:ext cx="26670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Sessions I–III development</a:t>
            </a:r>
          </a:p>
          <a:p>
            <a:pPr algn="l">
              <a:buNone/>
              <a:def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Sessions IV–V held out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F64875-636B-46EB-9393-5788B975E374}"/>
              </a:ext>
            </a:extLst>
          </p:cNvPr>
          <p:cNvSpPr>
            <a:spLocks noGrp="1"/>
          </p:cNvSpPr>
          <p:nvPr/>
        </p:nvSpPr>
        <p:spPr>
          <a:xfrm>
            <a:off x="7581900" y="3352800"/>
            <a:ext cx="2667000" cy="704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85000" lnSpcReduction="10000"/>
          </a:bodyPr>
          <a:lstStyle/>
          <a:p>
            <a:pPr algn="l">
              <a:buNone/>
              <a:defRPr sz="3600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3600" b="1" dirty="0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2</a:t>
            </a:r>
            <a:r>
              <a:rPr lang="en-US" sz="3600" b="1" dirty="0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-stage CSE</a:t>
            </a:r>
            <a:endParaRPr sz="3600" b="1" dirty="0">
              <a:solidFill>
                <a:srgbClr val="2DD4BF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3" name="Straight Connector 12">
            <a:extLst>
              <a:ext uri="{FF2B5EF4-FFF2-40B4-BE49-F238E27FC236}">
                <a16:creationId xmlns:a16="http://schemas.microsoft.com/office/drawing/2014/main" id="{229578C5-8E1C-4718-BD61-44C2B40D3491}"/>
              </a:ext>
            </a:extLst>
          </p:cNvPr>
          <p:cNvSpPr>
            <a:spLocks noGrp="1"/>
          </p:cNvSpPr>
          <p:nvPr/>
        </p:nvSpPr>
        <p:spPr>
          <a:xfrm>
            <a:off x="7581900" y="4171950"/>
            <a:ext cx="2667000" cy="0"/>
          </a:xfrm>
          <a:prstGeom prst="line">
            <a:avLst/>
          </a:prstGeom>
          <a:noFill/>
          <a:ln w="47625">
            <a:solidFill>
              <a:srgbClr val="2DD4BF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DD15D8-CAE4-4B08-8C2F-BC7B60878CA2}"/>
              </a:ext>
            </a:extLst>
          </p:cNvPr>
          <p:cNvSpPr>
            <a:spLocks noGrp="1"/>
          </p:cNvSpPr>
          <p:nvPr/>
        </p:nvSpPr>
        <p:spPr>
          <a:xfrm>
            <a:off x="7581900" y="4362450"/>
            <a:ext cx="26670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buNone/>
              <a:def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EWMA warnings</a:t>
            </a:r>
            <a:endParaRPr sz="1200" b="1">
              <a:solidFill>
                <a:srgbClr val="EAF2F8"/>
              </a:solidFill>
              <a:latin typeface="DejaVu Sans"/>
              <a:ea typeface="DejaVu Sans"/>
              <a:cs typeface="DejaVu Sans"/>
            </a:endParaRPr>
          </a:p>
          <a:p>
            <a:pPr algn="l">
              <a:buNone/>
              <a:def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Hotelling T² validation</a:t>
            </a:r>
            <a:endParaRPr sz="1200" b="1">
              <a:solidFill>
                <a:srgbClr val="EAF2F8"/>
              </a:solidFill>
              <a:latin typeface="DejaVu Sans"/>
              <a:ea typeface="DejaVu Sans"/>
              <a:cs typeface="DejaVu Sans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1488553-F45B-4FF1-A081-BE3236ACA1C2}"/>
              </a:ext>
            </a:extLst>
          </p:cNvPr>
          <p:cNvSpPr>
            <a:spLocks noGrp="1"/>
          </p:cNvSpPr>
          <p:nvPr/>
        </p:nvSpPr>
        <p:spPr>
          <a:xfrm>
            <a:off x="609600" y="5467350"/>
            <a:ext cx="2095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Current maturity</a:t>
            </a:r>
          </a:p>
        </p:txBody>
      </p:sp>
      <p:sp>
        <p:nvSpPr>
          <p:cNvPr id="16" name="Straight Connector 15">
            <a:extLst>
              <a:ext uri="{FF2B5EF4-FFF2-40B4-BE49-F238E27FC236}">
                <a16:creationId xmlns:a16="http://schemas.microsoft.com/office/drawing/2014/main" id="{05E1E5F8-1D28-4E29-9631-64C41F2B2F33}"/>
              </a:ext>
            </a:extLst>
          </p:cNvPr>
          <p:cNvSpPr>
            <a:spLocks noGrp="1"/>
          </p:cNvSpPr>
          <p:nvPr/>
        </p:nvSpPr>
        <p:spPr>
          <a:xfrm>
            <a:off x="2857500" y="5581650"/>
            <a:ext cx="7239000" cy="0"/>
          </a:xfrm>
          <a:prstGeom prst="line">
            <a:avLst/>
          </a:prstGeom>
          <a:noFill/>
          <a:ln w="76200">
            <a:solidFill>
              <a:srgbClr val="294057"/>
            </a:solidFill>
            <a:prstDash val="solid"/>
          </a:ln>
        </p:spPr>
      </p:sp>
      <p:sp>
        <p:nvSpPr>
          <p:cNvPr id="17" name="Straight Connector 16">
            <a:extLst>
              <a:ext uri="{FF2B5EF4-FFF2-40B4-BE49-F238E27FC236}">
                <a16:creationId xmlns:a16="http://schemas.microsoft.com/office/drawing/2014/main" id="{49989D87-5AC9-490D-B5B2-269F48142E0B}"/>
              </a:ext>
            </a:extLst>
          </p:cNvPr>
          <p:cNvSpPr>
            <a:spLocks noGrp="1"/>
          </p:cNvSpPr>
          <p:nvPr/>
        </p:nvSpPr>
        <p:spPr>
          <a:xfrm>
            <a:off x="2857500" y="5581650"/>
            <a:ext cx="5476875" cy="0"/>
          </a:xfrm>
          <a:prstGeom prst="line">
            <a:avLst/>
          </a:prstGeom>
          <a:noFill/>
          <a:ln w="76200">
            <a:solidFill>
              <a:srgbClr val="2DD4BF"/>
            </a:solidFill>
            <a:prstDash val="solid"/>
          </a:ln>
        </p:spPr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6B6FE5F0-D115-4322-9E74-28246F7E442E}"/>
              </a:ext>
            </a:extLst>
          </p:cNvPr>
          <p:cNvSpPr>
            <a:spLocks noGrp="1"/>
          </p:cNvSpPr>
          <p:nvPr/>
        </p:nvSpPr>
        <p:spPr>
          <a:xfrm>
            <a:off x="8258175" y="5505450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F5B942"/>
          </a:solidFill>
          <a:ln w="0">
            <a:noFill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3C826AB-809A-4F14-B9FE-5880AEAEB0D9}"/>
              </a:ext>
            </a:extLst>
          </p:cNvPr>
          <p:cNvSpPr>
            <a:spLocks noGrp="1"/>
          </p:cNvSpPr>
          <p:nvPr/>
        </p:nvSpPr>
        <p:spPr>
          <a:xfrm>
            <a:off x="8382000" y="5048250"/>
            <a:ext cx="320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buNone/>
              <a:def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Reproduction and discrepancy audit</a:t>
            </a:r>
          </a:p>
          <a:p>
            <a:pPr algn="l">
              <a:buNone/>
              <a:def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Classifier benchmarking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09F4DC8-4D8E-490A-BBCF-F27362E87563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4095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hlin863/ewma_covariate_shift_demo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7445EB6-2F24-48F3-965C-9A2925AC5349}"/>
              </a:ext>
            </a:extLst>
          </p:cNvPr>
          <p:cNvSpPr>
            <a:spLocks noGrp="1"/>
          </p:cNvSpPr>
          <p:nvPr/>
        </p:nvSpPr>
        <p:spPr>
          <a:xfrm>
            <a:off x="11049000" y="651510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02</a:t>
            </a:r>
          </a:p>
        </p:txBody>
      </p:sp>
      <p:sp>
        <p:nvSpPr>
          <p:cNvPr id="23" name="Protocol clarification">
            <a:extLst>
              <a:ext uri="{FF2B5EF4-FFF2-40B4-BE49-F238E27FC236}">
                <a16:creationId xmlns:a16="http://schemas.microsoft.com/office/drawing/2014/main" id="{8CD10810-E012-468A-8084-77462D919940}"/>
              </a:ext>
            </a:extLst>
          </p:cNvPr>
          <p:cNvSpPr>
            <a:spLocks noGrp="1"/>
          </p:cNvSpPr>
          <p:nvPr/>
        </p:nvSpPr>
        <p:spPr>
          <a:xfrm>
            <a:off x="609600" y="4895850"/>
            <a:ext cx="7334250" cy="2571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05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05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CSE splits shown above. Classifier benchmarking uses a separate held-out protocol.</a:t>
            </a:r>
          </a:p>
        </p:txBody>
      </p:sp>
      <p:sp>
        <p:nvSpPr>
          <p:cNvPr id="24" name="Integration boundary">
            <a:extLst>
              <a:ext uri="{FF2B5EF4-FFF2-40B4-BE49-F238E27FC236}">
                <a16:creationId xmlns:a16="http://schemas.microsoft.com/office/drawing/2014/main" id="{429C7B4D-AB5E-4F20-AA71-6F5A9BD1570B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10972800" cy="4286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0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0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Research boundary: full CSE-UAEL integration remains open, including PWKNN pseudo-labelling</a:t>
            </a:r>
          </a:p>
          <a:p>
            <a:pPr>
              <a:defRPr sz="120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0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and dynamic ensemble growth.</a:t>
            </a:r>
          </a:p>
        </p:txBody>
      </p:sp>
    </p:spTree>
    <p:extLst>
      <p:ext uri="{BB962C8B-B14F-4D97-AF65-F5344CB8AC3E}">
        <p14:creationId xmlns:p14="http://schemas.microsoft.com/office/powerpoint/2010/main" val="3821001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6ED0F0C5-6845-4817-BDB0-68B77FB6880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LITERATURE REVIEW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86C294D-CD02-4989-878B-778A0AFD6CF2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Reading informs the reconstruction and its limits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15952200-5E6E-468B-8B3A-4C220229AAB4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10972800" cy="0"/>
          </a:xfrm>
          <a:prstGeom prst="line">
            <a:avLst/>
          </a:prstGeom>
          <a:noFill/>
          <a:ln w="19050">
            <a:solidFill>
              <a:srgbClr val="294057"/>
            </a:solidFill>
            <a:prstDash val="solid"/>
          </a:ln>
        </p:spPr>
      </p:sp>
      <p:sp>
        <p:nvSpPr>
          <p:cNvPr id="4" name="Straight Connector 3">
            <a:extLst>
              <a:ext uri="{FF2B5EF4-FFF2-40B4-BE49-F238E27FC236}">
                <a16:creationId xmlns:a16="http://schemas.microsoft.com/office/drawing/2014/main" id="{9A2AC98A-F2B5-41D3-A0B8-2FC04CE4AC64}"/>
              </a:ext>
            </a:extLst>
          </p:cNvPr>
          <p:cNvSpPr>
            <a:spLocks noGrp="1"/>
          </p:cNvSpPr>
          <p:nvPr/>
        </p:nvSpPr>
        <p:spPr>
          <a:xfrm>
            <a:off x="1143000" y="3143250"/>
            <a:ext cx="9906000" cy="0"/>
          </a:xfrm>
          <a:prstGeom prst="line">
            <a:avLst/>
          </a:prstGeom>
          <a:noFill/>
          <a:ln w="47625">
            <a:solidFill>
              <a:srgbClr val="294057"/>
            </a:solidFill>
            <a:prstDash val="solid"/>
          </a:ln>
        </p:spPr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0C0F15E2-E046-4F78-9DEE-0924199ED7FC}"/>
              </a:ext>
            </a:extLst>
          </p:cNvPr>
          <p:cNvSpPr>
            <a:spLocks noGrp="1"/>
          </p:cNvSpPr>
          <p:nvPr/>
        </p:nvSpPr>
        <p:spPr>
          <a:xfrm>
            <a:off x="1238250" y="30099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4EA1FF"/>
          </a:solidFill>
          <a:ln w="0">
            <a:noFill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3EF8275-D142-4976-B9CE-AC1189FF3F56}"/>
              </a:ext>
            </a:extLst>
          </p:cNvPr>
          <p:cNvSpPr>
            <a:spLocks noGrp="1"/>
          </p:cNvSpPr>
          <p:nvPr/>
        </p:nvSpPr>
        <p:spPr>
          <a:xfrm>
            <a:off x="990600" y="2019300"/>
            <a:ext cx="1143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650" b="1">
                <a:solidFill>
                  <a:srgbClr val="4EA1F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4EA1FF"/>
                </a:solidFill>
                <a:latin typeface="DejaVu Sans"/>
                <a:ea typeface="DejaVu Sans"/>
                <a:cs typeface="DejaVu Sans"/>
              </a:rPr>
              <a:t>2015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973316C-A27B-4BBD-AA8B-E09882FD6172}"/>
              </a:ext>
            </a:extLst>
          </p:cNvPr>
          <p:cNvSpPr>
            <a:spLocks noGrp="1"/>
          </p:cNvSpPr>
          <p:nvPr/>
        </p:nvSpPr>
        <p:spPr>
          <a:xfrm>
            <a:off x="571500" y="2428875"/>
            <a:ext cx="16192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Raza: detector basis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E29DA93-D443-4AE2-A341-E0C200D5A253}"/>
              </a:ext>
            </a:extLst>
          </p:cNvPr>
          <p:cNvSpPr>
            <a:spLocks noGrp="1"/>
          </p:cNvSpPr>
          <p:nvPr/>
        </p:nvSpPr>
        <p:spPr>
          <a:xfrm>
            <a:off x="571500" y="3562350"/>
            <a:ext cx="16192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EWMA warning logic</a:t>
            </a:r>
          </a:p>
          <a:p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D2 reconstruction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86E4705-6593-4CAC-876E-EBF3C80A9C36}"/>
              </a:ext>
            </a:extLst>
          </p:cNvPr>
          <p:cNvSpPr>
            <a:spLocks noGrp="1"/>
          </p:cNvSpPr>
          <p:nvPr/>
        </p:nvSpPr>
        <p:spPr>
          <a:xfrm>
            <a:off x="3905250" y="30099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0">
            <a:noFill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24A723-3CD5-48B0-89AA-D2F0E7EFAAD0}"/>
              </a:ext>
            </a:extLst>
          </p:cNvPr>
          <p:cNvSpPr>
            <a:spLocks noGrp="1"/>
          </p:cNvSpPr>
          <p:nvPr/>
        </p:nvSpPr>
        <p:spPr>
          <a:xfrm>
            <a:off x="3657600" y="2019300"/>
            <a:ext cx="1143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650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2018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E815300-B5F2-4A41-ACCC-52F5F2A6DDE7}"/>
              </a:ext>
            </a:extLst>
          </p:cNvPr>
          <p:cNvSpPr>
            <a:spLocks noGrp="1"/>
          </p:cNvSpPr>
          <p:nvPr/>
        </p:nvSpPr>
        <p:spPr>
          <a:xfrm>
            <a:off x="3238500" y="2428875"/>
            <a:ext cx="16192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Chowdhury: online BCI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5742545-4578-44F5-80CF-38F0769CAA90}"/>
              </a:ext>
            </a:extLst>
          </p:cNvPr>
          <p:cNvSpPr>
            <a:spLocks noGrp="1"/>
          </p:cNvSpPr>
          <p:nvPr/>
        </p:nvSpPr>
        <p:spPr>
          <a:xfrm>
            <a:off x="3238500" y="3562350"/>
            <a:ext cx="16192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FBCSP setting</a:t>
            </a:r>
          </a:p>
          <a:p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Cohort and feedback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34A2043-F901-4D00-BD49-C1083559860F}"/>
              </a:ext>
            </a:extLst>
          </p:cNvPr>
          <p:cNvSpPr>
            <a:spLocks noGrp="1"/>
          </p:cNvSpPr>
          <p:nvPr/>
        </p:nvSpPr>
        <p:spPr>
          <a:xfrm>
            <a:off x="6572250" y="30099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5B942"/>
          </a:solidFill>
          <a:ln w="0">
            <a:noFill/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BAB5777-D390-4DF4-AFD8-4999AC3FD30E}"/>
              </a:ext>
            </a:extLst>
          </p:cNvPr>
          <p:cNvSpPr>
            <a:spLocks noGrp="1"/>
          </p:cNvSpPr>
          <p:nvPr/>
        </p:nvSpPr>
        <p:spPr>
          <a:xfrm>
            <a:off x="6324600" y="2019300"/>
            <a:ext cx="1143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650" b="1">
                <a:solidFill>
                  <a:srgbClr val="F5B942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F5B942"/>
                </a:solidFill>
                <a:latin typeface="DejaVu Sans"/>
                <a:ea typeface="DejaVu Sans"/>
                <a:cs typeface="DejaVu Sans"/>
              </a:rPr>
              <a:t>2019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EF414CB-02B1-41C4-A8EA-5B48624BABD1}"/>
              </a:ext>
            </a:extLst>
          </p:cNvPr>
          <p:cNvSpPr>
            <a:spLocks noGrp="1"/>
          </p:cNvSpPr>
          <p:nvPr/>
        </p:nvSpPr>
        <p:spPr>
          <a:xfrm>
            <a:off x="5905500" y="2428875"/>
            <a:ext cx="16192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Raza: CSE-UAEL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C4F5BBC-F4DA-4621-BA7D-23F869B359D5}"/>
              </a:ext>
            </a:extLst>
          </p:cNvPr>
          <p:cNvSpPr>
            <a:spLocks noGrp="1"/>
          </p:cNvSpPr>
          <p:nvPr/>
        </p:nvSpPr>
        <p:spPr>
          <a:xfrm>
            <a:off x="5905500" y="3562350"/>
            <a:ext cx="16192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Two-stage CSE</a:t>
            </a:r>
          </a:p>
          <a:p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Adaptation context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A1CE66C-8D1F-45A4-ADCD-66FB6EDD99F9}"/>
              </a:ext>
            </a:extLst>
          </p:cNvPr>
          <p:cNvSpPr>
            <a:spLocks noGrp="1"/>
          </p:cNvSpPr>
          <p:nvPr/>
        </p:nvSpPr>
        <p:spPr>
          <a:xfrm>
            <a:off x="9239250" y="3009900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64D98B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7E7A475-CDCA-424D-A222-FA271DE91E17}"/>
              </a:ext>
            </a:extLst>
          </p:cNvPr>
          <p:cNvSpPr>
            <a:spLocks noGrp="1"/>
          </p:cNvSpPr>
          <p:nvPr/>
        </p:nvSpPr>
        <p:spPr>
          <a:xfrm>
            <a:off x="8991600" y="2019300"/>
            <a:ext cx="1143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650" b="1">
                <a:solidFill>
                  <a:srgbClr val="64D98B"/>
                </a:solidFill>
                <a:latin typeface="DejaVu Sans"/>
                <a:ea typeface="DejaVu Sans"/>
                <a:cs typeface="DejaVu Sans"/>
              </a:defRPr>
            </a:pPr>
            <a:r>
              <a:rPr sz="1650" b="1">
                <a:solidFill>
                  <a:srgbClr val="64D98B"/>
                </a:solidFill>
                <a:latin typeface="DejaVu Sans"/>
                <a:ea typeface="DejaVu Sans"/>
                <a:cs typeface="DejaVu Sans"/>
              </a:rPr>
              <a:t>Related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A2A7A9-3216-4C86-B2EE-21E658798DE2}"/>
              </a:ext>
            </a:extLst>
          </p:cNvPr>
          <p:cNvSpPr>
            <a:spLocks noGrp="1"/>
          </p:cNvSpPr>
          <p:nvPr/>
        </p:nvSpPr>
        <p:spPr>
          <a:xfrm>
            <a:off x="8572500" y="2428875"/>
            <a:ext cx="161925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Rao and Heyden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25067DC-03F2-4010-AB52-596DC08C1CD3}"/>
              </a:ext>
            </a:extLst>
          </p:cNvPr>
          <p:cNvSpPr>
            <a:spLocks noGrp="1"/>
          </p:cNvSpPr>
          <p:nvPr/>
        </p:nvSpPr>
        <p:spPr>
          <a:xfrm>
            <a:off x="8572500" y="3562350"/>
            <a:ext cx="16192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PCA interpretation</a:t>
            </a:r>
          </a:p>
          <a:p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Change detection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63455E8-C60A-401F-AF94-B3849E580544}"/>
              </a:ext>
            </a:extLst>
          </p:cNvPr>
          <p:cNvSpPr>
            <a:spLocks noGrp="1"/>
          </p:cNvSpPr>
          <p:nvPr/>
        </p:nvSpPr>
        <p:spPr>
          <a:xfrm>
            <a:off x="1714500" y="5219700"/>
            <a:ext cx="87630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7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The literature review separates published detector methods from reconstruction choices and proposed extensions.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3AD054A-77DD-438F-B1A2-CEAD38F2A1DF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4095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hlin863/ewma_covariate_shift_demo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6AF4919-C33C-49E3-9215-D84C4C44FE12}"/>
              </a:ext>
            </a:extLst>
          </p:cNvPr>
          <p:cNvSpPr>
            <a:spLocks noGrp="1"/>
          </p:cNvSpPr>
          <p:nvPr/>
        </p:nvSpPr>
        <p:spPr>
          <a:xfrm>
            <a:off x="11049000" y="651510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1378632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82CFBA0D-6112-421A-BC28-280695CB3CB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IMPLEMENTED PIPELINE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46253F7-B0B1-4872-99CB-51F07E8BF15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CSE ends at validated shift evidence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13DAD4E1-E0F7-4B44-8710-B2D906C687C3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10972800" cy="0"/>
          </a:xfrm>
          <a:prstGeom prst="line">
            <a:avLst/>
          </a:prstGeom>
          <a:noFill/>
          <a:ln w="19050">
            <a:solidFill>
              <a:srgbClr val="294057"/>
            </a:solidFill>
            <a:prstDash val="solid"/>
          </a:ln>
        </p:spPr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E33D50E-54B6-4BCD-9DDA-D5F7B88E127D}"/>
              </a:ext>
            </a:extLst>
          </p:cNvPr>
          <p:cNvSpPr>
            <a:spLocks noGrp="1"/>
          </p:cNvSpPr>
          <p:nvPr/>
        </p:nvSpPr>
        <p:spPr>
          <a:xfrm>
            <a:off x="523875" y="2333625"/>
            <a:ext cx="1952625" cy="1714500"/>
          </a:xfrm>
          <a:prstGeom prst="roundRect">
            <a:avLst>
              <a:gd name="adj" fmla="val 7778"/>
            </a:avLst>
          </a:prstGeom>
          <a:solidFill>
            <a:srgbClr val="0F1C2B"/>
          </a:solidFill>
          <a:ln w="9525">
            <a:solidFill>
              <a:srgbClr val="4EA1FF"/>
            </a:solidFill>
            <a:prstDash val="solid"/>
          </a:ln>
        </p:spPr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B6F5169-2F31-40E1-8E95-BD7D7D8A7A3D}"/>
              </a:ext>
            </a:extLst>
          </p:cNvPr>
          <p:cNvSpPr>
            <a:spLocks noGrp="1"/>
          </p:cNvSpPr>
          <p:nvPr/>
        </p:nvSpPr>
        <p:spPr>
          <a:xfrm>
            <a:off x="523875" y="2333625"/>
            <a:ext cx="1952625" cy="76200"/>
          </a:xfrm>
          <a:prstGeom prst="roundRect">
            <a:avLst>
              <a:gd name="adj" fmla="val 50000"/>
            </a:avLst>
          </a:prstGeom>
          <a:solidFill>
            <a:srgbClr val="4EA1FF"/>
          </a:solidFill>
          <a:ln w="0">
            <a:noFill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9787917-756E-4DE7-A943-7B2E39CC3794}"/>
              </a:ext>
            </a:extLst>
          </p:cNvPr>
          <p:cNvSpPr>
            <a:spLocks noGrp="1"/>
          </p:cNvSpPr>
          <p:nvPr/>
        </p:nvSpPr>
        <p:spPr>
          <a:xfrm>
            <a:off x="695325" y="2647950"/>
            <a:ext cx="16097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BCI data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00DD980-736E-4443-897A-07B160D9FC4E}"/>
              </a:ext>
            </a:extLst>
          </p:cNvPr>
          <p:cNvSpPr>
            <a:spLocks noGrp="1"/>
          </p:cNvSpPr>
          <p:nvPr/>
        </p:nvSpPr>
        <p:spPr>
          <a:xfrm>
            <a:off x="695325" y="3143250"/>
            <a:ext cx="1609725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Cue-aligned trials</a:t>
            </a:r>
          </a:p>
          <a:p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2A and 2B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E1B088C-7DF6-4BC5-87B0-30AA61FFAE3B}"/>
              </a:ext>
            </a:extLst>
          </p:cNvPr>
          <p:cNvSpPr>
            <a:spLocks noGrp="1"/>
          </p:cNvSpPr>
          <p:nvPr/>
        </p:nvSpPr>
        <p:spPr>
          <a:xfrm>
            <a:off x="2857500" y="2333625"/>
            <a:ext cx="1952625" cy="1714500"/>
          </a:xfrm>
          <a:prstGeom prst="roundRect">
            <a:avLst>
              <a:gd name="adj" fmla="val 7778"/>
            </a:avLst>
          </a:prstGeom>
          <a:solidFill>
            <a:srgbClr val="0F1C2B"/>
          </a:solidFill>
          <a:ln w="9525">
            <a:solidFill>
              <a:srgbClr val="2DD4BF"/>
            </a:solidFill>
            <a:prstDash val="solid"/>
          </a:ln>
        </p:spPr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B0761D9-BC45-4001-89F9-1CB9667564A6}"/>
              </a:ext>
            </a:extLst>
          </p:cNvPr>
          <p:cNvSpPr>
            <a:spLocks noGrp="1"/>
          </p:cNvSpPr>
          <p:nvPr/>
        </p:nvSpPr>
        <p:spPr>
          <a:xfrm>
            <a:off x="2857500" y="2333625"/>
            <a:ext cx="1952625" cy="7620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0">
            <a:noFill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C508D3D-4808-409C-8F24-1069D4701E73}"/>
              </a:ext>
            </a:extLst>
          </p:cNvPr>
          <p:cNvSpPr>
            <a:spLocks noGrp="1"/>
          </p:cNvSpPr>
          <p:nvPr/>
        </p:nvSpPr>
        <p:spPr>
          <a:xfrm>
            <a:off x="3028950" y="2647950"/>
            <a:ext cx="16097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74561" lnSpcReduction="10000"/>
          </a:bodyPr>
          <a:lstStyle/>
          <a:p>
            <a:pPr algn="ctr">
              <a:buNone/>
              <a:def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Signal representation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1C417B5-D9AC-4E94-A11E-0D416955D595}"/>
              </a:ext>
            </a:extLst>
          </p:cNvPr>
          <p:cNvSpPr>
            <a:spLocks noGrp="1"/>
          </p:cNvSpPr>
          <p:nvPr/>
        </p:nvSpPr>
        <p:spPr>
          <a:xfrm>
            <a:off x="3028950" y="3143250"/>
            <a:ext cx="1609725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10-band FBCSP</a:t>
            </a:r>
          </a:p>
          <a:p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PCA scores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ADF653-1DF6-40D3-B03A-CC413A5E7CA5}"/>
              </a:ext>
            </a:extLst>
          </p:cNvPr>
          <p:cNvSpPr>
            <a:spLocks noGrp="1"/>
          </p:cNvSpPr>
          <p:nvPr/>
        </p:nvSpPr>
        <p:spPr>
          <a:xfrm>
            <a:off x="5191125" y="2333625"/>
            <a:ext cx="1952625" cy="1714500"/>
          </a:xfrm>
          <a:prstGeom prst="roundRect">
            <a:avLst>
              <a:gd name="adj" fmla="val 7778"/>
            </a:avLst>
          </a:prstGeom>
          <a:solidFill>
            <a:srgbClr val="0F1C2B"/>
          </a:solidFill>
          <a:ln w="9525">
            <a:solidFill>
              <a:srgbClr val="4EA1FF"/>
            </a:solidFill>
            <a:prstDash val="solid"/>
          </a:ln>
        </p:spPr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257ED36-0B70-43AC-932E-9A8FA68D1A60}"/>
              </a:ext>
            </a:extLst>
          </p:cNvPr>
          <p:cNvSpPr>
            <a:spLocks noGrp="1"/>
          </p:cNvSpPr>
          <p:nvPr/>
        </p:nvSpPr>
        <p:spPr>
          <a:xfrm>
            <a:off x="5191125" y="2333625"/>
            <a:ext cx="1952625" cy="76200"/>
          </a:xfrm>
          <a:prstGeom prst="roundRect">
            <a:avLst>
              <a:gd name="adj" fmla="val 50000"/>
            </a:avLst>
          </a:prstGeom>
          <a:solidFill>
            <a:srgbClr val="4EA1FF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A72B680-B357-4457-87CB-CEB0C6360E38}"/>
              </a:ext>
            </a:extLst>
          </p:cNvPr>
          <p:cNvSpPr>
            <a:spLocks noGrp="1"/>
          </p:cNvSpPr>
          <p:nvPr/>
        </p:nvSpPr>
        <p:spPr>
          <a:xfrm>
            <a:off x="5362575" y="2647950"/>
            <a:ext cx="16097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Stage I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66B272C-9671-42CF-A33C-8FD98C50470F}"/>
              </a:ext>
            </a:extLst>
          </p:cNvPr>
          <p:cNvSpPr>
            <a:spLocks noGrp="1"/>
          </p:cNvSpPr>
          <p:nvPr/>
        </p:nvSpPr>
        <p:spPr>
          <a:xfrm>
            <a:off x="5362575" y="3143250"/>
            <a:ext cx="1609725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EWMA candidate</a:t>
            </a:r>
          </a:p>
          <a:p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warnings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A3E7FE36-87E0-4AB6-A7C1-4B48092CF03C}"/>
              </a:ext>
            </a:extLst>
          </p:cNvPr>
          <p:cNvSpPr>
            <a:spLocks noGrp="1"/>
          </p:cNvSpPr>
          <p:nvPr/>
        </p:nvSpPr>
        <p:spPr>
          <a:xfrm>
            <a:off x="7524750" y="2333625"/>
            <a:ext cx="1952625" cy="1714500"/>
          </a:xfrm>
          <a:prstGeom prst="roundRect">
            <a:avLst>
              <a:gd name="adj" fmla="val 7778"/>
            </a:avLst>
          </a:prstGeom>
          <a:solidFill>
            <a:srgbClr val="0F1C2B"/>
          </a:solidFill>
          <a:ln w="9525">
            <a:solidFill>
              <a:srgbClr val="F5B942"/>
            </a:solidFill>
            <a:prstDash val="solid"/>
          </a:ln>
        </p:spPr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3E09973-00CE-408A-90EB-6E3C0F114EE7}"/>
              </a:ext>
            </a:extLst>
          </p:cNvPr>
          <p:cNvSpPr>
            <a:spLocks noGrp="1"/>
          </p:cNvSpPr>
          <p:nvPr/>
        </p:nvSpPr>
        <p:spPr>
          <a:xfrm>
            <a:off x="7524750" y="2333625"/>
            <a:ext cx="1952625" cy="76200"/>
          </a:xfrm>
          <a:prstGeom prst="roundRect">
            <a:avLst>
              <a:gd name="adj" fmla="val 50000"/>
            </a:avLst>
          </a:prstGeom>
          <a:solidFill>
            <a:srgbClr val="F5B942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877F8F-991B-4571-8C36-5F530C5AE841}"/>
              </a:ext>
            </a:extLst>
          </p:cNvPr>
          <p:cNvSpPr>
            <a:spLocks noGrp="1"/>
          </p:cNvSpPr>
          <p:nvPr/>
        </p:nvSpPr>
        <p:spPr>
          <a:xfrm>
            <a:off x="7696200" y="2647950"/>
            <a:ext cx="1609725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Stage II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9740D74-0B36-46AE-B787-30B18AED69A9}"/>
              </a:ext>
            </a:extLst>
          </p:cNvPr>
          <p:cNvSpPr>
            <a:spLocks noGrp="1"/>
          </p:cNvSpPr>
          <p:nvPr/>
        </p:nvSpPr>
        <p:spPr>
          <a:xfrm>
            <a:off x="7696200" y="3143250"/>
            <a:ext cx="1609725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Hotelling T²</a:t>
            </a:r>
          </a:p>
          <a:p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validation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5D8CDCE0-8F99-4397-8AB5-BECE7661AE01}"/>
              </a:ext>
            </a:extLst>
          </p:cNvPr>
          <p:cNvSpPr>
            <a:spLocks noGrp="1"/>
          </p:cNvSpPr>
          <p:nvPr/>
        </p:nvSpPr>
        <p:spPr>
          <a:xfrm>
            <a:off x="9858375" y="2333625"/>
            <a:ext cx="1809750" cy="1714500"/>
          </a:xfrm>
          <a:prstGeom prst="roundRect">
            <a:avLst>
              <a:gd name="adj" fmla="val 7778"/>
            </a:avLst>
          </a:prstGeom>
          <a:solidFill>
            <a:srgbClr val="0F1C2B"/>
          </a:solidFill>
          <a:ln w="9525">
            <a:solidFill>
              <a:srgbClr val="64D98B"/>
            </a:solidFill>
            <a:prstDash val="solid"/>
          </a:ln>
        </p:spPr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827A085D-5169-47AB-8BCC-D1115AC8DA4D}"/>
              </a:ext>
            </a:extLst>
          </p:cNvPr>
          <p:cNvSpPr>
            <a:spLocks noGrp="1"/>
          </p:cNvSpPr>
          <p:nvPr/>
        </p:nvSpPr>
        <p:spPr>
          <a:xfrm>
            <a:off x="9858375" y="2333625"/>
            <a:ext cx="1809750" cy="76200"/>
          </a:xfrm>
          <a:prstGeom prst="roundRect">
            <a:avLst>
              <a:gd name="adj" fmla="val 50000"/>
            </a:avLst>
          </a:prstGeom>
          <a:solidFill>
            <a:srgbClr val="64D98B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CECF4B-8574-40EA-90A0-A7E8703A2566}"/>
              </a:ext>
            </a:extLst>
          </p:cNvPr>
          <p:cNvSpPr>
            <a:spLocks noGrp="1"/>
          </p:cNvSpPr>
          <p:nvPr/>
        </p:nvSpPr>
        <p:spPr>
          <a:xfrm>
            <a:off x="10029825" y="2647950"/>
            <a:ext cx="14668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Evidence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FB05B4A-1948-46C5-862D-B714ACCED87E}"/>
              </a:ext>
            </a:extLst>
          </p:cNvPr>
          <p:cNvSpPr>
            <a:spLocks noGrp="1"/>
          </p:cNvSpPr>
          <p:nvPr/>
        </p:nvSpPr>
        <p:spPr>
          <a:xfrm>
            <a:off x="10029825" y="3143250"/>
            <a:ext cx="14668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Counts, diagnostics</a:t>
            </a:r>
          </a:p>
          <a:p>
            <a:pPr algn="ctr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and provenance</a:t>
            </a:r>
          </a:p>
        </p:txBody>
      </p:sp>
      <p:cxnSp>
        <p:nvCxnSpPr>
          <p:cNvPr id="110" name="Straight Arrow Connector 82"/>
          <p:cNvCxnSpPr>
            <a:stCxn id="4" idx="3"/>
            <a:endCxn id="8" idx="1"/>
          </p:cNvCxnSpPr>
          <p:nvPr/>
        </p:nvCxnSpPr>
        <p:spPr>
          <a:xfrm>
            <a:off x="2476500" y="3190875"/>
            <a:ext cx="381000" cy="0"/>
          </a:xfrm>
          <a:prstGeom prst="straightConnector1">
            <a:avLst/>
          </a:prstGeom>
          <a:ln w="28575">
            <a:solidFill>
              <a:srgbClr val="294057"/>
            </a:solidFill>
            <a:prstDash val="solid"/>
            <a:tailEnd type="triangle" w="sm" len="sm"/>
          </a:ln>
        </p:spPr>
      </p:cxnSp>
      <p:cxnSp>
        <p:nvCxnSpPr>
          <p:cNvPr id="111" name="Straight Arrow Connector 83"/>
          <p:cNvCxnSpPr>
            <a:stCxn id="8" idx="3"/>
            <a:endCxn id="12" idx="1"/>
          </p:cNvCxnSpPr>
          <p:nvPr/>
        </p:nvCxnSpPr>
        <p:spPr>
          <a:xfrm>
            <a:off x="4810125" y="3190875"/>
            <a:ext cx="381000" cy="0"/>
          </a:xfrm>
          <a:prstGeom prst="straightConnector1">
            <a:avLst/>
          </a:prstGeom>
          <a:ln w="28575">
            <a:solidFill>
              <a:srgbClr val="294057"/>
            </a:solidFill>
            <a:prstDash val="solid"/>
            <a:tailEnd type="triangle" w="sm" len="sm"/>
          </a:ln>
        </p:spPr>
      </p:cxnSp>
      <p:cxnSp>
        <p:nvCxnSpPr>
          <p:cNvPr id="112" name="Straight Arrow Connector 84"/>
          <p:cNvCxnSpPr>
            <a:stCxn id="12" idx="3"/>
            <a:endCxn id="16" idx="1"/>
          </p:cNvCxnSpPr>
          <p:nvPr/>
        </p:nvCxnSpPr>
        <p:spPr>
          <a:xfrm>
            <a:off x="7143750" y="3190875"/>
            <a:ext cx="381000" cy="0"/>
          </a:xfrm>
          <a:prstGeom prst="straightConnector1">
            <a:avLst/>
          </a:prstGeom>
          <a:ln w="28575">
            <a:solidFill>
              <a:srgbClr val="294057"/>
            </a:solidFill>
            <a:prstDash val="solid"/>
            <a:tailEnd type="triangle" w="sm" len="sm"/>
          </a:ln>
        </p:spPr>
      </p:cxnSp>
      <p:cxnSp>
        <p:nvCxnSpPr>
          <p:cNvPr id="113" name="Straight Arrow Connector 85"/>
          <p:cNvCxnSpPr>
            <a:stCxn id="16" idx="3"/>
            <a:endCxn id="20" idx="1"/>
          </p:cNvCxnSpPr>
          <p:nvPr/>
        </p:nvCxnSpPr>
        <p:spPr>
          <a:xfrm>
            <a:off x="9477375" y="3190875"/>
            <a:ext cx="381000" cy="0"/>
          </a:xfrm>
          <a:prstGeom prst="straightConnector1">
            <a:avLst/>
          </a:prstGeom>
          <a:ln w="28575">
            <a:solidFill>
              <a:srgbClr val="294057"/>
            </a:solidFill>
            <a:prstDash val="solid"/>
            <a:tailEnd type="triangle" w="sm" len="sm"/>
          </a:ln>
        </p:spPr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8B931D16-7FB5-4AA1-B865-35E61D8911D1}"/>
              </a:ext>
            </a:extLst>
          </p:cNvPr>
          <p:cNvSpPr>
            <a:spLocks noGrp="1"/>
          </p:cNvSpPr>
          <p:nvPr/>
        </p:nvSpPr>
        <p:spPr>
          <a:xfrm>
            <a:off x="5191125" y="4476750"/>
            <a:ext cx="42862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125" b="1">
                <a:solidFill>
                  <a:srgbClr val="F5B942"/>
                </a:solidFill>
                <a:latin typeface="DejaVu Sans"/>
                <a:ea typeface="DejaVu Sans"/>
                <a:cs typeface="DejaVu Sans"/>
              </a:defRPr>
            </a:pPr>
            <a:r>
              <a:rPr sz="1125" b="1">
                <a:solidFill>
                  <a:srgbClr val="F5B942"/>
                </a:solidFill>
                <a:latin typeface="DejaVu Sans"/>
                <a:ea typeface="DejaVu Sans"/>
                <a:cs typeface="DejaVu Sans"/>
              </a:rPr>
              <a:t>CSE subsystem boundary</a:t>
            </a:r>
          </a:p>
        </p:txBody>
      </p:sp>
      <p:sp>
        <p:nvSpPr>
          <p:cNvPr id="29" name="Straight Connector 28">
            <a:extLst>
              <a:ext uri="{FF2B5EF4-FFF2-40B4-BE49-F238E27FC236}">
                <a16:creationId xmlns:a16="http://schemas.microsoft.com/office/drawing/2014/main" id="{0D322409-6D7A-4985-8A67-4EF94F897E6A}"/>
              </a:ext>
            </a:extLst>
          </p:cNvPr>
          <p:cNvSpPr>
            <a:spLocks noGrp="1"/>
          </p:cNvSpPr>
          <p:nvPr/>
        </p:nvSpPr>
        <p:spPr>
          <a:xfrm>
            <a:off x="5400675" y="4857750"/>
            <a:ext cx="3857625" cy="0"/>
          </a:xfrm>
          <a:prstGeom prst="line">
            <a:avLst/>
          </a:prstGeom>
          <a:noFill/>
          <a:ln w="28575">
            <a:solidFill>
              <a:srgbClr val="F5B942"/>
            </a:solidFill>
            <a:prstDash val="solid"/>
          </a:ln>
        </p:spPr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819A1DC-8EC0-47CD-A6E5-4832549F86BF}"/>
              </a:ext>
            </a:extLst>
          </p:cNvPr>
          <p:cNvSpPr>
            <a:spLocks noGrp="1"/>
          </p:cNvSpPr>
          <p:nvPr/>
        </p:nvSpPr>
        <p:spPr>
          <a:xfrm>
            <a:off x="2190750" y="5295900"/>
            <a:ext cx="781050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  <a:defRPr sz="15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The classifier benchmark is a separate experiment. Shift-triggered pseudo-labelling and ensemble growth remain future work.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008A090-4643-4F7F-B8D3-F29933ED9F55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4095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hlin863/ewma_covariate_shift_demo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8AE9E2D-37CD-4F1E-942F-9B6D3090B189}"/>
              </a:ext>
            </a:extLst>
          </p:cNvPr>
          <p:cNvSpPr>
            <a:spLocks noGrp="1"/>
          </p:cNvSpPr>
          <p:nvPr/>
        </p:nvSpPr>
        <p:spPr>
          <a:xfrm>
            <a:off x="11049000" y="651510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9268053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8F54C9D-1E96-45E4-8CDE-790A1582051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DATA PROTOCOL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90596F-2066-46B0-B963-6E599B63C83C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Feature fitting is confined to development training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72D2C2F6-86A3-49D5-89D3-6A9C6351D796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10972800" cy="0"/>
          </a:xfrm>
          <a:prstGeom prst="line">
            <a:avLst/>
          </a:prstGeom>
          <a:noFill/>
          <a:ln w="19050">
            <a:solidFill>
              <a:srgbClr val="294057"/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B363F9-BC47-4B28-A454-090BB368AB48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4476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4EA1F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4EA1FF"/>
                </a:solidFill>
                <a:latin typeface="DejaVu Sans"/>
                <a:ea typeface="DejaVu Sans"/>
                <a:cs typeface="DejaVu Sans"/>
              </a:rPr>
              <a:t>BCI Competition IV 2A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15EC4BF-6FEE-4A91-AEAD-D3C148653231}"/>
              </a:ext>
            </a:extLst>
          </p:cNvPr>
          <p:cNvSpPr>
            <a:spLocks noGrp="1"/>
          </p:cNvSpPr>
          <p:nvPr/>
        </p:nvSpPr>
        <p:spPr>
          <a:xfrm>
            <a:off x="609600" y="2152650"/>
            <a:ext cx="4476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Session I develops the model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D2C6BCC-6841-42A3-AE4B-8F5D735C1333}"/>
              </a:ext>
            </a:extLst>
          </p:cNvPr>
          <p:cNvSpPr>
            <a:spLocks noGrp="1"/>
          </p:cNvSpPr>
          <p:nvPr/>
        </p:nvSpPr>
        <p:spPr>
          <a:xfrm>
            <a:off x="609600" y="2667000"/>
            <a:ext cx="466725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Split Session I into training and validation</a:t>
            </a:r>
          </a:p>
          <a:p>
            <a:pPr algn="l">
              <a:buNone/>
              <a:def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Fit FBCSP on training trials only</a:t>
            </a:r>
          </a:p>
          <a:p>
            <a:pPr algn="l">
              <a:buNone/>
              <a:def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Apply fitted features to validation trials</a:t>
            </a:r>
          </a:p>
          <a:p>
            <a:pPr algn="l">
              <a:buNone/>
              <a:def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Reserve Session II for held-out evaluation</a:t>
            </a: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CC28E0FF-26C5-4466-A775-C0F1E5112F6C}"/>
              </a:ext>
            </a:extLst>
          </p:cNvPr>
          <p:cNvSpPr>
            <a:spLocks noGrp="1"/>
          </p:cNvSpPr>
          <p:nvPr/>
        </p:nvSpPr>
        <p:spPr>
          <a:xfrm>
            <a:off x="5810250" y="1733550"/>
            <a:ext cx="0" cy="3429000"/>
          </a:xfrm>
          <a:prstGeom prst="line">
            <a:avLst/>
          </a:prstGeom>
          <a:noFill/>
          <a:ln w="19050">
            <a:solidFill>
              <a:srgbClr val="294057"/>
            </a:solidFill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7D14E88-1583-4468-ADF4-3F6272715EF5}"/>
              </a:ext>
            </a:extLst>
          </p:cNvPr>
          <p:cNvSpPr>
            <a:spLocks noGrp="1"/>
          </p:cNvSpPr>
          <p:nvPr/>
        </p:nvSpPr>
        <p:spPr>
          <a:xfrm>
            <a:off x="6572250" y="1714500"/>
            <a:ext cx="4476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025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2025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BCI Competition IV 2B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DA09DE3D-873D-45A1-A54D-3F145758972B}"/>
              </a:ext>
            </a:extLst>
          </p:cNvPr>
          <p:cNvSpPr>
            <a:spLocks noGrp="1"/>
          </p:cNvSpPr>
          <p:nvPr/>
        </p:nvSpPr>
        <p:spPr>
          <a:xfrm>
            <a:off x="6572250" y="2152650"/>
            <a:ext cx="447675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Sessions I–III develop the model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EDB97E-2B69-4691-B5C6-8BE87573EDB4}"/>
              </a:ext>
            </a:extLst>
          </p:cNvPr>
          <p:cNvSpPr>
            <a:spLocks noGrp="1"/>
          </p:cNvSpPr>
          <p:nvPr/>
        </p:nvSpPr>
        <p:spPr>
          <a:xfrm>
            <a:off x="6572250" y="2667000"/>
            <a:ext cx="4667250" cy="1571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Stratified 70/30 training–validation split</a:t>
            </a:r>
          </a:p>
          <a:p>
            <a:pPr algn="l">
              <a:buNone/>
              <a:def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Fit FBCSP on development training only</a:t>
            </a:r>
          </a:p>
          <a:p>
            <a:pPr algn="l">
              <a:buNone/>
              <a:def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Apply fitted features to validation trials</a:t>
            </a:r>
          </a:p>
          <a:p>
            <a:pPr algn="l">
              <a:buNone/>
              <a:def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Reserve Sessions IV–V for evaluation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0101867-1F8A-439D-A88E-D31865E6AD0A}"/>
              </a:ext>
            </a:extLst>
          </p:cNvPr>
          <p:cNvSpPr>
            <a:spLocks noGrp="1"/>
          </p:cNvSpPr>
          <p:nvPr/>
        </p:nvSpPr>
        <p:spPr>
          <a:xfrm>
            <a:off x="609600" y="4810125"/>
            <a:ext cx="10572750" cy="685800"/>
          </a:xfrm>
          <a:prstGeom prst="roundRect">
            <a:avLst>
              <a:gd name="adj" fmla="val 13889"/>
            </a:avLst>
          </a:prstGeom>
          <a:solidFill>
            <a:srgbClr val="0F1C2B"/>
          </a:solidFill>
          <a:ln w="9525">
            <a:solidFill>
              <a:srgbClr val="294057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A15745C-1BA2-4735-BB56-2BED47890316}"/>
              </a:ext>
            </a:extLst>
          </p:cNvPr>
          <p:cNvSpPr>
            <a:spLocks noGrp="1"/>
          </p:cNvSpPr>
          <p:nvPr/>
        </p:nvSpPr>
        <p:spPr>
          <a:xfrm>
            <a:off x="819150" y="4991100"/>
            <a:ext cx="2095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F5B942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F5B942"/>
                </a:solidFill>
                <a:latin typeface="DejaVu Sans"/>
                <a:ea typeface="DejaVu Sans"/>
                <a:cs typeface="DejaVu Sans"/>
              </a:rPr>
              <a:t>Shared rule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08AD596-C1F7-4D0E-AE1C-70F38E40AE54}"/>
              </a:ext>
            </a:extLst>
          </p:cNvPr>
          <p:cNvSpPr>
            <a:spLocks noGrp="1"/>
          </p:cNvSpPr>
          <p:nvPr/>
        </p:nvSpPr>
        <p:spPr>
          <a:xfrm>
            <a:off x="3028950" y="4914900"/>
            <a:ext cx="78581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69605" lnSpcReduction="20000"/>
          </a:bodyPr>
          <a:lstStyle/>
          <a:p>
            <a:pPr algn="l">
              <a:buNone/>
              <a:def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Evaluation trials do not enter feature-model fitting. </a:t>
            </a:r>
          </a:p>
          <a:p>
            <a:pPr algn="l">
              <a:buNone/>
              <a:def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endParaRPr sz="1425" b="1">
              <a:solidFill>
                <a:srgbClr val="EAF2F8"/>
              </a:solidFill>
              <a:latin typeface="DejaVu Sans"/>
              <a:ea typeface="DejaVu Sans"/>
              <a:cs typeface="DejaVu Sans"/>
            </a:endParaRPr>
          </a:p>
          <a:p>
            <a:pPr algn="l">
              <a:buNone/>
              <a:def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Report detector outputs with the configuration that produced them.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E25EFAE-20EA-4B23-A584-EA109F6639DF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4095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hlin863/ewma_covariate_shift_demo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247F094-C46B-4595-A723-4047FC00996C}"/>
              </a:ext>
            </a:extLst>
          </p:cNvPr>
          <p:cNvSpPr>
            <a:spLocks noGrp="1"/>
          </p:cNvSpPr>
          <p:nvPr/>
        </p:nvSpPr>
        <p:spPr>
          <a:xfrm>
            <a:off x="11049000" y="651510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731952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>
            <a:extLst>
              <a:ext uri="{FF2B5EF4-FFF2-40B4-BE49-F238E27FC236}">
                <a16:creationId xmlns:a16="http://schemas.microsoft.com/office/drawing/2014/main" id="{2AA9D904-5262-45AB-ADD9-F297578434D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CODING AND VERIFICATION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829DA-45E0-4ACE-ABE3-77ABCDA0C90E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A real-data benchmark now complements CSE tests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D9EBF67B-0780-415B-8D50-0CB4B5C6AD36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10972800" cy="0"/>
          </a:xfrm>
          <a:prstGeom prst="line">
            <a:avLst/>
          </a:prstGeom>
          <a:noFill/>
          <a:ln w="19050">
            <a:solidFill>
              <a:srgbClr val="294057"/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A3A144-F218-4F5F-81C7-F58AE288498F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28575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5850" b="1">
                <a:solidFill>
                  <a:srgbClr val="64D98B"/>
                </a:solidFill>
                <a:latin typeface="DejaVu Sans"/>
                <a:ea typeface="DejaVu Sans"/>
                <a:cs typeface="DejaVu Sans"/>
              </a:defRPr>
            </a:pPr>
            <a:r>
              <a:rPr sz="5850" b="1">
                <a:solidFill>
                  <a:srgbClr val="64D98B"/>
                </a:solidFill>
                <a:latin typeface="DejaVu Sans"/>
                <a:ea typeface="DejaVu Sans"/>
                <a:cs typeface="DejaVu Sans"/>
              </a:rPr>
              <a:t>2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45152F-8B87-4854-8913-A2443142C1C5}"/>
              </a:ext>
            </a:extLst>
          </p:cNvPr>
          <p:cNvSpPr>
            <a:spLocks noGrp="1"/>
          </p:cNvSpPr>
          <p:nvPr/>
        </p:nvSpPr>
        <p:spPr>
          <a:xfrm>
            <a:off x="666750" y="2781300"/>
            <a:ext cx="2762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classifier strategies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3FFA44-2F91-481B-A1C2-CD30031B9F3F}"/>
              </a:ext>
            </a:extLst>
          </p:cNvPr>
          <p:cNvSpPr>
            <a:spLocks noGrp="1"/>
          </p:cNvSpPr>
          <p:nvPr/>
        </p:nvSpPr>
        <p:spPr>
          <a:xfrm>
            <a:off x="611843" y="3390900"/>
            <a:ext cx="3007658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0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20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Linear SVM and bootstrap-aggregated</a:t>
            </a:r>
          </a:p>
          <a:p>
            <a:pPr algn="l">
              <a:buNone/>
              <a:defRPr sz="120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endParaRPr sz="1200" b="0">
              <a:solidFill>
                <a:srgbClr val="9CB0C3"/>
              </a:solidFill>
              <a:latin typeface="DejaVu Sans"/>
              <a:ea typeface="DejaVu Sans"/>
              <a:cs typeface="DejaVu Sans"/>
            </a:endParaRPr>
          </a:p>
          <a:p>
            <a:pPr algn="l">
              <a:buNone/>
              <a:defRPr sz="120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20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L</a:t>
            </a:r>
            <a:r>
              <a:rPr sz="120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inear-SVM ensemble on 2A and 2B</a:t>
            </a:r>
          </a:p>
        </p:txBody>
      </p:sp>
      <p:sp>
        <p:nvSpPr>
          <p:cNvPr id="7" name="Straight Connector 6">
            <a:extLst>
              <a:ext uri="{FF2B5EF4-FFF2-40B4-BE49-F238E27FC236}">
                <a16:creationId xmlns:a16="http://schemas.microsoft.com/office/drawing/2014/main" id="{2ED2ABBF-AF13-4F65-BADE-AB37458E4807}"/>
              </a:ext>
            </a:extLst>
          </p:cNvPr>
          <p:cNvSpPr>
            <a:spLocks noGrp="1"/>
          </p:cNvSpPr>
          <p:nvPr/>
        </p:nvSpPr>
        <p:spPr>
          <a:xfrm>
            <a:off x="4000500" y="1952625"/>
            <a:ext cx="0" cy="2952750"/>
          </a:xfrm>
          <a:prstGeom prst="line">
            <a:avLst/>
          </a:prstGeom>
          <a:noFill/>
          <a:ln w="19050">
            <a:solidFill>
              <a:srgbClr val="294057"/>
            </a:solidFill>
            <a:prstDash val="solid"/>
          </a:ln>
        </p:spPr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153995C-8E3E-4BCF-966A-6CDA2969D837}"/>
              </a:ext>
            </a:extLst>
          </p:cNvPr>
          <p:cNvSpPr>
            <a:spLocks noGrp="1"/>
          </p:cNvSpPr>
          <p:nvPr/>
        </p:nvSpPr>
        <p:spPr>
          <a:xfrm>
            <a:off x="4457700" y="17526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0">
            <a:noFill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CEFE9D-E1C8-402B-AA62-723AD9C2B831}"/>
              </a:ext>
            </a:extLst>
          </p:cNvPr>
          <p:cNvSpPr>
            <a:spLocks noGrp="1"/>
          </p:cNvSpPr>
          <p:nvPr/>
        </p:nvSpPr>
        <p:spPr>
          <a:xfrm>
            <a:off x="4762500" y="1676400"/>
            <a:ext cx="2286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Data boundaries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2C0192-07EC-4870-A131-C5A71ED159B5}"/>
              </a:ext>
            </a:extLst>
          </p:cNvPr>
          <p:cNvSpPr>
            <a:spLocks noGrp="1"/>
          </p:cNvSpPr>
          <p:nvPr/>
        </p:nvSpPr>
        <p:spPr>
          <a:xfrm>
            <a:off x="7124700" y="1676400"/>
            <a:ext cx="4191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train, validation, and held-out evaluation roles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0EA6CBD-04FC-458C-8E27-E7A5A7A9AB09}"/>
              </a:ext>
            </a:extLst>
          </p:cNvPr>
          <p:cNvSpPr>
            <a:spLocks noGrp="1"/>
          </p:cNvSpPr>
          <p:nvPr/>
        </p:nvSpPr>
        <p:spPr>
          <a:xfrm>
            <a:off x="4457700" y="24765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0">
            <a:noFill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73F610B-7F6A-4E91-812A-71BE0D80AA3F}"/>
              </a:ext>
            </a:extLst>
          </p:cNvPr>
          <p:cNvSpPr>
            <a:spLocks noGrp="1"/>
          </p:cNvSpPr>
          <p:nvPr/>
        </p:nvSpPr>
        <p:spPr>
          <a:xfrm>
            <a:off x="4762500" y="2400300"/>
            <a:ext cx="2286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Feature pipeline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5E5DA4F-974C-46AB-8279-3E9D914B7463}"/>
              </a:ext>
            </a:extLst>
          </p:cNvPr>
          <p:cNvSpPr>
            <a:spLocks noGrp="1"/>
          </p:cNvSpPr>
          <p:nvPr/>
        </p:nvSpPr>
        <p:spPr>
          <a:xfrm>
            <a:off x="7124700" y="2400300"/>
            <a:ext cx="4191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cue-aligned extraction, FBCSP, and PCA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0839CBAC-563C-46F0-9DEA-E448F22A4BD8}"/>
              </a:ext>
            </a:extLst>
          </p:cNvPr>
          <p:cNvSpPr>
            <a:spLocks noGrp="1"/>
          </p:cNvSpPr>
          <p:nvPr/>
        </p:nvSpPr>
        <p:spPr>
          <a:xfrm>
            <a:off x="4457700" y="32004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0">
            <a:noFill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DFAACD4-A16B-4071-8FA3-B9B5A0823F83}"/>
              </a:ext>
            </a:extLst>
          </p:cNvPr>
          <p:cNvSpPr>
            <a:spLocks noGrp="1"/>
          </p:cNvSpPr>
          <p:nvPr/>
        </p:nvSpPr>
        <p:spPr>
          <a:xfrm>
            <a:off x="4762500" y="3124200"/>
            <a:ext cx="2286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Detector audit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78DADC-BD9E-4E6D-95A8-6D59F807C57C}"/>
              </a:ext>
            </a:extLst>
          </p:cNvPr>
          <p:cNvSpPr>
            <a:spLocks noGrp="1"/>
          </p:cNvSpPr>
          <p:nvPr/>
        </p:nvSpPr>
        <p:spPr>
          <a:xfrm>
            <a:off x="7124700" y="3124200"/>
            <a:ext cx="4191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λ, control limits, variance, and window eligibility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9DB00A14-B0E5-4F6F-9996-7140256773E4}"/>
              </a:ext>
            </a:extLst>
          </p:cNvPr>
          <p:cNvSpPr>
            <a:spLocks noGrp="1"/>
          </p:cNvSpPr>
          <p:nvPr/>
        </p:nvSpPr>
        <p:spPr>
          <a:xfrm>
            <a:off x="4457700" y="39243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F5B942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0E2D73B-D84A-485B-A79E-0DB9F230B2AC}"/>
              </a:ext>
            </a:extLst>
          </p:cNvPr>
          <p:cNvSpPr>
            <a:spLocks noGrp="1"/>
          </p:cNvSpPr>
          <p:nvPr/>
        </p:nvSpPr>
        <p:spPr>
          <a:xfrm>
            <a:off x="4762500" y="3848100"/>
            <a:ext cx="2286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Benchmark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AD727AD-BE16-49FE-B9F2-BD7842E6A26E}"/>
              </a:ext>
            </a:extLst>
          </p:cNvPr>
          <p:cNvSpPr>
            <a:spLocks noGrp="1"/>
          </p:cNvSpPr>
          <p:nvPr/>
        </p:nvSpPr>
        <p:spPr>
          <a:xfrm>
            <a:off x="7124700" y="3848100"/>
            <a:ext cx="4191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single SVM versus bagged linear-SVM ensemble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C3DCE105-3763-473A-B55E-6832C4C41235}"/>
              </a:ext>
            </a:extLst>
          </p:cNvPr>
          <p:cNvSpPr>
            <a:spLocks noGrp="1"/>
          </p:cNvSpPr>
          <p:nvPr/>
        </p:nvSpPr>
        <p:spPr>
          <a:xfrm>
            <a:off x="4457700" y="4648200"/>
            <a:ext cx="133350" cy="133350"/>
          </a:xfrm>
          <a:prstGeom prst="roundRect">
            <a:avLst>
              <a:gd name="adj" fmla="val 50000"/>
            </a:avLst>
          </a:prstGeom>
          <a:solidFill>
            <a:srgbClr val="2DD4BF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F1D2562-6DAD-4963-AB7B-01ECF8F6C126}"/>
              </a:ext>
            </a:extLst>
          </p:cNvPr>
          <p:cNvSpPr>
            <a:spLocks noGrp="1"/>
          </p:cNvSpPr>
          <p:nvPr/>
        </p:nvSpPr>
        <p:spPr>
          <a:xfrm>
            <a:off x="4762500" y="4572000"/>
            <a:ext cx="22860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2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Verification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B928D8D-285F-4601-BC63-178709A91C77}"/>
              </a:ext>
            </a:extLst>
          </p:cNvPr>
          <p:cNvSpPr>
            <a:spLocks noGrp="1"/>
          </p:cNvSpPr>
          <p:nvPr/>
        </p:nvSpPr>
        <p:spPr>
          <a:xfrm>
            <a:off x="7124700" y="4572000"/>
            <a:ext cx="4191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1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automated tests and targeted numerical checks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B18228B-0601-4BB5-97E1-24B7C4E5F804}"/>
              </a:ext>
            </a:extLst>
          </p:cNvPr>
          <p:cNvSpPr>
            <a:spLocks noGrp="1"/>
          </p:cNvSpPr>
          <p:nvPr/>
        </p:nvSpPr>
        <p:spPr>
          <a:xfrm>
            <a:off x="857250" y="5657850"/>
            <a:ext cx="104775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2107" lnSpcReduction="10000"/>
          </a:bodyPr>
          <a:lstStyle/>
          <a:p>
            <a:pPr algn="ctr">
              <a:buNone/>
              <a:defRPr sz="15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5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Synthetic experiments verify software behaviour; real-data comparisons supply the research benchmark.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DDBF32D-3294-4B4E-9CBD-0955D992EA27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4095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hlin863/ewma_covariate_shift_demo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610C229-9FB6-427F-AA31-1012D15E91D3}"/>
              </a:ext>
            </a:extLst>
          </p:cNvPr>
          <p:cNvSpPr>
            <a:spLocks noGrp="1"/>
          </p:cNvSpPr>
          <p:nvPr/>
        </p:nvSpPr>
        <p:spPr>
          <a:xfrm>
            <a:off x="11049000" y="651510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9040942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40CA694-4EF1-4040-A776-44BC817FB09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MANUSCRIPT STATUS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8EEA367-8366-4CB3-950C-B636B7DEA4FC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Abstract claims match the implemented scope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6FF91CC9-E811-40C0-9741-F322C58C33E6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10972800" cy="0"/>
          </a:xfrm>
          <a:prstGeom prst="line">
            <a:avLst/>
          </a:prstGeom>
          <a:noFill/>
          <a:ln w="19050">
            <a:solidFill>
              <a:srgbClr val="294057"/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89A6C85-7B71-4BA8-9906-A308140E6F64}"/>
              </a:ext>
            </a:extLst>
          </p:cNvPr>
          <p:cNvSpPr>
            <a:spLocks noGrp="1"/>
          </p:cNvSpPr>
          <p:nvPr/>
        </p:nvSpPr>
        <p:spPr>
          <a:xfrm>
            <a:off x="609600" y="1790700"/>
            <a:ext cx="3048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64D98B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64D98B"/>
                </a:solidFill>
                <a:latin typeface="DejaVu Sans"/>
                <a:ea typeface="DejaVu Sans"/>
                <a:cs typeface="DejaVu Sans"/>
              </a:rPr>
              <a:t>Written now</a:t>
            </a:r>
          </a:p>
        </p:txBody>
      </p:sp>
      <p:sp>
        <p:nvSpPr>
          <p:cNvPr id="5" name="Straight Connector 4">
            <a:extLst>
              <a:ext uri="{FF2B5EF4-FFF2-40B4-BE49-F238E27FC236}">
                <a16:creationId xmlns:a16="http://schemas.microsoft.com/office/drawing/2014/main" id="{D1F38080-B796-481E-B793-376A2E256E5D}"/>
              </a:ext>
            </a:extLst>
          </p:cNvPr>
          <p:cNvSpPr>
            <a:spLocks noGrp="1"/>
          </p:cNvSpPr>
          <p:nvPr/>
        </p:nvSpPr>
        <p:spPr>
          <a:xfrm>
            <a:off x="609600" y="2266950"/>
            <a:ext cx="3048000" cy="0"/>
          </a:xfrm>
          <a:prstGeom prst="line">
            <a:avLst/>
          </a:prstGeom>
          <a:noFill/>
          <a:ln w="47625">
            <a:solidFill>
              <a:srgbClr val="64D98B"/>
            </a:solidFill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225BA0-BCAC-4B62-A8CD-CE52987DA288}"/>
              </a:ext>
            </a:extLst>
          </p:cNvPr>
          <p:cNvSpPr>
            <a:spLocks noGrp="1"/>
          </p:cNvSpPr>
          <p:nvPr/>
        </p:nvSpPr>
        <p:spPr>
          <a:xfrm>
            <a:off x="609600" y="2552700"/>
            <a:ext cx="3048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EEG non-stationarity</a:t>
            </a:r>
          </a:p>
          <a:p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CSE rationale</a:t>
            </a:r>
          </a:p>
          <a:p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2A and 2B data roles</a:t>
            </a:r>
          </a:p>
          <a:p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FBCSP fitting boundary</a:t>
            </a:r>
          </a:p>
          <a:p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Detector stages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D0AF876-13D6-4BD8-A726-33D988E0E5A1}"/>
              </a:ext>
            </a:extLst>
          </p:cNvPr>
          <p:cNvSpPr>
            <a:spLocks noGrp="1"/>
          </p:cNvSpPr>
          <p:nvPr/>
        </p:nvSpPr>
        <p:spPr>
          <a:xfrm>
            <a:off x="4133850" y="1790700"/>
            <a:ext cx="3048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F5B942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F5B942"/>
                </a:solidFill>
                <a:latin typeface="DejaVu Sans"/>
                <a:ea typeface="DejaVu Sans"/>
                <a:cs typeface="DejaVu Sans"/>
              </a:rPr>
              <a:t>Method audit</a:t>
            </a:r>
          </a:p>
        </p:txBody>
      </p:sp>
      <p:sp>
        <p:nvSpPr>
          <p:cNvPr id="8" name="Straight Connector 7">
            <a:extLst>
              <a:ext uri="{FF2B5EF4-FFF2-40B4-BE49-F238E27FC236}">
                <a16:creationId xmlns:a16="http://schemas.microsoft.com/office/drawing/2014/main" id="{55EA8BD3-880D-46AD-9312-AE0EBFF4CE79}"/>
              </a:ext>
            </a:extLst>
          </p:cNvPr>
          <p:cNvSpPr>
            <a:spLocks noGrp="1"/>
          </p:cNvSpPr>
          <p:nvPr/>
        </p:nvSpPr>
        <p:spPr>
          <a:xfrm>
            <a:off x="4133850" y="2266950"/>
            <a:ext cx="3048000" cy="0"/>
          </a:xfrm>
          <a:prstGeom prst="line">
            <a:avLst/>
          </a:prstGeom>
          <a:noFill/>
          <a:ln w="47625">
            <a:solidFill>
              <a:srgbClr val="F5B942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7D71A6D-529B-4C3D-B747-A5F59E6E5FC4}"/>
              </a:ext>
            </a:extLst>
          </p:cNvPr>
          <p:cNvSpPr>
            <a:spLocks noGrp="1"/>
          </p:cNvSpPr>
          <p:nvPr/>
        </p:nvSpPr>
        <p:spPr>
          <a:xfrm>
            <a:off x="4133850" y="2552700"/>
            <a:ext cx="3048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PCA dimension</a:t>
            </a:r>
          </a:p>
          <a:p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EWMA variance updates</a:t>
            </a:r>
          </a:p>
          <a:p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Control limits</a:t>
            </a:r>
          </a:p>
          <a:p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Stage-II window eligibility</a:t>
            </a:r>
          </a:p>
          <a:p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Configuration provenance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50CA87D-0D93-4568-9357-BF44E8EF64BB}"/>
              </a:ext>
            </a:extLst>
          </p:cNvPr>
          <p:cNvSpPr>
            <a:spLocks noGrp="1"/>
          </p:cNvSpPr>
          <p:nvPr/>
        </p:nvSpPr>
        <p:spPr>
          <a:xfrm>
            <a:off x="7658100" y="1790700"/>
            <a:ext cx="3048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725" b="1">
                <a:solidFill>
                  <a:srgbClr val="F07178"/>
                </a:solidFill>
                <a:latin typeface="DejaVu Sans"/>
                <a:ea typeface="DejaVu Sans"/>
                <a:cs typeface="DejaVu Sans"/>
              </a:defRPr>
            </a:pPr>
            <a:r>
              <a:rPr sz="1725" b="1">
                <a:solidFill>
                  <a:srgbClr val="F07178"/>
                </a:solidFill>
                <a:latin typeface="DejaVu Sans"/>
                <a:ea typeface="DejaVu Sans"/>
                <a:cs typeface="DejaVu Sans"/>
              </a:rPr>
              <a:t>Next evidence</a:t>
            </a:r>
          </a:p>
        </p:txBody>
      </p:sp>
      <p:sp>
        <p:nvSpPr>
          <p:cNvPr id="11" name="Straight Connector 10">
            <a:extLst>
              <a:ext uri="{FF2B5EF4-FFF2-40B4-BE49-F238E27FC236}">
                <a16:creationId xmlns:a16="http://schemas.microsoft.com/office/drawing/2014/main" id="{893686EC-B82B-429F-90B0-A4C2F5D68238}"/>
              </a:ext>
            </a:extLst>
          </p:cNvPr>
          <p:cNvSpPr>
            <a:spLocks noGrp="1"/>
          </p:cNvSpPr>
          <p:nvPr/>
        </p:nvSpPr>
        <p:spPr>
          <a:xfrm>
            <a:off x="7658100" y="2266950"/>
            <a:ext cx="3048000" cy="0"/>
          </a:xfrm>
          <a:prstGeom prst="line">
            <a:avLst/>
          </a:prstGeom>
          <a:noFill/>
          <a:ln w="47625">
            <a:solidFill>
              <a:srgbClr val="F07178"/>
            </a:solidFill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2F1C060-C217-4890-A9D2-ADA75D697F07}"/>
              </a:ext>
            </a:extLst>
          </p:cNvPr>
          <p:cNvSpPr>
            <a:spLocks noGrp="1"/>
          </p:cNvSpPr>
          <p:nvPr/>
        </p:nvSpPr>
        <p:spPr>
          <a:xfrm>
            <a:off x="7658100" y="2552700"/>
            <a:ext cx="3048000" cy="2286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Configuration-locked counts</a:t>
            </a:r>
          </a:p>
          <a:p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Subject-level comparison</a:t>
            </a:r>
          </a:p>
          <a:p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Classifier benchmark results</a:t>
            </a:r>
          </a:p>
          <a:p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Error and delay trade-offs</a:t>
            </a:r>
          </a:p>
          <a:p>
            <a:pPr algn="l">
              <a:buNone/>
              <a:def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Selective adaptation criteria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251CEAA-F8F5-42CE-ABA3-B9E4D7243892}"/>
              </a:ext>
            </a:extLst>
          </p:cNvPr>
          <p:cNvSpPr>
            <a:spLocks noGrp="1"/>
          </p:cNvSpPr>
          <p:nvPr/>
        </p:nvSpPr>
        <p:spPr>
          <a:xfrm>
            <a:off x="609600" y="5191125"/>
            <a:ext cx="10096500" cy="647700"/>
          </a:xfrm>
          <a:prstGeom prst="roundRect">
            <a:avLst>
              <a:gd name="adj" fmla="val 14706"/>
            </a:avLst>
          </a:prstGeom>
          <a:solidFill>
            <a:srgbClr val="0F1C2B"/>
          </a:solidFill>
          <a:ln w="9525">
            <a:solidFill>
              <a:srgbClr val="294057"/>
            </a:solidFill>
            <a:prstDash val="solid"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EB26C4-B90D-43F1-B6CF-61E12A7E49BB}"/>
              </a:ext>
            </a:extLst>
          </p:cNvPr>
          <p:cNvSpPr>
            <a:spLocks noGrp="1"/>
          </p:cNvSpPr>
          <p:nvPr/>
        </p:nvSpPr>
        <p:spPr>
          <a:xfrm>
            <a:off x="800100" y="5381625"/>
            <a:ext cx="2000250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Current claim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5ECF7B-62D0-41B8-A889-B455D227A1F1}"/>
              </a:ext>
            </a:extLst>
          </p:cNvPr>
          <p:cNvSpPr>
            <a:spLocks noGrp="1"/>
          </p:cNvSpPr>
          <p:nvPr/>
        </p:nvSpPr>
        <p:spPr>
          <a:xfrm>
            <a:off x="2952750" y="5286375"/>
            <a:ext cx="7524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2593" lnSpcReduction="10000"/>
          </a:bodyPr>
          <a:lstStyle/>
          <a:p>
            <a:pPr algn="l">
              <a:buNone/>
              <a:defRPr sz="135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35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Auditable CSE reconstruction with a separate classifier benchmark; numerical agreement remains to be established.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D3A75AB-491C-4D94-BB99-C282ABB21604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4095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hlin863/ewma_covariate_shift_demo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6C0CBE6-7E9C-4BAF-BC9C-CE87E40A0E23}"/>
              </a:ext>
            </a:extLst>
          </p:cNvPr>
          <p:cNvSpPr>
            <a:spLocks noGrp="1"/>
          </p:cNvSpPr>
          <p:nvPr/>
        </p:nvSpPr>
        <p:spPr>
          <a:xfrm>
            <a:off x="11049000" y="651510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01070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1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21792" y="484632"/>
            <a:ext cx="4023360" cy="201168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 algn="l"/>
            <a:r>
              <a:rPr sz="1050" b="1">
                <a:solidFill>
                  <a:srgbClr val="35D0C2"/>
                </a:solidFill>
                <a:latin typeface="Aptos"/>
              </a:rPr>
              <a:t>DATA PROTOCOL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04672"/>
            <a:ext cx="10789920" cy="50292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 algn="l"/>
            <a:r>
              <a:rPr sz="2950" b="1">
                <a:solidFill>
                  <a:srgbClr val="EEF4FF"/>
                </a:solidFill>
                <a:latin typeface="Aptos"/>
              </a:rPr>
              <a:t>Dataset roles and current evidence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1344168"/>
            <a:ext cx="10789920" cy="256032"/>
          </a:xfrm>
          <a:prstGeom prst="rect">
            <a:avLst/>
          </a:prstGeom>
          <a:noFill/>
        </p:spPr>
        <p:txBody>
          <a:bodyPr wrap="square" lIns="36576" tIns="18288" rIns="36576" bIns="18288">
            <a:normAutofit lnSpcReduction="10000"/>
          </a:bodyPr>
          <a:lstStyle/>
          <a:p>
            <a:pPr algn="l"/>
            <a:r>
              <a:rPr sz="1450" b="0">
                <a:solidFill>
                  <a:srgbClr val="AFC0D2"/>
                </a:solidFill>
                <a:latin typeface="Aptos"/>
              </a:rPr>
              <a:t>Where each dataset sits in the reconstruction, benchmark, and next-stage audit.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554480"/>
            <a:ext cx="10972800" cy="22860"/>
          </a:xfrm>
          <a:prstGeom prst="rect">
            <a:avLst/>
          </a:prstGeom>
          <a:solidFill>
            <a:srgbClr val="35D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21792" y="1755648"/>
            <a:ext cx="1417320" cy="402336"/>
          </a:xfrm>
          <a:prstGeom prst="rect">
            <a:avLst/>
          </a:prstGeom>
          <a:solidFill>
            <a:srgbClr val="102A40"/>
          </a:solidFill>
          <a:ln w="7620">
            <a:solidFill>
              <a:srgbClr val="0410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94944" y="1828800"/>
            <a:ext cx="1271016" cy="2926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rmAutofit/>
          </a:bodyPr>
          <a:lstStyle/>
          <a:p>
            <a:pPr algn="l"/>
            <a:r>
              <a:rPr sz="1060" b="1">
                <a:solidFill>
                  <a:srgbClr val="35D0C2"/>
                </a:solidFill>
                <a:latin typeface="Aptos"/>
              </a:rPr>
              <a:t>Dataset</a:t>
            </a:r>
          </a:p>
        </p:txBody>
      </p:sp>
      <p:sp>
        <p:nvSpPr>
          <p:cNvPr id="9" name="Rectangle 8"/>
          <p:cNvSpPr/>
          <p:nvPr/>
        </p:nvSpPr>
        <p:spPr>
          <a:xfrm>
            <a:off x="2039112" y="1755648"/>
            <a:ext cx="2971800" cy="402336"/>
          </a:xfrm>
          <a:prstGeom prst="rect">
            <a:avLst/>
          </a:prstGeom>
          <a:solidFill>
            <a:srgbClr val="102A40"/>
          </a:solidFill>
          <a:ln w="7620">
            <a:solidFill>
              <a:srgbClr val="0410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112264" y="1828800"/>
            <a:ext cx="2825496" cy="2926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rmAutofit/>
          </a:bodyPr>
          <a:lstStyle/>
          <a:p>
            <a:pPr algn="l"/>
            <a:r>
              <a:rPr sz="1060" b="1">
                <a:solidFill>
                  <a:srgbClr val="35D0C2"/>
                </a:solidFill>
                <a:latin typeface="Aptos"/>
              </a:rPr>
              <a:t>Protocol role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10912" y="1755648"/>
            <a:ext cx="3429000" cy="402336"/>
          </a:xfrm>
          <a:prstGeom prst="rect">
            <a:avLst/>
          </a:prstGeom>
          <a:solidFill>
            <a:srgbClr val="102A40"/>
          </a:solidFill>
          <a:ln w="7620">
            <a:solidFill>
              <a:srgbClr val="0410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84064" y="1828800"/>
            <a:ext cx="3282696" cy="2926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rmAutofit/>
          </a:bodyPr>
          <a:lstStyle/>
          <a:p>
            <a:pPr algn="l"/>
            <a:r>
              <a:rPr sz="1060" b="1">
                <a:solidFill>
                  <a:srgbClr val="35D0C2"/>
                </a:solidFill>
                <a:latin typeface="Aptos"/>
              </a:rPr>
              <a:t>Current tracked evidence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39912" y="1755648"/>
            <a:ext cx="3154680" cy="402336"/>
          </a:xfrm>
          <a:prstGeom prst="rect">
            <a:avLst/>
          </a:prstGeom>
          <a:solidFill>
            <a:srgbClr val="102A40"/>
          </a:solidFill>
          <a:ln w="7620">
            <a:solidFill>
              <a:srgbClr val="0410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13064" y="1828800"/>
            <a:ext cx="3008376" cy="29260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rmAutofit/>
          </a:bodyPr>
          <a:lstStyle/>
          <a:p>
            <a:pPr algn="l"/>
            <a:r>
              <a:rPr sz="1060" b="1">
                <a:solidFill>
                  <a:srgbClr val="35D0C2"/>
                </a:solidFill>
                <a:latin typeface="Aptos"/>
              </a:rPr>
              <a:t>Progress signal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2157984"/>
            <a:ext cx="1417320" cy="749808"/>
          </a:xfrm>
          <a:prstGeom prst="rect">
            <a:avLst/>
          </a:prstGeom>
          <a:solidFill>
            <a:srgbClr val="0B1C2D"/>
          </a:solidFill>
          <a:ln w="7620">
            <a:solidFill>
              <a:srgbClr val="0410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21792" y="2157984"/>
            <a:ext cx="73152" cy="749808"/>
          </a:xfrm>
          <a:prstGeom prst="rect">
            <a:avLst/>
          </a:prstGeom>
          <a:solidFill>
            <a:srgbClr val="35D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68096" y="2322576"/>
            <a:ext cx="1188720" cy="521207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rmAutofit/>
          </a:bodyPr>
          <a:lstStyle/>
          <a:p>
            <a:pPr algn="l"/>
            <a:r>
              <a:rPr sz="1320" b="1">
                <a:solidFill>
                  <a:srgbClr val="EEF4FF"/>
                </a:solidFill>
                <a:latin typeface="Aptos"/>
              </a:rPr>
              <a:t>BCI IV 2A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39112" y="2157984"/>
            <a:ext cx="2971800" cy="749808"/>
          </a:xfrm>
          <a:prstGeom prst="rect">
            <a:avLst/>
          </a:prstGeom>
          <a:solidFill>
            <a:srgbClr val="0B1C2D"/>
          </a:solidFill>
          <a:ln w="7620">
            <a:solidFill>
              <a:srgbClr val="0410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130552" y="2258568"/>
            <a:ext cx="2788920" cy="58521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rmAutofit/>
          </a:bodyPr>
          <a:lstStyle/>
          <a:p>
            <a:pPr algn="l"/>
            <a:r>
              <a:rPr sz="1060" b="0">
                <a:solidFill>
                  <a:srgbClr val="EEF4FF"/>
                </a:solidFill>
                <a:latin typeface="Aptos"/>
              </a:rPr>
              <a:t>Session I: train / validation</a:t>
            </a:r>
            <a:br/>
            <a:r>
              <a:rPr sz="1060" b="0">
                <a:solidFill>
                  <a:srgbClr val="EEF4FF"/>
                </a:solidFill>
                <a:latin typeface="Aptos"/>
              </a:rPr>
              <a:t>Session II: held-out evaluation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10912" y="2157984"/>
            <a:ext cx="3429000" cy="749808"/>
          </a:xfrm>
          <a:prstGeom prst="rect">
            <a:avLst/>
          </a:prstGeom>
          <a:solidFill>
            <a:srgbClr val="0B1C2D"/>
          </a:solidFill>
          <a:ln w="7620">
            <a:solidFill>
              <a:srgbClr val="0410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102352" y="2258568"/>
            <a:ext cx="3246120" cy="58521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rmAutofit/>
          </a:bodyPr>
          <a:lstStyle/>
          <a:p>
            <a:pPr algn="l"/>
            <a:r>
              <a:rPr sz="1060" b="0">
                <a:solidFill>
                  <a:srgbClr val="EEF4FF"/>
                </a:solidFill>
                <a:latin typeface="Aptos"/>
              </a:rPr>
              <a:t>Table I warning / validation counts</a:t>
            </a:r>
            <a:br/>
            <a:r>
              <a:rPr sz="1060" b="0">
                <a:solidFill>
                  <a:srgbClr val="EEF4FF"/>
                </a:solidFill>
                <a:latin typeface="Aptos"/>
              </a:rPr>
              <a:t>Real BCI bagging benchmark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39912" y="2157984"/>
            <a:ext cx="3154680" cy="749808"/>
          </a:xfrm>
          <a:prstGeom prst="rect">
            <a:avLst/>
          </a:prstGeom>
          <a:solidFill>
            <a:srgbClr val="0B1C2D"/>
          </a:solidFill>
          <a:ln w="7620">
            <a:solidFill>
              <a:srgbClr val="0410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31352" y="2258568"/>
            <a:ext cx="2971800" cy="58521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rmAutofit/>
          </a:bodyPr>
          <a:lstStyle/>
          <a:p>
            <a:pPr algn="l"/>
            <a:r>
              <a:rPr sz="1060" b="0">
                <a:solidFill>
                  <a:srgbClr val="AFC0D2"/>
                </a:solidFill>
                <a:latin typeface="Aptos"/>
              </a:rPr>
              <a:t>Split boundary implemented</a:t>
            </a:r>
            <a:br/>
            <a:r>
              <a:rPr sz="1060" b="0">
                <a:solidFill>
                  <a:srgbClr val="AFC0D2"/>
                </a:solidFill>
                <a:latin typeface="Aptos"/>
              </a:rPr>
              <a:t>Numerical agreement still open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" y="2907791"/>
            <a:ext cx="1417320" cy="749808"/>
          </a:xfrm>
          <a:prstGeom prst="rect">
            <a:avLst/>
          </a:prstGeom>
          <a:solidFill>
            <a:srgbClr val="0D2135"/>
          </a:solidFill>
          <a:ln w="7620">
            <a:solidFill>
              <a:srgbClr val="0410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21792" y="2907791"/>
            <a:ext cx="73152" cy="749808"/>
          </a:xfrm>
          <a:prstGeom prst="rect">
            <a:avLst/>
          </a:prstGeom>
          <a:solidFill>
            <a:srgbClr val="4FA0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68096" y="3072384"/>
            <a:ext cx="1188720" cy="521207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rmAutofit/>
          </a:bodyPr>
          <a:lstStyle/>
          <a:p>
            <a:pPr algn="l"/>
            <a:r>
              <a:rPr sz="1320" b="1">
                <a:solidFill>
                  <a:srgbClr val="EEF4FF"/>
                </a:solidFill>
                <a:latin typeface="Aptos"/>
              </a:rPr>
              <a:t>BCI IV 2B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39112" y="2907791"/>
            <a:ext cx="2971800" cy="749808"/>
          </a:xfrm>
          <a:prstGeom prst="rect">
            <a:avLst/>
          </a:prstGeom>
          <a:solidFill>
            <a:srgbClr val="0D2135"/>
          </a:solidFill>
          <a:ln w="7620">
            <a:solidFill>
              <a:srgbClr val="0410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130552" y="3008375"/>
            <a:ext cx="2788920" cy="58521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rmAutofit/>
          </a:bodyPr>
          <a:lstStyle/>
          <a:p>
            <a:pPr algn="l"/>
            <a:r>
              <a:rPr sz="1060" b="0">
                <a:solidFill>
                  <a:srgbClr val="EEF4FF"/>
                </a:solidFill>
                <a:latin typeface="Aptos"/>
              </a:rPr>
              <a:t>Sessions I–III: development</a:t>
            </a:r>
            <a:br/>
            <a:r>
              <a:rPr sz="1060" b="0">
                <a:solidFill>
                  <a:srgbClr val="EEF4FF"/>
                </a:solidFill>
                <a:latin typeface="Aptos"/>
              </a:rPr>
              <a:t>Sessions IV–V: held-out evaluation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10912" y="2907791"/>
            <a:ext cx="3429000" cy="749808"/>
          </a:xfrm>
          <a:prstGeom prst="rect">
            <a:avLst/>
          </a:prstGeom>
          <a:solidFill>
            <a:srgbClr val="0D2135"/>
          </a:solidFill>
          <a:ln w="7620">
            <a:solidFill>
              <a:srgbClr val="0410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02352" y="3008375"/>
            <a:ext cx="3246120" cy="58521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rmAutofit/>
          </a:bodyPr>
          <a:lstStyle/>
          <a:p>
            <a:pPr algn="l"/>
            <a:r>
              <a:rPr sz="1060" b="0" dirty="0">
                <a:solidFill>
                  <a:srgbClr val="EEF4FF"/>
                </a:solidFill>
                <a:latin typeface="Aptos"/>
              </a:rPr>
              <a:t>Table I counts; L / variance sweep</a:t>
            </a:r>
            <a:br>
              <a:rPr dirty="0"/>
            </a:br>
            <a:r>
              <a:rPr sz="1060" b="0" dirty="0">
                <a:solidFill>
                  <a:srgbClr val="EEF4FF"/>
                </a:solidFill>
                <a:latin typeface="Aptos"/>
              </a:rPr>
              <a:t>Stage-I warning event trace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439912" y="2907791"/>
            <a:ext cx="3154680" cy="749808"/>
          </a:xfrm>
          <a:prstGeom prst="rect">
            <a:avLst/>
          </a:prstGeom>
          <a:solidFill>
            <a:srgbClr val="0D2135"/>
          </a:solidFill>
          <a:ln w="7620">
            <a:solidFill>
              <a:srgbClr val="0410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531352" y="3008375"/>
            <a:ext cx="2971800" cy="58521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rmAutofit/>
          </a:bodyPr>
          <a:lstStyle/>
          <a:p>
            <a:pPr algn="l"/>
            <a:r>
              <a:rPr sz="1060" b="0">
                <a:solidFill>
                  <a:srgbClr val="AFC0D2"/>
                </a:solidFill>
                <a:latin typeface="Aptos"/>
              </a:rPr>
              <a:t>Stage I close in places</a:t>
            </a:r>
            <a:br/>
            <a:r>
              <a:rPr sz="1060" b="0">
                <a:solidFill>
                  <a:srgbClr val="AFC0D2"/>
                </a:solidFill>
                <a:latin typeface="Aptos"/>
              </a:rPr>
              <a:t>Stage II gap under audit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1792" y="3657600"/>
            <a:ext cx="1417320" cy="749808"/>
          </a:xfrm>
          <a:prstGeom prst="rect">
            <a:avLst/>
          </a:prstGeom>
          <a:solidFill>
            <a:srgbClr val="0B1C2D"/>
          </a:solidFill>
          <a:ln w="7620">
            <a:solidFill>
              <a:srgbClr val="0410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21792" y="3657600"/>
            <a:ext cx="73152" cy="749808"/>
          </a:xfrm>
          <a:prstGeom prst="rect">
            <a:avLst/>
          </a:prstGeom>
          <a:solidFill>
            <a:srgbClr val="E4C6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68096" y="3822191"/>
            <a:ext cx="1188720" cy="521207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rmAutofit/>
          </a:bodyPr>
          <a:lstStyle/>
          <a:p>
            <a:pPr algn="l"/>
            <a:r>
              <a:rPr sz="1320" b="1">
                <a:solidFill>
                  <a:srgbClr val="EEF4FF"/>
                </a:solidFill>
                <a:latin typeface="Aptos"/>
              </a:rPr>
              <a:t>Synthetic D2/D3/D4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039112" y="3657600"/>
            <a:ext cx="2971800" cy="749808"/>
          </a:xfrm>
          <a:prstGeom prst="rect">
            <a:avLst/>
          </a:prstGeom>
          <a:solidFill>
            <a:srgbClr val="0B1C2D"/>
          </a:solidFill>
          <a:ln w="7620">
            <a:solidFill>
              <a:srgbClr val="0410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130552" y="3758184"/>
            <a:ext cx="2788920" cy="58521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rmAutofit/>
          </a:bodyPr>
          <a:lstStyle/>
          <a:p>
            <a:pPr algn="l"/>
            <a:r>
              <a:rPr sz="1060" b="0">
                <a:solidFill>
                  <a:srgbClr val="EEF4FF"/>
                </a:solidFill>
                <a:latin typeface="Aptos"/>
              </a:rPr>
              <a:t>Known-shift streams</a:t>
            </a:r>
            <a:br/>
            <a:r>
              <a:rPr sz="1060" b="0">
                <a:solidFill>
                  <a:srgbClr val="EEF4FF"/>
                </a:solidFill>
                <a:latin typeface="Aptos"/>
              </a:rPr>
              <a:t>Controlled detector checks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10912" y="3657600"/>
            <a:ext cx="3429000" cy="749808"/>
          </a:xfrm>
          <a:prstGeom prst="rect">
            <a:avLst/>
          </a:prstGeom>
          <a:solidFill>
            <a:srgbClr val="0B1C2D"/>
          </a:solidFill>
          <a:ln w="7620">
            <a:solidFill>
              <a:srgbClr val="0410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102352" y="3758184"/>
            <a:ext cx="3246120" cy="58521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rmAutofit/>
          </a:bodyPr>
          <a:lstStyle/>
          <a:p>
            <a:pPr algn="l"/>
            <a:r>
              <a:rPr sz="1060" b="0">
                <a:solidFill>
                  <a:srgbClr val="EEF4FF"/>
                </a:solidFill>
                <a:latin typeface="Aptos"/>
              </a:rPr>
              <a:t>Table III / IV traces</a:t>
            </a:r>
            <a:br/>
            <a:r>
              <a:rPr sz="1060" b="0">
                <a:solidFill>
                  <a:srgbClr val="EEF4FF"/>
                </a:solidFill>
                <a:latin typeface="Aptos"/>
              </a:rPr>
              <a:t>FP, FN, RCI and runtime comparisons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39912" y="3657600"/>
            <a:ext cx="3154680" cy="749808"/>
          </a:xfrm>
          <a:prstGeom prst="rect">
            <a:avLst/>
          </a:prstGeom>
          <a:solidFill>
            <a:srgbClr val="0B1C2D"/>
          </a:solidFill>
          <a:ln w="7620">
            <a:solidFill>
              <a:srgbClr val="0410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531352" y="3758184"/>
            <a:ext cx="2971800" cy="58521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rmAutofit/>
          </a:bodyPr>
          <a:lstStyle/>
          <a:p>
            <a:pPr algn="l"/>
            <a:r>
              <a:rPr sz="1060" b="0">
                <a:solidFill>
                  <a:srgbClr val="AFC0D2"/>
                </a:solidFill>
                <a:latin typeface="Aptos"/>
              </a:rPr>
              <a:t>Detector behaviour auditable</a:t>
            </a:r>
            <a:br/>
            <a:r>
              <a:rPr sz="1060" b="0">
                <a:solidFill>
                  <a:srgbClr val="AFC0D2"/>
                </a:solidFill>
                <a:latin typeface="Aptos"/>
              </a:rPr>
              <a:t>PCA / ICA branch active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" y="4407408"/>
            <a:ext cx="1417320" cy="749808"/>
          </a:xfrm>
          <a:prstGeom prst="rect">
            <a:avLst/>
          </a:prstGeom>
          <a:solidFill>
            <a:srgbClr val="0D2135"/>
          </a:solidFill>
          <a:ln w="7620">
            <a:solidFill>
              <a:srgbClr val="0410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21792" y="4407408"/>
            <a:ext cx="73152" cy="749808"/>
          </a:xfrm>
          <a:prstGeom prst="rect">
            <a:avLst/>
          </a:prstGeom>
          <a:solidFill>
            <a:srgbClr val="35D0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768096" y="4572000"/>
            <a:ext cx="1188720" cy="521207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rmAutofit/>
          </a:bodyPr>
          <a:lstStyle/>
          <a:p>
            <a:pPr algn="l"/>
            <a:r>
              <a:rPr sz="1320" b="1">
                <a:solidFill>
                  <a:srgbClr val="EEF4FF"/>
                </a:solidFill>
                <a:latin typeface="Aptos"/>
              </a:rPr>
              <a:t>Classifier benchmark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039112" y="4407408"/>
            <a:ext cx="2971800" cy="749808"/>
          </a:xfrm>
          <a:prstGeom prst="rect">
            <a:avLst/>
          </a:prstGeom>
          <a:solidFill>
            <a:srgbClr val="0D2135"/>
          </a:solidFill>
          <a:ln w="7620">
            <a:solidFill>
              <a:srgbClr val="0410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130552" y="4507992"/>
            <a:ext cx="2788920" cy="58521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rmAutofit/>
          </a:bodyPr>
          <a:lstStyle/>
          <a:p>
            <a:pPr algn="l"/>
            <a:r>
              <a:rPr sz="1060" b="0">
                <a:solidFill>
                  <a:srgbClr val="EEF4FF"/>
                </a:solidFill>
                <a:latin typeface="Aptos"/>
              </a:rPr>
              <a:t>Separate from CSE subsystem</a:t>
            </a:r>
            <a:br/>
            <a:r>
              <a:rPr sz="1060" b="0">
                <a:solidFill>
                  <a:srgbClr val="EEF4FF"/>
                </a:solidFill>
                <a:latin typeface="Aptos"/>
              </a:rPr>
              <a:t>Uses the same split discipline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10912" y="4407408"/>
            <a:ext cx="3429000" cy="749808"/>
          </a:xfrm>
          <a:prstGeom prst="rect">
            <a:avLst/>
          </a:prstGeom>
          <a:solidFill>
            <a:srgbClr val="0D2135"/>
          </a:solidFill>
          <a:ln w="7620">
            <a:solidFill>
              <a:srgbClr val="0410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102352" y="4507992"/>
            <a:ext cx="3246120" cy="58521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rmAutofit/>
          </a:bodyPr>
          <a:lstStyle/>
          <a:p>
            <a:pPr algn="l"/>
            <a:r>
              <a:rPr sz="1060" b="0">
                <a:solidFill>
                  <a:srgbClr val="EEF4FF"/>
                </a:solidFill>
                <a:latin typeface="Aptos"/>
              </a:rPr>
              <a:t>Single SVM versus bagged linear SVM</a:t>
            </a:r>
            <a:br/>
            <a:r>
              <a:rPr sz="1060" b="0">
                <a:solidFill>
                  <a:srgbClr val="EEF4FF"/>
                </a:solidFill>
                <a:latin typeface="Aptos"/>
              </a:rPr>
              <a:t>Subject-level held-out metrics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39912" y="4407408"/>
            <a:ext cx="3154680" cy="749808"/>
          </a:xfrm>
          <a:prstGeom prst="rect">
            <a:avLst/>
          </a:prstGeom>
          <a:solidFill>
            <a:srgbClr val="0D2135"/>
          </a:solidFill>
          <a:ln w="7620">
            <a:solidFill>
              <a:srgbClr val="0410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8531352" y="4507992"/>
            <a:ext cx="2971800" cy="585215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rmAutofit/>
          </a:bodyPr>
          <a:lstStyle/>
          <a:p>
            <a:pPr algn="l"/>
            <a:r>
              <a:rPr sz="1060" b="0">
                <a:solidFill>
                  <a:srgbClr val="AFC0D2"/>
                </a:solidFill>
                <a:latin typeface="Aptos"/>
              </a:rPr>
              <a:t>Benchmark running</a:t>
            </a:r>
            <a:br/>
            <a:r>
              <a:rPr sz="1060" b="0">
                <a:solidFill>
                  <a:srgbClr val="AFC0D2"/>
                </a:solidFill>
                <a:latin typeface="Aptos"/>
              </a:rPr>
              <a:t>Adaptive loop remains future work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21792" y="5413248"/>
            <a:ext cx="10972800" cy="566928"/>
          </a:xfrm>
          <a:prstGeom prst="roundRect">
            <a:avLst/>
          </a:prstGeom>
          <a:solidFill>
            <a:srgbClr val="102A40"/>
          </a:solidFill>
          <a:ln w="7620">
            <a:solidFill>
              <a:srgbClr val="2336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841248" y="5559552"/>
            <a:ext cx="1554480" cy="256032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rmAutofit/>
          </a:bodyPr>
          <a:lstStyle/>
          <a:p>
            <a:pPr algn="l"/>
            <a:r>
              <a:rPr sz="1120" b="1">
                <a:solidFill>
                  <a:srgbClr val="35D0C2"/>
                </a:solidFill>
                <a:latin typeface="Aptos"/>
              </a:rPr>
              <a:t>Shared rule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31720" y="5509260"/>
            <a:ext cx="8915400" cy="384048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normAutofit lnSpcReduction="10000"/>
          </a:bodyPr>
          <a:lstStyle/>
          <a:p>
            <a:pPr algn="l"/>
            <a:r>
              <a:rPr sz="1240" b="0" dirty="0">
                <a:solidFill>
                  <a:srgbClr val="EEF4FF"/>
                </a:solidFill>
                <a:latin typeface="Aptos"/>
              </a:rPr>
              <a:t>Evaluation trials do not enter feature-model fitting; each reported count should trace to dataset split, code path, and detector configuration.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1792" y="6464808"/>
            <a:ext cx="3840480" cy="18288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 algn="l"/>
            <a:r>
              <a:rPr sz="860" b="0">
                <a:solidFill>
                  <a:srgbClr val="AFC0D2"/>
                </a:solidFill>
                <a:latin typeface="Aptos"/>
              </a:rPr>
              <a:t>hlin863/ewma_covariate_shift_demo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30000" y="6464808"/>
            <a:ext cx="292608" cy="182880"/>
          </a:xfrm>
          <a:prstGeom prst="rect">
            <a:avLst/>
          </a:prstGeom>
          <a:noFill/>
        </p:spPr>
        <p:txBody>
          <a:bodyPr wrap="square" lIns="36576" tIns="18288" rIns="36576" bIns="18288">
            <a:normAutofit/>
          </a:bodyPr>
          <a:lstStyle/>
          <a:p>
            <a:pPr algn="r"/>
            <a:r>
              <a:rPr sz="950" b="1">
                <a:solidFill>
                  <a:srgbClr val="AFC0D2"/>
                </a:solidFill>
                <a:latin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443722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240E5E7D-C5A2-4E44-9F48-607BD6A5C5A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PROJECT TIMELINE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BAC0B4-B39A-4482-95EF-D4853F6A4C28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1049000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240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240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First-year objectives across twelve months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388DC5-D2F3-4DFC-BEBE-2C3AA555E256}"/>
              </a:ext>
            </a:extLst>
          </p:cNvPr>
          <p:cNvSpPr>
            <a:spLocks noGrp="1"/>
          </p:cNvSpPr>
          <p:nvPr/>
        </p:nvSpPr>
        <p:spPr>
          <a:xfrm>
            <a:off x="609600" y="1352550"/>
            <a:ext cx="10953750" cy="3048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1350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Proposed October 2026 to September 2027 schedule. Bars show planned work periods.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FFF46D4-5C7A-4DAB-80D9-8CE11351F7BA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523875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hlin863/ewma_covariate_shift_demo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0C3E7CB-BF47-4DA1-84C8-329232745D2F}"/>
              </a:ext>
            </a:extLst>
          </p:cNvPr>
          <p:cNvSpPr>
            <a:spLocks noGrp="1"/>
          </p:cNvSpPr>
          <p:nvPr/>
        </p:nvSpPr>
        <p:spPr>
          <a:xfrm>
            <a:off x="11430000" y="6515100"/>
            <a:ext cx="381000" cy="190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buNone/>
              <a:def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1" dirty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0</a:t>
            </a:r>
            <a:r>
              <a:rPr lang="en-US" sz="825" b="1" dirty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9</a:t>
            </a:r>
            <a:endParaRPr sz="825" b="1" dirty="0">
              <a:solidFill>
                <a:srgbClr val="9CB0C3"/>
              </a:solidFill>
              <a:latin typeface="DejaVu Sans"/>
              <a:ea typeface="DejaVu Sans"/>
              <a:cs typeface="DejaVu Sans"/>
            </a:endParaRPr>
          </a:p>
        </p:txBody>
      </p:sp>
      <p:graphicFrame>
        <p:nvGraphicFramePr>
          <p:cNvPr id="47" name="Table 46"/>
          <p:cNvGraphicFramePr/>
          <p:nvPr/>
        </p:nvGraphicFramePr>
        <p:xfrm>
          <a:off x="609600" y="1885950"/>
          <a:ext cx="10972800" cy="3810000"/>
        </p:xfrm>
        <a:graphic>
          <a:graphicData uri="http://schemas.openxmlformats.org/drawingml/2006/table">
            <a:tbl>
              <a:tblPr/>
              <a:tblGrid>
                <a:gridCol w="2905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5812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97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WORK PACKAGE</a:t>
                      </a:r>
                    </a:p>
                  </a:txBody>
                  <a:tcPr anchor="ctr">
                    <a:solidFill>
                      <a:srgbClr val="102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Oct</a:t>
                      </a:r>
                    </a:p>
                  </a:txBody>
                  <a:tcPr anchor="ctr">
                    <a:solidFill>
                      <a:srgbClr val="102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Nov</a:t>
                      </a:r>
                    </a:p>
                  </a:txBody>
                  <a:tcPr anchor="ctr">
                    <a:solidFill>
                      <a:srgbClr val="102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Dec</a:t>
                      </a:r>
                    </a:p>
                  </a:txBody>
                  <a:tcPr anchor="ctr">
                    <a:solidFill>
                      <a:srgbClr val="102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Jan</a:t>
                      </a:r>
                    </a:p>
                  </a:txBody>
                  <a:tcPr anchor="ctr">
                    <a:solidFill>
                      <a:srgbClr val="102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Feb</a:t>
                      </a:r>
                    </a:p>
                  </a:txBody>
                  <a:tcPr anchor="ctr">
                    <a:solidFill>
                      <a:srgbClr val="102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Mar</a:t>
                      </a:r>
                    </a:p>
                  </a:txBody>
                  <a:tcPr anchor="ctr">
                    <a:solidFill>
                      <a:srgbClr val="102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Apr</a:t>
                      </a:r>
                    </a:p>
                  </a:txBody>
                  <a:tcPr anchor="ctr">
                    <a:solidFill>
                      <a:srgbClr val="102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May</a:t>
                      </a:r>
                    </a:p>
                  </a:txBody>
                  <a:tcPr anchor="ctr">
                    <a:solidFill>
                      <a:srgbClr val="102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Jun</a:t>
                      </a:r>
                    </a:p>
                  </a:txBody>
                  <a:tcPr anchor="ctr">
                    <a:solidFill>
                      <a:srgbClr val="102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Jul</a:t>
                      </a:r>
                    </a:p>
                  </a:txBody>
                  <a:tcPr anchor="ctr">
                    <a:solidFill>
                      <a:srgbClr val="102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Aug</a:t>
                      </a:r>
                    </a:p>
                  </a:txBody>
                  <a:tcPr anchor="ctr">
                    <a:solidFill>
                      <a:srgbClr val="102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2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Sep</a:t>
                      </a:r>
                    </a:p>
                  </a:txBody>
                  <a:tcPr anchor="ctr">
                    <a:solidFill>
                      <a:srgbClr val="1025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1">
                          <a:solidFill>
                            <a:srgbClr val="2DD4BF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EXPECTED OUTPUT</a:t>
                      </a:r>
                    </a:p>
                  </a:txBody>
                  <a:tcPr anchor="ctr">
                    <a:solidFill>
                      <a:srgbClr val="1025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197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WP1  Theory and architecture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CPD, CL and twin design</a:t>
                      </a:r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Architecture specification</a:t>
                      </a:r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197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WP2  CPD benchmarking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EWMA, CUSUM, BOCPD, density ratios</a:t>
                      </a:r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4EA1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4EA1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4EA1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4EA1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Benchmark suite and report</a:t>
                      </a:r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197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WP3  Continual learning and sustainability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Replay, forgetting, energy costs</a:t>
                      </a:r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CL module and cost analysis</a:t>
                      </a:r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197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WP4  Digital twin co-evolution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Disagreement, joint updates, safety</a:t>
                      </a:r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4EA1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4EA1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4EA1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4EA1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4EA1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Twin framework and testbed</a:t>
                      </a:r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197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WP5  Cross-domain evaluation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BCI and photonic maintenance</a:t>
                      </a:r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2DD4B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Compare retraining and periodic updates</a:t>
                      </a:r>
                    </a:p>
                  </a:txBody>
                  <a:tcPr anchor="ctr">
                    <a:solidFill>
                      <a:srgbClr val="0B1A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1975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WP6  Synthesis and engagement</a:t>
                      </a:r>
                    </a:p>
                    <a:p>
                      <a:pPr algn="l"/>
                      <a:r>
                        <a:rPr sz="1050" b="1">
                          <a:solidFill>
                            <a:srgbClr val="EAF2F8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Manuscripts, release, stakeholders</a:t>
                      </a:r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4EA1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4EA1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solidFill>
                      <a:srgbClr val="4EA1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75" b="0">
                          <a:solidFill>
                            <a:srgbClr val="B9CAD9"/>
                          </a:solidFill>
                          <a:latin typeface="DejaVu Sans"/>
                          <a:ea typeface="DejaVu Sans"/>
                          <a:cs typeface="DejaVu Sans"/>
                        </a:rPr>
                        <a:t>Submissions and adoption roadmap</a:t>
                      </a:r>
                    </a:p>
                  </a:txBody>
                  <a:tcPr anchor="ctr">
                    <a:solidFill>
                      <a:srgbClr val="0E20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265544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912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94EAA4EB-FEBD-4901-8CC9-064ECD7B5C84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7150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NEXT MILESTONE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1DF3786-B3B6-40B4-B840-DDCC9E669D6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10953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2550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Lock configurations and trace each result</a:t>
            </a:r>
          </a:p>
        </p:txBody>
      </p:sp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1B0D9617-62FF-4524-A142-960C9B3CBDAD}"/>
              </a:ext>
            </a:extLst>
          </p:cNvPr>
          <p:cNvSpPr>
            <a:spLocks noGrp="1"/>
          </p:cNvSpPr>
          <p:nvPr/>
        </p:nvSpPr>
        <p:spPr>
          <a:xfrm>
            <a:off x="609600" y="1371600"/>
            <a:ext cx="10972800" cy="0"/>
          </a:xfrm>
          <a:prstGeom prst="line">
            <a:avLst/>
          </a:prstGeom>
          <a:noFill/>
          <a:ln w="19050">
            <a:solidFill>
              <a:srgbClr val="294057"/>
            </a:solidFill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C0511BD-9D7E-4AEC-8682-1E59C4CE78DD}"/>
              </a:ext>
            </a:extLst>
          </p:cNvPr>
          <p:cNvSpPr>
            <a:spLocks noGrp="1"/>
          </p:cNvSpPr>
          <p:nvPr/>
        </p:nvSpPr>
        <p:spPr>
          <a:xfrm>
            <a:off x="609600" y="1714500"/>
            <a:ext cx="4953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2DD4BF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2DD4BF"/>
                </a:solidFill>
                <a:latin typeface="DejaVu Sans"/>
                <a:ea typeface="DejaVu Sans"/>
                <a:cs typeface="DejaVu Sans"/>
              </a:rPr>
              <a:t>Evidence to complete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A9A73B-CBBB-4D35-8A11-E8BAD2EC47AA}"/>
              </a:ext>
            </a:extLst>
          </p:cNvPr>
          <p:cNvSpPr>
            <a:spLocks noGrp="1"/>
          </p:cNvSpPr>
          <p:nvPr/>
        </p:nvSpPr>
        <p:spPr>
          <a:xfrm>
            <a:off x="609600" y="2247900"/>
            <a:ext cx="4953000" cy="1790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425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Record train, validation and evaluation provenance</a:t>
            </a:r>
          </a:p>
          <a:p>
            <a:pPr algn="l">
              <a:buNone/>
              <a:defRPr sz="1425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Fix PCA, λ, and control-limit settings</a:t>
            </a:r>
          </a:p>
          <a:p>
            <a:pPr algn="l">
              <a:buNone/>
              <a:defRPr sz="1425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Report warnings and confirmations by subject</a:t>
            </a:r>
          </a:p>
          <a:p>
            <a:pPr algn="l">
              <a:buNone/>
              <a:defRPr sz="1425" b="0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0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Compare classifier strategies on held-out data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62312C-EF52-41A1-8BA5-12CA8185F3DE}"/>
              </a:ext>
            </a:extLst>
          </p:cNvPr>
          <p:cNvSpPr>
            <a:spLocks noGrp="1"/>
          </p:cNvSpPr>
          <p:nvPr/>
        </p:nvSpPr>
        <p:spPr>
          <a:xfrm>
            <a:off x="6572250" y="1714500"/>
            <a:ext cx="4095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800" b="1">
                <a:solidFill>
                  <a:srgbClr val="F5B942"/>
                </a:solidFill>
                <a:latin typeface="DejaVu Sans"/>
                <a:ea typeface="DejaVu Sans"/>
                <a:cs typeface="DejaVu Sans"/>
              </a:defRPr>
            </a:pPr>
            <a:r>
              <a:rPr sz="1800" b="1">
                <a:solidFill>
                  <a:srgbClr val="F5B942"/>
                </a:solidFill>
                <a:latin typeface="DejaVu Sans"/>
                <a:ea typeface="DejaVu Sans"/>
                <a:cs typeface="DejaVu Sans"/>
              </a:rPr>
              <a:t>Next manuscript result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FB67F24-51CF-4578-91D9-84921A93DE3F}"/>
              </a:ext>
            </a:extLst>
          </p:cNvPr>
          <p:cNvSpPr>
            <a:spLocks noGrp="1"/>
          </p:cNvSpPr>
          <p:nvPr/>
        </p:nvSpPr>
        <p:spPr>
          <a:xfrm>
            <a:off x="6572250" y="2247900"/>
            <a:ext cx="447675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83333" lnSpcReduction="10000"/>
          </a:bodyPr>
          <a:lstStyle/>
          <a:p>
            <a:pPr algn="l">
              <a:buNone/>
              <a:defRPr sz="18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8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Configuration-locked reproduction table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55B8B96-1541-469B-A908-010D60F4DD2D}"/>
              </a:ext>
            </a:extLst>
          </p:cNvPr>
          <p:cNvSpPr>
            <a:spLocks noGrp="1"/>
          </p:cNvSpPr>
          <p:nvPr/>
        </p:nvSpPr>
        <p:spPr>
          <a:xfrm>
            <a:off x="5905500" y="3143250"/>
            <a:ext cx="1047750" cy="704850"/>
          </a:xfrm>
          <a:prstGeom prst="roundRect">
            <a:avLst>
              <a:gd name="adj" fmla="val 13514"/>
            </a:avLst>
          </a:prstGeom>
          <a:solidFill>
            <a:srgbClr val="0F1C2B"/>
          </a:solidFill>
          <a:ln w="9525">
            <a:solidFill>
              <a:srgbClr val="294057"/>
            </a:solidFill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6A030A6-634D-4314-A7B1-52A5F3243F70}"/>
              </a:ext>
            </a:extLst>
          </p:cNvPr>
          <p:cNvSpPr>
            <a:spLocks noGrp="1"/>
          </p:cNvSpPr>
          <p:nvPr/>
        </p:nvSpPr>
        <p:spPr>
          <a:xfrm>
            <a:off x="5972175" y="3295650"/>
            <a:ext cx="914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9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Paper section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3EDC707-26E7-4D31-B629-54941EDE6F75}"/>
              </a:ext>
            </a:extLst>
          </p:cNvPr>
          <p:cNvSpPr>
            <a:spLocks noGrp="1"/>
          </p:cNvSpPr>
          <p:nvPr/>
        </p:nvSpPr>
        <p:spPr>
          <a:xfrm>
            <a:off x="7010400" y="3143250"/>
            <a:ext cx="1047750" cy="704850"/>
          </a:xfrm>
          <a:prstGeom prst="roundRect">
            <a:avLst>
              <a:gd name="adj" fmla="val 13514"/>
            </a:avLst>
          </a:prstGeom>
          <a:solidFill>
            <a:srgbClr val="0F1C2B"/>
          </a:solidFill>
          <a:ln w="9525">
            <a:solidFill>
              <a:srgbClr val="294057"/>
            </a:solidFill>
            <a:prstDash val="solid"/>
          </a:ln>
        </p:spPr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C61DDE-AB5D-4C86-A323-A6BFA4A9033E}"/>
              </a:ext>
            </a:extLst>
          </p:cNvPr>
          <p:cNvSpPr>
            <a:spLocks noGrp="1"/>
          </p:cNvSpPr>
          <p:nvPr/>
        </p:nvSpPr>
        <p:spPr>
          <a:xfrm>
            <a:off x="7077075" y="3295650"/>
            <a:ext cx="914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9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Method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3005D66-8086-4BB1-A37D-EE4F0C8D009F}"/>
              </a:ext>
            </a:extLst>
          </p:cNvPr>
          <p:cNvSpPr>
            <a:spLocks noGrp="1"/>
          </p:cNvSpPr>
          <p:nvPr/>
        </p:nvSpPr>
        <p:spPr>
          <a:xfrm>
            <a:off x="8115300" y="3143250"/>
            <a:ext cx="1047750" cy="704850"/>
          </a:xfrm>
          <a:prstGeom prst="roundRect">
            <a:avLst>
              <a:gd name="adj" fmla="val 13514"/>
            </a:avLst>
          </a:prstGeom>
          <a:solidFill>
            <a:srgbClr val="0F1C2B"/>
          </a:solidFill>
          <a:ln w="9525">
            <a:solidFill>
              <a:srgbClr val="294057"/>
            </a:solidFill>
            <a:prstDash val="solid"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518549-575C-4556-97A3-C688B1ED4633}"/>
              </a:ext>
            </a:extLst>
          </p:cNvPr>
          <p:cNvSpPr>
            <a:spLocks noGrp="1"/>
          </p:cNvSpPr>
          <p:nvPr/>
        </p:nvSpPr>
        <p:spPr>
          <a:xfrm>
            <a:off x="8181975" y="3295650"/>
            <a:ext cx="914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9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Code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0CC7966-A606-48D0-925F-B58F1AC75835}"/>
              </a:ext>
            </a:extLst>
          </p:cNvPr>
          <p:cNvSpPr>
            <a:spLocks noGrp="1"/>
          </p:cNvSpPr>
          <p:nvPr/>
        </p:nvSpPr>
        <p:spPr>
          <a:xfrm>
            <a:off x="9220200" y="3143250"/>
            <a:ext cx="1047750" cy="704850"/>
          </a:xfrm>
          <a:prstGeom prst="roundRect">
            <a:avLst>
              <a:gd name="adj" fmla="val 13514"/>
            </a:avLst>
          </a:prstGeom>
          <a:solidFill>
            <a:srgbClr val="0F1C2B"/>
          </a:solidFill>
          <a:ln w="9525">
            <a:solidFill>
              <a:srgbClr val="294057"/>
            </a:solidFill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D45FCF-68C4-49AD-839F-7B684DD6C0D3}"/>
              </a:ext>
            </a:extLst>
          </p:cNvPr>
          <p:cNvSpPr>
            <a:spLocks noGrp="1"/>
          </p:cNvSpPr>
          <p:nvPr/>
        </p:nvSpPr>
        <p:spPr>
          <a:xfrm>
            <a:off x="9286875" y="3295650"/>
            <a:ext cx="914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97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Experiment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8548B37-C182-4593-AC06-C504519B5FF7}"/>
              </a:ext>
            </a:extLst>
          </p:cNvPr>
          <p:cNvSpPr>
            <a:spLocks noGrp="1"/>
          </p:cNvSpPr>
          <p:nvPr/>
        </p:nvSpPr>
        <p:spPr>
          <a:xfrm>
            <a:off x="10325100" y="3143250"/>
            <a:ext cx="1047750" cy="704850"/>
          </a:xfrm>
          <a:prstGeom prst="roundRect">
            <a:avLst>
              <a:gd name="adj" fmla="val 13514"/>
            </a:avLst>
          </a:prstGeom>
          <a:solidFill>
            <a:srgbClr val="0F1C2B"/>
          </a:solidFill>
          <a:ln w="9525">
            <a:solidFill>
              <a:srgbClr val="64D98B"/>
            </a:solidFill>
            <a:prstDash val="solid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31466FF-846B-4992-ADB0-FCDFC6F5E081}"/>
              </a:ext>
            </a:extLst>
          </p:cNvPr>
          <p:cNvSpPr>
            <a:spLocks noGrp="1"/>
          </p:cNvSpPr>
          <p:nvPr/>
        </p:nvSpPr>
        <p:spPr>
          <a:xfrm>
            <a:off x="10391775" y="3295650"/>
            <a:ext cx="9144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  <a:defRPr sz="975" b="1">
                <a:solidFill>
                  <a:srgbClr val="64D98B"/>
                </a:solidFill>
                <a:latin typeface="DejaVu Sans"/>
                <a:ea typeface="DejaVu Sans"/>
                <a:cs typeface="DejaVu Sans"/>
              </a:defRPr>
            </a:pPr>
            <a:r>
              <a:rPr sz="975" b="1">
                <a:solidFill>
                  <a:srgbClr val="64D98B"/>
                </a:solidFill>
                <a:latin typeface="DejaVu Sans"/>
                <a:ea typeface="DejaVu Sans"/>
                <a:cs typeface="DejaVu Sans"/>
              </a:rPr>
              <a:t>Result</a:t>
            </a:r>
          </a:p>
        </p:txBody>
      </p:sp>
      <p:cxnSp>
        <p:nvCxnSpPr>
          <p:cNvPr id="86" name="Straight Arrow Connector 64"/>
          <p:cNvCxnSpPr>
            <a:stCxn id="8" idx="3"/>
            <a:endCxn id="10" idx="1"/>
          </p:cNvCxnSpPr>
          <p:nvPr/>
        </p:nvCxnSpPr>
        <p:spPr>
          <a:xfrm>
            <a:off x="6953250" y="3495675"/>
            <a:ext cx="57150" cy="0"/>
          </a:xfrm>
          <a:prstGeom prst="straightConnector1">
            <a:avLst/>
          </a:prstGeom>
          <a:ln w="19050">
            <a:solidFill>
              <a:srgbClr val="9CB0C3"/>
            </a:solidFill>
            <a:prstDash val="solid"/>
            <a:tailEnd type="triangle" w="sm" len="sm"/>
          </a:ln>
        </p:spPr>
      </p:cxnSp>
      <p:cxnSp>
        <p:nvCxnSpPr>
          <p:cNvPr id="87" name="Straight Arrow Connector 65"/>
          <p:cNvCxnSpPr>
            <a:stCxn id="10" idx="3"/>
            <a:endCxn id="12" idx="1"/>
          </p:cNvCxnSpPr>
          <p:nvPr/>
        </p:nvCxnSpPr>
        <p:spPr>
          <a:xfrm>
            <a:off x="8058150" y="3495675"/>
            <a:ext cx="57150" cy="0"/>
          </a:xfrm>
          <a:prstGeom prst="straightConnector1">
            <a:avLst/>
          </a:prstGeom>
          <a:ln w="19050">
            <a:solidFill>
              <a:srgbClr val="9CB0C3"/>
            </a:solidFill>
            <a:prstDash val="solid"/>
            <a:tailEnd type="triangle" w="sm" len="sm"/>
          </a:ln>
        </p:spPr>
      </p:cxnSp>
      <p:cxnSp>
        <p:nvCxnSpPr>
          <p:cNvPr id="88" name="Straight Arrow Connector 66"/>
          <p:cNvCxnSpPr>
            <a:stCxn id="12" idx="3"/>
            <a:endCxn id="14" idx="1"/>
          </p:cNvCxnSpPr>
          <p:nvPr/>
        </p:nvCxnSpPr>
        <p:spPr>
          <a:xfrm>
            <a:off x="9163050" y="3495675"/>
            <a:ext cx="57150" cy="0"/>
          </a:xfrm>
          <a:prstGeom prst="straightConnector1">
            <a:avLst/>
          </a:prstGeom>
          <a:ln w="19050">
            <a:solidFill>
              <a:srgbClr val="9CB0C3"/>
            </a:solidFill>
            <a:prstDash val="solid"/>
            <a:tailEnd type="triangle" w="sm" len="sm"/>
          </a:ln>
        </p:spPr>
      </p:cxnSp>
      <p:cxnSp>
        <p:nvCxnSpPr>
          <p:cNvPr id="89" name="Straight Arrow Connector 67"/>
          <p:cNvCxnSpPr>
            <a:stCxn id="14" idx="3"/>
            <a:endCxn id="16" idx="1"/>
          </p:cNvCxnSpPr>
          <p:nvPr/>
        </p:nvCxnSpPr>
        <p:spPr>
          <a:xfrm>
            <a:off x="10267950" y="3495675"/>
            <a:ext cx="57150" cy="0"/>
          </a:xfrm>
          <a:prstGeom prst="straightConnector1">
            <a:avLst/>
          </a:prstGeom>
          <a:ln w="19050">
            <a:solidFill>
              <a:srgbClr val="9CB0C3"/>
            </a:solidFill>
            <a:prstDash val="solid"/>
            <a:tailEnd type="triangle" w="sm" len="sm"/>
          </a:ln>
        </p:spPr>
      </p:cxn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E703C61-2B59-47C1-8645-665214A1877A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572750" cy="742950"/>
          </a:xfrm>
          <a:prstGeom prst="roundRect">
            <a:avLst>
              <a:gd name="adj" fmla="val 15385"/>
            </a:avLst>
          </a:prstGeom>
          <a:solidFill>
            <a:srgbClr val="0F1C2B"/>
          </a:solidFill>
          <a:ln w="9525">
            <a:solidFill>
              <a:srgbClr val="294057"/>
            </a:solidFill>
            <a:prstDash val="solid"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750DB69-2FBD-4FF2-826C-8509971FED4E}"/>
              </a:ext>
            </a:extLst>
          </p:cNvPr>
          <p:cNvSpPr>
            <a:spLocks noGrp="1"/>
          </p:cNvSpPr>
          <p:nvPr/>
        </p:nvSpPr>
        <p:spPr>
          <a:xfrm>
            <a:off x="819150" y="4953000"/>
            <a:ext cx="1809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1050" b="1">
                <a:solidFill>
                  <a:srgbClr val="F5B942"/>
                </a:solidFill>
                <a:latin typeface="DejaVu Sans"/>
                <a:ea typeface="DejaVu Sans"/>
                <a:cs typeface="DejaVu Sans"/>
              </a:defRPr>
            </a:pPr>
            <a:r>
              <a:rPr sz="1050" b="1">
                <a:solidFill>
                  <a:srgbClr val="F5B942"/>
                </a:solidFill>
                <a:latin typeface="DejaVu Sans"/>
                <a:ea typeface="DejaVu Sans"/>
                <a:cs typeface="DejaVu Sans"/>
              </a:rPr>
              <a:t>Immediate action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0D53AEE-FC43-4DB9-B2B1-4C9DA461F787}"/>
              </a:ext>
            </a:extLst>
          </p:cNvPr>
          <p:cNvSpPr>
            <a:spLocks noGrp="1"/>
          </p:cNvSpPr>
          <p:nvPr/>
        </p:nvSpPr>
        <p:spPr>
          <a:xfrm>
            <a:off x="2667000" y="4867275"/>
            <a:ext cx="81915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 fontScale="98684"/>
          </a:bodyPr>
          <a:lstStyle/>
          <a:p>
            <a:pPr algn="l">
              <a:buNone/>
              <a:def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defRPr>
            </a:pPr>
            <a:r>
              <a:rPr sz="1425" b="1">
                <a:solidFill>
                  <a:srgbClr val="EAF2F8"/>
                </a:solidFill>
                <a:latin typeface="DejaVu Sans"/>
                <a:ea typeface="DejaVu Sans"/>
                <a:cs typeface="DejaVu Sans"/>
              </a:rPr>
              <a:t>Link each reported count and benchmark result to its dataset split, code path and detector configuration.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9458723-FBFB-4B4E-87B4-4C298F154E19}"/>
              </a:ext>
            </a:extLst>
          </p:cNvPr>
          <p:cNvSpPr>
            <a:spLocks noGrp="1"/>
          </p:cNvSpPr>
          <p:nvPr/>
        </p:nvSpPr>
        <p:spPr>
          <a:xfrm>
            <a:off x="609600" y="6515100"/>
            <a:ext cx="409575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  <a:def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sz="825" b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hlin863/ewma_covariate_shift_demo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A4D4A7-FEA9-4B08-9513-6705B8A8BF93}"/>
              </a:ext>
            </a:extLst>
          </p:cNvPr>
          <p:cNvSpPr>
            <a:spLocks noGrp="1"/>
          </p:cNvSpPr>
          <p:nvPr/>
        </p:nvSpPr>
        <p:spPr>
          <a:xfrm>
            <a:off x="11049000" y="6515100"/>
            <a:ext cx="533400" cy="171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  <a:defRPr sz="825" b="1">
                <a:solidFill>
                  <a:srgbClr val="9CB0C3"/>
                </a:solidFill>
                <a:latin typeface="DejaVu Sans"/>
                <a:ea typeface="DejaVu Sans"/>
                <a:cs typeface="DejaVu Sans"/>
              </a:defRPr>
            </a:pPr>
            <a:r>
              <a:rPr lang="en-US" sz="825" b="1" dirty="0">
                <a:solidFill>
                  <a:srgbClr val="9CB0C3"/>
                </a:solidFill>
                <a:latin typeface="DejaVu Sans"/>
                <a:ea typeface="DejaVu Sans"/>
                <a:cs typeface="DejaVu Sans"/>
              </a:rPr>
              <a:t>10</a:t>
            </a:r>
            <a:endParaRPr sz="825" b="1" dirty="0">
              <a:solidFill>
                <a:srgbClr val="9CB0C3"/>
              </a:solidFill>
              <a:latin typeface="DejaVu Sans"/>
              <a:ea typeface="DejaVu Sans"/>
              <a:cs typeface="DejaVu Sans"/>
            </a:endParaRPr>
          </a:p>
        </p:txBody>
      </p:sp>
    </p:spTree>
    <p:extLst>
      <p:ext uri="{BB962C8B-B14F-4D97-AF65-F5344CB8AC3E}">
        <p14:creationId xmlns:p14="http://schemas.microsoft.com/office/powerpoint/2010/main" val="19033191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</TotalTime>
  <Words>1177</Words>
  <Application>Microsoft Office PowerPoint</Application>
  <DocSecurity>0</DocSecurity>
  <PresentationFormat>Widescreen</PresentationFormat>
  <Paragraphs>222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Calibri</vt:lpstr>
      <vt:lpstr>DejaVu Sans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Haocheng Lin</cp:lastModifiedBy>
  <cp:revision>13</cp:revision>
  <dcterms:created xsi:type="dcterms:W3CDTF">2026-09-28T11:03:11Z</dcterms:created>
  <dcterms:modified xsi:type="dcterms:W3CDTF">2026-09-30T08:55:57Z</dcterms:modified>
</cp:coreProperties>
</file>