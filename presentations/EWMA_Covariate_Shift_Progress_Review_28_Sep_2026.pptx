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 grounded in the author-supplied abstract (28 September 2026) and the source progress review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FB7A1BC-9F50-412C-AD08-6A0907BD5F8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5250" cy="495300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D122F1-24A1-464A-9263-EC7D882DFD91}"/>
              </a:ext>
            </a:extLst>
          </p:cNvPr>
          <p:cNvSpPr>
            <a:spLocks noGrp="1"/>
          </p:cNvSpPr>
          <p:nvPr/>
        </p:nvSpPr>
        <p:spPr>
          <a:xfrm>
            <a:off x="1047750" y="1047750"/>
            <a:ext cx="7239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0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EWMA Covariate</a:t>
            </a:r>
          </a:p>
          <a:p>
            <a:pPr algn="l">
              <a:buNone/>
              <a:defRPr sz="40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Shift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CA1C25-D797-45EF-8E63-B3F29F301C6D}"/>
              </a:ext>
            </a:extLst>
          </p:cNvPr>
          <p:cNvSpPr>
            <a:spLocks noGrp="1"/>
          </p:cNvSpPr>
          <p:nvPr/>
        </p:nvSpPr>
        <p:spPr>
          <a:xfrm>
            <a:off x="1066800" y="280035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Manuscript and implementation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AA9472-82BB-48BB-A352-5C29C535E8AC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723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Auditable CSE reconstruction for motor-imagery EEG</a:t>
            </a:r>
          </a:p>
          <a:p>
            <a:pPr algn="l">
              <a:buNone/>
              <a:defRPr sz="16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Writing, coding</a:t>
            </a:r>
            <a:r>
              <a:rPr lang="en-US" sz="1650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650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 and literature progress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9C5016-122B-4D29-A204-F4E2046D950A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28 September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B14461-27EF-40B7-8E78-A43C62DE7991}"/>
              </a:ext>
            </a:extLst>
          </p:cNvPr>
          <p:cNvSpPr>
            <a:spLocks noGrp="1"/>
          </p:cNvSpPr>
          <p:nvPr/>
        </p:nvSpPr>
        <p:spPr>
          <a:xfrm>
            <a:off x="1066800" y="54483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Scope: CSE subsystem and classifier benchmark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7DC29CC-1D2C-4B14-8435-1D09CBA58E14}"/>
              </a:ext>
            </a:extLst>
          </p:cNvPr>
          <p:cNvSpPr>
            <a:spLocks noGrp="1"/>
          </p:cNvSpPr>
          <p:nvPr/>
        </p:nvSpPr>
        <p:spPr>
          <a:xfrm flipV="1">
            <a:off x="8572500" y="1219200"/>
            <a:ext cx="647700" cy="40005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6F07650-6530-4543-9433-EA373012096E}"/>
              </a:ext>
            </a:extLst>
          </p:cNvPr>
          <p:cNvSpPr>
            <a:spLocks noGrp="1"/>
          </p:cNvSpPr>
          <p:nvPr/>
        </p:nvSpPr>
        <p:spPr>
          <a:xfrm>
            <a:off x="9220200" y="1219200"/>
            <a:ext cx="666750" cy="971550"/>
          </a:xfrm>
          <a:prstGeom prst="line">
            <a:avLst/>
          </a:prstGeom>
          <a:noFill/>
          <a:ln w="28575">
            <a:solidFill>
              <a:srgbClr val="4EA1FF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8903F61-9ED7-484C-8B3B-095EB461B443}"/>
              </a:ext>
            </a:extLst>
          </p:cNvPr>
          <p:cNvSpPr>
            <a:spLocks noGrp="1"/>
          </p:cNvSpPr>
          <p:nvPr/>
        </p:nvSpPr>
        <p:spPr>
          <a:xfrm flipV="1">
            <a:off x="9886950" y="1733550"/>
            <a:ext cx="628650" cy="45720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AA64371-039C-466E-916C-B117BEA3E6CC}"/>
              </a:ext>
            </a:extLst>
          </p:cNvPr>
          <p:cNvSpPr>
            <a:spLocks noGrp="1"/>
          </p:cNvSpPr>
          <p:nvPr/>
        </p:nvSpPr>
        <p:spPr>
          <a:xfrm>
            <a:off x="10515600" y="1733550"/>
            <a:ext cx="647700" cy="952500"/>
          </a:xfrm>
          <a:prstGeom prst="line">
            <a:avLst/>
          </a:prstGeom>
          <a:noFill/>
          <a:ln w="28575">
            <a:solidFill>
              <a:srgbClr val="4EA1FF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F7FE505-030C-432A-9D5C-E15B74B8AF64}"/>
              </a:ext>
            </a:extLst>
          </p:cNvPr>
          <p:cNvSpPr>
            <a:spLocks noGrp="1"/>
          </p:cNvSpPr>
          <p:nvPr/>
        </p:nvSpPr>
        <p:spPr>
          <a:xfrm flipH="1">
            <a:off x="10325100" y="2686050"/>
            <a:ext cx="838200" cy="70485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7BD7E3D-F20C-467A-8236-AACCFBA5D4B1}"/>
              </a:ext>
            </a:extLst>
          </p:cNvPr>
          <p:cNvSpPr>
            <a:spLocks noGrp="1"/>
          </p:cNvSpPr>
          <p:nvPr/>
        </p:nvSpPr>
        <p:spPr>
          <a:xfrm flipH="1" flipV="1">
            <a:off x="9353550" y="3009900"/>
            <a:ext cx="971550" cy="381000"/>
          </a:xfrm>
          <a:prstGeom prst="line">
            <a:avLst/>
          </a:prstGeom>
          <a:noFill/>
          <a:ln w="28575">
            <a:solidFill>
              <a:srgbClr val="4EA1FF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EA5F974-D9BE-4707-AFC1-1496231FD398}"/>
              </a:ext>
            </a:extLst>
          </p:cNvPr>
          <p:cNvSpPr>
            <a:spLocks noGrp="1"/>
          </p:cNvSpPr>
          <p:nvPr/>
        </p:nvSpPr>
        <p:spPr>
          <a:xfrm flipH="1">
            <a:off x="8686800" y="3009900"/>
            <a:ext cx="666750" cy="895350"/>
          </a:xfrm>
          <a:prstGeom prst="line">
            <a:avLst/>
          </a:prstGeom>
          <a:noFill/>
          <a:ln w="28575">
            <a:solidFill>
              <a:srgbClr val="2DD4BF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5E14B93-7F85-4455-8048-9406362F7CC7}"/>
              </a:ext>
            </a:extLst>
          </p:cNvPr>
          <p:cNvSpPr>
            <a:spLocks noGrp="1"/>
          </p:cNvSpPr>
          <p:nvPr/>
        </p:nvSpPr>
        <p:spPr>
          <a:xfrm>
            <a:off x="8515350" y="1562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680F17-AE51-430B-A782-B2D55F386D1F}"/>
              </a:ext>
            </a:extLst>
          </p:cNvPr>
          <p:cNvSpPr>
            <a:spLocks noGrp="1"/>
          </p:cNvSpPr>
          <p:nvPr/>
        </p:nvSpPr>
        <p:spPr>
          <a:xfrm>
            <a:off x="9163050" y="1162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67A00D-09BD-49C4-8743-4F50945C2B4B}"/>
              </a:ext>
            </a:extLst>
          </p:cNvPr>
          <p:cNvSpPr>
            <a:spLocks noGrp="1"/>
          </p:cNvSpPr>
          <p:nvPr/>
        </p:nvSpPr>
        <p:spPr>
          <a:xfrm>
            <a:off x="9829800" y="2133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D805D9-E3C8-4713-AE6D-B22F85B683A7}"/>
              </a:ext>
            </a:extLst>
          </p:cNvPr>
          <p:cNvSpPr>
            <a:spLocks noGrp="1"/>
          </p:cNvSpPr>
          <p:nvPr/>
        </p:nvSpPr>
        <p:spPr>
          <a:xfrm>
            <a:off x="10458450" y="1676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10B203-C9DC-4405-A7A9-21298EF454C6}"/>
              </a:ext>
            </a:extLst>
          </p:cNvPr>
          <p:cNvSpPr>
            <a:spLocks noGrp="1"/>
          </p:cNvSpPr>
          <p:nvPr/>
        </p:nvSpPr>
        <p:spPr>
          <a:xfrm>
            <a:off x="11106150" y="2628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4352F27-3D12-46B5-ADB7-7BD751194200}"/>
              </a:ext>
            </a:extLst>
          </p:cNvPr>
          <p:cNvSpPr>
            <a:spLocks noGrp="1"/>
          </p:cNvSpPr>
          <p:nvPr/>
        </p:nvSpPr>
        <p:spPr>
          <a:xfrm>
            <a:off x="10267950" y="3333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D7F06F-E0D5-49C1-A526-EC90A7866E18}"/>
              </a:ext>
            </a:extLst>
          </p:cNvPr>
          <p:cNvSpPr>
            <a:spLocks noGrp="1"/>
          </p:cNvSpPr>
          <p:nvPr/>
        </p:nvSpPr>
        <p:spPr>
          <a:xfrm>
            <a:off x="9296400" y="2952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6AAE89-9F53-45FB-91C5-CC373DD2AE64}"/>
              </a:ext>
            </a:extLst>
          </p:cNvPr>
          <p:cNvSpPr>
            <a:spLocks noGrp="1"/>
          </p:cNvSpPr>
          <p:nvPr/>
        </p:nvSpPr>
        <p:spPr>
          <a:xfrm>
            <a:off x="8629650" y="3848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13465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BC2B8F1-18B9-4945-BFFE-9CCB3FD6632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PROGRESS SNAPSHOT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11661D-9052-49DA-B402-934639008CF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Writing, code</a:t>
            </a:r>
            <a:r>
              <a:rPr lang="en-US" sz="2550" b="1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2550" b="1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 and literature now align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CCA5901-7295-4811-8038-7916C9D934F0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F1878A-14E8-4D79-946F-18CAA775C681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8096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6111"/>
          </a:bodyPr>
          <a:lstStyle/>
          <a:p>
            <a:pPr algn="l">
              <a:buNone/>
              <a:defRPr sz="22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The abstract defines a configuration-controlled CSE baseline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8F4EB-BF37-4DE7-BC90-3A6AE7BC7ACB}"/>
              </a:ext>
            </a:extLst>
          </p:cNvPr>
          <p:cNvSpPr>
            <a:spLocks noGrp="1"/>
          </p:cNvSpPr>
          <p:nvPr/>
        </p:nvSpPr>
        <p:spPr>
          <a:xfrm>
            <a:off x="609600" y="2486026"/>
            <a:ext cx="942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The detector, data boundaries</a:t>
            </a:r>
            <a:r>
              <a:rPr lang="en-US" sz="14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4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 and classifier benchmark are described separately with </a:t>
            </a:r>
            <a:r>
              <a:rPr lang="en-US" sz="14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an incoming </a:t>
            </a:r>
            <a:r>
              <a:rPr sz="14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full adaptive-learning loop.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9229B1-C09A-4F43-AD2F-5340A4205DA5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266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64D98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64D98B"/>
                </a:solidFill>
                <a:latin typeface="DejaVu Sans"/>
                <a:ea typeface="DejaVu Sans"/>
                <a:cs typeface="DejaVu Sans"/>
              </a:rPr>
              <a:t>2A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A868DD3-83BD-4184-B707-142373396464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2667000" cy="0"/>
          </a:xfrm>
          <a:prstGeom prst="line">
            <a:avLst/>
          </a:prstGeom>
          <a:noFill/>
          <a:ln w="47625">
            <a:solidFill>
              <a:srgbClr val="64D98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B497ED-56FB-4098-BF7B-0EDA46529131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Session I development</a:t>
            </a:r>
          </a:p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Session II held 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DEAC82-5ED2-4320-A49F-5FA6C294BA79}"/>
              </a:ext>
            </a:extLst>
          </p:cNvPr>
          <p:cNvSpPr>
            <a:spLocks noGrp="1"/>
          </p:cNvSpPr>
          <p:nvPr/>
        </p:nvSpPr>
        <p:spPr>
          <a:xfrm>
            <a:off x="4095750" y="3352800"/>
            <a:ext cx="266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4EA1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EA1FF"/>
                </a:solidFill>
                <a:latin typeface="DejaVu Sans"/>
                <a:ea typeface="DejaVu Sans"/>
                <a:cs typeface="DejaVu Sans"/>
              </a:rPr>
              <a:t>2B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F0C69DE-9945-424D-85E3-C85D56722F63}"/>
              </a:ext>
            </a:extLst>
          </p:cNvPr>
          <p:cNvSpPr>
            <a:spLocks noGrp="1"/>
          </p:cNvSpPr>
          <p:nvPr/>
        </p:nvSpPr>
        <p:spPr>
          <a:xfrm>
            <a:off x="4095750" y="4171950"/>
            <a:ext cx="2667000" cy="0"/>
          </a:xfrm>
          <a:prstGeom prst="line">
            <a:avLst/>
          </a:prstGeom>
          <a:noFill/>
          <a:ln w="47625">
            <a:solidFill>
              <a:srgbClr val="4EA1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65A4B9-4806-4A0D-9D15-A18D22D28C19}"/>
              </a:ext>
            </a:extLst>
          </p:cNvPr>
          <p:cNvSpPr>
            <a:spLocks noGrp="1"/>
          </p:cNvSpPr>
          <p:nvPr/>
        </p:nvSpPr>
        <p:spPr>
          <a:xfrm>
            <a:off x="4095750" y="436245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Sessions I–III development</a:t>
            </a:r>
          </a:p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Sessions IV–V held 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F64875-636B-46EB-9393-5788B975E374}"/>
              </a:ext>
            </a:extLst>
          </p:cNvPr>
          <p:cNvSpPr>
            <a:spLocks noGrp="1"/>
          </p:cNvSpPr>
          <p:nvPr/>
        </p:nvSpPr>
        <p:spPr>
          <a:xfrm>
            <a:off x="7581900" y="3352800"/>
            <a:ext cx="266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29578C5-8E1C-4718-BD61-44C2B40D3491}"/>
              </a:ext>
            </a:extLst>
          </p:cNvPr>
          <p:cNvSpPr>
            <a:spLocks noGrp="1"/>
          </p:cNvSpPr>
          <p:nvPr/>
        </p:nvSpPr>
        <p:spPr>
          <a:xfrm>
            <a:off x="7581900" y="4171950"/>
            <a:ext cx="2667000" cy="0"/>
          </a:xfrm>
          <a:prstGeom prst="line">
            <a:avLst/>
          </a:prstGeom>
          <a:noFill/>
          <a:ln w="47625">
            <a:solidFill>
              <a:srgbClr val="2DD4B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DD15D8-CAE4-4B08-8C2F-BC7B60878CA2}"/>
              </a:ext>
            </a:extLst>
          </p:cNvPr>
          <p:cNvSpPr>
            <a:spLocks noGrp="1"/>
          </p:cNvSpPr>
          <p:nvPr/>
        </p:nvSpPr>
        <p:spPr>
          <a:xfrm>
            <a:off x="7581900" y="436245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detector stages:</a:t>
            </a:r>
          </a:p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EWMA and Hotelling T²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488553-F45B-4FF1-A081-BE3236ACA1C2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Current maturity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5E1E5F8-1D28-4E29-9631-64C41F2B2F33}"/>
              </a:ext>
            </a:extLst>
          </p:cNvPr>
          <p:cNvSpPr>
            <a:spLocks noGrp="1"/>
          </p:cNvSpPr>
          <p:nvPr/>
        </p:nvSpPr>
        <p:spPr>
          <a:xfrm>
            <a:off x="2857500" y="5581650"/>
            <a:ext cx="7239000" cy="0"/>
          </a:xfrm>
          <a:prstGeom prst="line">
            <a:avLst/>
          </a:prstGeom>
          <a:noFill/>
          <a:ln w="76200">
            <a:solidFill>
              <a:srgbClr val="294057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49989D87-5AC9-490D-B5B2-269F48142E0B}"/>
              </a:ext>
            </a:extLst>
          </p:cNvPr>
          <p:cNvSpPr>
            <a:spLocks noGrp="1"/>
          </p:cNvSpPr>
          <p:nvPr/>
        </p:nvSpPr>
        <p:spPr>
          <a:xfrm>
            <a:off x="2857500" y="5581650"/>
            <a:ext cx="5476875" cy="0"/>
          </a:xfrm>
          <a:prstGeom prst="line">
            <a:avLst/>
          </a:prstGeom>
          <a:noFill/>
          <a:ln w="76200">
            <a:solidFill>
              <a:srgbClr val="2DD4BF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B6FE5F0-D115-4322-9E74-28246F7E442E}"/>
              </a:ext>
            </a:extLst>
          </p:cNvPr>
          <p:cNvSpPr>
            <a:spLocks noGrp="1"/>
          </p:cNvSpPr>
          <p:nvPr/>
        </p:nvSpPr>
        <p:spPr>
          <a:xfrm>
            <a:off x="8258175" y="55054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C826AB-809A-4F14-B9FE-5880AEAEB0D9}"/>
              </a:ext>
            </a:extLst>
          </p:cNvPr>
          <p:cNvSpPr>
            <a:spLocks noGrp="1"/>
          </p:cNvSpPr>
          <p:nvPr/>
        </p:nvSpPr>
        <p:spPr>
          <a:xfrm>
            <a:off x="8562975" y="50863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CSE reconstruction and method audit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9F4DC8-4D8E-490A-BBCF-F27362E8756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445EB6-2F24-48F3-965C-9A2925AC534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210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ED0F0C5-6845-4817-BDB0-68B77FB6880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6C294D-CD02-4989-878B-778A0AFD6CF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Reading informs the reconstruction and its limits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5952200-5E6E-468B-8B3A-4C220229AAB4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2AC98A-F2B5-41D3-A0B8-2FC04CE4AC64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9906000" cy="0"/>
          </a:xfrm>
          <a:prstGeom prst="line">
            <a:avLst/>
          </a:prstGeom>
          <a:noFill/>
          <a:ln w="47625">
            <a:solidFill>
              <a:srgbClr val="294057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0F15E2-E046-4F78-9DEE-0924199ED7FC}"/>
              </a:ext>
            </a:extLst>
          </p:cNvPr>
          <p:cNvSpPr>
            <a:spLocks noGrp="1"/>
          </p:cNvSpPr>
          <p:nvPr/>
        </p:nvSpPr>
        <p:spPr>
          <a:xfrm>
            <a:off x="1238250" y="3009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F8275-D142-4976-B9CE-AC1189FF3F56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4EA1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EA1FF"/>
                </a:solidFill>
                <a:latin typeface="DejaVu Sans"/>
                <a:ea typeface="DejaVu Sans"/>
                <a:cs typeface="DejaVu Sans"/>
              </a:rPr>
              <a:t>2015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3316C-A27B-4BBD-AA8B-E09882FD6172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Raza: detector basis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29DA93-D443-4AE2-A341-E0C200D5A253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EWMA warning logic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D2 reconstruction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6E4705-6593-4CAC-876E-EBF3C80A9C36}"/>
              </a:ext>
            </a:extLst>
          </p:cNvPr>
          <p:cNvSpPr>
            <a:spLocks noGrp="1"/>
          </p:cNvSpPr>
          <p:nvPr/>
        </p:nvSpPr>
        <p:spPr>
          <a:xfrm>
            <a:off x="3905250" y="3009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24A723-3CD5-48B0-89AA-D2F0E7EFAAD0}"/>
              </a:ext>
            </a:extLst>
          </p:cNvPr>
          <p:cNvSpPr>
            <a:spLocks noGrp="1"/>
          </p:cNvSpPr>
          <p:nvPr/>
        </p:nvSpPr>
        <p:spPr>
          <a:xfrm>
            <a:off x="3657600" y="201930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2018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815300-B5F2-4A41-ACCC-52F5F2A6DDE7}"/>
              </a:ext>
            </a:extLst>
          </p:cNvPr>
          <p:cNvSpPr>
            <a:spLocks noGrp="1"/>
          </p:cNvSpPr>
          <p:nvPr/>
        </p:nvSpPr>
        <p:spPr>
          <a:xfrm>
            <a:off x="3238500" y="242887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Chowdhury: online BCI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42545-4578-44F5-80CF-38F0769CAA90}"/>
              </a:ext>
            </a:extLst>
          </p:cNvPr>
          <p:cNvSpPr>
            <a:spLocks noGrp="1"/>
          </p:cNvSpPr>
          <p:nvPr/>
        </p:nvSpPr>
        <p:spPr>
          <a:xfrm>
            <a:off x="3238500" y="3562350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FBCSP setting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Cohort and feedback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4A2043-F901-4D00-BD49-C1083559860F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AB5777-D390-4DF4-AFD8-4999AC3FD30E}"/>
              </a:ext>
            </a:extLst>
          </p:cNvPr>
          <p:cNvSpPr>
            <a:spLocks noGrp="1"/>
          </p:cNvSpPr>
          <p:nvPr/>
        </p:nvSpPr>
        <p:spPr>
          <a:xfrm>
            <a:off x="6324600" y="201930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F5B94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B942"/>
                </a:solidFill>
                <a:latin typeface="DejaVu Sans"/>
                <a:ea typeface="DejaVu Sans"/>
                <a:cs typeface="DejaVu Sans"/>
              </a:rPr>
              <a:t>2019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414CB-02B1-41C4-A8EA-5B48624BABD1}"/>
              </a:ext>
            </a:extLst>
          </p:cNvPr>
          <p:cNvSpPr>
            <a:spLocks noGrp="1"/>
          </p:cNvSpPr>
          <p:nvPr/>
        </p:nvSpPr>
        <p:spPr>
          <a:xfrm>
            <a:off x="5905500" y="242887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Raza: CSE-UAEL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4F5BBC-F4DA-4621-BA7D-23F869B359D5}"/>
              </a:ext>
            </a:extLst>
          </p:cNvPr>
          <p:cNvSpPr>
            <a:spLocks noGrp="1"/>
          </p:cNvSpPr>
          <p:nvPr/>
        </p:nvSpPr>
        <p:spPr>
          <a:xfrm>
            <a:off x="5905500" y="3562350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Two-stage CSE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Adaptation context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1CE66C-8D1F-45A4-ADCD-66FB6EDD99F9}"/>
              </a:ext>
            </a:extLst>
          </p:cNvPr>
          <p:cNvSpPr>
            <a:spLocks noGrp="1"/>
          </p:cNvSpPr>
          <p:nvPr/>
        </p:nvSpPr>
        <p:spPr>
          <a:xfrm>
            <a:off x="9239250" y="30099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64D98B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E7A475-CDCA-424D-A222-FA271DE91E17}"/>
              </a:ext>
            </a:extLst>
          </p:cNvPr>
          <p:cNvSpPr>
            <a:spLocks noGrp="1"/>
          </p:cNvSpPr>
          <p:nvPr/>
        </p:nvSpPr>
        <p:spPr>
          <a:xfrm>
            <a:off x="8991600" y="2019300"/>
            <a:ext cx="114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64D98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64D98B"/>
                </a:solidFill>
                <a:latin typeface="DejaVu Sans"/>
                <a:ea typeface="DejaVu Sans"/>
                <a:cs typeface="DejaVu Sans"/>
              </a:rPr>
              <a:t>Related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A2A7A9-3216-4C86-B2EE-21E658798DE2}"/>
              </a:ext>
            </a:extLst>
          </p:cNvPr>
          <p:cNvSpPr>
            <a:spLocks noGrp="1"/>
          </p:cNvSpPr>
          <p:nvPr/>
        </p:nvSpPr>
        <p:spPr>
          <a:xfrm>
            <a:off x="8572500" y="242887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Rao and Heyden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5067DC-03F2-4010-AB52-596DC08C1CD3}"/>
              </a:ext>
            </a:extLst>
          </p:cNvPr>
          <p:cNvSpPr>
            <a:spLocks noGrp="1"/>
          </p:cNvSpPr>
          <p:nvPr/>
        </p:nvSpPr>
        <p:spPr>
          <a:xfrm>
            <a:off x="8572500" y="3562350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PCA interpretation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Change detection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3455E8-C60A-401F-AF94-B3849E580544}"/>
              </a:ext>
            </a:extLst>
          </p:cNvPr>
          <p:cNvSpPr>
            <a:spLocks noGrp="1"/>
          </p:cNvSpPr>
          <p:nvPr/>
        </p:nvSpPr>
        <p:spPr>
          <a:xfrm>
            <a:off x="1714500" y="521970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7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The literature review separates published detector methods from reconstruction choices and proposed extensions.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AD054A-77DD-438F-B1A2-CEAD38F2A1D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AF4919-C33C-49E3-9215-D84C4C44FE12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786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2CFBA0D-6112-421A-BC28-280695CB3CB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IMPLEMENTED PIPELINE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253F7-B0B1-4872-99CB-51F07E8BF15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CSE ends at validated shift evidence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DAD4E1-E0F7-4B44-8710-B2D906C687C3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33D50E-54B6-4BCD-9DDA-D5F7B88E127D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1952625" cy="1714500"/>
          </a:xfrm>
          <a:prstGeom prst="roundRect">
            <a:avLst>
              <a:gd name="adj" fmla="val 7778"/>
            </a:avLst>
          </a:prstGeom>
          <a:solidFill>
            <a:srgbClr val="0F1C2B"/>
          </a:solidFill>
          <a:ln w="9525">
            <a:solidFill>
              <a:srgbClr val="4EA1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6F5169-2F31-40E1-8E95-BD7D7D8A7A3D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1952625" cy="76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87917-756E-4DE7-A943-7B2E39CC3794}"/>
              </a:ext>
            </a:extLst>
          </p:cNvPr>
          <p:cNvSpPr>
            <a:spLocks noGrp="1"/>
          </p:cNvSpPr>
          <p:nvPr/>
        </p:nvSpPr>
        <p:spPr>
          <a:xfrm>
            <a:off x="695325" y="2647950"/>
            <a:ext cx="1609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BCI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0DD980-736E-4443-897A-07B160D9FC4E}"/>
              </a:ext>
            </a:extLst>
          </p:cNvPr>
          <p:cNvSpPr>
            <a:spLocks noGrp="1"/>
          </p:cNvSpPr>
          <p:nvPr/>
        </p:nvSpPr>
        <p:spPr>
          <a:xfrm>
            <a:off x="695325" y="3143250"/>
            <a:ext cx="16097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Cue-aligned trials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2A and 2B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1B088C-7DF6-4BC5-87B0-30AA61FFAE3B}"/>
              </a:ext>
            </a:extLst>
          </p:cNvPr>
          <p:cNvSpPr>
            <a:spLocks noGrp="1"/>
          </p:cNvSpPr>
          <p:nvPr/>
        </p:nvSpPr>
        <p:spPr>
          <a:xfrm>
            <a:off x="2857500" y="2333625"/>
            <a:ext cx="1952625" cy="1714500"/>
          </a:xfrm>
          <a:prstGeom prst="roundRect">
            <a:avLst>
              <a:gd name="adj" fmla="val 7778"/>
            </a:avLst>
          </a:prstGeom>
          <a:solidFill>
            <a:srgbClr val="0F1C2B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0761D9-BC45-4001-89F9-1CB9667564A6}"/>
              </a:ext>
            </a:extLst>
          </p:cNvPr>
          <p:cNvSpPr>
            <a:spLocks noGrp="1"/>
          </p:cNvSpPr>
          <p:nvPr/>
        </p:nvSpPr>
        <p:spPr>
          <a:xfrm>
            <a:off x="2857500" y="2333625"/>
            <a:ext cx="1952625" cy="76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08D3D-4808-409C-8F24-1069D4701E73}"/>
              </a:ext>
            </a:extLst>
          </p:cNvPr>
          <p:cNvSpPr>
            <a:spLocks noGrp="1"/>
          </p:cNvSpPr>
          <p:nvPr/>
        </p:nvSpPr>
        <p:spPr>
          <a:xfrm>
            <a:off x="3028950" y="2647950"/>
            <a:ext cx="1609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74561"/>
          </a:bodyPr>
          <a:lstStyle/>
          <a:p>
            <a:pPr algn="ctr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Signal representation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417B5-D9AC-4E94-A11E-0D416955D595}"/>
              </a:ext>
            </a:extLst>
          </p:cNvPr>
          <p:cNvSpPr>
            <a:spLocks noGrp="1"/>
          </p:cNvSpPr>
          <p:nvPr/>
        </p:nvSpPr>
        <p:spPr>
          <a:xfrm>
            <a:off x="3028950" y="3143250"/>
            <a:ext cx="16097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10-band FBCSP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PCA scores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ADF653-1DF6-40D3-B03A-CC413A5E7CA5}"/>
              </a:ext>
            </a:extLst>
          </p:cNvPr>
          <p:cNvSpPr>
            <a:spLocks noGrp="1"/>
          </p:cNvSpPr>
          <p:nvPr/>
        </p:nvSpPr>
        <p:spPr>
          <a:xfrm>
            <a:off x="5191125" y="2333625"/>
            <a:ext cx="1952625" cy="1714500"/>
          </a:xfrm>
          <a:prstGeom prst="roundRect">
            <a:avLst>
              <a:gd name="adj" fmla="val 7778"/>
            </a:avLst>
          </a:prstGeom>
          <a:solidFill>
            <a:srgbClr val="0F1C2B"/>
          </a:solidFill>
          <a:ln w="9525">
            <a:solidFill>
              <a:srgbClr val="4EA1FF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57ED36-0B70-43AC-932E-9A8FA68D1A60}"/>
              </a:ext>
            </a:extLst>
          </p:cNvPr>
          <p:cNvSpPr>
            <a:spLocks noGrp="1"/>
          </p:cNvSpPr>
          <p:nvPr/>
        </p:nvSpPr>
        <p:spPr>
          <a:xfrm>
            <a:off x="5191125" y="2333625"/>
            <a:ext cx="1952625" cy="76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2B680-B357-4457-87CB-CEB0C6360E38}"/>
              </a:ext>
            </a:extLst>
          </p:cNvPr>
          <p:cNvSpPr>
            <a:spLocks noGrp="1"/>
          </p:cNvSpPr>
          <p:nvPr/>
        </p:nvSpPr>
        <p:spPr>
          <a:xfrm>
            <a:off x="5362575" y="2647950"/>
            <a:ext cx="1609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Stage 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6B272C-9671-42CF-A33C-8FD98C50470F}"/>
              </a:ext>
            </a:extLst>
          </p:cNvPr>
          <p:cNvSpPr>
            <a:spLocks noGrp="1"/>
          </p:cNvSpPr>
          <p:nvPr/>
        </p:nvSpPr>
        <p:spPr>
          <a:xfrm>
            <a:off x="5362575" y="3143250"/>
            <a:ext cx="16097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EWMA candidate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warnings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E7FE36-87E0-4AB6-A7C1-4B48092CF03C}"/>
              </a:ext>
            </a:extLst>
          </p:cNvPr>
          <p:cNvSpPr>
            <a:spLocks noGrp="1"/>
          </p:cNvSpPr>
          <p:nvPr/>
        </p:nvSpPr>
        <p:spPr>
          <a:xfrm>
            <a:off x="7524750" y="2333625"/>
            <a:ext cx="1952625" cy="1714500"/>
          </a:xfrm>
          <a:prstGeom prst="roundRect">
            <a:avLst>
              <a:gd name="adj" fmla="val 7778"/>
            </a:avLst>
          </a:prstGeom>
          <a:solidFill>
            <a:srgbClr val="0F1C2B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E09973-00CE-408A-90EB-6E3C0F114EE7}"/>
              </a:ext>
            </a:extLst>
          </p:cNvPr>
          <p:cNvSpPr>
            <a:spLocks noGrp="1"/>
          </p:cNvSpPr>
          <p:nvPr/>
        </p:nvSpPr>
        <p:spPr>
          <a:xfrm>
            <a:off x="7524750" y="2333625"/>
            <a:ext cx="1952625" cy="762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877F8F-991B-4571-8C36-5F530C5AE841}"/>
              </a:ext>
            </a:extLst>
          </p:cNvPr>
          <p:cNvSpPr>
            <a:spLocks noGrp="1"/>
          </p:cNvSpPr>
          <p:nvPr/>
        </p:nvSpPr>
        <p:spPr>
          <a:xfrm>
            <a:off x="7696200" y="2647950"/>
            <a:ext cx="16097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Stage II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740D74-0B36-46AE-B787-30B18AED69A9}"/>
              </a:ext>
            </a:extLst>
          </p:cNvPr>
          <p:cNvSpPr>
            <a:spLocks noGrp="1"/>
          </p:cNvSpPr>
          <p:nvPr/>
        </p:nvSpPr>
        <p:spPr>
          <a:xfrm>
            <a:off x="7696200" y="3143250"/>
            <a:ext cx="16097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Hotelling T²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D8CDCE0-8F99-4397-8AB5-BECE7661AE01}"/>
              </a:ext>
            </a:extLst>
          </p:cNvPr>
          <p:cNvSpPr>
            <a:spLocks noGrp="1"/>
          </p:cNvSpPr>
          <p:nvPr/>
        </p:nvSpPr>
        <p:spPr>
          <a:xfrm>
            <a:off x="9858375" y="2333625"/>
            <a:ext cx="1809750" cy="1714500"/>
          </a:xfrm>
          <a:prstGeom prst="roundRect">
            <a:avLst>
              <a:gd name="adj" fmla="val 7778"/>
            </a:avLst>
          </a:prstGeom>
          <a:solidFill>
            <a:srgbClr val="0F1C2B"/>
          </a:solidFill>
          <a:ln w="9525">
            <a:solidFill>
              <a:srgbClr val="64D98B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7A085D-5169-47AB-8BCC-D1115AC8DA4D}"/>
              </a:ext>
            </a:extLst>
          </p:cNvPr>
          <p:cNvSpPr>
            <a:spLocks noGrp="1"/>
          </p:cNvSpPr>
          <p:nvPr/>
        </p:nvSpPr>
        <p:spPr>
          <a:xfrm>
            <a:off x="9858375" y="2333625"/>
            <a:ext cx="1809750" cy="76200"/>
          </a:xfrm>
          <a:prstGeom prst="roundRect">
            <a:avLst>
              <a:gd name="adj" fmla="val 50000"/>
            </a:avLst>
          </a:prstGeom>
          <a:solidFill>
            <a:srgbClr val="64D98B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CECF4B-8574-40EA-90A0-A7E8703A2566}"/>
              </a:ext>
            </a:extLst>
          </p:cNvPr>
          <p:cNvSpPr>
            <a:spLocks noGrp="1"/>
          </p:cNvSpPr>
          <p:nvPr/>
        </p:nvSpPr>
        <p:spPr>
          <a:xfrm>
            <a:off x="10029825" y="2647950"/>
            <a:ext cx="1466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B05B4A-1948-46C5-862D-B714ACCED87E}"/>
              </a:ext>
            </a:extLst>
          </p:cNvPr>
          <p:cNvSpPr>
            <a:spLocks noGrp="1"/>
          </p:cNvSpPr>
          <p:nvPr/>
        </p:nvSpPr>
        <p:spPr>
          <a:xfrm>
            <a:off x="10029825" y="3143250"/>
            <a:ext cx="1466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Counts, diagnostics</a:t>
            </a:r>
          </a:p>
          <a:p>
            <a:pPr algn="ctr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and provenance</a:t>
            </a:r>
          </a:p>
        </p:txBody>
      </p:sp>
      <p:cxnSp>
        <p:nvCxnSpPr>
          <p:cNvPr id="83" name="Straight Arrow Connector 82"/>
          <p:cNvCxnSpPr>
            <a:stCxn id="4" idx="3"/>
            <a:endCxn id="8" idx="1"/>
          </p:cNvCxnSpPr>
          <p:nvPr/>
        </p:nvCxnSpPr>
        <p:spPr>
          <a:xfrm>
            <a:off x="2476500" y="3190875"/>
            <a:ext cx="381000" cy="0"/>
          </a:xfrm>
          <a:prstGeom prst="straightConnector1">
            <a:avLst/>
          </a:prstGeom>
          <a:ln w="28575">
            <a:solidFill>
              <a:srgbClr val="294057"/>
            </a:solidFill>
            <a:prstDash val="solid"/>
            <a:tailEnd type="triangle" w="sm" len="sm"/>
          </a:ln>
        </p:spPr>
      </p:cxnSp>
      <p:cxnSp>
        <p:nvCxnSpPr>
          <p:cNvPr id="84" name="Straight Arrow Connector 83"/>
          <p:cNvCxnSpPr>
            <a:stCxn id="8" idx="3"/>
            <a:endCxn id="12" idx="1"/>
          </p:cNvCxnSpPr>
          <p:nvPr/>
        </p:nvCxnSpPr>
        <p:spPr>
          <a:xfrm>
            <a:off x="4810125" y="3190875"/>
            <a:ext cx="381000" cy="0"/>
          </a:xfrm>
          <a:prstGeom prst="straightConnector1">
            <a:avLst/>
          </a:prstGeom>
          <a:ln w="28575">
            <a:solidFill>
              <a:srgbClr val="294057"/>
            </a:solidFill>
            <a:prstDash val="solid"/>
            <a:tailEnd type="triangle" w="sm" len="sm"/>
          </a:ln>
        </p:spPr>
      </p:cxnSp>
      <p:cxnSp>
        <p:nvCxnSpPr>
          <p:cNvPr id="85" name="Straight Arrow Connector 84"/>
          <p:cNvCxnSpPr>
            <a:stCxn id="12" idx="3"/>
            <a:endCxn id="16" idx="1"/>
          </p:cNvCxnSpPr>
          <p:nvPr/>
        </p:nvCxnSpPr>
        <p:spPr>
          <a:xfrm>
            <a:off x="7143750" y="3190875"/>
            <a:ext cx="381000" cy="0"/>
          </a:xfrm>
          <a:prstGeom prst="straightConnector1">
            <a:avLst/>
          </a:prstGeom>
          <a:ln w="28575">
            <a:solidFill>
              <a:srgbClr val="294057"/>
            </a:solidFill>
            <a:prstDash val="solid"/>
            <a:tailEnd type="triangle" w="sm" len="sm"/>
          </a:ln>
        </p:spPr>
      </p:cxnSp>
      <p:cxnSp>
        <p:nvCxnSpPr>
          <p:cNvPr id="86" name="Straight Arrow Connector 85"/>
          <p:cNvCxnSpPr>
            <a:stCxn id="16" idx="3"/>
            <a:endCxn id="20" idx="1"/>
          </p:cNvCxnSpPr>
          <p:nvPr/>
        </p:nvCxnSpPr>
        <p:spPr>
          <a:xfrm>
            <a:off x="9477375" y="3190875"/>
            <a:ext cx="381000" cy="0"/>
          </a:xfrm>
          <a:prstGeom prst="straightConnector1">
            <a:avLst/>
          </a:prstGeom>
          <a:ln w="28575">
            <a:solidFill>
              <a:srgbClr val="294057"/>
            </a:solidFill>
            <a:prstDash val="solid"/>
            <a:tailEnd type="triangle" w="sm" len="sm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B931D16-7FB5-4AA1-B865-35E61D8911D1}"/>
              </a:ext>
            </a:extLst>
          </p:cNvPr>
          <p:cNvSpPr>
            <a:spLocks noGrp="1"/>
          </p:cNvSpPr>
          <p:nvPr/>
        </p:nvSpPr>
        <p:spPr>
          <a:xfrm>
            <a:off x="5191125" y="44767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5B94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B942"/>
                </a:solidFill>
                <a:latin typeface="DejaVu Sans"/>
                <a:ea typeface="DejaVu Sans"/>
                <a:cs typeface="DejaVu Sans"/>
              </a:rPr>
              <a:t>CSE subsystem boundary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0D322409-6D7A-4985-8A67-4EF94F897E6A}"/>
              </a:ext>
            </a:extLst>
          </p:cNvPr>
          <p:cNvSpPr>
            <a:spLocks noGrp="1"/>
          </p:cNvSpPr>
          <p:nvPr/>
        </p:nvSpPr>
        <p:spPr>
          <a:xfrm>
            <a:off x="5400675" y="4857750"/>
            <a:ext cx="3857625" cy="0"/>
          </a:xfrm>
          <a:prstGeom prst="line">
            <a:avLst/>
          </a:prstGeom>
          <a:noFill/>
          <a:ln w="28575">
            <a:solidFill>
              <a:srgbClr val="F5B94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19A1DC-8EC0-47CD-A6E5-4832549F86BF}"/>
              </a:ext>
            </a:extLst>
          </p:cNvPr>
          <p:cNvSpPr>
            <a:spLocks noGrp="1"/>
          </p:cNvSpPr>
          <p:nvPr/>
        </p:nvSpPr>
        <p:spPr>
          <a:xfrm>
            <a:off x="2190750" y="5295900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The classifier benchmark is a separate experiment. Shift-triggered pseudo-labelling and ensemble growth remain future work.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08A090-4643-4F7F-B8D3-F29933ED9F5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AE9E2D-37CD-4F1E-942F-9B6D3090B189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680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8F54C9D-1E96-45E4-8CDE-790A1582051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DATA PROTOCOL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90596F-2066-46B0-B963-6E599B63C83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Feature fitting is confined to development training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2D2C2F6-86A3-49D5-89D3-6A9C6351D796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363F9-BC47-4B28-A454-090BB368AB4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4EA1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EA1FF"/>
                </a:solidFill>
                <a:latin typeface="DejaVu Sans"/>
                <a:ea typeface="DejaVu Sans"/>
                <a:cs typeface="DejaVu Sans"/>
              </a:rPr>
              <a:t>BCI Competition IV 2A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5EC4BF-6FEE-4A91-AEAD-D3C148653231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Session I develops the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C6BCC-6841-42A3-AE4B-8F5D735C1333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46672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Split Session I into training and validation</a:t>
            </a:r>
          </a:p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Fit FBCSP on training trials only</a:t>
            </a:r>
          </a:p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Apply fitted features to validation trials</a:t>
            </a:r>
          </a:p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Reserve Session II for held-out evaluation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C28E0FF-26C5-4466-A775-C0F1E5112F6C}"/>
              </a:ext>
            </a:extLst>
          </p:cNvPr>
          <p:cNvSpPr>
            <a:spLocks noGrp="1"/>
          </p:cNvSpPr>
          <p:nvPr/>
        </p:nvSpPr>
        <p:spPr>
          <a:xfrm>
            <a:off x="5810250" y="1733550"/>
            <a:ext cx="0" cy="342900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14E88-1583-4468-ADF4-3F6272715EF5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BCI Competition IV 2B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09DE3D-873D-45A1-A54D-3F145758972B}"/>
              </a:ext>
            </a:extLst>
          </p:cNvPr>
          <p:cNvSpPr>
            <a:spLocks noGrp="1"/>
          </p:cNvSpPr>
          <p:nvPr/>
        </p:nvSpPr>
        <p:spPr>
          <a:xfrm>
            <a:off x="6572250" y="2152650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Sessions I–III develop the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EDB97E-2B69-4691-B5C6-8BE87573EDB4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6672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Stratified 70/30 training–validation split</a:t>
            </a:r>
          </a:p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Fit FBCSP on development training only</a:t>
            </a:r>
          </a:p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Apply fitted features to validation trials</a:t>
            </a:r>
          </a:p>
          <a:p>
            <a:pPr algn="l"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Reserve Sessions IV–V for evaluation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101867-1F8A-439D-A88E-D31865E6AD0A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572750" cy="685800"/>
          </a:xfrm>
          <a:prstGeom prst="roundRect">
            <a:avLst>
              <a:gd name="adj" fmla="val 13889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5745C-1BA2-4735-BB56-2BED47890316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F5B94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5B942"/>
                </a:solidFill>
                <a:latin typeface="DejaVu Sans"/>
                <a:ea typeface="DejaVu Sans"/>
                <a:cs typeface="DejaVu Sans"/>
              </a:rPr>
              <a:t>Shared rule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8AD596-C1F7-4D0E-AE1C-70F38E40AE54}"/>
              </a:ext>
            </a:extLst>
          </p:cNvPr>
          <p:cNvSpPr>
            <a:spLocks noGrp="1"/>
          </p:cNvSpPr>
          <p:nvPr/>
        </p:nvSpPr>
        <p:spPr>
          <a:xfrm>
            <a:off x="3028950" y="4914900"/>
            <a:ext cx="7858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69605" lnSpcReduction="20000"/>
          </a:bodyPr>
          <a:lstStyle/>
          <a:p>
            <a:pPr algn="l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Evaluation trials do not enter feature-model fitting. </a:t>
            </a:r>
            <a:endParaRPr lang="en-US" sz="1425" b="1" dirty="0">
              <a:solidFill>
                <a:srgbClr val="EAF2F8"/>
              </a:solidFill>
              <a:latin typeface="DejaVu Sans"/>
              <a:ea typeface="DejaVu Sans"/>
              <a:cs typeface="DejaVu Sans"/>
            </a:endParaRPr>
          </a:p>
          <a:p>
            <a:pPr algn="l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endParaRPr lang="en-US" sz="1425" b="1" dirty="0">
              <a:solidFill>
                <a:srgbClr val="EAF2F8"/>
              </a:solidFill>
              <a:latin typeface="DejaVu Sans"/>
              <a:ea typeface="DejaVu Sans"/>
              <a:cs typeface="DejaVu Sans"/>
            </a:endParaRPr>
          </a:p>
          <a:p>
            <a:pPr algn="l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Report detector outputs with the configuration that produced them.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25EFAE-20EA-4B23-A584-EA109F6639D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47F094-C46B-4595-A723-4047FC00996C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3195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AA9D904-5262-45AB-ADD9-F297578434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CODING AND VERIFICATION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829DA-45E0-4ACE-ABE3-77ABCDA0C90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A real-data benchmark now complements CSE tests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9EBF67B-0780-415B-8D50-0CB4B5C6AD36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3A144-F218-4F5F-81C7-F58AE288498F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85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850" b="1">
                <a:solidFill>
                  <a:srgbClr val="64D98B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64D98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45152F-8B87-4854-8913-A2443142C1C5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classifier strategies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FFA44-2F91-481B-A1C2-CD30031B9F3F}"/>
              </a:ext>
            </a:extLst>
          </p:cNvPr>
          <p:cNvSpPr>
            <a:spLocks noGrp="1"/>
          </p:cNvSpPr>
          <p:nvPr/>
        </p:nvSpPr>
        <p:spPr>
          <a:xfrm>
            <a:off x="611843" y="3390900"/>
            <a:ext cx="3007658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Linear SVM and bootstrap-aggregated</a:t>
            </a:r>
            <a:endParaRPr lang="en-US" sz="1200" b="0" dirty="0">
              <a:solidFill>
                <a:srgbClr val="9CB0C3"/>
              </a:solidFill>
              <a:latin typeface="DejaVu Sans"/>
              <a:ea typeface="DejaVu Sans"/>
              <a:cs typeface="DejaVu Sans"/>
            </a:endParaRPr>
          </a:p>
          <a:p>
            <a:pPr algn="l"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9CB0C3"/>
              </a:solidFill>
              <a:latin typeface="DejaVu Sans"/>
              <a:ea typeface="DejaVu Sans"/>
              <a:cs typeface="DejaVu Sans"/>
            </a:endParaRPr>
          </a:p>
          <a:p>
            <a:pPr algn="l"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20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1200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inear-SVM ensemble on 2A and 2B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ED2ABBF-AF13-4F65-BADE-AB37458E4807}"/>
              </a:ext>
            </a:extLst>
          </p:cNvPr>
          <p:cNvSpPr>
            <a:spLocks noGrp="1"/>
          </p:cNvSpPr>
          <p:nvPr/>
        </p:nvSpPr>
        <p:spPr>
          <a:xfrm>
            <a:off x="4000500" y="1952625"/>
            <a:ext cx="0" cy="295275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53995C-8E3E-4BCF-966A-6CDA2969D837}"/>
              </a:ext>
            </a:extLst>
          </p:cNvPr>
          <p:cNvSpPr>
            <a:spLocks noGrp="1"/>
          </p:cNvSpPr>
          <p:nvPr/>
        </p:nvSpPr>
        <p:spPr>
          <a:xfrm>
            <a:off x="4457700" y="17526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EFE9D-E1C8-402B-AA62-723AD9C2B831}"/>
              </a:ext>
            </a:extLst>
          </p:cNvPr>
          <p:cNvSpPr>
            <a:spLocks noGrp="1"/>
          </p:cNvSpPr>
          <p:nvPr/>
        </p:nvSpPr>
        <p:spPr>
          <a:xfrm>
            <a:off x="4762500" y="16764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Data boundaries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2C0192-07EC-4870-A131-C5A71ED159B5}"/>
              </a:ext>
            </a:extLst>
          </p:cNvPr>
          <p:cNvSpPr>
            <a:spLocks noGrp="1"/>
          </p:cNvSpPr>
          <p:nvPr/>
        </p:nvSpPr>
        <p:spPr>
          <a:xfrm>
            <a:off x="7124700" y="16764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train, validation</a:t>
            </a:r>
            <a:r>
              <a:rPr lang="en-US"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 and held-out evaluation roles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EA6CBD-04FC-458C-8E27-E7A5A7A9AB09}"/>
              </a:ext>
            </a:extLst>
          </p:cNvPr>
          <p:cNvSpPr>
            <a:spLocks noGrp="1"/>
          </p:cNvSpPr>
          <p:nvPr/>
        </p:nvSpPr>
        <p:spPr>
          <a:xfrm>
            <a:off x="4457700" y="24765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F610B-7F6A-4E91-812A-71BE0D80AA3F}"/>
              </a:ext>
            </a:extLst>
          </p:cNvPr>
          <p:cNvSpPr>
            <a:spLocks noGrp="1"/>
          </p:cNvSpPr>
          <p:nvPr/>
        </p:nvSpPr>
        <p:spPr>
          <a:xfrm>
            <a:off x="4762500" y="24003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Feature pipeline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E5DA4F-974C-46AB-8279-3E9D914B7463}"/>
              </a:ext>
            </a:extLst>
          </p:cNvPr>
          <p:cNvSpPr>
            <a:spLocks noGrp="1"/>
          </p:cNvSpPr>
          <p:nvPr/>
        </p:nvSpPr>
        <p:spPr>
          <a:xfrm>
            <a:off x="7124700" y="24003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cue-aligned extraction, FBCSP</a:t>
            </a:r>
            <a:r>
              <a:rPr lang="en-US"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 and PCA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39CBAC-563C-46F0-9DEA-E448F22A4BD8}"/>
              </a:ext>
            </a:extLst>
          </p:cNvPr>
          <p:cNvSpPr>
            <a:spLocks noGrp="1"/>
          </p:cNvSpPr>
          <p:nvPr/>
        </p:nvSpPr>
        <p:spPr>
          <a:xfrm>
            <a:off x="4457700" y="3200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FAACD4-A16B-4071-8FA3-B9B5A0823F83}"/>
              </a:ext>
            </a:extLst>
          </p:cNvPr>
          <p:cNvSpPr>
            <a:spLocks noGrp="1"/>
          </p:cNvSpPr>
          <p:nvPr/>
        </p:nvSpPr>
        <p:spPr>
          <a:xfrm>
            <a:off x="4762500" y="31242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Detector audit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8DADC-BD9E-4E6D-95A8-6D59F807C57C}"/>
              </a:ext>
            </a:extLst>
          </p:cNvPr>
          <p:cNvSpPr>
            <a:spLocks noGrp="1"/>
          </p:cNvSpPr>
          <p:nvPr/>
        </p:nvSpPr>
        <p:spPr>
          <a:xfrm>
            <a:off x="7124700" y="31242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λ, control limits, variance</a:t>
            </a:r>
            <a:r>
              <a:rPr lang="en-US"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125" b="0" dirty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 and window eligibility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DB00A14-B0E5-4F6F-9996-7140256773E4}"/>
              </a:ext>
            </a:extLst>
          </p:cNvPr>
          <p:cNvSpPr>
            <a:spLocks noGrp="1"/>
          </p:cNvSpPr>
          <p:nvPr/>
        </p:nvSpPr>
        <p:spPr>
          <a:xfrm>
            <a:off x="4457700" y="39243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2D73B-D84A-485B-A79E-0DB9F230B2AC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Benchmark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727AD-BE16-49FE-B9F2-BD7842E6A26E}"/>
              </a:ext>
            </a:extLst>
          </p:cNvPr>
          <p:cNvSpPr>
            <a:spLocks noGrp="1"/>
          </p:cNvSpPr>
          <p:nvPr/>
        </p:nvSpPr>
        <p:spPr>
          <a:xfrm>
            <a:off x="7124700" y="38481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single SVM versus bagged linear-SVM ensemble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3DCE105-3763-473A-B55E-6832C4C41235}"/>
              </a:ext>
            </a:extLst>
          </p:cNvPr>
          <p:cNvSpPr>
            <a:spLocks noGrp="1"/>
          </p:cNvSpPr>
          <p:nvPr/>
        </p:nvSpPr>
        <p:spPr>
          <a:xfrm>
            <a:off x="4457700" y="46482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0">
            <a:noFill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1D2562-6DAD-4963-AB7B-01ECF8F6C126}"/>
              </a:ext>
            </a:extLst>
          </p:cNvPr>
          <p:cNvSpPr>
            <a:spLocks noGrp="1"/>
          </p:cNvSpPr>
          <p:nvPr/>
        </p:nvSpPr>
        <p:spPr>
          <a:xfrm>
            <a:off x="4762500" y="45720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Verification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928D8D-285F-4601-BC63-178709A91C77}"/>
              </a:ext>
            </a:extLst>
          </p:cNvPr>
          <p:cNvSpPr>
            <a:spLocks noGrp="1"/>
          </p:cNvSpPr>
          <p:nvPr/>
        </p:nvSpPr>
        <p:spPr>
          <a:xfrm>
            <a:off x="7124700" y="4572000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automated tests and targeted numerical checks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18228B-0601-4BB5-97E1-24B7C4E5F804}"/>
              </a:ext>
            </a:extLst>
          </p:cNvPr>
          <p:cNvSpPr>
            <a:spLocks noGrp="1"/>
          </p:cNvSpPr>
          <p:nvPr/>
        </p:nvSpPr>
        <p:spPr>
          <a:xfrm>
            <a:off x="857250" y="56578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107"/>
          </a:bodyPr>
          <a:lstStyle/>
          <a:p>
            <a:pPr algn="ctr">
              <a:buNone/>
              <a:defRPr sz="15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Synthetic experiments verify software behaviour; real-data comparisons supply the research benchmark.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DBF32D-3294-4B4E-9CBD-0955D992EA2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10C229-9FB6-427F-AA31-1012D15E91D3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409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0CA694-4EF1-4040-A776-44BC817FB09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MANUSCRIPT STATUS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EEA367-8366-4CB3-950C-B636B7DEA4F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Abstract claims match the implemented scope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FF91CC9-E811-40C0-9741-F322C58C33E6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A6C85-7B71-4BA8-9906-A308140E6F6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4D98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64D98B"/>
                </a:solidFill>
                <a:latin typeface="DejaVu Sans"/>
                <a:ea typeface="DejaVu Sans"/>
                <a:cs typeface="DejaVu Sans"/>
              </a:rPr>
              <a:t>Written now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1F38080-B796-481E-B793-376A2E256E5D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048000" cy="0"/>
          </a:xfrm>
          <a:prstGeom prst="line">
            <a:avLst/>
          </a:prstGeom>
          <a:noFill/>
          <a:ln w="47625">
            <a:solidFill>
              <a:srgbClr val="64D98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25BA0-BCAC-4B62-A8CD-CE52987DA288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3048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EEG non-stationarity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CSE rationale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2A and 2B data roles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FBCSP fitting boundary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Detector stages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AF876-13D6-4BD8-A726-33D988E0E5A1}"/>
              </a:ext>
            </a:extLst>
          </p:cNvPr>
          <p:cNvSpPr>
            <a:spLocks noGrp="1"/>
          </p:cNvSpPr>
          <p:nvPr/>
        </p:nvSpPr>
        <p:spPr>
          <a:xfrm>
            <a:off x="4133850" y="17907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5B94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5B942"/>
                </a:solidFill>
                <a:latin typeface="DejaVu Sans"/>
                <a:ea typeface="DejaVu Sans"/>
                <a:cs typeface="DejaVu Sans"/>
              </a:rPr>
              <a:t>Method audit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5EA8BD3-880D-46AD-9312-AE0EBFF4CE79}"/>
              </a:ext>
            </a:extLst>
          </p:cNvPr>
          <p:cNvSpPr>
            <a:spLocks noGrp="1"/>
          </p:cNvSpPr>
          <p:nvPr/>
        </p:nvSpPr>
        <p:spPr>
          <a:xfrm>
            <a:off x="4133850" y="2266950"/>
            <a:ext cx="3048000" cy="0"/>
          </a:xfrm>
          <a:prstGeom prst="line">
            <a:avLst/>
          </a:prstGeom>
          <a:noFill/>
          <a:ln w="47625">
            <a:solidFill>
              <a:srgbClr val="F5B94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71A6D-529B-4C3D-B747-A5F59E6E5FC4}"/>
              </a:ext>
            </a:extLst>
          </p:cNvPr>
          <p:cNvSpPr>
            <a:spLocks noGrp="1"/>
          </p:cNvSpPr>
          <p:nvPr/>
        </p:nvSpPr>
        <p:spPr>
          <a:xfrm>
            <a:off x="4133850" y="2552700"/>
            <a:ext cx="3048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PCA dimension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EWMA variance updates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Control limits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Stage-II window eligibility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Configuration provenance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CA87D-0D93-4568-9357-BF44E8EF64BB}"/>
              </a:ext>
            </a:extLst>
          </p:cNvPr>
          <p:cNvSpPr>
            <a:spLocks noGrp="1"/>
          </p:cNvSpPr>
          <p:nvPr/>
        </p:nvSpPr>
        <p:spPr>
          <a:xfrm>
            <a:off x="7658100" y="17907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F0717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07178"/>
                </a:solidFill>
                <a:latin typeface="DejaVu Sans"/>
                <a:ea typeface="DejaVu Sans"/>
                <a:cs typeface="DejaVu Sans"/>
              </a:rPr>
              <a:t>Next evidence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93686EC-B82B-429F-90B0-A4C2F5D68238}"/>
              </a:ext>
            </a:extLst>
          </p:cNvPr>
          <p:cNvSpPr>
            <a:spLocks noGrp="1"/>
          </p:cNvSpPr>
          <p:nvPr/>
        </p:nvSpPr>
        <p:spPr>
          <a:xfrm>
            <a:off x="7658100" y="2266950"/>
            <a:ext cx="3048000" cy="0"/>
          </a:xfrm>
          <a:prstGeom prst="line">
            <a:avLst/>
          </a:prstGeom>
          <a:noFill/>
          <a:ln w="47625">
            <a:solidFill>
              <a:srgbClr val="F0717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F1C060-C217-4890-A9D2-ADA75D697F07}"/>
              </a:ext>
            </a:extLst>
          </p:cNvPr>
          <p:cNvSpPr>
            <a:spLocks noGrp="1"/>
          </p:cNvSpPr>
          <p:nvPr/>
        </p:nvSpPr>
        <p:spPr>
          <a:xfrm>
            <a:off x="7658100" y="2552700"/>
            <a:ext cx="3048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Configuration-locked counts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Subject-level comparison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Classifier benchmark results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Error and delay trade-offs</a:t>
            </a:r>
          </a:p>
          <a:p>
            <a:pPr algn="l">
              <a:buNone/>
              <a:def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Selective adaptation criteria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51CEAA-F8F5-42CE-ABA3-B9E4D7243892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096500" cy="647700"/>
          </a:xfrm>
          <a:prstGeom prst="roundRect">
            <a:avLst>
              <a:gd name="adj" fmla="val 14706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EB26C4-B90D-43F1-B6CF-61E12A7E49BB}"/>
              </a:ext>
            </a:extLst>
          </p:cNvPr>
          <p:cNvSpPr>
            <a:spLocks noGrp="1"/>
          </p:cNvSpPr>
          <p:nvPr/>
        </p:nvSpPr>
        <p:spPr>
          <a:xfrm>
            <a:off x="800100" y="5381625"/>
            <a:ext cx="2000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Current claim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ECF7B-62D0-41B8-A889-B455D227A1F1}"/>
              </a:ext>
            </a:extLst>
          </p:cNvPr>
          <p:cNvSpPr>
            <a:spLocks noGrp="1"/>
          </p:cNvSpPr>
          <p:nvPr/>
        </p:nvSpPr>
        <p:spPr>
          <a:xfrm>
            <a:off x="2952750" y="5286375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buNone/>
              <a:defRPr sz="13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Auditable CSE reconstruction with a separate classifier benchmark; numerical agreement remains to be established.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A75AB-491C-4D94-BB99-C282ABB2160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C0CBE6-7E9C-4BAF-BC9C-CE87E40A0E23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1070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40E5E7D-C5A2-4E44-9F48-607BD6A5C5A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PROJECT TIMELINE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BAC0B4-B39A-4482-95EF-D4853F6A4C2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First-year plan: six overlapping work packages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88DC5-D2F3-4DFC-BEBE-2C3AA555E25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Proposed October 2026 – September 2027 schedule, aligned with the requirements document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BA263-FE81-4AC2-ADD4-3A1CCA5B7532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8573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TIMING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194BF0-F433-4923-AB12-ECD136D37E7E}"/>
              </a:ext>
            </a:extLst>
          </p:cNvPr>
          <p:cNvSpPr>
            <a:spLocks noGrp="1"/>
          </p:cNvSpPr>
          <p:nvPr/>
        </p:nvSpPr>
        <p:spPr>
          <a:xfrm>
            <a:off x="2647950" y="1857375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WORK PACKAGE AND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279190-795A-4786-9DBD-4269C825A8A2}"/>
              </a:ext>
            </a:extLst>
          </p:cNvPr>
          <p:cNvSpPr>
            <a:spLocks noGrp="1"/>
          </p:cNvSpPr>
          <p:nvPr/>
        </p:nvSpPr>
        <p:spPr>
          <a:xfrm>
            <a:off x="8620125" y="1857375"/>
            <a:ext cx="2952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EXPECTED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096CC-D9D8-4A99-8378-1292079C2915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M1–3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5A5887-B576-4957-B5C0-F23D55E6018F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19812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Oct–Dec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520F8-8DFA-4D43-B54F-E8DD1390A020}"/>
              </a:ext>
            </a:extLst>
          </p:cNvPr>
          <p:cNvSpPr>
            <a:spLocks noGrp="1"/>
          </p:cNvSpPr>
          <p:nvPr/>
        </p:nvSpPr>
        <p:spPr>
          <a:xfrm>
            <a:off x="2647950" y="2219325"/>
            <a:ext cx="57626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WP1  Theory and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32A32D-F9AD-46D3-AFD6-0D068A99DB3B}"/>
              </a:ext>
            </a:extLst>
          </p:cNvPr>
          <p:cNvSpPr>
            <a:spLocks noGrp="1"/>
          </p:cNvSpPr>
          <p:nvPr/>
        </p:nvSpPr>
        <p:spPr>
          <a:xfrm>
            <a:off x="2647950" y="2476500"/>
            <a:ext cx="576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CPD–CL–twin design, stability and update budgets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D80710-9953-452A-AA46-EB894674E608}"/>
              </a:ext>
            </a:extLst>
          </p:cNvPr>
          <p:cNvSpPr>
            <a:spLocks noGrp="1"/>
          </p:cNvSpPr>
          <p:nvPr/>
        </p:nvSpPr>
        <p:spPr>
          <a:xfrm>
            <a:off x="8620125" y="223837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Architecture specification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04E0BC-AA2F-4F16-834C-77AF7EB5DB7D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M2–5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EE7D96-F835-4710-B540-397727EBF2B8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19812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Nov 2026–Feb 2027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9958F7-9CAC-441F-B2DA-86CF71DB63E0}"/>
              </a:ext>
            </a:extLst>
          </p:cNvPr>
          <p:cNvSpPr>
            <a:spLocks noGrp="1"/>
          </p:cNvSpPr>
          <p:nvPr/>
        </p:nvSpPr>
        <p:spPr>
          <a:xfrm>
            <a:off x="2647950" y="2809875"/>
            <a:ext cx="57626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WP2  CPD benchmarking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31425B-C310-4748-9113-70D0B4838AF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576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EWMA, CUSUM, BOCPD and density-ratio methods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485145-5A9E-4695-AB88-26FB9EBC9846}"/>
              </a:ext>
            </a:extLst>
          </p:cNvPr>
          <p:cNvSpPr>
            <a:spLocks noGrp="1"/>
          </p:cNvSpPr>
          <p:nvPr/>
        </p:nvSpPr>
        <p:spPr>
          <a:xfrm>
            <a:off x="8620125" y="282892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Benchmark suite and report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8904BD-17AC-48CE-8CE4-F3F5966C5A22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M4–7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74B7D2-C2A4-435B-9716-C95FC63665F0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19812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Jan–Apr 2027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7BE53F-1A43-41BF-B5D0-44CE2BF9B6F0}"/>
              </a:ext>
            </a:extLst>
          </p:cNvPr>
          <p:cNvSpPr>
            <a:spLocks noGrp="1"/>
          </p:cNvSpPr>
          <p:nvPr/>
        </p:nvSpPr>
        <p:spPr>
          <a:xfrm>
            <a:off x="2647950" y="3400425"/>
            <a:ext cx="57626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WP3  Continual learning and sustainability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C98E4A-4CFA-4F41-AA7B-16C4DCA1A1D1}"/>
              </a:ext>
            </a:extLst>
          </p:cNvPr>
          <p:cNvSpPr>
            <a:spLocks noGrp="1"/>
          </p:cNvSpPr>
          <p:nvPr/>
        </p:nvSpPr>
        <p:spPr>
          <a:xfrm>
            <a:off x="2647950" y="3657600"/>
            <a:ext cx="576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Regularisation, replay, forgetting and energy costs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D89DC9-1C19-4B86-9A16-A028EEB25EB5}"/>
              </a:ext>
            </a:extLst>
          </p:cNvPr>
          <p:cNvSpPr>
            <a:spLocks noGrp="1"/>
          </p:cNvSpPr>
          <p:nvPr/>
        </p:nvSpPr>
        <p:spPr>
          <a:xfrm>
            <a:off x="8620125" y="341947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CL module and cost analysis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9F748F-184C-4BAA-853F-BBBD0A5BC4DC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M5–9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8CBE5-F323-4C0E-9496-7E6EDFC1B34D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9812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Feb–Jun 2027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1BE08B-62FF-4AED-A4E2-7DED167F4B5F}"/>
              </a:ext>
            </a:extLst>
          </p:cNvPr>
          <p:cNvSpPr>
            <a:spLocks noGrp="1"/>
          </p:cNvSpPr>
          <p:nvPr/>
        </p:nvSpPr>
        <p:spPr>
          <a:xfrm>
            <a:off x="2647950" y="3990975"/>
            <a:ext cx="57626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WP4  Digital-twin co-evolution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C07550-8912-40C6-B150-7AEC91362531}"/>
              </a:ext>
            </a:extLst>
          </p:cNvPr>
          <p:cNvSpPr>
            <a:spLocks noGrp="1"/>
          </p:cNvSpPr>
          <p:nvPr/>
        </p:nvSpPr>
        <p:spPr>
          <a:xfrm>
            <a:off x="2647950" y="4248150"/>
            <a:ext cx="576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Twin disagreement, joint updates and safety checks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71BE0E-3BCA-4169-9E85-55057FDE7DE0}"/>
              </a:ext>
            </a:extLst>
          </p:cNvPr>
          <p:cNvSpPr>
            <a:spLocks noGrp="1"/>
          </p:cNvSpPr>
          <p:nvPr/>
        </p:nvSpPr>
        <p:spPr>
          <a:xfrm>
            <a:off x="8620125" y="401002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Twin framework and testbed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5E5528-56A0-4BD1-8838-C718DEAD99EC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M7–11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3CE7F5-E3AB-4A25-962C-53A780F89357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19812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Apr–Aug 2027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7151E6-5590-48B4-999D-C251FD1EFE27}"/>
              </a:ext>
            </a:extLst>
          </p:cNvPr>
          <p:cNvSpPr>
            <a:spLocks noGrp="1"/>
          </p:cNvSpPr>
          <p:nvPr/>
        </p:nvSpPr>
        <p:spPr>
          <a:xfrm>
            <a:off x="2647950" y="4581525"/>
            <a:ext cx="57626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WP5  Cross-domain evaluation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096C5F-20E1-4844-8C04-E8F1A5E7FEC1}"/>
              </a:ext>
            </a:extLst>
          </p:cNvPr>
          <p:cNvSpPr>
            <a:spLocks noGrp="1"/>
          </p:cNvSpPr>
          <p:nvPr/>
        </p:nvSpPr>
        <p:spPr>
          <a:xfrm>
            <a:off x="2647950" y="4838700"/>
            <a:ext cx="576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BCI and photonic manufacturing maintenance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3887B8-36CA-4924-93CE-13E459AE710D}"/>
              </a:ext>
            </a:extLst>
          </p:cNvPr>
          <p:cNvSpPr>
            <a:spLocks noGrp="1"/>
          </p:cNvSpPr>
          <p:nvPr/>
        </p:nvSpPr>
        <p:spPr>
          <a:xfrm>
            <a:off x="8620125" y="460057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Results against retraining</a:t>
            </a:r>
          </a:p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and periodic-update baselines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9F3DE3-DE78-4159-97C9-82020135F7D5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M10–12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74A236-F178-4731-982C-CEE110EC44F0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19812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Jul–Sep 2027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426B28-212A-4565-AF97-E07F32727AD9}"/>
              </a:ext>
            </a:extLst>
          </p:cNvPr>
          <p:cNvSpPr>
            <a:spLocks noGrp="1"/>
          </p:cNvSpPr>
          <p:nvPr/>
        </p:nvSpPr>
        <p:spPr>
          <a:xfrm>
            <a:off x="2647950" y="5172075"/>
            <a:ext cx="576262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WP6  Synthesis and engagement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F183D0-F2A0-4224-9570-5D2F2022A403}"/>
              </a:ext>
            </a:extLst>
          </p:cNvPr>
          <p:cNvSpPr>
            <a:spLocks noGrp="1"/>
          </p:cNvSpPr>
          <p:nvPr/>
        </p:nvSpPr>
        <p:spPr>
          <a:xfrm>
            <a:off x="2647950" y="5429250"/>
            <a:ext cx="5762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Manuscripts, open release and stakeholder work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208CA4-AFA2-433A-9D0F-782FD7203B41}"/>
              </a:ext>
            </a:extLst>
          </p:cNvPr>
          <p:cNvSpPr>
            <a:spLocks noGrp="1"/>
          </p:cNvSpPr>
          <p:nvPr/>
        </p:nvSpPr>
        <p:spPr>
          <a:xfrm>
            <a:off x="8620125" y="5191125"/>
            <a:ext cx="295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Submissions and</a:t>
            </a:r>
          </a:p>
          <a:p>
            <a:pPr>
              <a:buNone/>
              <a:def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adoption roadmap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0CD56B-FBBE-446F-AC7B-22980C113B19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The present CSE reconstruction supports WP1–2; later work tests selective adaptation and update costs.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FF46D4-5C7A-4DAB-80D9-8CE11351F7B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5238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C3E7CB-BF47-4DA1-84C8-329232745D2F}"/>
              </a:ext>
            </a:extLst>
          </p:cNvPr>
          <p:cNvSpPr>
            <a:spLocks noGrp="1"/>
          </p:cNvSpPr>
          <p:nvPr/>
        </p:nvSpPr>
        <p:spPr>
          <a:xfrm>
            <a:off x="11430000" y="651510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6554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4EAA4EB-FEBD-4901-8CC9-064ECD7B5C8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NEXT MILESTONE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DF3786-B3B6-40B4-B840-DDCC9E669D6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Lock configurations and trace each result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B0D9617-62FF-4524-A142-960C9B3CBDAD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10972800" cy="0"/>
          </a:xfrm>
          <a:prstGeom prst="line">
            <a:avLst/>
          </a:prstGeom>
          <a:noFill/>
          <a:ln w="19050">
            <a:solidFill>
              <a:srgbClr val="29405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511BD-9D7E-4AEC-8682-1E59C4CE78D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Evidence to complete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A9A73B-CBBB-4D35-8A11-E8BAD2EC47AA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5300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Record train, validation and evaluation provenance</a:t>
            </a:r>
          </a:p>
          <a:p>
            <a:pPr algn="l">
              <a:buNone/>
              <a:defRPr sz="142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Fix PCA, λ</a:t>
            </a:r>
            <a:r>
              <a:rPr lang="en-US" sz="1425" b="0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425" b="0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 and control-limit settings</a:t>
            </a:r>
          </a:p>
          <a:p>
            <a:pPr algn="l">
              <a:buNone/>
              <a:defRPr sz="142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Report warnings and confirmations by subject</a:t>
            </a:r>
          </a:p>
          <a:p>
            <a:pPr algn="l">
              <a:buNone/>
              <a:defRPr sz="1425" b="0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dirty="0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Compare classifier strategies on held-out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62312C-EF52-41A1-8BA5-12CA8185F3DE}"/>
              </a:ext>
            </a:extLst>
          </p:cNvPr>
          <p:cNvSpPr>
            <a:spLocks noGrp="1"/>
          </p:cNvSpPr>
          <p:nvPr/>
        </p:nvSpPr>
        <p:spPr>
          <a:xfrm>
            <a:off x="6572250" y="1714500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5B94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5B942"/>
                </a:solidFill>
                <a:latin typeface="DejaVu Sans"/>
                <a:ea typeface="DejaVu Sans"/>
                <a:cs typeface="DejaVu Sans"/>
              </a:rPr>
              <a:t>Next manuscript result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67F24-51CF-4578-91D9-84921A93DE3F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buNone/>
              <a:defRPr sz="18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Configuration-locked reproduction table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5B8B96-1541-469B-A908-010D60F4DD2D}"/>
              </a:ext>
            </a:extLst>
          </p:cNvPr>
          <p:cNvSpPr>
            <a:spLocks noGrp="1"/>
          </p:cNvSpPr>
          <p:nvPr/>
        </p:nvSpPr>
        <p:spPr>
          <a:xfrm>
            <a:off x="5905500" y="3143250"/>
            <a:ext cx="1047750" cy="704850"/>
          </a:xfrm>
          <a:prstGeom prst="roundRect">
            <a:avLst>
              <a:gd name="adj" fmla="val 13514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030A6-634D-4314-A7B1-52A5F3243F70}"/>
              </a:ext>
            </a:extLst>
          </p:cNvPr>
          <p:cNvSpPr>
            <a:spLocks noGrp="1"/>
          </p:cNvSpPr>
          <p:nvPr/>
        </p:nvSpPr>
        <p:spPr>
          <a:xfrm>
            <a:off x="5972175" y="329565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Paper section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EDC707-26E7-4D31-B629-54941EDE6F75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1047750" cy="704850"/>
          </a:xfrm>
          <a:prstGeom prst="roundRect">
            <a:avLst>
              <a:gd name="adj" fmla="val 13514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C61DDE-AB5D-4C86-A323-A6BFA4A9033E}"/>
              </a:ext>
            </a:extLst>
          </p:cNvPr>
          <p:cNvSpPr>
            <a:spLocks noGrp="1"/>
          </p:cNvSpPr>
          <p:nvPr/>
        </p:nvSpPr>
        <p:spPr>
          <a:xfrm>
            <a:off x="7077075" y="329565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Method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005D66-8086-4BB1-A37D-EE4F0C8D009F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1047750" cy="704850"/>
          </a:xfrm>
          <a:prstGeom prst="roundRect">
            <a:avLst>
              <a:gd name="adj" fmla="val 13514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18549-575C-4556-97A3-C688B1ED4633}"/>
              </a:ext>
            </a:extLst>
          </p:cNvPr>
          <p:cNvSpPr>
            <a:spLocks noGrp="1"/>
          </p:cNvSpPr>
          <p:nvPr/>
        </p:nvSpPr>
        <p:spPr>
          <a:xfrm>
            <a:off x="8181975" y="329565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Code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CC7966-A606-48D0-925F-B58F1AC75835}"/>
              </a:ext>
            </a:extLst>
          </p:cNvPr>
          <p:cNvSpPr>
            <a:spLocks noGrp="1"/>
          </p:cNvSpPr>
          <p:nvPr/>
        </p:nvSpPr>
        <p:spPr>
          <a:xfrm>
            <a:off x="9220200" y="3143250"/>
            <a:ext cx="1047750" cy="704850"/>
          </a:xfrm>
          <a:prstGeom prst="roundRect">
            <a:avLst>
              <a:gd name="adj" fmla="val 13514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D45FCF-68C4-49AD-839F-7B684DD6C0D3}"/>
              </a:ext>
            </a:extLst>
          </p:cNvPr>
          <p:cNvSpPr>
            <a:spLocks noGrp="1"/>
          </p:cNvSpPr>
          <p:nvPr/>
        </p:nvSpPr>
        <p:spPr>
          <a:xfrm>
            <a:off x="9286875" y="329565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Experiment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548B37-C182-4593-AC06-C504519B5FF7}"/>
              </a:ext>
            </a:extLst>
          </p:cNvPr>
          <p:cNvSpPr>
            <a:spLocks noGrp="1"/>
          </p:cNvSpPr>
          <p:nvPr/>
        </p:nvSpPr>
        <p:spPr>
          <a:xfrm>
            <a:off x="10325100" y="3143250"/>
            <a:ext cx="1047750" cy="704850"/>
          </a:xfrm>
          <a:prstGeom prst="roundRect">
            <a:avLst>
              <a:gd name="adj" fmla="val 13514"/>
            </a:avLst>
          </a:prstGeom>
          <a:solidFill>
            <a:srgbClr val="0F1C2B"/>
          </a:solidFill>
          <a:ln w="9525">
            <a:solidFill>
              <a:srgbClr val="64D98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1466FF-846B-4992-ADB0-FCDFC6F5E081}"/>
              </a:ext>
            </a:extLst>
          </p:cNvPr>
          <p:cNvSpPr>
            <a:spLocks noGrp="1"/>
          </p:cNvSpPr>
          <p:nvPr/>
        </p:nvSpPr>
        <p:spPr>
          <a:xfrm>
            <a:off x="10391775" y="3295650"/>
            <a:ext cx="914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64D98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4D98B"/>
                </a:solidFill>
                <a:latin typeface="DejaVu Sans"/>
                <a:ea typeface="DejaVu Sans"/>
                <a:cs typeface="DejaVu Sans"/>
              </a:rPr>
              <a:t>Result</a:t>
            </a:r>
          </a:p>
        </p:txBody>
      </p:sp>
      <p:cxnSp>
        <p:nvCxnSpPr>
          <p:cNvPr id="65" name="Straight Arrow Connector 64"/>
          <p:cNvCxnSpPr>
            <a:stCxn id="8" idx="3"/>
            <a:endCxn id="10" idx="1"/>
          </p:cNvCxnSpPr>
          <p:nvPr/>
        </p:nvCxnSpPr>
        <p:spPr>
          <a:xfrm>
            <a:off x="6953250" y="3495675"/>
            <a:ext cx="57150" cy="0"/>
          </a:xfrm>
          <a:prstGeom prst="straightConnector1">
            <a:avLst/>
          </a:prstGeom>
          <a:ln w="19050">
            <a:solidFill>
              <a:srgbClr val="9CB0C3"/>
            </a:solidFill>
            <a:prstDash val="solid"/>
            <a:tailEnd type="triangle" w="sm" len="sm"/>
          </a:ln>
        </p:spPr>
      </p:cxnSp>
      <p:cxnSp>
        <p:nvCxnSpPr>
          <p:cNvPr id="66" name="Straight Arrow Connector 65"/>
          <p:cNvCxnSpPr>
            <a:stCxn id="10" idx="3"/>
            <a:endCxn id="12" idx="1"/>
          </p:cNvCxnSpPr>
          <p:nvPr/>
        </p:nvCxnSpPr>
        <p:spPr>
          <a:xfrm>
            <a:off x="8058150" y="3495675"/>
            <a:ext cx="57150" cy="0"/>
          </a:xfrm>
          <a:prstGeom prst="straightConnector1">
            <a:avLst/>
          </a:prstGeom>
          <a:ln w="19050">
            <a:solidFill>
              <a:srgbClr val="9CB0C3"/>
            </a:solidFill>
            <a:prstDash val="solid"/>
            <a:tailEnd type="triangle" w="sm" len="sm"/>
          </a:ln>
        </p:spPr>
      </p:cxnSp>
      <p:cxnSp>
        <p:nvCxnSpPr>
          <p:cNvPr id="67" name="Straight Arrow Connector 66"/>
          <p:cNvCxnSpPr>
            <a:stCxn id="12" idx="3"/>
            <a:endCxn id="14" idx="1"/>
          </p:cNvCxnSpPr>
          <p:nvPr/>
        </p:nvCxnSpPr>
        <p:spPr>
          <a:xfrm>
            <a:off x="9163050" y="3495675"/>
            <a:ext cx="57150" cy="0"/>
          </a:xfrm>
          <a:prstGeom prst="straightConnector1">
            <a:avLst/>
          </a:prstGeom>
          <a:ln w="19050">
            <a:solidFill>
              <a:srgbClr val="9CB0C3"/>
            </a:solidFill>
            <a:prstDash val="solid"/>
            <a:tailEnd type="triangle" w="sm" len="sm"/>
          </a:ln>
        </p:spPr>
      </p:cxnSp>
      <p:cxnSp>
        <p:nvCxnSpPr>
          <p:cNvPr id="68" name="Straight Arrow Connector 67"/>
          <p:cNvCxnSpPr>
            <a:stCxn id="14" idx="3"/>
            <a:endCxn id="16" idx="1"/>
          </p:cNvCxnSpPr>
          <p:nvPr/>
        </p:nvCxnSpPr>
        <p:spPr>
          <a:xfrm>
            <a:off x="10267950" y="3495675"/>
            <a:ext cx="57150" cy="0"/>
          </a:xfrm>
          <a:prstGeom prst="straightConnector1">
            <a:avLst/>
          </a:prstGeom>
          <a:ln w="19050">
            <a:solidFill>
              <a:srgbClr val="9CB0C3"/>
            </a:solidFill>
            <a:prstDash val="solid"/>
            <a:tailEnd type="triangle" w="sm" len="sm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703C61-2B59-47C1-8645-665214A1877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572750" cy="742950"/>
          </a:xfrm>
          <a:prstGeom prst="roundRect">
            <a:avLst>
              <a:gd name="adj" fmla="val 15385"/>
            </a:avLst>
          </a:prstGeom>
          <a:solidFill>
            <a:srgbClr val="0F1C2B"/>
          </a:solidFill>
          <a:ln w="9525">
            <a:solidFill>
              <a:srgbClr val="29405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50DB69-2FBD-4FF2-826C-8509971FED4E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F5B94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5B942"/>
                </a:solidFill>
                <a:latin typeface="DejaVu Sans"/>
                <a:ea typeface="DejaVu Sans"/>
                <a:cs typeface="DejaVu Sans"/>
              </a:rPr>
              <a:t>Immediate 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D53AEE-FC43-4DB9-B2B1-4C9DA461F787}"/>
              </a:ext>
            </a:extLst>
          </p:cNvPr>
          <p:cNvSpPr>
            <a:spLocks noGrp="1"/>
          </p:cNvSpPr>
          <p:nvPr/>
        </p:nvSpPr>
        <p:spPr>
          <a:xfrm>
            <a:off x="2667000" y="4867275"/>
            <a:ext cx="819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684"/>
          </a:bodyPr>
          <a:lstStyle/>
          <a:p>
            <a:pPr algn="l">
              <a:buNone/>
              <a:def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AF2F8"/>
                </a:solidFill>
                <a:latin typeface="DejaVu Sans"/>
                <a:ea typeface="DejaVu Sans"/>
                <a:cs typeface="DejaVu Sans"/>
              </a:rPr>
              <a:t>Link each reported count and benchmark result to its dataset split, code path and detector configuration.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458723-FBFB-4B4E-87B4-4C298F154E1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hlin863/ewma_covariate_shift_demo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A4D4A7-FEA9-4B08-9513-6705B8A8BF93}"/>
              </a:ext>
            </a:extLst>
          </p:cNvPr>
          <p:cNvSpPr>
            <a:spLocks noGrp="1"/>
          </p:cNvSpPr>
          <p:nvPr/>
        </p:nvSpPr>
        <p:spPr>
          <a:xfrm>
            <a:off x="11049000" y="651510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9CB0C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3319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953</Words>
  <Application>Microsoft Office PowerPoint</Application>
  <DocSecurity>0</DocSecurity>
  <PresentationFormat>Widescreen</PresentationFormat>
  <Paragraphs>198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Haocheng</cp:lastModifiedBy>
  <cp:revision>13</cp:revision>
  <dcterms:created xsi:type="dcterms:W3CDTF">2026-09-28T10:33:15Z</dcterms:created>
  <dcterms:modified xsi:type="dcterms:W3CDTF">2026-09-28T10:56:30Z</dcterms:modified>
</cp:coreProperties>
</file>