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a42f1c674f4ff7" /><Relationship Type="http://schemas.openxmlformats.org/officeDocument/2006/relationships/extended-properties" Target="/docProps/app.xml" Id="Rc09bd03c73da466a" /><Relationship Type="http://schemas.openxmlformats.org/officeDocument/2006/relationships/officeDocument" Target="/ppt/presentation.xml" Id="R542cff73c80548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8a61c346d4adf"/>
  </p:sldMasterIdLst>
  <p:notesMasterIdLst>
    <p:notesMasterId xmlns:r="http://schemas.openxmlformats.org/officeDocument/2006/relationships" r:id="R3cc9169d9da043b7"/>
  </p:notesMasterIdLst>
  <p:sldIdLst>
    <p:sldId xmlns:r="http://schemas.openxmlformats.org/officeDocument/2006/relationships" id="256" r:id="R211169ce60e640ee"/>
    <p:sldId xmlns:r="http://schemas.openxmlformats.org/officeDocument/2006/relationships" id="257" r:id="R6b2d0e57ef764a35"/>
    <p:sldId xmlns:r="http://schemas.openxmlformats.org/officeDocument/2006/relationships" id="258" r:id="R206acd5ad0ea4c32"/>
    <p:sldId xmlns:r="http://schemas.openxmlformats.org/officeDocument/2006/relationships" id="259" r:id="Rffaafdd356cd4ad1"/>
    <p:sldId xmlns:r="http://schemas.openxmlformats.org/officeDocument/2006/relationships" id="260" r:id="R4460ff5ac23c4657"/>
    <p:sldId xmlns:r="http://schemas.openxmlformats.org/officeDocument/2006/relationships" id="261" r:id="R0b5e99a7efdd4167"/>
    <p:sldId xmlns:r="http://schemas.openxmlformats.org/officeDocument/2006/relationships" id="262" r:id="R50254e21a1924716"/>
    <p:sldId xmlns:r="http://schemas.openxmlformats.org/officeDocument/2006/relationships" id="263" r:id="Racde2b5fac2b445a"/>
    <p:sldId xmlns:r="http://schemas.openxmlformats.org/officeDocument/2006/relationships" id="264" r:id="Rb70d9009fce04d9a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a692fcdb974d05" /><Relationship Type="http://schemas.openxmlformats.org/officeDocument/2006/relationships/slideMaster" Target="/ppt/slideMasters/slideMaster1.xml" Id="R2288a61c346d4adf" /><Relationship Type="http://schemas.openxmlformats.org/officeDocument/2006/relationships/notesMaster" Target="/ppt/notesMasters/notesMaster1.xml" Id="R3cc9169d9da043b7" /><Relationship Type="http://schemas.openxmlformats.org/officeDocument/2006/relationships/presProps" Target="/ppt/presProps.xml" Id="R9cbf8cfdc03543f9" /><Relationship Type="http://schemas.openxmlformats.org/officeDocument/2006/relationships/viewProps" Target="/ppt/viewProps.xml" Id="R86e63ef5bca84a8d" /><Relationship Type="http://schemas.openxmlformats.org/officeDocument/2006/relationships/tableStyles" Target="/ppt/tableStyles.xml" Id="Ra9292c5fffef44f4" /><Relationship Type="http://schemas.openxmlformats.org/officeDocument/2006/relationships/slide" Target="/ppt/slides/slide1.xml" Id="R211169ce60e640ee" /><Relationship Type="http://schemas.openxmlformats.org/officeDocument/2006/relationships/slide" Target="/ppt/slides/slide2.xml" Id="R6b2d0e57ef764a35" /><Relationship Type="http://schemas.openxmlformats.org/officeDocument/2006/relationships/slide" Target="/ppt/slides/slide3.xml" Id="R206acd5ad0ea4c32" /><Relationship Type="http://schemas.openxmlformats.org/officeDocument/2006/relationships/slide" Target="/ppt/slides/slide4.xml" Id="Rffaafdd356cd4ad1" /><Relationship Type="http://schemas.openxmlformats.org/officeDocument/2006/relationships/slide" Target="/ppt/slides/slide5.xml" Id="R4460ff5ac23c4657" /><Relationship Type="http://schemas.openxmlformats.org/officeDocument/2006/relationships/slide" Target="/ppt/slides/slide6.xml" Id="R0b5e99a7efdd4167" /><Relationship Type="http://schemas.openxmlformats.org/officeDocument/2006/relationships/slide" Target="/ppt/slides/slide7.xml" Id="R50254e21a1924716" /><Relationship Type="http://schemas.openxmlformats.org/officeDocument/2006/relationships/slide" Target="/ppt/slides/slide8.xml" Id="Racde2b5fac2b445a" /><Relationship Type="http://schemas.openxmlformats.org/officeDocument/2006/relationships/slide" Target="/ppt/slides/slide9.xml" Id="Rb70d9009fce04d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47703bc5394e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d9966ecaf84c69" /><Relationship Type="http://schemas.openxmlformats.org/officeDocument/2006/relationships/notesMaster" Target="/ppt/notesMasters/notesMaster1.xml" Id="R6493b4c6401041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2dc5a825f04015" /><Relationship Type="http://schemas.openxmlformats.org/officeDocument/2006/relationships/notesMaster" Target="/ppt/notesMasters/notesMaster1.xml" Id="R070904f273d44b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80ee03a82941fc" /><Relationship Type="http://schemas.openxmlformats.org/officeDocument/2006/relationships/notesMaster" Target="/ppt/notesMasters/notesMaster1.xml" Id="R919a8578af754c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e33240e1944273" /><Relationship Type="http://schemas.openxmlformats.org/officeDocument/2006/relationships/notesMaster" Target="/ppt/notesMasters/notesMaster1.xml" Id="R6cae3b4b797943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655de5b60241ac" /><Relationship Type="http://schemas.openxmlformats.org/officeDocument/2006/relationships/notesMaster" Target="/ppt/notesMasters/notesMaster1.xml" Id="Re251b3f1e57e43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c5617f64434c68" /><Relationship Type="http://schemas.openxmlformats.org/officeDocument/2006/relationships/notesMaster" Target="/ppt/notesMasters/notesMaster1.xml" Id="Rab8070710f1f42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409b721a45499f" /><Relationship Type="http://schemas.openxmlformats.org/officeDocument/2006/relationships/notesMaster" Target="/ppt/notesMasters/notesMaster1.xml" Id="Rb89787d223ff42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8f590f30a34efc" /><Relationship Type="http://schemas.openxmlformats.org/officeDocument/2006/relationships/notesMaster" Target="/ppt/notesMasters/notesMaster1.xml" Id="R1b482fb648ac43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f4effcb5014961" /><Relationship Type="http://schemas.openxmlformats.org/officeDocument/2006/relationships/notesMaster" Target="/ppt/notesMasters/notesMaster1.xml" Id="R0444778296b241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first-year work packages transcribed from the source deck. WP1 M1–3, WP2 M2–5, WP3 M4–7, WP4 M5–9, WP5 M7–11, WP6 M10–12. Bars represent October 2026 through September 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3178af2444a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3a8c1506054282" /><Relationship Type="http://schemas.openxmlformats.org/officeDocument/2006/relationships/slideLayout" Target="/ppt/slideLayouts/slideLayout1.xml" Id="Re9938c7680fc43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938c7680fc43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e702b7b68466e" /><Relationship Type="http://schemas.openxmlformats.org/officeDocument/2006/relationships/notesSlide" Target="/ppt/notesSlides/notesSlide1.xml" Id="R669031dc6bc643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70103aba84b3b" /><Relationship Type="http://schemas.openxmlformats.org/officeDocument/2006/relationships/notesSlide" Target="/ppt/notesSlides/notesSlide2.xml" Id="R58a1a88b43764e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3e0a64afb4b08" /><Relationship Type="http://schemas.openxmlformats.org/officeDocument/2006/relationships/notesSlide" Target="/ppt/notesSlides/notesSlide3.xml" Id="R3c0fc866317d45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5fdfdd4ca4818" /><Relationship Type="http://schemas.openxmlformats.org/officeDocument/2006/relationships/notesSlide" Target="/ppt/notesSlides/notesSlide4.xml" Id="R6c8936a70fd846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62d9575714973" /><Relationship Type="http://schemas.openxmlformats.org/officeDocument/2006/relationships/notesSlide" Target="/ppt/notesSlides/notesSlide5.xml" Id="Re513a2682b814f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0429b02d34d84" /><Relationship Type="http://schemas.openxmlformats.org/officeDocument/2006/relationships/notesSlide" Target="/ppt/notesSlides/notesSlide6.xml" Id="R1a1d2cc7d86f40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3c9b7ccc8408c" /><Relationship Type="http://schemas.openxmlformats.org/officeDocument/2006/relationships/notesSlide" Target="/ppt/notesSlides/notesSlide7.xml" Id="Rbe6931919d9d46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4c1882c4746ea" /><Relationship Type="http://schemas.openxmlformats.org/officeDocument/2006/relationships/notesSlide" Target="/ppt/notesSlides/notesSlide8.xml" Id="R74a41883f03040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3e0c476044cde" /><Relationship Type="http://schemas.openxmlformats.org/officeDocument/2006/relationships/notesSlide" Target="/ppt/notesSlides/notesSlide9.xml" Id="Rf29f642c7d9a46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FB7A1BC-9F50-412C-AD08-6A0907BD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525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5D122F1-24A1-464A-9263-EC7D882D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47750"/>
            <a:ext cx="723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Covariate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Shift Demo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8CA1C25-D797-45EF-8E63-B3F29F30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Manuscript and implementation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3AA9472-82BB-48BB-A352-5C29C535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Auditable CSE reconstruction for motor-imagery EEG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Writing, coding</a:t>
            </a: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 and literature progress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C9C5016-122B-4D29-A204-F4E2046D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863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28 September 2026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DB14461-27EF-40B7-8E78-A43C62D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48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Scope: CSE subsystem and classifier benchmark</a:t>
            </a: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17DC29CC-1D2C-4B14-8435-1D09CBA5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572500" y="1219200"/>
            <a:ext cx="6477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16F07650-6530-4543-9433-EA373012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219200"/>
            <a:ext cx="666750" cy="971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EA1FF"/>
            </a:solidFill>
            <a:prstDash val="solid"/>
          </a:ln>
        </p:spPr>
      </p:sp>
      <p:sp>
        <p:nvSpPr>
          <p:cNvPr id="9" name="Straight Connector 8">
            <a:extLst xmlns:a="http://schemas.openxmlformats.org/drawingml/2006/main">
              <a:ext uri="{FF2B5EF4-FFF2-40B4-BE49-F238E27FC236}">
                <a16:creationId xmlns:a16="http://schemas.microsoft.com/office/drawing/2014/main" id="{78903F61-9ED7-484C-8B3B-095EB461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886950" y="1733550"/>
            <a:ext cx="62865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10" name="Straight Connector 9">
            <a:extLst xmlns:a="http://schemas.openxmlformats.org/drawingml/2006/main">
              <a:ext uri="{FF2B5EF4-FFF2-40B4-BE49-F238E27FC236}">
                <a16:creationId xmlns:a16="http://schemas.microsoft.com/office/drawing/2014/main" id="{5AA64371-039C-466E-916C-B117BEA3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33550"/>
            <a:ext cx="6477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EA1FF"/>
            </a:solidFill>
            <a:prstDash val="solid"/>
          </a:ln>
        </p:spPr>
      </p:sp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FF7FE505-030C-432A-9D5C-E15B74B8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325100" y="2686050"/>
            <a:ext cx="83820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7BD7E3D-F20C-467A-8236-AACCFBA5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353550" y="3009900"/>
            <a:ext cx="97155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EA1FF"/>
            </a:solidFill>
            <a:prstDash val="solid"/>
          </a:ln>
        </p:spPr>
      </p:sp>
      <p:sp>
        <p:nvSpPr>
          <p:cNvPr id="13" name="Straight Connector 12">
            <a:extLst xmlns:a="http://schemas.openxmlformats.org/drawingml/2006/main">
              <a:ext uri="{FF2B5EF4-FFF2-40B4-BE49-F238E27FC236}">
                <a16:creationId xmlns:a16="http://schemas.microsoft.com/office/drawing/2014/main" id="{1EA5F974-D9BE-4707-AFC1-1496231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686800" y="3009900"/>
            <a:ext cx="66675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14" name="Rectangle: Rounded Corners 13">
            <a:extLst xmlns:a="http://schemas.openxmlformats.org/drawingml/2006/main">
              <a:ext uri="{FF2B5EF4-FFF2-40B4-BE49-F238E27FC236}">
                <a16:creationId xmlns:a16="http://schemas.microsoft.com/office/drawing/2014/main" id="{05E14B93-7F85-4455-8048-9406362F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62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5" name="Rectangle: Rounded Corners 14">
            <a:extLst xmlns:a="http://schemas.openxmlformats.org/drawingml/2006/main">
              <a:ext uri="{FF2B5EF4-FFF2-40B4-BE49-F238E27FC236}">
                <a16:creationId xmlns:a16="http://schemas.microsoft.com/office/drawing/2014/main" id="{72680F17-AE51-430B-A782-B2D55F38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1620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6" name="Rectangle: Rounded Corners 15">
            <a:extLst xmlns:a="http://schemas.openxmlformats.org/drawingml/2006/main">
              <a:ext uri="{FF2B5EF4-FFF2-40B4-BE49-F238E27FC236}">
                <a16:creationId xmlns:a16="http://schemas.microsoft.com/office/drawing/2014/main" id="{E767A00D-09BD-49C4-8743-4F50945C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336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7" name="Rectangle: Rounded Corners 16">
            <a:extLst xmlns:a="http://schemas.openxmlformats.org/drawingml/2006/main">
              <a:ext uri="{FF2B5EF4-FFF2-40B4-BE49-F238E27FC236}">
                <a16:creationId xmlns:a16="http://schemas.microsoft.com/office/drawing/2014/main" id="{BBD805D9-E3C8-4713-AE6D-B22F85B6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6764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8" name="Rectangle: Rounded Corners 17">
            <a:extLst xmlns:a="http://schemas.openxmlformats.org/drawingml/2006/main">
              <a:ext uri="{FF2B5EF4-FFF2-40B4-BE49-F238E27FC236}">
                <a16:creationId xmlns:a16="http://schemas.microsoft.com/office/drawing/2014/main" id="{4810B203-C9DC-4405-A7A9-21298EF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6289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</a:ln>
        </p:spPr>
      </p:sp>
      <p:sp>
        <p:nvSpPr>
          <p:cNvPr id="19" name="Rectangle: Rounded Corners 18">
            <a:extLst xmlns:a="http://schemas.openxmlformats.org/drawingml/2006/main">
              <a:ext uri="{FF2B5EF4-FFF2-40B4-BE49-F238E27FC236}">
                <a16:creationId xmlns:a16="http://schemas.microsoft.com/office/drawing/2014/main" id="{34352F27-3D12-46B5-ADB7-7BD75119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3337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0" name="Rectangle: Rounded Corners 19">
            <a:extLst xmlns:a="http://schemas.openxmlformats.org/drawingml/2006/main">
              <a:ext uri="{FF2B5EF4-FFF2-40B4-BE49-F238E27FC236}">
                <a16:creationId xmlns:a16="http://schemas.microsoft.com/office/drawing/2014/main" id="{3ED7F06F-E0D5-49C1-A526-EC90A786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9527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1" name="Rectangle: Rounded Corners 20">
            <a:extLst xmlns:a="http://schemas.openxmlformats.org/drawingml/2006/main">
              <a:ext uri="{FF2B5EF4-FFF2-40B4-BE49-F238E27FC236}">
                <a16:creationId xmlns:a16="http://schemas.microsoft.com/office/drawing/2014/main" id="{AB6AAE89-9F53-45FB-91C5-CC373DD2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48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346543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CBC2B8F1-18B9-4945-BFFE-9CCB3FD6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PROGRESS SNAPSHOT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411661D-9052-49DA-B402-93463900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Writing, code</a:t>
            </a: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 and literature now align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BCCA5901-7295-4811-8038-7916C9D9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F1878A-14E8-4D79-946F-18CAA775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abstract defines a configuration-controlled CSE baseline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28F4EB-BF37-4DE7-BC90-3A6AE7BC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6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The detector, data boundaries</a:t>
            </a: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 and classifier benchmark are described separately with </a:t>
            </a: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an incoming </a:t>
            </a: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full adaptive-learning loop.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9229B1-C09A-4F43-AD2F-5340A420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2A</a:t>
            </a: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CA868DD3-83BD-4184-B707-14237339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4D98B"/>
            </a:solidFill>
            <a:prstDash val="solid"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B497ED-56FB-4098-BF7B-0EDA4652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 development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II held out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2DEAC82-5ED2-4320-A49F-5FA6C29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528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2B</a:t>
            </a:r>
          </a:p>
        </p:txBody>
      </p:sp>
      <p:sp>
        <p:nvSpPr>
          <p:cNvPr id="10" name="Straight Connector 9">
            <a:extLst xmlns:a="http://schemas.openxmlformats.org/drawingml/2006/main">
              <a:ext uri="{FF2B5EF4-FFF2-40B4-BE49-F238E27FC236}">
                <a16:creationId xmlns:a16="http://schemas.microsoft.com/office/drawing/2014/main" id="{6F0C69DE-9945-424D-85E3-C85D5672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719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EA1FF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365A4B9-4806-4A0D-9D15-A18D22D2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624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I–III development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IV–V held out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F64875-636B-46EB-9393-5788B975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13" name="Straight Connector 12">
            <a:extLst xmlns:a="http://schemas.openxmlformats.org/drawingml/2006/main">
              <a:ext uri="{FF2B5EF4-FFF2-40B4-BE49-F238E27FC236}">
                <a16:creationId xmlns:a16="http://schemas.microsoft.com/office/drawing/2014/main" id="{229578C5-8E1C-4718-BD61-44C2B40D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719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2DD15D8-CAE4-4B08-8C2F-BC7B6087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624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detector stages: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and Hotelling T²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1488553-F45B-4FF1-A081-BE3236AC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Current maturity</a:t>
            </a:r>
          </a:p>
        </p:txBody>
      </p:sp>
      <p:sp>
        <p:nvSpPr>
          <p:cNvPr id="16" name="Straight Connector 15">
            <a:extLst xmlns:a="http://schemas.openxmlformats.org/drawingml/2006/main">
              <a:ext uri="{FF2B5EF4-FFF2-40B4-BE49-F238E27FC236}">
                <a16:creationId xmlns:a16="http://schemas.microsoft.com/office/drawing/2014/main" id="{05E1E5F8-1D28-4E29-9631-64C41F2B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81650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294057"/>
            </a:solidFill>
            <a:prstDash val="solid"/>
          </a:ln>
        </p:spPr>
      </p:sp>
      <p:sp>
        <p:nvSpPr>
          <p:cNvPr id="17" name="Straight Connector 16">
            <a:extLst xmlns:a="http://schemas.openxmlformats.org/drawingml/2006/main">
              <a:ext uri="{FF2B5EF4-FFF2-40B4-BE49-F238E27FC236}">
                <a16:creationId xmlns:a16="http://schemas.microsoft.com/office/drawing/2014/main" id="{49989D87-5AC9-490D-B5B2-269F4814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81650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2DD4BF"/>
            </a:solidFill>
            <a:prstDash val="solid"/>
          </a:ln>
        </p:spPr>
      </p:sp>
      <p:sp>
        <p:nvSpPr>
          <p:cNvPr id="18" name="Rectangle: Rounded Corners 17">
            <a:extLst xmlns:a="http://schemas.openxmlformats.org/drawingml/2006/main">
              <a:ext uri="{FF2B5EF4-FFF2-40B4-BE49-F238E27FC236}">
                <a16:creationId xmlns:a16="http://schemas.microsoft.com/office/drawing/2014/main" id="{6B6FE5F0-D115-4322-9E74-28246F7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5054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3C826AB-809A-4F14-B9FE-5880AEAE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0863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CSE reconstruction and method audit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09F4DC8-4D8E-490A-BBCF-F27362E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7445EB6-2F24-48F3-965C-9A2925AC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21001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ED0F0C5-6845-4817-BDB0-68B77FB6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LITERATURE REVIEW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6C294D-CD02-4989-878B-778A0AFD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Reading informs the reconstruction and its limits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15952200-5E6E-468B-8B3A-4C220229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9A2AC98A-F2B5-41D3-A0B8-2FC04CE4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94057"/>
            </a:solidFill>
            <a:prstDash val="solid"/>
          </a:ln>
        </p:spPr>
      </p:sp>
      <p:sp>
        <p:nvSpPr>
          <p:cNvPr id="5" name="Rectangle: Rounded Corners 4">
            <a:extLst xmlns:a="http://schemas.openxmlformats.org/drawingml/2006/main">
              <a:ext uri="{FF2B5EF4-FFF2-40B4-BE49-F238E27FC236}">
                <a16:creationId xmlns:a16="http://schemas.microsoft.com/office/drawing/2014/main" id="{0C0F15E2-E046-4F78-9DEE-0924199E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1FF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3EF8275-D142-4976-B9CE-AC1189FF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2015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973316C-A27B-4BBD-AA8B-E09882FD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Raza: detector basis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E29DA93-D443-4AE2-A341-E0C200D5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61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EWMA warning logic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D2 reconstruction</a:t>
            </a:r>
          </a:p>
        </p:txBody>
      </p:sp>
      <p:sp>
        <p:nvSpPr>
          <p:cNvPr id="10" name="Rectangle: Rounded Corners 9">
            <a:extLst xmlns:a="http://schemas.openxmlformats.org/drawingml/2006/main">
              <a:ext uri="{FF2B5EF4-FFF2-40B4-BE49-F238E27FC236}">
                <a16:creationId xmlns:a16="http://schemas.microsoft.com/office/drawing/2014/main" id="{286E4705-6593-4CAC-876E-EBF3C80A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224A723-3CD5-48B0-89AA-D2F0E7EF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193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2018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E815300-B5F2-4A41-ACCC-52F5F2A6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288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Chowdhury: online BCI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742545-4578-44F5-80CF-38F0769C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62350"/>
            <a:ext cx="161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FBCSP setting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Cohort and feedback</a:t>
            </a:r>
          </a:p>
        </p:txBody>
      </p:sp>
      <p:sp>
        <p:nvSpPr>
          <p:cNvPr id="15" name="Rectangle: Rounded Corners 14">
            <a:extLst xmlns:a="http://schemas.openxmlformats.org/drawingml/2006/main">
              <a:ext uri="{FF2B5EF4-FFF2-40B4-BE49-F238E27FC236}">
                <a16:creationId xmlns:a16="http://schemas.microsoft.com/office/drawing/2014/main" id="{834A2043-F901-4D00-BD49-C1083559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BAB5777-D390-4DF4-AFD8-4999AC3F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193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2019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EF414CB-02B1-41C4-A8EA-5B48624B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288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Raza: CSE-UAEL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C4F5BBC-F4DA-4621-BA7D-23F869B3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61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Two-stage CSE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Adaptation context</a:t>
            </a:r>
          </a:p>
        </p:txBody>
      </p:sp>
      <p:sp>
        <p:nvSpPr>
          <p:cNvPr id="20" name="Rectangle: Rounded Corners 19">
            <a:extLst xmlns:a="http://schemas.openxmlformats.org/drawingml/2006/main">
              <a:ext uri="{FF2B5EF4-FFF2-40B4-BE49-F238E27FC236}">
                <a16:creationId xmlns:a16="http://schemas.microsoft.com/office/drawing/2014/main" id="{2A1CE66C-8D1F-45A4-ADCD-66FB6EDD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98B"/>
          </a:solidFill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7E7A475-CDCA-424D-A222-FA271DE9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193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Related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7A2A7A9-3216-4C86-B2EE-21E6587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2887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Rao and Heyden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25067DC-03F2-4010-AB52-596DC08C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62350"/>
            <a:ext cx="161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PCA interpretation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Change detection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63455E8-C60A-401F-AF94-B3849E58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literature review separates published detector methods from reconstruction choices and proposed extensions.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3AD054A-77DD-438F-B1A2-CEAD38F2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6AF4919-C33C-49E3-9215-D84C4C44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378632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82CFBA0D-6112-421A-BC28-280695CB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IMPLEMENTED PIPELINE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6253F7-B0B1-4872-99CB-51F07E8B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CSE ends at validated shift evidence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13DAD4E1-E0F7-4B44-8710-B2D906C6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: Rounded Corners 3">
            <a:extLst xmlns:a="http://schemas.openxmlformats.org/drawingml/2006/main">
              <a:ext uri="{FF2B5EF4-FFF2-40B4-BE49-F238E27FC236}">
                <a16:creationId xmlns:a16="http://schemas.microsoft.com/office/drawing/2014/main" id="{0E33D50E-54B6-4BCD-9DDA-D5F7B88E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952625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4EA1FF"/>
            </a:solidFill>
            <a:prstDash val="solid"/>
          </a:ln>
        </p:spPr>
      </p:sp>
      <p:sp>
        <p:nvSpPr>
          <p:cNvPr id="5" name="Rectangle: Rounded Corners 4">
            <a:extLst xmlns:a="http://schemas.openxmlformats.org/drawingml/2006/main">
              <a:ext uri="{FF2B5EF4-FFF2-40B4-BE49-F238E27FC236}">
                <a16:creationId xmlns:a16="http://schemas.microsoft.com/office/drawing/2014/main" id="{DB6F5169-2F31-40E1-8E95-BD7D7D8A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952625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1FF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787917-756E-4DE7-A943-7B2E39CC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1609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BCI data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0DD980-736E-4443-897A-07B160D9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43250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Cue-aligned trials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2A and 2B</a:t>
            </a:r>
          </a:p>
        </p:txBody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FE1B088C-7DF6-4BC5-87B0-30AA61FF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1952625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9" name="Rectangle: Rounded Corners 8">
            <a:extLst xmlns:a="http://schemas.openxmlformats.org/drawingml/2006/main">
              <a:ext uri="{FF2B5EF4-FFF2-40B4-BE49-F238E27FC236}">
                <a16:creationId xmlns:a16="http://schemas.microsoft.com/office/drawing/2014/main" id="{CB0761D9-BC45-4001-89F9-1CB96675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1952625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C508D3D-4808-409C-8F24-1069D470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47950"/>
            <a:ext cx="1609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45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Signal representation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C417B5-D9AC-4E94-A11E-0D416955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10-band FBCSP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PCA scores</a:t>
            </a:r>
          </a:p>
        </p:txBody>
      </p:sp>
      <p:sp>
        <p:nvSpPr>
          <p:cNvPr id="12" name="Rectangle: Rounded Corners 11">
            <a:extLst xmlns:a="http://schemas.openxmlformats.org/drawingml/2006/main">
              <a:ext uri="{FF2B5EF4-FFF2-40B4-BE49-F238E27FC236}">
                <a16:creationId xmlns:a16="http://schemas.microsoft.com/office/drawing/2014/main" id="{33ADF653-1DF6-40D3-B03A-CC413A5E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33625"/>
            <a:ext cx="1952625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4EA1FF"/>
            </a:solidFill>
            <a:prstDash val="solid"/>
          </a:ln>
        </p:spPr>
      </p:sp>
      <p:sp>
        <p:nvSpPr>
          <p:cNvPr id="13" name="Rectangle: Rounded Corners 12">
            <a:extLst xmlns:a="http://schemas.openxmlformats.org/drawingml/2006/main">
              <a:ext uri="{FF2B5EF4-FFF2-40B4-BE49-F238E27FC236}">
                <a16:creationId xmlns:a16="http://schemas.microsoft.com/office/drawing/2014/main" id="{9257ED36-0B70-43AC-932E-9A8FA68D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33625"/>
            <a:ext cx="1952625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1FF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72B680-B357-4457-87CB-CEB0C636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47950"/>
            <a:ext cx="1609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 I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66B272C-9671-42CF-A33C-8FD98C50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143250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EWMA candidate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warnings</a:t>
            </a:r>
          </a:p>
        </p:txBody>
      </p:sp>
      <p:sp>
        <p:nvSpPr>
          <p:cNvPr id="16" name="Rectangle: Rounded Corners 15">
            <a:extLst xmlns:a="http://schemas.openxmlformats.org/drawingml/2006/main">
              <a:ext uri="{FF2B5EF4-FFF2-40B4-BE49-F238E27FC236}">
                <a16:creationId xmlns:a16="http://schemas.microsoft.com/office/drawing/2014/main" id="{A3E7FE36-87E0-4AB6-A7C1-4B48092C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33625"/>
            <a:ext cx="1952625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7" name="Rectangle: Rounded Corners 16">
            <a:extLst xmlns:a="http://schemas.openxmlformats.org/drawingml/2006/main">
              <a:ext uri="{FF2B5EF4-FFF2-40B4-BE49-F238E27FC236}">
                <a16:creationId xmlns:a16="http://schemas.microsoft.com/office/drawing/2014/main" id="{93E09973-00CE-408A-90EB-6E3C0F11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33625"/>
            <a:ext cx="1952625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D877F8F-991B-4571-8C36-5F530C5A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1609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 II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9740D74-0B36-46AE-B787-30B18AED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43250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Hotelling T²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validation</a:t>
            </a:r>
          </a:p>
        </p:txBody>
      </p:sp>
      <p:sp>
        <p:nvSpPr>
          <p:cNvPr id="20" name="Rectangle: Rounded Corners 19">
            <a:extLst xmlns:a="http://schemas.openxmlformats.org/drawingml/2006/main">
              <a:ext uri="{FF2B5EF4-FFF2-40B4-BE49-F238E27FC236}">
                <a16:creationId xmlns:a16="http://schemas.microsoft.com/office/drawing/2014/main" id="{5D8CDCE0-8F99-4397-8AB5-BECE7661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33625"/>
            <a:ext cx="1809750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64D98B"/>
            </a:solidFill>
            <a:prstDash val="solid"/>
          </a:ln>
        </p:spPr>
      </p:sp>
      <p:sp>
        <p:nvSpPr>
          <p:cNvPr id="21" name="Rectangle: Rounded Corners 20">
            <a:extLst xmlns:a="http://schemas.openxmlformats.org/drawingml/2006/main">
              <a:ext uri="{FF2B5EF4-FFF2-40B4-BE49-F238E27FC236}">
                <a16:creationId xmlns:a16="http://schemas.microsoft.com/office/drawing/2014/main" id="{827A085D-5169-47AB-8BCC-D1115AC8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33625"/>
            <a:ext cx="1809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98B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CECF4B-8574-40EA-90A0-A7E8703A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647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Evidence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FB05B4A-1948-46C5-862D-B714ACCE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14325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Counts, diagnostics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and provenance</a:t>
            </a:r>
          </a:p>
        </p:txBody>
      </p:sp>
      <p:cxnSp>
        <p:nvCxnSpPr>
          <p:cNvPr id="110" name="Straight Arrow Connector 82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76500" y="31908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1" name="Straight Arrow Connector 83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810125" y="31908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2" name="Straight Arrow Connector 84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143750" y="31908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3" name="Straight Arrow Connector 85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477375" y="31908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94057"/>
            </a:solidFill>
            <a:prstDash val="solid"/>
            <a:tailEnd type="triangle" w="sm" len="sm"/>
          </a:ln>
        </p:spPr>
      </p:cxn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8B931D16-7FB5-4AA1-B865-35E61D89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4767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CSE subsystem boundary</a:t>
            </a:r>
          </a:p>
        </p:txBody>
      </p:sp>
      <p:sp>
        <p:nvSpPr>
          <p:cNvPr id="29" name="Straight Connector 28">
            <a:extLst xmlns:a="http://schemas.openxmlformats.org/drawingml/2006/main">
              <a:ext uri="{FF2B5EF4-FFF2-40B4-BE49-F238E27FC236}">
                <a16:creationId xmlns:a16="http://schemas.microsoft.com/office/drawing/2014/main" id="{0D322409-6D7A-4985-8A67-4EF94F89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857750"/>
            <a:ext cx="3857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B942"/>
            </a:solidFill>
            <a:prstDash val="solid"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819A1DC-8EC0-47CD-A6E5-4832549F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959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classifier benchmark is a separate experiment. Shift-triggered pseudo-labelling and ensemble growth remain future work.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008A090-4643-4F7F-B8D3-F29933ED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8AE9E2D-37CD-4F1E-942F-9B6D3090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26805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8F54C9D-1E96-45E4-8CDE-790A1582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DATA PROTOCOL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B90596F-2066-46B0-B963-6E599B63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Feature fitting is confined to development training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72D2C2F6-86A3-49D5-89D3-6A9C6351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363F9-BC47-4B28-A454-090BB368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BCI Competition IV 2A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5EC4BF-6FEE-4A91-AEAD-D3C14865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 develops the model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D2C6BCC-6841-42A3-AE4B-8F5D735C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667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Split Session I into training and validation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Fit FBCSP on training trials only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Apply fitted features to validation trials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Reserve Session II for held-out evaluation</a:t>
            </a: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CC28E0FF-26C5-4466-A775-C0F1E511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335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7D14E88-1583-4468-ADF4-3F627271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BCI Competition IV 2B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A09DE3D-873D-45A1-A54D-3F145758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I–III develop the model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9EDB97E-2B69-4691-B5C6-8BE87573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4667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Stratified 70/30 training–validation split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Fit FBCSP on development training only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Apply fitted features to validation trials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Reserve Sessions IV–V for evaluation</a:t>
            </a:r>
          </a:p>
        </p:txBody>
      </p:sp>
      <p:sp>
        <p:nvSpPr>
          <p:cNvPr id="11" name="Rectangle: Rounded Corners 10">
            <a:extLst xmlns:a="http://schemas.openxmlformats.org/drawingml/2006/main">
              <a:ext uri="{FF2B5EF4-FFF2-40B4-BE49-F238E27FC236}">
                <a16:creationId xmlns:a16="http://schemas.microsoft.com/office/drawing/2014/main" id="{10101867-1F8A-439D-A88E-D31865E6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57275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A15745C-1BA2-4735-BB56-2BED4789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911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Shared rule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08AD596-C1F7-4D0E-AE1C-70F38E40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14900"/>
            <a:ext cx="785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605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Evaluation trials do not enter feature-model fitting. </a:t>
            </a:r>
            <a:endParaRPr sz="1425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endParaRPr sz="1425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Report detector outputs with the configuration that produced them.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E25EFAE-20EA-4B23-A584-EA109F66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47F094-C46B-4595-A723-4047FC00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3195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2AA9D904-5262-45AB-ADD9-F2975784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CODING AND VERIFICATION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0E829DA-45E0-4ACE-ABE3-77ABCDA0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 real-data benchmark now complements CSE tests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D9EBF67B-0780-415B-8D50-0CB4B5C6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A3A144-F218-4F5F-81C7-F58AE288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585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45152F-8B87-4854-8913-A2443142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classifier strategies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03FFA44-2F91-481B-A1C2-CD30031B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843" y="3390900"/>
            <a:ext cx="300765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Linear SVM and bootstrap-aggregated</a:t>
            </a:r>
            <a:endParaRPr sz="1200" b="0">
              <a:solidFill>
                <a:srgbClr val="9CB0C3"/>
              </a:solidFill>
              <a:latin typeface="DejaVu Sans"/>
              <a:ea typeface="DejaVu Sans"/>
              <a:cs typeface="DejaVu Sans"/>
            </a:endParaRPr>
          </a:p>
          <a:p xmlns:a="http://schemas.openxmlformats.org/drawingml/2006/main"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endParaRPr sz="1200" b="0">
              <a:solidFill>
                <a:srgbClr val="9CB0C3"/>
              </a:solidFill>
              <a:latin typeface="DejaVu Sans"/>
              <a:ea typeface="DejaVu Sans"/>
              <a:cs typeface="DejaVu Sans"/>
            </a:endParaRPr>
          </a:p>
          <a:p xmlns:a="http://schemas.openxmlformats.org/drawingml/2006/main"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20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L</a:t>
            </a:r>
            <a:r>
              <a: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inear-SVM ensemble on 2A and 2B</a:t>
            </a: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2ED2ABBF-AF13-4F65-BADE-AB37458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7153995C-8E3E-4BCF-966A-6CDA2969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52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2CEFE9D-E1C8-402B-AA62-723AD9C2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76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Data boundaries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62C0192-07EC-4870-A131-C5A71ED1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train, validation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 and held-out evaluation roles</a:t>
            </a:r>
          </a:p>
        </p:txBody>
      </p:sp>
      <p:sp>
        <p:nvSpPr>
          <p:cNvPr id="11" name="Rectangle: Rounded Corners 10">
            <a:extLst xmlns:a="http://schemas.openxmlformats.org/drawingml/2006/main">
              <a:ext uri="{FF2B5EF4-FFF2-40B4-BE49-F238E27FC236}">
                <a16:creationId xmlns:a16="http://schemas.microsoft.com/office/drawing/2014/main" id="{10EA6CBD-04FC-458C-8E27-E7A5A7A9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3F610B-7F6A-4E91-812A-71BE0D80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Feature pipeline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5E5DA4F-974C-46AB-8279-3E9D914B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cue-aligned extraction, FBCSP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 and PCA</a:t>
            </a:r>
          </a:p>
        </p:txBody>
      </p:sp>
      <p:sp>
        <p:nvSpPr>
          <p:cNvPr id="14" name="Rectangle: Rounded Corners 13">
            <a:extLst xmlns:a="http://schemas.openxmlformats.org/drawingml/2006/main">
              <a:ext uri="{FF2B5EF4-FFF2-40B4-BE49-F238E27FC236}">
                <a16:creationId xmlns:a16="http://schemas.microsoft.com/office/drawing/2014/main" id="{0839CBAC-563C-46F0-9DEA-E448F22A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DFAACD4-A16B-4071-8FA3-B9B5A082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242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Detector audit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178DADC-BD9E-4E6D-95A8-6D59F807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242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λ, control limits, variance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 and window eligibility</a:t>
            </a:r>
          </a:p>
        </p:txBody>
      </p:sp>
      <p:sp>
        <p:nvSpPr>
          <p:cNvPr id="17" name="Rectangle: Rounded Corners 16">
            <a:extLst xmlns:a="http://schemas.openxmlformats.org/drawingml/2006/main">
              <a:ext uri="{FF2B5EF4-FFF2-40B4-BE49-F238E27FC236}">
                <a16:creationId xmlns:a16="http://schemas.microsoft.com/office/drawing/2014/main" id="{9DB00A14-B0E5-4F6F-9996-71402567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24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0">
            <a:noFill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0E2D73B-D84A-485B-A79E-0DB9F230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Benchmark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AD727AD-BE16-49FE-B9F2-BD7842E6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481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single SVM versus bagged linear-SVM ensemble</a:t>
            </a:r>
          </a:p>
        </p:txBody>
      </p:sp>
      <p:sp>
        <p:nvSpPr>
          <p:cNvPr id="20" name="Rectangle: Rounded Corners 19">
            <a:extLst xmlns:a="http://schemas.openxmlformats.org/drawingml/2006/main">
              <a:ext uri="{FF2B5EF4-FFF2-40B4-BE49-F238E27FC236}">
                <a16:creationId xmlns:a16="http://schemas.microsoft.com/office/drawing/2014/main" id="{C3DCE105-3763-473A-B55E-6832C4C4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48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F1D2562-6DAD-4963-AB7B-01ECF8F6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720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Verification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B928D8D-285F-4601-BC63-178709A9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720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automated tests and targeted numerical checks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B18228B-0601-4BB5-97E1-24B7C4E5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10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Synthetic experiments verify software behaviour; real-data comparisons supply the research benchmark.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DDBF32D-3294-4B4E-9CBD-0955D992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610C229-9FB6-427F-AA31-1012D15E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40942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40CA694-4EF1-4040-A776-44BC817F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MANUSCRIPT STATUS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8EEA367-8366-4CB3-950C-B636B7DE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Abstract claims match the implemented scope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6FF91CC9-E811-40C0-9741-F322C58C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9A6C85-7B71-4BA8-9906-A308140E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Written now</a:t>
            </a:r>
          </a:p>
        </p:txBody>
      </p:sp>
      <p:sp>
        <p:nvSpPr>
          <p:cNvPr id="5" name="Straight Connector 4">
            <a:extLst xmlns:a="http://schemas.openxmlformats.org/drawingml/2006/main">
              <a:ext uri="{FF2B5EF4-FFF2-40B4-BE49-F238E27FC236}">
                <a16:creationId xmlns:a16="http://schemas.microsoft.com/office/drawing/2014/main" id="{D1F38080-B796-481E-B793-376A2E25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4D98B"/>
            </a:solidFill>
            <a:prstDash val="solid"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7225BA0-BCAC-4B62-A8CD-CE52987D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048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EEG non-stationarity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CSE rationale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2A and 2B data roles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FBCSP fitting boundary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Detector stages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D0AF876-13D6-4BD8-A726-33D988E0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907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Method audit</a:t>
            </a:r>
          </a:p>
        </p:txBody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55EA8BD3-880D-46AD-9312-AE0EBFF4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5B942"/>
            </a:solidFill>
            <a:prstDash val="solid"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D71A6D-529B-4C3D-B747-A5F59E6E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52700"/>
            <a:ext cx="3048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PCA dimension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variance updates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Control limits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Stage-II window eligibility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 provenance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50CA87D-0D93-4568-9357-BF44E8EF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907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0717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07178"/>
                </a:solidFill>
                <a:latin typeface="DejaVu Sans"/>
                <a:ea typeface="DejaVu Sans"/>
                <a:cs typeface="DejaVu Sans"/>
              </a:rPr>
              <a:t>Next evidence</a:t>
            </a:r>
          </a:p>
        </p:txBody>
      </p:sp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893686EC-B82B-429F-90B0-A4C2F5D6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669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07178"/>
            </a:solidFill>
            <a:prstDash val="solid"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F1C060-C217-4890-A9D2-ADA75D69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52700"/>
            <a:ext cx="3048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Configuration-locked counts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Subject-level comparison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Classifier benchmark results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Error and delay trade-offs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Selective adaptation criteria</a:t>
            </a:r>
          </a:p>
        </p:txBody>
      </p:sp>
      <p:sp>
        <p:nvSpPr>
          <p:cNvPr id="13" name="Rectangle: Rounded Corners 12">
            <a:extLst xmlns:a="http://schemas.openxmlformats.org/drawingml/2006/main">
              <a:ext uri="{FF2B5EF4-FFF2-40B4-BE49-F238E27FC236}">
                <a16:creationId xmlns:a16="http://schemas.microsoft.com/office/drawing/2014/main" id="{9251CEAA-F8F5-42CE-ABA3-B9E4D72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0965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4EB26C4-B90D-43F1-B6CF-61E12A7E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Current claim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55ECF7B-62D0-41B8-A889-B455D227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Auditable CSE reconstruction with a separate classifier benchmark; numerical agreement remains to be established.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3A75AB-491C-4D94-BB99-C282ABB2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6C0CBE6-7E9C-4BAF-BC9C-CE87E40A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010702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240E5E7D-C5A2-4E44-9F48-607BD6A5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PROJECT TIMELINE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BAC0B4-B39A-4482-95EF-D4853F6A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First-year objectives across twelve months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388DC5-D2F3-4DFC-BEBE-2C3AA555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Proposed October 2026 to September 2027 schedule. Bars show planned work periods.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FFF46D4-5C7A-4DAB-80D9-8CE11351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F0C3E7CB-BF47-4DA1-84C8-32923274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15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graphicFrame>
        <p:nvGraphicFramePr>
          <p:cNvPr id="47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05125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2581275"/>
              </a:tblGrid>
              <a:tr h="4191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WORK PACKAGE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Oct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Nov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Dec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Jan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Feb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Mar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Apr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May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Jun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Jul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Aug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Sep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EXPECTED OUTPUT</a:t>
                      </a:r>
                    </a:p>
                  </a:txBody>
                  <a:tcPr marL="91440" marR="91440" marT="45720" marB="45720" anchor="ctr">
                    <a:solidFill>
                      <a:srgbClr val="10253A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WP1  Theory and architecture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CPD, CL and twin design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Architecture specification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WP2  CPD benchmarking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EWMA, CUSUM, BOCPD, density ratios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Benchmark suite and report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WP3  Continual learning and sustainability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Replay, forgetting, energy costs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 module and cost analysis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WP4  Digital twin co-evolution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Disagreement, joint updates, safety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Twin framework and testbed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WP5  Cross-domain evaluation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BCI and photonic maintenance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DD4B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Compare retraining and periodic updates</a:t>
                      </a:r>
                    </a:p>
                  </a:txBody>
                  <a:tcPr marL="91440" marR="91440" marT="45720" marB="45720" anchor="ctr">
                    <a:solidFill>
                      <a:srgbClr val="0B1A2A"/>
                    </a:solidFill>
                  </a:tcPr>
                </a:tc>
              </a:tr>
              <a:tr h="56197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WP6  Synthesis and engagement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Manuscripts, release, stakeholders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900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EA1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Submissions and adoption roadmap</a:t>
                      </a:r>
                    </a:p>
                  </a:txBody>
                  <a:tcPr marL="91440" marR="91440" marT="45720" marB="45720" anchor="ctr">
                    <a:solidFill>
                      <a:srgbClr val="0E203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5544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2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4EAA4EB-FEBD-4901-8CC9-064ECD7B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NEXT MILESTONE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DF3786-B3B6-40B4-B840-DDCC9E66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Lock configurations and trace each result</a:t>
            </a:r>
          </a:p>
        </p:txBody>
      </p:sp>
      <p:sp>
        <p:nvSpPr>
          <p:cNvPr id="3" name="Straight Connector 2">
            <a:extLst xmlns:a="http://schemas.openxmlformats.org/drawingml/2006/main">
              <a:ext uri="{FF2B5EF4-FFF2-40B4-BE49-F238E27FC236}">
                <a16:creationId xmlns:a16="http://schemas.microsoft.com/office/drawing/2014/main" id="{1B0D9617-62FF-4524-A142-960C9B3C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C0511BD-9D7E-4AEC-8682-1E59C4CE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Evidence to complete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A9A73B-CBBB-4D35-8A11-E8BAD2EC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953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Record train, validation and evaluation provenance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Fix PCA, λ</a:t>
            </a: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 and control-limit settings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Report warnings and confirmations by subject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Compare classifier strategies on held-out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962312C-EF52-41A1-8BA5-12CA8185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Next manuscript result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FB67F24-51CF-4578-91D9-84921A93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Configuration-locked reproduction table</a:t>
            </a:r>
          </a:p>
        </p:txBody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155B8B96-1541-469B-A908-010D60F4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43250"/>
            <a:ext cx="1047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6A030A6-634D-4314-A7B1-52A5F324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956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Paper section</a:t>
            </a:r>
          </a:p>
        </p:txBody>
      </p:sp>
      <p:sp>
        <p:nvSpPr>
          <p:cNvPr id="10" name="Rectangle: Rounded Corners 9">
            <a:extLst xmlns:a="http://schemas.openxmlformats.org/drawingml/2006/main">
              <a:ext uri="{FF2B5EF4-FFF2-40B4-BE49-F238E27FC236}">
                <a16:creationId xmlns:a16="http://schemas.microsoft.com/office/drawing/2014/main" id="{93EDC707-26E7-4D31-B629-54941EDE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1047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BC61DDE-AB5D-4C86-A323-A6BFA4A9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2956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Method</a:t>
            </a:r>
          </a:p>
        </p:txBody>
      </p:sp>
      <p:sp>
        <p:nvSpPr>
          <p:cNvPr id="12" name="Rectangle: Rounded Corners 11">
            <a:extLst xmlns:a="http://schemas.openxmlformats.org/drawingml/2006/main">
              <a:ext uri="{FF2B5EF4-FFF2-40B4-BE49-F238E27FC236}">
                <a16:creationId xmlns:a16="http://schemas.microsoft.com/office/drawing/2014/main" id="{73005D66-8086-4BB1-A37D-EE4F0C8D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1047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518549-575C-4556-97A3-C688B1ED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2956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Code</a:t>
            </a:r>
          </a:p>
        </p:txBody>
      </p:sp>
      <p:sp>
        <p:nvSpPr>
          <p:cNvPr id="14" name="Rectangle: Rounded Corners 13">
            <a:extLst xmlns:a="http://schemas.openxmlformats.org/drawingml/2006/main">
              <a:ext uri="{FF2B5EF4-FFF2-40B4-BE49-F238E27FC236}">
                <a16:creationId xmlns:a16="http://schemas.microsoft.com/office/drawing/2014/main" id="{80CC7966-A606-48D0-925F-B58F1AC7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047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2D45FCF-68C4-49AD-839F-7B684DD6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2956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Experiment</a:t>
            </a:r>
          </a:p>
        </p:txBody>
      </p:sp>
      <p:sp>
        <p:nvSpPr>
          <p:cNvPr id="16" name="Rectangle: Rounded Corners 15">
            <a:extLst xmlns:a="http://schemas.openxmlformats.org/drawingml/2006/main">
              <a:ext uri="{FF2B5EF4-FFF2-40B4-BE49-F238E27FC236}">
                <a16:creationId xmlns:a16="http://schemas.microsoft.com/office/drawing/2014/main" id="{F8548B37-C182-4593-AC06-C504519B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43250"/>
            <a:ext cx="1047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64D98B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31466FF-846B-4992-ADB0-FCDFC6F5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2956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Result</a:t>
            </a:r>
          </a:p>
        </p:txBody>
      </p:sp>
      <p:cxnSp>
        <p:nvCxnSpPr>
          <p:cNvPr id="86" name="Straight Arrow Connector 64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953250" y="3495675"/>
            <a:ext cx="57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7" name="Straight Arrow Connector 65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058150" y="3495675"/>
            <a:ext cx="57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8" name="Straight Arrow Connector 66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63050" y="3495675"/>
            <a:ext cx="57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9" name="Straight Arrow Connector 67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10267950" y="3495675"/>
            <a:ext cx="57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CB0C3"/>
            </a:solidFill>
            <a:prstDash val="solid"/>
            <a:tailEnd type="triangle" w="sm" len="sm"/>
          </a:ln>
        </p:spPr>
      </p:cxnSp>
      <p:sp>
        <p:nvSpPr>
          <p:cNvPr id="22" name="Rectangle: Rounded Corners 21">
            <a:extLst xmlns:a="http://schemas.openxmlformats.org/drawingml/2006/main">
              <a:ext uri="{FF2B5EF4-FFF2-40B4-BE49-F238E27FC236}">
                <a16:creationId xmlns:a16="http://schemas.microsoft.com/office/drawing/2014/main" id="{7E703C61-2B59-47C1-8645-665214A1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572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F1C2B"/>
          </a:solidFill>
          <a:ln xmlns:a="http://schemas.openxmlformats.org/drawingml/2006/main" w="9525">
            <a:solidFill>
              <a:srgbClr val="294057"/>
            </a:solidFill>
            <a:prstDash val="solid"/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750DB69-2FBD-4FF2-826C-8509971F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Immediate action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0D53AEE-FC43-4DB9-B2B1-4C9DA461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67275"/>
            <a:ext cx="819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Link each reported count and benchmark result to its dataset split, code path and detector configuration.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9458723-FBFB-4B4E-87B4-4C298F15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5A4D4A7-FEA9-4B08-9513-6705B8A8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03319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2026-09-28T11:03:11.9500000Z</dcterms:created>
  <dcterms:modified xsi:type="dcterms:W3CDTF">2026-09-28T11:03:11.9500000Z</dcterms:modified>
</coreProperties>
</file>