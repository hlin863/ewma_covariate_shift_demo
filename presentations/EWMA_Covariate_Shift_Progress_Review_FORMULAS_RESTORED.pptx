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604020202020204" charset="0"/>
      <p:regular r:id="rId47"/>
    </p:embeddedFont>
    <p:embeddedFont>
      <p:font typeface="Calibri" panose="020F0502020204030204" pitchFamily="34" charset="0"/>
      <p:regular r:id="rId48"/>
      <p:bold r:id="rId49"/>
      <p:italic r:id="rId50"/>
      <p:boldItalic r:id="rId51"/>
    </p:embeddedFont>
    <p:embeddedFont>
      <p:font typeface="Calibri (MS)" panose="020B0604020202020204" charset="0"/>
      <p:regular r:id="rId52"/>
    </p:embeddedFont>
    <p:embeddedFont>
      <p:font typeface="Calibri (MS) Bold" panose="020B0604020202020204" charset="0"/>
      <p:regular r:id="rId53"/>
    </p:embeddedFont>
    <p:embeddedFont>
      <p:font typeface="Calibri (MS) Italics" panose="020B0604020202020204" charset="0"/>
      <p:regular r:id="rId54"/>
    </p:embeddedFont>
    <p:embeddedFont>
      <p:font typeface="Consolas" panose="020B0609020204030204" pitchFamily="49" charset="0"/>
      <p:regular r:id="rId55"/>
      <p:bold r:id="rId56"/>
      <p:italic r:id="rId57"/>
      <p:boldItalic r:id="rId58"/>
    </p:embeddedFont>
    <p:embeddedFont>
      <p:font typeface="DejaVu Sans Bold" panose="020B0604020202020204" charset="0"/>
      <p:regular r:id="rId59"/>
    </p:embeddedFont>
    <p:embeddedFont>
      <p:font typeface="DejaVu Sans Light" panose="020B0604020202020204" charset="0"/>
      <p:regular r:id="rId60"/>
    </p:embeddedFont>
    <p:embeddedFont>
      <p:font typeface="Inter" panose="020B0604020202020204" charset="0"/>
      <p:regular r:id="rId61"/>
    </p:embeddedFont>
    <p:embeddedFont>
      <p:font typeface="Inter Bold" panose="020B0604020202020204" charset="0"/>
      <p:regular r:id="rId62"/>
    </p:embeddedFont>
    <p:embeddedFont>
      <p:font typeface="Inter Italics" panose="020B0604020202020204" charset="0"/>
      <p:regular r:id="rId63"/>
    </p:embeddedFont>
    <p:embeddedFont>
      <p:font typeface="Inter Medium" panose="020B0604020202020204" charset="0"/>
      <p:regular r:id="rId64"/>
    </p:embeddedFont>
    <p:embeddedFont>
      <p:font typeface="Inter Semi-Bold" panose="020B0604020202020204" charset="0"/>
      <p:regular r:id="rId65"/>
    </p:embeddedFont>
    <p:embeddedFont>
      <p:font typeface="Roboto" panose="02000000000000000000" pitchFamily="2" charset="0"/>
      <p:regular r:id="rId66"/>
      <p:bold r:id="rId67"/>
      <p:italic r:id="rId68"/>
      <p:boldItalic r:id="rId69"/>
    </p:embeddedFont>
    <p:embeddedFont>
      <p:font typeface="Roboto Bold" panose="02000000000000000000" charset="0"/>
      <p:regular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font" Target="fonts/font24.fntdata"/><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image" Target="../media/image37.png"/><Relationship Id="rId12" Type="http://schemas.openxmlformats.org/officeDocument/2006/relationships/image" Target="../media/image38.png"/><Relationship Id="rId1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a:solidFill>
                  <a:srgbClr val="EAF2F8"/>
                </a:solidFill>
                <a:latin typeface="DejaVu Sans Bold"/>
                <a:ea typeface="DejaVu Sans Bold"/>
                <a:cs typeface="DejaVu Sans Bold"/>
                <a:sym typeface="DejaVu Sans Bold"/>
              </a:rPr>
              <a:t>EWMA Covariate</a:t>
            </a:r>
          </a:p>
          <a:p>
            <a:pPr algn="l">
              <a:lnSpc>
                <a:spcPts val="7289"/>
              </a:lnSpc>
            </a:pPr>
            <a:r>
              <a:rPr lang="en-US" sz="6075" b="1">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a:t>
            </a:r>
            <a:r>
              <a:rPr lang="en-US" sz="2100" dirty="0" err="1">
                <a:solidFill>
                  <a:srgbClr val="53657C"/>
                </a:solidFill>
                <a:latin typeface="Aptos"/>
                <a:ea typeface="Aptos"/>
                <a:cs typeface="Aptos"/>
                <a:sym typeface="Aptos"/>
              </a:rPr>
              <a:t>Diethe</a:t>
            </a:r>
            <a:r>
              <a:rPr lang="en-US" sz="2100" dirty="0">
                <a:solidFill>
                  <a:srgbClr val="53657C"/>
                </a:solidFill>
                <a:latin typeface="Aptos"/>
                <a:ea typeface="Aptos"/>
                <a:cs typeface="Aptos"/>
                <a:sym typeface="Aptos"/>
              </a:rPr>
              <a:t>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478EF9-642E-4E44-9FA1-F5439C25D08E}"/>
              </a:ext>
            </a:extLst>
          </p:cNvPr>
          <p:cNvPicPr>
            <a:picLocks noChangeAspect="1"/>
          </p:cNvPicPr>
          <p:nvPr/>
        </p:nvPicPr>
        <p:blipFill>
          <a:blip r:embed="rId2"/>
          <a:stretch>
            <a:fillRect/>
          </a:stretch>
        </p:blipFill>
        <p:spPr>
          <a:xfrm>
            <a:off x="3924300" y="571500"/>
            <a:ext cx="10439400" cy="9421889"/>
          </a:xfrm>
          <a:prstGeom prst="rect">
            <a:avLst/>
          </a:prstGeom>
        </p:spPr>
      </p:pic>
    </p:spTree>
    <p:extLst>
      <p:ext uri="{BB962C8B-B14F-4D97-AF65-F5344CB8AC3E}">
        <p14:creationId xmlns:p14="http://schemas.microsoft.com/office/powerpoint/2010/main" val="2893558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id="17" name="Group 17"/>
          <p:cNvGrpSpPr/>
          <p:nvPr/>
        </p:nvGrpSpPr>
        <p:grpSpPr>
          <a:xfrm>
            <a:off x="1548317" y="5753290"/>
            <a:ext cx="6886070" cy="1727854"/>
            <a:chOff x="0" y="0"/>
            <a:chExt cx="9181427" cy="2303805"/>
          </a:xfrm>
        </p:grpSpPr>
        <p:sp>
          <p:nvSpPr>
            <p:cNvPr id="18" name="Freeform 18"/>
            <p:cNvSpPr/>
            <p:nvPr/>
          </p:nvSpPr>
          <p:spPr>
            <a:xfrm>
              <a:off x="0" y="0"/>
              <a:ext cx="9181465" cy="2303780"/>
            </a:xfrm>
            <a:custGeom>
              <a:avLst/>
              <a:gdLst/>
              <a:ahLst/>
              <a:cxnLst/>
              <a:rect l="l" t="t" r="r" b="b"/>
              <a:pathLst>
                <a:path w="9181465" h="2303780">
                  <a:moveTo>
                    <a:pt x="0" y="0"/>
                  </a:moveTo>
                  <a:lnTo>
                    <a:pt x="9181465" y="0"/>
                  </a:lnTo>
                  <a:lnTo>
                    <a:pt x="9181465" y="2303780"/>
                  </a:lnTo>
                  <a:lnTo>
                    <a:pt x="0" y="2303780"/>
                  </a:lnTo>
                  <a:close/>
                </a:path>
              </a:pathLst>
            </a:custGeom>
            <a:blipFill>
              <a:blip r:embed="rId2">
                <a:alphaModFix amt="0"/>
              </a:blip>
              <a:stretch>
                <a:fillRect t="-27654" b="-27655"/>
              </a:stretch>
            </a:blipFill>
            <a:ln w="28575" cap="sq">
              <a:solidFill>
                <a:srgbClr val="156082"/>
              </a:solidFill>
              <a:prstDash val="solid"/>
              <a:miter/>
            </a:ln>
          </p:spPr>
          <p:txBody>
            <a:bodyPr/>
            <a:lstStyle/>
            <a:p>
              <a:endParaRPr lang="en-GB"/>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pic>
        <p:nvPicPr>
          <p:cNvPr id="10" name="Picture 9" descr="image.png"/>
          <p:cNvPicPr>
            <a:picLocks noChangeAspect="1"/>
          </p:cNvPicPr>
          <p:nvPr/>
        </p:nvPicPr>
        <p:blipFill>
          <a:blip r:embed="rId3"/>
          <a:stretch>
            <a:fillRect/>
          </a:stretch>
        </p:blipFill>
        <p:spPr>
          <a:xfrm>
            <a:off x="1234440" y="3566160"/>
            <a:ext cx="7263184" cy="822960"/>
          </a:xfrm>
          <a:prstGeom prst="rect">
            <a:avLst/>
          </a:prstGeom>
        </p:spPr>
      </p:pic>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pic>
        <p:nvPicPr>
          <p:cNvPr id="10" name="Picture 9" descr="image.png"/>
          <p:cNvPicPr>
            <a:picLocks noChangeAspect="1"/>
          </p:cNvPicPr>
          <p:nvPr/>
        </p:nvPicPr>
        <p:blipFill>
          <a:blip r:embed="rId3"/>
          <a:stretch>
            <a:fillRect/>
          </a:stretch>
        </p:blipFill>
        <p:spPr>
          <a:xfrm>
            <a:off x="1234440" y="3429000"/>
            <a:ext cx="7152456" cy="960120"/>
          </a:xfrm>
          <a:prstGeom prst="rect">
            <a:avLst/>
          </a:prstGeom>
        </p:spPr>
      </p:pic>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pic>
        <p:nvPicPr>
          <p:cNvPr id="15" name="Picture 14" descr="image.png"/>
          <p:cNvPicPr>
            <a:picLocks noChangeAspect="1"/>
          </p:cNvPicPr>
          <p:nvPr/>
        </p:nvPicPr>
        <p:blipFill>
          <a:blip r:embed="rId3"/>
          <a:stretch>
            <a:fillRect/>
          </a:stretch>
        </p:blipFill>
        <p:spPr>
          <a:xfrm>
            <a:off x="1234440" y="3429000"/>
            <a:ext cx="1778251" cy="960120"/>
          </a:xfrm>
          <a:prstGeom prst="rect">
            <a:avLst/>
          </a:prstGeom>
        </p:spPr>
      </p:pic>
      <p:pic>
        <p:nvPicPr>
          <p:cNvPr id="16" name="Picture 15" descr="image.png"/>
          <p:cNvPicPr>
            <a:picLocks noChangeAspect="1"/>
          </p:cNvPicPr>
          <p:nvPr/>
        </p:nvPicPr>
        <p:blipFill>
          <a:blip r:embed="rId4"/>
          <a:stretch>
            <a:fillRect/>
          </a:stretch>
        </p:blipFill>
        <p:spPr>
          <a:xfrm>
            <a:off x="9326880" y="3429000"/>
            <a:ext cx="7209787" cy="960120"/>
          </a:xfrm>
          <a:prstGeom prst="rect">
            <a:avLst/>
          </a:prstGeom>
        </p:spPr>
      </p:pic>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pic>
        <p:nvPicPr>
          <p:cNvPr id="17" name="Picture 16" descr="image.png"/>
          <p:cNvPicPr>
            <a:picLocks noChangeAspect="1"/>
          </p:cNvPicPr>
          <p:nvPr/>
        </p:nvPicPr>
        <p:blipFill>
          <a:blip r:embed="rId5"/>
          <a:stretch>
            <a:fillRect/>
          </a:stretch>
        </p:blipFill>
        <p:spPr>
          <a:xfrm>
            <a:off x="1234440" y="7269480"/>
            <a:ext cx="6078074" cy="685800"/>
          </a:xfrm>
          <a:prstGeom prst="rect">
            <a:avLst/>
          </a:prstGeom>
        </p:spPr>
      </p:pic>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pic>
        <p:nvPicPr>
          <p:cNvPr id="10" name="Picture 9" descr="image.png"/>
          <p:cNvPicPr>
            <a:picLocks noChangeAspect="1"/>
          </p:cNvPicPr>
          <p:nvPr/>
        </p:nvPicPr>
        <p:blipFill>
          <a:blip r:embed="rId3"/>
          <a:stretch>
            <a:fillRect/>
          </a:stretch>
        </p:blipFill>
        <p:spPr>
          <a:xfrm>
            <a:off x="1234440" y="3497580"/>
            <a:ext cx="7342346" cy="822960"/>
          </a:xfrm>
          <a:prstGeom prst="rect">
            <a:avLst/>
          </a:prstGeom>
        </p:spPr>
      </p:pic>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pic>
        <p:nvPicPr>
          <p:cNvPr id="11" name="Picture 10" descr="image.png"/>
          <p:cNvPicPr>
            <a:picLocks noChangeAspect="1"/>
          </p:cNvPicPr>
          <p:nvPr/>
        </p:nvPicPr>
        <p:blipFill>
          <a:blip r:embed="rId3"/>
          <a:stretch>
            <a:fillRect/>
          </a:stretch>
        </p:blipFill>
        <p:spPr>
          <a:xfrm>
            <a:off x="1234440" y="3360420"/>
            <a:ext cx="12084587" cy="960120"/>
          </a:xfrm>
          <a:prstGeom prst="rect">
            <a:avLst/>
          </a:prstGeom>
        </p:spPr>
      </p:pic>
      <p:pic>
        <p:nvPicPr>
          <p:cNvPr id="12" name="Picture 11" descr="image.png"/>
          <p:cNvPicPr>
            <a:picLocks noChangeAspect="1"/>
          </p:cNvPicPr>
          <p:nvPr/>
        </p:nvPicPr>
        <p:blipFill>
          <a:blip r:embed="rId4"/>
          <a:stretch>
            <a:fillRect/>
          </a:stretch>
        </p:blipFill>
        <p:spPr>
          <a:xfrm>
            <a:off x="1234440" y="4869180"/>
            <a:ext cx="13716000" cy="991876"/>
          </a:xfrm>
          <a:prstGeom prst="rect">
            <a:avLst/>
          </a:prstGeom>
        </p:spPr>
      </p:pic>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pic>
        <p:nvPicPr>
          <p:cNvPr id="23" name="Picture 22" descr="image.png"/>
          <p:cNvPicPr>
            <a:picLocks noChangeAspect="1"/>
          </p:cNvPicPr>
          <p:nvPr/>
        </p:nvPicPr>
        <p:blipFill>
          <a:blip r:embed="rId3"/>
          <a:stretch>
            <a:fillRect/>
          </a:stretch>
        </p:blipFill>
        <p:spPr>
          <a:xfrm>
            <a:off x="1028700" y="3700462"/>
            <a:ext cx="1583055" cy="485775"/>
          </a:xfrm>
          <a:prstGeom prst="rect">
            <a:avLst/>
          </a:prstGeom>
        </p:spPr>
      </p:pic>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pic>
        <p:nvPicPr>
          <p:cNvPr id="24" name="Picture 23" descr="image.png"/>
          <p:cNvPicPr>
            <a:picLocks noChangeAspect="1"/>
          </p:cNvPicPr>
          <p:nvPr/>
        </p:nvPicPr>
        <p:blipFill>
          <a:blip r:embed="rId4"/>
          <a:stretch>
            <a:fillRect/>
          </a:stretch>
        </p:blipFill>
        <p:spPr>
          <a:xfrm>
            <a:off x="1028700" y="5226368"/>
            <a:ext cx="3697605" cy="1343025"/>
          </a:xfrm>
          <a:prstGeom prst="rect">
            <a:avLst/>
          </a:prstGeom>
        </p:spPr>
      </p:pic>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pic>
        <p:nvPicPr>
          <p:cNvPr id="25" name="Picture 24" descr="image.png"/>
          <p:cNvPicPr>
            <a:picLocks noChangeAspect="1"/>
          </p:cNvPicPr>
          <p:nvPr/>
        </p:nvPicPr>
        <p:blipFill>
          <a:blip r:embed="rId5"/>
          <a:stretch>
            <a:fillRect/>
          </a:stretch>
        </p:blipFill>
        <p:spPr>
          <a:xfrm>
            <a:off x="1028700" y="7420928"/>
            <a:ext cx="5383530" cy="588645"/>
          </a:xfrm>
          <a:prstGeom prst="rect">
            <a:avLst/>
          </a:prstGeom>
        </p:spPr>
      </p:pic>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pic>
        <p:nvPicPr>
          <p:cNvPr id="26" name="Picture 25" descr="image.png"/>
          <p:cNvPicPr>
            <a:picLocks noChangeAspect="1"/>
          </p:cNvPicPr>
          <p:nvPr/>
        </p:nvPicPr>
        <p:blipFill>
          <a:blip r:embed="rId3"/>
          <a:stretch>
            <a:fillRect/>
          </a:stretch>
        </p:blipFill>
        <p:spPr>
          <a:xfrm>
            <a:off x="1028700" y="3745611"/>
            <a:ext cx="7406640" cy="491490"/>
          </a:xfrm>
          <a:prstGeom prst="rect">
            <a:avLst/>
          </a:prstGeom>
        </p:spPr>
      </p:pic>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pic>
        <p:nvPicPr>
          <p:cNvPr id="27" name="Picture 26" descr="image.png"/>
          <p:cNvPicPr>
            <a:picLocks noChangeAspect="1"/>
          </p:cNvPicPr>
          <p:nvPr/>
        </p:nvPicPr>
        <p:blipFill>
          <a:blip r:embed="rId4"/>
          <a:stretch>
            <a:fillRect/>
          </a:stretch>
        </p:blipFill>
        <p:spPr>
          <a:xfrm>
            <a:off x="1028700" y="5189563"/>
            <a:ext cx="8641080" cy="483946"/>
          </a:xfrm>
          <a:prstGeom prst="rect">
            <a:avLst/>
          </a:prstGeom>
        </p:spPr>
      </p:pic>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pic>
        <p:nvPicPr>
          <p:cNvPr id="28" name="Picture 27" descr="image.png"/>
          <p:cNvPicPr>
            <a:picLocks noChangeAspect="1"/>
          </p:cNvPicPr>
          <p:nvPr/>
        </p:nvPicPr>
        <p:blipFill>
          <a:blip r:embed="rId5"/>
          <a:stretch>
            <a:fillRect/>
          </a:stretch>
        </p:blipFill>
        <p:spPr>
          <a:xfrm>
            <a:off x="1028700" y="6551676"/>
            <a:ext cx="5514975" cy="640080"/>
          </a:xfrm>
          <a:prstGeom prst="rect">
            <a:avLst/>
          </a:prstGeom>
        </p:spPr>
      </p:pic>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pic>
        <p:nvPicPr>
          <p:cNvPr id="29" name="Picture 28" descr="image.png"/>
          <p:cNvPicPr>
            <a:picLocks noChangeAspect="1"/>
          </p:cNvPicPr>
          <p:nvPr/>
        </p:nvPicPr>
        <p:blipFill>
          <a:blip r:embed="rId6"/>
          <a:stretch>
            <a:fillRect/>
          </a:stretch>
        </p:blipFill>
        <p:spPr>
          <a:xfrm>
            <a:off x="10081260" y="3980497"/>
            <a:ext cx="6623685" cy="680085"/>
          </a:xfrm>
          <a:prstGeom prst="rect">
            <a:avLst/>
          </a:prstGeom>
        </p:spPr>
      </p:pic>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pic>
        <p:nvPicPr>
          <p:cNvPr id="30" name="Picture 29" descr="image.png"/>
          <p:cNvPicPr>
            <a:picLocks noChangeAspect="1"/>
          </p:cNvPicPr>
          <p:nvPr/>
        </p:nvPicPr>
        <p:blipFill>
          <a:blip r:embed="rId7"/>
          <a:stretch>
            <a:fillRect/>
          </a:stretch>
        </p:blipFill>
        <p:spPr>
          <a:xfrm>
            <a:off x="10149840" y="5842444"/>
            <a:ext cx="5657850" cy="508635"/>
          </a:xfrm>
          <a:prstGeom prst="rect">
            <a:avLst/>
          </a:prstGeom>
        </p:spPr>
      </p:pic>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pic>
        <p:nvPicPr>
          <p:cNvPr id="12" name="Picture 11" descr="image.png"/>
          <p:cNvPicPr>
            <a:picLocks noChangeAspect="1"/>
          </p:cNvPicPr>
          <p:nvPr/>
        </p:nvPicPr>
        <p:blipFill>
          <a:blip r:embed="rId3"/>
          <a:stretch>
            <a:fillRect/>
          </a:stretch>
        </p:blipFill>
        <p:spPr>
          <a:xfrm>
            <a:off x="1234440" y="3497580"/>
            <a:ext cx="6359652" cy="891540"/>
          </a:xfrm>
          <a:prstGeom prst="rect">
            <a:avLst/>
          </a:prstGeom>
        </p:spPr>
      </p:pic>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pic>
        <p:nvPicPr>
          <p:cNvPr id="13" name="Picture 12" descr="image.png"/>
          <p:cNvPicPr>
            <a:picLocks noChangeAspect="1"/>
          </p:cNvPicPr>
          <p:nvPr/>
        </p:nvPicPr>
        <p:blipFill>
          <a:blip r:embed="rId4"/>
          <a:stretch>
            <a:fillRect/>
          </a:stretch>
        </p:blipFill>
        <p:spPr>
          <a:xfrm>
            <a:off x="1234440" y="6035040"/>
            <a:ext cx="7874470" cy="960120"/>
          </a:xfrm>
          <a:prstGeom prst="rect">
            <a:avLst/>
          </a:prstGeom>
        </p:spPr>
      </p:pic>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pic>
        <p:nvPicPr>
          <p:cNvPr id="10" name="Picture 9" descr="image.png"/>
          <p:cNvPicPr>
            <a:picLocks noChangeAspect="1"/>
          </p:cNvPicPr>
          <p:nvPr/>
        </p:nvPicPr>
        <p:blipFill>
          <a:blip r:embed="rId3"/>
          <a:stretch>
            <a:fillRect/>
          </a:stretch>
        </p:blipFill>
        <p:spPr>
          <a:xfrm>
            <a:off x="1234440" y="3429000"/>
            <a:ext cx="8260080" cy="1028700"/>
          </a:xfrm>
          <a:prstGeom prst="rect">
            <a:avLst/>
          </a:prstGeom>
        </p:spPr>
      </p:pic>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8510</Words>
  <Application>Microsoft Office PowerPoint</Application>
  <PresentationFormat>Custom</PresentationFormat>
  <Paragraphs>985</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Inter Italics</vt:lpstr>
      <vt:lpstr>DejaVu Sans Light</vt:lpstr>
      <vt:lpstr>Roboto</vt:lpstr>
      <vt:lpstr>Calibri (MS) Bold</vt:lpstr>
      <vt:lpstr>Inter Bold</vt:lpstr>
      <vt:lpstr>Arial</vt:lpstr>
      <vt:lpstr>Consolas</vt:lpstr>
      <vt:lpstr>Inter Medium</vt:lpstr>
      <vt:lpstr>DejaVu Sans Bold</vt:lpstr>
      <vt:lpstr>Inter</vt:lpstr>
      <vt:lpstr>Calibri (MS) Italics</vt:lpstr>
      <vt:lpstr>Aptos Bold</vt:lpstr>
      <vt:lpstr>Inter Semi-Bold</vt:lpstr>
      <vt:lpstr>Roboto Bold</vt:lpstr>
      <vt:lpstr>Aptos</vt:lpstr>
      <vt:lpstr>Calibri</vt:lpstr>
      <vt:lpstr>Calibri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cp:revision>
  <dcterms:created xsi:type="dcterms:W3CDTF">2006-08-16T00:00:00Z</dcterms:created>
  <dcterms:modified xsi:type="dcterms:W3CDTF">2026-10-15T09:10:17Z</dcterms:modified>
  <dc:identifier>DAHYBaR-K0c</dc:identifier>
</cp:coreProperties>
</file>