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Lst>
  <p:notesMasterIdLst>
    <p:notesMasterId r:id="rId25"/>
  </p:notesMasterIdLst>
  <p:sldIdLst>
    <p:sldId id="256" r:id="rId3"/>
    <p:sldId id="257" r:id="rId4"/>
    <p:sldId id="258" r:id="rId5"/>
    <p:sldId id="1000" r:id="rId6"/>
    <p:sldId id="1001" r:id="rId7"/>
    <p:sldId id="1002" r:id="rId8"/>
    <p:sldId id="1003" r:id="rId9"/>
    <p:sldId id="1004" r:id="rId10"/>
    <p:sldId id="1005" r:id="rId11"/>
    <p:sldId id="259" r:id="rId12"/>
    <p:sldId id="2003" r:id="rId13"/>
    <p:sldId id="266" r:id="rId14"/>
    <p:sldId id="260" r:id="rId15"/>
    <p:sldId id="261" r:id="rId16"/>
    <p:sldId id="267" r:id="rId17"/>
    <p:sldId id="262" r:id="rId18"/>
    <p:sldId id="265" r:id="rId19"/>
    <p:sldId id="2000" r:id="rId20"/>
    <p:sldId id="2001" r:id="rId21"/>
    <p:sldId id="2002" r:id="rId22"/>
    <p:sldId id="263" r:id="rId23"/>
    <p:sldId id="264" r:id="rId24"/>
    <p:sldId id="2004" r:id="rId32"/>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0B0085-1191-4CD2-BB45-4C736C8A399D}" v="289" dt="2026-10-04T17:48:46.3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2835" autoAdjust="0"/>
  </p:normalViewPr>
  <p:slideViewPr>
    <p:cSldViewPr snapToGrid="0">
      <p:cViewPr varScale="1">
        <p:scale>
          <a:sx n="60" d="100"/>
          <a:sy n="60" d="100"/>
        </p:scale>
        <p:origin x="1530"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openxmlformats.org/officeDocument/2006/relationships/slide" Target="slides/slide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ocheng Lin" userId="3c9af17cd41df8cf" providerId="LiveId" clId="{E85DCD58-ED75-4D29-A2F4-F018EE94DF03}"/>
    <pc:docChg chg="undo custSel addSld modSld">
      <pc:chgData name="Haocheng Lin" userId="3c9af17cd41df8cf" providerId="LiveId" clId="{E85DCD58-ED75-4D29-A2F4-F018EE94DF03}" dt="2026-10-04T17:49:26.227" v="827" actId="33524"/>
      <pc:docMkLst>
        <pc:docMk/>
      </pc:docMkLst>
      <pc:sldChg chg="delSp mod">
        <pc:chgData name="Haocheng Lin" userId="3c9af17cd41df8cf" providerId="LiveId" clId="{E85DCD58-ED75-4D29-A2F4-F018EE94DF03}" dt="2026-10-04T12:43:25.747" v="0" actId="21"/>
        <pc:sldMkLst>
          <pc:docMk/>
          <pc:sldMk cId="382100174" sldId="257"/>
        </pc:sldMkLst>
        <pc:spChg chg="del">
          <ac:chgData name="Haocheng Lin" userId="3c9af17cd41df8cf" providerId="LiveId" clId="{E85DCD58-ED75-4D29-A2F4-F018EE94DF03}" dt="2026-10-04T12:43:25.747" v="0" actId="21"/>
          <ac:spMkLst>
            <pc:docMk/>
            <pc:sldMk cId="382100174" sldId="257"/>
            <ac:spMk id="4" creationId="{00000000-0000-0000-0000-000000000000}"/>
          </ac:spMkLst>
        </pc:spChg>
      </pc:sldChg>
      <pc:sldChg chg="addSp delSp modSp new mod">
        <pc:chgData name="Haocheng Lin" userId="3c9af17cd41df8cf" providerId="LiveId" clId="{E85DCD58-ED75-4D29-A2F4-F018EE94DF03}" dt="2026-10-04T17:49:26.227" v="827" actId="33524"/>
        <pc:sldMkLst>
          <pc:docMk/>
          <pc:sldMk cId="3893839795" sldId="2003"/>
        </pc:sldMkLst>
        <pc:spChg chg="mod">
          <ac:chgData name="Haocheng Lin" userId="3c9af17cd41df8cf" providerId="LiveId" clId="{E85DCD58-ED75-4D29-A2F4-F018EE94DF03}" dt="2026-10-04T17:17:05.578" v="21" actId="20577"/>
          <ac:spMkLst>
            <pc:docMk/>
            <pc:sldMk cId="3893839795" sldId="2003"/>
            <ac:spMk id="2" creationId="{774A74E3-97CE-6A4C-ACD3-DD7D9D617C63}"/>
          </ac:spMkLst>
        </pc:spChg>
        <pc:spChg chg="mod">
          <ac:chgData name="Haocheng Lin" userId="3c9af17cd41df8cf" providerId="LiveId" clId="{E85DCD58-ED75-4D29-A2F4-F018EE94DF03}" dt="2026-10-04T17:42:18.710" v="590" actId="1076"/>
          <ac:spMkLst>
            <pc:docMk/>
            <pc:sldMk cId="3893839795" sldId="2003"/>
            <ac:spMk id="3" creationId="{5CD58622-BD35-E6E5-B3D3-619E58466186}"/>
          </ac:spMkLst>
        </pc:spChg>
        <pc:spChg chg="add mod">
          <ac:chgData name="Haocheng Lin" userId="3c9af17cd41df8cf" providerId="LiveId" clId="{E85DCD58-ED75-4D29-A2F4-F018EE94DF03}" dt="2026-10-04T17:45:06.677" v="631" actId="20577"/>
          <ac:spMkLst>
            <pc:docMk/>
            <pc:sldMk cId="3893839795" sldId="2003"/>
            <ac:spMk id="4" creationId="{752A63EC-D83F-813E-17DC-BBBE3E8DA5E9}"/>
          </ac:spMkLst>
        </pc:spChg>
        <pc:spChg chg="add mod">
          <ac:chgData name="Haocheng Lin" userId="3c9af17cd41df8cf" providerId="LiveId" clId="{E85DCD58-ED75-4D29-A2F4-F018EE94DF03}" dt="2026-10-04T17:42:20.353" v="591" actId="1076"/>
          <ac:spMkLst>
            <pc:docMk/>
            <pc:sldMk cId="3893839795" sldId="2003"/>
            <ac:spMk id="5" creationId="{B038B561-5D0A-3A3B-745F-0091ABFE0DE3}"/>
          </ac:spMkLst>
        </pc:spChg>
        <pc:spChg chg="add mod">
          <ac:chgData name="Haocheng Lin" userId="3c9af17cd41df8cf" providerId="LiveId" clId="{E85DCD58-ED75-4D29-A2F4-F018EE94DF03}" dt="2026-10-04T17:48:35.327" v="701" actId="20577"/>
          <ac:spMkLst>
            <pc:docMk/>
            <pc:sldMk cId="3893839795" sldId="2003"/>
            <ac:spMk id="6" creationId="{402F12F1-7434-BEB9-97B4-080C2A95E2CA}"/>
          </ac:spMkLst>
        </pc:spChg>
        <pc:spChg chg="add mod">
          <ac:chgData name="Haocheng Lin" userId="3c9af17cd41df8cf" providerId="LiveId" clId="{E85DCD58-ED75-4D29-A2F4-F018EE94DF03}" dt="2026-10-04T17:49:26.227" v="827" actId="33524"/>
          <ac:spMkLst>
            <pc:docMk/>
            <pc:sldMk cId="3893839795" sldId="2003"/>
            <ac:spMk id="7" creationId="{CAAE5F16-4F44-3150-AE3E-F4F76B9681F5}"/>
          </ac:spMkLst>
        </pc:spChg>
        <pc:graphicFrameChg chg="add del">
          <ac:chgData name="Haocheng Lin" userId="3c9af17cd41df8cf" providerId="LiveId" clId="{E85DCD58-ED75-4D29-A2F4-F018EE94DF03}" dt="2026-10-04T17:17:39.454" v="32" actId="3680"/>
          <ac:graphicFrameMkLst>
            <pc:docMk/>
            <pc:sldMk cId="3893839795" sldId="2003"/>
            <ac:graphicFrameMk id="4" creationId="{D378B802-4C4F-5D1D-025E-1D99D4086F8B}"/>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PREPARATION — Opening</a:t>
            </a:r>
          </a:p>
          <a:p>
            <a:endParaRPr dirty="0"/>
          </a:p>
          <a:p>
            <a:r>
              <a:rPr dirty="0"/>
              <a:t>Suggested explanation (30–60 seconds):</a:t>
            </a:r>
          </a:p>
          <a:p>
            <a:r>
              <a:rPr dirty="0"/>
              <a:t>My project investigates when a detected change in EEG features should lead to a model update. I have built the detection and adaptation components, stored benchmark evidence, and started controlled policy comparisons. I will separate published findings from my implementation and results.</a:t>
            </a:r>
          </a:p>
          <a:p>
            <a:endParaRPr dirty="0"/>
          </a:p>
          <a:p>
            <a:r>
              <a:rPr dirty="0"/>
              <a:t>Likely question and answer:</a:t>
            </a:r>
          </a:p>
          <a:p>
            <a:r>
              <a:rPr dirty="0"/>
              <a:t>What is the contribution? An auditable reconstruction and experimental framework; validated novelty and general adaptive gains are still research goals.</a:t>
            </a:r>
          </a:p>
          <a:p>
            <a:endParaRPr dirty="0"/>
          </a:p>
          <a:p>
            <a:r>
              <a:rPr dirty="0"/>
              <a:t>Evidence and cautions:</a:t>
            </a:r>
          </a:p>
          <a:p>
            <a:r>
              <a:rPr dirty="0"/>
              <a:t>Roadmap: literature, implementation, evidence, next experiment.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Implemented achievements</a:t>
            </a:r>
          </a:p>
          <a:p>
            <a:endParaRPr/>
          </a:p>
          <a:p>
            <a:r>
              <a:t>Suggested explanation (30–60 seconds):</a:t>
            </a:r>
          </a:p>
          <a:p>
            <a:r>
              <a:t>The main engineering milestone is the separation of representation, detection, validation and adaptation. Supervised updates use revealed labels; the transductive path uses confidence-gated pseudo-labels. Neither is yet the full dynamic CSE-UAEL ensemble.</a:t>
            </a:r>
          </a:p>
          <a:p>
            <a:endParaRPr/>
          </a:p>
          <a:p>
            <a:r>
              <a:t>Likely question and answer:</a:t>
            </a:r>
          </a:p>
          <a:p>
            <a:r>
              <a:t>Does implemented mean validated? No. Code and tests support behaviour; experiments must establish scientific benefit.</a:t>
            </a:r>
          </a:p>
          <a:p>
            <a:endParaRPr/>
          </a:p>
          <a:p>
            <a:r>
              <a:t>Evidence and cautions:</a:t>
            </a:r>
          </a:p>
          <a:p>
            <a:r>
              <a:t>Repository README and src/adaptation/transductive.py; inspected at f3ef2e8.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Research lineage</a:t>
            </a:r>
          </a:p>
          <a:p>
            <a:endParaRPr/>
          </a:p>
          <a:p>
            <a:r>
              <a:t>Suggested explanation (30–60 seconds):</a:t>
            </a:r>
          </a:p>
          <a:p>
            <a:r>
              <a:t>Raza motivates detector reconstruction. Chowdhury demonstrates online supervised BCI adaptation. The later CSE-UAEL work motivates transductive updates and ensembles. Rao and Heyden motivate the subspace question. Diethe provides a maintenance architecture.</a:t>
            </a:r>
          </a:p>
          <a:p>
            <a:endParaRPr/>
          </a:p>
          <a:p>
            <a:r>
              <a:t>Likely question and answer:</a:t>
            </a:r>
          </a:p>
          <a:p>
            <a:r>
              <a:t>Why Diethe 2019 when Notion says 2018? The supplied PDF identifies a 2018 workshop and arXiv v2 dated March 2019. State the version being cited consistently.</a:t>
            </a:r>
          </a:p>
          <a:p>
            <a:endParaRPr/>
          </a:p>
          <a:p>
            <a:r>
              <a:t>Evidence and cautions:</a:t>
            </a:r>
          </a:p>
          <a:p>
            <a:r>
              <a:t>Transition: first explain what the clinical BCI paper established.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PREPARATION — Chowdhury protocol</a:t>
            </a:r>
          </a:p>
          <a:p>
            <a:endParaRPr dirty="0"/>
          </a:p>
          <a:p>
            <a:r>
              <a:rPr dirty="0"/>
              <a:t>Suggested explanation (30–60 seconds):</a:t>
            </a:r>
          </a:p>
          <a:p>
            <a:r>
              <a:rPr dirty="0"/>
              <a:t>Each participant completed 80 calibration trials and 40 online trials. The classifier distinguishes left versus right imagery, not healthy versus stroke participants. The adaptive system ran online; the nonadaptive comparator replayed the recorded data offline.</a:t>
            </a:r>
          </a:p>
          <a:p>
            <a:endParaRPr dirty="0"/>
          </a:p>
          <a:p>
            <a:r>
              <a:rPr dirty="0"/>
              <a:t>Likely question and answer:</a:t>
            </a:r>
          </a:p>
          <a:p>
            <a:r>
              <a:rPr dirty="0"/>
              <a:t>Did your repository reproduce the clinical system? No. It uses BCI Competition data and a different feature pipeline; the paper provides methodological context.</a:t>
            </a:r>
          </a:p>
          <a:p>
            <a:endParaRPr dirty="0"/>
          </a:p>
          <a:p>
            <a:r>
              <a:rPr dirty="0"/>
              <a:t>Evidence and cautions:</a:t>
            </a:r>
          </a:p>
          <a:p>
            <a:r>
              <a:rPr dirty="0"/>
              <a:t>Chowdhury II.B p1072; II.D–E p1073; II.E.3 pp1074–1075.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Published accuracy</a:t>
            </a:r>
          </a:p>
          <a:p>
            <a:endParaRPr/>
          </a:p>
          <a:p>
            <a:r>
              <a:t>Suggested explanation (30–60 seconds):</a:t>
            </a:r>
          </a:p>
          <a:p>
            <a:r>
              <a:t>The reported healthy-group gain is 6.25 percentage points and stroke-group gain is 5.50 points. Both paired comparisons were significant. These are paper results, not my repository results.</a:t>
            </a:r>
          </a:p>
          <a:p>
            <a:endParaRPr/>
          </a:p>
          <a:p>
            <a:r>
              <a:t>Likely question and answer:</a:t>
            </a:r>
          </a:p>
          <a:p>
            <a:r>
              <a:t>Does this prove recovery? No. It demonstrates better decoding and online feasibility, without longitudinal motor-recovery outcomes.</a:t>
            </a:r>
          </a:p>
          <a:p>
            <a:endParaRPr/>
          </a:p>
          <a:p>
            <a:r>
              <a:t>Evidence and cautions:</a:t>
            </a:r>
          </a:p>
          <a:p>
            <a:r>
              <a:t>Chowdhury III p1076 Tables II–IV. Mean ± SD; paired Wilcoxon significance.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Validation evidence</a:t>
            </a:r>
          </a:p>
          <a:p>
            <a:endParaRPr/>
          </a:p>
          <a:p>
            <a:r>
              <a:t>Suggested explanation (30–60 seconds):</a:t>
            </a:r>
          </a:p>
          <a:p>
            <a:r>
              <a:t>CSW and CSV here are percentages of trials. Validation reduces the fraction triggering retraining. The correlation with accuracy gain is an association, not an isolated causal effect of the detector.</a:t>
            </a:r>
          </a:p>
          <a:p>
            <a:endParaRPr/>
          </a:p>
          <a:p>
            <a:r>
              <a:t>Likely question and answer:</a:t>
            </a:r>
          </a:p>
          <a:p>
            <a:r>
              <a:t>Were rejected warnings false alarms? We cannot determine that without independent shift truth. Rejection is a statistical outcome, not a ground-truth label.</a:t>
            </a:r>
          </a:p>
          <a:p>
            <a:endParaRPr/>
          </a:p>
          <a:p>
            <a:r>
              <a:t>Evidence and cautions:</a:t>
            </a:r>
          </a:p>
          <a:p>
            <a:r>
              <a:t>Chowdhury II.E.4 Eqs10–11 p1075; III p1077 Tables VI–VIII and Fig7.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Author-stated limitations</a:t>
            </a:r>
          </a:p>
          <a:p>
            <a:endParaRPr/>
          </a:p>
          <a:p>
            <a:r>
              <a:t>Suggested explanation (30–60 seconds):</a:t>
            </a:r>
          </a:p>
          <a:p>
            <a:r>
              <a:t>Fixed bands, binary tasks and known cue labels constrain transfer to other settings. The authors also discuss continuous and asynchronous operation as extensions.</a:t>
            </a:r>
          </a:p>
          <a:p>
            <a:endParaRPr/>
          </a:p>
          <a:p>
            <a:r>
              <a:t>Likely question and answer:</a:t>
            </a:r>
          </a:p>
          <a:p>
            <a:r>
              <a:t>Why are cue labels imperfect? The intended task is known, but actual participant compliance is assumed.</a:t>
            </a:r>
          </a:p>
          <a:p>
            <a:endParaRPr/>
          </a:p>
          <a:p>
            <a:r>
              <a:t>Evidence and cautions:</a:t>
            </a:r>
          </a:p>
          <a:p>
            <a:r>
              <a:t>Chowdhury IV pp1078–1079. Transition: distinguish these statements from my design-derived critique.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Design-derived limitations</a:t>
            </a:r>
          </a:p>
          <a:p>
            <a:endParaRPr/>
          </a:p>
          <a:p>
            <a:r>
              <a:t>Suggested explanation (30–60 seconds):</a:t>
            </a:r>
          </a:p>
          <a:p>
            <a:r>
              <a:t>My critical interpretation concerns small cohorts, a short feedback run and the offline baseline. The study supports short-term feasibility; it leaves generalisation and therapeutic efficacy unresolved.</a:t>
            </a:r>
          </a:p>
          <a:p>
            <a:endParaRPr/>
          </a:p>
          <a:p>
            <a:r>
              <a:t>Likely question and answer:</a:t>
            </a:r>
          </a:p>
          <a:p>
            <a:r>
              <a:t>Are these author admissions? These are inferences from the protocol and outcome measures, not all direct limitations stated by the authors.</a:t>
            </a:r>
          </a:p>
          <a:p>
            <a:endParaRPr/>
          </a:p>
          <a:p>
            <a:r>
              <a:t>Evidence and cautions:</a:t>
            </a:r>
          </a:p>
          <a:p>
            <a:r>
              <a:t>Chowdhury II.B p1072; II.D–E p1073; III pp1075–1077. Notion limitations page reviewed.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Paper-to-project bridge</a:t>
            </a:r>
          </a:p>
          <a:p>
            <a:endParaRPr/>
          </a:p>
          <a:p>
            <a:r>
              <a:t>Suggested explanation (30–60 seconds):</a:t>
            </a:r>
          </a:p>
          <a:p>
            <a:r>
              <a:t>The shared mechanism is warning, validation and selective adaptation. The paper uses two bands and four CSP features; the repository uses ten-band FBCSP for its Competition protocols. I preserve those distinctions when interpreting reproduction.</a:t>
            </a:r>
          </a:p>
          <a:p>
            <a:endParaRPr/>
          </a:p>
          <a:p>
            <a:r>
              <a:t>Likely question and answer:</a:t>
            </a:r>
          </a:p>
          <a:p>
            <a:r>
              <a:t>Why not copy every paper detail? Some temporal sample and update-batch choices are underspecified; alternatives should be named and tested.</a:t>
            </a:r>
          </a:p>
          <a:p>
            <a:endParaRPr/>
          </a:p>
          <a:p>
            <a:r>
              <a:t>Evidence and cautions:</a:t>
            </a:r>
          </a:p>
          <a:p>
            <a:r>
              <a:t>Notion Methods &amp; equation evidence audit; PhD questions &amp; repository connections.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Implementation responsibilities</a:t>
            </a:r>
          </a:p>
          <a:p>
            <a:endParaRPr/>
          </a:p>
          <a:p>
            <a:r>
              <a:t>Suggested explanation (30–60 seconds):</a:t>
            </a:r>
          </a:p>
          <a:p>
            <a:r>
              <a:t>The update policy consumes evidence. A warning, a confirmation and performance deterioration are different signals. Labels can be supervised or pseudo-labelled. The current Diethe experiment uses fixed CSE, not the complementary score/residual extension.</a:t>
            </a:r>
          </a:p>
          <a:p>
            <a:endParaRPr/>
          </a:p>
          <a:p>
            <a:r>
              <a:t>Likely question and answer:</a:t>
            </a:r>
          </a:p>
          <a:p>
            <a:r>
              <a:t>Is the whole model continuously learning? The current loop appends data and retrains; representation and detector stay fixed in Diethe.</a:t>
            </a:r>
          </a:p>
          <a:p>
            <a:endParaRPr/>
          </a:p>
          <a:p>
            <a:r>
              <a:t>Evidence and cautions:</a:t>
            </a:r>
          </a:p>
          <a:p>
            <a:r>
              <a:t>src/adaptation/experiments/diethe.py and docs/diethe_experiments.md.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three steps: spatial projection, log-normalised variance, and fixed calibration PCA. f is a feature vector; x is the scalar first-PC score. Equation 2 uses clarified indices. PCA is an implementation-explicit reformulation of Eq4, not a verbatim transcription. The code selects extreme CSP components before normalising variances; the paper prose describes 12 elements followed by first/last selection. Record that convention explicitly. The paper uses two bands and four features; the Table-I repository path uses ten-band FBCSP. Sources: Chowdhury II.E pp1073–1074; src/bci/fbcsp.py; src/detection/preprocessing.py.</a:t>
            </a:r>
          </a:p>
        </p:txBody>
      </p:sp>
      <p:sp>
        <p:nvSpPr>
          <p:cNvPr id="4" name="Slide Number Placeholder 3"/>
          <p:cNvSpPr>
            <a:spLocks noGrp="1"/>
          </p:cNvSpPr>
          <p:nvPr>
            <p:ph type="sldNum" sz="quarter" idx="5"/>
          </p:nvPr>
        </p:nvSpPr>
        <p:spPr/>
        <p:txBody>
          <a:bodyPr/>
          <a:lstStyle/>
          <a:p>
            <a:endParaRPr lang="en-GB"/>
          </a:p>
        </p:txBody>
      </p:sp>
    </p:spTree>
    <p:extLst>
      <p:ext uri="{BB962C8B-B14F-4D97-AF65-F5344CB8AC3E}">
        <p14:creationId xmlns:p14="http://schemas.microsoft.com/office/powerpoint/2010/main" val="3918342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x_i as the PC1 score and e_i as a score prediction error, not classification error. Limits use previous variance. Equation8 updates the variance for subsequent trials. Alpha_v is a clarified name for the paper alpha, distinct from Stage-II test significance. Paper L=2; use the configured repository value when describing a run. Repository supports always, frozen, non_alarm variance modes; Diethe pilot used frozen. Paper warns strictly outside limits; repository sd_ewma includes equality. Pooled Stage-II equation is the repository mode, not direct Chowdhury Eq9. The degrees-of-freedom condition does not ensure covariance invertibility or valid inference. Sources: Chowdhury II.E.3 pp1074–1075; src/detection/stage1/sd_ewma.py; src/detection/stage2/paper_two_sample_hotelling.py.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Protocol separation</a:t>
            </a:r>
          </a:p>
          <a:p>
            <a:endParaRPr/>
          </a:p>
          <a:p>
            <a:r>
              <a:t>Suggested explanation (30–60 seconds):</a:t>
            </a:r>
          </a:p>
          <a:p>
            <a:r>
              <a:t>Fit preprocessing only on development training data and reuse it for held-out evaluation. CSE reproduction and classifier benchmarking have distinct split contracts.</a:t>
            </a:r>
          </a:p>
          <a:p>
            <a:endParaRPr/>
          </a:p>
          <a:p>
            <a:r>
              <a:t>Likely question and answer:</a:t>
            </a:r>
          </a:p>
          <a:p>
            <a:r>
              <a:t>Why does 2B use different sessions in different slides? Different experiments answer different questions. Use the protocol table on slide16 to keep them explicit.</a:t>
            </a:r>
          </a:p>
          <a:p>
            <a:endParaRPr/>
          </a:p>
          <a:p>
            <a:r>
              <a:t>Evidence and cautions:</a:t>
            </a:r>
          </a:p>
          <a:p>
            <a:r>
              <a:t>Repository dataset runners and stored bagging evaluation_scope fields.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Stored benchmark evidence</a:t>
            </a:r>
          </a:p>
          <a:p>
            <a:endParaRPr/>
          </a:p>
          <a:p>
            <a:r>
              <a:t>Suggested explanation (30–60 seconds):</a:t>
            </a:r>
          </a:p>
          <a:p>
            <a:r>
              <a:t>Bagging changes accuracy only slightly and inconsistently across datasets. In synthetic monitoring, residuals detect orthogonal shifts missed by PC1, but combination has sensitivity and alarm-burden trade-offs.</a:t>
            </a:r>
          </a:p>
          <a:p>
            <a:endParaRPr/>
          </a:p>
          <a:p>
            <a:r>
              <a:t>Likely question and answer:</a:t>
            </a:r>
          </a:p>
          <a:p>
            <a:r>
              <a:t>Does 100% PC2 detection establish superiority? Only for the specified synthetic conditions. The no-change window alarm rate and PC1 trade-off must also be reported.</a:t>
            </a:r>
          </a:p>
          <a:p>
            <a:endParaRPr/>
          </a:p>
          <a:p>
            <a:r>
              <a:t>Evidence and cautions:</a:t>
            </a:r>
          </a:p>
          <a:p>
            <a:r>
              <a:t>outputs/metrics/bagging_bci_real.csv; outputs/complementary_100/summary.csv; magnitude6 summary. CI numbers on slide are explicitly the 2a8d20b snapshot, not a new test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B01 discrepancy</a:t>
            </a:r>
          </a:p>
          <a:p>
            <a:endParaRPr/>
          </a:p>
          <a:p>
            <a:r>
              <a:t>Suggested explanation (30–60 seconds):</a:t>
            </a:r>
          </a:p>
          <a:p>
            <a:r>
              <a:t>Two committed files agree on 17 warnings but disagree on validated totals, five versus zero. This is why result provenance matters. I cannot infer that one run supersedes the other from these tables alone.</a:t>
            </a:r>
          </a:p>
          <a:p>
            <a:endParaRPr/>
          </a:p>
          <a:p>
            <a:r>
              <a:t>Likely question and answer:</a:t>
            </a:r>
          </a:p>
          <a:p>
            <a:r>
              <a:t>What caused the difference? Not established by the saved CSVs. Check validation mode, windows, covariance, input representation and generating configuration.</a:t>
            </a:r>
          </a:p>
          <a:p>
            <a:endParaRPr/>
          </a:p>
          <a:p>
            <a:r>
              <a:t>Evidence and cautions:</a:t>
            </a:r>
          </a:p>
          <a:p>
            <a:r>
              <a:t>outputs/metrics/bci_2b_table1_results.csv and bci_table1_comparison.csv.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14279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Reproduction boundary</a:t>
            </a:r>
          </a:p>
          <a:p>
            <a:endParaRPr/>
          </a:p>
          <a:p>
            <a:r>
              <a:t>Suggested explanation (30–60 seconds):</a:t>
            </a:r>
          </a:p>
          <a:p>
            <a:r>
              <a:t>The combined results remain far below published validation counts. I can claim an executable reconstruction with measured discrepancies, but cannot claim numerical reproduction.</a:t>
            </a:r>
          </a:p>
          <a:p>
            <a:endParaRPr/>
          </a:p>
          <a:p>
            <a:r>
              <a:t>Likely question and answer:</a:t>
            </a:r>
          </a:p>
          <a:p>
            <a:r>
              <a:t>Should parameters be tuned to match published test counts? That would risk fitting to the evaluation target. Select on development data and report sensitivity separately.</a:t>
            </a:r>
          </a:p>
          <a:p>
            <a:endParaRPr/>
          </a:p>
          <a:p>
            <a:r>
              <a:t>Evidence and cautions:</a:t>
            </a:r>
          </a:p>
          <a:p>
            <a:r>
              <a:t>Combined Table-I file; means across nine subjects in each dataset. Not the standalone B01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Dataset roles</a:t>
            </a:r>
          </a:p>
          <a:p>
            <a:endParaRPr/>
          </a:p>
          <a:p>
            <a:r>
              <a:t>Suggested explanation (30–60 seconds):</a:t>
            </a:r>
          </a:p>
          <a:p>
            <a:r>
              <a:t>Read this as a protocol map. For complementary 2B, I–II fit the representation, III calibrates thresholds, and IV–V evaluate. That differs from the classifier benchmark and Table-I path.</a:t>
            </a:r>
          </a:p>
          <a:p>
            <a:endParaRPr/>
          </a:p>
          <a:p>
            <a:r>
              <a:t>Likely question and answer:</a:t>
            </a:r>
          </a:p>
          <a:p>
            <a:r>
              <a:t>Are real EEG warnings true detections? They are descriptive alarms unless independently annotated or experimentally injected shifts provide ground truth.</a:t>
            </a:r>
          </a:p>
          <a:p>
            <a:endParaRPr/>
          </a:p>
          <a:p>
            <a:r>
              <a:t>Evidence and cautions:</a:t>
            </a:r>
          </a:p>
          <a:p>
            <a:r>
              <a:t>scripts/run_complementary_bci.py. Prepared Diethe arrays require the caller to enforce non-overlapping splits.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71693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PREPARATION — Diethe architecture</a:t>
            </a:r>
          </a:p>
          <a:p>
            <a:endParaRPr/>
          </a:p>
          <a:p>
            <a:r>
              <a:t>Suggested explanation (30–60 seconds):</a:t>
            </a:r>
          </a:p>
          <a:p>
            <a:r>
              <a:t>Diethe separates data monitoring, prediction monitoring and update policy. My implementation operationalises part of this architecture using five explicit rules and saved evidence.</a:t>
            </a:r>
          </a:p>
          <a:p>
            <a:endParaRPr/>
          </a:p>
          <a:p>
            <a:r>
              <a:t>Likely question and answer:</a:t>
            </a:r>
          </a:p>
          <a:p>
            <a:r>
              <a:t>Have you implemented Diethe completely? No. The paper discusses much broader state, actions, provenance and policy learning. My rules do not implement rollback, learned policy optimisation or energy accounting.</a:t>
            </a:r>
          </a:p>
          <a:p>
            <a:endParaRPr/>
          </a:p>
          <a:p>
            <a:r>
              <a:t>Evidence and cautions:</a:t>
            </a:r>
          </a:p>
          <a:p>
            <a:r>
              <a:t>Supplied Diethe PDF: §4.1–4.2 and §5 p4; §5.2 p5; §3.3 p3. First run now saved.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PREPARATION — Controlled scenarios</a:t>
            </a:r>
          </a:p>
          <a:p>
            <a:endParaRPr/>
          </a:p>
          <a:p>
            <a:r>
              <a:t>Suggested explanation (30–60 seconds):</a:t>
            </a:r>
          </a:p>
          <a:p>
            <a:r>
              <a:t>No shift measures baseline burden. Feature shift changes inputs while preserving the label rule. Relationship shift changes the label rule with the same input stream, so input monitoring can miss performance deterioration.</a:t>
            </a:r>
          </a:p>
          <a:p>
            <a:endParaRPr/>
          </a:p>
          <a:p>
            <a:r>
              <a:t>Likely question and answer:</a:t>
            </a:r>
          </a:p>
          <a:p>
            <a:r>
              <a:t>When are labels available? Immediately after prediction, before any update. The validated policy waits for validation_time, not the earlier warning time.</a:t>
            </a:r>
          </a:p>
          <a:p>
            <a:endParaRPr/>
          </a:p>
          <a:p>
            <a:r>
              <a:t>Evidence and cautions:</a:t>
            </a:r>
          </a:p>
          <a:p>
            <a:r>
              <a:t>DietheConfig: 120 training, 80 validation, 240 evaluation observations by default. These are feature vectors, not raw EEG.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PREPARATION — First Diethe result</a:t>
            </a:r>
          </a:p>
          <a:p>
            <a:endParaRPr/>
          </a:p>
          <a:p>
            <a:r>
              <a:t>Suggested explanation (30–60 seconds):</a:t>
            </a:r>
          </a:p>
          <a:p>
            <a:r>
              <a:t>The unchanged model gets 235 of 240 predictions correct. Periodic updating gets 236 with 12 updates. Warning and validated policies get 234; performance-drop matches never with zero updates. This illustrates why detection and update utility should be assessed separately.</a:t>
            </a:r>
          </a:p>
          <a:p>
            <a:endParaRPr/>
          </a:p>
          <a:p>
            <a:r>
              <a:t>Likely question and answer:</a:t>
            </a:r>
          </a:p>
          <a:p>
            <a:r>
              <a:t>Is periodic best? Not established from one seed. Post-change accuracy is 99.17% for never and performance-drop versus 98.33% for the other three. The one-prediction overall advantage does not establish post-shift benefit.</a:t>
            </a:r>
          </a:p>
          <a:p>
            <a:endParaRPr/>
          </a:p>
          <a:p>
            <a:r>
              <a:t>Evidence and cautions:</a:t>
            </a:r>
          </a:p>
          <a:p>
            <a:r>
              <a:t>Run 20261004T111759599003Z: feature_shift seed42 magnitude2; source commit2a8d20b. Three warnings; two rejected and one confirmed. Warning116 validates136, spanning true change120: do not label it an advance detection. Shared detector time≈29.71ms; retraining≈12.53ms periodic,3.12ms warning,1.21ms validated. Timing is one-machine wall time, not energy. Final periodic update239 cannot improve another prediction in this run.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Timeline</a:t>
            </a:r>
          </a:p>
          <a:p>
            <a:endParaRPr/>
          </a:p>
          <a:p>
            <a:r>
              <a:t>Suggested explanation (30–60 seconds):</a:t>
            </a:r>
          </a:p>
          <a:p>
            <a:r>
              <a:t>This is a proposed first-year plan. The current reconstruction and pilot experiments provide starting evidence for early work packages; the digital twin, sustainability and cross-domain work are future objectives.</a:t>
            </a:r>
          </a:p>
          <a:p>
            <a:endParaRPr/>
          </a:p>
          <a:p>
            <a:r>
              <a:t>Likely question and answer:</a:t>
            </a:r>
          </a:p>
          <a:p>
            <a:r>
              <a:t>Are these packages already completed? No. Distinguish the existing benchmark foundation from planned research outcomes.</a:t>
            </a:r>
          </a:p>
          <a:p>
            <a:endParaRPr/>
          </a:p>
          <a:p>
            <a:r>
              <a:t>Evidence and cautions:</a:t>
            </a:r>
          </a:p>
          <a:p>
            <a:r>
              <a:t>Proposed October2026–September2027 timeline retained from the source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PREPARATION — Closing</a:t>
            </a:r>
          </a:p>
          <a:p>
            <a:endParaRPr/>
          </a:p>
          <a:p>
            <a:r>
              <a:t>Suggested explanation (30–60 seconds):</a:t>
            </a:r>
          </a:p>
          <a:p>
            <a:r>
              <a:t>The next milestone is a reproducible evidence package: reconcile detector runs, repeat the policy experiment across scenarios and seeds, and generate real EEG complementary traces. Then judge benefit alongside update burden and uncertainty.</a:t>
            </a:r>
          </a:p>
          <a:p>
            <a:endParaRPr/>
          </a:p>
          <a:p>
            <a:r>
              <a:t>Likely question and answer:</a:t>
            </a:r>
          </a:p>
          <a:p>
            <a:r>
              <a:t>What would count as success? Traceable configurations, repeated results with variability, a clear failure analysis, and evidence supporting a specific update policy under stated assumptions.</a:t>
            </a:r>
          </a:p>
          <a:p>
            <a:endParaRPr/>
          </a:p>
          <a:p>
            <a:r>
              <a:t>Evidence and cautions:</a:t>
            </a:r>
          </a:p>
          <a:p>
            <a:r>
              <a:t>Closing question: when does a detected change justify updating the model? Return to this rather than claiming the full problem is solved.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AD795F9-EEE3-477E-9BD4-F29627706AB5}"/>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EC0BBB8-82CA-4980-ACC4-FA6C6F2E599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C8AC04D1-8889-449F-888C-0F2081ED49A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30FA1085-E867-43EB-A162-23373335B381}"/>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ABCE7717-965A-4AC1-91FA-A691A887B63E}"/>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62DC6B76-B7F5-48BE-BD49-D12294C60D6A}"/>
              </a:ext>
            </a:extLst>
          </p:cNvPr>
          <p:cNvSpPr>
            <a:spLocks noGrp="1"/>
          </p:cNvSpPr>
          <p:nvPr/>
        </p:nvSpPr>
        <p:spPr>
          <a:xfrm>
            <a:off x="685800" y="1524000"/>
            <a:ext cx="609600" cy="38100"/>
          </a:xfrm>
          <a:prstGeom prst="rect">
            <a:avLst/>
          </a:prstGeom>
          <a:solidFill>
            <a:schemeClr val="accent1"/>
          </a:solidFill>
          <a:ln>
            <a:noFill/>
            <a:prstDash val="solid"/>
          </a:ln>
        </p:spPr>
        <p:txBody>
          <a:bodyPr/>
          <a:lstStyle/>
          <a:p>
            <a:endParaRPr lang="en-GB"/>
          </a:p>
        </p:txBody>
      </p:sp>
      <p:sp>
        <p:nvSpPr>
          <p:cNvPr id="2" name="Title">
            <a:extLst>
              <a:ext uri="{FF2B5EF4-FFF2-40B4-BE49-F238E27FC236}">
                <a16:creationId xmlns:a16="http://schemas.microsoft.com/office/drawing/2014/main" id="{FD5C62DE-A32F-4CF4-868F-9111AF2AE97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A7E428D4-365B-4497-99E6-D8A945FC3C7F}"/>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8BFA7C53-65FB-47FB-B421-CC2A9BF21BFD}"/>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1DB9BDD-008D-40E8-93A0-946C12C0D11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047D79C-9359-409F-B301-C1051B66F51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BEE3D567-B07E-4948-9F1A-A1B4C9F325D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04F57580-5D92-48DA-A809-39AD8E2CE619}"/>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91D2DEF-44F4-4631-8CE8-CAA8300B7C7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590231D8-00E1-463F-A1B3-8A59FEB76EF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23.png"/><Relationship Id="rId10" Type="http://schemas.openxmlformats.org/officeDocument/2006/relationships/image" Target="../media/image24.png"/><Relationship Id="rId11"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 Id="rId15" Type="http://schemas.openxmlformats.org/officeDocument/2006/relationships/image" Target="../media/image22.png"/><Relationship Id="rId16" Type="http://schemas.openxmlformats.org/officeDocument/2006/relationships/image" Target="../media/image26.png"/><Relationship Id="rId17" Type="http://schemas.openxmlformats.org/officeDocument/2006/relationships/image" Target="../media/image27.png"/><Relationship Id="rId18" Type="http://schemas.openxmlformats.org/officeDocument/2006/relationships/image" Target="../media/image28.png"/><Relationship Id="rId19" Type="http://schemas.openxmlformats.org/officeDocument/2006/relationships/image" Target="../media/image29.png"/><Relationship Id="rId20"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FB7A1BC-9F50-412C-AD08-6A0907BD5F8D}"/>
              </a:ext>
            </a:extLst>
          </p:cNvPr>
          <p:cNvSpPr>
            <a:spLocks noGrp="1"/>
          </p:cNvSpPr>
          <p:nvPr/>
        </p:nvSpPr>
        <p:spPr>
          <a:xfrm>
            <a:off x="609600" y="666750"/>
            <a:ext cx="95250" cy="4953000"/>
          </a:xfrm>
          <a:prstGeom prst="rect">
            <a:avLst/>
          </a:prstGeom>
          <a:solidFill>
            <a:srgbClr val="2DD4BF"/>
          </a:solidFill>
          <a:ln w="0">
            <a:noFill/>
          </a:ln>
        </p:spPr>
        <p:txBody>
          <a:bodyPr/>
          <a:lstStyle/>
          <a:p>
            <a:endParaRPr/>
          </a:p>
        </p:txBody>
      </p:sp>
      <p:sp>
        <p:nvSpPr>
          <p:cNvPr id="2" name="Rectangle 1">
            <a:extLst>
              <a:ext uri="{FF2B5EF4-FFF2-40B4-BE49-F238E27FC236}">
                <a16:creationId xmlns:a16="http://schemas.microsoft.com/office/drawing/2014/main" id="{15D122F1-24A1-464A-9263-EC7D882DFD91}"/>
              </a:ext>
            </a:extLst>
          </p:cNvPr>
          <p:cNvSpPr>
            <a:spLocks noGrp="1"/>
          </p:cNvSpPr>
          <p:nvPr/>
        </p:nvSpPr>
        <p:spPr>
          <a:xfrm>
            <a:off x="1047750" y="1047750"/>
            <a:ext cx="7239000" cy="1524000"/>
          </a:xfrm>
          <a:prstGeom prst="rect">
            <a:avLst/>
          </a:prstGeom>
          <a:noFill/>
          <a:ln w="0">
            <a:noFill/>
          </a:ln>
        </p:spPr>
        <p:txBody>
          <a:bodyPr wrap="square" lIns="0" tIns="0" rIns="0" bIns="0" anchor="t">
            <a:normAutofit/>
          </a:bodyPr>
          <a:lstStyle/>
          <a:p>
            <a:pPr algn="l">
              <a:buNone/>
              <a:defRPr sz="4050" b="1">
                <a:solidFill>
                  <a:srgbClr val="EAF2F8"/>
                </a:solidFill>
                <a:latin typeface="DejaVu Sans"/>
                <a:ea typeface="DejaVu Sans"/>
                <a:cs typeface="DejaVu Sans"/>
              </a:defRPr>
            </a:pPr>
            <a:r>
              <a:rPr sz="4050" b="1">
                <a:solidFill>
                  <a:srgbClr val="EAF2F8"/>
                </a:solidFill>
                <a:latin typeface="DejaVu Sans"/>
                <a:ea typeface="DejaVu Sans"/>
                <a:cs typeface="DejaVu Sans"/>
              </a:rPr>
              <a:t>EWMA Covariate</a:t>
            </a:r>
          </a:p>
          <a:p>
            <a:pPr algn="l">
              <a:buNone/>
              <a:defRPr sz="4050" b="1">
                <a:solidFill>
                  <a:srgbClr val="EAF2F8"/>
                </a:solidFill>
                <a:latin typeface="DejaVu Sans"/>
                <a:ea typeface="DejaVu Sans"/>
                <a:cs typeface="DejaVu Sans"/>
              </a:defRPr>
            </a:pPr>
            <a:r>
              <a:rPr sz="4050" b="1">
                <a:solidFill>
                  <a:srgbClr val="EAF2F8"/>
                </a:solidFill>
                <a:latin typeface="DejaVu Sans"/>
                <a:ea typeface="DejaVu Sans"/>
                <a:cs typeface="DejaVu Sans"/>
              </a:rPr>
              <a:t>Shift Demo</a:t>
            </a:r>
          </a:p>
        </p:txBody>
      </p:sp>
      <p:sp>
        <p:nvSpPr>
          <p:cNvPr id="3" name="Rectangle 2">
            <a:extLst>
              <a:ext uri="{FF2B5EF4-FFF2-40B4-BE49-F238E27FC236}">
                <a16:creationId xmlns:a16="http://schemas.microsoft.com/office/drawing/2014/main" id="{38CA1C25-D797-45EF-8E63-B3F29F301C6D}"/>
              </a:ext>
            </a:extLst>
          </p:cNvPr>
          <p:cNvSpPr>
            <a:spLocks noGrp="1"/>
          </p:cNvSpPr>
          <p:nvPr/>
        </p:nvSpPr>
        <p:spPr>
          <a:xfrm>
            <a:off x="1066800" y="2800350"/>
            <a:ext cx="7524750" cy="428625"/>
          </a:xfrm>
          <a:prstGeom prst="rect">
            <a:avLst/>
          </a:prstGeom>
          <a:noFill/>
          <a:ln w="0">
            <a:noFill/>
          </a:ln>
        </p:spPr>
        <p:txBody>
          <a:bodyPr wrap="square" lIns="0" tIns="0" rIns="0" bIns="0" anchor="t">
            <a:noAutofit/>
          </a:bodyPr>
          <a:lstStyle/>
          <a:p>
            <a:pPr algn="l">
              <a:buNone/>
              <a:defRPr sz="1800" b="1">
                <a:solidFill>
                  <a:srgbClr val="2DD4BF"/>
                </a:solidFill>
                <a:latin typeface="DejaVu Sans"/>
                <a:ea typeface="DejaVu Sans"/>
                <a:cs typeface="DejaVu Sans"/>
              </a:defRPr>
            </a:pPr>
            <a:r>
              <a:rPr sz="1800" b="1">
                <a:solidFill>
                  <a:srgbClr val="2DD4BF"/>
                </a:solidFill>
                <a:latin typeface="DejaVu Sans"/>
                <a:ea typeface="DejaVu Sans"/>
                <a:cs typeface="DejaVu Sans"/>
              </a:rPr>
              <a:t>Research progress review</a:t>
            </a:r>
          </a:p>
        </p:txBody>
      </p:sp>
      <p:sp>
        <p:nvSpPr>
          <p:cNvPr id="4" name="Rectangle 3">
            <a:extLst>
              <a:ext uri="{FF2B5EF4-FFF2-40B4-BE49-F238E27FC236}">
                <a16:creationId xmlns:a16="http://schemas.microsoft.com/office/drawing/2014/main" id="{93AA9472-82BB-48BB-A352-5C29C535E8AC}"/>
              </a:ext>
            </a:extLst>
          </p:cNvPr>
          <p:cNvSpPr>
            <a:spLocks noGrp="1"/>
          </p:cNvSpPr>
          <p:nvPr/>
        </p:nvSpPr>
        <p:spPr>
          <a:xfrm>
            <a:off x="1066800" y="3371850"/>
            <a:ext cx="7239000" cy="781050"/>
          </a:xfrm>
          <a:prstGeom prst="rect">
            <a:avLst/>
          </a:prstGeom>
          <a:noFill/>
          <a:ln w="0">
            <a:noFill/>
          </a:ln>
        </p:spPr>
        <p:txBody>
          <a:bodyPr wrap="square" lIns="0" tIns="0" rIns="0" bIns="0" anchor="t">
            <a:noAutofit/>
          </a:bodyPr>
          <a:lstStyle/>
          <a:p>
            <a:pPr algn="l">
              <a:buNone/>
              <a:defRPr sz="1650" b="0">
                <a:solidFill>
                  <a:srgbClr val="9CB0C3"/>
                </a:solidFill>
                <a:latin typeface="DejaVu Sans"/>
                <a:ea typeface="DejaVu Sans"/>
                <a:cs typeface="DejaVu Sans"/>
              </a:defRPr>
            </a:pPr>
            <a:r>
              <a:rPr sz="1650" b="0">
                <a:solidFill>
                  <a:srgbClr val="9CB0C3"/>
                </a:solidFill>
                <a:latin typeface="DejaVu Sans"/>
                <a:ea typeface="DejaVu Sans"/>
                <a:cs typeface="DejaVu Sans"/>
              </a:rPr>
              <a:t>Auditable CSE reconstruction for motor-imagery EEG</a:t>
            </a:r>
          </a:p>
          <a:p>
            <a:pPr algn="l">
              <a:buNone/>
              <a:defRPr sz="1650" b="0">
                <a:solidFill>
                  <a:srgbClr val="9CB0C3"/>
                </a:solidFill>
                <a:latin typeface="DejaVu Sans"/>
                <a:ea typeface="DejaVu Sans"/>
                <a:cs typeface="DejaVu Sans"/>
              </a:defRPr>
            </a:pPr>
            <a:r>
              <a:rPr sz="1650" b="0">
                <a:solidFill>
                  <a:srgbClr val="9CB0C3"/>
                </a:solidFill>
                <a:latin typeface="DejaVu Sans"/>
                <a:ea typeface="DejaVu Sans"/>
                <a:cs typeface="DejaVu Sans"/>
              </a:rPr>
              <a:t>Classifier benchmarks and complementary PCA monitoring</a:t>
            </a:r>
          </a:p>
        </p:txBody>
      </p:sp>
      <p:sp>
        <p:nvSpPr>
          <p:cNvPr id="5" name="Rectangle 4">
            <a:extLst>
              <a:ext uri="{FF2B5EF4-FFF2-40B4-BE49-F238E27FC236}">
                <a16:creationId xmlns:a16="http://schemas.microsoft.com/office/drawing/2014/main" id="{2C9C5016-122B-4D29-A204-F4E2046D950A}"/>
              </a:ext>
            </a:extLst>
          </p:cNvPr>
          <p:cNvSpPr>
            <a:spLocks noGrp="1"/>
          </p:cNvSpPr>
          <p:nvPr/>
        </p:nvSpPr>
        <p:spPr>
          <a:xfrm>
            <a:off x="1066800" y="5086350"/>
            <a:ext cx="3238500" cy="285750"/>
          </a:xfrm>
          <a:prstGeom prst="rect">
            <a:avLst/>
          </a:prstGeom>
          <a:noFill/>
          <a:ln w="0">
            <a:noFill/>
          </a:ln>
        </p:spPr>
        <p:txBody>
          <a:bodyPr wrap="square" lIns="0" tIns="0" rIns="0" bIns="0" anchor="t">
            <a:normAutofit/>
          </a:bodyPr>
          <a:lstStyle/>
          <a:p>
            <a:pPr algn="l">
              <a:buNone/>
              <a:defRPr sz="1200" b="1">
                <a:solidFill>
                  <a:srgbClr val="EAF2F8"/>
                </a:solidFill>
                <a:latin typeface="DejaVu Sans"/>
                <a:ea typeface="DejaVu Sans"/>
                <a:cs typeface="DejaVu Sans"/>
              </a:defRPr>
            </a:pPr>
            <a:r>
              <a:rPr lang="en-US" sz="1200" b="1" dirty="0">
                <a:solidFill>
                  <a:srgbClr val="EAF2F8"/>
                </a:solidFill>
                <a:latin typeface="DejaVu Sans"/>
                <a:ea typeface="DejaVu Sans"/>
                <a:cs typeface="DejaVu Sans"/>
              </a:rPr>
              <a:t>Haocheng Lin</a:t>
            </a:r>
          </a:p>
        </p:txBody>
      </p:sp>
      <p:sp>
        <p:nvSpPr>
          <p:cNvPr id="7" name="Straight Connector 6">
            <a:extLst>
              <a:ext uri="{FF2B5EF4-FFF2-40B4-BE49-F238E27FC236}">
                <a16:creationId xmlns:a16="http://schemas.microsoft.com/office/drawing/2014/main" id="{17DC29CC-1D2C-4B14-8435-1D09CBA58E14}"/>
              </a:ext>
            </a:extLst>
          </p:cNvPr>
          <p:cNvSpPr>
            <a:spLocks noGrp="1"/>
          </p:cNvSpPr>
          <p:nvPr/>
        </p:nvSpPr>
        <p:spPr>
          <a:xfrm flipV="1">
            <a:off x="8572500" y="1219200"/>
            <a:ext cx="647700" cy="400050"/>
          </a:xfrm>
          <a:prstGeom prst="line">
            <a:avLst/>
          </a:prstGeom>
          <a:noFill/>
          <a:ln w="28575">
            <a:solidFill>
              <a:srgbClr val="2DD4BF"/>
            </a:solidFill>
            <a:prstDash val="solid"/>
          </a:ln>
        </p:spPr>
        <p:txBody>
          <a:bodyPr/>
          <a:lstStyle/>
          <a:p>
            <a:endParaRPr/>
          </a:p>
        </p:txBody>
      </p:sp>
      <p:sp>
        <p:nvSpPr>
          <p:cNvPr id="8" name="Straight Connector 7">
            <a:extLst>
              <a:ext uri="{FF2B5EF4-FFF2-40B4-BE49-F238E27FC236}">
                <a16:creationId xmlns:a16="http://schemas.microsoft.com/office/drawing/2014/main" id="{16F07650-6530-4543-9433-EA373012096E}"/>
              </a:ext>
            </a:extLst>
          </p:cNvPr>
          <p:cNvSpPr>
            <a:spLocks noGrp="1"/>
          </p:cNvSpPr>
          <p:nvPr/>
        </p:nvSpPr>
        <p:spPr>
          <a:xfrm>
            <a:off x="9220200" y="1219200"/>
            <a:ext cx="666750" cy="971550"/>
          </a:xfrm>
          <a:prstGeom prst="line">
            <a:avLst/>
          </a:prstGeom>
          <a:noFill/>
          <a:ln w="28575">
            <a:solidFill>
              <a:srgbClr val="4EA1FF"/>
            </a:solidFill>
            <a:prstDash val="solid"/>
          </a:ln>
        </p:spPr>
        <p:txBody>
          <a:bodyPr/>
          <a:lstStyle/>
          <a:p>
            <a:endParaRPr/>
          </a:p>
        </p:txBody>
      </p:sp>
      <p:sp>
        <p:nvSpPr>
          <p:cNvPr id="9" name="Straight Connector 8">
            <a:extLst>
              <a:ext uri="{FF2B5EF4-FFF2-40B4-BE49-F238E27FC236}">
                <a16:creationId xmlns:a16="http://schemas.microsoft.com/office/drawing/2014/main" id="{78903F61-9ED7-484C-8B3B-095EB461B443}"/>
              </a:ext>
            </a:extLst>
          </p:cNvPr>
          <p:cNvSpPr>
            <a:spLocks noGrp="1"/>
          </p:cNvSpPr>
          <p:nvPr/>
        </p:nvSpPr>
        <p:spPr>
          <a:xfrm flipV="1">
            <a:off x="9886950" y="1733550"/>
            <a:ext cx="628650" cy="457200"/>
          </a:xfrm>
          <a:prstGeom prst="line">
            <a:avLst/>
          </a:prstGeom>
          <a:noFill/>
          <a:ln w="28575">
            <a:solidFill>
              <a:srgbClr val="2DD4BF"/>
            </a:solidFill>
            <a:prstDash val="solid"/>
          </a:ln>
        </p:spPr>
        <p:txBody>
          <a:bodyPr/>
          <a:lstStyle/>
          <a:p>
            <a:endParaRPr/>
          </a:p>
        </p:txBody>
      </p:sp>
      <p:sp>
        <p:nvSpPr>
          <p:cNvPr id="10" name="Straight Connector 9">
            <a:extLst>
              <a:ext uri="{FF2B5EF4-FFF2-40B4-BE49-F238E27FC236}">
                <a16:creationId xmlns:a16="http://schemas.microsoft.com/office/drawing/2014/main" id="{5AA64371-039C-466E-916C-B117BEA3E6CC}"/>
              </a:ext>
            </a:extLst>
          </p:cNvPr>
          <p:cNvSpPr>
            <a:spLocks noGrp="1"/>
          </p:cNvSpPr>
          <p:nvPr/>
        </p:nvSpPr>
        <p:spPr>
          <a:xfrm>
            <a:off x="10515600" y="1733550"/>
            <a:ext cx="647700" cy="952500"/>
          </a:xfrm>
          <a:prstGeom prst="line">
            <a:avLst/>
          </a:prstGeom>
          <a:noFill/>
          <a:ln w="28575">
            <a:solidFill>
              <a:srgbClr val="4EA1FF"/>
            </a:solidFill>
            <a:prstDash val="solid"/>
          </a:ln>
        </p:spPr>
        <p:txBody>
          <a:bodyPr/>
          <a:lstStyle/>
          <a:p>
            <a:endParaRPr/>
          </a:p>
        </p:txBody>
      </p:sp>
      <p:sp>
        <p:nvSpPr>
          <p:cNvPr id="11" name="Straight Connector 10">
            <a:extLst>
              <a:ext uri="{FF2B5EF4-FFF2-40B4-BE49-F238E27FC236}">
                <a16:creationId xmlns:a16="http://schemas.microsoft.com/office/drawing/2014/main" id="{FF7FE505-030C-432A-9D5C-E15B74B8AF64}"/>
              </a:ext>
            </a:extLst>
          </p:cNvPr>
          <p:cNvSpPr>
            <a:spLocks noGrp="1"/>
          </p:cNvSpPr>
          <p:nvPr/>
        </p:nvSpPr>
        <p:spPr>
          <a:xfrm flipH="1">
            <a:off x="10325100" y="2686050"/>
            <a:ext cx="838200" cy="704850"/>
          </a:xfrm>
          <a:prstGeom prst="line">
            <a:avLst/>
          </a:prstGeom>
          <a:noFill/>
          <a:ln w="28575">
            <a:solidFill>
              <a:srgbClr val="2DD4BF"/>
            </a:solidFill>
            <a:prstDash val="solid"/>
          </a:ln>
        </p:spPr>
        <p:txBody>
          <a:bodyPr/>
          <a:lstStyle/>
          <a:p>
            <a:endParaRPr/>
          </a:p>
        </p:txBody>
      </p:sp>
      <p:sp>
        <p:nvSpPr>
          <p:cNvPr id="12" name="Straight Connector 11">
            <a:extLst>
              <a:ext uri="{FF2B5EF4-FFF2-40B4-BE49-F238E27FC236}">
                <a16:creationId xmlns:a16="http://schemas.microsoft.com/office/drawing/2014/main" id="{47BD7E3D-F20C-467A-8236-AACCFBA5D4B1}"/>
              </a:ext>
            </a:extLst>
          </p:cNvPr>
          <p:cNvSpPr>
            <a:spLocks noGrp="1"/>
          </p:cNvSpPr>
          <p:nvPr/>
        </p:nvSpPr>
        <p:spPr>
          <a:xfrm flipH="1" flipV="1">
            <a:off x="9353550" y="3009900"/>
            <a:ext cx="971550" cy="381000"/>
          </a:xfrm>
          <a:prstGeom prst="line">
            <a:avLst/>
          </a:prstGeom>
          <a:noFill/>
          <a:ln w="28575">
            <a:solidFill>
              <a:srgbClr val="4EA1FF"/>
            </a:solidFill>
            <a:prstDash val="solid"/>
          </a:ln>
        </p:spPr>
        <p:txBody>
          <a:bodyPr/>
          <a:lstStyle/>
          <a:p>
            <a:endParaRPr/>
          </a:p>
        </p:txBody>
      </p:sp>
      <p:sp>
        <p:nvSpPr>
          <p:cNvPr id="13" name="Straight Connector 12">
            <a:extLst>
              <a:ext uri="{FF2B5EF4-FFF2-40B4-BE49-F238E27FC236}">
                <a16:creationId xmlns:a16="http://schemas.microsoft.com/office/drawing/2014/main" id="{1EA5F974-D9BE-4707-AFC1-1496231FD398}"/>
              </a:ext>
            </a:extLst>
          </p:cNvPr>
          <p:cNvSpPr>
            <a:spLocks noGrp="1"/>
          </p:cNvSpPr>
          <p:nvPr/>
        </p:nvSpPr>
        <p:spPr>
          <a:xfrm flipH="1">
            <a:off x="8686800" y="3009900"/>
            <a:ext cx="666750" cy="895350"/>
          </a:xfrm>
          <a:prstGeom prst="line">
            <a:avLst/>
          </a:prstGeom>
          <a:noFill/>
          <a:ln w="28575">
            <a:solidFill>
              <a:srgbClr val="2DD4BF"/>
            </a:solidFill>
            <a:prstDash val="solid"/>
          </a:ln>
        </p:spPr>
        <p:txBody>
          <a:bodyPr/>
          <a:lstStyle/>
          <a:p>
            <a:endParaRPr/>
          </a:p>
        </p:txBody>
      </p:sp>
      <p:sp>
        <p:nvSpPr>
          <p:cNvPr id="14" name="Rectangle: Rounded Corners 13">
            <a:extLst>
              <a:ext uri="{FF2B5EF4-FFF2-40B4-BE49-F238E27FC236}">
                <a16:creationId xmlns:a16="http://schemas.microsoft.com/office/drawing/2014/main" id="{05E14B93-7F85-4455-8048-9406362F7CC7}"/>
              </a:ext>
            </a:extLst>
          </p:cNvPr>
          <p:cNvSpPr>
            <a:spLocks noGrp="1"/>
          </p:cNvSpPr>
          <p:nvPr/>
        </p:nvSpPr>
        <p:spPr>
          <a:xfrm>
            <a:off x="8515350" y="1562100"/>
            <a:ext cx="114300" cy="114300"/>
          </a:xfrm>
          <a:prstGeom prst="roundRect">
            <a:avLst>
              <a:gd name="adj" fmla="val 50000"/>
            </a:avLst>
          </a:prstGeom>
          <a:solidFill>
            <a:srgbClr val="2DD4BF"/>
          </a:solidFill>
          <a:ln w="0">
            <a:noFill/>
          </a:ln>
        </p:spPr>
        <p:txBody>
          <a:bodyPr/>
          <a:lstStyle/>
          <a:p>
            <a:endParaRPr/>
          </a:p>
        </p:txBody>
      </p:sp>
      <p:sp>
        <p:nvSpPr>
          <p:cNvPr id="15" name="Rectangle: Rounded Corners 14">
            <a:extLst>
              <a:ext uri="{FF2B5EF4-FFF2-40B4-BE49-F238E27FC236}">
                <a16:creationId xmlns:a16="http://schemas.microsoft.com/office/drawing/2014/main" id="{72680F17-AE51-430B-A782-B2D55F386D1F}"/>
              </a:ext>
            </a:extLst>
          </p:cNvPr>
          <p:cNvSpPr>
            <a:spLocks noGrp="1"/>
          </p:cNvSpPr>
          <p:nvPr/>
        </p:nvSpPr>
        <p:spPr>
          <a:xfrm>
            <a:off x="9163050" y="1162050"/>
            <a:ext cx="114300" cy="114300"/>
          </a:xfrm>
          <a:prstGeom prst="roundRect">
            <a:avLst>
              <a:gd name="adj" fmla="val 50000"/>
            </a:avLst>
          </a:prstGeom>
          <a:solidFill>
            <a:srgbClr val="2DD4BF"/>
          </a:solidFill>
          <a:ln w="0">
            <a:noFill/>
          </a:ln>
        </p:spPr>
        <p:txBody>
          <a:bodyPr/>
          <a:lstStyle/>
          <a:p>
            <a:endParaRPr/>
          </a:p>
        </p:txBody>
      </p:sp>
      <p:sp>
        <p:nvSpPr>
          <p:cNvPr id="16" name="Rectangle: Rounded Corners 15">
            <a:extLst>
              <a:ext uri="{FF2B5EF4-FFF2-40B4-BE49-F238E27FC236}">
                <a16:creationId xmlns:a16="http://schemas.microsoft.com/office/drawing/2014/main" id="{E767A00D-09BD-49C4-8743-4F50945C2B4B}"/>
              </a:ext>
            </a:extLst>
          </p:cNvPr>
          <p:cNvSpPr>
            <a:spLocks noGrp="1"/>
          </p:cNvSpPr>
          <p:nvPr/>
        </p:nvSpPr>
        <p:spPr>
          <a:xfrm>
            <a:off x="9829800" y="2133600"/>
            <a:ext cx="114300" cy="114300"/>
          </a:xfrm>
          <a:prstGeom prst="roundRect">
            <a:avLst>
              <a:gd name="adj" fmla="val 50000"/>
            </a:avLst>
          </a:prstGeom>
          <a:solidFill>
            <a:srgbClr val="2DD4BF"/>
          </a:solidFill>
          <a:ln w="0">
            <a:noFill/>
          </a:ln>
        </p:spPr>
        <p:txBody>
          <a:bodyPr/>
          <a:lstStyle/>
          <a:p>
            <a:endParaRPr/>
          </a:p>
        </p:txBody>
      </p:sp>
      <p:sp>
        <p:nvSpPr>
          <p:cNvPr id="17" name="Rectangle: Rounded Corners 16">
            <a:extLst>
              <a:ext uri="{FF2B5EF4-FFF2-40B4-BE49-F238E27FC236}">
                <a16:creationId xmlns:a16="http://schemas.microsoft.com/office/drawing/2014/main" id="{BBD805D9-E3C8-4713-AE6D-B22F85B683A7}"/>
              </a:ext>
            </a:extLst>
          </p:cNvPr>
          <p:cNvSpPr>
            <a:spLocks noGrp="1"/>
          </p:cNvSpPr>
          <p:nvPr/>
        </p:nvSpPr>
        <p:spPr>
          <a:xfrm>
            <a:off x="10458450" y="1676400"/>
            <a:ext cx="114300" cy="114300"/>
          </a:xfrm>
          <a:prstGeom prst="roundRect">
            <a:avLst>
              <a:gd name="adj" fmla="val 50000"/>
            </a:avLst>
          </a:prstGeom>
          <a:solidFill>
            <a:srgbClr val="2DD4BF"/>
          </a:solidFill>
          <a:ln w="0">
            <a:noFill/>
          </a:ln>
        </p:spPr>
        <p:txBody>
          <a:bodyPr/>
          <a:lstStyle/>
          <a:p>
            <a:endParaRPr/>
          </a:p>
        </p:txBody>
      </p:sp>
      <p:sp>
        <p:nvSpPr>
          <p:cNvPr id="18" name="Rectangle: Rounded Corners 17">
            <a:extLst>
              <a:ext uri="{FF2B5EF4-FFF2-40B4-BE49-F238E27FC236}">
                <a16:creationId xmlns:a16="http://schemas.microsoft.com/office/drawing/2014/main" id="{4810B203-C9DC-4405-A7A9-21298EF454C6}"/>
              </a:ext>
            </a:extLst>
          </p:cNvPr>
          <p:cNvSpPr>
            <a:spLocks noGrp="1"/>
          </p:cNvSpPr>
          <p:nvPr/>
        </p:nvSpPr>
        <p:spPr>
          <a:xfrm>
            <a:off x="11106150" y="2628900"/>
            <a:ext cx="114300" cy="114300"/>
          </a:xfrm>
          <a:prstGeom prst="roundRect">
            <a:avLst>
              <a:gd name="adj" fmla="val 50000"/>
            </a:avLst>
          </a:prstGeom>
          <a:solidFill>
            <a:srgbClr val="F5B942"/>
          </a:solidFill>
          <a:ln w="0">
            <a:noFill/>
          </a:ln>
        </p:spPr>
        <p:txBody>
          <a:bodyPr/>
          <a:lstStyle/>
          <a:p>
            <a:endParaRPr/>
          </a:p>
        </p:txBody>
      </p:sp>
      <p:sp>
        <p:nvSpPr>
          <p:cNvPr id="19" name="Rectangle: Rounded Corners 18">
            <a:extLst>
              <a:ext uri="{FF2B5EF4-FFF2-40B4-BE49-F238E27FC236}">
                <a16:creationId xmlns:a16="http://schemas.microsoft.com/office/drawing/2014/main" id="{34352F27-3D12-46B5-ADB7-7BD751194200}"/>
              </a:ext>
            </a:extLst>
          </p:cNvPr>
          <p:cNvSpPr>
            <a:spLocks noGrp="1"/>
          </p:cNvSpPr>
          <p:nvPr/>
        </p:nvSpPr>
        <p:spPr>
          <a:xfrm>
            <a:off x="10267950" y="3333750"/>
            <a:ext cx="114300" cy="114300"/>
          </a:xfrm>
          <a:prstGeom prst="roundRect">
            <a:avLst>
              <a:gd name="adj" fmla="val 50000"/>
            </a:avLst>
          </a:prstGeom>
          <a:solidFill>
            <a:srgbClr val="2DD4BF"/>
          </a:solidFill>
          <a:ln w="0">
            <a:noFill/>
          </a:ln>
        </p:spPr>
        <p:txBody>
          <a:bodyPr/>
          <a:lstStyle/>
          <a:p>
            <a:endParaRPr/>
          </a:p>
        </p:txBody>
      </p:sp>
      <p:sp>
        <p:nvSpPr>
          <p:cNvPr id="20" name="Rectangle: Rounded Corners 19">
            <a:extLst>
              <a:ext uri="{FF2B5EF4-FFF2-40B4-BE49-F238E27FC236}">
                <a16:creationId xmlns:a16="http://schemas.microsoft.com/office/drawing/2014/main" id="{3ED7F06F-E0D5-49C1-A526-EC90A7866E18}"/>
              </a:ext>
            </a:extLst>
          </p:cNvPr>
          <p:cNvSpPr>
            <a:spLocks noGrp="1"/>
          </p:cNvSpPr>
          <p:nvPr/>
        </p:nvSpPr>
        <p:spPr>
          <a:xfrm>
            <a:off x="9296400" y="2952750"/>
            <a:ext cx="114300" cy="114300"/>
          </a:xfrm>
          <a:prstGeom prst="roundRect">
            <a:avLst>
              <a:gd name="adj" fmla="val 50000"/>
            </a:avLst>
          </a:prstGeom>
          <a:solidFill>
            <a:srgbClr val="2DD4BF"/>
          </a:solidFill>
          <a:ln w="0">
            <a:noFill/>
          </a:ln>
        </p:spPr>
        <p:txBody>
          <a:bodyPr/>
          <a:lstStyle/>
          <a:p>
            <a:endParaRPr/>
          </a:p>
        </p:txBody>
      </p:sp>
      <p:sp>
        <p:nvSpPr>
          <p:cNvPr id="21" name="Rectangle: Rounded Corners 20">
            <a:extLst>
              <a:ext uri="{FF2B5EF4-FFF2-40B4-BE49-F238E27FC236}">
                <a16:creationId xmlns:a16="http://schemas.microsoft.com/office/drawing/2014/main" id="{AB6AAE89-9F53-45FB-91C5-CC373DD2AE64}"/>
              </a:ext>
            </a:extLst>
          </p:cNvPr>
          <p:cNvSpPr>
            <a:spLocks noGrp="1"/>
          </p:cNvSpPr>
          <p:nvPr/>
        </p:nvSpPr>
        <p:spPr>
          <a:xfrm>
            <a:off x="8629650" y="3848100"/>
            <a:ext cx="114300" cy="114300"/>
          </a:xfrm>
          <a:prstGeom prst="roundRect">
            <a:avLst>
              <a:gd name="adj" fmla="val 50000"/>
            </a:avLst>
          </a:prstGeom>
          <a:solidFill>
            <a:srgbClr val="2DD4BF"/>
          </a:solidFill>
          <a:ln w="0">
            <a:noFill/>
          </a:ln>
        </p:spPr>
        <p:txBody>
          <a:bodyPr/>
          <a:lstStyle/>
          <a:p>
            <a:endParaRPr/>
          </a:p>
        </p:txBody>
      </p:sp>
      <p:pic>
        <p:nvPicPr>
          <p:cNvPr id="27" name="Picture 26">
            <a:extLst>
              <a:ext uri="{FF2B5EF4-FFF2-40B4-BE49-F238E27FC236}">
                <a16:creationId xmlns:a16="http://schemas.microsoft.com/office/drawing/2014/main" id="{64B7A778-1F53-4BDB-9587-61D271DA34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3258" y="5315817"/>
            <a:ext cx="2172383" cy="1440000"/>
          </a:xfrm>
          <a:prstGeom prst="rect">
            <a:avLst/>
          </a:prstGeom>
        </p:spPr>
      </p:pic>
    </p:spTree>
    <p:extLst>
      <p:ext uri="{BB962C8B-B14F-4D97-AF65-F5344CB8AC3E}">
        <p14:creationId xmlns:p14="http://schemas.microsoft.com/office/powerpoint/2010/main" val="2134654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PROJECT PROGRESS</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Detection and adaptation are implemented</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graphicFrame>
        <p:nvGraphicFramePr>
          <p:cNvPr id="6" name="Table 5"/>
          <p:cNvGraphicFramePr>
            <a:graphicFrameLocks noGrp="1"/>
          </p:cNvGraphicFramePr>
          <p:nvPr/>
        </p:nvGraphicFramePr>
        <p:xfrm>
          <a:off x="685800" y="1691640"/>
          <a:ext cx="10789919" cy="3372612"/>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7955279">
                  <a:extLst>
                    <a:ext uri="{9D8B030D-6E8A-4147-A177-3AD203B41FA5}">
                      <a16:colId xmlns:a16="http://schemas.microsoft.com/office/drawing/2014/main" val="20001"/>
                    </a:ext>
                  </a:extLst>
                </a:gridCol>
              </a:tblGrid>
              <a:tr h="541020">
                <a:tc>
                  <a:txBody>
                    <a:bodyPr/>
                    <a:lstStyle/>
                    <a:p>
                      <a:pPr>
                        <a:defRPr sz="1800" b="1">
                          <a:solidFill>
                            <a:srgbClr val="78D8CC"/>
                          </a:solidFill>
                          <a:latin typeface="DejaVu Sans"/>
                        </a:defRPr>
                      </a:pPr>
                      <a:r>
                        <a:t>Workstream</a:t>
                      </a:r>
                    </a:p>
                  </a:txBody>
                  <a:tcPr marL="109728" marT="73152">
                    <a:solidFill>
                      <a:srgbClr val="142838"/>
                    </a:solidFill>
                  </a:tcPr>
                </a:tc>
                <a:tc>
                  <a:txBody>
                    <a:bodyPr/>
                    <a:lstStyle/>
                    <a:p>
                      <a:pPr>
                        <a:defRPr sz="1800" b="1">
                          <a:solidFill>
                            <a:srgbClr val="78D8CC"/>
                          </a:solidFill>
                          <a:latin typeface="DejaVu Sans"/>
                        </a:defRPr>
                      </a:pPr>
                      <a:r>
                        <a:t>Current position</a:t>
                      </a:r>
                    </a:p>
                  </a:txBody>
                  <a:tcPr marL="109728" marT="73152">
                    <a:solidFill>
                      <a:srgbClr val="142838"/>
                    </a:solidFill>
                  </a:tcPr>
                </a:tc>
                <a:extLst>
                  <a:ext uri="{0D108BD9-81ED-4DB2-BD59-A6C34878D82A}">
                    <a16:rowId xmlns:a16="http://schemas.microsoft.com/office/drawing/2014/main" val="10000"/>
                  </a:ext>
                </a:extLst>
              </a:tr>
              <a:tr h="541020">
                <a:tc>
                  <a:txBody>
                    <a:bodyPr/>
                    <a:lstStyle/>
                    <a:p>
                      <a:pPr>
                        <a:defRPr sz="1800" b="0">
                          <a:solidFill>
                            <a:srgbClr val="EAF2F8"/>
                          </a:solidFill>
                          <a:latin typeface="DejaVu Sans"/>
                        </a:defRPr>
                      </a:pPr>
                      <a:r>
                        <a:t>CSE reconstruction</a:t>
                      </a:r>
                    </a:p>
                  </a:txBody>
                  <a:tcPr marL="109728" marT="73152">
                    <a:solidFill>
                      <a:srgbClr val="101D2A"/>
                    </a:solidFill>
                  </a:tcPr>
                </a:tc>
                <a:tc>
                  <a:txBody>
                    <a:bodyPr/>
                    <a:lstStyle/>
                    <a:p>
                      <a:pPr>
                        <a:defRPr sz="1800" b="0">
                          <a:solidFill>
                            <a:srgbClr val="EAF2F8"/>
                          </a:solidFill>
                          <a:latin typeface="DejaVu Sans"/>
                        </a:defRPr>
                      </a:pPr>
                      <a:r>
                        <a:t>EEG features, EWMA warnings and Stage-II diagnostics</a:t>
                      </a:r>
                    </a:p>
                  </a:txBody>
                  <a:tcPr marL="109728" marT="73152">
                    <a:solidFill>
                      <a:srgbClr val="101D2A"/>
                    </a:solidFill>
                  </a:tcPr>
                </a:tc>
                <a:extLst>
                  <a:ext uri="{0D108BD9-81ED-4DB2-BD59-A6C34878D82A}">
                    <a16:rowId xmlns:a16="http://schemas.microsoft.com/office/drawing/2014/main" val="10001"/>
                  </a:ext>
                </a:extLst>
              </a:tr>
              <a:tr h="541020">
                <a:tc>
                  <a:txBody>
                    <a:bodyPr/>
                    <a:lstStyle/>
                    <a:p>
                      <a:pPr>
                        <a:defRPr sz="1800" b="0">
                          <a:solidFill>
                            <a:srgbClr val="EAF2F8"/>
                          </a:solidFill>
                          <a:latin typeface="DejaVu Sans"/>
                        </a:defRPr>
                      </a:pPr>
                      <a:r>
                        <a:t>Supervised adaptation</a:t>
                      </a:r>
                    </a:p>
                  </a:txBody>
                  <a:tcPr marL="109728" marT="73152">
                    <a:solidFill>
                      <a:srgbClr val="101D2A"/>
                    </a:solidFill>
                  </a:tcPr>
                </a:tc>
                <a:tc>
                  <a:txBody>
                    <a:bodyPr/>
                    <a:lstStyle/>
                    <a:p>
                      <a:pPr>
                        <a:defRPr sz="1800" b="0">
                          <a:solidFill>
                            <a:srgbClr val="EAF2F8"/>
                          </a:solidFill>
                          <a:latin typeface="DejaVu Sans"/>
                        </a:defRPr>
                      </a:pPr>
                      <a:r>
                        <a:t>Predict first, then update using the revealed label</a:t>
                      </a:r>
                    </a:p>
                  </a:txBody>
                  <a:tcPr marL="109728" marT="73152">
                    <a:solidFill>
                      <a:srgbClr val="101D2A"/>
                    </a:solidFill>
                  </a:tcPr>
                </a:tc>
                <a:extLst>
                  <a:ext uri="{0D108BD9-81ED-4DB2-BD59-A6C34878D82A}">
                    <a16:rowId xmlns:a16="http://schemas.microsoft.com/office/drawing/2014/main" val="10002"/>
                  </a:ext>
                </a:extLst>
              </a:tr>
              <a:tr h="541020">
                <a:tc>
                  <a:txBody>
                    <a:bodyPr/>
                    <a:lstStyle/>
                    <a:p>
                      <a:pPr>
                        <a:defRPr sz="1800" b="0">
                          <a:solidFill>
                            <a:srgbClr val="EAF2F8"/>
                          </a:solidFill>
                          <a:latin typeface="DejaVu Sans"/>
                        </a:defRPr>
                      </a:pPr>
                      <a:r>
                        <a:t>Transductive adaptation</a:t>
                      </a:r>
                    </a:p>
                  </a:txBody>
                  <a:tcPr marL="109728" marT="73152">
                    <a:solidFill>
                      <a:srgbClr val="101D2A"/>
                    </a:solidFill>
                  </a:tcPr>
                </a:tc>
                <a:tc>
                  <a:txBody>
                    <a:bodyPr/>
                    <a:lstStyle/>
                    <a:p>
                      <a:pPr>
                        <a:defRPr sz="1800" b="0">
                          <a:solidFill>
                            <a:srgbClr val="EAF2F8"/>
                          </a:solidFill>
                          <a:latin typeface="DejaVu Sans"/>
                        </a:defRPr>
                      </a:pPr>
                      <a:r>
                        <a:t>PWKNN pseudo-labels; confidence-gated training updates</a:t>
                      </a:r>
                    </a:p>
                  </a:txBody>
                  <a:tcPr marL="109728" marT="73152">
                    <a:solidFill>
                      <a:srgbClr val="101D2A"/>
                    </a:solidFill>
                  </a:tcPr>
                </a:tc>
                <a:extLst>
                  <a:ext uri="{0D108BD9-81ED-4DB2-BD59-A6C34878D82A}">
                    <a16:rowId xmlns:a16="http://schemas.microsoft.com/office/drawing/2014/main" val="10003"/>
                  </a:ext>
                </a:extLst>
              </a:tr>
              <a:tr h="541020">
                <a:tc>
                  <a:txBody>
                    <a:bodyPr/>
                    <a:lstStyle/>
                    <a:p>
                      <a:pPr>
                        <a:defRPr sz="1800" b="0">
                          <a:solidFill>
                            <a:srgbClr val="EAF2F8"/>
                          </a:solidFill>
                          <a:latin typeface="DejaVu Sans"/>
                        </a:defRPr>
                      </a:pPr>
                      <a:r>
                        <a:t>Policy experiments</a:t>
                      </a:r>
                    </a:p>
                  </a:txBody>
                  <a:tcPr marL="109728" marT="73152">
                    <a:solidFill>
                      <a:srgbClr val="101D2A"/>
                    </a:solidFill>
                  </a:tcPr>
                </a:tc>
                <a:tc>
                  <a:txBody>
                    <a:bodyPr/>
                    <a:lstStyle/>
                    <a:p>
                      <a:pPr>
                        <a:defRPr sz="1800" b="0">
                          <a:solidFill>
                            <a:srgbClr val="EAF2F8"/>
                          </a:solidFill>
                          <a:latin typeface="DejaVu Sans"/>
                        </a:defRPr>
                      </a:pPr>
                      <a:r>
                        <a:t>Five Diethe-inspired policies on matched streams</a:t>
                      </a:r>
                    </a:p>
                  </a:txBody>
                  <a:tcPr marL="109728" marT="73152">
                    <a:solidFill>
                      <a:srgbClr val="101D2A"/>
                    </a:solidFill>
                  </a:tcPr>
                </a:tc>
                <a:extLst>
                  <a:ext uri="{0D108BD9-81ED-4DB2-BD59-A6C34878D82A}">
                    <a16:rowId xmlns:a16="http://schemas.microsoft.com/office/drawing/2014/main" val="10004"/>
                  </a:ext>
                </a:extLst>
              </a:tr>
              <a:tr h="541020">
                <a:tc>
                  <a:txBody>
                    <a:bodyPr/>
                    <a:lstStyle/>
                    <a:p>
                      <a:pPr>
                        <a:defRPr sz="1800" b="0">
                          <a:solidFill>
                            <a:srgbClr val="EAF2F8"/>
                          </a:solidFill>
                          <a:latin typeface="DejaVu Sans"/>
                        </a:defRPr>
                      </a:pPr>
                      <a:r>
                        <a:t>Evidence still needed</a:t>
                      </a:r>
                    </a:p>
                  </a:txBody>
                  <a:tcPr marL="109728" marT="73152">
                    <a:solidFill>
                      <a:srgbClr val="101D2A"/>
                    </a:solidFill>
                  </a:tcPr>
                </a:tc>
                <a:tc>
                  <a:txBody>
                    <a:bodyPr/>
                    <a:lstStyle/>
                    <a:p>
                      <a:pPr>
                        <a:defRPr sz="1800" b="0">
                          <a:solidFill>
                            <a:srgbClr val="EAF2F8"/>
                          </a:solidFill>
                          <a:latin typeface="DejaVu Sans"/>
                        </a:defRPr>
                      </a:pPr>
                      <a:r>
                        <a:t>Matched reproduction runs and saved adaptation comparisons</a:t>
                      </a:r>
                    </a:p>
                  </a:txBody>
                  <a:tcPr marL="109728" marT="73152">
                    <a:solidFill>
                      <a:srgbClr val="101D2A"/>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85800" y="5257800"/>
            <a:ext cx="10789920" cy="502920"/>
          </a:xfrm>
          <a:prstGeom prst="rect">
            <a:avLst/>
          </a:prstGeom>
          <a:noFill/>
        </p:spPr>
        <p:txBody>
          <a:bodyPr wrap="square" lIns="0" rIns="0">
            <a:spAutoFit/>
          </a:bodyPr>
          <a:lstStyle/>
          <a:p>
            <a:pPr>
              <a:spcAft>
                <a:spcPts val="900"/>
              </a:spcAft>
              <a:defRPr sz="2000" b="0">
                <a:solidFill>
                  <a:srgbClr val="78D8CC"/>
                </a:solidFill>
                <a:latin typeface="DejaVu Sans"/>
              </a:defRPr>
            </a:pPr>
            <a:r>
              <a:t>Full dynamic CSE-UAEL ensemble growth and weighted voting remain open.</a:t>
            </a:r>
          </a:p>
        </p:txBody>
      </p:sp>
      <p:sp>
        <p:nvSpPr>
          <p:cNvPr id="8" name="TextBox 7"/>
          <p:cNvSpPr txBox="1"/>
          <p:nvPr/>
        </p:nvSpPr>
        <p:spPr>
          <a:xfrm>
            <a:off x="11045952" y="6510528"/>
            <a:ext cx="548640" cy="182880"/>
          </a:xfrm>
          <a:prstGeom prst="rect">
            <a:avLst/>
          </a:prstGeom>
          <a:noFill/>
        </p:spPr>
        <p:txBody>
          <a:bodyPr wrap="square" lIns="0" rIns="0">
            <a:spAutoFit/>
          </a:bodyPr>
          <a:lstStyle/>
          <a:p>
            <a:pPr>
              <a:spcAft>
                <a:spcPts val="900"/>
              </a:spcAft>
              <a:defRPr sz="800" b="0">
                <a:solidFill>
                  <a:srgbClr val="9CB0C3"/>
                </a:solidFill>
                <a:latin typeface="DejaVu Sans"/>
              </a:defRPr>
            </a:pPr>
            <a:r>
              <a:t>02</a:t>
            </a:r>
          </a:p>
        </p:txBody>
      </p:sp>
    </p:spTree>
    <p:extLst>
      <p:ext uri="{BB962C8B-B14F-4D97-AF65-F5344CB8AC3E}">
        <p14:creationId xmlns:p14="http://schemas.microsoft.com/office/powerpoint/2010/main" val="382100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6ED0F0C5-6845-4817-BDB0-68B77FB68801}"/>
              </a:ext>
            </a:extLst>
          </p:cNvPr>
          <p:cNvSpPr>
            <a:spLocks noGrp="1"/>
          </p:cNvSpPr>
          <p:nvPr/>
        </p:nvSpPr>
        <p:spPr>
          <a:xfrm>
            <a:off x="609600" y="400050"/>
            <a:ext cx="5715000" cy="228600"/>
          </a:xfrm>
          <a:prstGeom prst="rect">
            <a:avLst/>
          </a:prstGeom>
          <a:noFill/>
          <a:ln w="0">
            <a:noFill/>
          </a:ln>
        </p:spPr>
        <p:txBody>
          <a:bodyPr wrap="square" lIns="0" tIns="0" rIns="0" bIns="0" anchor="t">
            <a:normAutofit/>
          </a:bodyPr>
          <a:lstStyle/>
          <a:p>
            <a:pPr algn="l">
              <a:buNone/>
              <a:defRPr sz="975" b="1">
                <a:solidFill>
                  <a:srgbClr val="2DD4BF"/>
                </a:solidFill>
                <a:latin typeface="DejaVu Sans"/>
                <a:ea typeface="DejaVu Sans"/>
                <a:cs typeface="DejaVu Sans"/>
              </a:defRPr>
            </a:pPr>
            <a:r>
              <a:rPr sz="975" b="1">
                <a:solidFill>
                  <a:srgbClr val="2DD4BF"/>
                </a:solidFill>
                <a:latin typeface="DejaVu Sans"/>
                <a:ea typeface="DejaVu Sans"/>
                <a:cs typeface="DejaVu Sans"/>
              </a:rPr>
              <a:t>LITERATURE REVIEW</a:t>
            </a:r>
          </a:p>
        </p:txBody>
      </p:sp>
      <p:sp>
        <p:nvSpPr>
          <p:cNvPr id="2" name="Rectangle 1">
            <a:extLst>
              <a:ext uri="{FF2B5EF4-FFF2-40B4-BE49-F238E27FC236}">
                <a16:creationId xmlns:a16="http://schemas.microsoft.com/office/drawing/2014/main" id="{B86C294D-CD02-4989-878B-778A0AFD6CF2}"/>
              </a:ext>
            </a:extLst>
          </p:cNvPr>
          <p:cNvSpPr>
            <a:spLocks noGrp="1"/>
          </p:cNvSpPr>
          <p:nvPr/>
        </p:nvSpPr>
        <p:spPr>
          <a:xfrm>
            <a:off x="609600" y="685800"/>
            <a:ext cx="10953750" cy="552450"/>
          </a:xfrm>
          <a:prstGeom prst="rect">
            <a:avLst/>
          </a:prstGeom>
          <a:noFill/>
          <a:ln w="0">
            <a:noFill/>
          </a:ln>
        </p:spPr>
        <p:txBody>
          <a:bodyPr wrap="square" lIns="0" tIns="0" rIns="0" bIns="0" anchor="t">
            <a:normAutofit/>
          </a:bodyPr>
          <a:lstStyle/>
          <a:p>
            <a:pPr algn="l">
              <a:buNone/>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Reading informs the reconstruction and its limits</a:t>
            </a:r>
          </a:p>
        </p:txBody>
      </p:sp>
      <p:sp>
        <p:nvSpPr>
          <p:cNvPr id="3" name="Straight Connector 2">
            <a:extLst>
              <a:ext uri="{FF2B5EF4-FFF2-40B4-BE49-F238E27FC236}">
                <a16:creationId xmlns:a16="http://schemas.microsoft.com/office/drawing/2014/main" id="{15952200-5E6E-468B-8B3A-4C220229AAB4}"/>
              </a:ext>
            </a:extLst>
          </p:cNvPr>
          <p:cNvSpPr>
            <a:spLocks noGrp="1"/>
          </p:cNvSpPr>
          <p:nvPr/>
        </p:nvSpPr>
        <p:spPr>
          <a:xfrm>
            <a:off x="609600" y="1371600"/>
            <a:ext cx="10972800" cy="0"/>
          </a:xfrm>
          <a:prstGeom prst="line">
            <a:avLst/>
          </a:prstGeom>
          <a:noFill/>
          <a:ln w="19050">
            <a:solidFill>
              <a:srgbClr val="294057"/>
            </a:solidFill>
            <a:prstDash val="solid"/>
          </a:ln>
        </p:spPr>
        <p:txBody>
          <a:bodyPr/>
          <a:lstStyle/>
          <a:p>
            <a:endParaRPr/>
          </a:p>
        </p:txBody>
      </p:sp>
      <p:sp>
        <p:nvSpPr>
          <p:cNvPr id="4" name="Straight Connector 3">
            <a:extLst>
              <a:ext uri="{FF2B5EF4-FFF2-40B4-BE49-F238E27FC236}">
                <a16:creationId xmlns:a16="http://schemas.microsoft.com/office/drawing/2014/main" id="{9A2AC98A-F2B5-41D3-A0B8-2FC04CE4AC64}"/>
              </a:ext>
            </a:extLst>
          </p:cNvPr>
          <p:cNvSpPr>
            <a:spLocks noGrp="1"/>
          </p:cNvSpPr>
          <p:nvPr/>
        </p:nvSpPr>
        <p:spPr>
          <a:xfrm>
            <a:off x="1143000" y="3143250"/>
            <a:ext cx="9906000" cy="0"/>
          </a:xfrm>
          <a:prstGeom prst="line">
            <a:avLst/>
          </a:prstGeom>
          <a:noFill/>
          <a:ln w="47625">
            <a:solidFill>
              <a:srgbClr val="294057"/>
            </a:solidFill>
            <a:prstDash val="solid"/>
          </a:ln>
        </p:spPr>
        <p:txBody>
          <a:bodyPr/>
          <a:lstStyle/>
          <a:p>
            <a:endParaRPr/>
          </a:p>
        </p:txBody>
      </p:sp>
      <p:sp>
        <p:nvSpPr>
          <p:cNvPr id="5" name="Rectangle: Rounded Corners 4">
            <a:extLst>
              <a:ext uri="{FF2B5EF4-FFF2-40B4-BE49-F238E27FC236}">
                <a16:creationId xmlns:a16="http://schemas.microsoft.com/office/drawing/2014/main" id="{0C0F15E2-E046-4F78-9DEE-0924199ED7FC}"/>
              </a:ext>
            </a:extLst>
          </p:cNvPr>
          <p:cNvSpPr>
            <a:spLocks noGrp="1"/>
          </p:cNvSpPr>
          <p:nvPr/>
        </p:nvSpPr>
        <p:spPr>
          <a:xfrm>
            <a:off x="1238250" y="3009900"/>
            <a:ext cx="266700" cy="266700"/>
          </a:xfrm>
          <a:prstGeom prst="roundRect">
            <a:avLst>
              <a:gd name="adj" fmla="val 50000"/>
            </a:avLst>
          </a:prstGeom>
          <a:solidFill>
            <a:srgbClr val="4EA1FF"/>
          </a:solidFill>
          <a:ln w="0">
            <a:noFill/>
          </a:ln>
        </p:spPr>
        <p:txBody>
          <a:bodyPr/>
          <a:lstStyle/>
          <a:p>
            <a:endParaRPr/>
          </a:p>
        </p:txBody>
      </p:sp>
      <p:sp>
        <p:nvSpPr>
          <p:cNvPr id="6" name="Rectangle 5">
            <a:extLst>
              <a:ext uri="{FF2B5EF4-FFF2-40B4-BE49-F238E27FC236}">
                <a16:creationId xmlns:a16="http://schemas.microsoft.com/office/drawing/2014/main" id="{B3EF8275-D142-4976-B9CE-AC1189FF3F56}"/>
              </a:ext>
            </a:extLst>
          </p:cNvPr>
          <p:cNvSpPr>
            <a:spLocks noGrp="1"/>
          </p:cNvSpPr>
          <p:nvPr/>
        </p:nvSpPr>
        <p:spPr>
          <a:xfrm>
            <a:off x="990600" y="2019300"/>
            <a:ext cx="1143000" cy="342900"/>
          </a:xfrm>
          <a:prstGeom prst="rect">
            <a:avLst/>
          </a:prstGeom>
          <a:noFill/>
          <a:ln w="0">
            <a:noFill/>
          </a:ln>
        </p:spPr>
        <p:txBody>
          <a:bodyPr wrap="square" lIns="0" tIns="0" rIns="0" bIns="0" anchor="t">
            <a:normAutofit/>
          </a:bodyPr>
          <a:lstStyle/>
          <a:p>
            <a:pPr algn="ctr">
              <a:buNone/>
              <a:defRPr sz="1650" b="1">
                <a:solidFill>
                  <a:srgbClr val="4EA1FF"/>
                </a:solidFill>
                <a:latin typeface="DejaVu Sans"/>
                <a:ea typeface="DejaVu Sans"/>
                <a:cs typeface="DejaVu Sans"/>
              </a:defRPr>
            </a:pPr>
            <a:r>
              <a:rPr sz="1650" b="1">
                <a:solidFill>
                  <a:srgbClr val="4EA1FF"/>
                </a:solidFill>
                <a:latin typeface="DejaVu Sans"/>
                <a:ea typeface="DejaVu Sans"/>
                <a:cs typeface="DejaVu Sans"/>
              </a:rPr>
              <a:t>2015</a:t>
            </a:r>
          </a:p>
        </p:txBody>
      </p:sp>
      <p:sp>
        <p:nvSpPr>
          <p:cNvPr id="7" name="Rectangle 6">
            <a:extLst>
              <a:ext uri="{FF2B5EF4-FFF2-40B4-BE49-F238E27FC236}">
                <a16:creationId xmlns:a16="http://schemas.microsoft.com/office/drawing/2014/main" id="{9973316C-A27B-4BBD-AA8B-E09882FD6172}"/>
              </a:ext>
            </a:extLst>
          </p:cNvPr>
          <p:cNvSpPr>
            <a:spLocks noGrp="1"/>
          </p:cNvSpPr>
          <p:nvPr/>
        </p:nvSpPr>
        <p:spPr>
          <a:xfrm>
            <a:off x="571500" y="2428875"/>
            <a:ext cx="1619250" cy="457200"/>
          </a:xfrm>
          <a:prstGeom prst="rect">
            <a:avLst/>
          </a:prstGeom>
          <a:noFill/>
          <a:ln w="0">
            <a:noFill/>
          </a:ln>
        </p:spPr>
        <p:txBody>
          <a:bodyPr wrap="square" lIns="0" tIns="0" rIns="0" bIns="0" anchor="t">
            <a:normAutofit/>
          </a:bodyPr>
          <a:lstStyle/>
          <a:p>
            <a:pPr algn="ctr">
              <a:buNone/>
              <a:defRPr sz="1275" b="1">
                <a:solidFill>
                  <a:srgbClr val="EAF2F8"/>
                </a:solidFill>
                <a:latin typeface="DejaVu Sans"/>
                <a:ea typeface="DejaVu Sans"/>
                <a:cs typeface="DejaVu Sans"/>
              </a:defRPr>
            </a:pPr>
            <a:r>
              <a:rPr sz="1275" b="1">
                <a:solidFill>
                  <a:srgbClr val="EAF2F8"/>
                </a:solidFill>
                <a:latin typeface="DejaVu Sans"/>
                <a:ea typeface="DejaVu Sans"/>
                <a:cs typeface="DejaVu Sans"/>
              </a:rPr>
              <a:t>Raza: detector basis</a:t>
            </a:r>
          </a:p>
        </p:txBody>
      </p:sp>
      <p:sp>
        <p:nvSpPr>
          <p:cNvPr id="8" name="Rectangle 7">
            <a:extLst>
              <a:ext uri="{FF2B5EF4-FFF2-40B4-BE49-F238E27FC236}">
                <a16:creationId xmlns:a16="http://schemas.microsoft.com/office/drawing/2014/main" id="{AE29DA93-D443-4AE2-A341-E0C200D5A253}"/>
              </a:ext>
            </a:extLst>
          </p:cNvPr>
          <p:cNvSpPr>
            <a:spLocks noGrp="1"/>
          </p:cNvSpPr>
          <p:nvPr/>
        </p:nvSpPr>
        <p:spPr>
          <a:xfrm>
            <a:off x="571500" y="3562350"/>
            <a:ext cx="1619250" cy="609600"/>
          </a:xfrm>
          <a:prstGeom prst="rect">
            <a:avLst/>
          </a:prstGeom>
          <a:noFill/>
          <a:ln w="0">
            <a:noFill/>
          </a:ln>
        </p:spPr>
        <p:txBody>
          <a:bodyPr wrap="square" lIns="0" tIns="0" rIns="0" bIns="0" anchor="t">
            <a:noAutofit/>
          </a:bodyPr>
          <a:lstStyle/>
          <a:p>
            <a:pPr algn="l">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EWMA warning logic</a:t>
            </a:r>
          </a:p>
          <a:p>
            <a:pPr algn="l">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D2/D3/D4 audit</a:t>
            </a:r>
          </a:p>
        </p:txBody>
      </p:sp>
      <p:sp>
        <p:nvSpPr>
          <p:cNvPr id="10" name="Rectangle: Rounded Corners 9">
            <a:extLst>
              <a:ext uri="{FF2B5EF4-FFF2-40B4-BE49-F238E27FC236}">
                <a16:creationId xmlns:a16="http://schemas.microsoft.com/office/drawing/2014/main" id="{286E4705-6593-4CAC-876E-EBF3C80A9C36}"/>
              </a:ext>
            </a:extLst>
          </p:cNvPr>
          <p:cNvSpPr>
            <a:spLocks noGrp="1"/>
          </p:cNvSpPr>
          <p:nvPr/>
        </p:nvSpPr>
        <p:spPr>
          <a:xfrm>
            <a:off x="3905250" y="3009900"/>
            <a:ext cx="266700" cy="266700"/>
          </a:xfrm>
          <a:prstGeom prst="roundRect">
            <a:avLst>
              <a:gd name="adj" fmla="val 50000"/>
            </a:avLst>
          </a:prstGeom>
          <a:solidFill>
            <a:srgbClr val="2DD4BF"/>
          </a:solidFill>
          <a:ln w="0">
            <a:noFill/>
          </a:ln>
        </p:spPr>
        <p:txBody>
          <a:bodyPr/>
          <a:lstStyle/>
          <a:p>
            <a:endParaRPr/>
          </a:p>
        </p:txBody>
      </p:sp>
      <p:sp>
        <p:nvSpPr>
          <p:cNvPr id="11" name="Rectangle 10">
            <a:extLst>
              <a:ext uri="{FF2B5EF4-FFF2-40B4-BE49-F238E27FC236}">
                <a16:creationId xmlns:a16="http://schemas.microsoft.com/office/drawing/2014/main" id="{5224A723-3CD5-48B0-89AA-D2F0E7EFAAD0}"/>
              </a:ext>
            </a:extLst>
          </p:cNvPr>
          <p:cNvSpPr>
            <a:spLocks noGrp="1"/>
          </p:cNvSpPr>
          <p:nvPr/>
        </p:nvSpPr>
        <p:spPr>
          <a:xfrm>
            <a:off x="3657600" y="2019300"/>
            <a:ext cx="1143000" cy="342900"/>
          </a:xfrm>
          <a:prstGeom prst="rect">
            <a:avLst/>
          </a:prstGeom>
          <a:noFill/>
          <a:ln w="0">
            <a:noFill/>
          </a:ln>
        </p:spPr>
        <p:txBody>
          <a:bodyPr wrap="square" lIns="0" tIns="0" rIns="0" bIns="0" anchor="t">
            <a:normAutofit/>
          </a:bodyPr>
          <a:lstStyle/>
          <a:p>
            <a:pPr algn="ctr">
              <a:buNone/>
              <a:defRPr sz="1650" b="1">
                <a:solidFill>
                  <a:srgbClr val="2DD4BF"/>
                </a:solidFill>
                <a:latin typeface="DejaVu Sans"/>
                <a:ea typeface="DejaVu Sans"/>
                <a:cs typeface="DejaVu Sans"/>
              </a:defRPr>
            </a:pPr>
            <a:r>
              <a:rPr sz="1650" b="1">
                <a:solidFill>
                  <a:srgbClr val="2DD4BF"/>
                </a:solidFill>
                <a:latin typeface="DejaVu Sans"/>
                <a:ea typeface="DejaVu Sans"/>
                <a:cs typeface="DejaVu Sans"/>
              </a:rPr>
              <a:t>2018</a:t>
            </a:r>
          </a:p>
        </p:txBody>
      </p:sp>
      <p:sp>
        <p:nvSpPr>
          <p:cNvPr id="12" name="Rectangle 11">
            <a:extLst>
              <a:ext uri="{FF2B5EF4-FFF2-40B4-BE49-F238E27FC236}">
                <a16:creationId xmlns:a16="http://schemas.microsoft.com/office/drawing/2014/main" id="{6E815300-B5F2-4A41-ACCC-52F5F2A6DDE7}"/>
              </a:ext>
            </a:extLst>
          </p:cNvPr>
          <p:cNvSpPr>
            <a:spLocks noGrp="1"/>
          </p:cNvSpPr>
          <p:nvPr/>
        </p:nvSpPr>
        <p:spPr>
          <a:xfrm>
            <a:off x="3238500" y="2428875"/>
            <a:ext cx="1619250" cy="457200"/>
          </a:xfrm>
          <a:prstGeom prst="rect">
            <a:avLst/>
          </a:prstGeom>
          <a:noFill/>
          <a:ln w="0">
            <a:noFill/>
          </a:ln>
        </p:spPr>
        <p:txBody>
          <a:bodyPr wrap="square" lIns="0" tIns="0" rIns="0" bIns="0" anchor="t">
            <a:normAutofit/>
          </a:bodyPr>
          <a:lstStyle/>
          <a:p>
            <a:pPr algn="ctr">
              <a:buNone/>
              <a:defRPr sz="1275" b="1">
                <a:solidFill>
                  <a:srgbClr val="EAF2F8"/>
                </a:solidFill>
                <a:latin typeface="DejaVu Sans"/>
                <a:ea typeface="DejaVu Sans"/>
                <a:cs typeface="DejaVu Sans"/>
              </a:defRPr>
            </a:pPr>
            <a:r>
              <a:rPr sz="1275" b="1">
                <a:solidFill>
                  <a:srgbClr val="EAF2F8"/>
                </a:solidFill>
                <a:latin typeface="DejaVu Sans"/>
                <a:ea typeface="DejaVu Sans"/>
                <a:cs typeface="DejaVu Sans"/>
              </a:rPr>
              <a:t>Chowdhury: online BCI</a:t>
            </a:r>
          </a:p>
        </p:txBody>
      </p:sp>
      <p:sp>
        <p:nvSpPr>
          <p:cNvPr id="13" name="Rectangle 12">
            <a:extLst>
              <a:ext uri="{FF2B5EF4-FFF2-40B4-BE49-F238E27FC236}">
                <a16:creationId xmlns:a16="http://schemas.microsoft.com/office/drawing/2014/main" id="{D5742545-4578-44F5-80CF-38F0769CAA90}"/>
              </a:ext>
            </a:extLst>
          </p:cNvPr>
          <p:cNvSpPr>
            <a:spLocks noGrp="1"/>
          </p:cNvSpPr>
          <p:nvPr/>
        </p:nvSpPr>
        <p:spPr>
          <a:xfrm>
            <a:off x="3238500" y="3562350"/>
            <a:ext cx="1619250" cy="609600"/>
          </a:xfrm>
          <a:prstGeom prst="rect">
            <a:avLst/>
          </a:prstGeom>
          <a:noFill/>
          <a:ln w="0">
            <a:noFill/>
          </a:ln>
        </p:spPr>
        <p:txBody>
          <a:bodyPr wrap="square" lIns="0" tIns="0" rIns="0" bIns="0" anchor="t">
            <a:noAutofit/>
          </a:bodyPr>
          <a:lstStyle/>
          <a:p>
            <a:pPr algn="l">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μ/β-band CSP</a:t>
            </a:r>
          </a:p>
          <a:p>
            <a:pPr algn="l">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SVM and feedback</a:t>
            </a:r>
          </a:p>
        </p:txBody>
      </p:sp>
      <p:sp>
        <p:nvSpPr>
          <p:cNvPr id="15" name="Rectangle: Rounded Corners 14">
            <a:extLst>
              <a:ext uri="{FF2B5EF4-FFF2-40B4-BE49-F238E27FC236}">
                <a16:creationId xmlns:a16="http://schemas.microsoft.com/office/drawing/2014/main" id="{834A2043-F901-4D00-BD49-C1083559860F}"/>
              </a:ext>
            </a:extLst>
          </p:cNvPr>
          <p:cNvSpPr>
            <a:spLocks noGrp="1"/>
          </p:cNvSpPr>
          <p:nvPr/>
        </p:nvSpPr>
        <p:spPr>
          <a:xfrm>
            <a:off x="6572250" y="3009900"/>
            <a:ext cx="266700" cy="266700"/>
          </a:xfrm>
          <a:prstGeom prst="roundRect">
            <a:avLst>
              <a:gd name="adj" fmla="val 50000"/>
            </a:avLst>
          </a:prstGeom>
          <a:solidFill>
            <a:srgbClr val="F5B942"/>
          </a:solidFill>
          <a:ln w="0">
            <a:noFill/>
          </a:ln>
        </p:spPr>
        <p:txBody>
          <a:bodyPr/>
          <a:lstStyle/>
          <a:p>
            <a:endParaRPr/>
          </a:p>
        </p:txBody>
      </p:sp>
      <p:sp>
        <p:nvSpPr>
          <p:cNvPr id="16" name="Rectangle 15">
            <a:extLst>
              <a:ext uri="{FF2B5EF4-FFF2-40B4-BE49-F238E27FC236}">
                <a16:creationId xmlns:a16="http://schemas.microsoft.com/office/drawing/2014/main" id="{2BAB5777-D390-4DF4-AFD8-4999AC3FD30E}"/>
              </a:ext>
            </a:extLst>
          </p:cNvPr>
          <p:cNvSpPr>
            <a:spLocks noGrp="1"/>
          </p:cNvSpPr>
          <p:nvPr/>
        </p:nvSpPr>
        <p:spPr>
          <a:xfrm>
            <a:off x="6324600" y="2019300"/>
            <a:ext cx="1143000" cy="342900"/>
          </a:xfrm>
          <a:prstGeom prst="rect">
            <a:avLst/>
          </a:prstGeom>
          <a:noFill/>
          <a:ln w="0">
            <a:noFill/>
          </a:ln>
        </p:spPr>
        <p:txBody>
          <a:bodyPr wrap="square" lIns="0" tIns="0" rIns="0" bIns="0" anchor="t">
            <a:normAutofit/>
          </a:bodyPr>
          <a:lstStyle/>
          <a:p>
            <a:pPr algn="ctr">
              <a:buNone/>
              <a:defRPr sz="1650" b="1">
                <a:solidFill>
                  <a:srgbClr val="F5B942"/>
                </a:solidFill>
                <a:latin typeface="DejaVu Sans"/>
                <a:ea typeface="DejaVu Sans"/>
                <a:cs typeface="DejaVu Sans"/>
              </a:defRPr>
            </a:pPr>
            <a:r>
              <a:rPr sz="1650" b="1">
                <a:solidFill>
                  <a:srgbClr val="F5B942"/>
                </a:solidFill>
                <a:latin typeface="DejaVu Sans"/>
                <a:ea typeface="DejaVu Sans"/>
                <a:cs typeface="DejaVu Sans"/>
              </a:rPr>
              <a:t>2019</a:t>
            </a:r>
          </a:p>
        </p:txBody>
      </p:sp>
      <p:sp>
        <p:nvSpPr>
          <p:cNvPr id="17" name="Rectangle 16">
            <a:extLst>
              <a:ext uri="{FF2B5EF4-FFF2-40B4-BE49-F238E27FC236}">
                <a16:creationId xmlns:a16="http://schemas.microsoft.com/office/drawing/2014/main" id="{1EF414CB-02B1-41C4-A8EA-5B48624BABD1}"/>
              </a:ext>
            </a:extLst>
          </p:cNvPr>
          <p:cNvSpPr>
            <a:spLocks noGrp="1"/>
          </p:cNvSpPr>
          <p:nvPr/>
        </p:nvSpPr>
        <p:spPr>
          <a:xfrm>
            <a:off x="5905500" y="2428875"/>
            <a:ext cx="1619250" cy="457200"/>
          </a:xfrm>
          <a:prstGeom prst="rect">
            <a:avLst/>
          </a:prstGeom>
          <a:noFill/>
          <a:ln w="0">
            <a:noFill/>
          </a:ln>
        </p:spPr>
        <p:txBody>
          <a:bodyPr wrap="square" lIns="0" tIns="0" rIns="0" bIns="0" anchor="t">
            <a:normAutofit/>
          </a:bodyPr>
          <a:lstStyle/>
          <a:p>
            <a:pPr algn="ctr">
              <a:buNone/>
              <a:defRPr sz="1275" b="1">
                <a:solidFill>
                  <a:srgbClr val="EAF2F8"/>
                </a:solidFill>
                <a:latin typeface="DejaVu Sans"/>
                <a:ea typeface="DejaVu Sans"/>
                <a:cs typeface="DejaVu Sans"/>
              </a:defRPr>
            </a:pPr>
            <a:r>
              <a:rPr sz="1275" b="1">
                <a:solidFill>
                  <a:srgbClr val="EAF2F8"/>
                </a:solidFill>
                <a:latin typeface="DejaVu Sans"/>
                <a:ea typeface="DejaVu Sans"/>
                <a:cs typeface="DejaVu Sans"/>
              </a:rPr>
              <a:t>Raza: CSE-UAEL</a:t>
            </a:r>
          </a:p>
        </p:txBody>
      </p:sp>
      <p:sp>
        <p:nvSpPr>
          <p:cNvPr id="18" name="Rectangle 17">
            <a:extLst>
              <a:ext uri="{FF2B5EF4-FFF2-40B4-BE49-F238E27FC236}">
                <a16:creationId xmlns:a16="http://schemas.microsoft.com/office/drawing/2014/main" id="{7C4F5BBC-F4DA-4621-BA7D-23F869B359D5}"/>
              </a:ext>
            </a:extLst>
          </p:cNvPr>
          <p:cNvSpPr>
            <a:spLocks noGrp="1"/>
          </p:cNvSpPr>
          <p:nvPr/>
        </p:nvSpPr>
        <p:spPr>
          <a:xfrm>
            <a:off x="5905500" y="3562350"/>
            <a:ext cx="1619250" cy="609600"/>
          </a:xfrm>
          <a:prstGeom prst="rect">
            <a:avLst/>
          </a:prstGeom>
          <a:noFill/>
          <a:ln w="0">
            <a:noFill/>
          </a:ln>
        </p:spPr>
        <p:txBody>
          <a:bodyPr wrap="square" lIns="0" tIns="0" rIns="0" bIns="0" anchor="t">
            <a:normAutofit/>
          </a:bodyPr>
          <a:lstStyle/>
          <a:p>
            <a:pPr algn="ctr">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Two-stage CSE</a:t>
            </a:r>
          </a:p>
          <a:p>
            <a:pPr algn="ctr">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Adaptation context</a:t>
            </a:r>
          </a:p>
        </p:txBody>
      </p:sp>
      <p:sp>
        <p:nvSpPr>
          <p:cNvPr id="20" name="Rectangle: Rounded Corners 19">
            <a:extLst>
              <a:ext uri="{FF2B5EF4-FFF2-40B4-BE49-F238E27FC236}">
                <a16:creationId xmlns:a16="http://schemas.microsoft.com/office/drawing/2014/main" id="{2A1CE66C-8D1F-45A4-ADCD-66FB6EDD99F9}"/>
              </a:ext>
            </a:extLst>
          </p:cNvPr>
          <p:cNvSpPr>
            <a:spLocks noGrp="1"/>
          </p:cNvSpPr>
          <p:nvPr/>
        </p:nvSpPr>
        <p:spPr>
          <a:xfrm>
            <a:off x="9239250" y="3009900"/>
            <a:ext cx="266700" cy="266700"/>
          </a:xfrm>
          <a:prstGeom prst="roundRect">
            <a:avLst>
              <a:gd name="adj" fmla="val 50000"/>
            </a:avLst>
          </a:prstGeom>
          <a:solidFill>
            <a:srgbClr val="64D98B"/>
          </a:solidFill>
          <a:ln w="0">
            <a:noFill/>
          </a:ln>
        </p:spPr>
        <p:txBody>
          <a:bodyPr/>
          <a:lstStyle/>
          <a:p>
            <a:endParaRPr/>
          </a:p>
        </p:txBody>
      </p:sp>
      <p:sp>
        <p:nvSpPr>
          <p:cNvPr id="21" name="Rectangle 20">
            <a:extLst>
              <a:ext uri="{FF2B5EF4-FFF2-40B4-BE49-F238E27FC236}">
                <a16:creationId xmlns:a16="http://schemas.microsoft.com/office/drawing/2014/main" id="{57E7A475-CDCA-424D-A222-FA271DE91E17}"/>
              </a:ext>
            </a:extLst>
          </p:cNvPr>
          <p:cNvSpPr>
            <a:spLocks noGrp="1"/>
          </p:cNvSpPr>
          <p:nvPr/>
        </p:nvSpPr>
        <p:spPr>
          <a:xfrm>
            <a:off x="8991600" y="2019300"/>
            <a:ext cx="1143000" cy="342900"/>
          </a:xfrm>
          <a:prstGeom prst="rect">
            <a:avLst/>
          </a:prstGeom>
          <a:noFill/>
          <a:ln w="0">
            <a:noFill/>
          </a:ln>
        </p:spPr>
        <p:txBody>
          <a:bodyPr wrap="square" lIns="0" tIns="0" rIns="0" bIns="0" anchor="t">
            <a:normAutofit/>
          </a:bodyPr>
          <a:lstStyle/>
          <a:p>
            <a:pPr algn="ctr">
              <a:buNone/>
              <a:defRPr sz="1650" b="1">
                <a:solidFill>
                  <a:srgbClr val="64D98B"/>
                </a:solidFill>
                <a:latin typeface="DejaVu Sans"/>
                <a:ea typeface="DejaVu Sans"/>
                <a:cs typeface="DejaVu Sans"/>
              </a:defRPr>
            </a:pPr>
            <a:r>
              <a:rPr sz="1650" b="1">
                <a:solidFill>
                  <a:srgbClr val="64D98B"/>
                </a:solidFill>
                <a:latin typeface="DejaVu Sans"/>
                <a:ea typeface="DejaVu Sans"/>
                <a:cs typeface="DejaVu Sans"/>
              </a:rPr>
              <a:t>Related</a:t>
            </a:r>
          </a:p>
        </p:txBody>
      </p:sp>
      <p:sp>
        <p:nvSpPr>
          <p:cNvPr id="22" name="Rectangle 21">
            <a:extLst>
              <a:ext uri="{FF2B5EF4-FFF2-40B4-BE49-F238E27FC236}">
                <a16:creationId xmlns:a16="http://schemas.microsoft.com/office/drawing/2014/main" id="{07A2A7A9-3216-4C86-B2EE-21E658798DE2}"/>
              </a:ext>
            </a:extLst>
          </p:cNvPr>
          <p:cNvSpPr>
            <a:spLocks noGrp="1"/>
          </p:cNvSpPr>
          <p:nvPr/>
        </p:nvSpPr>
        <p:spPr>
          <a:xfrm>
            <a:off x="8572500" y="2428875"/>
            <a:ext cx="1619250" cy="457200"/>
          </a:xfrm>
          <a:prstGeom prst="rect">
            <a:avLst/>
          </a:prstGeom>
          <a:noFill/>
          <a:ln w="0">
            <a:noFill/>
          </a:ln>
        </p:spPr>
        <p:txBody>
          <a:bodyPr wrap="square" lIns="0" tIns="0" rIns="0" bIns="0" anchor="t">
            <a:normAutofit/>
          </a:bodyPr>
          <a:lstStyle/>
          <a:p>
            <a:pPr algn="ctr">
              <a:buNone/>
              <a:defRPr sz="1275" b="1">
                <a:solidFill>
                  <a:srgbClr val="EAF2F8"/>
                </a:solidFill>
                <a:latin typeface="DejaVu Sans"/>
                <a:ea typeface="DejaVu Sans"/>
                <a:cs typeface="DejaVu Sans"/>
              </a:defRPr>
            </a:pPr>
            <a:r>
              <a:rPr sz="1275" b="1">
                <a:solidFill>
                  <a:srgbClr val="EAF2F8"/>
                </a:solidFill>
                <a:latin typeface="DejaVu Sans"/>
                <a:ea typeface="DejaVu Sans"/>
                <a:cs typeface="DejaVu Sans"/>
              </a:rPr>
              <a:t>Rao and Heyden</a:t>
            </a:r>
          </a:p>
        </p:txBody>
      </p:sp>
      <p:sp>
        <p:nvSpPr>
          <p:cNvPr id="23" name="Rectangle 22">
            <a:extLst>
              <a:ext uri="{FF2B5EF4-FFF2-40B4-BE49-F238E27FC236}">
                <a16:creationId xmlns:a16="http://schemas.microsoft.com/office/drawing/2014/main" id="{225067DC-03F2-4010-AB52-596DC08C1CD3}"/>
              </a:ext>
            </a:extLst>
          </p:cNvPr>
          <p:cNvSpPr>
            <a:spLocks noGrp="1"/>
          </p:cNvSpPr>
          <p:nvPr/>
        </p:nvSpPr>
        <p:spPr>
          <a:xfrm>
            <a:off x="8572500" y="3562350"/>
            <a:ext cx="1619250" cy="609600"/>
          </a:xfrm>
          <a:prstGeom prst="rect">
            <a:avLst/>
          </a:prstGeom>
          <a:noFill/>
          <a:ln w="0">
            <a:noFill/>
          </a:ln>
        </p:spPr>
        <p:txBody>
          <a:bodyPr wrap="square" lIns="0" tIns="0" rIns="0" bIns="0" anchor="t">
            <a:noAutofit/>
          </a:bodyPr>
          <a:lstStyle/>
          <a:p>
            <a:pPr algn="l">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PCA subspaces</a:t>
            </a:r>
          </a:p>
          <a:p>
            <a:pPr algn="l">
              <a:buNone/>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Residual monitoring</a:t>
            </a:r>
          </a:p>
        </p:txBody>
      </p:sp>
      <p:sp>
        <p:nvSpPr>
          <p:cNvPr id="24" name="Rectangle 23">
            <a:extLst>
              <a:ext uri="{FF2B5EF4-FFF2-40B4-BE49-F238E27FC236}">
                <a16:creationId xmlns:a16="http://schemas.microsoft.com/office/drawing/2014/main" id="{863455E8-C60A-401F-AF94-B3849E580544}"/>
              </a:ext>
            </a:extLst>
          </p:cNvPr>
          <p:cNvSpPr>
            <a:spLocks noGrp="1"/>
          </p:cNvSpPr>
          <p:nvPr/>
        </p:nvSpPr>
        <p:spPr>
          <a:xfrm>
            <a:off x="1238250" y="5504688"/>
            <a:ext cx="9715500" cy="502920"/>
          </a:xfrm>
          <a:prstGeom prst="rect">
            <a:avLst/>
          </a:prstGeom>
          <a:noFill/>
          <a:ln w="0">
            <a:noFill/>
          </a:ln>
        </p:spPr>
        <p:txBody>
          <a:bodyPr wrap="square" lIns="0" tIns="0" rIns="0" bIns="0" anchor="t">
            <a:noAutofit/>
          </a:bodyPr>
          <a:lstStyle/>
          <a:p>
            <a:pPr algn="l">
              <a:buNone/>
              <a:defRPr sz="1500" b="1">
                <a:solidFill>
                  <a:srgbClr val="EAF2F8"/>
                </a:solidFill>
                <a:latin typeface="DejaVu Sans"/>
                <a:ea typeface="DejaVu Sans"/>
                <a:cs typeface="DejaVu Sans"/>
              </a:defRPr>
            </a:pPr>
            <a:r>
              <a:rPr sz="1500" b="1">
                <a:solidFill>
                  <a:srgbClr val="EAF2F8"/>
                </a:solidFill>
                <a:latin typeface="DejaVu Sans"/>
                <a:ea typeface="DejaVu Sans"/>
                <a:cs typeface="DejaVu Sans"/>
              </a:rPr>
              <a:t>Alippi et al. (2017): hierarchical detection provides a related framework for warning and validation.</a:t>
            </a:r>
          </a:p>
        </p:txBody>
      </p:sp>
      <p:sp>
        <p:nvSpPr>
          <p:cNvPr id="25" name="Rectangle 24">
            <a:extLst>
              <a:ext uri="{FF2B5EF4-FFF2-40B4-BE49-F238E27FC236}">
                <a16:creationId xmlns:a16="http://schemas.microsoft.com/office/drawing/2014/main" id="{83AD054A-77DD-438F-B1A2-CEAD38F2A1DF}"/>
              </a:ext>
            </a:extLst>
          </p:cNvPr>
          <p:cNvSpPr>
            <a:spLocks noGrp="1"/>
          </p:cNvSpPr>
          <p:nvPr/>
        </p:nvSpPr>
        <p:spPr>
          <a:xfrm>
            <a:off x="609600" y="6515100"/>
            <a:ext cx="4095750" cy="171450"/>
          </a:xfrm>
          <a:prstGeom prst="rect">
            <a:avLst/>
          </a:prstGeom>
          <a:noFill/>
          <a:ln w="0">
            <a:noFill/>
          </a:ln>
        </p:spPr>
        <p:txBody>
          <a:bodyPr wrap="square" lIns="0" tIns="0" rIns="0" bIns="0" anchor="t">
            <a:normAutofit/>
          </a:bodyPr>
          <a:lstStyle/>
          <a:p>
            <a:pPr algn="l">
              <a:buNone/>
              <a:defRPr sz="825" b="0">
                <a:solidFill>
                  <a:srgbClr val="9CB0C3"/>
                </a:solidFill>
                <a:latin typeface="DejaVu Sans"/>
                <a:ea typeface="DejaVu Sans"/>
                <a:cs typeface="DejaVu Sans"/>
              </a:defRPr>
            </a:pPr>
            <a:r>
              <a:rPr sz="825" b="0">
                <a:solidFill>
                  <a:srgbClr val="9CB0C3"/>
                </a:solidFill>
                <a:latin typeface="DejaVu Sans"/>
                <a:ea typeface="DejaVu Sans"/>
                <a:cs typeface="DejaVu Sans"/>
              </a:rPr>
              <a:t>hlin863/ewma_covariate_shift_demo</a:t>
            </a:r>
          </a:p>
        </p:txBody>
      </p:sp>
      <p:sp>
        <p:nvSpPr>
          <p:cNvPr id="26" name="Rectangle 25">
            <a:extLst>
              <a:ext uri="{FF2B5EF4-FFF2-40B4-BE49-F238E27FC236}">
                <a16:creationId xmlns:a16="http://schemas.microsoft.com/office/drawing/2014/main" id="{76AF4919-C33C-49E3-9215-D84C4C44FE12}"/>
              </a:ext>
            </a:extLst>
          </p:cNvPr>
          <p:cNvSpPr>
            <a:spLocks noGrp="1"/>
          </p:cNvSpPr>
          <p:nvPr/>
        </p:nvSpPr>
        <p:spPr>
          <a:xfrm>
            <a:off x="11049000" y="6515100"/>
            <a:ext cx="533400" cy="171450"/>
          </a:xfrm>
          <a:prstGeom prst="rect">
            <a:avLst/>
          </a:prstGeom>
          <a:noFill/>
          <a:ln w="0">
            <a:noFill/>
          </a:ln>
        </p:spPr>
        <p:txBody>
          <a:bodyPr wrap="square" lIns="0" tIns="0" rIns="0" bIns="0" anchor="t">
            <a:normAutofit fontScale="70000" lnSpcReduction="20000"/>
          </a:bodyPr>
          <a:lstStyle/>
          <a:p>
            <a:r>
              <a:t>03</a:t>
            </a:r>
          </a:p>
        </p:txBody>
      </p:sp>
      <p:sp>
        <p:nvSpPr>
          <p:cNvPr id="28" name="Rounded Rectangle 27"/>
          <p:cNvSpPr/>
          <p:nvPr/>
        </p:nvSpPr>
        <p:spPr>
          <a:xfrm>
            <a:off x="7498079" y="4297680"/>
            <a:ext cx="3794760" cy="658368"/>
          </a:xfrm>
          <a:prstGeom prst="roundRect">
            <a:avLst/>
          </a:prstGeom>
          <a:solidFill>
            <a:srgbClr val="091A2B"/>
          </a:solidFill>
          <a:ln w="12700">
            <a:solidFill>
              <a:srgbClr val="A56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62672" y="4389120"/>
            <a:ext cx="3429000" cy="146304"/>
          </a:xfrm>
          <a:prstGeom prst="rect">
            <a:avLst/>
          </a:prstGeom>
          <a:noFill/>
        </p:spPr>
        <p:txBody>
          <a:bodyPr wrap="none" lIns="0" tIns="0" rIns="0" bIns="0">
            <a:spAutoFit/>
          </a:bodyPr>
          <a:lstStyle/>
          <a:p>
            <a:r>
              <a:rPr sz="840" b="1">
                <a:solidFill>
                  <a:srgbClr val="A56AFF"/>
                </a:solidFill>
                <a:latin typeface="Aptos"/>
              </a:rPr>
              <a:t>Heyden et al. (2024): reconstruction loss basis</a:t>
            </a:r>
          </a:p>
        </p:txBody>
      </p:sp>
      <p:pic>
        <p:nvPicPr>
          <p:cNvPr id="30" name="Picture 29" descr="formula_loss.png"/>
          <p:cNvPicPr>
            <a:picLocks noChangeAspect="1"/>
          </p:cNvPicPr>
          <p:nvPr/>
        </p:nvPicPr>
        <p:blipFill>
          <a:blip r:embed="rId3"/>
          <a:stretch>
            <a:fillRect/>
          </a:stretch>
        </p:blipFill>
        <p:spPr>
          <a:xfrm>
            <a:off x="8243720" y="4543501"/>
            <a:ext cx="2257760" cy="417589"/>
          </a:xfrm>
          <a:prstGeom prst="rect">
            <a:avLst/>
          </a:prstGeom>
        </p:spPr>
      </p:pic>
      <p:sp>
        <p:nvSpPr>
          <p:cNvPr id="31" name="TextBox 30"/>
          <p:cNvSpPr txBox="1"/>
          <p:nvPr/>
        </p:nvSpPr>
        <p:spPr>
          <a:xfrm>
            <a:off x="685800" y="4251960"/>
            <a:ext cx="6217920" cy="731520"/>
          </a:xfrm>
          <a:prstGeom prst="rect">
            <a:avLst/>
          </a:prstGeom>
          <a:noFill/>
        </p:spPr>
        <p:txBody>
          <a:bodyPr wrap="square" lIns="0" rIns="0">
            <a:spAutoFit/>
          </a:bodyPr>
          <a:lstStyle/>
          <a:p>
            <a:pPr>
              <a:spcAft>
                <a:spcPts val="900"/>
              </a:spcAft>
              <a:defRPr sz="1700" b="0">
                <a:solidFill>
                  <a:srgbClr val="78D8CC"/>
                </a:solidFill>
                <a:latin typeface="DejaVu Sans"/>
              </a:defRPr>
            </a:pPr>
            <a:r>
              <a:t>Diethe et al. (2019)</a:t>
            </a:r>
          </a:p>
          <a:p>
            <a:pPr>
              <a:spcAft>
                <a:spcPts val="900"/>
              </a:spcAft>
              <a:defRPr sz="1700" b="0">
                <a:solidFill>
                  <a:srgbClr val="78D8CC"/>
                </a:solidFill>
                <a:latin typeface="DejaVu Sans"/>
              </a:defRPr>
            </a:pPr>
            <a:r>
              <a:t>Monitoring, update policies and adaptation cost</a:t>
            </a:r>
          </a:p>
        </p:txBody>
      </p:sp>
    </p:spTree>
    <p:extLst>
      <p:ext uri="{BB962C8B-B14F-4D97-AF65-F5344CB8AC3E}">
        <p14:creationId xmlns:p14="http://schemas.microsoft.com/office/powerpoint/2010/main" val="2137863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C73467D-92E1-49D1-BC9C-9D8392E03158}"/>
              </a:ext>
            </a:extLst>
          </p:cNvPr>
          <p:cNvSpPr>
            <a:spLocks noGrp="1"/>
          </p:cNvSpPr>
          <p:nvPr/>
        </p:nvSpPr>
        <p:spPr>
          <a:xfrm>
            <a:off x="609600" y="400050"/>
            <a:ext cx="10477500" cy="228600"/>
          </a:xfrm>
          <a:prstGeom prst="rect">
            <a:avLst/>
          </a:prstGeom>
          <a:noFill/>
          <a:ln w="0">
            <a:noFill/>
          </a:ln>
        </p:spPr>
        <p:txBody>
          <a:bodyPr>
            <a:noAutofit/>
          </a:bodyPr>
          <a:lstStyle/>
          <a:p>
            <a:pPr>
              <a:defRPr sz="1300" b="1">
                <a:solidFill>
                  <a:srgbClr val="2DD4BF"/>
                </a:solidFill>
                <a:latin typeface="DejaVu Sans"/>
                <a:ea typeface="DejaVu Sans"/>
                <a:cs typeface="DejaVu Sans"/>
              </a:defRPr>
            </a:pPr>
            <a:r>
              <a:rPr sz="1300" b="1">
                <a:solidFill>
                  <a:srgbClr val="2DD4BF"/>
                </a:solidFill>
                <a:latin typeface="DejaVu Sans"/>
                <a:ea typeface="DejaVu Sans"/>
                <a:cs typeface="DejaVu Sans"/>
              </a:rPr>
              <a:t>PAPER CONTEXT</a:t>
            </a:r>
          </a:p>
        </p:txBody>
      </p:sp>
      <p:sp>
        <p:nvSpPr>
          <p:cNvPr id="2" name="Rectangle 1">
            <a:extLst>
              <a:ext uri="{FF2B5EF4-FFF2-40B4-BE49-F238E27FC236}">
                <a16:creationId xmlns:a16="http://schemas.microsoft.com/office/drawing/2014/main" id="{51BC6A5F-5889-4080-9041-29F0130CD2E3}"/>
              </a:ext>
            </a:extLst>
          </p:cNvPr>
          <p:cNvSpPr>
            <a:spLocks noGrp="1"/>
          </p:cNvSpPr>
          <p:nvPr/>
        </p:nvSpPr>
        <p:spPr>
          <a:xfrm>
            <a:off x="609600" y="685800"/>
            <a:ext cx="10953750" cy="609600"/>
          </a:xfrm>
          <a:prstGeom prst="rect">
            <a:avLst/>
          </a:prstGeom>
          <a:noFill/>
          <a:ln w="0">
            <a:noFill/>
          </a:ln>
        </p:spPr>
        <p:txBody>
          <a:bodyPr>
            <a:noAutofit/>
          </a:bodyPr>
          <a:lstStyle/>
          <a:p>
            <a:pPr>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Chowdhury et al. (2018): online adaptive BCI</a:t>
            </a:r>
          </a:p>
        </p:txBody>
      </p:sp>
      <p:sp>
        <p:nvSpPr>
          <p:cNvPr id="3" name="Rectangle 2">
            <a:extLst>
              <a:ext uri="{FF2B5EF4-FFF2-40B4-BE49-F238E27FC236}">
                <a16:creationId xmlns:a16="http://schemas.microsoft.com/office/drawing/2014/main" id="{DD9956DE-BC9F-48D5-9D25-720A04105D9B}"/>
              </a:ext>
            </a:extLst>
          </p:cNvPr>
          <p:cNvSpPr>
            <a:spLocks noGrp="1"/>
          </p:cNvSpPr>
          <p:nvPr/>
        </p:nvSpPr>
        <p:spPr>
          <a:xfrm>
            <a:off x="609600" y="6010275"/>
            <a:ext cx="10858500" cy="419100"/>
          </a:xfrm>
          <a:prstGeom prst="rect">
            <a:avLst/>
          </a:prstGeom>
          <a:noFill/>
          <a:ln w="0">
            <a:noFill/>
          </a:ln>
        </p:spPr>
        <p:txBody>
          <a:bodyPr>
            <a:noAutofit/>
          </a:bodyPr>
          <a:lstStyle/>
          <a:p>
            <a:pPr>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Source: §II.B, p. 1072 · §II.D–E, pp. 1073–1075 · Figs. 1, 3 and 4</a:t>
            </a:r>
          </a:p>
        </p:txBody>
      </p:sp>
      <p:sp>
        <p:nvSpPr>
          <p:cNvPr id="4" name="Rectangle 3">
            <a:extLst>
              <a:ext uri="{FF2B5EF4-FFF2-40B4-BE49-F238E27FC236}">
                <a16:creationId xmlns:a16="http://schemas.microsoft.com/office/drawing/2014/main" id="{30CAC83B-915E-4EB4-8717-7AF7B5CB7FF0}"/>
              </a:ext>
            </a:extLst>
          </p:cNvPr>
          <p:cNvSpPr>
            <a:spLocks noGrp="1"/>
          </p:cNvSpPr>
          <p:nvPr/>
        </p:nvSpPr>
        <p:spPr>
          <a:xfrm>
            <a:off x="609600" y="6515100"/>
            <a:ext cx="57150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hlin863/ewma_covariate_shift_demo</a:t>
            </a:r>
          </a:p>
        </p:txBody>
      </p:sp>
      <p:sp>
        <p:nvSpPr>
          <p:cNvPr id="5" name="Rectangle 4">
            <a:extLst>
              <a:ext uri="{FF2B5EF4-FFF2-40B4-BE49-F238E27FC236}">
                <a16:creationId xmlns:a16="http://schemas.microsoft.com/office/drawing/2014/main" id="{A3075AC5-F436-489B-B235-207A81CE5655}"/>
              </a:ext>
            </a:extLst>
          </p:cNvPr>
          <p:cNvSpPr>
            <a:spLocks noGrp="1"/>
          </p:cNvSpPr>
          <p:nvPr/>
        </p:nvSpPr>
        <p:spPr>
          <a:xfrm>
            <a:off x="11049000" y="6515100"/>
            <a:ext cx="5334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04</a:t>
            </a:r>
          </a:p>
        </p:txBody>
      </p:sp>
      <p:sp>
        <p:nvSpPr>
          <p:cNvPr id="6" name="Rectangle 5">
            <a:extLst>
              <a:ext uri="{FF2B5EF4-FFF2-40B4-BE49-F238E27FC236}">
                <a16:creationId xmlns:a16="http://schemas.microsoft.com/office/drawing/2014/main" id="{0F80E30B-4E5D-4B71-9AD7-3AD545D15EAA}"/>
              </a:ext>
            </a:extLst>
          </p:cNvPr>
          <p:cNvSpPr>
            <a:spLocks noGrp="1"/>
          </p:cNvSpPr>
          <p:nvPr/>
        </p:nvSpPr>
        <p:spPr>
          <a:xfrm>
            <a:off x="609600" y="1695450"/>
            <a:ext cx="5048250" cy="361950"/>
          </a:xfrm>
          <a:prstGeom prst="rect">
            <a:avLst/>
          </a:prstGeom>
          <a:noFill/>
          <a:ln w="0">
            <a:noFill/>
          </a:ln>
        </p:spPr>
        <p:txBody>
          <a:bodyPr>
            <a:noAutofit/>
          </a:bodyPr>
          <a:lstStyle/>
          <a:p>
            <a:pPr>
              <a:defRPr sz="2025" b="1">
                <a:solidFill>
                  <a:srgbClr val="4EA1FF"/>
                </a:solidFill>
                <a:latin typeface="DejaVu Sans"/>
                <a:ea typeface="DejaVu Sans"/>
                <a:cs typeface="DejaVu Sans"/>
              </a:defRPr>
            </a:pPr>
            <a:r>
              <a:rPr sz="2025" b="1">
                <a:solidFill>
                  <a:srgbClr val="4EA1FF"/>
                </a:solidFill>
                <a:latin typeface="DejaVu Sans"/>
                <a:ea typeface="DejaVu Sans"/>
                <a:cs typeface="DejaVu Sans"/>
              </a:rPr>
              <a:t>Calibration and task</a:t>
            </a:r>
          </a:p>
        </p:txBody>
      </p:sp>
      <p:sp>
        <p:nvSpPr>
          <p:cNvPr id="7" name="Rectangle 6">
            <a:extLst>
              <a:ext uri="{FF2B5EF4-FFF2-40B4-BE49-F238E27FC236}">
                <a16:creationId xmlns:a16="http://schemas.microsoft.com/office/drawing/2014/main" id="{8282C969-F565-4435-B6B3-CF4AF6ECAC21}"/>
              </a:ext>
            </a:extLst>
          </p:cNvPr>
          <p:cNvSpPr>
            <a:spLocks noGrp="1"/>
          </p:cNvSpPr>
          <p:nvPr/>
        </p:nvSpPr>
        <p:spPr>
          <a:xfrm>
            <a:off x="609600" y="2190750"/>
            <a:ext cx="5048250"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10 healthy participants + 10 stroke patients</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80 calibration trials, then 40 online trials</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Left- versus right-hand motor imagery</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Initial linear SVM and CSD parameters</a:t>
            </a:r>
          </a:p>
        </p:txBody>
      </p:sp>
      <p:sp>
        <p:nvSpPr>
          <p:cNvPr id="8" name="Rectangle 7">
            <a:extLst>
              <a:ext uri="{FF2B5EF4-FFF2-40B4-BE49-F238E27FC236}">
                <a16:creationId xmlns:a16="http://schemas.microsoft.com/office/drawing/2014/main" id="{7F3B666E-A0A2-4174-86FB-F1CE957B27B3}"/>
              </a:ext>
            </a:extLst>
          </p:cNvPr>
          <p:cNvSpPr>
            <a:spLocks noGrp="1"/>
          </p:cNvSpPr>
          <p:nvPr/>
        </p:nvSpPr>
        <p:spPr>
          <a:xfrm>
            <a:off x="6572250" y="1695450"/>
            <a:ext cx="4857750" cy="361950"/>
          </a:xfrm>
          <a:prstGeom prst="rect">
            <a:avLst/>
          </a:prstGeom>
          <a:noFill/>
          <a:ln w="0">
            <a:noFill/>
          </a:ln>
        </p:spPr>
        <p:txBody>
          <a:bodyPr>
            <a:noAutofit/>
          </a:bodyPr>
          <a:lstStyle/>
          <a:p>
            <a:pPr>
              <a:defRPr sz="2025" b="1">
                <a:solidFill>
                  <a:srgbClr val="2DD4BF"/>
                </a:solidFill>
                <a:latin typeface="DejaVu Sans"/>
                <a:ea typeface="DejaVu Sans"/>
                <a:cs typeface="DejaVu Sans"/>
              </a:defRPr>
            </a:pPr>
            <a:r>
              <a:rPr sz="2025" b="1">
                <a:solidFill>
                  <a:srgbClr val="2DD4BF"/>
                </a:solidFill>
                <a:latin typeface="DejaVu Sans"/>
                <a:ea typeface="DejaVu Sans"/>
                <a:cs typeface="DejaVu Sans"/>
              </a:rPr>
              <a:t>Signal and adaptation</a:t>
            </a:r>
          </a:p>
        </p:txBody>
      </p:sp>
      <p:sp>
        <p:nvSpPr>
          <p:cNvPr id="9" name="Rectangle 8">
            <a:extLst>
              <a:ext uri="{FF2B5EF4-FFF2-40B4-BE49-F238E27FC236}">
                <a16:creationId xmlns:a16="http://schemas.microsoft.com/office/drawing/2014/main" id="{D0F2BE02-8E68-4865-879A-C5431945F0D3}"/>
              </a:ext>
            </a:extLst>
          </p:cNvPr>
          <p:cNvSpPr>
            <a:spLocks noGrp="1"/>
          </p:cNvSpPr>
          <p:nvPr/>
        </p:nvSpPr>
        <p:spPr>
          <a:xfrm>
            <a:off x="6572250" y="2190750"/>
            <a:ext cx="4857750"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μ 8–12 Hz and β 16–24 Hz</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CSP yields four log-variance features</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PC1 EWMA warning, then Hotelling T²</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Validated shift triggers SVM retraining</a:t>
            </a:r>
          </a:p>
        </p:txBody>
      </p:sp>
      <p:sp>
        <p:nvSpPr>
          <p:cNvPr id="10" name="Rectangle 9">
            <a:extLst>
              <a:ext uri="{FF2B5EF4-FFF2-40B4-BE49-F238E27FC236}">
                <a16:creationId xmlns:a16="http://schemas.microsoft.com/office/drawing/2014/main" id="{BC0E3D3E-A4E7-46D8-AA89-1C5BB8C079DB}"/>
              </a:ext>
            </a:extLst>
          </p:cNvPr>
          <p:cNvSpPr>
            <a:spLocks noGrp="1"/>
          </p:cNvSpPr>
          <p:nvPr/>
        </p:nvSpPr>
        <p:spPr>
          <a:xfrm>
            <a:off x="609600" y="4105275"/>
            <a:ext cx="2286000" cy="323850"/>
          </a:xfrm>
          <a:prstGeom prst="rect">
            <a:avLst/>
          </a:prstGeom>
          <a:noFill/>
          <a:ln w="0">
            <a:noFill/>
          </a:ln>
        </p:spPr>
        <p:txBody>
          <a:bodyPr>
            <a:noAutofit/>
          </a:bodyPr>
          <a:lstStyle/>
          <a:p>
            <a:pPr>
              <a:defRPr sz="2025" b="1">
                <a:solidFill>
                  <a:srgbClr val="F5B942"/>
                </a:solidFill>
                <a:latin typeface="DejaVu Sans"/>
                <a:ea typeface="DejaVu Sans"/>
                <a:cs typeface="DejaVu Sans"/>
              </a:defRPr>
            </a:pPr>
            <a:r>
              <a:rPr sz="2025" b="1">
                <a:solidFill>
                  <a:srgbClr val="F5B942"/>
                </a:solidFill>
                <a:latin typeface="DejaVu Sans"/>
                <a:ea typeface="DejaVu Sans"/>
                <a:cs typeface="DejaVu Sans"/>
              </a:rPr>
              <a:t>Online output</a:t>
            </a:r>
          </a:p>
        </p:txBody>
      </p:sp>
      <p:sp>
        <p:nvSpPr>
          <p:cNvPr id="11" name="Rectangle 10">
            <a:extLst>
              <a:ext uri="{FF2B5EF4-FFF2-40B4-BE49-F238E27FC236}">
                <a16:creationId xmlns:a16="http://schemas.microsoft.com/office/drawing/2014/main" id="{D12F69B4-7947-47BA-A5B5-CCAEDB7549F8}"/>
              </a:ext>
            </a:extLst>
          </p:cNvPr>
          <p:cNvSpPr>
            <a:spLocks noGrp="1"/>
          </p:cNvSpPr>
          <p:nvPr/>
        </p:nvSpPr>
        <p:spPr>
          <a:xfrm>
            <a:off x="609600" y="4572000"/>
            <a:ext cx="10477500" cy="619125"/>
          </a:xfrm>
          <a:prstGeom prst="rect">
            <a:avLst/>
          </a:prstGeom>
          <a:noFill/>
          <a:ln w="0">
            <a:noFill/>
          </a:ln>
        </p:spPr>
        <p:txBody>
          <a:bodyPr>
            <a:noAutofit/>
          </a:bodyPr>
          <a:lstStyle/>
          <a:p>
            <a:pPr>
              <a:defRPr sz="2025" b="0">
                <a:solidFill>
                  <a:srgbClr val="EAF2F8"/>
                </a:solidFill>
                <a:latin typeface="DejaVu Sans"/>
                <a:ea typeface="DejaVu Sans"/>
                <a:cs typeface="DejaVu Sans"/>
              </a:defRPr>
            </a:pPr>
            <a:r>
              <a:rPr sz="2025" b="0">
                <a:solidFill>
                  <a:srgbClr val="EAF2F8"/>
                </a:solidFill>
                <a:latin typeface="DejaVu Sans"/>
                <a:ea typeface="DejaVu Sans"/>
                <a:cs typeface="DejaVu Sans"/>
              </a:rPr>
              <a:t>Visual feedback and hand-exoskeleton movement follow MI classification.</a:t>
            </a:r>
          </a:p>
        </p:txBody>
      </p:sp>
      <p:sp>
        <p:nvSpPr>
          <p:cNvPr id="12" name="Rectangle 11">
            <a:extLst>
              <a:ext uri="{FF2B5EF4-FFF2-40B4-BE49-F238E27FC236}">
                <a16:creationId xmlns:a16="http://schemas.microsoft.com/office/drawing/2014/main" id="{7C6DFCD8-5DEF-4F8A-945C-EC337317CBBE}"/>
              </a:ext>
            </a:extLst>
          </p:cNvPr>
          <p:cNvSpPr>
            <a:spLocks noGrp="1"/>
          </p:cNvSpPr>
          <p:nvPr/>
        </p:nvSpPr>
        <p:spPr>
          <a:xfrm>
            <a:off x="609600" y="5372100"/>
            <a:ext cx="10763250" cy="476250"/>
          </a:xfrm>
          <a:prstGeom prst="rect">
            <a:avLst/>
          </a:prstGeom>
          <a:noFill/>
          <a:ln w="0">
            <a:noFill/>
          </a:ln>
        </p:spPr>
        <p:txBody>
          <a:bodyPr>
            <a:noAutofit/>
          </a:bodyPr>
          <a:lstStyle/>
          <a:p>
            <a:pPr>
              <a:defRPr sz="1725" b="0">
                <a:solidFill>
                  <a:srgbClr val="9CB0C3"/>
                </a:solidFill>
                <a:latin typeface="DejaVu Sans"/>
                <a:ea typeface="DejaVu Sans"/>
                <a:cs typeface="DejaVu Sans"/>
              </a:defRPr>
            </a:pPr>
            <a:r>
              <a:rPr sz="1725" b="0">
                <a:solidFill>
                  <a:srgbClr val="9CB0C3"/>
                </a:solidFill>
                <a:latin typeface="DejaVu Sans"/>
                <a:ea typeface="DejaVu Sans"/>
                <a:cs typeface="DejaVu Sans"/>
              </a:rPr>
              <a:t>Comparator: EEG-NAC replays the same recorded data offline with a fixed classifier.</a:t>
            </a:r>
          </a:p>
        </p:txBody>
      </p:sp>
    </p:spTree>
    <p:extLst>
      <p:ext uri="{BB962C8B-B14F-4D97-AF65-F5344CB8AC3E}">
        <p14:creationId xmlns:p14="http://schemas.microsoft.com/office/powerpoint/2010/main" val="1070568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FB2E451-F872-416C-B551-22675E87317C}"/>
              </a:ext>
            </a:extLst>
          </p:cNvPr>
          <p:cNvSpPr>
            <a:spLocks noGrp="1"/>
          </p:cNvSpPr>
          <p:nvPr/>
        </p:nvSpPr>
        <p:spPr>
          <a:xfrm>
            <a:off x="609600" y="400050"/>
            <a:ext cx="10477500" cy="228600"/>
          </a:xfrm>
          <a:prstGeom prst="rect">
            <a:avLst/>
          </a:prstGeom>
          <a:noFill/>
          <a:ln w="0">
            <a:noFill/>
          </a:ln>
        </p:spPr>
        <p:txBody>
          <a:bodyPr>
            <a:noAutofit/>
          </a:bodyPr>
          <a:lstStyle/>
          <a:p>
            <a:pPr>
              <a:defRPr sz="1300" b="1">
                <a:solidFill>
                  <a:srgbClr val="2DD4BF"/>
                </a:solidFill>
                <a:latin typeface="DejaVu Sans"/>
                <a:ea typeface="DejaVu Sans"/>
                <a:cs typeface="DejaVu Sans"/>
              </a:defRPr>
            </a:pPr>
            <a:r>
              <a:rPr sz="1300" b="1">
                <a:solidFill>
                  <a:srgbClr val="2DD4BF"/>
                </a:solidFill>
                <a:latin typeface="DejaVu Sans"/>
                <a:ea typeface="DejaVu Sans"/>
                <a:cs typeface="DejaVu Sans"/>
              </a:rPr>
              <a:t>REPORTED ACHIEVEMENTS</a:t>
            </a:r>
          </a:p>
        </p:txBody>
      </p:sp>
      <p:sp>
        <p:nvSpPr>
          <p:cNvPr id="2" name="Rectangle 1">
            <a:extLst>
              <a:ext uri="{FF2B5EF4-FFF2-40B4-BE49-F238E27FC236}">
                <a16:creationId xmlns:a16="http://schemas.microsoft.com/office/drawing/2014/main" id="{91813C24-8621-4BE0-91ED-F6242B3FBFED}"/>
              </a:ext>
            </a:extLst>
          </p:cNvPr>
          <p:cNvSpPr>
            <a:spLocks noGrp="1"/>
          </p:cNvSpPr>
          <p:nvPr/>
        </p:nvSpPr>
        <p:spPr>
          <a:xfrm>
            <a:off x="609600" y="685800"/>
            <a:ext cx="10953750" cy="609600"/>
          </a:xfrm>
          <a:prstGeom prst="rect">
            <a:avLst/>
          </a:prstGeom>
          <a:noFill/>
          <a:ln w="0">
            <a:noFill/>
          </a:ln>
        </p:spPr>
        <p:txBody>
          <a:bodyPr>
            <a:noAutofit/>
          </a:bodyPr>
          <a:lstStyle/>
          <a:p>
            <a:pPr>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Decoding improved relative to the fixed classifier</a:t>
            </a:r>
          </a:p>
        </p:txBody>
      </p:sp>
      <p:sp>
        <p:nvSpPr>
          <p:cNvPr id="3" name="Rectangle 2">
            <a:extLst>
              <a:ext uri="{FF2B5EF4-FFF2-40B4-BE49-F238E27FC236}">
                <a16:creationId xmlns:a16="http://schemas.microsoft.com/office/drawing/2014/main" id="{5DFA99EB-11D6-4748-8EC5-96EE28BB781A}"/>
              </a:ext>
            </a:extLst>
          </p:cNvPr>
          <p:cNvSpPr>
            <a:spLocks noGrp="1"/>
          </p:cNvSpPr>
          <p:nvPr/>
        </p:nvSpPr>
        <p:spPr>
          <a:xfrm>
            <a:off x="609600" y="6010275"/>
            <a:ext cx="10858500" cy="419100"/>
          </a:xfrm>
          <a:prstGeom prst="rect">
            <a:avLst/>
          </a:prstGeom>
          <a:noFill/>
          <a:ln w="0">
            <a:noFill/>
          </a:ln>
        </p:spPr>
        <p:txBody>
          <a:bodyPr>
            <a:noAutofit/>
          </a:bodyPr>
          <a:lstStyle/>
          <a:p>
            <a:pPr>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Source: §III, p. 1076, Tables II–IV and Fig. 6 · §IV, p. 1078</a:t>
            </a:r>
          </a:p>
        </p:txBody>
      </p:sp>
      <p:sp>
        <p:nvSpPr>
          <p:cNvPr id="4" name="Rectangle 3">
            <a:extLst>
              <a:ext uri="{FF2B5EF4-FFF2-40B4-BE49-F238E27FC236}">
                <a16:creationId xmlns:a16="http://schemas.microsoft.com/office/drawing/2014/main" id="{D499976B-23A1-4E3C-A161-DA9B6F4F0051}"/>
              </a:ext>
            </a:extLst>
          </p:cNvPr>
          <p:cNvSpPr>
            <a:spLocks noGrp="1"/>
          </p:cNvSpPr>
          <p:nvPr/>
        </p:nvSpPr>
        <p:spPr>
          <a:xfrm>
            <a:off x="609600" y="6515100"/>
            <a:ext cx="57150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hlin863/ewma_covariate_shift_demo</a:t>
            </a:r>
          </a:p>
        </p:txBody>
      </p:sp>
      <p:sp>
        <p:nvSpPr>
          <p:cNvPr id="5" name="Rectangle 4">
            <a:extLst>
              <a:ext uri="{FF2B5EF4-FFF2-40B4-BE49-F238E27FC236}">
                <a16:creationId xmlns:a16="http://schemas.microsoft.com/office/drawing/2014/main" id="{52560EFB-447D-4B5E-8EE5-88D0B4F5E160}"/>
              </a:ext>
            </a:extLst>
          </p:cNvPr>
          <p:cNvSpPr>
            <a:spLocks noGrp="1"/>
          </p:cNvSpPr>
          <p:nvPr/>
        </p:nvSpPr>
        <p:spPr>
          <a:xfrm>
            <a:off x="11049000" y="6515100"/>
            <a:ext cx="5334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05</a:t>
            </a:r>
          </a:p>
        </p:txBody>
      </p:sp>
      <p:graphicFrame>
        <p:nvGraphicFramePr>
          <p:cNvPr id="14" name="Table 13"/>
          <p:cNvGraphicFramePr/>
          <p:nvPr/>
        </p:nvGraphicFramePr>
        <p:xfrm>
          <a:off x="609600" y="1809750"/>
          <a:ext cx="10972800" cy="2190750"/>
        </p:xfrm>
        <a:graphic>
          <a:graphicData uri="http://schemas.openxmlformats.org/drawingml/2006/table">
            <a:tbl>
              <a:tblPr/>
              <a:tblGrid>
                <a:gridCol w="28575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gridCol w="2209800">
                  <a:extLst>
                    <a:ext uri="{9D8B030D-6E8A-4147-A177-3AD203B41FA5}">
                      <a16:colId xmlns:a16="http://schemas.microsoft.com/office/drawing/2014/main" val="20003"/>
                    </a:ext>
                  </a:extLst>
                </a:gridCol>
              </a:tblGrid>
              <a:tr h="730250">
                <a:tc>
                  <a:txBody>
                    <a:bodyPr/>
                    <a:lstStyle/>
                    <a:p>
                      <a:r>
                        <a:rPr sz="1725" b="1">
                          <a:solidFill>
                            <a:srgbClr val="2DD4BF"/>
                          </a:solidFill>
                          <a:latin typeface="DejaVu Sans"/>
                          <a:ea typeface="DejaVu Sans"/>
                          <a:cs typeface="DejaVu Sans"/>
                        </a:rPr>
                        <a:t>Group</a:t>
                      </a:r>
                    </a:p>
                  </a:txBody>
                  <a:tcPr>
                    <a:solidFill>
                      <a:srgbClr val="132436"/>
                    </a:solidFill>
                  </a:tcPr>
                </a:tc>
                <a:tc>
                  <a:txBody>
                    <a:bodyPr/>
                    <a:lstStyle/>
                    <a:p>
                      <a:r>
                        <a:rPr sz="1725" b="1">
                          <a:solidFill>
                            <a:srgbClr val="2DD4BF"/>
                          </a:solidFill>
                          <a:latin typeface="DejaVu Sans"/>
                          <a:ea typeface="DejaVu Sans"/>
                          <a:cs typeface="DejaVu Sans"/>
                        </a:rPr>
                        <a:t>EEG-NAC</a:t>
                      </a:r>
                    </a:p>
                  </a:txBody>
                  <a:tcPr>
                    <a:solidFill>
                      <a:srgbClr val="132436"/>
                    </a:solidFill>
                  </a:tcPr>
                </a:tc>
                <a:tc>
                  <a:txBody>
                    <a:bodyPr/>
                    <a:lstStyle/>
                    <a:p>
                      <a:r>
                        <a:rPr sz="1725" b="1">
                          <a:solidFill>
                            <a:srgbClr val="2DD4BF"/>
                          </a:solidFill>
                          <a:latin typeface="DejaVu Sans"/>
                          <a:ea typeface="DejaVu Sans"/>
                          <a:cs typeface="DejaVu Sans"/>
                        </a:rPr>
                        <a:t>EEG-CSAC</a:t>
                      </a:r>
                    </a:p>
                  </a:txBody>
                  <a:tcPr>
                    <a:solidFill>
                      <a:srgbClr val="132436"/>
                    </a:solidFill>
                  </a:tcPr>
                </a:tc>
                <a:tc>
                  <a:txBody>
                    <a:bodyPr/>
                    <a:lstStyle/>
                    <a:p>
                      <a:r>
                        <a:rPr sz="1725" b="1">
                          <a:solidFill>
                            <a:srgbClr val="2DD4BF"/>
                          </a:solidFill>
                          <a:latin typeface="DejaVu Sans"/>
                          <a:ea typeface="DejaVu Sans"/>
                          <a:cs typeface="DejaVu Sans"/>
                        </a:rPr>
                        <a:t>Gain</a:t>
                      </a:r>
                    </a:p>
                  </a:txBody>
                  <a:tcPr>
                    <a:solidFill>
                      <a:srgbClr val="132436"/>
                    </a:solidFill>
                  </a:tcPr>
                </a:tc>
                <a:extLst>
                  <a:ext uri="{0D108BD9-81ED-4DB2-BD59-A6C34878D82A}">
                    <a16:rowId xmlns:a16="http://schemas.microsoft.com/office/drawing/2014/main" val="10000"/>
                  </a:ext>
                </a:extLst>
              </a:tr>
              <a:tr h="730250">
                <a:tc>
                  <a:txBody>
                    <a:bodyPr/>
                    <a:lstStyle/>
                    <a:p>
                      <a:r>
                        <a:rPr sz="1725" b="0">
                          <a:solidFill>
                            <a:srgbClr val="EAF2F8"/>
                          </a:solidFill>
                          <a:latin typeface="DejaVu Sans"/>
                          <a:ea typeface="DejaVu Sans"/>
                          <a:cs typeface="DejaVu Sans"/>
                        </a:rPr>
                        <a:t>Healthy (n = 10)</a:t>
                      </a:r>
                    </a:p>
                  </a:txBody>
                  <a:tcPr>
                    <a:solidFill>
                      <a:srgbClr val="09121F"/>
                    </a:solidFill>
                  </a:tcPr>
                </a:tc>
                <a:tc>
                  <a:txBody>
                    <a:bodyPr/>
                    <a:lstStyle/>
                    <a:p>
                      <a:r>
                        <a:rPr sz="1725" b="0">
                          <a:solidFill>
                            <a:srgbClr val="EAF2F8"/>
                          </a:solidFill>
                          <a:latin typeface="DejaVu Sans"/>
                          <a:ea typeface="DejaVu Sans"/>
                          <a:cs typeface="DejaVu Sans"/>
                        </a:rPr>
                        <a:t>75.25 ± 5.46%</a:t>
                      </a:r>
                    </a:p>
                  </a:txBody>
                  <a:tcPr>
                    <a:solidFill>
                      <a:srgbClr val="09121F"/>
                    </a:solidFill>
                  </a:tcPr>
                </a:tc>
                <a:tc>
                  <a:txBody>
                    <a:bodyPr/>
                    <a:lstStyle/>
                    <a:p>
                      <a:r>
                        <a:rPr sz="1725" b="0">
                          <a:solidFill>
                            <a:srgbClr val="EAF2F8"/>
                          </a:solidFill>
                          <a:latin typeface="DejaVu Sans"/>
                          <a:ea typeface="DejaVu Sans"/>
                          <a:cs typeface="DejaVu Sans"/>
                        </a:rPr>
                        <a:t>81.50 ± 4.89%</a:t>
                      </a:r>
                    </a:p>
                  </a:txBody>
                  <a:tcPr>
                    <a:solidFill>
                      <a:srgbClr val="09121F"/>
                    </a:solidFill>
                  </a:tcPr>
                </a:tc>
                <a:tc>
                  <a:txBody>
                    <a:bodyPr/>
                    <a:lstStyle/>
                    <a:p>
                      <a:r>
                        <a:rPr sz="1725" b="0">
                          <a:solidFill>
                            <a:srgbClr val="EAF2F8"/>
                          </a:solidFill>
                          <a:latin typeface="DejaVu Sans"/>
                          <a:ea typeface="DejaVu Sans"/>
                          <a:cs typeface="DejaVu Sans"/>
                        </a:rPr>
                        <a:t>+6.25 pp</a:t>
                      </a:r>
                    </a:p>
                  </a:txBody>
                  <a:tcPr>
                    <a:solidFill>
                      <a:srgbClr val="09121F"/>
                    </a:solidFill>
                  </a:tcPr>
                </a:tc>
                <a:extLst>
                  <a:ext uri="{0D108BD9-81ED-4DB2-BD59-A6C34878D82A}">
                    <a16:rowId xmlns:a16="http://schemas.microsoft.com/office/drawing/2014/main" val="10001"/>
                  </a:ext>
                </a:extLst>
              </a:tr>
              <a:tr h="730250">
                <a:tc>
                  <a:txBody>
                    <a:bodyPr/>
                    <a:lstStyle/>
                    <a:p>
                      <a:r>
                        <a:rPr sz="1725" b="0">
                          <a:solidFill>
                            <a:srgbClr val="EAF2F8"/>
                          </a:solidFill>
                          <a:latin typeface="DejaVu Sans"/>
                          <a:ea typeface="DejaVu Sans"/>
                          <a:cs typeface="DejaVu Sans"/>
                        </a:rPr>
                        <a:t>Stroke (n = 10)</a:t>
                      </a:r>
                    </a:p>
                  </a:txBody>
                  <a:tcPr>
                    <a:solidFill>
                      <a:srgbClr val="09121F"/>
                    </a:solidFill>
                  </a:tcPr>
                </a:tc>
                <a:tc>
                  <a:txBody>
                    <a:bodyPr/>
                    <a:lstStyle/>
                    <a:p>
                      <a:r>
                        <a:rPr sz="1725" b="0">
                          <a:solidFill>
                            <a:srgbClr val="EAF2F8"/>
                          </a:solidFill>
                          <a:latin typeface="DejaVu Sans"/>
                          <a:ea typeface="DejaVu Sans"/>
                          <a:cs typeface="DejaVu Sans"/>
                        </a:rPr>
                        <a:t>70.25 ± 3.43%</a:t>
                      </a:r>
                    </a:p>
                  </a:txBody>
                  <a:tcPr>
                    <a:solidFill>
                      <a:srgbClr val="09121F"/>
                    </a:solidFill>
                  </a:tcPr>
                </a:tc>
                <a:tc>
                  <a:txBody>
                    <a:bodyPr/>
                    <a:lstStyle/>
                    <a:p>
                      <a:r>
                        <a:rPr sz="1725" b="0">
                          <a:solidFill>
                            <a:srgbClr val="EAF2F8"/>
                          </a:solidFill>
                          <a:latin typeface="DejaVu Sans"/>
                          <a:ea typeface="DejaVu Sans"/>
                          <a:cs typeface="DejaVu Sans"/>
                        </a:rPr>
                        <a:t>75.75 ± 3.92%</a:t>
                      </a:r>
                    </a:p>
                  </a:txBody>
                  <a:tcPr>
                    <a:solidFill>
                      <a:srgbClr val="09121F"/>
                    </a:solidFill>
                  </a:tcPr>
                </a:tc>
                <a:tc>
                  <a:txBody>
                    <a:bodyPr/>
                    <a:lstStyle/>
                    <a:p>
                      <a:r>
                        <a:rPr sz="1725" b="0">
                          <a:solidFill>
                            <a:srgbClr val="EAF2F8"/>
                          </a:solidFill>
                          <a:latin typeface="DejaVu Sans"/>
                          <a:ea typeface="DejaVu Sans"/>
                          <a:cs typeface="DejaVu Sans"/>
                        </a:rPr>
                        <a:t>+5.50 pp</a:t>
                      </a:r>
                    </a:p>
                  </a:txBody>
                  <a:tcPr>
                    <a:solidFill>
                      <a:srgbClr val="09121F"/>
                    </a:solidFill>
                  </a:tcPr>
                </a:tc>
                <a:extLst>
                  <a:ext uri="{0D108BD9-81ED-4DB2-BD59-A6C34878D82A}">
                    <a16:rowId xmlns:a16="http://schemas.microsoft.com/office/drawing/2014/main" val="10002"/>
                  </a:ext>
                </a:extLst>
              </a:tr>
            </a:tbl>
          </a:graphicData>
        </a:graphic>
      </p:graphicFrame>
      <p:sp>
        <p:nvSpPr>
          <p:cNvPr id="7" name="Rectangle 6">
            <a:extLst>
              <a:ext uri="{FF2B5EF4-FFF2-40B4-BE49-F238E27FC236}">
                <a16:creationId xmlns:a16="http://schemas.microsoft.com/office/drawing/2014/main" id="{DFAFF44C-5534-4667-8C27-4E9F0398B0C7}"/>
              </a:ext>
            </a:extLst>
          </p:cNvPr>
          <p:cNvSpPr>
            <a:spLocks noGrp="1"/>
          </p:cNvSpPr>
          <p:nvPr/>
        </p:nvSpPr>
        <p:spPr>
          <a:xfrm>
            <a:off x="609600" y="4286250"/>
            <a:ext cx="10477500" cy="428625"/>
          </a:xfrm>
          <a:prstGeom prst="rect">
            <a:avLst/>
          </a:prstGeom>
          <a:noFill/>
          <a:ln w="0">
            <a:noFill/>
          </a:ln>
        </p:spPr>
        <p:txBody>
          <a:bodyPr>
            <a:noAutofit/>
          </a:bodyPr>
          <a:lstStyle/>
          <a:p>
            <a:pPr>
              <a:defRPr sz="2175" b="1">
                <a:solidFill>
                  <a:srgbClr val="2DD4BF"/>
                </a:solidFill>
                <a:latin typeface="DejaVu Sans"/>
                <a:ea typeface="DejaVu Sans"/>
                <a:cs typeface="DejaVu Sans"/>
              </a:defRPr>
            </a:pPr>
            <a:r>
              <a:rPr sz="2175" b="1">
                <a:solidFill>
                  <a:srgbClr val="2DD4BF"/>
                </a:solidFill>
                <a:latin typeface="DejaVu Sans"/>
                <a:ea typeface="DejaVu Sans"/>
                <a:cs typeface="DejaVu Sans"/>
              </a:rPr>
              <a:t>Both accuracy comparisons: p &lt; 0.01</a:t>
            </a:r>
          </a:p>
        </p:txBody>
      </p:sp>
      <p:sp>
        <p:nvSpPr>
          <p:cNvPr id="8" name="Rectangle 7">
            <a:extLst>
              <a:ext uri="{FF2B5EF4-FFF2-40B4-BE49-F238E27FC236}">
                <a16:creationId xmlns:a16="http://schemas.microsoft.com/office/drawing/2014/main" id="{CD016C73-4E18-46FA-B6A9-62EE71568FBB}"/>
              </a:ext>
            </a:extLst>
          </p:cNvPr>
          <p:cNvSpPr>
            <a:spLocks noGrp="1"/>
          </p:cNvSpPr>
          <p:nvPr/>
        </p:nvSpPr>
        <p:spPr>
          <a:xfrm>
            <a:off x="609600" y="4905375"/>
            <a:ext cx="10763250" cy="723900"/>
          </a:xfrm>
          <a:prstGeom prst="rect">
            <a:avLst/>
          </a:prstGeom>
          <a:noFill/>
          <a:ln w="0">
            <a:noFill/>
          </a:ln>
        </p:spPr>
        <p:txBody>
          <a:bodyPr>
            <a:noAutofit/>
          </a:bodyPr>
          <a:lstStyle/>
          <a:p>
            <a:pPr>
              <a:defRPr sz="1875" b="0">
                <a:solidFill>
                  <a:srgbClr val="EAF2F8"/>
                </a:solidFill>
                <a:latin typeface="DejaVu Sans"/>
                <a:ea typeface="DejaVu Sans"/>
                <a:cs typeface="DejaVu Sans"/>
              </a:defRPr>
            </a:pPr>
            <a:r>
              <a:rPr sz="1875" b="0">
                <a:solidFill>
                  <a:srgbClr val="EAF2F8"/>
                </a:solidFill>
                <a:latin typeface="DejaVu Sans"/>
                <a:ea typeface="DejaVu Sans"/>
                <a:cs typeface="DejaVu Sans"/>
              </a:rPr>
              <a:t>Kappa also improved significantly. Every participant could trigger the exoskeleton.</a:t>
            </a:r>
          </a:p>
        </p:txBody>
      </p:sp>
    </p:spTree>
    <p:extLst>
      <p:ext uri="{BB962C8B-B14F-4D97-AF65-F5344CB8AC3E}">
        <p14:creationId xmlns:p14="http://schemas.microsoft.com/office/powerpoint/2010/main" val="1723685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B48FDCA-0A79-4CB9-9106-510303F2D584}"/>
              </a:ext>
            </a:extLst>
          </p:cNvPr>
          <p:cNvSpPr>
            <a:spLocks noGrp="1"/>
          </p:cNvSpPr>
          <p:nvPr/>
        </p:nvSpPr>
        <p:spPr>
          <a:xfrm>
            <a:off x="609600" y="400050"/>
            <a:ext cx="10477500" cy="228600"/>
          </a:xfrm>
          <a:prstGeom prst="rect">
            <a:avLst/>
          </a:prstGeom>
          <a:noFill/>
          <a:ln w="0">
            <a:noFill/>
          </a:ln>
        </p:spPr>
        <p:txBody>
          <a:bodyPr>
            <a:noAutofit/>
          </a:bodyPr>
          <a:lstStyle/>
          <a:p>
            <a:pPr>
              <a:defRPr sz="1300" b="1">
                <a:solidFill>
                  <a:srgbClr val="2DD4BF"/>
                </a:solidFill>
                <a:latin typeface="DejaVu Sans"/>
                <a:ea typeface="DejaVu Sans"/>
                <a:cs typeface="DejaVu Sans"/>
              </a:defRPr>
            </a:pPr>
            <a:r>
              <a:rPr sz="1300" b="1">
                <a:solidFill>
                  <a:srgbClr val="2DD4BF"/>
                </a:solidFill>
                <a:latin typeface="DejaVu Sans"/>
                <a:ea typeface="DejaVu Sans"/>
                <a:cs typeface="DejaVu Sans"/>
              </a:rPr>
              <a:t>DETECTOR EVIDENCE</a:t>
            </a:r>
          </a:p>
        </p:txBody>
      </p:sp>
      <p:sp>
        <p:nvSpPr>
          <p:cNvPr id="2" name="Rectangle 1">
            <a:extLst>
              <a:ext uri="{FF2B5EF4-FFF2-40B4-BE49-F238E27FC236}">
                <a16:creationId xmlns:a16="http://schemas.microsoft.com/office/drawing/2014/main" id="{749077A3-3187-47DB-AB86-250128C45F5F}"/>
              </a:ext>
            </a:extLst>
          </p:cNvPr>
          <p:cNvSpPr>
            <a:spLocks noGrp="1"/>
          </p:cNvSpPr>
          <p:nvPr/>
        </p:nvSpPr>
        <p:spPr>
          <a:xfrm>
            <a:off x="609600" y="685800"/>
            <a:ext cx="10953750" cy="609600"/>
          </a:xfrm>
          <a:prstGeom prst="rect">
            <a:avLst/>
          </a:prstGeom>
          <a:noFill/>
          <a:ln w="0">
            <a:noFill/>
          </a:ln>
        </p:spPr>
        <p:txBody>
          <a:bodyPr>
            <a:noAutofit/>
          </a:bodyPr>
          <a:lstStyle/>
          <a:p>
            <a:pPr>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Stage-II validation reduced retraining triggers</a:t>
            </a:r>
          </a:p>
        </p:txBody>
      </p:sp>
      <p:sp>
        <p:nvSpPr>
          <p:cNvPr id="3" name="Rectangle 2">
            <a:extLst>
              <a:ext uri="{FF2B5EF4-FFF2-40B4-BE49-F238E27FC236}">
                <a16:creationId xmlns:a16="http://schemas.microsoft.com/office/drawing/2014/main" id="{217C6558-ABBB-4B58-A4D9-039BF6923D3A}"/>
              </a:ext>
            </a:extLst>
          </p:cNvPr>
          <p:cNvSpPr>
            <a:spLocks noGrp="1"/>
          </p:cNvSpPr>
          <p:nvPr/>
        </p:nvSpPr>
        <p:spPr>
          <a:xfrm>
            <a:off x="609600" y="6010275"/>
            <a:ext cx="10858500" cy="419100"/>
          </a:xfrm>
          <a:prstGeom prst="rect">
            <a:avLst/>
          </a:prstGeom>
          <a:noFill/>
          <a:ln w="0">
            <a:noFill/>
          </a:ln>
        </p:spPr>
        <p:txBody>
          <a:bodyPr>
            <a:noAutofit/>
          </a:bodyPr>
          <a:lstStyle/>
          <a:p>
            <a:pPr>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Source: §II.E.4, p. 1075, Eqs. (10)–(11) · §III, p. 1077, Tables VI–VIII and Fig. 7</a:t>
            </a:r>
          </a:p>
        </p:txBody>
      </p:sp>
      <p:sp>
        <p:nvSpPr>
          <p:cNvPr id="4" name="Rectangle 3">
            <a:extLst>
              <a:ext uri="{FF2B5EF4-FFF2-40B4-BE49-F238E27FC236}">
                <a16:creationId xmlns:a16="http://schemas.microsoft.com/office/drawing/2014/main" id="{687BB4F1-12DE-4A5B-9B7E-A2698DAC5ACA}"/>
              </a:ext>
            </a:extLst>
          </p:cNvPr>
          <p:cNvSpPr>
            <a:spLocks noGrp="1"/>
          </p:cNvSpPr>
          <p:nvPr/>
        </p:nvSpPr>
        <p:spPr>
          <a:xfrm>
            <a:off x="609600" y="6515100"/>
            <a:ext cx="57150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hlin863/ewma_covariate_shift_demo</a:t>
            </a:r>
          </a:p>
        </p:txBody>
      </p:sp>
      <p:sp>
        <p:nvSpPr>
          <p:cNvPr id="5" name="Rectangle 4">
            <a:extLst>
              <a:ext uri="{FF2B5EF4-FFF2-40B4-BE49-F238E27FC236}">
                <a16:creationId xmlns:a16="http://schemas.microsoft.com/office/drawing/2014/main" id="{7AA0F6E8-2029-4720-9BDA-CE0D8FC2EDCD}"/>
              </a:ext>
            </a:extLst>
          </p:cNvPr>
          <p:cNvSpPr>
            <a:spLocks noGrp="1"/>
          </p:cNvSpPr>
          <p:nvPr/>
        </p:nvSpPr>
        <p:spPr>
          <a:xfrm>
            <a:off x="11049000" y="6515100"/>
            <a:ext cx="5334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06</a:t>
            </a:r>
          </a:p>
        </p:txBody>
      </p:sp>
      <p:graphicFrame>
        <p:nvGraphicFramePr>
          <p:cNvPr id="15" name="Table 14"/>
          <p:cNvGraphicFramePr/>
          <p:nvPr/>
        </p:nvGraphicFramePr>
        <p:xfrm>
          <a:off x="609600" y="1809750"/>
          <a:ext cx="10972800" cy="2190750"/>
        </p:xfrm>
        <a:graphic>
          <a:graphicData uri="http://schemas.openxmlformats.org/drawingml/2006/table">
            <a:tbl>
              <a:tblPr/>
              <a:tblGrid>
                <a:gridCol w="3429000">
                  <a:extLst>
                    <a:ext uri="{9D8B030D-6E8A-4147-A177-3AD203B41FA5}">
                      <a16:colId xmlns:a16="http://schemas.microsoft.com/office/drawing/2014/main" val="20000"/>
                    </a:ext>
                  </a:extLst>
                </a:gridCol>
                <a:gridCol w="3771900">
                  <a:extLst>
                    <a:ext uri="{9D8B030D-6E8A-4147-A177-3AD203B41FA5}">
                      <a16:colId xmlns:a16="http://schemas.microsoft.com/office/drawing/2014/main" val="20001"/>
                    </a:ext>
                  </a:extLst>
                </a:gridCol>
                <a:gridCol w="3771900">
                  <a:extLst>
                    <a:ext uri="{9D8B030D-6E8A-4147-A177-3AD203B41FA5}">
                      <a16:colId xmlns:a16="http://schemas.microsoft.com/office/drawing/2014/main" val="20002"/>
                    </a:ext>
                  </a:extLst>
                </a:gridCol>
              </a:tblGrid>
              <a:tr h="730250">
                <a:tc>
                  <a:txBody>
                    <a:bodyPr/>
                    <a:lstStyle/>
                    <a:p>
                      <a:r>
                        <a:rPr sz="1725" b="1">
                          <a:solidFill>
                            <a:srgbClr val="2DD4BF"/>
                          </a:solidFill>
                          <a:latin typeface="DejaVu Sans"/>
                          <a:ea typeface="DejaVu Sans"/>
                          <a:cs typeface="DejaVu Sans"/>
                        </a:rPr>
                        <a:t>Group</a:t>
                      </a:r>
                    </a:p>
                  </a:txBody>
                  <a:tcPr>
                    <a:solidFill>
                      <a:srgbClr val="132436"/>
                    </a:solidFill>
                  </a:tcPr>
                </a:tc>
                <a:tc>
                  <a:txBody>
                    <a:bodyPr/>
                    <a:lstStyle/>
                    <a:p>
                      <a:r>
                        <a:rPr sz="1725" b="1">
                          <a:solidFill>
                            <a:srgbClr val="2DD4BF"/>
                          </a:solidFill>
                          <a:latin typeface="DejaVu Sans"/>
                          <a:ea typeface="DejaVu Sans"/>
                          <a:cs typeface="DejaVu Sans"/>
                        </a:rPr>
                        <a:t>Stage-I CSW</a:t>
                      </a:r>
                    </a:p>
                  </a:txBody>
                  <a:tcPr>
                    <a:solidFill>
                      <a:srgbClr val="132436"/>
                    </a:solidFill>
                  </a:tcPr>
                </a:tc>
                <a:tc>
                  <a:txBody>
                    <a:bodyPr/>
                    <a:lstStyle/>
                    <a:p>
                      <a:r>
                        <a:rPr sz="1725" b="1">
                          <a:solidFill>
                            <a:srgbClr val="2DD4BF"/>
                          </a:solidFill>
                          <a:latin typeface="DejaVu Sans"/>
                          <a:ea typeface="DejaVu Sans"/>
                          <a:cs typeface="DejaVu Sans"/>
                        </a:rPr>
                        <a:t>Stage-II CSV</a:t>
                      </a:r>
                    </a:p>
                  </a:txBody>
                  <a:tcPr>
                    <a:solidFill>
                      <a:srgbClr val="132436"/>
                    </a:solidFill>
                  </a:tcPr>
                </a:tc>
                <a:extLst>
                  <a:ext uri="{0D108BD9-81ED-4DB2-BD59-A6C34878D82A}">
                    <a16:rowId xmlns:a16="http://schemas.microsoft.com/office/drawing/2014/main" val="10000"/>
                  </a:ext>
                </a:extLst>
              </a:tr>
              <a:tr h="730250">
                <a:tc>
                  <a:txBody>
                    <a:bodyPr/>
                    <a:lstStyle/>
                    <a:p>
                      <a:r>
                        <a:rPr sz="1725" b="0">
                          <a:solidFill>
                            <a:srgbClr val="EAF2F8"/>
                          </a:solidFill>
                          <a:latin typeface="DejaVu Sans"/>
                          <a:ea typeface="DejaVu Sans"/>
                          <a:cs typeface="DejaVu Sans"/>
                        </a:rPr>
                        <a:t>Healthy</a:t>
                      </a:r>
                    </a:p>
                  </a:txBody>
                  <a:tcPr>
                    <a:solidFill>
                      <a:srgbClr val="09121F"/>
                    </a:solidFill>
                  </a:tcPr>
                </a:tc>
                <a:tc>
                  <a:txBody>
                    <a:bodyPr/>
                    <a:lstStyle/>
                    <a:p>
                      <a:r>
                        <a:rPr sz="1725" b="0">
                          <a:solidFill>
                            <a:srgbClr val="EAF2F8"/>
                          </a:solidFill>
                          <a:latin typeface="DejaVu Sans"/>
                          <a:ea typeface="DejaVu Sans"/>
                          <a:cs typeface="DejaVu Sans"/>
                        </a:rPr>
                        <a:t>15.75 ± 5.65%</a:t>
                      </a:r>
                    </a:p>
                  </a:txBody>
                  <a:tcPr>
                    <a:solidFill>
                      <a:srgbClr val="09121F"/>
                    </a:solidFill>
                  </a:tcPr>
                </a:tc>
                <a:tc>
                  <a:txBody>
                    <a:bodyPr/>
                    <a:lstStyle/>
                    <a:p>
                      <a:r>
                        <a:rPr sz="1725" b="0">
                          <a:solidFill>
                            <a:srgbClr val="EAF2F8"/>
                          </a:solidFill>
                          <a:latin typeface="DejaVu Sans"/>
                          <a:ea typeface="DejaVu Sans"/>
                          <a:cs typeface="DejaVu Sans"/>
                        </a:rPr>
                        <a:t>9.25 ± 3.54%</a:t>
                      </a:r>
                    </a:p>
                  </a:txBody>
                  <a:tcPr>
                    <a:solidFill>
                      <a:srgbClr val="09121F"/>
                    </a:solidFill>
                  </a:tcPr>
                </a:tc>
                <a:extLst>
                  <a:ext uri="{0D108BD9-81ED-4DB2-BD59-A6C34878D82A}">
                    <a16:rowId xmlns:a16="http://schemas.microsoft.com/office/drawing/2014/main" val="10001"/>
                  </a:ext>
                </a:extLst>
              </a:tr>
              <a:tr h="730250">
                <a:tc>
                  <a:txBody>
                    <a:bodyPr/>
                    <a:lstStyle/>
                    <a:p>
                      <a:r>
                        <a:rPr sz="1725" b="0">
                          <a:solidFill>
                            <a:srgbClr val="EAF2F8"/>
                          </a:solidFill>
                          <a:latin typeface="DejaVu Sans"/>
                          <a:ea typeface="DejaVu Sans"/>
                          <a:cs typeface="DejaVu Sans"/>
                        </a:rPr>
                        <a:t>Stroke</a:t>
                      </a:r>
                    </a:p>
                  </a:txBody>
                  <a:tcPr>
                    <a:solidFill>
                      <a:srgbClr val="09121F"/>
                    </a:solidFill>
                  </a:tcPr>
                </a:tc>
                <a:tc>
                  <a:txBody>
                    <a:bodyPr/>
                    <a:lstStyle/>
                    <a:p>
                      <a:r>
                        <a:rPr sz="1725" b="0">
                          <a:solidFill>
                            <a:srgbClr val="EAF2F8"/>
                          </a:solidFill>
                          <a:latin typeface="DejaVu Sans"/>
                          <a:ea typeface="DejaVu Sans"/>
                          <a:cs typeface="DejaVu Sans"/>
                        </a:rPr>
                        <a:t>16.75 ± 2.89%</a:t>
                      </a:r>
                    </a:p>
                  </a:txBody>
                  <a:tcPr>
                    <a:solidFill>
                      <a:srgbClr val="09121F"/>
                    </a:solidFill>
                  </a:tcPr>
                </a:tc>
                <a:tc>
                  <a:txBody>
                    <a:bodyPr/>
                    <a:lstStyle/>
                    <a:p>
                      <a:r>
                        <a:rPr sz="1725" b="0">
                          <a:solidFill>
                            <a:srgbClr val="EAF2F8"/>
                          </a:solidFill>
                          <a:latin typeface="DejaVu Sans"/>
                          <a:ea typeface="DejaVu Sans"/>
                          <a:cs typeface="DejaVu Sans"/>
                        </a:rPr>
                        <a:t>9.00 ± 2.10%</a:t>
                      </a:r>
                    </a:p>
                  </a:txBody>
                  <a:tcPr>
                    <a:solidFill>
                      <a:srgbClr val="09121F"/>
                    </a:solidFill>
                  </a:tcPr>
                </a:tc>
                <a:extLst>
                  <a:ext uri="{0D108BD9-81ED-4DB2-BD59-A6C34878D82A}">
                    <a16:rowId xmlns:a16="http://schemas.microsoft.com/office/drawing/2014/main" val="10002"/>
                  </a:ext>
                </a:extLst>
              </a:tr>
            </a:tbl>
          </a:graphicData>
        </a:graphic>
      </p:graphicFrame>
      <p:sp>
        <p:nvSpPr>
          <p:cNvPr id="7" name="Rectangle 6">
            <a:extLst>
              <a:ext uri="{FF2B5EF4-FFF2-40B4-BE49-F238E27FC236}">
                <a16:creationId xmlns:a16="http://schemas.microsoft.com/office/drawing/2014/main" id="{3B74377A-D001-4C2B-9C5B-BE906B684D55}"/>
              </a:ext>
            </a:extLst>
          </p:cNvPr>
          <p:cNvSpPr>
            <a:spLocks noGrp="1"/>
          </p:cNvSpPr>
          <p:nvPr/>
        </p:nvSpPr>
        <p:spPr>
          <a:xfrm>
            <a:off x="609600" y="4210050"/>
            <a:ext cx="10668000" cy="409575"/>
          </a:xfrm>
          <a:prstGeom prst="rect">
            <a:avLst/>
          </a:prstGeom>
          <a:noFill/>
          <a:ln w="0">
            <a:noFill/>
          </a:ln>
        </p:spPr>
        <p:txBody>
          <a:bodyPr>
            <a:noAutofit/>
          </a:bodyPr>
          <a:lstStyle/>
          <a:p>
            <a:pPr>
              <a:defRPr sz="1950" b="1">
                <a:solidFill>
                  <a:srgbClr val="2DD4BF"/>
                </a:solidFill>
                <a:latin typeface="DejaVu Sans"/>
                <a:ea typeface="DejaVu Sans"/>
                <a:cs typeface="DejaVu Sans"/>
              </a:defRPr>
            </a:pPr>
            <a:r>
              <a:rPr sz="1950" b="1">
                <a:solidFill>
                  <a:srgbClr val="2DD4BF"/>
                </a:solidFill>
                <a:latin typeface="DejaVu Sans"/>
                <a:ea typeface="DejaVu Sans"/>
                <a:cs typeface="DejaVu Sans"/>
              </a:rPr>
              <a:t>Rates are percentages of trials. Both reductions: p &lt; 0.01.</a:t>
            </a:r>
          </a:p>
        </p:txBody>
      </p:sp>
      <p:sp>
        <p:nvSpPr>
          <p:cNvPr id="8" name="Rectangle 7">
            <a:extLst>
              <a:ext uri="{FF2B5EF4-FFF2-40B4-BE49-F238E27FC236}">
                <a16:creationId xmlns:a16="http://schemas.microsoft.com/office/drawing/2014/main" id="{C3255682-1A7A-4207-9B3A-6AF81DEF0384}"/>
              </a:ext>
            </a:extLst>
          </p:cNvPr>
          <p:cNvSpPr>
            <a:spLocks noGrp="1"/>
          </p:cNvSpPr>
          <p:nvPr/>
        </p:nvSpPr>
        <p:spPr>
          <a:xfrm>
            <a:off x="609600" y="4752975"/>
            <a:ext cx="10858500" cy="457200"/>
          </a:xfrm>
          <a:prstGeom prst="rect">
            <a:avLst/>
          </a:prstGeom>
          <a:noFill/>
          <a:ln w="0">
            <a:noFill/>
          </a:ln>
        </p:spPr>
        <p:txBody>
          <a:bodyPr>
            <a:noAutofit/>
          </a:bodyPr>
          <a:lstStyle/>
          <a:p>
            <a:pPr>
              <a:defRPr sz="1875" b="0">
                <a:solidFill>
                  <a:srgbClr val="EAF2F8"/>
                </a:solidFill>
                <a:latin typeface="DejaVu Sans"/>
                <a:ea typeface="DejaVu Sans"/>
                <a:cs typeface="DejaVu Sans"/>
              </a:defRPr>
            </a:pPr>
            <a:r>
              <a:rPr sz="1875" b="0">
                <a:solidFill>
                  <a:srgbClr val="EAF2F8"/>
                </a:solidFill>
                <a:latin typeface="DejaVu Sans"/>
                <a:ea typeface="DejaVu Sans"/>
                <a:cs typeface="DejaVu Sans"/>
              </a:rPr>
              <a:t>Validated-shift rate and accuracy gain correlate: r = 0.853, p &lt; 0.01.</a:t>
            </a:r>
          </a:p>
        </p:txBody>
      </p:sp>
      <p:sp>
        <p:nvSpPr>
          <p:cNvPr id="9" name="Rectangle 8">
            <a:extLst>
              <a:ext uri="{FF2B5EF4-FFF2-40B4-BE49-F238E27FC236}">
                <a16:creationId xmlns:a16="http://schemas.microsoft.com/office/drawing/2014/main" id="{B8244E5D-66D8-42B5-AA1A-7F84AEB2BEEF}"/>
              </a:ext>
            </a:extLst>
          </p:cNvPr>
          <p:cNvSpPr>
            <a:spLocks noGrp="1"/>
          </p:cNvSpPr>
          <p:nvPr/>
        </p:nvSpPr>
        <p:spPr>
          <a:xfrm>
            <a:off x="609600" y="5314950"/>
            <a:ext cx="10858500" cy="533400"/>
          </a:xfrm>
          <a:prstGeom prst="rect">
            <a:avLst/>
          </a:prstGeom>
          <a:noFill/>
          <a:ln w="0">
            <a:noFill/>
          </a:ln>
        </p:spPr>
        <p:txBody>
          <a:bodyPr>
            <a:noAutofit/>
          </a:bodyPr>
          <a:lstStyle/>
          <a:p>
            <a:pPr>
              <a:defRPr sz="1800" b="0">
                <a:solidFill>
                  <a:srgbClr val="F5B942"/>
                </a:solidFill>
                <a:latin typeface="DejaVu Sans"/>
                <a:ea typeface="DejaVu Sans"/>
                <a:cs typeface="DejaVu Sans"/>
              </a:defRPr>
            </a:pPr>
            <a:r>
              <a:rPr sz="1800" b="0">
                <a:solidFill>
                  <a:srgbClr val="F5B942"/>
                </a:solidFill>
                <a:latin typeface="DejaVu Sans"/>
                <a:ea typeface="DejaVu Sans"/>
                <a:cs typeface="DejaVu Sans"/>
              </a:rPr>
              <a:t>Interpretation: fewer retraining triggers do not independently quantify false alarms.</a:t>
            </a:r>
          </a:p>
        </p:txBody>
      </p:sp>
    </p:spTree>
    <p:extLst>
      <p:ext uri="{BB962C8B-B14F-4D97-AF65-F5344CB8AC3E}">
        <p14:creationId xmlns:p14="http://schemas.microsoft.com/office/powerpoint/2010/main" val="670811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63FB1BD-E5D2-40CE-8730-FFB82FA8D881}"/>
              </a:ext>
            </a:extLst>
          </p:cNvPr>
          <p:cNvSpPr>
            <a:spLocks noGrp="1"/>
          </p:cNvSpPr>
          <p:nvPr/>
        </p:nvSpPr>
        <p:spPr>
          <a:xfrm>
            <a:off x="609600" y="400050"/>
            <a:ext cx="10477500" cy="228600"/>
          </a:xfrm>
          <a:prstGeom prst="rect">
            <a:avLst/>
          </a:prstGeom>
          <a:noFill/>
          <a:ln w="0">
            <a:noFill/>
          </a:ln>
        </p:spPr>
        <p:txBody>
          <a:bodyPr>
            <a:noAutofit/>
          </a:bodyPr>
          <a:lstStyle/>
          <a:p>
            <a:pPr>
              <a:defRPr sz="1300" b="1">
                <a:solidFill>
                  <a:srgbClr val="2DD4BF"/>
                </a:solidFill>
                <a:latin typeface="DejaVu Sans"/>
                <a:ea typeface="DejaVu Sans"/>
                <a:cs typeface="DejaVu Sans"/>
              </a:defRPr>
            </a:pPr>
            <a:r>
              <a:rPr sz="1300" b="1">
                <a:solidFill>
                  <a:srgbClr val="2DD4BF"/>
                </a:solidFill>
                <a:latin typeface="DejaVu Sans"/>
                <a:ea typeface="DejaVu Sans"/>
                <a:cs typeface="DejaVu Sans"/>
              </a:rPr>
              <a:t>AUTHOR-STATED LIMITATIONS</a:t>
            </a:r>
          </a:p>
        </p:txBody>
      </p:sp>
      <p:sp>
        <p:nvSpPr>
          <p:cNvPr id="2" name="Rectangle 1">
            <a:extLst>
              <a:ext uri="{FF2B5EF4-FFF2-40B4-BE49-F238E27FC236}">
                <a16:creationId xmlns:a16="http://schemas.microsoft.com/office/drawing/2014/main" id="{D6FD115A-7BA8-469C-A5E7-AABA5D373434}"/>
              </a:ext>
            </a:extLst>
          </p:cNvPr>
          <p:cNvSpPr>
            <a:spLocks noGrp="1"/>
          </p:cNvSpPr>
          <p:nvPr/>
        </p:nvSpPr>
        <p:spPr>
          <a:xfrm>
            <a:off x="609600" y="685800"/>
            <a:ext cx="10953750" cy="609600"/>
          </a:xfrm>
          <a:prstGeom prst="rect">
            <a:avLst/>
          </a:prstGeom>
          <a:noFill/>
          <a:ln w="0">
            <a:noFill/>
          </a:ln>
        </p:spPr>
        <p:txBody>
          <a:bodyPr>
            <a:noAutofit/>
          </a:bodyPr>
          <a:lstStyle/>
          <a:p>
            <a:pPr>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Limitations acknowledged by the authors</a:t>
            </a:r>
          </a:p>
        </p:txBody>
      </p:sp>
      <p:sp>
        <p:nvSpPr>
          <p:cNvPr id="3" name="Rectangle 2">
            <a:extLst>
              <a:ext uri="{FF2B5EF4-FFF2-40B4-BE49-F238E27FC236}">
                <a16:creationId xmlns:a16="http://schemas.microsoft.com/office/drawing/2014/main" id="{7535EA30-56E4-444B-8215-98A0138FB5AE}"/>
              </a:ext>
            </a:extLst>
          </p:cNvPr>
          <p:cNvSpPr>
            <a:spLocks noGrp="1"/>
          </p:cNvSpPr>
          <p:nvPr/>
        </p:nvSpPr>
        <p:spPr>
          <a:xfrm>
            <a:off x="609600" y="6010275"/>
            <a:ext cx="10858500" cy="419100"/>
          </a:xfrm>
          <a:prstGeom prst="rect">
            <a:avLst/>
          </a:prstGeom>
          <a:noFill/>
          <a:ln w="0">
            <a:noFill/>
          </a:ln>
        </p:spPr>
        <p:txBody>
          <a:bodyPr>
            <a:noAutofit/>
          </a:bodyPr>
          <a:lstStyle/>
          <a:p>
            <a:pPr>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Source: §IV, p. 1078 (scope, frequency bands, comparator, noise) · pp. 1078–1079 (control and labels)</a:t>
            </a:r>
          </a:p>
        </p:txBody>
      </p:sp>
      <p:sp>
        <p:nvSpPr>
          <p:cNvPr id="4" name="Rectangle 3">
            <a:extLst>
              <a:ext uri="{FF2B5EF4-FFF2-40B4-BE49-F238E27FC236}">
                <a16:creationId xmlns:a16="http://schemas.microsoft.com/office/drawing/2014/main" id="{8BF9EDD2-35B9-4F61-93A4-BE69572B11E3}"/>
              </a:ext>
            </a:extLst>
          </p:cNvPr>
          <p:cNvSpPr>
            <a:spLocks noGrp="1"/>
          </p:cNvSpPr>
          <p:nvPr/>
        </p:nvSpPr>
        <p:spPr>
          <a:xfrm>
            <a:off x="609600" y="6515100"/>
            <a:ext cx="57150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hlin863/ewma_covariate_shift_demo</a:t>
            </a:r>
          </a:p>
        </p:txBody>
      </p:sp>
      <p:sp>
        <p:nvSpPr>
          <p:cNvPr id="5" name="Rectangle 4">
            <a:extLst>
              <a:ext uri="{FF2B5EF4-FFF2-40B4-BE49-F238E27FC236}">
                <a16:creationId xmlns:a16="http://schemas.microsoft.com/office/drawing/2014/main" id="{ECF54E7D-174E-4D5D-9981-3A2A33CEB1BD}"/>
              </a:ext>
            </a:extLst>
          </p:cNvPr>
          <p:cNvSpPr>
            <a:spLocks noGrp="1"/>
          </p:cNvSpPr>
          <p:nvPr/>
        </p:nvSpPr>
        <p:spPr>
          <a:xfrm>
            <a:off x="11049000" y="6515100"/>
            <a:ext cx="5334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07</a:t>
            </a:r>
          </a:p>
        </p:txBody>
      </p:sp>
      <p:sp>
        <p:nvSpPr>
          <p:cNvPr id="6" name="Rectangle 5">
            <a:extLst>
              <a:ext uri="{FF2B5EF4-FFF2-40B4-BE49-F238E27FC236}">
                <a16:creationId xmlns:a16="http://schemas.microsoft.com/office/drawing/2014/main" id="{A5240896-1CF8-44D3-9017-94C250BD6764}"/>
              </a:ext>
            </a:extLst>
          </p:cNvPr>
          <p:cNvSpPr>
            <a:spLocks noGrp="1"/>
          </p:cNvSpPr>
          <p:nvPr/>
        </p:nvSpPr>
        <p:spPr>
          <a:xfrm>
            <a:off x="609600" y="1657350"/>
            <a:ext cx="5143500" cy="361950"/>
          </a:xfrm>
          <a:prstGeom prst="rect">
            <a:avLst/>
          </a:prstGeom>
          <a:noFill/>
          <a:ln w="0">
            <a:noFill/>
          </a:ln>
        </p:spPr>
        <p:txBody>
          <a:bodyPr>
            <a:noAutofit/>
          </a:bodyPr>
          <a:lstStyle/>
          <a:p>
            <a:pPr>
              <a:defRPr sz="2025" b="1">
                <a:solidFill>
                  <a:srgbClr val="4EA1FF"/>
                </a:solidFill>
                <a:latin typeface="DejaVu Sans"/>
                <a:ea typeface="DejaVu Sans"/>
                <a:cs typeface="DejaVu Sans"/>
              </a:defRPr>
            </a:pPr>
            <a:r>
              <a:rPr sz="2025" b="1">
                <a:solidFill>
                  <a:srgbClr val="4EA1FF"/>
                </a:solidFill>
                <a:latin typeface="DejaVu Sans"/>
                <a:ea typeface="DejaVu Sans"/>
                <a:cs typeface="DejaVu Sans"/>
              </a:rPr>
              <a:t>Representation and comparison</a:t>
            </a:r>
          </a:p>
        </p:txBody>
      </p:sp>
      <p:sp>
        <p:nvSpPr>
          <p:cNvPr id="7" name="Rectangle 6">
            <a:extLst>
              <a:ext uri="{FF2B5EF4-FFF2-40B4-BE49-F238E27FC236}">
                <a16:creationId xmlns:a16="http://schemas.microsoft.com/office/drawing/2014/main" id="{7AA359AB-6EC1-4B39-9569-9807102F2F82}"/>
              </a:ext>
            </a:extLst>
          </p:cNvPr>
          <p:cNvSpPr>
            <a:spLocks noGrp="1"/>
          </p:cNvSpPr>
          <p:nvPr/>
        </p:nvSpPr>
        <p:spPr>
          <a:xfrm>
            <a:off x="609600" y="2152650"/>
            <a:ext cx="5143500"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Binary left/right MI classification</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Fixed μ/β bands for all participants</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No direct test against other adaptive BCIs</a:t>
            </a:r>
          </a:p>
        </p:txBody>
      </p:sp>
      <p:sp>
        <p:nvSpPr>
          <p:cNvPr id="8" name="Rectangle 7">
            <a:extLst>
              <a:ext uri="{FF2B5EF4-FFF2-40B4-BE49-F238E27FC236}">
                <a16:creationId xmlns:a16="http://schemas.microsoft.com/office/drawing/2014/main" id="{928BE198-6215-4AD5-8BCC-F005E73162EC}"/>
              </a:ext>
            </a:extLst>
          </p:cNvPr>
          <p:cNvSpPr>
            <a:spLocks noGrp="1"/>
          </p:cNvSpPr>
          <p:nvPr/>
        </p:nvSpPr>
        <p:spPr>
          <a:xfrm>
            <a:off x="6572250" y="1657350"/>
            <a:ext cx="4953000" cy="361950"/>
          </a:xfrm>
          <a:prstGeom prst="rect">
            <a:avLst/>
          </a:prstGeom>
          <a:noFill/>
          <a:ln w="0">
            <a:noFill/>
          </a:ln>
        </p:spPr>
        <p:txBody>
          <a:bodyPr>
            <a:noAutofit/>
          </a:bodyPr>
          <a:lstStyle/>
          <a:p>
            <a:pPr>
              <a:defRPr sz="2025" b="1">
                <a:solidFill>
                  <a:srgbClr val="2DD4BF"/>
                </a:solidFill>
                <a:latin typeface="DejaVu Sans"/>
                <a:ea typeface="DejaVu Sans"/>
                <a:cs typeface="DejaVu Sans"/>
              </a:defRPr>
            </a:pPr>
            <a:r>
              <a:rPr sz="2025" b="1">
                <a:solidFill>
                  <a:srgbClr val="2DD4BF"/>
                </a:solidFill>
                <a:latin typeface="DejaVu Sans"/>
                <a:ea typeface="DejaVu Sans"/>
                <a:cs typeface="DejaVu Sans"/>
              </a:rPr>
              <a:t>Labels and online control</a:t>
            </a:r>
          </a:p>
        </p:txBody>
      </p:sp>
      <p:sp>
        <p:nvSpPr>
          <p:cNvPr id="9" name="Rectangle 8">
            <a:extLst>
              <a:ext uri="{FF2B5EF4-FFF2-40B4-BE49-F238E27FC236}">
                <a16:creationId xmlns:a16="http://schemas.microsoft.com/office/drawing/2014/main" id="{1CDA3A94-A823-4FD3-85DD-52ACAD8F8826}"/>
              </a:ext>
            </a:extLst>
          </p:cNvPr>
          <p:cNvSpPr>
            <a:spLocks noGrp="1"/>
          </p:cNvSpPr>
          <p:nvPr/>
        </p:nvSpPr>
        <p:spPr>
          <a:xfrm>
            <a:off x="6572250" y="2152650"/>
            <a:ext cx="4953000"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Supervised adaptation assumes cue compliance</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Synchronous BCI, one feedback event per trial</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Continuous/asynchronous control remains future work</a:t>
            </a:r>
          </a:p>
        </p:txBody>
      </p:sp>
      <p:sp>
        <p:nvSpPr>
          <p:cNvPr id="10" name="Rectangle 9">
            <a:extLst>
              <a:ext uri="{FF2B5EF4-FFF2-40B4-BE49-F238E27FC236}">
                <a16:creationId xmlns:a16="http://schemas.microsoft.com/office/drawing/2014/main" id="{5B940A4A-6F2A-4251-998F-C35D3FF1AC62}"/>
              </a:ext>
            </a:extLst>
          </p:cNvPr>
          <p:cNvSpPr>
            <a:spLocks noGrp="1"/>
          </p:cNvSpPr>
          <p:nvPr/>
        </p:nvSpPr>
        <p:spPr>
          <a:xfrm>
            <a:off x="609600" y="4238625"/>
            <a:ext cx="10477500" cy="361950"/>
          </a:xfrm>
          <a:prstGeom prst="rect">
            <a:avLst/>
          </a:prstGeom>
          <a:noFill/>
          <a:ln w="0">
            <a:noFill/>
          </a:ln>
        </p:spPr>
        <p:txBody>
          <a:bodyPr>
            <a:noAutofit/>
          </a:bodyPr>
          <a:lstStyle/>
          <a:p>
            <a:pPr>
              <a:defRPr sz="2025" b="1">
                <a:solidFill>
                  <a:srgbClr val="F5B942"/>
                </a:solidFill>
                <a:latin typeface="DejaVu Sans"/>
                <a:ea typeface="DejaVu Sans"/>
                <a:cs typeface="DejaVu Sans"/>
              </a:defRPr>
            </a:pPr>
            <a:r>
              <a:rPr sz="2025" b="1">
                <a:solidFill>
                  <a:srgbClr val="F5B942"/>
                </a:solidFill>
                <a:latin typeface="DejaVu Sans"/>
                <a:ea typeface="DejaVu Sans"/>
                <a:cs typeface="DejaVu Sans"/>
              </a:rPr>
              <a:t>Artefacts and external noise</a:t>
            </a:r>
          </a:p>
        </p:txBody>
      </p:sp>
      <p:sp>
        <p:nvSpPr>
          <p:cNvPr id="11" name="Rectangle 10">
            <a:extLst>
              <a:ext uri="{FF2B5EF4-FFF2-40B4-BE49-F238E27FC236}">
                <a16:creationId xmlns:a16="http://schemas.microsoft.com/office/drawing/2014/main" id="{C3D649F0-40C5-4A90-8F50-A4C90C2C4C55}"/>
              </a:ext>
            </a:extLst>
          </p:cNvPr>
          <p:cNvSpPr>
            <a:spLocks noGrp="1"/>
          </p:cNvSpPr>
          <p:nvPr/>
        </p:nvSpPr>
        <p:spPr>
          <a:xfrm>
            <a:off x="609600" y="4762500"/>
            <a:ext cx="10477500" cy="857250"/>
          </a:xfrm>
          <a:prstGeom prst="rect">
            <a:avLst/>
          </a:prstGeom>
          <a:noFill/>
          <a:ln w="0">
            <a:noFill/>
          </a:ln>
        </p:spPr>
        <p:txBody>
          <a:bodyPr>
            <a:noAutofit/>
          </a:bodyPr>
          <a:lstStyle/>
          <a:p>
            <a:pPr>
              <a:defRPr sz="1950" b="0">
                <a:solidFill>
                  <a:srgbClr val="EAF2F8"/>
                </a:solidFill>
                <a:latin typeface="DejaVu Sans"/>
                <a:ea typeface="DejaVu Sans"/>
                <a:cs typeface="DejaVu Sans"/>
              </a:defRPr>
            </a:pPr>
            <a:r>
              <a:rPr sz="1950" b="0">
                <a:solidFill>
                  <a:srgbClr val="EAF2F8"/>
                </a:solidFill>
                <a:latin typeface="DejaVu Sans"/>
                <a:ea typeface="DejaVu Sans"/>
                <a:cs typeface="DejaVu Sans"/>
              </a:rPr>
              <a:t>Online preprocessing adds latency. The authors acknowledge that contaminated EEG can reduce decoding accuracy.</a:t>
            </a:r>
          </a:p>
        </p:txBody>
      </p:sp>
    </p:spTree>
    <p:extLst>
      <p:ext uri="{BB962C8B-B14F-4D97-AF65-F5344CB8AC3E}">
        <p14:creationId xmlns:p14="http://schemas.microsoft.com/office/powerpoint/2010/main" val="897777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97BCF06-50E8-4C95-A638-034D85C0C5F7}"/>
              </a:ext>
            </a:extLst>
          </p:cNvPr>
          <p:cNvSpPr>
            <a:spLocks noGrp="1"/>
          </p:cNvSpPr>
          <p:nvPr/>
        </p:nvSpPr>
        <p:spPr>
          <a:xfrm>
            <a:off x="609600" y="400050"/>
            <a:ext cx="10477500" cy="228600"/>
          </a:xfrm>
          <a:prstGeom prst="rect">
            <a:avLst/>
          </a:prstGeom>
          <a:noFill/>
          <a:ln w="0">
            <a:noFill/>
          </a:ln>
        </p:spPr>
        <p:txBody>
          <a:bodyPr>
            <a:noAutofit/>
          </a:bodyPr>
          <a:lstStyle/>
          <a:p>
            <a:pPr>
              <a:defRPr sz="1300" b="1">
                <a:solidFill>
                  <a:srgbClr val="2DD4BF"/>
                </a:solidFill>
                <a:latin typeface="DejaVu Sans"/>
                <a:ea typeface="DejaVu Sans"/>
                <a:cs typeface="DejaVu Sans"/>
              </a:defRPr>
            </a:pPr>
            <a:r>
              <a:rPr sz="1300" b="1">
                <a:solidFill>
                  <a:srgbClr val="2DD4BF"/>
                </a:solidFill>
                <a:latin typeface="DejaVu Sans"/>
                <a:ea typeface="DejaVu Sans"/>
                <a:cs typeface="DejaVu Sans"/>
              </a:rPr>
              <a:t>DESIGN-DERIVED LIMITATIONS</a:t>
            </a:r>
          </a:p>
        </p:txBody>
      </p:sp>
      <p:sp>
        <p:nvSpPr>
          <p:cNvPr id="2" name="Rectangle 1">
            <a:extLst>
              <a:ext uri="{FF2B5EF4-FFF2-40B4-BE49-F238E27FC236}">
                <a16:creationId xmlns:a16="http://schemas.microsoft.com/office/drawing/2014/main" id="{0CFC8749-33CC-4D70-A889-2F6DBE34AD22}"/>
              </a:ext>
            </a:extLst>
          </p:cNvPr>
          <p:cNvSpPr>
            <a:spLocks noGrp="1"/>
          </p:cNvSpPr>
          <p:nvPr/>
        </p:nvSpPr>
        <p:spPr>
          <a:xfrm>
            <a:off x="609600" y="685800"/>
            <a:ext cx="10953750" cy="609600"/>
          </a:xfrm>
          <a:prstGeom prst="rect">
            <a:avLst/>
          </a:prstGeom>
          <a:noFill/>
          <a:ln w="0">
            <a:noFill/>
          </a:ln>
        </p:spPr>
        <p:txBody>
          <a:bodyPr>
            <a:noAutofit/>
          </a:bodyPr>
          <a:lstStyle/>
          <a:p>
            <a:pPr>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Limits of the experimental evidence</a:t>
            </a:r>
          </a:p>
        </p:txBody>
      </p:sp>
      <p:sp>
        <p:nvSpPr>
          <p:cNvPr id="3" name="Rectangle 2">
            <a:extLst>
              <a:ext uri="{FF2B5EF4-FFF2-40B4-BE49-F238E27FC236}">
                <a16:creationId xmlns:a16="http://schemas.microsoft.com/office/drawing/2014/main" id="{4DA6A4E3-9F3C-4B4B-9F20-E22E00F2CF68}"/>
              </a:ext>
            </a:extLst>
          </p:cNvPr>
          <p:cNvSpPr>
            <a:spLocks noGrp="1"/>
          </p:cNvSpPr>
          <p:nvPr/>
        </p:nvSpPr>
        <p:spPr>
          <a:xfrm>
            <a:off x="609600" y="6010275"/>
            <a:ext cx="10858500" cy="419100"/>
          </a:xfrm>
          <a:prstGeom prst="rect">
            <a:avLst/>
          </a:prstGeom>
          <a:noFill/>
          <a:ln w="0">
            <a:noFill/>
          </a:ln>
        </p:spPr>
        <p:txBody>
          <a:bodyPr>
            <a:noAutofit/>
          </a:bodyPr>
          <a:lstStyle/>
          <a:p>
            <a:pPr>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Source: §II.B, p. 1072 · §II.D–E, p. 1073 · §III, pp. 1075–1077</a:t>
            </a:r>
          </a:p>
        </p:txBody>
      </p:sp>
      <p:sp>
        <p:nvSpPr>
          <p:cNvPr id="4" name="Rectangle 3">
            <a:extLst>
              <a:ext uri="{FF2B5EF4-FFF2-40B4-BE49-F238E27FC236}">
                <a16:creationId xmlns:a16="http://schemas.microsoft.com/office/drawing/2014/main" id="{DADF693E-8345-438C-A2BA-3ABC108E4899}"/>
              </a:ext>
            </a:extLst>
          </p:cNvPr>
          <p:cNvSpPr>
            <a:spLocks noGrp="1"/>
          </p:cNvSpPr>
          <p:nvPr/>
        </p:nvSpPr>
        <p:spPr>
          <a:xfrm>
            <a:off x="609600" y="6515100"/>
            <a:ext cx="57150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hlin863/ewma_covariate_shift_demo</a:t>
            </a:r>
          </a:p>
        </p:txBody>
      </p:sp>
      <p:sp>
        <p:nvSpPr>
          <p:cNvPr id="5" name="Rectangle 4">
            <a:extLst>
              <a:ext uri="{FF2B5EF4-FFF2-40B4-BE49-F238E27FC236}">
                <a16:creationId xmlns:a16="http://schemas.microsoft.com/office/drawing/2014/main" id="{E5724533-E50E-4453-9086-22484B524701}"/>
              </a:ext>
            </a:extLst>
          </p:cNvPr>
          <p:cNvSpPr>
            <a:spLocks noGrp="1"/>
          </p:cNvSpPr>
          <p:nvPr/>
        </p:nvSpPr>
        <p:spPr>
          <a:xfrm>
            <a:off x="11049000" y="6515100"/>
            <a:ext cx="5334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08</a:t>
            </a:r>
          </a:p>
        </p:txBody>
      </p:sp>
      <p:sp>
        <p:nvSpPr>
          <p:cNvPr id="6" name="Rectangle 5">
            <a:extLst>
              <a:ext uri="{FF2B5EF4-FFF2-40B4-BE49-F238E27FC236}">
                <a16:creationId xmlns:a16="http://schemas.microsoft.com/office/drawing/2014/main" id="{731BBF49-70EE-4796-8305-C330C90075C3}"/>
              </a:ext>
            </a:extLst>
          </p:cNvPr>
          <p:cNvSpPr>
            <a:spLocks noGrp="1"/>
          </p:cNvSpPr>
          <p:nvPr/>
        </p:nvSpPr>
        <p:spPr>
          <a:xfrm>
            <a:off x="609600" y="1657350"/>
            <a:ext cx="5143500" cy="361950"/>
          </a:xfrm>
          <a:prstGeom prst="rect">
            <a:avLst/>
          </a:prstGeom>
          <a:noFill/>
          <a:ln w="0">
            <a:noFill/>
          </a:ln>
        </p:spPr>
        <p:txBody>
          <a:bodyPr>
            <a:noAutofit/>
          </a:bodyPr>
          <a:lstStyle/>
          <a:p>
            <a:pPr>
              <a:defRPr sz="2025" b="1">
                <a:solidFill>
                  <a:srgbClr val="4EA1FF"/>
                </a:solidFill>
                <a:latin typeface="DejaVu Sans"/>
                <a:ea typeface="DejaVu Sans"/>
                <a:cs typeface="DejaVu Sans"/>
              </a:defRPr>
            </a:pPr>
            <a:r>
              <a:rPr sz="2025" b="1">
                <a:solidFill>
                  <a:srgbClr val="4EA1FF"/>
                </a:solidFill>
                <a:latin typeface="DejaVu Sans"/>
                <a:ea typeface="DejaVu Sans"/>
                <a:cs typeface="DejaVu Sans"/>
              </a:rPr>
              <a:t>Small cohort and short follow-up</a:t>
            </a:r>
          </a:p>
        </p:txBody>
      </p:sp>
      <p:sp>
        <p:nvSpPr>
          <p:cNvPr id="7" name="Rectangle 6">
            <a:extLst>
              <a:ext uri="{FF2B5EF4-FFF2-40B4-BE49-F238E27FC236}">
                <a16:creationId xmlns:a16="http://schemas.microsoft.com/office/drawing/2014/main" id="{E79F930B-4282-4C8C-BCD6-873195D0EF98}"/>
              </a:ext>
            </a:extLst>
          </p:cNvPr>
          <p:cNvSpPr>
            <a:spLocks noGrp="1"/>
          </p:cNvSpPr>
          <p:nvPr/>
        </p:nvSpPr>
        <p:spPr>
          <a:xfrm>
            <a:off x="609600" y="2152650"/>
            <a:ext cx="5143500"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10 participants in each group</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One 40-trial online feedback run</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Limited evidence across patient subgroups</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and repeated rehabilitation sessions</a:t>
            </a:r>
          </a:p>
        </p:txBody>
      </p:sp>
      <p:sp>
        <p:nvSpPr>
          <p:cNvPr id="8" name="Rectangle 7">
            <a:extLst>
              <a:ext uri="{FF2B5EF4-FFF2-40B4-BE49-F238E27FC236}">
                <a16:creationId xmlns:a16="http://schemas.microsoft.com/office/drawing/2014/main" id="{A405965E-4F51-46BA-9434-F59F578DD3DB}"/>
              </a:ext>
            </a:extLst>
          </p:cNvPr>
          <p:cNvSpPr>
            <a:spLocks noGrp="1"/>
          </p:cNvSpPr>
          <p:nvPr/>
        </p:nvSpPr>
        <p:spPr>
          <a:xfrm>
            <a:off x="6572250" y="1657350"/>
            <a:ext cx="4953000" cy="361950"/>
          </a:xfrm>
          <a:prstGeom prst="rect">
            <a:avLst/>
          </a:prstGeom>
          <a:noFill/>
          <a:ln w="0">
            <a:noFill/>
          </a:ln>
        </p:spPr>
        <p:txBody>
          <a:bodyPr>
            <a:noAutofit/>
          </a:bodyPr>
          <a:lstStyle/>
          <a:p>
            <a:pPr>
              <a:defRPr sz="2025" b="1">
                <a:solidFill>
                  <a:srgbClr val="2DD4BF"/>
                </a:solidFill>
                <a:latin typeface="DejaVu Sans"/>
                <a:ea typeface="DejaVu Sans"/>
                <a:cs typeface="DejaVu Sans"/>
              </a:defRPr>
            </a:pPr>
            <a:r>
              <a:rPr sz="2025" b="1">
                <a:solidFill>
                  <a:srgbClr val="2DD4BF"/>
                </a:solidFill>
                <a:latin typeface="DejaVu Sans"/>
                <a:ea typeface="DejaVu Sans"/>
                <a:cs typeface="DejaVu Sans"/>
              </a:rPr>
              <a:t>Comparison and recovery</a:t>
            </a:r>
          </a:p>
        </p:txBody>
      </p:sp>
      <p:sp>
        <p:nvSpPr>
          <p:cNvPr id="9" name="Rectangle 8">
            <a:extLst>
              <a:ext uri="{FF2B5EF4-FFF2-40B4-BE49-F238E27FC236}">
                <a16:creationId xmlns:a16="http://schemas.microsoft.com/office/drawing/2014/main" id="{08C65342-1951-4F4D-9D4D-3693DAB9BE7F}"/>
              </a:ext>
            </a:extLst>
          </p:cNvPr>
          <p:cNvSpPr>
            <a:spLocks noGrp="1"/>
          </p:cNvSpPr>
          <p:nvPr/>
        </p:nvSpPr>
        <p:spPr>
          <a:xfrm>
            <a:off x="6572250" y="2152650"/>
            <a:ext cx="4953000"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Fixed baseline applied offline to the same data</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No parallel online nonadaptive condition</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Reported metrics concern BCI performance</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Durable motor recovery remains untested</a:t>
            </a:r>
          </a:p>
        </p:txBody>
      </p:sp>
      <p:sp>
        <p:nvSpPr>
          <p:cNvPr id="10" name="Rectangle 9">
            <a:extLst>
              <a:ext uri="{FF2B5EF4-FFF2-40B4-BE49-F238E27FC236}">
                <a16:creationId xmlns:a16="http://schemas.microsoft.com/office/drawing/2014/main" id="{4064C1CF-2216-45D6-A611-5C44F2C7662E}"/>
              </a:ext>
            </a:extLst>
          </p:cNvPr>
          <p:cNvSpPr>
            <a:spLocks noGrp="1"/>
          </p:cNvSpPr>
          <p:nvPr/>
        </p:nvSpPr>
        <p:spPr>
          <a:xfrm>
            <a:off x="609600" y="4400550"/>
            <a:ext cx="10477500" cy="361950"/>
          </a:xfrm>
          <a:prstGeom prst="rect">
            <a:avLst/>
          </a:prstGeom>
          <a:noFill/>
          <a:ln w="0">
            <a:noFill/>
          </a:ln>
        </p:spPr>
        <p:txBody>
          <a:bodyPr>
            <a:noAutofit/>
          </a:bodyPr>
          <a:lstStyle/>
          <a:p>
            <a:pPr>
              <a:defRPr sz="2025" b="1">
                <a:solidFill>
                  <a:srgbClr val="F5B942"/>
                </a:solidFill>
                <a:latin typeface="DejaVu Sans"/>
                <a:ea typeface="DejaVu Sans"/>
                <a:cs typeface="DejaVu Sans"/>
              </a:defRPr>
            </a:pPr>
            <a:r>
              <a:rPr sz="2025" b="1">
                <a:solidFill>
                  <a:srgbClr val="F5B942"/>
                </a:solidFill>
                <a:latin typeface="DejaVu Sans"/>
                <a:ea typeface="DejaVu Sans"/>
                <a:cs typeface="DejaVu Sans"/>
              </a:rPr>
              <a:t>Supported conclusion</a:t>
            </a:r>
          </a:p>
        </p:txBody>
      </p:sp>
      <p:sp>
        <p:nvSpPr>
          <p:cNvPr id="11" name="Rectangle 10">
            <a:extLst>
              <a:ext uri="{FF2B5EF4-FFF2-40B4-BE49-F238E27FC236}">
                <a16:creationId xmlns:a16="http://schemas.microsoft.com/office/drawing/2014/main" id="{CFE52AD5-F091-40C5-8A96-91447B6D402F}"/>
              </a:ext>
            </a:extLst>
          </p:cNvPr>
          <p:cNvSpPr>
            <a:spLocks noGrp="1"/>
          </p:cNvSpPr>
          <p:nvPr/>
        </p:nvSpPr>
        <p:spPr>
          <a:xfrm>
            <a:off x="609600" y="4895850"/>
            <a:ext cx="10572750" cy="904875"/>
          </a:xfrm>
          <a:prstGeom prst="rect">
            <a:avLst/>
          </a:prstGeom>
          <a:noFill/>
          <a:ln w="0">
            <a:noFill/>
          </a:ln>
        </p:spPr>
        <p:txBody>
          <a:bodyPr>
            <a:noAutofit/>
          </a:bodyPr>
          <a:lstStyle/>
          <a:p>
            <a:pPr>
              <a:defRPr sz="2025" b="0">
                <a:solidFill>
                  <a:srgbClr val="EAF2F8"/>
                </a:solidFill>
                <a:latin typeface="DejaVu Sans"/>
                <a:ea typeface="DejaVu Sans"/>
                <a:cs typeface="DejaVu Sans"/>
              </a:defRPr>
            </a:pPr>
            <a:r>
              <a:rPr sz="2025" b="0">
                <a:solidFill>
                  <a:srgbClr val="EAF2F8"/>
                </a:solidFill>
                <a:latin typeface="DejaVu Sans"/>
                <a:ea typeface="DejaVu Sans"/>
                <a:cs typeface="DejaVu Sans"/>
              </a:rPr>
              <a:t>The study establishes online technical feasibility and improved decoding. Longer-term reliability and rehabilitation benefit require further evaluation.</a:t>
            </a:r>
          </a:p>
        </p:txBody>
      </p:sp>
    </p:spTree>
    <p:extLst>
      <p:ext uri="{BB962C8B-B14F-4D97-AF65-F5344CB8AC3E}">
        <p14:creationId xmlns:p14="http://schemas.microsoft.com/office/powerpoint/2010/main" val="35275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9E41D8A-7649-4C6A-88F9-A64B59CCE169}"/>
              </a:ext>
            </a:extLst>
          </p:cNvPr>
          <p:cNvSpPr>
            <a:spLocks noGrp="1"/>
          </p:cNvSpPr>
          <p:nvPr/>
        </p:nvSpPr>
        <p:spPr>
          <a:xfrm>
            <a:off x="609600" y="400050"/>
            <a:ext cx="10477500" cy="228600"/>
          </a:xfrm>
          <a:prstGeom prst="rect">
            <a:avLst/>
          </a:prstGeom>
          <a:noFill/>
          <a:ln w="0">
            <a:noFill/>
          </a:ln>
        </p:spPr>
        <p:txBody>
          <a:bodyPr>
            <a:noAutofit/>
          </a:bodyPr>
          <a:lstStyle/>
          <a:p>
            <a:pPr>
              <a:defRPr sz="1300" b="1">
                <a:solidFill>
                  <a:srgbClr val="2DD4BF"/>
                </a:solidFill>
                <a:latin typeface="DejaVu Sans"/>
                <a:ea typeface="DejaVu Sans"/>
                <a:cs typeface="DejaVu Sans"/>
              </a:defRPr>
            </a:pPr>
            <a:r>
              <a:rPr sz="1300" b="1">
                <a:solidFill>
                  <a:srgbClr val="2DD4BF"/>
                </a:solidFill>
                <a:latin typeface="DejaVu Sans"/>
                <a:ea typeface="DejaVu Sans"/>
                <a:cs typeface="DejaVu Sans"/>
              </a:rPr>
              <a:t>PAPER-TO-PROJECT MAPPING</a:t>
            </a:r>
          </a:p>
        </p:txBody>
      </p:sp>
      <p:sp>
        <p:nvSpPr>
          <p:cNvPr id="2" name="Rectangle 1">
            <a:extLst>
              <a:ext uri="{FF2B5EF4-FFF2-40B4-BE49-F238E27FC236}">
                <a16:creationId xmlns:a16="http://schemas.microsoft.com/office/drawing/2014/main" id="{B4CB27A3-5EBF-436A-8A8A-92CD05F8E2FF}"/>
              </a:ext>
            </a:extLst>
          </p:cNvPr>
          <p:cNvSpPr>
            <a:spLocks noGrp="1"/>
          </p:cNvSpPr>
          <p:nvPr/>
        </p:nvSpPr>
        <p:spPr>
          <a:xfrm>
            <a:off x="609600" y="685800"/>
            <a:ext cx="10953750" cy="609600"/>
          </a:xfrm>
          <a:prstGeom prst="rect">
            <a:avLst/>
          </a:prstGeom>
          <a:noFill/>
          <a:ln w="0">
            <a:noFill/>
          </a:ln>
        </p:spPr>
        <p:txBody>
          <a:bodyPr>
            <a:noAutofit/>
          </a:bodyPr>
          <a:lstStyle/>
          <a:p>
            <a:pPr>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Relevance to the current EWMA project</a:t>
            </a:r>
          </a:p>
        </p:txBody>
      </p:sp>
      <p:sp>
        <p:nvSpPr>
          <p:cNvPr id="3" name="Rectangle 2">
            <a:extLst>
              <a:ext uri="{FF2B5EF4-FFF2-40B4-BE49-F238E27FC236}">
                <a16:creationId xmlns:a16="http://schemas.microsoft.com/office/drawing/2014/main" id="{27D04DF1-F38D-4BC6-822F-763DB4FD6818}"/>
              </a:ext>
            </a:extLst>
          </p:cNvPr>
          <p:cNvSpPr>
            <a:spLocks noGrp="1"/>
          </p:cNvSpPr>
          <p:nvPr/>
        </p:nvSpPr>
        <p:spPr>
          <a:xfrm>
            <a:off x="609600" y="6010275"/>
            <a:ext cx="10858500" cy="419100"/>
          </a:xfrm>
          <a:prstGeom prst="rect">
            <a:avLst/>
          </a:prstGeom>
          <a:noFill/>
          <a:ln w="0">
            <a:noFill/>
          </a:ln>
        </p:spPr>
        <p:txBody>
          <a:bodyPr>
            <a:noAutofit/>
          </a:bodyPr>
          <a:lstStyle/>
          <a:p>
            <a:pPr>
              <a:defRPr sz="1125" b="0">
                <a:solidFill>
                  <a:srgbClr val="9CB0C3"/>
                </a:solidFill>
                <a:latin typeface="DejaVu Sans"/>
                <a:ea typeface="DejaVu Sans"/>
                <a:cs typeface="DejaVu Sans"/>
              </a:defRPr>
            </a:pPr>
            <a:r>
              <a:rPr sz="1125" b="0">
                <a:solidFill>
                  <a:srgbClr val="9CB0C3"/>
                </a:solidFill>
                <a:latin typeface="DejaVu Sans"/>
                <a:ea typeface="DejaVu Sans"/>
                <a:cs typeface="DejaVu Sans"/>
              </a:rPr>
              <a:t>Sources: Chowdhury et al. (2018), §II.E and §III–IV; repository review at f3ef2e8.</a:t>
            </a:r>
          </a:p>
        </p:txBody>
      </p:sp>
      <p:sp>
        <p:nvSpPr>
          <p:cNvPr id="4" name="Rectangle 3">
            <a:extLst>
              <a:ext uri="{FF2B5EF4-FFF2-40B4-BE49-F238E27FC236}">
                <a16:creationId xmlns:a16="http://schemas.microsoft.com/office/drawing/2014/main" id="{4ECCB7C7-6FC1-4F46-BB10-46C0A42EF240}"/>
              </a:ext>
            </a:extLst>
          </p:cNvPr>
          <p:cNvSpPr>
            <a:spLocks noGrp="1"/>
          </p:cNvSpPr>
          <p:nvPr/>
        </p:nvSpPr>
        <p:spPr>
          <a:xfrm>
            <a:off x="609600" y="6515100"/>
            <a:ext cx="57150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hlin863/ewma_covariate_shift_demo</a:t>
            </a:r>
          </a:p>
        </p:txBody>
      </p:sp>
      <p:sp>
        <p:nvSpPr>
          <p:cNvPr id="5" name="Rectangle 4">
            <a:extLst>
              <a:ext uri="{FF2B5EF4-FFF2-40B4-BE49-F238E27FC236}">
                <a16:creationId xmlns:a16="http://schemas.microsoft.com/office/drawing/2014/main" id="{E3B1A2ED-84E1-4F78-8BCF-D5F6412F39DA}"/>
              </a:ext>
            </a:extLst>
          </p:cNvPr>
          <p:cNvSpPr>
            <a:spLocks noGrp="1"/>
          </p:cNvSpPr>
          <p:nvPr/>
        </p:nvSpPr>
        <p:spPr>
          <a:xfrm>
            <a:off x="11049000" y="6515100"/>
            <a:ext cx="533400" cy="171450"/>
          </a:xfrm>
          <a:prstGeom prst="rect">
            <a:avLst/>
          </a:prstGeom>
          <a:noFill/>
          <a:ln w="0">
            <a:noFill/>
          </a:ln>
        </p:spPr>
        <p:txBody>
          <a:bodyPr>
            <a:noAutofit/>
          </a:bodyPr>
          <a:lstStyle/>
          <a:p>
            <a:pPr>
              <a:defRPr sz="1100" b="0">
                <a:solidFill>
                  <a:srgbClr val="9CB0C3"/>
                </a:solidFill>
                <a:latin typeface="DejaVu Sans"/>
                <a:ea typeface="DejaVu Sans"/>
                <a:cs typeface="DejaVu Sans"/>
              </a:defRPr>
            </a:pPr>
            <a:r>
              <a:rPr sz="1100" b="0">
                <a:solidFill>
                  <a:srgbClr val="9CB0C3"/>
                </a:solidFill>
                <a:latin typeface="DejaVu Sans"/>
                <a:ea typeface="DejaVu Sans"/>
                <a:cs typeface="DejaVu Sans"/>
              </a:rPr>
              <a:t>09</a:t>
            </a:r>
          </a:p>
        </p:txBody>
      </p:sp>
      <p:sp>
        <p:nvSpPr>
          <p:cNvPr id="6" name="Rectangle 5">
            <a:extLst>
              <a:ext uri="{FF2B5EF4-FFF2-40B4-BE49-F238E27FC236}">
                <a16:creationId xmlns:a16="http://schemas.microsoft.com/office/drawing/2014/main" id="{79A5B623-9B8E-47C6-B1BA-8E3AEB27266C}"/>
              </a:ext>
            </a:extLst>
          </p:cNvPr>
          <p:cNvSpPr>
            <a:spLocks noGrp="1"/>
          </p:cNvSpPr>
          <p:nvPr/>
        </p:nvSpPr>
        <p:spPr>
          <a:xfrm>
            <a:off x="609600" y="1657350"/>
            <a:ext cx="5095875" cy="361950"/>
          </a:xfrm>
          <a:prstGeom prst="rect">
            <a:avLst/>
          </a:prstGeom>
          <a:noFill/>
          <a:ln w="0">
            <a:noFill/>
          </a:ln>
        </p:spPr>
        <p:txBody>
          <a:bodyPr>
            <a:noAutofit/>
          </a:bodyPr>
          <a:lstStyle/>
          <a:p>
            <a:pPr>
              <a:defRPr sz="2025" b="1">
                <a:solidFill>
                  <a:srgbClr val="4EA1FF"/>
                </a:solidFill>
                <a:latin typeface="DejaVu Sans"/>
                <a:ea typeface="DejaVu Sans"/>
                <a:cs typeface="DejaVu Sans"/>
              </a:defRPr>
            </a:pPr>
            <a:r>
              <a:rPr sz="2025" b="1">
                <a:solidFill>
                  <a:srgbClr val="4EA1FF"/>
                </a:solidFill>
                <a:latin typeface="DejaVu Sans"/>
                <a:ea typeface="DejaVu Sans"/>
                <a:cs typeface="DejaVu Sans"/>
              </a:rPr>
              <a:t>Methodological connection</a:t>
            </a:r>
          </a:p>
        </p:txBody>
      </p:sp>
      <p:sp>
        <p:nvSpPr>
          <p:cNvPr id="7" name="Rectangle 6">
            <a:extLst>
              <a:ext uri="{FF2B5EF4-FFF2-40B4-BE49-F238E27FC236}">
                <a16:creationId xmlns:a16="http://schemas.microsoft.com/office/drawing/2014/main" id="{F9F2C781-70F4-4F6A-AE1E-BEC48A47B6A4}"/>
              </a:ext>
            </a:extLst>
          </p:cNvPr>
          <p:cNvSpPr>
            <a:spLocks noGrp="1"/>
          </p:cNvSpPr>
          <p:nvPr/>
        </p:nvSpPr>
        <p:spPr>
          <a:xfrm>
            <a:off x="609600" y="2152650"/>
            <a:ext cx="5095875"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EWMA warning followed by shift validation</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Selective adaptation motivates event auditing</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Paper uses two bands and four CSP features</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Current deck uses 10-band FBCSP on 2A/2B</a:t>
            </a:r>
          </a:p>
        </p:txBody>
      </p:sp>
      <p:sp>
        <p:nvSpPr>
          <p:cNvPr id="8" name="Rectangle 7">
            <a:extLst>
              <a:ext uri="{FF2B5EF4-FFF2-40B4-BE49-F238E27FC236}">
                <a16:creationId xmlns:a16="http://schemas.microsoft.com/office/drawing/2014/main" id="{5B45E2FC-1932-4402-A55C-7C2401EE1239}"/>
              </a:ext>
            </a:extLst>
          </p:cNvPr>
          <p:cNvSpPr>
            <a:spLocks noGrp="1"/>
          </p:cNvSpPr>
          <p:nvPr/>
        </p:nvSpPr>
        <p:spPr>
          <a:xfrm>
            <a:off x="6572250" y="1657350"/>
            <a:ext cx="4953000" cy="361950"/>
          </a:xfrm>
          <a:prstGeom prst="rect">
            <a:avLst/>
          </a:prstGeom>
          <a:noFill/>
          <a:ln w="0">
            <a:noFill/>
          </a:ln>
        </p:spPr>
        <p:txBody>
          <a:bodyPr>
            <a:noAutofit/>
          </a:bodyPr>
          <a:lstStyle/>
          <a:p>
            <a:pPr>
              <a:defRPr sz="2025" b="1">
                <a:solidFill>
                  <a:srgbClr val="2DD4BF"/>
                </a:solidFill>
                <a:latin typeface="DejaVu Sans"/>
                <a:ea typeface="DejaVu Sans"/>
                <a:cs typeface="DejaVu Sans"/>
              </a:defRPr>
            </a:pPr>
            <a:r>
              <a:rPr sz="2025" b="1">
                <a:solidFill>
                  <a:srgbClr val="2DD4BF"/>
                </a:solidFill>
                <a:latin typeface="DejaVu Sans"/>
                <a:ea typeface="DejaVu Sans"/>
                <a:cs typeface="DejaVu Sans"/>
              </a:rPr>
              <a:t>Existing next-step priorities</a:t>
            </a:r>
          </a:p>
        </p:txBody>
      </p:sp>
      <p:sp>
        <p:nvSpPr>
          <p:cNvPr id="9" name="Rectangle 8">
            <a:extLst>
              <a:ext uri="{FF2B5EF4-FFF2-40B4-BE49-F238E27FC236}">
                <a16:creationId xmlns:a16="http://schemas.microsoft.com/office/drawing/2014/main" id="{111D300B-1A71-44C1-BE73-F67B3DA88730}"/>
              </a:ext>
            </a:extLst>
          </p:cNvPr>
          <p:cNvSpPr>
            <a:spLocks noGrp="1"/>
          </p:cNvSpPr>
          <p:nvPr/>
        </p:nvSpPr>
        <p:spPr>
          <a:xfrm>
            <a:off x="6572250" y="2152650"/>
            <a:ext cx="4953000" cy="2095500"/>
          </a:xfrm>
          <a:prstGeom prst="rect">
            <a:avLst/>
          </a:prstGeom>
          <a:noFill/>
          <a:ln w="0">
            <a:noFill/>
          </a:ln>
        </p:spPr>
        <p:txBody>
          <a:bodyPr>
            <a:noAutofit/>
          </a:bodyPr>
          <a:lstStyle/>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Lock the reproduction configuration</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Explain accepted and rejected Stage-II events</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Measure synthetic false alarms and delay</a:t>
            </a:r>
          </a:p>
          <a:p>
            <a:pPr>
              <a:defRPr sz="1800" b="0">
                <a:solidFill>
                  <a:srgbClr val="EAF2F8"/>
                </a:solidFill>
                <a:latin typeface="DejaVu Sans"/>
                <a:ea typeface="DejaVu Sans"/>
                <a:cs typeface="DejaVu Sans"/>
              </a:defRPr>
            </a:pPr>
            <a:r>
              <a:rPr sz="1800" b="0">
                <a:solidFill>
                  <a:srgbClr val="EAF2F8"/>
                </a:solidFill>
                <a:latin typeface="DejaVu Sans"/>
                <a:ea typeface="DejaVu Sans"/>
                <a:cs typeface="DejaVu Sans"/>
              </a:rPr>
              <a:t>Export real EEG score/residual traces</a:t>
            </a:r>
          </a:p>
        </p:txBody>
      </p:sp>
      <p:sp>
        <p:nvSpPr>
          <p:cNvPr id="10" name="Rectangle 9">
            <a:extLst>
              <a:ext uri="{FF2B5EF4-FFF2-40B4-BE49-F238E27FC236}">
                <a16:creationId xmlns:a16="http://schemas.microsoft.com/office/drawing/2014/main" id="{1B624334-4B72-4A4F-A895-A50327838DD6}"/>
              </a:ext>
            </a:extLst>
          </p:cNvPr>
          <p:cNvSpPr>
            <a:spLocks noGrp="1"/>
          </p:cNvSpPr>
          <p:nvPr/>
        </p:nvSpPr>
        <p:spPr>
          <a:xfrm>
            <a:off x="609600" y="4438650"/>
            <a:ext cx="10477500" cy="361950"/>
          </a:xfrm>
          <a:prstGeom prst="rect">
            <a:avLst/>
          </a:prstGeom>
          <a:noFill/>
          <a:ln w="0">
            <a:noFill/>
          </a:ln>
        </p:spPr>
        <p:txBody>
          <a:bodyPr>
            <a:noAutofit/>
          </a:bodyPr>
          <a:lstStyle/>
          <a:p>
            <a:pPr>
              <a:defRPr sz="2025" b="1">
                <a:solidFill>
                  <a:srgbClr val="F5B942"/>
                </a:solidFill>
                <a:latin typeface="DejaVu Sans"/>
                <a:ea typeface="DejaVu Sans"/>
                <a:cs typeface="DejaVu Sans"/>
              </a:defRPr>
            </a:pPr>
            <a:r>
              <a:rPr sz="2025" b="1">
                <a:solidFill>
                  <a:srgbClr val="F5B942"/>
                </a:solidFill>
                <a:latin typeface="DejaVu Sans"/>
                <a:ea typeface="DejaVu Sans"/>
                <a:cs typeface="DejaVu Sans"/>
              </a:rPr>
              <a:t>Evidence boundary</a:t>
            </a:r>
          </a:p>
        </p:txBody>
      </p:sp>
      <p:sp>
        <p:nvSpPr>
          <p:cNvPr id="11" name="Rectangle 10">
            <a:extLst>
              <a:ext uri="{FF2B5EF4-FFF2-40B4-BE49-F238E27FC236}">
                <a16:creationId xmlns:a16="http://schemas.microsoft.com/office/drawing/2014/main" id="{23F10FD9-20DE-4B86-9CD7-F6BAEBE7B99E}"/>
              </a:ext>
            </a:extLst>
          </p:cNvPr>
          <p:cNvSpPr>
            <a:spLocks noGrp="1"/>
          </p:cNvSpPr>
          <p:nvPr/>
        </p:nvSpPr>
        <p:spPr>
          <a:xfrm>
            <a:off x="609600" y="4933950"/>
            <a:ext cx="10572750" cy="895350"/>
          </a:xfrm>
          <a:prstGeom prst="rect">
            <a:avLst/>
          </a:prstGeom>
          <a:noFill/>
          <a:ln w="0">
            <a:noFill/>
          </a:ln>
        </p:spPr>
        <p:txBody>
          <a:bodyPr>
            <a:noAutofit/>
          </a:bodyPr>
          <a:lstStyle/>
          <a:p>
            <a:pPr>
              <a:defRPr sz="1950" b="0">
                <a:solidFill>
                  <a:srgbClr val="EAF2F8"/>
                </a:solidFill>
                <a:latin typeface="DejaVu Sans"/>
                <a:ea typeface="DejaVu Sans"/>
                <a:cs typeface="DejaVu Sans"/>
              </a:defRPr>
            </a:pPr>
            <a:r>
              <a:rPr sz="1950" b="0">
                <a:solidFill>
                  <a:srgbClr val="EAF2F8"/>
                </a:solidFill>
                <a:latin typeface="DejaVu Sans"/>
                <a:ea typeface="DejaVu Sans"/>
                <a:cs typeface="DejaVu Sans"/>
              </a:rPr>
              <a:t>Keep the paper’s online results separate from repository benchmarks. Numerical reproduction and real EEG extension evidence remain open in the current deck.</a:t>
            </a:r>
          </a:p>
        </p:txBody>
      </p:sp>
    </p:spTree>
    <p:extLst>
      <p:ext uri="{BB962C8B-B14F-4D97-AF65-F5344CB8AC3E}">
        <p14:creationId xmlns:p14="http://schemas.microsoft.com/office/powerpoint/2010/main" val="1767529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IMPLEMENTED PIPELINE</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How evidence becomes an update decision</a:t>
            </a:r>
          </a:p>
        </p:txBody>
      </p:sp>
      <p:sp>
        <p:nvSpPr>
          <p:cNvPr id="4" name="TextBox 3"/>
          <p:cNvSpPr txBox="1"/>
          <p:nvPr/>
        </p:nvSpPr>
        <p:spPr>
          <a:xfrm>
            <a:off x="612648" y="6053328"/>
            <a:ext cx="10972800" cy="329184"/>
          </a:xfrm>
          <a:prstGeom prst="rect">
            <a:avLst/>
          </a:prstGeom>
          <a:noFill/>
        </p:spPr>
        <p:txBody>
          <a:bodyPr wrap="square" lIns="0" rIns="0">
            <a:spAutoFit/>
          </a:bodyPr>
          <a:lstStyle/>
          <a:p>
            <a:pPr>
              <a:spcAft>
                <a:spcPts val="900"/>
              </a:spcAft>
              <a:defRPr sz="1100" b="0">
                <a:solidFill>
                  <a:srgbClr val="9CB0C3"/>
                </a:solidFill>
                <a:latin typeface="DejaVu Sans"/>
              </a:defRPr>
            </a:pPr>
            <a:r>
              <a:t>Repository evidence: 2a8d20b. Implemented capabilities and stored results are distinguished.</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graphicFrame>
        <p:nvGraphicFramePr>
          <p:cNvPr id="6" name="Table 5"/>
          <p:cNvGraphicFramePr>
            <a:graphicFrameLocks noGrp="1"/>
          </p:cNvGraphicFramePr>
          <p:nvPr/>
        </p:nvGraphicFramePr>
        <p:xfrm>
          <a:off x="685800" y="1645920"/>
          <a:ext cx="10789920" cy="3448812"/>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556260">
                <a:tc>
                  <a:txBody>
                    <a:bodyPr/>
                    <a:lstStyle/>
                    <a:p>
                      <a:pPr>
                        <a:defRPr sz="1800" b="1">
                          <a:solidFill>
                            <a:srgbClr val="78D8CC"/>
                          </a:solidFill>
                          <a:latin typeface="DejaVu Sans"/>
                        </a:defRPr>
                      </a:pPr>
                      <a:r>
                        <a:t>Responsibility</a:t>
                      </a:r>
                    </a:p>
                  </a:txBody>
                  <a:tcPr marL="109728" marT="73152">
                    <a:solidFill>
                      <a:srgbClr val="142838"/>
                    </a:solidFill>
                  </a:tcPr>
                </a:tc>
                <a:tc>
                  <a:txBody>
                    <a:bodyPr/>
                    <a:lstStyle/>
                    <a:p>
                      <a:pPr>
                        <a:defRPr sz="1800" b="1">
                          <a:solidFill>
                            <a:srgbClr val="78D8CC"/>
                          </a:solidFill>
                          <a:latin typeface="DejaVu Sans"/>
                        </a:defRPr>
                      </a:pPr>
                      <a:r>
                        <a:t>Implemented behaviour</a:t>
                      </a:r>
                    </a:p>
                  </a:txBody>
                  <a:tcPr marL="109728" marT="73152">
                    <a:solidFill>
                      <a:srgbClr val="142838"/>
                    </a:solidFill>
                  </a:tcPr>
                </a:tc>
                <a:extLst>
                  <a:ext uri="{0D108BD9-81ED-4DB2-BD59-A6C34878D82A}">
                    <a16:rowId xmlns:a16="http://schemas.microsoft.com/office/drawing/2014/main" val="10000"/>
                  </a:ext>
                </a:extLst>
              </a:tr>
              <a:tr h="556260">
                <a:tc>
                  <a:txBody>
                    <a:bodyPr/>
                    <a:lstStyle/>
                    <a:p>
                      <a:pPr>
                        <a:defRPr sz="1800" b="0">
                          <a:solidFill>
                            <a:srgbClr val="EAF2F8"/>
                          </a:solidFill>
                          <a:latin typeface="DejaVu Sans"/>
                        </a:defRPr>
                      </a:pPr>
                      <a:r>
                        <a:t>Representation</a:t>
                      </a:r>
                    </a:p>
                  </a:txBody>
                  <a:tcPr marL="109728" marT="73152">
                    <a:solidFill>
                      <a:srgbClr val="101D2A"/>
                    </a:solidFill>
                  </a:tcPr>
                </a:tc>
                <a:tc>
                  <a:txBody>
                    <a:bodyPr/>
                    <a:lstStyle/>
                    <a:p>
                      <a:pPr>
                        <a:defRPr sz="1800" b="0">
                          <a:solidFill>
                            <a:srgbClr val="EAF2F8"/>
                          </a:solidFill>
                          <a:latin typeface="DejaVu Sans"/>
                        </a:defRPr>
                      </a:pPr>
                      <a:r>
                        <a:t>Cue-aligned EEG; FBCSP; PCA fitted on training data</a:t>
                      </a:r>
                    </a:p>
                  </a:txBody>
                  <a:tcPr marL="109728" marT="73152">
                    <a:solidFill>
                      <a:srgbClr val="101D2A"/>
                    </a:solidFill>
                  </a:tcPr>
                </a:tc>
                <a:extLst>
                  <a:ext uri="{0D108BD9-81ED-4DB2-BD59-A6C34878D82A}">
                    <a16:rowId xmlns:a16="http://schemas.microsoft.com/office/drawing/2014/main" val="10001"/>
                  </a:ext>
                </a:extLst>
              </a:tr>
              <a:tr h="556260">
                <a:tc>
                  <a:txBody>
                    <a:bodyPr/>
                    <a:lstStyle/>
                    <a:p>
                      <a:pPr>
                        <a:defRPr sz="1800" b="0">
                          <a:solidFill>
                            <a:srgbClr val="EAF2F8"/>
                          </a:solidFill>
                          <a:latin typeface="DejaVu Sans"/>
                        </a:defRPr>
                      </a:pPr>
                      <a:r>
                        <a:t>Detection and validation</a:t>
                      </a:r>
                    </a:p>
                  </a:txBody>
                  <a:tcPr marL="109728" marT="73152">
                    <a:solidFill>
                      <a:srgbClr val="101D2A"/>
                    </a:solidFill>
                  </a:tcPr>
                </a:tc>
                <a:tc>
                  <a:txBody>
                    <a:bodyPr/>
                    <a:lstStyle/>
                    <a:p>
                      <a:pPr>
                        <a:defRPr sz="1800" b="0">
                          <a:solidFill>
                            <a:srgbClr val="EAF2F8"/>
                          </a:solidFill>
                          <a:latin typeface="DejaVu Sans"/>
                        </a:defRPr>
                      </a:pPr>
                      <a:r>
                        <a:t>EWMA warnings; explicit Stage-II interpretations</a:t>
                      </a:r>
                    </a:p>
                  </a:txBody>
                  <a:tcPr marL="109728" marT="73152">
                    <a:solidFill>
                      <a:srgbClr val="101D2A"/>
                    </a:solidFill>
                  </a:tcPr>
                </a:tc>
                <a:extLst>
                  <a:ext uri="{0D108BD9-81ED-4DB2-BD59-A6C34878D82A}">
                    <a16:rowId xmlns:a16="http://schemas.microsoft.com/office/drawing/2014/main" val="10002"/>
                  </a:ext>
                </a:extLst>
              </a:tr>
              <a:tr h="556260">
                <a:tc>
                  <a:txBody>
                    <a:bodyPr/>
                    <a:lstStyle/>
                    <a:p>
                      <a:pPr>
                        <a:defRPr sz="1800" b="0">
                          <a:solidFill>
                            <a:srgbClr val="EAF2F8"/>
                          </a:solidFill>
                          <a:latin typeface="DejaVu Sans"/>
                        </a:defRPr>
                      </a:pPr>
                      <a:r>
                        <a:t>Update policy</a:t>
                      </a:r>
                    </a:p>
                  </a:txBody>
                  <a:tcPr marL="109728" marT="73152">
                    <a:solidFill>
                      <a:srgbClr val="101D2A"/>
                    </a:solidFill>
                  </a:tcPr>
                </a:tc>
                <a:tc>
                  <a:txBody>
                    <a:bodyPr/>
                    <a:lstStyle/>
                    <a:p>
                      <a:pPr>
                        <a:defRPr sz="1800" b="0">
                          <a:solidFill>
                            <a:srgbClr val="EAF2F8"/>
                          </a:solidFill>
                          <a:latin typeface="DejaVu Sans"/>
                        </a:defRPr>
                      </a:pPr>
                      <a:r>
                        <a:t>Never, periodic, warning, validated or performance-drop</a:t>
                      </a:r>
                    </a:p>
                  </a:txBody>
                  <a:tcPr marL="109728" marT="73152">
                    <a:solidFill>
                      <a:srgbClr val="101D2A"/>
                    </a:solidFill>
                  </a:tcPr>
                </a:tc>
                <a:extLst>
                  <a:ext uri="{0D108BD9-81ED-4DB2-BD59-A6C34878D82A}">
                    <a16:rowId xmlns:a16="http://schemas.microsoft.com/office/drawing/2014/main" val="10003"/>
                  </a:ext>
                </a:extLst>
              </a:tr>
              <a:tr h="556260">
                <a:tc>
                  <a:txBody>
                    <a:bodyPr/>
                    <a:lstStyle/>
                    <a:p>
                      <a:pPr>
                        <a:defRPr sz="1800" b="0">
                          <a:solidFill>
                            <a:srgbClr val="EAF2F8"/>
                          </a:solidFill>
                          <a:latin typeface="DejaVu Sans"/>
                        </a:defRPr>
                      </a:pPr>
                      <a:r>
                        <a:t>Label regime</a:t>
                      </a:r>
                    </a:p>
                  </a:txBody>
                  <a:tcPr marL="109728" marT="73152">
                    <a:solidFill>
                      <a:srgbClr val="101D2A"/>
                    </a:solidFill>
                  </a:tcPr>
                </a:tc>
                <a:tc>
                  <a:txBody>
                    <a:bodyPr/>
                    <a:lstStyle/>
                    <a:p>
                      <a:pPr>
                        <a:defRPr sz="1800" b="0">
                          <a:solidFill>
                            <a:srgbClr val="EAF2F8"/>
                          </a:solidFill>
                          <a:latin typeface="DejaVu Sans"/>
                        </a:defRPr>
                      </a:pPr>
                      <a:r>
                        <a:t>Supervised labels or confidence-gated PWKNN pseudo-labels</a:t>
                      </a:r>
                    </a:p>
                  </a:txBody>
                  <a:tcPr marL="109728" marT="73152">
                    <a:solidFill>
                      <a:srgbClr val="101D2A"/>
                    </a:solidFill>
                  </a:tcPr>
                </a:tc>
                <a:extLst>
                  <a:ext uri="{0D108BD9-81ED-4DB2-BD59-A6C34878D82A}">
                    <a16:rowId xmlns:a16="http://schemas.microsoft.com/office/drawing/2014/main" val="10004"/>
                  </a:ext>
                </a:extLst>
              </a:tr>
              <a:tr h="556260">
                <a:tc>
                  <a:txBody>
                    <a:bodyPr/>
                    <a:lstStyle/>
                    <a:p>
                      <a:pPr>
                        <a:defRPr sz="1800" b="0">
                          <a:solidFill>
                            <a:srgbClr val="EAF2F8"/>
                          </a:solidFill>
                          <a:latin typeface="DejaVu Sans"/>
                        </a:defRPr>
                      </a:pPr>
                      <a:r>
                        <a:t>Audit outputs</a:t>
                      </a:r>
                    </a:p>
                  </a:txBody>
                  <a:tcPr marL="109728" marT="73152">
                    <a:solidFill>
                      <a:srgbClr val="101D2A"/>
                    </a:solidFill>
                  </a:tcPr>
                </a:tc>
                <a:tc>
                  <a:txBody>
                    <a:bodyPr/>
                    <a:lstStyle/>
                    <a:p>
                      <a:pPr>
                        <a:defRPr sz="1800" b="0">
                          <a:solidFill>
                            <a:srgbClr val="EAF2F8"/>
                          </a:solidFill>
                          <a:latin typeface="DejaVu Sans"/>
                        </a:defRPr>
                      </a:pPr>
                      <a:r>
                        <a:t>Predictions, accepted/rejected evidence and update events</a:t>
                      </a:r>
                    </a:p>
                  </a:txBody>
                  <a:tcPr marL="109728" marT="73152">
                    <a:solidFill>
                      <a:srgbClr val="101D2A"/>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85800" y="5230368"/>
            <a:ext cx="10789920" cy="685800"/>
          </a:xfrm>
          <a:prstGeom prst="rect">
            <a:avLst/>
          </a:prstGeom>
          <a:noFill/>
        </p:spPr>
        <p:txBody>
          <a:bodyPr wrap="square" lIns="0" rIns="0">
            <a:spAutoFit/>
          </a:bodyPr>
          <a:lstStyle/>
          <a:p>
            <a:pPr>
              <a:spcAft>
                <a:spcPts val="900"/>
              </a:spcAft>
              <a:defRPr sz="1800" b="0">
                <a:solidFill>
                  <a:srgbClr val="78D8CC"/>
                </a:solidFill>
                <a:latin typeface="DejaVu Sans"/>
              </a:defRPr>
            </a:pPr>
            <a:r>
              <a:t>Score-plus-residual monitoring is a separate Stage-I extension.</a:t>
            </a:r>
          </a:p>
          <a:p>
            <a:pPr>
              <a:spcAft>
                <a:spcPts val="900"/>
              </a:spcAft>
              <a:defRPr sz="1800" b="0">
                <a:solidFill>
                  <a:srgbClr val="78D8CC"/>
                </a:solidFill>
                <a:latin typeface="DejaVu Sans"/>
              </a:defRPr>
            </a:pPr>
            <a:r>
              <a:t>The Diethe comparison currently uses the fixed CSE detector.</a:t>
            </a:r>
          </a:p>
        </p:txBody>
      </p:sp>
      <p:sp>
        <p:nvSpPr>
          <p:cNvPr id="8" name="TextBox 7"/>
          <p:cNvSpPr txBox="1"/>
          <p:nvPr/>
        </p:nvSpPr>
        <p:spPr>
          <a:xfrm>
            <a:off x="11045952" y="6510528"/>
            <a:ext cx="548640" cy="182880"/>
          </a:xfrm>
          <a:prstGeom prst="rect">
            <a:avLst/>
          </a:prstGeom>
          <a:noFill/>
        </p:spPr>
        <p:txBody>
          <a:bodyPr wrap="square" lIns="0" rIns="0">
            <a:spAutoFit/>
          </a:bodyPr>
          <a:lstStyle/>
          <a:p>
            <a:pPr>
              <a:spcAft>
                <a:spcPts val="900"/>
              </a:spcAft>
              <a:defRPr sz="800" b="0">
                <a:solidFill>
                  <a:srgbClr val="9CB0C3"/>
                </a:solidFill>
                <a:latin typeface="DejaVu Sans"/>
              </a:defRPr>
            </a:pPr>
            <a:r>
              <a:t>10</a:t>
            </a:r>
          </a:p>
        </p:txBody>
      </p:sp>
    </p:spTree>
    <p:extLst>
      <p:ext uri="{BB962C8B-B14F-4D97-AF65-F5344CB8AC3E}">
        <p14:creationId xmlns:p14="http://schemas.microsoft.com/office/powerpoint/2010/main" val="1926805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061524"/>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10972800" cy="274320"/>
          </a:xfrm>
          <a:prstGeom prst="rect">
            <a:avLst/>
          </a:prstGeom>
          <a:noFill/>
        </p:spPr>
        <p:txBody>
          <a:bodyPr wrap="square" lIns="0" rIns="0">
            <a:spAutoFit/>
          </a:bodyPr>
          <a:lstStyle/>
          <a:p>
            <a:pPr>
              <a:defRPr sz="1300" b="1">
                <a:solidFill>
                  <a:srgbClr val="38DED3"/>
                </a:solidFill>
                <a:latin typeface="DejaVu Sans"/>
              </a:defRPr>
            </a:pPr>
            <a:r>
              <a:t>FEATURE EXTRACTION</a:t>
            </a:r>
          </a:p>
        </p:txBody>
      </p:sp>
      <p:sp>
        <p:nvSpPr>
          <p:cNvPr id="3" name="TextBox 2"/>
          <p:cNvSpPr txBox="1"/>
          <p:nvPr/>
        </p:nvSpPr>
        <p:spPr>
          <a:xfrm>
            <a:off x="612648" y="758952"/>
            <a:ext cx="10972800" cy="594360"/>
          </a:xfrm>
          <a:prstGeom prst="rect">
            <a:avLst/>
          </a:prstGeom>
          <a:noFill/>
        </p:spPr>
        <p:txBody>
          <a:bodyPr wrap="square" lIns="0" rIns="0">
            <a:spAutoFit/>
          </a:bodyPr>
          <a:lstStyle/>
          <a:p>
            <a:pPr>
              <a:defRPr sz="2700" b="1">
                <a:solidFill>
                  <a:srgbClr val="EAF2F8"/>
                </a:solidFill>
                <a:latin typeface="DejaVu Sans"/>
              </a:defRPr>
            </a:pPr>
            <a:r>
              <a:t>From EEG signals to the monitored PCA score</a:t>
            </a:r>
          </a:p>
        </p:txBody>
      </p:sp>
      <p:sp>
        <p:nvSpPr>
          <p:cNvPr id="4" name="TextBox 3"/>
          <p:cNvSpPr txBox="1"/>
          <p:nvPr/>
        </p:nvSpPr>
        <p:spPr>
          <a:xfrm>
            <a:off x="612648" y="6510528"/>
            <a:ext cx="9144000" cy="182880"/>
          </a:xfrm>
          <a:prstGeom prst="rect">
            <a:avLst/>
          </a:prstGeom>
          <a:noFill/>
        </p:spPr>
        <p:txBody>
          <a:bodyPr wrap="square" lIns="0" rIns="0">
            <a:spAutoFit/>
          </a:bodyPr>
          <a:lstStyle/>
          <a:p>
            <a:pPr>
              <a:defRPr sz="800" b="0">
                <a:solidFill>
                  <a:srgbClr val="9CB0C3"/>
                </a:solidFill>
                <a:latin typeface="DejaVu Sans"/>
              </a:defRPr>
            </a:pPr>
            <a:r>
              <a:t>hlin863/ewma_covariate_shift_demo</a:t>
            </a:r>
          </a:p>
        </p:txBody>
      </p:sp>
      <p:sp>
        <p:nvSpPr>
          <p:cNvPr id="5" name="TextBox 4"/>
          <p:cNvSpPr txBox="1"/>
          <p:nvPr/>
        </p:nvSpPr>
        <p:spPr>
          <a:xfrm>
            <a:off x="11064240" y="6510528"/>
            <a:ext cx="457200" cy="182880"/>
          </a:xfrm>
          <a:prstGeom prst="rect">
            <a:avLst/>
          </a:prstGeom>
          <a:noFill/>
        </p:spPr>
        <p:txBody>
          <a:bodyPr wrap="square" lIns="0" rIns="0">
            <a:spAutoFit/>
          </a:bodyPr>
          <a:lstStyle/>
          <a:p>
            <a:pPr>
              <a:defRPr sz="800" b="0">
                <a:solidFill>
                  <a:srgbClr val="9CB0C3"/>
                </a:solidFill>
                <a:latin typeface="DejaVu Sans"/>
              </a:defRPr>
            </a:pPr>
            <a:r>
              <a:t>11</a:t>
            </a:r>
          </a:p>
        </p:txBody>
      </p:sp>
      <p:sp>
        <p:nvSpPr>
          <p:cNvPr id="6" name="TextBox 5"/>
          <p:cNvSpPr txBox="1"/>
          <p:nvPr/>
        </p:nvSpPr>
        <p:spPr>
          <a:xfrm>
            <a:off x="685800" y="1417320"/>
            <a:ext cx="10972800" cy="411480"/>
          </a:xfrm>
          <a:prstGeom prst="rect">
            <a:avLst/>
          </a:prstGeom>
          <a:noFill/>
        </p:spPr>
        <p:txBody>
          <a:bodyPr wrap="square" lIns="0" rIns="0">
            <a:spAutoFit/>
          </a:bodyPr>
          <a:lstStyle/>
          <a:p>
            <a:pPr>
              <a:defRPr sz="1600" b="0">
                <a:solidFill>
                  <a:srgbClr val="9CB0C3"/>
                </a:solidFill>
                <a:latin typeface="DejaVu Sans"/>
              </a:defRPr>
            </a:pPr>
            <a:r>
              <a:t>Two frequency bands: μ 8–12 Hz and β 16–24 Hz. Fit the transformations on calibration data.</a:t>
            </a:r>
          </a:p>
        </p:txBody>
      </p:sp>
      <p:sp>
        <p:nvSpPr>
          <p:cNvPr id="7" name="TextBox 6"/>
          <p:cNvSpPr txBox="1"/>
          <p:nvPr/>
        </p:nvSpPr>
        <p:spPr>
          <a:xfrm>
            <a:off x="685800" y="1920240"/>
            <a:ext cx="5303520" cy="365760"/>
          </a:xfrm>
          <a:prstGeom prst="rect">
            <a:avLst/>
          </a:prstGeom>
          <a:noFill/>
        </p:spPr>
        <p:txBody>
          <a:bodyPr wrap="square" lIns="0" rIns="0">
            <a:spAutoFit/>
          </a:bodyPr>
          <a:lstStyle/>
          <a:p>
            <a:pPr>
              <a:defRPr sz="1800" b="1">
                <a:solidFill>
                  <a:srgbClr val="38DED3"/>
                </a:solidFill>
                <a:latin typeface="DejaVu Sans"/>
              </a:defRPr>
            </a:pPr>
            <a:r>
              <a:t>01  Spatial filtering</a:t>
            </a:r>
          </a:p>
        </p:txBody>
      </p:sp>
      <p:pic>
        <p:nvPicPr>
          <p:cNvPr id="8" name="Picture 7" descr="image.png"/>
          <p:cNvPicPr>
            <a:picLocks noChangeAspect="1"/>
          </p:cNvPicPr>
          <p:nvPr/>
        </p:nvPicPr>
        <p:blipFill>
          <a:blip r:embed="rId9"/>
          <a:stretch>
            <a:fillRect/>
          </a:stretch>
        </p:blipFill>
        <p:spPr>
          <a:xfrm>
            <a:off x="685800" y="2466975"/>
            <a:ext cx="1055370" cy="323850"/>
          </a:xfrm>
          <a:prstGeom prst="rect">
            <a:avLst/>
          </a:prstGeom>
        </p:spPr>
      </p:pic>
      <p:sp>
        <p:nvSpPr>
          <p:cNvPr id="9" name="TextBox 8"/>
          <p:cNvSpPr txBox="1"/>
          <p:nvPr/>
        </p:nvSpPr>
        <p:spPr>
          <a:xfrm>
            <a:off x="6629400" y="2103120"/>
            <a:ext cx="4663440" cy="594360"/>
          </a:xfrm>
          <a:prstGeom prst="rect">
            <a:avLst/>
          </a:prstGeom>
          <a:noFill/>
        </p:spPr>
        <p:txBody>
          <a:bodyPr wrap="square" lIns="0" rIns="0">
            <a:spAutoFit/>
          </a:bodyPr>
          <a:lstStyle/>
          <a:p>
            <a:pPr>
              <a:defRPr sz="1700" b="0">
                <a:solidFill>
                  <a:srgbClr val="EAF2F8"/>
                </a:solidFill>
                <a:latin typeface="DejaVu Sans"/>
              </a:defRPr>
            </a:pPr>
            <a:r>
              <a:t>Combine EEG channels using learned CSP filters.</a:t>
            </a:r>
          </a:p>
        </p:txBody>
      </p:sp>
      <p:sp>
        <p:nvSpPr>
          <p:cNvPr id="10" name="TextBox 9"/>
          <p:cNvSpPr txBox="1"/>
          <p:nvPr/>
        </p:nvSpPr>
        <p:spPr>
          <a:xfrm>
            <a:off x="6629400" y="2724912"/>
            <a:ext cx="4663440" cy="457200"/>
          </a:xfrm>
          <a:prstGeom prst="rect">
            <a:avLst/>
          </a:prstGeom>
          <a:noFill/>
        </p:spPr>
        <p:txBody>
          <a:bodyPr wrap="square" lIns="0" rIns="0">
            <a:spAutoFit/>
          </a:bodyPr>
          <a:lstStyle/>
          <a:p>
            <a:pPr>
              <a:defRPr sz="1300" b="0">
                <a:solidFill>
                  <a:srgbClr val="9CB0C3"/>
                </a:solidFill>
                <a:latin typeface="DejaVu Sans"/>
              </a:defRPr>
            </a:pPr>
            <a:r>
              <a:t>E: one EEG trial; W: spatial filters; Z: filtered signals.</a:t>
            </a:r>
          </a:p>
        </p:txBody>
      </p:sp>
      <p:sp>
        <p:nvSpPr>
          <p:cNvPr id="11" name="TextBox 10"/>
          <p:cNvSpPr txBox="1"/>
          <p:nvPr/>
        </p:nvSpPr>
        <p:spPr>
          <a:xfrm>
            <a:off x="685800" y="3108960"/>
            <a:ext cx="5303520" cy="365760"/>
          </a:xfrm>
          <a:prstGeom prst="rect">
            <a:avLst/>
          </a:prstGeom>
          <a:noFill/>
        </p:spPr>
        <p:txBody>
          <a:bodyPr wrap="square" lIns="0" rIns="0">
            <a:spAutoFit/>
          </a:bodyPr>
          <a:lstStyle/>
          <a:p>
            <a:pPr>
              <a:defRPr sz="1800" b="1">
                <a:solidFill>
                  <a:srgbClr val="38DED3"/>
                </a:solidFill>
                <a:latin typeface="DejaVu Sans"/>
              </a:defRPr>
            </a:pPr>
            <a:r>
              <a:t>02  Log-variance features</a:t>
            </a:r>
          </a:p>
        </p:txBody>
      </p:sp>
      <p:pic>
        <p:nvPicPr>
          <p:cNvPr id="12" name="Picture 11" descr="image.png"/>
          <p:cNvPicPr>
            <a:picLocks noChangeAspect="1"/>
          </p:cNvPicPr>
          <p:nvPr/>
        </p:nvPicPr>
        <p:blipFill>
          <a:blip r:embed="rId10"/>
          <a:stretch>
            <a:fillRect/>
          </a:stretch>
        </p:blipFill>
        <p:spPr>
          <a:xfrm>
            <a:off x="685800" y="3484244"/>
            <a:ext cx="2465070" cy="895350"/>
          </a:xfrm>
          <a:prstGeom prst="rect">
            <a:avLst/>
          </a:prstGeom>
        </p:spPr>
      </p:pic>
      <p:sp>
        <p:nvSpPr>
          <p:cNvPr id="13" name="TextBox 12"/>
          <p:cNvSpPr txBox="1"/>
          <p:nvPr/>
        </p:nvSpPr>
        <p:spPr>
          <a:xfrm>
            <a:off x="6629400" y="3291840"/>
            <a:ext cx="4663440" cy="594360"/>
          </a:xfrm>
          <a:prstGeom prst="rect">
            <a:avLst/>
          </a:prstGeom>
          <a:noFill/>
        </p:spPr>
        <p:txBody>
          <a:bodyPr wrap="square" lIns="0" rIns="0">
            <a:spAutoFit/>
          </a:bodyPr>
          <a:lstStyle/>
          <a:p>
            <a:pPr>
              <a:defRPr sz="1700" b="0">
                <a:solidFill>
                  <a:srgbClr val="EAF2F8"/>
                </a:solidFill>
                <a:latin typeface="DejaVu Sans"/>
              </a:defRPr>
            </a:pPr>
            <a:r>
              <a:t>Express each selected signal’s variance relative to the total.</a:t>
            </a:r>
          </a:p>
        </p:txBody>
      </p:sp>
      <p:sp>
        <p:nvSpPr>
          <p:cNvPr id="14" name="TextBox 13"/>
          <p:cNvSpPr txBox="1"/>
          <p:nvPr/>
        </p:nvSpPr>
        <p:spPr>
          <a:xfrm>
            <a:off x="6629400" y="3913632"/>
            <a:ext cx="4663440" cy="457200"/>
          </a:xfrm>
          <a:prstGeom prst="rect">
            <a:avLst/>
          </a:prstGeom>
          <a:noFill/>
        </p:spPr>
        <p:txBody>
          <a:bodyPr wrap="square" lIns="0" rIns="0">
            <a:spAutoFit/>
          </a:bodyPr>
          <a:lstStyle/>
          <a:p>
            <a:pPr>
              <a:defRPr sz="1300" b="0">
                <a:solidFill>
                  <a:srgbClr val="9CB0C3"/>
                </a:solidFill>
                <a:latin typeface="DejaVu Sans"/>
              </a:defRPr>
            </a:pPr>
            <a:r>
              <a:t>The paper retains two features per band: four per trial.</a:t>
            </a:r>
          </a:p>
        </p:txBody>
      </p:sp>
      <p:sp>
        <p:nvSpPr>
          <p:cNvPr id="15" name="TextBox 14"/>
          <p:cNvSpPr txBox="1"/>
          <p:nvPr/>
        </p:nvSpPr>
        <p:spPr>
          <a:xfrm>
            <a:off x="685800" y="4434840"/>
            <a:ext cx="5303520" cy="365760"/>
          </a:xfrm>
          <a:prstGeom prst="rect">
            <a:avLst/>
          </a:prstGeom>
          <a:noFill/>
        </p:spPr>
        <p:txBody>
          <a:bodyPr wrap="square" lIns="0" rIns="0">
            <a:spAutoFit/>
          </a:bodyPr>
          <a:lstStyle/>
          <a:p>
            <a:pPr>
              <a:defRPr sz="1800" b="1">
                <a:solidFill>
                  <a:srgbClr val="38DED3"/>
                </a:solidFill>
                <a:latin typeface="DejaVu Sans"/>
              </a:defRPr>
            </a:pPr>
            <a:r>
              <a:t>03  PCA and PC1 selection</a:t>
            </a:r>
          </a:p>
        </p:txBody>
      </p:sp>
      <p:pic>
        <p:nvPicPr>
          <p:cNvPr id="16" name="Picture 15" descr="image.png"/>
          <p:cNvPicPr>
            <a:picLocks noChangeAspect="1"/>
          </p:cNvPicPr>
          <p:nvPr/>
        </p:nvPicPr>
        <p:blipFill>
          <a:blip r:embed="rId11"/>
          <a:stretch>
            <a:fillRect/>
          </a:stretch>
        </p:blipFill>
        <p:spPr>
          <a:xfrm>
            <a:off x="685800" y="4947285"/>
            <a:ext cx="3589020" cy="392430"/>
          </a:xfrm>
          <a:prstGeom prst="rect">
            <a:avLst/>
          </a:prstGeom>
        </p:spPr>
      </p:pic>
      <p:sp>
        <p:nvSpPr>
          <p:cNvPr id="17" name="TextBox 16"/>
          <p:cNvSpPr txBox="1"/>
          <p:nvPr/>
        </p:nvSpPr>
        <p:spPr>
          <a:xfrm>
            <a:off x="6629400" y="4617720"/>
            <a:ext cx="4663440" cy="594360"/>
          </a:xfrm>
          <a:prstGeom prst="rect">
            <a:avLst/>
          </a:prstGeom>
          <a:noFill/>
        </p:spPr>
        <p:txBody>
          <a:bodyPr wrap="square" lIns="0" rIns="0">
            <a:spAutoFit/>
          </a:bodyPr>
          <a:lstStyle/>
          <a:p>
            <a:pPr>
              <a:defRPr sz="1700" b="0">
                <a:solidFill>
                  <a:srgbClr val="EAF2F8"/>
                </a:solidFill>
                <a:latin typeface="DejaVu Sans"/>
              </a:defRPr>
            </a:pPr>
            <a:r>
              <a:t>Transform the feature vector, then monitor its first PC score.</a:t>
            </a:r>
          </a:p>
        </p:txBody>
      </p:sp>
      <p:sp>
        <p:nvSpPr>
          <p:cNvPr id="18" name="TextBox 17"/>
          <p:cNvSpPr txBox="1"/>
          <p:nvPr/>
        </p:nvSpPr>
        <p:spPr>
          <a:xfrm>
            <a:off x="6629400" y="5239512"/>
            <a:ext cx="4663440" cy="457200"/>
          </a:xfrm>
          <a:prstGeom prst="rect">
            <a:avLst/>
          </a:prstGeom>
          <a:noFill/>
        </p:spPr>
        <p:txBody>
          <a:bodyPr wrap="square" lIns="0" rIns="0">
            <a:spAutoFit/>
          </a:bodyPr>
          <a:lstStyle/>
          <a:p>
            <a:pPr>
              <a:defRPr sz="1300" b="0">
                <a:solidFill>
                  <a:srgbClr val="9CB0C3"/>
                </a:solidFill>
                <a:latin typeface="DejaVu Sans"/>
              </a:defRPr>
            </a:pPr>
            <a:r>
              <a:t>The classifier uses features; Stage I monitors the scalar xᵢ.</a:t>
            </a:r>
          </a:p>
        </p:txBody>
      </p:sp>
      <p:sp>
        <p:nvSpPr>
          <p:cNvPr id="19" name="TextBox 18"/>
          <p:cNvSpPr txBox="1"/>
          <p:nvPr/>
        </p:nvSpPr>
        <p:spPr>
          <a:xfrm>
            <a:off x="685800" y="5989320"/>
            <a:ext cx="10972800" cy="457200"/>
          </a:xfrm>
          <a:prstGeom prst="rect">
            <a:avLst/>
          </a:prstGeom>
          <a:noFill/>
        </p:spPr>
        <p:txBody>
          <a:bodyPr wrap="square" lIns="0" rIns="0">
            <a:spAutoFit/>
          </a:bodyPr>
          <a:lstStyle/>
          <a:p>
            <a:pPr>
              <a:defRPr sz="1100" b="0">
                <a:solidFill>
                  <a:srgbClr val="9CB0C3"/>
                </a:solidFill>
                <a:latin typeface="DejaVu Sans"/>
              </a:defRPr>
            </a:pPr>
            <a:r>
              <a:t>Chowdhury et al. (2018), §II.E.1 and §II.E.3, Eqs. (1), (2), (4), pp. 1073–1074.</a:t>
            </a:r>
          </a:p>
          <a:p>
            <a:pPr>
              <a:defRPr sz="1100" b="0">
                <a:solidFill>
                  <a:srgbClr val="9CB0C3"/>
                </a:solidFill>
                <a:latin typeface="DejaVu Sans"/>
              </a:defRPr>
            </a:pPr>
            <a:r>
              <a:t>Indices clarified; PCA shown with explicit calibration centring. Code: fbcsp.py; detection/preprocessing.py.</a:t>
            </a:r>
          </a:p>
        </p:txBody>
      </p:sp>
    </p:spTree>
    <p:extLst>
      <p:ext uri="{BB962C8B-B14F-4D97-AF65-F5344CB8AC3E}">
        <p14:creationId xmlns:p14="http://schemas.microsoft.com/office/powerpoint/2010/main" val="3893839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061524"/>
        </a:solidFill>
        <a:effectLst/>
      </p:bgPr>
    </p:bg>
    <p:spTree>
      <p:nvGrpSpPr>
        <p:cNvPr id="1" name=""/>
        <p:cNvGrpSpPr/>
        <p:nvPr/>
      </p:nvGrpSpPr>
      <p:grpSpPr>
        <a:xfrm>
          <a:off x="0" y="0"/>
          <a:ext cx="0" cy="0"/>
          <a:chOff x="0" y="0"/>
          <a:chExt cx="0" cy="0"/>
        </a:xfrm>
      </p:grpSpPr>
      <p:sp>
        <p:nvSpPr>
          <p:cNvPr id="2" name="TextBox 1"/>
          <p:cNvSpPr txBox="1"/>
          <p:nvPr/>
        </p:nvSpPr>
        <p:spPr>
          <a:xfrm>
            <a:off x="612648" y="320040"/>
            <a:ext cx="10972800" cy="274320"/>
          </a:xfrm>
          <a:prstGeom prst="rect">
            <a:avLst/>
          </a:prstGeom>
          <a:noFill/>
        </p:spPr>
        <p:txBody>
          <a:bodyPr wrap="square" lIns="0" rIns="0">
            <a:spAutoFit/>
          </a:bodyPr>
          <a:lstStyle/>
          <a:p>
            <a:pPr>
              <a:defRPr sz="1300" b="1">
                <a:solidFill>
                  <a:srgbClr val="38DED3"/>
                </a:solidFill>
                <a:latin typeface="DejaVu Sans"/>
              </a:defRPr>
            </a:pPr>
            <a:r>
              <a:t>DETECTOR MATHEMATICS</a:t>
            </a:r>
          </a:p>
        </p:txBody>
      </p:sp>
      <p:sp>
        <p:nvSpPr>
          <p:cNvPr id="3" name="TextBox 2"/>
          <p:cNvSpPr txBox="1"/>
          <p:nvPr/>
        </p:nvSpPr>
        <p:spPr>
          <a:xfrm>
            <a:off x="612648" y="758952"/>
            <a:ext cx="10972800" cy="594360"/>
          </a:xfrm>
          <a:prstGeom prst="rect">
            <a:avLst/>
          </a:prstGeom>
          <a:noFill/>
        </p:spPr>
        <p:txBody>
          <a:bodyPr wrap="square" lIns="0" rIns="0">
            <a:spAutoFit/>
          </a:bodyPr>
          <a:lstStyle/>
          <a:p>
            <a:pPr>
              <a:defRPr sz="2700" b="1">
                <a:solidFill>
                  <a:srgbClr val="EAF2F8"/>
                </a:solidFill>
                <a:latin typeface="DejaVu Sans"/>
              </a:defRPr>
            </a:pPr>
            <a:r>
              <a:t>How PCA scores become warnings and confirmations</a:t>
            </a:r>
          </a:p>
        </p:txBody>
      </p:sp>
      <p:sp>
        <p:nvSpPr>
          <p:cNvPr id="4" name="TextBox 3"/>
          <p:cNvSpPr txBox="1"/>
          <p:nvPr/>
        </p:nvSpPr>
        <p:spPr>
          <a:xfrm>
            <a:off x="612648" y="6510528"/>
            <a:ext cx="9144000" cy="182880"/>
          </a:xfrm>
          <a:prstGeom prst="rect">
            <a:avLst/>
          </a:prstGeom>
          <a:noFill/>
        </p:spPr>
        <p:txBody>
          <a:bodyPr wrap="square" lIns="0" rIns="0">
            <a:spAutoFit/>
          </a:bodyPr>
          <a:lstStyle/>
          <a:p>
            <a:pPr>
              <a:defRPr sz="800" b="0">
                <a:solidFill>
                  <a:srgbClr val="9CB0C3"/>
                </a:solidFill>
                <a:latin typeface="DejaVu Sans"/>
              </a:defRPr>
            </a:pPr>
            <a:r>
              <a:t>hlin863/ewma_covariate_shift_demo</a:t>
            </a:r>
          </a:p>
        </p:txBody>
      </p:sp>
      <p:sp>
        <p:nvSpPr>
          <p:cNvPr id="5" name="TextBox 4"/>
          <p:cNvSpPr txBox="1"/>
          <p:nvPr/>
        </p:nvSpPr>
        <p:spPr>
          <a:xfrm>
            <a:off x="11064240" y="6510528"/>
            <a:ext cx="457200" cy="182880"/>
          </a:xfrm>
          <a:prstGeom prst="rect">
            <a:avLst/>
          </a:prstGeom>
          <a:noFill/>
        </p:spPr>
        <p:txBody>
          <a:bodyPr wrap="square" lIns="0" rIns="0">
            <a:spAutoFit/>
          </a:bodyPr>
          <a:lstStyle/>
          <a:p>
            <a:pPr>
              <a:defRPr sz="800" b="0">
                <a:solidFill>
                  <a:srgbClr val="9CB0C3"/>
                </a:solidFill>
                <a:latin typeface="DejaVu Sans"/>
              </a:defRPr>
            </a:pPr>
            <a:r>
              <a:t>12</a:t>
            </a:r>
          </a:p>
        </p:txBody>
      </p:sp>
      <p:sp>
        <p:nvSpPr>
          <p:cNvPr id="6" name="TextBox 5"/>
          <p:cNvSpPr txBox="1"/>
          <p:nvPr/>
        </p:nvSpPr>
        <p:spPr>
          <a:xfrm>
            <a:off x="685800" y="1508760"/>
            <a:ext cx="5486400" cy="365760"/>
          </a:xfrm>
          <a:prstGeom prst="rect">
            <a:avLst/>
          </a:prstGeom>
          <a:noFill/>
        </p:spPr>
        <p:txBody>
          <a:bodyPr wrap="square" lIns="0" rIns="0">
            <a:spAutoFit/>
          </a:bodyPr>
          <a:lstStyle/>
          <a:p>
            <a:pPr>
              <a:defRPr sz="2100" b="1">
                <a:solidFill>
                  <a:srgbClr val="38DED3"/>
                </a:solidFill>
                <a:latin typeface="DejaVu Sans"/>
              </a:defRPr>
            </a:pPr>
            <a:r>
              <a:t>Stage I: EWMA warning</a:t>
            </a:r>
          </a:p>
        </p:txBody>
      </p:sp>
      <p:sp>
        <p:nvSpPr>
          <p:cNvPr id="7" name="TextBox 6"/>
          <p:cNvSpPr txBox="1"/>
          <p:nvPr/>
        </p:nvSpPr>
        <p:spPr>
          <a:xfrm>
            <a:off x="685800" y="2057400"/>
            <a:ext cx="5760720" cy="320040"/>
          </a:xfrm>
          <a:prstGeom prst="rect">
            <a:avLst/>
          </a:prstGeom>
          <a:noFill/>
        </p:spPr>
        <p:txBody>
          <a:bodyPr wrap="square" lIns="0" rIns="0">
            <a:spAutoFit/>
          </a:bodyPr>
          <a:lstStyle/>
          <a:p>
            <a:pPr>
              <a:defRPr sz="1500" b="0">
                <a:solidFill>
                  <a:srgbClr val="38DED3"/>
                </a:solidFill>
                <a:latin typeface="DejaVu Sans"/>
              </a:defRPr>
            </a:pPr>
            <a:r>
              <a:t>State and one-step prediction error</a:t>
            </a:r>
          </a:p>
        </p:txBody>
      </p:sp>
      <p:pic>
        <p:nvPicPr>
          <p:cNvPr id="8" name="Picture 7" descr="image.png"/>
          <p:cNvPicPr>
            <a:picLocks noChangeAspect="1"/>
          </p:cNvPicPr>
          <p:nvPr/>
        </p:nvPicPr>
        <p:blipFill>
          <a:blip r:embed="rId16"/>
          <a:stretch>
            <a:fillRect/>
          </a:stretch>
        </p:blipFill>
        <p:spPr>
          <a:xfrm>
            <a:off x="685800" y="2497074"/>
            <a:ext cx="4937760" cy="327660"/>
          </a:xfrm>
          <a:prstGeom prst="rect">
            <a:avLst/>
          </a:prstGeom>
        </p:spPr>
      </p:pic>
      <p:sp>
        <p:nvSpPr>
          <p:cNvPr id="9" name="TextBox 8"/>
          <p:cNvSpPr txBox="1"/>
          <p:nvPr/>
        </p:nvSpPr>
        <p:spPr>
          <a:xfrm>
            <a:off x="685800" y="3017520"/>
            <a:ext cx="5760720" cy="320040"/>
          </a:xfrm>
          <a:prstGeom prst="rect">
            <a:avLst/>
          </a:prstGeom>
          <a:noFill/>
        </p:spPr>
        <p:txBody>
          <a:bodyPr wrap="square" lIns="0" rIns="0">
            <a:spAutoFit/>
          </a:bodyPr>
          <a:lstStyle/>
          <a:p>
            <a:pPr>
              <a:defRPr sz="1500" b="0">
                <a:solidFill>
                  <a:srgbClr val="38DED3"/>
                </a:solidFill>
                <a:latin typeface="DejaVu Sans"/>
              </a:defRPr>
            </a:pPr>
            <a:r>
              <a:t>Control limits use the previous variance</a:t>
            </a:r>
          </a:p>
        </p:txBody>
      </p:sp>
      <p:pic>
        <p:nvPicPr>
          <p:cNvPr id="10" name="Picture 9" descr="image.png"/>
          <p:cNvPicPr>
            <a:picLocks noChangeAspect="1"/>
          </p:cNvPicPr>
          <p:nvPr/>
        </p:nvPicPr>
        <p:blipFill>
          <a:blip r:embed="rId17"/>
          <a:stretch>
            <a:fillRect/>
          </a:stretch>
        </p:blipFill>
        <p:spPr>
          <a:xfrm>
            <a:off x="685800" y="3459709"/>
            <a:ext cx="5760720" cy="322628"/>
          </a:xfrm>
          <a:prstGeom prst="rect">
            <a:avLst/>
          </a:prstGeom>
        </p:spPr>
      </p:pic>
      <p:sp>
        <p:nvSpPr>
          <p:cNvPr id="11" name="TextBox 10"/>
          <p:cNvSpPr txBox="1"/>
          <p:nvPr/>
        </p:nvSpPr>
        <p:spPr>
          <a:xfrm>
            <a:off x="685800" y="3977639"/>
            <a:ext cx="5760720" cy="320040"/>
          </a:xfrm>
          <a:prstGeom prst="rect">
            <a:avLst/>
          </a:prstGeom>
          <a:noFill/>
        </p:spPr>
        <p:txBody>
          <a:bodyPr wrap="square" lIns="0" rIns="0">
            <a:spAutoFit/>
          </a:bodyPr>
          <a:lstStyle/>
          <a:p>
            <a:pPr>
              <a:defRPr sz="1500" b="0">
                <a:solidFill>
                  <a:srgbClr val="38DED3"/>
                </a:solidFill>
                <a:latin typeface="DejaVu Sans"/>
              </a:defRPr>
            </a:pPr>
            <a:r>
              <a:t>Smoothed error variance • Eq. (8)</a:t>
            </a:r>
          </a:p>
        </p:txBody>
      </p:sp>
      <p:pic>
        <p:nvPicPr>
          <p:cNvPr id="12" name="Picture 11" descr="image.png"/>
          <p:cNvPicPr>
            <a:picLocks noChangeAspect="1"/>
          </p:cNvPicPr>
          <p:nvPr/>
        </p:nvPicPr>
        <p:blipFill>
          <a:blip r:embed="rId18"/>
          <a:stretch>
            <a:fillRect/>
          </a:stretch>
        </p:blipFill>
        <p:spPr>
          <a:xfrm>
            <a:off x="685800" y="4367783"/>
            <a:ext cx="3676649" cy="426720"/>
          </a:xfrm>
          <a:prstGeom prst="rect">
            <a:avLst/>
          </a:prstGeom>
        </p:spPr>
      </p:pic>
      <p:sp>
        <p:nvSpPr>
          <p:cNvPr id="13" name="TextBox 12"/>
          <p:cNvSpPr txBox="1"/>
          <p:nvPr/>
        </p:nvSpPr>
        <p:spPr>
          <a:xfrm>
            <a:off x="685800" y="5120640"/>
            <a:ext cx="5623560" cy="731520"/>
          </a:xfrm>
          <a:prstGeom prst="rect">
            <a:avLst/>
          </a:prstGeom>
          <a:noFill/>
        </p:spPr>
        <p:txBody>
          <a:bodyPr wrap="square" lIns="0" rIns="0">
            <a:spAutoFit/>
          </a:bodyPr>
          <a:lstStyle/>
          <a:p>
            <a:pPr>
              <a:defRPr sz="1400" b="0">
                <a:solidFill>
                  <a:srgbClr val="9CB0C3"/>
                </a:solidFill>
                <a:latin typeface="DejaVu Sans"/>
              </a:defRPr>
            </a:pPr>
            <a:r>
              <a:t>Check current limits first; update state and variance afterwards.</a:t>
            </a:r>
          </a:p>
          <a:p>
            <a:pPr>
              <a:defRPr sz="1400" b="0">
                <a:solidFill>
                  <a:srgbClr val="9CB0C3"/>
                </a:solidFill>
                <a:latin typeface="DejaVu Sans"/>
              </a:defRPr>
            </a:pPr>
            <a:r>
              <a:t>αᵥ is the variance-smoothing weight (paper: 0.05).</a:t>
            </a:r>
          </a:p>
        </p:txBody>
      </p:sp>
      <p:sp>
        <p:nvSpPr>
          <p:cNvPr id="14" name="TextBox 13"/>
          <p:cNvSpPr txBox="1"/>
          <p:nvPr/>
        </p:nvSpPr>
        <p:spPr>
          <a:xfrm>
            <a:off x="6766560" y="1508760"/>
            <a:ext cx="4846320" cy="365760"/>
          </a:xfrm>
          <a:prstGeom prst="rect">
            <a:avLst/>
          </a:prstGeom>
          <a:noFill/>
        </p:spPr>
        <p:txBody>
          <a:bodyPr wrap="square" lIns="0" rIns="0">
            <a:spAutoFit/>
          </a:bodyPr>
          <a:lstStyle/>
          <a:p>
            <a:pPr>
              <a:defRPr sz="2100" b="1">
                <a:solidFill>
                  <a:srgbClr val="F4C04B"/>
                </a:solidFill>
                <a:latin typeface="DejaVu Sans"/>
              </a:defRPr>
            </a:pPr>
            <a:r>
              <a:t>Stage II: Hotelling validation</a:t>
            </a:r>
          </a:p>
        </p:txBody>
      </p:sp>
      <p:sp>
        <p:nvSpPr>
          <p:cNvPr id="15" name="TextBox 14"/>
          <p:cNvSpPr txBox="1"/>
          <p:nvPr/>
        </p:nvSpPr>
        <p:spPr>
          <a:xfrm>
            <a:off x="6766560" y="2057400"/>
            <a:ext cx="4846320" cy="365760"/>
          </a:xfrm>
          <a:prstGeom prst="rect">
            <a:avLst/>
          </a:prstGeom>
          <a:noFill/>
        </p:spPr>
        <p:txBody>
          <a:bodyPr wrap="square" lIns="0" rIns="0">
            <a:spAutoFit/>
          </a:bodyPr>
          <a:lstStyle/>
          <a:p>
            <a:pPr>
              <a:defRPr sz="1500" b="0">
                <a:solidFill>
                  <a:srgbClr val="F4C04B"/>
                </a:solidFill>
                <a:latin typeface="DejaVu Sans"/>
              </a:defRPr>
            </a:pPr>
            <a:r>
              <a:t>Repository pooled two-sample mode</a:t>
            </a:r>
          </a:p>
        </p:txBody>
      </p:sp>
      <p:pic>
        <p:nvPicPr>
          <p:cNvPr id="16" name="Picture 15" descr="image.png"/>
          <p:cNvPicPr>
            <a:picLocks noChangeAspect="1"/>
          </p:cNvPicPr>
          <p:nvPr/>
        </p:nvPicPr>
        <p:blipFill>
          <a:blip r:embed="rId19"/>
          <a:stretch>
            <a:fillRect/>
          </a:stretch>
        </p:blipFill>
        <p:spPr>
          <a:xfrm>
            <a:off x="6720840" y="2653665"/>
            <a:ext cx="4415790" cy="453390"/>
          </a:xfrm>
          <a:prstGeom prst="rect">
            <a:avLst/>
          </a:prstGeom>
        </p:spPr>
      </p:pic>
      <p:sp>
        <p:nvSpPr>
          <p:cNvPr id="17" name="TextBox 16"/>
          <p:cNvSpPr txBox="1"/>
          <p:nvPr/>
        </p:nvSpPr>
        <p:spPr>
          <a:xfrm>
            <a:off x="6766560" y="3383280"/>
            <a:ext cx="4846320" cy="365760"/>
          </a:xfrm>
          <a:prstGeom prst="rect">
            <a:avLst/>
          </a:prstGeom>
          <a:noFill/>
        </p:spPr>
        <p:txBody>
          <a:bodyPr wrap="square" lIns="0" rIns="0">
            <a:spAutoFit/>
          </a:bodyPr>
          <a:lstStyle/>
          <a:p>
            <a:pPr>
              <a:defRPr sz="1500" b="0">
                <a:solidFill>
                  <a:srgbClr val="F4C04B"/>
                </a:solidFill>
                <a:latin typeface="DejaVu Sans"/>
              </a:defRPr>
            </a:pPr>
            <a:r>
              <a:t>Decision and dimensionality condition</a:t>
            </a:r>
          </a:p>
        </p:txBody>
      </p:sp>
      <p:pic>
        <p:nvPicPr>
          <p:cNvPr id="18" name="Picture 17" descr="image.png"/>
          <p:cNvPicPr>
            <a:picLocks noChangeAspect="1"/>
          </p:cNvPicPr>
          <p:nvPr/>
        </p:nvPicPr>
        <p:blipFill>
          <a:blip r:embed="rId20"/>
          <a:stretch>
            <a:fillRect/>
          </a:stretch>
        </p:blipFill>
        <p:spPr>
          <a:xfrm>
            <a:off x="6766560" y="3894963"/>
            <a:ext cx="3771900" cy="339090"/>
          </a:xfrm>
          <a:prstGeom prst="rect">
            <a:avLst/>
          </a:prstGeom>
        </p:spPr>
      </p:pic>
      <p:sp>
        <p:nvSpPr>
          <p:cNvPr id="19" name="TextBox 18"/>
          <p:cNvSpPr txBox="1"/>
          <p:nvPr/>
        </p:nvSpPr>
        <p:spPr>
          <a:xfrm>
            <a:off x="6766560" y="4572000"/>
            <a:ext cx="4617720" cy="1097280"/>
          </a:xfrm>
          <a:prstGeom prst="rect">
            <a:avLst/>
          </a:prstGeom>
          <a:noFill/>
        </p:spPr>
        <p:txBody>
          <a:bodyPr wrap="square" lIns="0" rIns="0">
            <a:spAutoFit/>
          </a:bodyPr>
          <a:lstStyle/>
          <a:p>
            <a:pPr>
              <a:defRPr sz="1400" b="0">
                <a:solidFill>
                  <a:srgbClr val="9CB0C3"/>
                </a:solidFill>
                <a:latin typeface="DejaVu Sans"/>
              </a:defRPr>
            </a:pPr>
            <a:r>
              <a:t>H: observations per window; d: retained dimensions.</a:t>
            </a:r>
          </a:p>
          <a:p>
            <a:pPr>
              <a:defRPr sz="1400" b="0">
                <a:solidFill>
                  <a:srgbClr val="9CB0C3"/>
                </a:solidFill>
                <a:latin typeface="DejaVu Sans"/>
              </a:defRPr>
            </a:pPr>
            <a:r>
              <a:t>αtest is distinct from variance smoothing.</a:t>
            </a:r>
          </a:p>
          <a:p>
            <a:pPr>
              <a:defRPr sz="1400" b="0">
                <a:solidFill>
                  <a:srgbClr val="9CB0C3"/>
                </a:solidFill>
                <a:latin typeface="DejaVu Sans"/>
              </a:defRPr>
            </a:pPr>
            <a:r>
              <a:t>Confirmation is available after the second window.</a:t>
            </a:r>
          </a:p>
        </p:txBody>
      </p:sp>
      <p:sp>
        <p:nvSpPr>
          <p:cNvPr id="20" name="TextBox 19"/>
          <p:cNvSpPr txBox="1"/>
          <p:nvPr/>
        </p:nvSpPr>
        <p:spPr>
          <a:xfrm>
            <a:off x="685800" y="5943600"/>
            <a:ext cx="10972800" cy="457200"/>
          </a:xfrm>
          <a:prstGeom prst="rect">
            <a:avLst/>
          </a:prstGeom>
          <a:noFill/>
        </p:spPr>
        <p:txBody>
          <a:bodyPr wrap="square" lIns="0" rIns="0">
            <a:spAutoFit/>
          </a:bodyPr>
          <a:lstStyle/>
          <a:p>
            <a:pPr>
              <a:defRPr sz="1100" b="0">
                <a:solidFill>
                  <a:srgbClr val="9CB0C3"/>
                </a:solidFill>
                <a:latin typeface="DejaVu Sans"/>
              </a:defRPr>
            </a:pPr>
            <a:r>
              <a:t>Chowdhury §II.E.3, Eqs. (3), (5)–(9). Eq. (9) uses separate covariance terms; pooled mode is a repository choice.</a:t>
            </a:r>
          </a:p>
          <a:p>
            <a:pPr>
              <a:defRPr sz="1100" b="0">
                <a:solidFill>
                  <a:srgbClr val="9CB0C3"/>
                </a:solidFill>
                <a:latin typeface="DejaVu Sans"/>
              </a:defRPr>
            </a:pPr>
            <a:r>
              <a:t>Eq. (8) describes the always-update variance mode. The Diethe pilot uses frozen variance.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8F54C9D-1E96-45E4-8CDE-790A15820514}"/>
              </a:ext>
            </a:extLst>
          </p:cNvPr>
          <p:cNvSpPr>
            <a:spLocks noGrp="1"/>
          </p:cNvSpPr>
          <p:nvPr/>
        </p:nvSpPr>
        <p:spPr>
          <a:xfrm>
            <a:off x="609600" y="400050"/>
            <a:ext cx="5715000" cy="228600"/>
          </a:xfrm>
          <a:prstGeom prst="rect">
            <a:avLst/>
          </a:prstGeom>
          <a:noFill/>
          <a:ln w="0">
            <a:noFill/>
          </a:ln>
        </p:spPr>
        <p:txBody>
          <a:bodyPr wrap="square" lIns="0" tIns="0" rIns="0" bIns="0" anchor="t">
            <a:noAutofit/>
          </a:bodyPr>
          <a:lstStyle/>
          <a:p>
            <a:pPr algn="l">
              <a:buNone/>
              <a:defRPr sz="975" b="1">
                <a:solidFill>
                  <a:srgbClr val="2DD4BF"/>
                </a:solidFill>
                <a:latin typeface="DejaVu Sans"/>
                <a:ea typeface="DejaVu Sans"/>
                <a:cs typeface="DejaVu Sans"/>
              </a:defRPr>
            </a:pPr>
            <a:r>
              <a:rPr sz="975" b="1">
                <a:solidFill>
                  <a:srgbClr val="2DD4BF"/>
                </a:solidFill>
                <a:latin typeface="DejaVu Sans"/>
                <a:ea typeface="DejaVu Sans"/>
                <a:cs typeface="DejaVu Sans"/>
              </a:rPr>
              <a:t>CSE TABLE-I DATA PROTOCOL</a:t>
            </a:r>
          </a:p>
        </p:txBody>
      </p:sp>
      <p:sp>
        <p:nvSpPr>
          <p:cNvPr id="2" name="Rectangle 1">
            <a:extLst>
              <a:ext uri="{FF2B5EF4-FFF2-40B4-BE49-F238E27FC236}">
                <a16:creationId xmlns:a16="http://schemas.microsoft.com/office/drawing/2014/main" id="{DB90596F-2066-46B0-B963-6E599B63C83C}"/>
              </a:ext>
            </a:extLst>
          </p:cNvPr>
          <p:cNvSpPr>
            <a:spLocks noGrp="1"/>
          </p:cNvSpPr>
          <p:nvPr/>
        </p:nvSpPr>
        <p:spPr>
          <a:xfrm>
            <a:off x="609600" y="685800"/>
            <a:ext cx="10953750" cy="552450"/>
          </a:xfrm>
          <a:prstGeom prst="rect">
            <a:avLst/>
          </a:prstGeom>
          <a:noFill/>
          <a:ln w="0">
            <a:noFill/>
          </a:ln>
        </p:spPr>
        <p:txBody>
          <a:bodyPr wrap="square" lIns="0" tIns="0" rIns="0" bIns="0" anchor="t">
            <a:noAutofit/>
          </a:bodyPr>
          <a:lstStyle/>
          <a:p>
            <a:pPr algn="l">
              <a:buNone/>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CSE development and held-out evaluation</a:t>
            </a:r>
          </a:p>
        </p:txBody>
      </p:sp>
      <p:sp>
        <p:nvSpPr>
          <p:cNvPr id="3" name="Straight Connector 2">
            <a:extLst>
              <a:ext uri="{FF2B5EF4-FFF2-40B4-BE49-F238E27FC236}">
                <a16:creationId xmlns:a16="http://schemas.microsoft.com/office/drawing/2014/main" id="{72D2C2F6-86A3-49D5-89D3-6A9C6351D796}"/>
              </a:ext>
            </a:extLst>
          </p:cNvPr>
          <p:cNvSpPr>
            <a:spLocks noGrp="1"/>
          </p:cNvSpPr>
          <p:nvPr/>
        </p:nvSpPr>
        <p:spPr>
          <a:xfrm>
            <a:off x="609600" y="1371600"/>
            <a:ext cx="10972800" cy="0"/>
          </a:xfrm>
          <a:prstGeom prst="line">
            <a:avLst/>
          </a:prstGeom>
          <a:noFill/>
          <a:ln w="19050">
            <a:solidFill>
              <a:srgbClr val="294057"/>
            </a:solidFill>
            <a:prstDash val="solid"/>
          </a:ln>
        </p:spPr>
        <p:txBody>
          <a:bodyPr/>
          <a:lstStyle/>
          <a:p>
            <a:endParaRPr/>
          </a:p>
        </p:txBody>
      </p:sp>
      <p:sp>
        <p:nvSpPr>
          <p:cNvPr id="4" name="Rectangle 3">
            <a:extLst>
              <a:ext uri="{FF2B5EF4-FFF2-40B4-BE49-F238E27FC236}">
                <a16:creationId xmlns:a16="http://schemas.microsoft.com/office/drawing/2014/main" id="{1CB363F9-BC47-4B28-A454-090BB368AB48}"/>
              </a:ext>
            </a:extLst>
          </p:cNvPr>
          <p:cNvSpPr>
            <a:spLocks noGrp="1"/>
          </p:cNvSpPr>
          <p:nvPr/>
        </p:nvSpPr>
        <p:spPr>
          <a:xfrm>
            <a:off x="609600" y="1714500"/>
            <a:ext cx="4476750" cy="381000"/>
          </a:xfrm>
          <a:prstGeom prst="rect">
            <a:avLst/>
          </a:prstGeom>
          <a:noFill/>
          <a:ln w="0">
            <a:noFill/>
          </a:ln>
        </p:spPr>
        <p:txBody>
          <a:bodyPr wrap="square" lIns="0" tIns="0" rIns="0" bIns="0" anchor="t">
            <a:normAutofit/>
          </a:bodyPr>
          <a:lstStyle/>
          <a:p>
            <a:pPr algn="l">
              <a:buNone/>
              <a:defRPr sz="2025" b="1">
                <a:solidFill>
                  <a:srgbClr val="4EA1FF"/>
                </a:solidFill>
                <a:latin typeface="DejaVu Sans"/>
                <a:ea typeface="DejaVu Sans"/>
                <a:cs typeface="DejaVu Sans"/>
              </a:defRPr>
            </a:pPr>
            <a:r>
              <a:rPr sz="2025" b="1">
                <a:solidFill>
                  <a:srgbClr val="4EA1FF"/>
                </a:solidFill>
                <a:latin typeface="DejaVu Sans"/>
                <a:ea typeface="DejaVu Sans"/>
                <a:cs typeface="DejaVu Sans"/>
              </a:rPr>
              <a:t>BCI Competition IV 2A</a:t>
            </a:r>
          </a:p>
        </p:txBody>
      </p:sp>
      <p:sp>
        <p:nvSpPr>
          <p:cNvPr id="5" name="Rectangle 4">
            <a:extLst>
              <a:ext uri="{FF2B5EF4-FFF2-40B4-BE49-F238E27FC236}">
                <a16:creationId xmlns:a16="http://schemas.microsoft.com/office/drawing/2014/main" id="{415EC4BF-6FEE-4A91-AEAD-D3C148653231}"/>
              </a:ext>
            </a:extLst>
          </p:cNvPr>
          <p:cNvSpPr>
            <a:spLocks noGrp="1"/>
          </p:cNvSpPr>
          <p:nvPr/>
        </p:nvSpPr>
        <p:spPr>
          <a:xfrm>
            <a:off x="609600" y="2152650"/>
            <a:ext cx="4476750" cy="333375"/>
          </a:xfrm>
          <a:prstGeom prst="rect">
            <a:avLst/>
          </a:prstGeom>
          <a:noFill/>
          <a:ln w="0">
            <a:noFill/>
          </a:ln>
        </p:spPr>
        <p:txBody>
          <a:bodyPr wrap="square" lIns="0" tIns="0" rIns="0" bIns="0" anchor="t">
            <a:normAutofit/>
          </a:bodyPr>
          <a:lstStyle/>
          <a:p>
            <a:pPr algn="l">
              <a:buNone/>
              <a:defRPr sz="1425" b="1">
                <a:solidFill>
                  <a:srgbClr val="EAF2F8"/>
                </a:solidFill>
                <a:latin typeface="DejaVu Sans"/>
                <a:ea typeface="DejaVu Sans"/>
                <a:cs typeface="DejaVu Sans"/>
              </a:defRPr>
            </a:pPr>
            <a:r>
              <a:rPr sz="1425" b="1">
                <a:solidFill>
                  <a:srgbClr val="EAF2F8"/>
                </a:solidFill>
                <a:latin typeface="DejaVu Sans"/>
                <a:ea typeface="DejaVu Sans"/>
                <a:cs typeface="DejaVu Sans"/>
              </a:rPr>
              <a:t>Session I develops the model</a:t>
            </a:r>
          </a:p>
        </p:txBody>
      </p:sp>
      <p:sp>
        <p:nvSpPr>
          <p:cNvPr id="6" name="Rectangle 5">
            <a:extLst>
              <a:ext uri="{FF2B5EF4-FFF2-40B4-BE49-F238E27FC236}">
                <a16:creationId xmlns:a16="http://schemas.microsoft.com/office/drawing/2014/main" id="{2D2C6BCC-6841-42A3-AE4B-8F5D735C1333}"/>
              </a:ext>
            </a:extLst>
          </p:cNvPr>
          <p:cNvSpPr>
            <a:spLocks noGrp="1"/>
          </p:cNvSpPr>
          <p:nvPr/>
        </p:nvSpPr>
        <p:spPr>
          <a:xfrm>
            <a:off x="609600" y="2667000"/>
            <a:ext cx="4667250" cy="1571625"/>
          </a:xfrm>
          <a:prstGeom prst="rect">
            <a:avLst/>
          </a:prstGeom>
          <a:noFill/>
          <a:ln w="0">
            <a:noFill/>
          </a:ln>
        </p:spPr>
        <p:txBody>
          <a:bodyPr wrap="square" lIns="0" tIns="0" rIns="0" bIns="0" anchor="t">
            <a:noAutofit/>
          </a:bodyPr>
          <a:lstStyle/>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Stratified 70/30 split within Session I</a:t>
            </a:r>
          </a:p>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Fit FBCSP and PCA on training only</a:t>
            </a:r>
          </a:p>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Transform validation with fitted models</a:t>
            </a:r>
          </a:p>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Hold out Session II, left/right trials</a:t>
            </a:r>
          </a:p>
        </p:txBody>
      </p:sp>
      <p:sp>
        <p:nvSpPr>
          <p:cNvPr id="7" name="Straight Connector 6">
            <a:extLst>
              <a:ext uri="{FF2B5EF4-FFF2-40B4-BE49-F238E27FC236}">
                <a16:creationId xmlns:a16="http://schemas.microsoft.com/office/drawing/2014/main" id="{CC28E0FF-26C5-4466-A775-C0F1E5112F6C}"/>
              </a:ext>
            </a:extLst>
          </p:cNvPr>
          <p:cNvSpPr>
            <a:spLocks noGrp="1"/>
          </p:cNvSpPr>
          <p:nvPr/>
        </p:nvSpPr>
        <p:spPr>
          <a:xfrm>
            <a:off x="5810250" y="1733550"/>
            <a:ext cx="0" cy="3429000"/>
          </a:xfrm>
          <a:prstGeom prst="line">
            <a:avLst/>
          </a:prstGeom>
          <a:noFill/>
          <a:ln w="19050">
            <a:solidFill>
              <a:srgbClr val="294057"/>
            </a:solidFill>
            <a:prstDash val="solid"/>
          </a:ln>
        </p:spPr>
        <p:txBody>
          <a:bodyPr/>
          <a:lstStyle/>
          <a:p>
            <a:endParaRPr/>
          </a:p>
        </p:txBody>
      </p:sp>
      <p:sp>
        <p:nvSpPr>
          <p:cNvPr id="8" name="Rectangle 7">
            <a:extLst>
              <a:ext uri="{FF2B5EF4-FFF2-40B4-BE49-F238E27FC236}">
                <a16:creationId xmlns:a16="http://schemas.microsoft.com/office/drawing/2014/main" id="{67D14E88-1583-4468-ADF4-3F6272715EF5}"/>
              </a:ext>
            </a:extLst>
          </p:cNvPr>
          <p:cNvSpPr>
            <a:spLocks noGrp="1"/>
          </p:cNvSpPr>
          <p:nvPr/>
        </p:nvSpPr>
        <p:spPr>
          <a:xfrm>
            <a:off x="6572250" y="1714500"/>
            <a:ext cx="4476750" cy="381000"/>
          </a:xfrm>
          <a:prstGeom prst="rect">
            <a:avLst/>
          </a:prstGeom>
          <a:noFill/>
          <a:ln w="0">
            <a:noFill/>
          </a:ln>
        </p:spPr>
        <p:txBody>
          <a:bodyPr wrap="square" lIns="0" tIns="0" rIns="0" bIns="0" anchor="t">
            <a:normAutofit/>
          </a:bodyPr>
          <a:lstStyle/>
          <a:p>
            <a:pPr algn="l">
              <a:buNone/>
              <a:defRPr sz="2025" b="1">
                <a:solidFill>
                  <a:srgbClr val="2DD4BF"/>
                </a:solidFill>
                <a:latin typeface="DejaVu Sans"/>
                <a:ea typeface="DejaVu Sans"/>
                <a:cs typeface="DejaVu Sans"/>
              </a:defRPr>
            </a:pPr>
            <a:r>
              <a:rPr sz="2025" b="1">
                <a:solidFill>
                  <a:srgbClr val="2DD4BF"/>
                </a:solidFill>
                <a:latin typeface="DejaVu Sans"/>
                <a:ea typeface="DejaVu Sans"/>
                <a:cs typeface="DejaVu Sans"/>
              </a:rPr>
              <a:t>BCI Competition IV 2B</a:t>
            </a:r>
          </a:p>
        </p:txBody>
      </p:sp>
      <p:sp>
        <p:nvSpPr>
          <p:cNvPr id="9" name="Rectangle 8">
            <a:extLst>
              <a:ext uri="{FF2B5EF4-FFF2-40B4-BE49-F238E27FC236}">
                <a16:creationId xmlns:a16="http://schemas.microsoft.com/office/drawing/2014/main" id="{DA09DE3D-873D-45A1-A54D-3F145758972B}"/>
              </a:ext>
            </a:extLst>
          </p:cNvPr>
          <p:cNvSpPr>
            <a:spLocks noGrp="1"/>
          </p:cNvSpPr>
          <p:nvPr/>
        </p:nvSpPr>
        <p:spPr>
          <a:xfrm>
            <a:off x="6572250" y="2152650"/>
            <a:ext cx="4476750" cy="333375"/>
          </a:xfrm>
          <a:prstGeom prst="rect">
            <a:avLst/>
          </a:prstGeom>
          <a:noFill/>
          <a:ln w="0">
            <a:noFill/>
          </a:ln>
        </p:spPr>
        <p:txBody>
          <a:bodyPr wrap="square" lIns="0" tIns="0" rIns="0" bIns="0" anchor="t">
            <a:normAutofit/>
          </a:bodyPr>
          <a:lstStyle/>
          <a:p>
            <a:pPr algn="l">
              <a:buNone/>
              <a:defRPr sz="1425" b="1">
                <a:solidFill>
                  <a:srgbClr val="EAF2F8"/>
                </a:solidFill>
                <a:latin typeface="DejaVu Sans"/>
                <a:ea typeface="DejaVu Sans"/>
                <a:cs typeface="DejaVu Sans"/>
              </a:defRPr>
            </a:pPr>
            <a:r>
              <a:rPr sz="1425" b="1">
                <a:solidFill>
                  <a:srgbClr val="EAF2F8"/>
                </a:solidFill>
                <a:latin typeface="DejaVu Sans"/>
                <a:ea typeface="DejaVu Sans"/>
                <a:cs typeface="DejaVu Sans"/>
              </a:rPr>
              <a:t>Sessions I–III develop the model</a:t>
            </a:r>
          </a:p>
        </p:txBody>
      </p:sp>
      <p:sp>
        <p:nvSpPr>
          <p:cNvPr id="10" name="Rectangle 9">
            <a:extLst>
              <a:ext uri="{FF2B5EF4-FFF2-40B4-BE49-F238E27FC236}">
                <a16:creationId xmlns:a16="http://schemas.microsoft.com/office/drawing/2014/main" id="{79EDB97E-2B69-4691-B5C6-8BE87573EDB4}"/>
              </a:ext>
            </a:extLst>
          </p:cNvPr>
          <p:cNvSpPr>
            <a:spLocks noGrp="1"/>
          </p:cNvSpPr>
          <p:nvPr/>
        </p:nvSpPr>
        <p:spPr>
          <a:xfrm>
            <a:off x="6572250" y="2667000"/>
            <a:ext cx="4667250" cy="1571625"/>
          </a:xfrm>
          <a:prstGeom prst="rect">
            <a:avLst/>
          </a:prstGeom>
          <a:noFill/>
          <a:ln w="0">
            <a:noFill/>
          </a:ln>
        </p:spPr>
        <p:txBody>
          <a:bodyPr wrap="square" lIns="0" tIns="0" rIns="0" bIns="0" anchor="t">
            <a:noAutofit/>
          </a:bodyPr>
          <a:lstStyle/>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Stratified 70/30 split within Sessions I–III</a:t>
            </a:r>
          </a:p>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Fit FBCSP and PCA on training only</a:t>
            </a:r>
          </a:p>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Transform validation with fitted models</a:t>
            </a:r>
          </a:p>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Hold out Sessions IV–V</a:t>
            </a:r>
          </a:p>
        </p:txBody>
      </p:sp>
      <p:sp>
        <p:nvSpPr>
          <p:cNvPr id="11" name="Rectangle: Rounded Corners 10">
            <a:extLst>
              <a:ext uri="{FF2B5EF4-FFF2-40B4-BE49-F238E27FC236}">
                <a16:creationId xmlns:a16="http://schemas.microsoft.com/office/drawing/2014/main" id="{10101867-1F8A-439D-A88E-D31865E6AD0A}"/>
              </a:ext>
            </a:extLst>
          </p:cNvPr>
          <p:cNvSpPr>
            <a:spLocks noGrp="1"/>
          </p:cNvSpPr>
          <p:nvPr/>
        </p:nvSpPr>
        <p:spPr>
          <a:xfrm>
            <a:off x="609600" y="4810125"/>
            <a:ext cx="10572750" cy="685800"/>
          </a:xfrm>
          <a:prstGeom prst="roundRect">
            <a:avLst>
              <a:gd name="adj" fmla="val 13889"/>
            </a:avLst>
          </a:prstGeom>
          <a:solidFill>
            <a:srgbClr val="0F1C2B"/>
          </a:solidFill>
          <a:ln w="9525">
            <a:solidFill>
              <a:srgbClr val="294057"/>
            </a:solidFill>
            <a:prstDash val="solid"/>
          </a:ln>
        </p:spPr>
        <p:txBody>
          <a:bodyPr/>
          <a:lstStyle/>
          <a:p>
            <a:endParaRPr/>
          </a:p>
        </p:txBody>
      </p:sp>
      <p:sp>
        <p:nvSpPr>
          <p:cNvPr id="12" name="Rectangle 11">
            <a:extLst>
              <a:ext uri="{FF2B5EF4-FFF2-40B4-BE49-F238E27FC236}">
                <a16:creationId xmlns:a16="http://schemas.microsoft.com/office/drawing/2014/main" id="{0A15745C-1BA2-4735-BB56-2BED47890316}"/>
              </a:ext>
            </a:extLst>
          </p:cNvPr>
          <p:cNvSpPr>
            <a:spLocks noGrp="1"/>
          </p:cNvSpPr>
          <p:nvPr/>
        </p:nvSpPr>
        <p:spPr>
          <a:xfrm>
            <a:off x="819150" y="4991100"/>
            <a:ext cx="2095500" cy="228600"/>
          </a:xfrm>
          <a:prstGeom prst="rect">
            <a:avLst/>
          </a:prstGeom>
          <a:noFill/>
          <a:ln w="0">
            <a:noFill/>
          </a:ln>
        </p:spPr>
        <p:txBody>
          <a:bodyPr wrap="square" lIns="0" tIns="0" rIns="0" bIns="0" anchor="t">
            <a:normAutofit/>
          </a:bodyPr>
          <a:lstStyle/>
          <a:p>
            <a:pPr algn="l">
              <a:buNone/>
              <a:defRPr sz="1050" b="1">
                <a:solidFill>
                  <a:srgbClr val="F5B942"/>
                </a:solidFill>
                <a:latin typeface="DejaVu Sans"/>
                <a:ea typeface="DejaVu Sans"/>
                <a:cs typeface="DejaVu Sans"/>
              </a:defRPr>
            </a:pPr>
            <a:r>
              <a:rPr sz="1050" b="1">
                <a:solidFill>
                  <a:srgbClr val="F5B942"/>
                </a:solidFill>
                <a:latin typeface="DejaVu Sans"/>
                <a:ea typeface="DejaVu Sans"/>
                <a:cs typeface="DejaVu Sans"/>
              </a:rPr>
              <a:t>Shared rule</a:t>
            </a:r>
          </a:p>
        </p:txBody>
      </p:sp>
      <p:sp>
        <p:nvSpPr>
          <p:cNvPr id="13" name="Rectangle 12">
            <a:extLst>
              <a:ext uri="{FF2B5EF4-FFF2-40B4-BE49-F238E27FC236}">
                <a16:creationId xmlns:a16="http://schemas.microsoft.com/office/drawing/2014/main" id="{F08AD596-C1F7-4D0E-AE1C-70F38E40AE54}"/>
              </a:ext>
            </a:extLst>
          </p:cNvPr>
          <p:cNvSpPr>
            <a:spLocks noGrp="1"/>
          </p:cNvSpPr>
          <p:nvPr/>
        </p:nvSpPr>
        <p:spPr>
          <a:xfrm>
            <a:off x="3028950" y="4914900"/>
            <a:ext cx="7858125" cy="400050"/>
          </a:xfrm>
          <a:prstGeom prst="rect">
            <a:avLst/>
          </a:prstGeom>
          <a:noFill/>
          <a:ln w="0">
            <a:noFill/>
          </a:ln>
        </p:spPr>
        <p:txBody>
          <a:bodyPr wrap="square" lIns="0" tIns="0" rIns="0" bIns="0" anchor="t">
            <a:noAutofit/>
          </a:bodyPr>
          <a:lstStyle/>
          <a:p>
            <a:pPr algn="l">
              <a:buNone/>
              <a:defRPr sz="1200" b="1">
                <a:solidFill>
                  <a:srgbClr val="EAF2F8"/>
                </a:solidFill>
                <a:latin typeface="DejaVu Sans"/>
                <a:ea typeface="DejaVu Sans"/>
                <a:cs typeface="DejaVu Sans"/>
              </a:defRPr>
            </a:pPr>
            <a:r>
              <a:rPr sz="1200" b="1">
                <a:solidFill>
                  <a:srgbClr val="EAF2F8"/>
                </a:solidFill>
                <a:latin typeface="DejaVu Sans"/>
                <a:ea typeface="DejaVu Sans"/>
                <a:cs typeface="DejaVu Sans"/>
              </a:rPr>
              <a:t>Evaluation trials do not enter feature-model fitting.</a:t>
            </a:r>
          </a:p>
          <a:p>
            <a:pPr algn="l">
              <a:buNone/>
              <a:defRPr sz="1200" b="1">
                <a:solidFill>
                  <a:srgbClr val="EAF2F8"/>
                </a:solidFill>
                <a:latin typeface="DejaVu Sans"/>
                <a:ea typeface="DejaVu Sans"/>
                <a:cs typeface="DejaVu Sans"/>
              </a:defRPr>
            </a:pPr>
            <a:r>
              <a:rPr sz="1200" b="1">
                <a:solidFill>
                  <a:srgbClr val="EAF2F8"/>
                </a:solidFill>
                <a:latin typeface="DejaVu Sans"/>
                <a:ea typeface="DejaVu Sans"/>
                <a:cs typeface="DejaVu Sans"/>
              </a:rPr>
              <a:t>Record the split seed and effective detector configuration.</a:t>
            </a:r>
            <a:endParaRPr sz="1425" b="1">
              <a:solidFill>
                <a:srgbClr val="EAF2F8"/>
              </a:solidFill>
              <a:latin typeface="DejaVu Sans"/>
              <a:ea typeface="DejaVu Sans"/>
              <a:cs typeface="DejaVu Sans"/>
            </a:endParaRPr>
          </a:p>
        </p:txBody>
      </p:sp>
      <p:sp>
        <p:nvSpPr>
          <p:cNvPr id="14" name="Rectangle 13">
            <a:extLst>
              <a:ext uri="{FF2B5EF4-FFF2-40B4-BE49-F238E27FC236}">
                <a16:creationId xmlns:a16="http://schemas.microsoft.com/office/drawing/2014/main" id="{0E25EFAE-20EA-4B23-A584-EA109F6639DF}"/>
              </a:ext>
            </a:extLst>
          </p:cNvPr>
          <p:cNvSpPr>
            <a:spLocks noGrp="1"/>
          </p:cNvSpPr>
          <p:nvPr/>
        </p:nvSpPr>
        <p:spPr>
          <a:xfrm>
            <a:off x="609600" y="6515100"/>
            <a:ext cx="4095750" cy="171450"/>
          </a:xfrm>
          <a:prstGeom prst="rect">
            <a:avLst/>
          </a:prstGeom>
          <a:noFill/>
          <a:ln w="0">
            <a:noFill/>
          </a:ln>
        </p:spPr>
        <p:txBody>
          <a:bodyPr wrap="square" lIns="0" tIns="0" rIns="0" bIns="0" anchor="t">
            <a:normAutofit/>
          </a:bodyPr>
          <a:lstStyle/>
          <a:p>
            <a:pPr algn="l">
              <a:buNone/>
              <a:defRPr sz="825" b="0">
                <a:solidFill>
                  <a:srgbClr val="9CB0C3"/>
                </a:solidFill>
                <a:latin typeface="DejaVu Sans"/>
                <a:ea typeface="DejaVu Sans"/>
                <a:cs typeface="DejaVu Sans"/>
              </a:defRPr>
            </a:pPr>
            <a:r>
              <a:rPr sz="825" b="0">
                <a:solidFill>
                  <a:srgbClr val="9CB0C3"/>
                </a:solidFill>
                <a:latin typeface="DejaVu Sans"/>
                <a:ea typeface="DejaVu Sans"/>
                <a:cs typeface="DejaVu Sans"/>
              </a:rPr>
              <a:t>hlin863/ewma_covariate_shift_demo</a:t>
            </a:r>
          </a:p>
        </p:txBody>
      </p:sp>
      <p:sp>
        <p:nvSpPr>
          <p:cNvPr id="15" name="Rectangle 14">
            <a:extLst>
              <a:ext uri="{FF2B5EF4-FFF2-40B4-BE49-F238E27FC236}">
                <a16:creationId xmlns:a16="http://schemas.microsoft.com/office/drawing/2014/main" id="{3247F094-C46B-4595-A723-4047FC00996C}"/>
              </a:ext>
            </a:extLst>
          </p:cNvPr>
          <p:cNvSpPr>
            <a:spLocks noGrp="1"/>
          </p:cNvSpPr>
          <p:nvPr/>
        </p:nvSpPr>
        <p:spPr>
          <a:xfrm>
            <a:off x="11049000" y="6515100"/>
            <a:ext cx="533400" cy="171450"/>
          </a:xfrm>
          <a:prstGeom prst="rect">
            <a:avLst/>
          </a:prstGeom>
          <a:noFill/>
          <a:ln w="0">
            <a:noFill/>
          </a:ln>
        </p:spPr>
        <p:txBody>
          <a:bodyPr wrap="square" lIns="0" tIns="0" rIns="0" bIns="0" anchor="t">
            <a:normAutofit fontScale="70000" lnSpcReduction="20000"/>
          </a:bodyPr>
          <a:lstStyle/>
          <a:p>
            <a:r>
              <a:t>13</a:t>
            </a:r>
          </a:p>
        </p:txBody>
      </p:sp>
      <p:sp>
        <p:nvSpPr>
          <p:cNvPr id="17" name="Separate benchmark protocol">
            <a:extLst>
              <a:ext uri="{FF2B5EF4-FFF2-40B4-BE49-F238E27FC236}">
                <a16:creationId xmlns:a16="http://schemas.microsoft.com/office/drawing/2014/main" id="{01F97631-6B21-4707-B35D-298B5E7C6B5F}"/>
              </a:ext>
            </a:extLst>
          </p:cNvPr>
          <p:cNvSpPr>
            <a:spLocks noGrp="1"/>
          </p:cNvSpPr>
          <p:nvPr/>
        </p:nvSpPr>
        <p:spPr>
          <a:xfrm>
            <a:off x="609600" y="5715000"/>
            <a:ext cx="10763250" cy="495300"/>
          </a:xfrm>
          <a:prstGeom prst="rect">
            <a:avLst/>
          </a:prstGeom>
          <a:noFill/>
          <a:ln w="0">
            <a:noFill/>
          </a:ln>
        </p:spPr>
        <p:txBody>
          <a:bodyPr>
            <a:noAutofit/>
          </a:bodyPr>
          <a:lstStyle/>
          <a:p>
            <a:pPr>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Classifier benchmark: 2A fits Session I and tests II.</a:t>
            </a:r>
          </a:p>
          <a:p>
            <a:pPr>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The stored 2B benchmark fits I–II and tests labelled Session III.</a:t>
            </a:r>
          </a:p>
        </p:txBody>
      </p:sp>
    </p:spTree>
    <p:extLst>
      <p:ext uri="{BB962C8B-B14F-4D97-AF65-F5344CB8AC3E}">
        <p14:creationId xmlns:p14="http://schemas.microsoft.com/office/powerpoint/2010/main" val="1673195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AA9D904-5262-45AB-ADD9-F297578434DC}"/>
              </a:ext>
            </a:extLst>
          </p:cNvPr>
          <p:cNvSpPr>
            <a:spLocks noGrp="1"/>
          </p:cNvSpPr>
          <p:nvPr/>
        </p:nvSpPr>
        <p:spPr>
          <a:xfrm>
            <a:off x="609600" y="400050"/>
            <a:ext cx="5715000" cy="228600"/>
          </a:xfrm>
          <a:prstGeom prst="rect">
            <a:avLst/>
          </a:prstGeom>
          <a:noFill/>
          <a:ln w="0">
            <a:noFill/>
          </a:ln>
        </p:spPr>
        <p:txBody>
          <a:bodyPr wrap="square" lIns="0" tIns="0" rIns="0" bIns="0" anchor="t">
            <a:noAutofit/>
          </a:bodyPr>
          <a:lstStyle/>
          <a:p>
            <a:pPr algn="l">
              <a:buNone/>
              <a:defRPr sz="975" b="1">
                <a:solidFill>
                  <a:srgbClr val="2DD4BF"/>
                </a:solidFill>
                <a:latin typeface="DejaVu Sans"/>
                <a:ea typeface="DejaVu Sans"/>
                <a:cs typeface="DejaVu Sans"/>
              </a:defRPr>
            </a:pPr>
            <a:r>
              <a:rPr sz="975" b="1">
                <a:solidFill>
                  <a:srgbClr val="2DD4BF"/>
                </a:solidFill>
                <a:latin typeface="DejaVu Sans"/>
                <a:ea typeface="DejaVu Sans"/>
                <a:cs typeface="DejaVu Sans"/>
              </a:rPr>
              <a:t>TRACKED EXPERIMENT RESULTS</a:t>
            </a:r>
          </a:p>
        </p:txBody>
      </p:sp>
      <p:sp>
        <p:nvSpPr>
          <p:cNvPr id="2" name="Rectangle 1">
            <a:extLst>
              <a:ext uri="{FF2B5EF4-FFF2-40B4-BE49-F238E27FC236}">
                <a16:creationId xmlns:a16="http://schemas.microsoft.com/office/drawing/2014/main" id="{90E829DA-45E0-4ACE-ABE3-77ABCDA0C90E}"/>
              </a:ext>
            </a:extLst>
          </p:cNvPr>
          <p:cNvSpPr>
            <a:spLocks noGrp="1"/>
          </p:cNvSpPr>
          <p:nvPr/>
        </p:nvSpPr>
        <p:spPr>
          <a:xfrm>
            <a:off x="609600" y="685800"/>
            <a:ext cx="10953750" cy="552450"/>
          </a:xfrm>
          <a:prstGeom prst="rect">
            <a:avLst/>
          </a:prstGeom>
          <a:noFill/>
          <a:ln w="0">
            <a:noFill/>
          </a:ln>
        </p:spPr>
        <p:txBody>
          <a:bodyPr wrap="square" lIns="0" tIns="0" rIns="0" bIns="0" anchor="t">
            <a:noAutofit/>
          </a:bodyPr>
          <a:lstStyle/>
          <a:p>
            <a:pPr algn="l">
              <a:buNone/>
              <a:defRPr sz="2550" b="1">
                <a:solidFill>
                  <a:srgbClr val="EAF2F8"/>
                </a:solidFill>
                <a:latin typeface="DejaVu Sans"/>
                <a:ea typeface="DejaVu Sans"/>
                <a:cs typeface="DejaVu Sans"/>
              </a:defRPr>
            </a:pPr>
            <a:r>
              <a:rPr sz="2550" b="1">
                <a:solidFill>
                  <a:srgbClr val="EAF2F8"/>
                </a:solidFill>
                <a:latin typeface="DejaVu Sans"/>
                <a:ea typeface="DejaVu Sans"/>
                <a:cs typeface="DejaVu Sans"/>
              </a:rPr>
              <a:t>Classifier and complementary-monitoring results</a:t>
            </a:r>
          </a:p>
        </p:txBody>
      </p:sp>
      <p:sp>
        <p:nvSpPr>
          <p:cNvPr id="3" name="Straight Connector 2">
            <a:extLst>
              <a:ext uri="{FF2B5EF4-FFF2-40B4-BE49-F238E27FC236}">
                <a16:creationId xmlns:a16="http://schemas.microsoft.com/office/drawing/2014/main" id="{D9EBF67B-0780-415B-8D50-0CB4B5C6AD36}"/>
              </a:ext>
            </a:extLst>
          </p:cNvPr>
          <p:cNvSpPr>
            <a:spLocks noGrp="1"/>
          </p:cNvSpPr>
          <p:nvPr/>
        </p:nvSpPr>
        <p:spPr>
          <a:xfrm>
            <a:off x="609600" y="1371600"/>
            <a:ext cx="10972800" cy="0"/>
          </a:xfrm>
          <a:prstGeom prst="line">
            <a:avLst/>
          </a:prstGeom>
          <a:noFill/>
          <a:ln w="19050">
            <a:solidFill>
              <a:srgbClr val="294057"/>
            </a:solidFill>
            <a:prstDash val="solid"/>
          </a:ln>
        </p:spPr>
        <p:txBody>
          <a:bodyPr/>
          <a:lstStyle/>
          <a:p>
            <a:endParaRPr/>
          </a:p>
        </p:txBody>
      </p:sp>
      <p:sp>
        <p:nvSpPr>
          <p:cNvPr id="24" name="Rectangle 23">
            <a:extLst>
              <a:ext uri="{FF2B5EF4-FFF2-40B4-BE49-F238E27FC236}">
                <a16:creationId xmlns:a16="http://schemas.microsoft.com/office/drawing/2014/main" id="{CDDBF32D-3294-4B4E-9CBD-0955D992EA27}"/>
              </a:ext>
            </a:extLst>
          </p:cNvPr>
          <p:cNvSpPr>
            <a:spLocks noGrp="1"/>
          </p:cNvSpPr>
          <p:nvPr/>
        </p:nvSpPr>
        <p:spPr>
          <a:xfrm>
            <a:off x="609600" y="6515100"/>
            <a:ext cx="4095750" cy="171450"/>
          </a:xfrm>
          <a:prstGeom prst="rect">
            <a:avLst/>
          </a:prstGeom>
          <a:noFill/>
          <a:ln w="0">
            <a:noFill/>
          </a:ln>
        </p:spPr>
        <p:txBody>
          <a:bodyPr wrap="square" lIns="0" tIns="0" rIns="0" bIns="0" anchor="t">
            <a:normAutofit/>
          </a:bodyPr>
          <a:lstStyle/>
          <a:p>
            <a:pPr algn="l">
              <a:buNone/>
              <a:defRPr sz="825" b="0">
                <a:solidFill>
                  <a:srgbClr val="9CB0C3"/>
                </a:solidFill>
                <a:latin typeface="DejaVu Sans"/>
                <a:ea typeface="DejaVu Sans"/>
                <a:cs typeface="DejaVu Sans"/>
              </a:defRPr>
            </a:pPr>
            <a:r>
              <a:rPr sz="825" b="0">
                <a:solidFill>
                  <a:srgbClr val="9CB0C3"/>
                </a:solidFill>
                <a:latin typeface="DejaVu Sans"/>
                <a:ea typeface="DejaVu Sans"/>
                <a:cs typeface="DejaVu Sans"/>
              </a:rPr>
              <a:t>hlin863/ewma_covariate_shift_demo</a:t>
            </a:r>
          </a:p>
        </p:txBody>
      </p:sp>
      <p:sp>
        <p:nvSpPr>
          <p:cNvPr id="25" name="Rectangle 24">
            <a:extLst>
              <a:ext uri="{FF2B5EF4-FFF2-40B4-BE49-F238E27FC236}">
                <a16:creationId xmlns:a16="http://schemas.microsoft.com/office/drawing/2014/main" id="{B610C229-9FB6-427F-AA31-1012D15E91D3}"/>
              </a:ext>
            </a:extLst>
          </p:cNvPr>
          <p:cNvSpPr>
            <a:spLocks noGrp="1"/>
          </p:cNvSpPr>
          <p:nvPr/>
        </p:nvSpPr>
        <p:spPr>
          <a:xfrm>
            <a:off x="11049000" y="6515100"/>
            <a:ext cx="533400" cy="171450"/>
          </a:xfrm>
          <a:prstGeom prst="rect">
            <a:avLst/>
          </a:prstGeom>
          <a:noFill/>
          <a:ln w="0">
            <a:noFill/>
          </a:ln>
        </p:spPr>
        <p:txBody>
          <a:bodyPr wrap="square" lIns="0" tIns="0" rIns="0" bIns="0" anchor="t">
            <a:normAutofit fontScale="70000" lnSpcReduction="20000"/>
          </a:bodyPr>
          <a:lstStyle/>
          <a:p>
            <a:r>
              <a:t>14</a:t>
            </a:r>
          </a:p>
        </p:txBody>
      </p:sp>
      <p:sp>
        <p:nvSpPr>
          <p:cNvPr id="27" name="Classifier heading">
            <a:extLst>
              <a:ext uri="{FF2B5EF4-FFF2-40B4-BE49-F238E27FC236}">
                <a16:creationId xmlns:a16="http://schemas.microsoft.com/office/drawing/2014/main" id="{DD2AF170-29D2-415C-A234-54A7F1A57653}"/>
              </a:ext>
            </a:extLst>
          </p:cNvPr>
          <p:cNvSpPr>
            <a:spLocks noGrp="1"/>
          </p:cNvSpPr>
          <p:nvPr/>
        </p:nvSpPr>
        <p:spPr>
          <a:xfrm>
            <a:off x="609600" y="1695450"/>
            <a:ext cx="4667250" cy="333375"/>
          </a:xfrm>
          <a:prstGeom prst="rect">
            <a:avLst/>
          </a:prstGeom>
          <a:noFill/>
          <a:ln w="0">
            <a:noFill/>
          </a:ln>
        </p:spPr>
        <p:txBody>
          <a:bodyPr>
            <a:noAutofit/>
          </a:bodyPr>
          <a:lstStyle/>
          <a:p>
            <a:pPr>
              <a:defRPr sz="1725" b="1">
                <a:solidFill>
                  <a:srgbClr val="64D98B"/>
                </a:solidFill>
                <a:latin typeface="DejaVu Sans"/>
                <a:ea typeface="DejaVu Sans"/>
                <a:cs typeface="DejaVu Sans"/>
              </a:defRPr>
            </a:pPr>
            <a:r>
              <a:rPr sz="1725" b="1">
                <a:solidFill>
                  <a:srgbClr val="64D98B"/>
                </a:solidFill>
                <a:latin typeface="DejaVu Sans"/>
                <a:ea typeface="DejaVu Sans"/>
                <a:cs typeface="DejaVu Sans"/>
              </a:rPr>
              <a:t>Real EEG classifier benchmark</a:t>
            </a:r>
          </a:p>
        </p:txBody>
      </p:sp>
      <p:sp>
        <p:nvSpPr>
          <p:cNvPr id="28" name="Classifier scope">
            <a:extLst>
              <a:ext uri="{FF2B5EF4-FFF2-40B4-BE49-F238E27FC236}">
                <a16:creationId xmlns:a16="http://schemas.microsoft.com/office/drawing/2014/main" id="{D61F919C-77F3-4B5F-8F80-7ACFCCB47C33}"/>
              </a:ext>
            </a:extLst>
          </p:cNvPr>
          <p:cNvSpPr>
            <a:spLocks noGrp="1"/>
          </p:cNvSpPr>
          <p:nvPr/>
        </p:nvSpPr>
        <p:spPr>
          <a:xfrm>
            <a:off x="609600" y="2095500"/>
            <a:ext cx="4762500" cy="266700"/>
          </a:xfrm>
          <a:prstGeom prst="rect">
            <a:avLst/>
          </a:prstGeom>
          <a:noFill/>
          <a:ln w="0">
            <a:noFill/>
          </a:ln>
        </p:spPr>
        <p:txBody>
          <a:bodyPr>
            <a:noAutofit/>
          </a:bodyPr>
          <a:lstStyle/>
          <a:p>
            <a:pPr>
              <a:defRPr sz="1200" b="0">
                <a:solidFill>
                  <a:srgbClr val="9CB0C3"/>
                </a:solidFill>
                <a:latin typeface="DejaVu Sans"/>
                <a:ea typeface="DejaVu Sans"/>
                <a:cs typeface="DejaVu Sans"/>
              </a:defRPr>
            </a:pPr>
            <a:r>
              <a:rPr sz="1200" b="0">
                <a:solidFill>
                  <a:srgbClr val="9CB0C3"/>
                </a:solidFill>
                <a:latin typeface="DejaVu Sans"/>
                <a:ea typeface="DejaVu Sans"/>
                <a:cs typeface="DejaVu Sans"/>
              </a:rPr>
              <a:t>Mean accuracy across 9 subjects per dataset</a:t>
            </a:r>
          </a:p>
        </p:txBody>
      </p:sp>
      <p:sp>
        <p:nvSpPr>
          <p:cNvPr id="29" name="Complement heading">
            <a:extLst>
              <a:ext uri="{FF2B5EF4-FFF2-40B4-BE49-F238E27FC236}">
                <a16:creationId xmlns:a16="http://schemas.microsoft.com/office/drawing/2014/main" id="{35553F8E-FC12-46E5-B918-E0D0D659CC95}"/>
              </a:ext>
            </a:extLst>
          </p:cNvPr>
          <p:cNvSpPr>
            <a:spLocks noGrp="1"/>
          </p:cNvSpPr>
          <p:nvPr/>
        </p:nvSpPr>
        <p:spPr>
          <a:xfrm>
            <a:off x="6238875" y="1695450"/>
            <a:ext cx="5238750" cy="333375"/>
          </a:xfrm>
          <a:prstGeom prst="rect">
            <a:avLst/>
          </a:prstGeom>
          <a:noFill/>
          <a:ln w="0">
            <a:noFill/>
          </a:ln>
        </p:spPr>
        <p:txBody>
          <a:bodyPr>
            <a:noAutofit/>
          </a:bodyPr>
          <a:lstStyle/>
          <a:p>
            <a:pPr>
              <a:defRPr sz="1725" b="1">
                <a:solidFill>
                  <a:srgbClr val="2DD4BF"/>
                </a:solidFill>
                <a:latin typeface="DejaVu Sans"/>
                <a:ea typeface="DejaVu Sans"/>
                <a:cs typeface="DejaVu Sans"/>
              </a:defRPr>
            </a:pPr>
            <a:r>
              <a:rPr sz="1725" b="1">
                <a:solidFill>
                  <a:srgbClr val="2DD4BF"/>
                </a:solidFill>
                <a:latin typeface="DejaVu Sans"/>
                <a:ea typeface="DejaVu Sans"/>
                <a:cs typeface="DejaVu Sans"/>
              </a:rPr>
              <a:t>Complementary Stage-I monitoring</a:t>
            </a:r>
          </a:p>
        </p:txBody>
      </p:sp>
      <p:sp>
        <p:nvSpPr>
          <p:cNvPr id="30" name="Complement scope">
            <a:extLst>
              <a:ext uri="{FF2B5EF4-FFF2-40B4-BE49-F238E27FC236}">
                <a16:creationId xmlns:a16="http://schemas.microsoft.com/office/drawing/2014/main" id="{4FF0B49B-D860-41A6-88D5-859F9A1BA670}"/>
              </a:ext>
            </a:extLst>
          </p:cNvPr>
          <p:cNvSpPr>
            <a:spLocks noGrp="1"/>
          </p:cNvSpPr>
          <p:nvPr/>
        </p:nvSpPr>
        <p:spPr>
          <a:xfrm>
            <a:off x="6238875" y="2095500"/>
            <a:ext cx="5238750" cy="428625"/>
          </a:xfrm>
          <a:prstGeom prst="rect">
            <a:avLst/>
          </a:prstGeom>
          <a:noFill/>
          <a:ln w="0">
            <a:noFill/>
          </a:ln>
        </p:spPr>
        <p:txBody>
          <a:bodyPr>
            <a:noAutofit/>
          </a:bodyPr>
          <a:lstStyle/>
          <a:p>
            <a:pPr>
              <a:defRPr sz="1200" b="0">
                <a:solidFill>
                  <a:srgbClr val="9CB0C3"/>
                </a:solidFill>
                <a:latin typeface="DejaVu Sans"/>
                <a:ea typeface="DejaVu Sans"/>
                <a:cs typeface="DejaVu Sans"/>
              </a:defRPr>
            </a:pPr>
            <a:r>
              <a:rPr sz="1200" b="0">
                <a:solidFill>
                  <a:srgbClr val="9CB0C3"/>
                </a:solidFill>
                <a:latin typeface="DejaVu Sans"/>
                <a:ea typeface="DejaVu Sans"/>
                <a:cs typeface="DejaVu Sans"/>
              </a:rPr>
              <a:t>Detection within 20 samples, 100 seeds, magnitude 3</a:t>
            </a:r>
          </a:p>
        </p:txBody>
      </p:sp>
      <p:sp>
        <p:nvSpPr>
          <p:cNvPr id="31" name="Classifier finding">
            <a:extLst>
              <a:ext uri="{FF2B5EF4-FFF2-40B4-BE49-F238E27FC236}">
                <a16:creationId xmlns:a16="http://schemas.microsoft.com/office/drawing/2014/main" id="{587AC99E-88FD-440A-A4A1-649AEDB6D578}"/>
              </a:ext>
            </a:extLst>
          </p:cNvPr>
          <p:cNvSpPr>
            <a:spLocks noGrp="1"/>
          </p:cNvSpPr>
          <p:nvPr/>
        </p:nvSpPr>
        <p:spPr>
          <a:xfrm>
            <a:off x="609600" y="4276725"/>
            <a:ext cx="5143500" cy="552450"/>
          </a:xfrm>
          <a:prstGeom prst="rect">
            <a:avLst/>
          </a:prstGeom>
          <a:noFill/>
          <a:ln w="0">
            <a:noFill/>
          </a:ln>
        </p:spPr>
        <p:txBody>
          <a:bodyPr>
            <a:noAutofit/>
          </a:bodyPr>
          <a:lstStyle/>
          <a:p>
            <a:pPr>
              <a:defRPr sz="1350" b="0">
                <a:solidFill>
                  <a:srgbClr val="EAF2F8"/>
                </a:solidFill>
                <a:latin typeface="DejaVu Sans"/>
                <a:ea typeface="DejaVu Sans"/>
                <a:cs typeface="DejaVu Sans"/>
              </a:defRPr>
            </a:pPr>
            <a:r>
              <a:rPr sz="1350" b="0">
                <a:solidFill>
                  <a:srgbClr val="EAF2F8"/>
                </a:solidFill>
                <a:latin typeface="DejaVu Sans"/>
                <a:ea typeface="DejaVu Sans"/>
                <a:cs typeface="DejaVu Sans"/>
              </a:rPr>
              <a:t>Mean change: −0.15 pp (2A), +0.56 pp (2B).</a:t>
            </a:r>
          </a:p>
          <a:p>
            <a:pPr>
              <a:defRPr sz="1350" b="0">
                <a:solidFill>
                  <a:srgbClr val="EAF2F8"/>
                </a:solidFill>
                <a:latin typeface="DejaVu Sans"/>
                <a:ea typeface="DejaVu Sans"/>
                <a:cs typeface="DejaVu Sans"/>
              </a:defRPr>
            </a:pPr>
            <a:r>
              <a:rPr sz="1350" b="0">
                <a:solidFill>
                  <a:srgbClr val="EAF2F8"/>
                </a:solidFill>
                <a:latin typeface="DejaVu Sans"/>
                <a:ea typeface="DejaVu Sans"/>
                <a:cs typeface="DejaVu Sans"/>
              </a:rPr>
              <a:t>No consistent gain across both datasets.</a:t>
            </a:r>
          </a:p>
        </p:txBody>
      </p:sp>
      <p:sp>
        <p:nvSpPr>
          <p:cNvPr id="32" name="Classifier protocol">
            <a:extLst>
              <a:ext uri="{FF2B5EF4-FFF2-40B4-BE49-F238E27FC236}">
                <a16:creationId xmlns:a16="http://schemas.microsoft.com/office/drawing/2014/main" id="{9BC295B5-4069-4AA4-ABEC-B1ADE8DF77EC}"/>
              </a:ext>
            </a:extLst>
          </p:cNvPr>
          <p:cNvSpPr>
            <a:spLocks noGrp="1"/>
          </p:cNvSpPr>
          <p:nvPr/>
        </p:nvSpPr>
        <p:spPr>
          <a:xfrm>
            <a:off x="609600" y="4981575"/>
            <a:ext cx="5143500" cy="514350"/>
          </a:xfrm>
          <a:prstGeom prst="rect">
            <a:avLst/>
          </a:prstGeom>
          <a:noFill/>
          <a:ln w="0">
            <a:noFill/>
          </a:ln>
        </p:spPr>
        <p:txBody>
          <a:bodyPr>
            <a:noAutofit/>
          </a:bodyPr>
          <a:lstStyle/>
          <a:p>
            <a:pPr>
              <a:defRPr sz="1200" b="0">
                <a:solidFill>
                  <a:srgbClr val="9CB0C3"/>
                </a:solidFill>
                <a:latin typeface="DejaVu Sans"/>
                <a:ea typeface="DejaVu Sans"/>
                <a:cs typeface="DejaVu Sans"/>
              </a:defRPr>
            </a:pPr>
            <a:r>
              <a:rPr sz="1200" b="0">
                <a:solidFill>
                  <a:srgbClr val="9CB0C3"/>
                </a:solidFill>
                <a:latin typeface="DejaVu Sans"/>
                <a:ea typeface="DejaVu Sans"/>
                <a:cs typeface="DejaVu Sans"/>
              </a:rPr>
              <a:t>2A: Session II evaluation</a:t>
            </a:r>
          </a:p>
          <a:p>
            <a:pPr>
              <a:defRPr sz="1200" b="0">
                <a:solidFill>
                  <a:srgbClr val="9CB0C3"/>
                </a:solidFill>
                <a:latin typeface="DejaVu Sans"/>
                <a:ea typeface="DejaVu Sans"/>
                <a:cs typeface="DejaVu Sans"/>
              </a:defRPr>
            </a:pPr>
            <a:r>
              <a:rPr sz="1200" b="0">
                <a:solidFill>
                  <a:srgbClr val="9CB0C3"/>
                </a:solidFill>
                <a:latin typeface="DejaVu Sans"/>
                <a:ea typeface="DejaVu Sans"/>
                <a:cs typeface="DejaVu Sans"/>
              </a:rPr>
              <a:t>2B: Session III GDF-only holdout</a:t>
            </a:r>
          </a:p>
        </p:txBody>
      </p:sp>
      <p:sp>
        <p:nvSpPr>
          <p:cNvPr id="33" name="Complement finding">
            <a:extLst>
              <a:ext uri="{FF2B5EF4-FFF2-40B4-BE49-F238E27FC236}">
                <a16:creationId xmlns:a16="http://schemas.microsoft.com/office/drawing/2014/main" id="{351786D7-5D11-4607-BD6B-4224ECD86DE5}"/>
              </a:ext>
            </a:extLst>
          </p:cNvPr>
          <p:cNvSpPr>
            <a:spLocks noGrp="1"/>
          </p:cNvSpPr>
          <p:nvPr/>
        </p:nvSpPr>
        <p:spPr>
          <a:xfrm>
            <a:off x="6238875" y="4714875"/>
            <a:ext cx="5286375" cy="504825"/>
          </a:xfrm>
          <a:prstGeom prst="rect">
            <a:avLst/>
          </a:prstGeom>
          <a:noFill/>
          <a:ln w="0">
            <a:noFill/>
          </a:ln>
        </p:spPr>
        <p:txBody>
          <a:bodyPr>
            <a:noAutofit/>
          </a:bodyPr>
          <a:lstStyle/>
          <a:p>
            <a:pPr>
              <a:defRPr sz="1275" b="0">
                <a:solidFill>
                  <a:srgbClr val="EAF2F8"/>
                </a:solidFill>
                <a:latin typeface="DejaVu Sans"/>
                <a:ea typeface="DejaVu Sans"/>
                <a:cs typeface="DejaVu Sans"/>
              </a:defRPr>
            </a:pPr>
            <a:r>
              <a:rPr sz="1275" b="0">
                <a:solidFill>
                  <a:srgbClr val="EAF2F8"/>
                </a:solidFill>
                <a:latin typeface="DejaVu Sans"/>
                <a:ea typeface="DejaVu Sans"/>
                <a:cs typeface="DejaVu Sans"/>
              </a:rPr>
              <a:t>Magnitude 6: PC1 detection rises to 88%</a:t>
            </a:r>
          </a:p>
          <a:p>
            <a:pPr>
              <a:defRPr sz="1275" b="0">
                <a:solidFill>
                  <a:srgbClr val="EAF2F8"/>
                </a:solidFill>
                <a:latin typeface="DejaVu Sans"/>
                <a:ea typeface="DejaVu Sans"/>
                <a:cs typeface="DejaVu Sans"/>
              </a:defRPr>
            </a:pPr>
            <a:r>
              <a:rPr sz="1275" b="0">
                <a:solidFill>
                  <a:srgbClr val="EAF2F8"/>
                </a:solidFill>
                <a:latin typeface="DejaVu Sans"/>
                <a:ea typeface="DejaVu Sans"/>
                <a:cs typeface="DejaVu Sans"/>
              </a:rPr>
              <a:t>(score) and 82% (combined).</a:t>
            </a:r>
          </a:p>
        </p:txBody>
      </p:sp>
      <p:sp>
        <p:nvSpPr>
          <p:cNvPr id="34" name="Complement caution">
            <a:extLst>
              <a:ext uri="{FF2B5EF4-FFF2-40B4-BE49-F238E27FC236}">
                <a16:creationId xmlns:a16="http://schemas.microsoft.com/office/drawing/2014/main" id="{74646E58-883C-4989-BF93-46CDEA34BED4}"/>
              </a:ext>
            </a:extLst>
          </p:cNvPr>
          <p:cNvSpPr>
            <a:spLocks noGrp="1"/>
          </p:cNvSpPr>
          <p:nvPr/>
        </p:nvSpPr>
        <p:spPr>
          <a:xfrm>
            <a:off x="6238875" y="5314950"/>
            <a:ext cx="5286375" cy="476250"/>
          </a:xfrm>
          <a:prstGeom prst="rect">
            <a:avLst/>
          </a:prstGeom>
          <a:noFill/>
          <a:ln w="0">
            <a:noFill/>
          </a:ln>
        </p:spPr>
        <p:txBody>
          <a:bodyPr>
            <a:noAutofit/>
          </a:bodyPr>
          <a:lstStyle/>
          <a:p>
            <a:pPr>
              <a:defRPr sz="1200" b="0">
                <a:solidFill>
                  <a:srgbClr val="9CB0C3"/>
                </a:solidFill>
                <a:latin typeface="DejaVu Sans"/>
                <a:ea typeface="DejaVu Sans"/>
                <a:cs typeface="DejaVu Sans"/>
              </a:defRPr>
            </a:pPr>
            <a:r>
              <a:rPr sz="1200" b="0">
                <a:solidFill>
                  <a:srgbClr val="9CB0C3"/>
                </a:solidFill>
                <a:latin typeface="DejaVu Sans"/>
                <a:ea typeface="DejaVu Sans"/>
                <a:cs typeface="DejaVu Sans"/>
              </a:rPr>
              <a:t>No-shift 20-sample alarm rate: 21–26%.</a:t>
            </a:r>
          </a:p>
          <a:p>
            <a:pPr>
              <a:defRPr sz="1200" b="0">
                <a:solidFill>
                  <a:srgbClr val="9CB0C3"/>
                </a:solidFill>
                <a:latin typeface="DejaVu Sans"/>
                <a:ea typeface="DejaVu Sans"/>
                <a:cs typeface="DejaVu Sans"/>
              </a:defRPr>
            </a:pPr>
            <a:r>
              <a:rPr sz="1200" b="0">
                <a:solidFill>
                  <a:srgbClr val="9CB0C3"/>
                </a:solidFill>
                <a:latin typeface="DejaVu Sans"/>
                <a:ea typeface="DejaVu Sans"/>
                <a:cs typeface="DejaVu Sans"/>
              </a:rPr>
              <a:t>Per-sample false-alarm rate: about 1%.</a:t>
            </a:r>
          </a:p>
        </p:txBody>
      </p:sp>
      <p:sp>
        <p:nvSpPr>
          <p:cNvPr id="35" name="Verification status">
            <a:extLst>
              <a:ext uri="{FF2B5EF4-FFF2-40B4-BE49-F238E27FC236}">
                <a16:creationId xmlns:a16="http://schemas.microsoft.com/office/drawing/2014/main" id="{181E837D-FAF4-4ED6-A7B2-3EC89CF19AA7}"/>
              </a:ext>
            </a:extLst>
          </p:cNvPr>
          <p:cNvSpPr>
            <a:spLocks noGrp="1"/>
          </p:cNvSpPr>
          <p:nvPr/>
        </p:nvSpPr>
        <p:spPr>
          <a:xfrm>
            <a:off x="609600" y="6057900"/>
            <a:ext cx="10858500" cy="266700"/>
          </a:xfrm>
          <a:prstGeom prst="rect">
            <a:avLst/>
          </a:prstGeom>
          <a:noFill/>
          <a:ln w="0">
            <a:noFill/>
          </a:ln>
        </p:spPr>
        <p:txBody>
          <a:bodyPr>
            <a:noAutofit/>
          </a:bodyPr>
          <a:lstStyle/>
          <a:p>
            <a:pPr>
              <a:defRPr sz="1200" b="0">
                <a:solidFill>
                  <a:srgbClr val="F5B942"/>
                </a:solidFill>
                <a:latin typeface="DejaVu Sans"/>
                <a:ea typeface="DejaVu Sans"/>
                <a:cs typeface="DejaVu Sans"/>
              </a:defRPr>
            </a:pPr>
            <a:r>
              <a:rPr sz="1200" b="0">
                <a:solidFill>
                  <a:srgbClr val="F5B942"/>
                </a:solidFill>
                <a:latin typeface="DejaVu Sans"/>
                <a:ea typeface="DejaVu Sans"/>
                <a:cs typeface="DejaVu Sans"/>
              </a:rPr>
              <a:t>CI at 2a8d20b: 255 passed, 1 failed. Homepage test expects /diethe; route is /results/diethe.</a:t>
            </a:r>
          </a:p>
        </p:txBody>
      </p:sp>
      <p:graphicFrame>
        <p:nvGraphicFramePr>
          <p:cNvPr id="36" name="Table 35"/>
          <p:cNvGraphicFramePr/>
          <p:nvPr/>
        </p:nvGraphicFramePr>
        <p:xfrm>
          <a:off x="609600" y="2647950"/>
          <a:ext cx="4762500" cy="1428750"/>
        </p:xfrm>
        <a:graphic>
          <a:graphicData uri="http://schemas.openxmlformats.org/drawingml/2006/table">
            <a:tbl>
              <a:tblPr/>
              <a:tblGrid>
                <a:gridCol w="123825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tblGrid>
              <a:tr h="476250">
                <a:tc>
                  <a:txBody>
                    <a:bodyPr/>
                    <a:lstStyle/>
                    <a:p>
                      <a:r>
                        <a:rPr sz="1275" b="1">
                          <a:solidFill>
                            <a:srgbClr val="2DD4BF"/>
                          </a:solidFill>
                          <a:latin typeface="DejaVu Sans"/>
                          <a:ea typeface="DejaVu Sans"/>
                          <a:cs typeface="DejaVu Sans"/>
                        </a:rPr>
                        <a:t>Dataset</a:t>
                      </a:r>
                    </a:p>
                  </a:txBody>
                  <a:tcPr>
                    <a:solidFill>
                      <a:srgbClr val="122B3E"/>
                    </a:solidFill>
                  </a:tcPr>
                </a:tc>
                <a:tc>
                  <a:txBody>
                    <a:bodyPr/>
                    <a:lstStyle/>
                    <a:p>
                      <a:r>
                        <a:rPr sz="1275" b="1">
                          <a:solidFill>
                            <a:srgbClr val="2DD4BF"/>
                          </a:solidFill>
                          <a:latin typeface="DejaVu Sans"/>
                          <a:ea typeface="DejaVu Sans"/>
                          <a:cs typeface="DejaVu Sans"/>
                        </a:rPr>
                        <a:t>Single SVM</a:t>
                      </a:r>
                    </a:p>
                  </a:txBody>
                  <a:tcPr>
                    <a:solidFill>
                      <a:srgbClr val="122B3E"/>
                    </a:solidFill>
                  </a:tcPr>
                </a:tc>
                <a:tc>
                  <a:txBody>
                    <a:bodyPr/>
                    <a:lstStyle/>
                    <a:p>
                      <a:r>
                        <a:rPr sz="1275" b="1">
                          <a:solidFill>
                            <a:srgbClr val="2DD4BF"/>
                          </a:solidFill>
                          <a:latin typeface="DejaVu Sans"/>
                          <a:ea typeface="DejaVu Sans"/>
                          <a:cs typeface="DejaVu Sans"/>
                        </a:rPr>
                        <a:t>Bagged SVM</a:t>
                      </a:r>
                    </a:p>
                  </a:txBody>
                  <a:tcPr>
                    <a:solidFill>
                      <a:srgbClr val="122B3E"/>
                    </a:solidFill>
                  </a:tcPr>
                </a:tc>
                <a:extLst>
                  <a:ext uri="{0D108BD9-81ED-4DB2-BD59-A6C34878D82A}">
                    <a16:rowId xmlns:a16="http://schemas.microsoft.com/office/drawing/2014/main" val="10000"/>
                  </a:ext>
                </a:extLst>
              </a:tr>
              <a:tr h="476250">
                <a:tc>
                  <a:txBody>
                    <a:bodyPr/>
                    <a:lstStyle/>
                    <a:p>
                      <a:r>
                        <a:rPr sz="1275" b="0">
                          <a:solidFill>
                            <a:srgbClr val="EAF2F8"/>
                          </a:solidFill>
                          <a:latin typeface="DejaVu Sans"/>
                          <a:ea typeface="DejaVu Sans"/>
                          <a:cs typeface="DejaVu Sans"/>
                        </a:rPr>
                        <a:t>2A</a:t>
                      </a:r>
                    </a:p>
                  </a:txBody>
                  <a:tcPr>
                    <a:solidFill>
                      <a:srgbClr val="0E1D2C"/>
                    </a:solidFill>
                  </a:tcPr>
                </a:tc>
                <a:tc>
                  <a:txBody>
                    <a:bodyPr/>
                    <a:lstStyle/>
                    <a:p>
                      <a:r>
                        <a:rPr sz="1275" b="0">
                          <a:solidFill>
                            <a:srgbClr val="EAF2F8"/>
                          </a:solidFill>
                          <a:latin typeface="DejaVu Sans"/>
                          <a:ea typeface="DejaVu Sans"/>
                          <a:cs typeface="DejaVu Sans"/>
                        </a:rPr>
                        <a:t>76.00%</a:t>
                      </a:r>
                    </a:p>
                  </a:txBody>
                  <a:tcPr>
                    <a:solidFill>
                      <a:srgbClr val="0E1D2C"/>
                    </a:solidFill>
                  </a:tcPr>
                </a:tc>
                <a:tc>
                  <a:txBody>
                    <a:bodyPr/>
                    <a:lstStyle/>
                    <a:p>
                      <a:r>
                        <a:rPr sz="1275" b="0">
                          <a:solidFill>
                            <a:srgbClr val="EAF2F8"/>
                          </a:solidFill>
                          <a:latin typeface="DejaVu Sans"/>
                          <a:ea typeface="DejaVu Sans"/>
                          <a:cs typeface="DejaVu Sans"/>
                        </a:rPr>
                        <a:t>75.85%</a:t>
                      </a:r>
                    </a:p>
                  </a:txBody>
                  <a:tcPr>
                    <a:solidFill>
                      <a:srgbClr val="0E1D2C"/>
                    </a:solidFill>
                  </a:tcPr>
                </a:tc>
                <a:extLst>
                  <a:ext uri="{0D108BD9-81ED-4DB2-BD59-A6C34878D82A}">
                    <a16:rowId xmlns:a16="http://schemas.microsoft.com/office/drawing/2014/main" val="10001"/>
                  </a:ext>
                </a:extLst>
              </a:tr>
              <a:tr h="476250">
                <a:tc>
                  <a:txBody>
                    <a:bodyPr/>
                    <a:lstStyle/>
                    <a:p>
                      <a:r>
                        <a:rPr sz="1275" b="0">
                          <a:solidFill>
                            <a:srgbClr val="EAF2F8"/>
                          </a:solidFill>
                          <a:latin typeface="DejaVu Sans"/>
                          <a:ea typeface="DejaVu Sans"/>
                          <a:cs typeface="DejaVu Sans"/>
                        </a:rPr>
                        <a:t>2B</a:t>
                      </a:r>
                    </a:p>
                  </a:txBody>
                  <a:tcPr>
                    <a:solidFill>
                      <a:srgbClr val="0E1D2C"/>
                    </a:solidFill>
                  </a:tcPr>
                </a:tc>
                <a:tc>
                  <a:txBody>
                    <a:bodyPr/>
                    <a:lstStyle/>
                    <a:p>
                      <a:r>
                        <a:rPr sz="1275" b="0">
                          <a:solidFill>
                            <a:srgbClr val="EAF2F8"/>
                          </a:solidFill>
                          <a:latin typeface="DejaVu Sans"/>
                          <a:ea typeface="DejaVu Sans"/>
                          <a:cs typeface="DejaVu Sans"/>
                        </a:rPr>
                        <a:t>74.86%</a:t>
                      </a:r>
                    </a:p>
                  </a:txBody>
                  <a:tcPr>
                    <a:solidFill>
                      <a:srgbClr val="0E1D2C"/>
                    </a:solidFill>
                  </a:tcPr>
                </a:tc>
                <a:tc>
                  <a:txBody>
                    <a:bodyPr/>
                    <a:lstStyle/>
                    <a:p>
                      <a:r>
                        <a:rPr sz="1275" b="0">
                          <a:solidFill>
                            <a:srgbClr val="EAF2F8"/>
                          </a:solidFill>
                          <a:latin typeface="DejaVu Sans"/>
                          <a:ea typeface="DejaVu Sans"/>
                          <a:cs typeface="DejaVu Sans"/>
                        </a:rPr>
                        <a:t>75.42%</a:t>
                      </a:r>
                    </a:p>
                  </a:txBody>
                  <a:tcPr>
                    <a:solidFill>
                      <a:srgbClr val="0E1D2C"/>
                    </a:solidFill>
                  </a:tcPr>
                </a:tc>
                <a:extLst>
                  <a:ext uri="{0D108BD9-81ED-4DB2-BD59-A6C34878D82A}">
                    <a16:rowId xmlns:a16="http://schemas.microsoft.com/office/drawing/2014/main" val="10002"/>
                  </a:ext>
                </a:extLst>
              </a:tr>
            </a:tbl>
          </a:graphicData>
        </a:graphic>
      </p:graphicFrame>
      <p:graphicFrame>
        <p:nvGraphicFramePr>
          <p:cNvPr id="37" name="Table 36"/>
          <p:cNvGraphicFramePr/>
          <p:nvPr/>
        </p:nvGraphicFramePr>
        <p:xfrm>
          <a:off x="6238875" y="2647950"/>
          <a:ext cx="5286375" cy="1905000"/>
        </p:xfrm>
        <a:graphic>
          <a:graphicData uri="http://schemas.openxmlformats.org/drawingml/2006/table">
            <a:tbl>
              <a:tblPr/>
              <a:tblGrid>
                <a:gridCol w="109537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1571625">
                  <a:extLst>
                    <a:ext uri="{9D8B030D-6E8A-4147-A177-3AD203B41FA5}">
                      <a16:colId xmlns:a16="http://schemas.microsoft.com/office/drawing/2014/main" val="20003"/>
                    </a:ext>
                  </a:extLst>
                </a:gridCol>
              </a:tblGrid>
              <a:tr h="476250">
                <a:tc>
                  <a:txBody>
                    <a:bodyPr/>
                    <a:lstStyle/>
                    <a:p>
                      <a:r>
                        <a:rPr sz="1275" b="1">
                          <a:solidFill>
                            <a:srgbClr val="2DD4BF"/>
                          </a:solidFill>
                          <a:latin typeface="DejaVu Sans"/>
                          <a:ea typeface="DejaVu Sans"/>
                          <a:cs typeface="DejaVu Sans"/>
                        </a:rPr>
                        <a:t>Shift</a:t>
                      </a:r>
                    </a:p>
                  </a:txBody>
                  <a:tcPr>
                    <a:solidFill>
                      <a:srgbClr val="122B3E"/>
                    </a:solidFill>
                  </a:tcPr>
                </a:tc>
                <a:tc>
                  <a:txBody>
                    <a:bodyPr/>
                    <a:lstStyle/>
                    <a:p>
                      <a:r>
                        <a:rPr sz="1275" b="1">
                          <a:solidFill>
                            <a:srgbClr val="2DD4BF"/>
                          </a:solidFill>
                          <a:latin typeface="DejaVu Sans"/>
                          <a:ea typeface="DejaVu Sans"/>
                          <a:cs typeface="DejaVu Sans"/>
                        </a:rPr>
                        <a:t>Score</a:t>
                      </a:r>
                    </a:p>
                  </a:txBody>
                  <a:tcPr>
                    <a:solidFill>
                      <a:srgbClr val="122B3E"/>
                    </a:solidFill>
                  </a:tcPr>
                </a:tc>
                <a:tc>
                  <a:txBody>
                    <a:bodyPr/>
                    <a:lstStyle/>
                    <a:p>
                      <a:r>
                        <a:rPr sz="1275" b="1">
                          <a:solidFill>
                            <a:srgbClr val="2DD4BF"/>
                          </a:solidFill>
                          <a:latin typeface="DejaVu Sans"/>
                          <a:ea typeface="DejaVu Sans"/>
                          <a:cs typeface="DejaVu Sans"/>
                        </a:rPr>
                        <a:t>Residual</a:t>
                      </a:r>
                    </a:p>
                  </a:txBody>
                  <a:tcPr>
                    <a:solidFill>
                      <a:srgbClr val="122B3E"/>
                    </a:solidFill>
                  </a:tcPr>
                </a:tc>
                <a:tc>
                  <a:txBody>
                    <a:bodyPr/>
                    <a:lstStyle/>
                    <a:p>
                      <a:r>
                        <a:rPr sz="1275" b="1">
                          <a:solidFill>
                            <a:srgbClr val="2DD4BF"/>
                          </a:solidFill>
                          <a:latin typeface="DejaVu Sans"/>
                          <a:ea typeface="DejaVu Sans"/>
                          <a:cs typeface="DejaVu Sans"/>
                        </a:rPr>
                        <a:t>Combined</a:t>
                      </a:r>
                    </a:p>
                  </a:txBody>
                  <a:tcPr>
                    <a:solidFill>
                      <a:srgbClr val="122B3E"/>
                    </a:solidFill>
                  </a:tcPr>
                </a:tc>
                <a:extLst>
                  <a:ext uri="{0D108BD9-81ED-4DB2-BD59-A6C34878D82A}">
                    <a16:rowId xmlns:a16="http://schemas.microsoft.com/office/drawing/2014/main" val="10000"/>
                  </a:ext>
                </a:extLst>
              </a:tr>
              <a:tr h="476250">
                <a:tc>
                  <a:txBody>
                    <a:bodyPr/>
                    <a:lstStyle/>
                    <a:p>
                      <a:r>
                        <a:rPr sz="1275" b="0">
                          <a:solidFill>
                            <a:srgbClr val="EAF2F8"/>
                          </a:solidFill>
                          <a:latin typeface="DejaVu Sans"/>
                          <a:ea typeface="DejaVu Sans"/>
                          <a:cs typeface="DejaVu Sans"/>
                        </a:rPr>
                        <a:t>PC1</a:t>
                      </a:r>
                    </a:p>
                  </a:txBody>
                  <a:tcPr>
                    <a:solidFill>
                      <a:srgbClr val="0E1D2C"/>
                    </a:solidFill>
                  </a:tcPr>
                </a:tc>
                <a:tc>
                  <a:txBody>
                    <a:bodyPr/>
                    <a:lstStyle/>
                    <a:p>
                      <a:r>
                        <a:rPr sz="1275" b="0">
                          <a:solidFill>
                            <a:srgbClr val="EAF2F8"/>
                          </a:solidFill>
                          <a:latin typeface="DejaVu Sans"/>
                          <a:ea typeface="DejaVu Sans"/>
                          <a:cs typeface="DejaVu Sans"/>
                        </a:rPr>
                        <a:t>35%</a:t>
                      </a:r>
                    </a:p>
                  </a:txBody>
                  <a:tcPr>
                    <a:solidFill>
                      <a:srgbClr val="0E1D2C"/>
                    </a:solidFill>
                  </a:tcPr>
                </a:tc>
                <a:tc>
                  <a:txBody>
                    <a:bodyPr/>
                    <a:lstStyle/>
                    <a:p>
                      <a:r>
                        <a:rPr sz="1275" b="0">
                          <a:solidFill>
                            <a:srgbClr val="EAF2F8"/>
                          </a:solidFill>
                          <a:latin typeface="DejaVu Sans"/>
                          <a:ea typeface="DejaVu Sans"/>
                          <a:cs typeface="DejaVu Sans"/>
                        </a:rPr>
                        <a:t>21%</a:t>
                      </a:r>
                    </a:p>
                  </a:txBody>
                  <a:tcPr>
                    <a:solidFill>
                      <a:srgbClr val="0E1D2C"/>
                    </a:solidFill>
                  </a:tcPr>
                </a:tc>
                <a:tc>
                  <a:txBody>
                    <a:bodyPr/>
                    <a:lstStyle/>
                    <a:p>
                      <a:r>
                        <a:rPr sz="1275" b="0">
                          <a:solidFill>
                            <a:srgbClr val="EAF2F8"/>
                          </a:solidFill>
                          <a:latin typeface="DejaVu Sans"/>
                          <a:ea typeface="DejaVu Sans"/>
                          <a:cs typeface="DejaVu Sans"/>
                        </a:rPr>
                        <a:t>31%</a:t>
                      </a:r>
                    </a:p>
                  </a:txBody>
                  <a:tcPr>
                    <a:solidFill>
                      <a:srgbClr val="0E1D2C"/>
                    </a:solidFill>
                  </a:tcPr>
                </a:tc>
                <a:extLst>
                  <a:ext uri="{0D108BD9-81ED-4DB2-BD59-A6C34878D82A}">
                    <a16:rowId xmlns:a16="http://schemas.microsoft.com/office/drawing/2014/main" val="10001"/>
                  </a:ext>
                </a:extLst>
              </a:tr>
              <a:tr h="476250">
                <a:tc>
                  <a:txBody>
                    <a:bodyPr/>
                    <a:lstStyle/>
                    <a:p>
                      <a:r>
                        <a:rPr sz="1275" b="0">
                          <a:solidFill>
                            <a:srgbClr val="EAF2F8"/>
                          </a:solidFill>
                          <a:latin typeface="DejaVu Sans"/>
                          <a:ea typeface="DejaVu Sans"/>
                          <a:cs typeface="DejaVu Sans"/>
                        </a:rPr>
                        <a:t>PC2</a:t>
                      </a:r>
                    </a:p>
                  </a:txBody>
                  <a:tcPr>
                    <a:solidFill>
                      <a:srgbClr val="0E1D2C"/>
                    </a:solidFill>
                  </a:tcPr>
                </a:tc>
                <a:tc>
                  <a:txBody>
                    <a:bodyPr/>
                    <a:lstStyle/>
                    <a:p>
                      <a:r>
                        <a:rPr sz="1275" b="0">
                          <a:solidFill>
                            <a:srgbClr val="EAF2F8"/>
                          </a:solidFill>
                          <a:latin typeface="DejaVu Sans"/>
                          <a:ea typeface="DejaVu Sans"/>
                          <a:cs typeface="DejaVu Sans"/>
                        </a:rPr>
                        <a:t>21%</a:t>
                      </a:r>
                    </a:p>
                  </a:txBody>
                  <a:tcPr>
                    <a:solidFill>
                      <a:srgbClr val="0E1D2C"/>
                    </a:solidFill>
                  </a:tcPr>
                </a:tc>
                <a:tc>
                  <a:txBody>
                    <a:bodyPr/>
                    <a:lstStyle/>
                    <a:p>
                      <a:r>
                        <a:rPr sz="1275" b="0">
                          <a:solidFill>
                            <a:srgbClr val="EAF2F8"/>
                          </a:solidFill>
                          <a:latin typeface="DejaVu Sans"/>
                          <a:ea typeface="DejaVu Sans"/>
                          <a:cs typeface="DejaVu Sans"/>
                        </a:rPr>
                        <a:t>100%</a:t>
                      </a:r>
                    </a:p>
                  </a:txBody>
                  <a:tcPr>
                    <a:solidFill>
                      <a:srgbClr val="0E1D2C"/>
                    </a:solidFill>
                  </a:tcPr>
                </a:tc>
                <a:tc>
                  <a:txBody>
                    <a:bodyPr/>
                    <a:lstStyle/>
                    <a:p>
                      <a:r>
                        <a:rPr sz="1275" b="0">
                          <a:solidFill>
                            <a:srgbClr val="EAF2F8"/>
                          </a:solidFill>
                          <a:latin typeface="DejaVu Sans"/>
                          <a:ea typeface="DejaVu Sans"/>
                          <a:cs typeface="DejaVu Sans"/>
                        </a:rPr>
                        <a:t>100%</a:t>
                      </a:r>
                    </a:p>
                  </a:txBody>
                  <a:tcPr>
                    <a:solidFill>
                      <a:srgbClr val="0E1D2C"/>
                    </a:solidFill>
                  </a:tcPr>
                </a:tc>
                <a:extLst>
                  <a:ext uri="{0D108BD9-81ED-4DB2-BD59-A6C34878D82A}">
                    <a16:rowId xmlns:a16="http://schemas.microsoft.com/office/drawing/2014/main" val="10002"/>
                  </a:ext>
                </a:extLst>
              </a:tr>
              <a:tr h="476250">
                <a:tc>
                  <a:txBody>
                    <a:bodyPr/>
                    <a:lstStyle/>
                    <a:p>
                      <a:r>
                        <a:rPr sz="1275" b="0">
                          <a:solidFill>
                            <a:srgbClr val="EAF2F8"/>
                          </a:solidFill>
                          <a:latin typeface="DejaVu Sans"/>
                          <a:ea typeface="DejaVu Sans"/>
                          <a:cs typeface="DejaVu Sans"/>
                        </a:rPr>
                        <a:t>Both</a:t>
                      </a:r>
                    </a:p>
                  </a:txBody>
                  <a:tcPr>
                    <a:solidFill>
                      <a:srgbClr val="0E1D2C"/>
                    </a:solidFill>
                  </a:tcPr>
                </a:tc>
                <a:tc>
                  <a:txBody>
                    <a:bodyPr/>
                    <a:lstStyle/>
                    <a:p>
                      <a:r>
                        <a:rPr sz="1275" b="0">
                          <a:solidFill>
                            <a:srgbClr val="EAF2F8"/>
                          </a:solidFill>
                          <a:latin typeface="DejaVu Sans"/>
                          <a:ea typeface="DejaVu Sans"/>
                          <a:cs typeface="DejaVu Sans"/>
                        </a:rPr>
                        <a:t>26%</a:t>
                      </a:r>
                    </a:p>
                  </a:txBody>
                  <a:tcPr>
                    <a:solidFill>
                      <a:srgbClr val="0E1D2C"/>
                    </a:solidFill>
                  </a:tcPr>
                </a:tc>
                <a:tc>
                  <a:txBody>
                    <a:bodyPr/>
                    <a:lstStyle/>
                    <a:p>
                      <a:r>
                        <a:rPr sz="1275" b="0">
                          <a:solidFill>
                            <a:srgbClr val="EAF2F8"/>
                          </a:solidFill>
                          <a:latin typeface="DejaVu Sans"/>
                          <a:ea typeface="DejaVu Sans"/>
                          <a:cs typeface="DejaVu Sans"/>
                        </a:rPr>
                        <a:t>100%</a:t>
                      </a:r>
                    </a:p>
                  </a:txBody>
                  <a:tcPr>
                    <a:solidFill>
                      <a:srgbClr val="0E1D2C"/>
                    </a:solidFill>
                  </a:tcPr>
                </a:tc>
                <a:tc>
                  <a:txBody>
                    <a:bodyPr/>
                    <a:lstStyle/>
                    <a:p>
                      <a:r>
                        <a:rPr sz="1275" b="0">
                          <a:solidFill>
                            <a:srgbClr val="EAF2F8"/>
                          </a:solidFill>
                          <a:latin typeface="DejaVu Sans"/>
                          <a:ea typeface="DejaVu Sans"/>
                          <a:cs typeface="DejaVu Sans"/>
                        </a:rPr>
                        <a:t>99%</a:t>
                      </a:r>
                    </a:p>
                  </a:txBody>
                  <a:tcPr>
                    <a:solidFill>
                      <a:srgbClr val="0E1D2C"/>
                    </a:solidFill>
                  </a:tcPr>
                </a:tc>
                <a:extLst>
                  <a:ext uri="{0D108BD9-81ED-4DB2-BD59-A6C34878D82A}">
                    <a16:rowId xmlns:a16="http://schemas.microsoft.com/office/drawing/2014/main" val="10003"/>
                  </a:ext>
                </a:extLst>
              </a:tr>
            </a:tbl>
          </a:graphicData>
        </a:graphic>
      </p:graphicFrame>
      <p:sp>
        <p:nvSpPr>
          <p:cNvPr id="38" name="Rounded Rectangle 37"/>
          <p:cNvSpPr/>
          <p:nvPr/>
        </p:nvSpPr>
        <p:spPr>
          <a:xfrm>
            <a:off x="8732520" y="5779008"/>
            <a:ext cx="2542032" cy="228600"/>
          </a:xfrm>
          <a:prstGeom prst="roundRect">
            <a:avLst/>
          </a:prstGeom>
          <a:solidFill>
            <a:srgbClr val="071422"/>
          </a:solidFill>
          <a:ln w="12700">
            <a:solidFill>
              <a:srgbClr val="1DE7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Picture 39" descr="formula_relation.png"/>
          <p:cNvPicPr>
            <a:picLocks noChangeAspect="1"/>
          </p:cNvPicPr>
          <p:nvPr/>
        </p:nvPicPr>
        <p:blipFill>
          <a:blip r:embed="rId3"/>
          <a:stretch>
            <a:fillRect/>
          </a:stretch>
        </p:blipFill>
        <p:spPr>
          <a:xfrm>
            <a:off x="9857232" y="5825937"/>
            <a:ext cx="609976" cy="166859"/>
          </a:xfrm>
          <a:prstGeom prst="rect">
            <a:avLst/>
          </a:prstGeom>
        </p:spPr>
      </p:pic>
    </p:spTree>
    <p:extLst>
      <p:ext uri="{BB962C8B-B14F-4D97-AF65-F5344CB8AC3E}">
        <p14:creationId xmlns:p14="http://schemas.microsoft.com/office/powerpoint/2010/main" val="904094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REPRODUCTION EVIDENCE</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B01: two saved runs give different validation totals</a:t>
            </a:r>
          </a:p>
        </p:txBody>
      </p:sp>
      <p:sp>
        <p:nvSpPr>
          <p:cNvPr id="4" name="TextBox 3"/>
          <p:cNvSpPr txBox="1"/>
          <p:nvPr/>
        </p:nvSpPr>
        <p:spPr>
          <a:xfrm>
            <a:off x="612648" y="6053328"/>
            <a:ext cx="10972800" cy="329184"/>
          </a:xfrm>
          <a:prstGeom prst="rect">
            <a:avLst/>
          </a:prstGeom>
          <a:noFill/>
        </p:spPr>
        <p:txBody>
          <a:bodyPr wrap="square" lIns="0" rIns="0">
            <a:spAutoFit/>
          </a:bodyPr>
          <a:lstStyle/>
          <a:p>
            <a:pPr>
              <a:spcAft>
                <a:spcPts val="900"/>
              </a:spcAft>
              <a:defRPr sz="1100" b="0">
                <a:solidFill>
                  <a:srgbClr val="9CB0C3"/>
                </a:solidFill>
                <a:latin typeface="DejaVu Sans"/>
              </a:defRPr>
            </a:pPr>
            <a:r>
              <a:t>Sources: outputs/metrics/bci_2b_table1_results.csv and bci_table1_comparison.csv at 2a8d20b.</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graphicFrame>
        <p:nvGraphicFramePr>
          <p:cNvPr id="6" name="Table 5"/>
          <p:cNvGraphicFramePr>
            <a:graphicFrameLocks noGrp="1"/>
          </p:cNvGraphicFramePr>
          <p:nvPr/>
        </p:nvGraphicFramePr>
        <p:xfrm>
          <a:off x="685800" y="1783080"/>
          <a:ext cx="10789920" cy="2286000"/>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571500">
                <a:tc>
                  <a:txBody>
                    <a:bodyPr/>
                    <a:lstStyle/>
                    <a:p>
                      <a:pPr>
                        <a:defRPr sz="2000" b="1">
                          <a:solidFill>
                            <a:srgbClr val="78D8CC"/>
                          </a:solidFill>
                          <a:latin typeface="DejaVu Sans"/>
                        </a:defRPr>
                      </a:pPr>
                      <a:r>
                        <a:t>B01 evidence</a:t>
                      </a:r>
                    </a:p>
                  </a:txBody>
                  <a:tcPr marL="109728" marT="73152">
                    <a:solidFill>
                      <a:srgbClr val="142838"/>
                    </a:solidFill>
                  </a:tcPr>
                </a:tc>
                <a:tc>
                  <a:txBody>
                    <a:bodyPr/>
                    <a:lstStyle/>
                    <a:p>
                      <a:pPr>
                        <a:defRPr sz="2000" b="1">
                          <a:solidFill>
                            <a:srgbClr val="78D8CC"/>
                          </a:solidFill>
                          <a:latin typeface="DejaVu Sans"/>
                        </a:defRPr>
                      </a:pPr>
                      <a:r>
                        <a:t>Warnings</a:t>
                      </a:r>
                    </a:p>
                  </a:txBody>
                  <a:tcPr marL="109728" marT="73152">
                    <a:solidFill>
                      <a:srgbClr val="142838"/>
                    </a:solidFill>
                  </a:tcPr>
                </a:tc>
                <a:tc>
                  <a:txBody>
                    <a:bodyPr/>
                    <a:lstStyle/>
                    <a:p>
                      <a:pPr>
                        <a:defRPr sz="2000" b="1">
                          <a:solidFill>
                            <a:srgbClr val="78D8CC"/>
                          </a:solidFill>
                          <a:latin typeface="DejaVu Sans"/>
                        </a:defRPr>
                      </a:pPr>
                      <a:r>
                        <a:t>Validated shifts</a:t>
                      </a:r>
                    </a:p>
                  </a:txBody>
                  <a:tcPr marL="109728" marT="73152">
                    <a:solidFill>
                      <a:srgbClr val="142838"/>
                    </a:solidFill>
                  </a:tcPr>
                </a:tc>
                <a:extLst>
                  <a:ext uri="{0D108BD9-81ED-4DB2-BD59-A6C34878D82A}">
                    <a16:rowId xmlns:a16="http://schemas.microsoft.com/office/drawing/2014/main" val="10000"/>
                  </a:ext>
                </a:extLst>
              </a:tr>
              <a:tr h="571500">
                <a:tc>
                  <a:txBody>
                    <a:bodyPr/>
                    <a:lstStyle/>
                    <a:p>
                      <a:pPr>
                        <a:defRPr sz="2000" b="0">
                          <a:solidFill>
                            <a:srgbClr val="EAF2F8"/>
                          </a:solidFill>
                          <a:latin typeface="DejaVu Sans"/>
                        </a:defRPr>
                      </a:pPr>
                      <a:r>
                        <a:t>Published reference</a:t>
                      </a:r>
                    </a:p>
                  </a:txBody>
                  <a:tcPr marL="109728" marT="73152">
                    <a:solidFill>
                      <a:srgbClr val="101D2A"/>
                    </a:solidFill>
                  </a:tcPr>
                </a:tc>
                <a:tc>
                  <a:txBody>
                    <a:bodyPr/>
                    <a:lstStyle/>
                    <a:p>
                      <a:pPr>
                        <a:defRPr sz="2000" b="0">
                          <a:solidFill>
                            <a:srgbClr val="EAF2F8"/>
                          </a:solidFill>
                          <a:latin typeface="DejaVu Sans"/>
                        </a:defRPr>
                      </a:pPr>
                      <a:r>
                        <a:t>14</a:t>
                      </a:r>
                    </a:p>
                  </a:txBody>
                  <a:tcPr marL="109728" marT="73152">
                    <a:solidFill>
                      <a:srgbClr val="101D2A"/>
                    </a:solidFill>
                  </a:tcPr>
                </a:tc>
                <a:tc>
                  <a:txBody>
                    <a:bodyPr/>
                    <a:lstStyle/>
                    <a:p>
                      <a:pPr>
                        <a:defRPr sz="2000" b="0">
                          <a:solidFill>
                            <a:srgbClr val="EAF2F8"/>
                          </a:solidFill>
                          <a:latin typeface="DejaVu Sans"/>
                        </a:defRPr>
                      </a:pPr>
                      <a:r>
                        <a:t>10</a:t>
                      </a:r>
                    </a:p>
                  </a:txBody>
                  <a:tcPr marL="109728" marT="73152">
                    <a:solidFill>
                      <a:srgbClr val="101D2A"/>
                    </a:solidFill>
                  </a:tcPr>
                </a:tc>
                <a:extLst>
                  <a:ext uri="{0D108BD9-81ED-4DB2-BD59-A6C34878D82A}">
                    <a16:rowId xmlns:a16="http://schemas.microsoft.com/office/drawing/2014/main" val="10001"/>
                  </a:ext>
                </a:extLst>
              </a:tr>
              <a:tr h="571500">
                <a:tc>
                  <a:txBody>
                    <a:bodyPr/>
                    <a:lstStyle/>
                    <a:p>
                      <a:pPr>
                        <a:defRPr sz="2000" b="0">
                          <a:solidFill>
                            <a:srgbClr val="EAF2F8"/>
                          </a:solidFill>
                          <a:latin typeface="DejaVu Sans"/>
                        </a:defRPr>
                      </a:pPr>
                      <a:r>
                        <a:t>Standalone diagnostic</a:t>
                      </a:r>
                    </a:p>
                  </a:txBody>
                  <a:tcPr marL="109728" marT="73152">
                    <a:solidFill>
                      <a:srgbClr val="101D2A"/>
                    </a:solidFill>
                  </a:tcPr>
                </a:tc>
                <a:tc>
                  <a:txBody>
                    <a:bodyPr/>
                    <a:lstStyle/>
                    <a:p>
                      <a:pPr>
                        <a:defRPr sz="2000" b="0">
                          <a:solidFill>
                            <a:srgbClr val="EAF2F8"/>
                          </a:solidFill>
                          <a:latin typeface="DejaVu Sans"/>
                        </a:defRPr>
                      </a:pPr>
                      <a:r>
                        <a:t>17</a:t>
                      </a:r>
                    </a:p>
                  </a:txBody>
                  <a:tcPr marL="109728" marT="73152">
                    <a:solidFill>
                      <a:srgbClr val="101D2A"/>
                    </a:solidFill>
                  </a:tcPr>
                </a:tc>
                <a:tc>
                  <a:txBody>
                    <a:bodyPr/>
                    <a:lstStyle/>
                    <a:p>
                      <a:pPr>
                        <a:defRPr sz="2000" b="0">
                          <a:solidFill>
                            <a:srgbClr val="EAF2F8"/>
                          </a:solidFill>
                          <a:latin typeface="DejaVu Sans"/>
                        </a:defRPr>
                      </a:pPr>
                      <a:r>
                        <a:t>5</a:t>
                      </a:r>
                    </a:p>
                  </a:txBody>
                  <a:tcPr marL="109728" marT="73152">
                    <a:solidFill>
                      <a:srgbClr val="101D2A"/>
                    </a:solidFill>
                  </a:tcPr>
                </a:tc>
                <a:extLst>
                  <a:ext uri="{0D108BD9-81ED-4DB2-BD59-A6C34878D82A}">
                    <a16:rowId xmlns:a16="http://schemas.microsoft.com/office/drawing/2014/main" val="10002"/>
                  </a:ext>
                </a:extLst>
              </a:tr>
              <a:tr h="571500">
                <a:tc>
                  <a:txBody>
                    <a:bodyPr/>
                    <a:lstStyle/>
                    <a:p>
                      <a:pPr>
                        <a:defRPr sz="2000" b="0">
                          <a:solidFill>
                            <a:srgbClr val="EAF2F8"/>
                          </a:solidFill>
                          <a:latin typeface="DejaVu Sans"/>
                        </a:defRPr>
                      </a:pPr>
                      <a:r>
                        <a:t>Combined Table-I file</a:t>
                      </a:r>
                    </a:p>
                  </a:txBody>
                  <a:tcPr marL="109728" marT="73152">
                    <a:solidFill>
                      <a:srgbClr val="101D2A"/>
                    </a:solidFill>
                  </a:tcPr>
                </a:tc>
                <a:tc>
                  <a:txBody>
                    <a:bodyPr/>
                    <a:lstStyle/>
                    <a:p>
                      <a:pPr>
                        <a:defRPr sz="2000" b="0">
                          <a:solidFill>
                            <a:srgbClr val="EAF2F8"/>
                          </a:solidFill>
                          <a:latin typeface="DejaVu Sans"/>
                        </a:defRPr>
                      </a:pPr>
                      <a:r>
                        <a:t>17</a:t>
                      </a:r>
                    </a:p>
                  </a:txBody>
                  <a:tcPr marL="109728" marT="73152">
                    <a:solidFill>
                      <a:srgbClr val="101D2A"/>
                    </a:solidFill>
                  </a:tcPr>
                </a:tc>
                <a:tc>
                  <a:txBody>
                    <a:bodyPr/>
                    <a:lstStyle/>
                    <a:p>
                      <a:pPr>
                        <a:defRPr sz="2000" b="0">
                          <a:solidFill>
                            <a:srgbClr val="EAF2F8"/>
                          </a:solidFill>
                          <a:latin typeface="DejaVu Sans"/>
                        </a:defRPr>
                      </a:pPr>
                      <a:r>
                        <a:t>0</a:t>
                      </a:r>
                    </a:p>
                  </a:txBody>
                  <a:tcPr marL="109728" marT="73152">
                    <a:solidFill>
                      <a:srgbClr val="101D2A"/>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85800" y="4370832"/>
            <a:ext cx="10789920" cy="365760"/>
          </a:xfrm>
          <a:prstGeom prst="rect">
            <a:avLst/>
          </a:prstGeom>
          <a:noFill/>
        </p:spPr>
        <p:txBody>
          <a:bodyPr wrap="square" lIns="0" rIns="0">
            <a:spAutoFit/>
          </a:bodyPr>
          <a:lstStyle/>
          <a:p>
            <a:pPr>
              <a:spcAft>
                <a:spcPts val="900"/>
              </a:spcAft>
              <a:defRPr sz="2200" b="1">
                <a:solidFill>
                  <a:srgbClr val="78D8CC"/>
                </a:solidFill>
                <a:latin typeface="DejaVu Sans"/>
              </a:defRPr>
            </a:pPr>
            <a:r>
              <a:t>What this means</a:t>
            </a:r>
          </a:p>
        </p:txBody>
      </p:sp>
      <p:sp>
        <p:nvSpPr>
          <p:cNvPr id="8" name="TextBox 7"/>
          <p:cNvSpPr txBox="1"/>
          <p:nvPr/>
        </p:nvSpPr>
        <p:spPr>
          <a:xfrm>
            <a:off x="685800" y="4809744"/>
            <a:ext cx="10789920" cy="594360"/>
          </a:xfrm>
          <a:prstGeom prst="rect">
            <a:avLst/>
          </a:prstGeom>
          <a:noFill/>
        </p:spPr>
        <p:txBody>
          <a:bodyPr wrap="square" lIns="0" rIns="0">
            <a:spAutoFit/>
          </a:bodyPr>
          <a:lstStyle/>
          <a:p>
            <a:pPr>
              <a:spcAft>
                <a:spcPts val="900"/>
              </a:spcAft>
              <a:defRPr sz="2100" b="0">
                <a:solidFill>
                  <a:srgbClr val="EAF2F8"/>
                </a:solidFill>
                <a:latin typeface="DejaVu Sans"/>
              </a:defRPr>
            </a:pPr>
            <a:r>
              <a:t>Both stored runs differ from the published result. Neither file proves that one run supersedes the other.</a:t>
            </a:r>
          </a:p>
        </p:txBody>
      </p:sp>
      <p:sp>
        <p:nvSpPr>
          <p:cNvPr id="9" name="TextBox 8"/>
          <p:cNvSpPr txBox="1"/>
          <p:nvPr/>
        </p:nvSpPr>
        <p:spPr>
          <a:xfrm>
            <a:off x="685800" y="5513832"/>
            <a:ext cx="10789920" cy="411480"/>
          </a:xfrm>
          <a:prstGeom prst="rect">
            <a:avLst/>
          </a:prstGeom>
          <a:noFill/>
        </p:spPr>
        <p:txBody>
          <a:bodyPr wrap="square" lIns="0" rIns="0">
            <a:spAutoFit/>
          </a:bodyPr>
          <a:lstStyle/>
          <a:p>
            <a:pPr>
              <a:spcAft>
                <a:spcPts val="900"/>
              </a:spcAft>
              <a:defRPr sz="1700" b="0">
                <a:solidFill>
                  <a:srgbClr val="9CB0C3"/>
                </a:solidFill>
                <a:latin typeface="DejaVu Sans"/>
              </a:defRPr>
            </a:pPr>
            <a:r>
              <a:t>Next: record the Stage-II mode, window settings and generating commit for each run.</a:t>
            </a:r>
          </a:p>
        </p:txBody>
      </p:sp>
      <p:sp>
        <p:nvSpPr>
          <p:cNvPr id="10" name="TextBox 9"/>
          <p:cNvSpPr txBox="1"/>
          <p:nvPr/>
        </p:nvSpPr>
        <p:spPr>
          <a:xfrm>
            <a:off x="11045952" y="6510528"/>
            <a:ext cx="548640" cy="182880"/>
          </a:xfrm>
          <a:prstGeom prst="rect">
            <a:avLst/>
          </a:prstGeom>
          <a:noFill/>
        </p:spPr>
        <p:txBody>
          <a:bodyPr wrap="square" lIns="0" rIns="0">
            <a:spAutoFit/>
          </a:bodyPr>
          <a:lstStyle/>
          <a:p>
            <a:pPr>
              <a:spcAft>
                <a:spcPts val="900"/>
              </a:spcAft>
              <a:defRPr sz="800" b="0">
                <a:solidFill>
                  <a:srgbClr val="9CB0C3"/>
                </a:solidFill>
                <a:latin typeface="DejaVu Sans"/>
              </a:defRPr>
            </a:pPr>
            <a:r>
              <a:t>15</a:t>
            </a:r>
          </a:p>
        </p:txBody>
      </p:sp>
    </p:spTree>
    <p:extLst>
      <p:ext uri="{BB962C8B-B14F-4D97-AF65-F5344CB8AC3E}">
        <p14:creationId xmlns:p14="http://schemas.microsoft.com/office/powerpoint/2010/main" val="3423941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MANUSCRIPT EVIDENCE</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Numerical reproduction remains unresolved</a:t>
            </a:r>
          </a:p>
        </p:txBody>
      </p:sp>
      <p:sp>
        <p:nvSpPr>
          <p:cNvPr id="4" name="TextBox 3"/>
          <p:cNvSpPr txBox="1"/>
          <p:nvPr/>
        </p:nvSpPr>
        <p:spPr>
          <a:xfrm>
            <a:off x="612648" y="6053328"/>
            <a:ext cx="10972800" cy="329184"/>
          </a:xfrm>
          <a:prstGeom prst="rect">
            <a:avLst/>
          </a:prstGeom>
          <a:noFill/>
        </p:spPr>
        <p:txBody>
          <a:bodyPr wrap="square" lIns="0" rIns="0">
            <a:spAutoFit/>
          </a:bodyPr>
          <a:lstStyle/>
          <a:p>
            <a:pPr>
              <a:spcAft>
                <a:spcPts val="900"/>
              </a:spcAft>
              <a:defRPr sz="1100" b="0">
                <a:solidFill>
                  <a:srgbClr val="9CB0C3"/>
                </a:solidFill>
                <a:latin typeface="DejaVu Sans"/>
              </a:defRPr>
            </a:pPr>
            <a:r>
              <a:t>Source: outputs/metrics/bci_table1_comparison.csv at 2a8d20b; means calculated across nine subjects per dataset.</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graphicFrame>
        <p:nvGraphicFramePr>
          <p:cNvPr id="6" name="Table 5"/>
          <p:cNvGraphicFramePr>
            <a:graphicFrameLocks noGrp="1"/>
          </p:cNvGraphicFramePr>
          <p:nvPr/>
        </p:nvGraphicFramePr>
        <p:xfrm>
          <a:off x="685800" y="1783080"/>
          <a:ext cx="10789920" cy="1691640"/>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563880">
                <a:tc>
                  <a:txBody>
                    <a:bodyPr/>
                    <a:lstStyle/>
                    <a:p>
                      <a:pPr>
                        <a:defRPr sz="2100" b="1">
                          <a:solidFill>
                            <a:srgbClr val="78D8CC"/>
                          </a:solidFill>
                          <a:latin typeface="DejaVu Sans"/>
                        </a:defRPr>
                      </a:pPr>
                      <a:r>
                        <a:t>Mean validated-shift count</a:t>
                      </a:r>
                    </a:p>
                  </a:txBody>
                  <a:tcPr marL="109728" marT="73152">
                    <a:solidFill>
                      <a:srgbClr val="142838"/>
                    </a:solidFill>
                  </a:tcPr>
                </a:tc>
                <a:tc>
                  <a:txBody>
                    <a:bodyPr/>
                    <a:lstStyle/>
                    <a:p>
                      <a:pPr>
                        <a:defRPr sz="2100" b="1">
                          <a:solidFill>
                            <a:srgbClr val="78D8CC"/>
                          </a:solidFill>
                          <a:latin typeface="DejaVu Sans"/>
                        </a:defRPr>
                      </a:pPr>
                      <a:r>
                        <a:t>Computed</a:t>
                      </a:r>
                    </a:p>
                  </a:txBody>
                  <a:tcPr marL="109728" marT="73152">
                    <a:solidFill>
                      <a:srgbClr val="142838"/>
                    </a:solidFill>
                  </a:tcPr>
                </a:tc>
                <a:tc>
                  <a:txBody>
                    <a:bodyPr/>
                    <a:lstStyle/>
                    <a:p>
                      <a:pPr>
                        <a:defRPr sz="2100" b="1">
                          <a:solidFill>
                            <a:srgbClr val="78D8CC"/>
                          </a:solidFill>
                          <a:latin typeface="DejaVu Sans"/>
                        </a:defRPr>
                      </a:pPr>
                      <a:r>
                        <a:t>Published</a:t>
                      </a:r>
                    </a:p>
                  </a:txBody>
                  <a:tcPr marL="109728" marT="73152">
                    <a:solidFill>
                      <a:srgbClr val="142838"/>
                    </a:solidFill>
                  </a:tcPr>
                </a:tc>
                <a:extLst>
                  <a:ext uri="{0D108BD9-81ED-4DB2-BD59-A6C34878D82A}">
                    <a16:rowId xmlns:a16="http://schemas.microsoft.com/office/drawing/2014/main" val="10000"/>
                  </a:ext>
                </a:extLst>
              </a:tr>
              <a:tr h="563880">
                <a:tc>
                  <a:txBody>
                    <a:bodyPr/>
                    <a:lstStyle/>
                    <a:p>
                      <a:pPr>
                        <a:defRPr sz="2100" b="0">
                          <a:solidFill>
                            <a:srgbClr val="EAF2F8"/>
                          </a:solidFill>
                          <a:latin typeface="DejaVu Sans"/>
                        </a:defRPr>
                      </a:pPr>
                      <a:r>
                        <a:t>Dataset 2A</a:t>
                      </a:r>
                    </a:p>
                  </a:txBody>
                  <a:tcPr marL="109728" marT="73152">
                    <a:solidFill>
                      <a:srgbClr val="101D2A"/>
                    </a:solidFill>
                  </a:tcPr>
                </a:tc>
                <a:tc>
                  <a:txBody>
                    <a:bodyPr/>
                    <a:lstStyle/>
                    <a:p>
                      <a:pPr>
                        <a:defRPr sz="2100" b="0">
                          <a:solidFill>
                            <a:srgbClr val="EAF2F8"/>
                          </a:solidFill>
                          <a:latin typeface="DejaVu Sans"/>
                        </a:defRPr>
                      </a:pPr>
                      <a:r>
                        <a:t>0.33</a:t>
                      </a:r>
                    </a:p>
                  </a:txBody>
                  <a:tcPr marL="109728" marT="73152">
                    <a:solidFill>
                      <a:srgbClr val="101D2A"/>
                    </a:solidFill>
                  </a:tcPr>
                </a:tc>
                <a:tc>
                  <a:txBody>
                    <a:bodyPr/>
                    <a:lstStyle/>
                    <a:p>
                      <a:pPr>
                        <a:defRPr sz="2100" b="0">
                          <a:solidFill>
                            <a:srgbClr val="EAF2F8"/>
                          </a:solidFill>
                          <a:latin typeface="DejaVu Sans"/>
                        </a:defRPr>
                      </a:pPr>
                      <a:r>
                        <a:t>5.56</a:t>
                      </a:r>
                    </a:p>
                  </a:txBody>
                  <a:tcPr marL="109728" marT="73152">
                    <a:solidFill>
                      <a:srgbClr val="101D2A"/>
                    </a:solidFill>
                  </a:tcPr>
                </a:tc>
                <a:extLst>
                  <a:ext uri="{0D108BD9-81ED-4DB2-BD59-A6C34878D82A}">
                    <a16:rowId xmlns:a16="http://schemas.microsoft.com/office/drawing/2014/main" val="10001"/>
                  </a:ext>
                </a:extLst>
              </a:tr>
              <a:tr h="563880">
                <a:tc>
                  <a:txBody>
                    <a:bodyPr/>
                    <a:lstStyle/>
                    <a:p>
                      <a:pPr>
                        <a:defRPr sz="2100" b="0">
                          <a:solidFill>
                            <a:srgbClr val="EAF2F8"/>
                          </a:solidFill>
                          <a:latin typeface="DejaVu Sans"/>
                        </a:defRPr>
                      </a:pPr>
                      <a:r>
                        <a:t>Dataset 2B</a:t>
                      </a:r>
                    </a:p>
                  </a:txBody>
                  <a:tcPr marL="109728" marT="73152">
                    <a:solidFill>
                      <a:srgbClr val="101D2A"/>
                    </a:solidFill>
                  </a:tcPr>
                </a:tc>
                <a:tc>
                  <a:txBody>
                    <a:bodyPr/>
                    <a:lstStyle/>
                    <a:p>
                      <a:pPr>
                        <a:defRPr sz="2100" b="0">
                          <a:solidFill>
                            <a:srgbClr val="EAF2F8"/>
                          </a:solidFill>
                          <a:latin typeface="DejaVu Sans"/>
                        </a:defRPr>
                      </a:pPr>
                      <a:r>
                        <a:t>0.67</a:t>
                      </a:r>
                    </a:p>
                  </a:txBody>
                  <a:tcPr marL="109728" marT="73152">
                    <a:solidFill>
                      <a:srgbClr val="101D2A"/>
                    </a:solidFill>
                  </a:tcPr>
                </a:tc>
                <a:tc>
                  <a:txBody>
                    <a:bodyPr/>
                    <a:lstStyle/>
                    <a:p>
                      <a:pPr>
                        <a:defRPr sz="2100" b="0">
                          <a:solidFill>
                            <a:srgbClr val="EAF2F8"/>
                          </a:solidFill>
                          <a:latin typeface="DejaVu Sans"/>
                        </a:defRPr>
                      </a:pPr>
                      <a:r>
                        <a:t>10.33</a:t>
                      </a:r>
                    </a:p>
                  </a:txBody>
                  <a:tcPr marL="109728" marT="73152">
                    <a:solidFill>
                      <a:srgbClr val="101D2A"/>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685800" y="3840480"/>
            <a:ext cx="5029200" cy="365760"/>
          </a:xfrm>
          <a:prstGeom prst="rect">
            <a:avLst/>
          </a:prstGeom>
          <a:noFill/>
        </p:spPr>
        <p:txBody>
          <a:bodyPr wrap="square" lIns="0" rIns="0">
            <a:spAutoFit/>
          </a:bodyPr>
          <a:lstStyle/>
          <a:p>
            <a:pPr>
              <a:spcAft>
                <a:spcPts val="900"/>
              </a:spcAft>
              <a:defRPr sz="2200" b="1">
                <a:solidFill>
                  <a:srgbClr val="78D8CC"/>
                </a:solidFill>
                <a:latin typeface="DejaVu Sans"/>
              </a:defRPr>
            </a:pPr>
            <a:r>
              <a:t>Evidence available</a:t>
            </a:r>
          </a:p>
        </p:txBody>
      </p:sp>
      <p:sp>
        <p:nvSpPr>
          <p:cNvPr id="8" name="TextBox 7"/>
          <p:cNvSpPr txBox="1"/>
          <p:nvPr/>
        </p:nvSpPr>
        <p:spPr>
          <a:xfrm>
            <a:off x="685800" y="4361688"/>
            <a:ext cx="5029200" cy="1234440"/>
          </a:xfrm>
          <a:prstGeom prst="rect">
            <a:avLst/>
          </a:prstGeom>
          <a:noFill/>
        </p:spPr>
        <p:txBody>
          <a:bodyPr wrap="square" lIns="0" rIns="0">
            <a:spAutoFit/>
          </a:bodyPr>
          <a:lstStyle/>
          <a:p>
            <a:pPr>
              <a:spcAft>
                <a:spcPts val="900"/>
              </a:spcAft>
              <a:defRPr sz="2000" b="0">
                <a:solidFill>
                  <a:srgbClr val="EAF2F8"/>
                </a:solidFill>
                <a:latin typeface="DejaVu Sans"/>
              </a:defRPr>
            </a:pPr>
            <a:r>
              <a:t>Subject-level comparisons</a:t>
            </a:r>
          </a:p>
          <a:p>
            <a:pPr>
              <a:spcAft>
                <a:spcPts val="900"/>
              </a:spcAft>
              <a:defRPr sz="2000" b="0">
                <a:solidFill>
                  <a:srgbClr val="EAF2F8"/>
                </a:solidFill>
                <a:latin typeface="DejaVu Sans"/>
              </a:defRPr>
            </a:pPr>
            <a:r>
              <a:t>Classifier benchmarks</a:t>
            </a:r>
          </a:p>
          <a:p>
            <a:pPr>
              <a:spcAft>
                <a:spcPts val="900"/>
              </a:spcAft>
              <a:defRPr sz="2000" b="0">
                <a:solidFill>
                  <a:srgbClr val="EAF2F8"/>
                </a:solidFill>
                <a:latin typeface="DejaVu Sans"/>
              </a:defRPr>
            </a:pPr>
            <a:r>
              <a:t>Synthetic score/residual ablations</a:t>
            </a:r>
          </a:p>
        </p:txBody>
      </p:sp>
      <p:sp>
        <p:nvSpPr>
          <p:cNvPr id="9" name="TextBox 8"/>
          <p:cNvSpPr txBox="1"/>
          <p:nvPr/>
        </p:nvSpPr>
        <p:spPr>
          <a:xfrm>
            <a:off x="6309360" y="3840480"/>
            <a:ext cx="5029200" cy="365760"/>
          </a:xfrm>
          <a:prstGeom prst="rect">
            <a:avLst/>
          </a:prstGeom>
          <a:noFill/>
        </p:spPr>
        <p:txBody>
          <a:bodyPr wrap="square" lIns="0" rIns="0">
            <a:spAutoFit/>
          </a:bodyPr>
          <a:lstStyle/>
          <a:p>
            <a:pPr>
              <a:spcAft>
                <a:spcPts val="900"/>
              </a:spcAft>
              <a:defRPr sz="2200" b="1">
                <a:solidFill>
                  <a:srgbClr val="78D8CC"/>
                </a:solidFill>
                <a:latin typeface="DejaVu Sans"/>
              </a:defRPr>
            </a:pPr>
            <a:r>
              <a:t>Evidence to complete</a:t>
            </a:r>
          </a:p>
        </p:txBody>
      </p:sp>
      <p:sp>
        <p:nvSpPr>
          <p:cNvPr id="10" name="TextBox 9"/>
          <p:cNvSpPr txBox="1"/>
          <p:nvPr/>
        </p:nvSpPr>
        <p:spPr>
          <a:xfrm>
            <a:off x="6309360" y="4361688"/>
            <a:ext cx="5029200" cy="1234440"/>
          </a:xfrm>
          <a:prstGeom prst="rect">
            <a:avLst/>
          </a:prstGeom>
          <a:noFill/>
        </p:spPr>
        <p:txBody>
          <a:bodyPr wrap="square" lIns="0" rIns="0">
            <a:spAutoFit/>
          </a:bodyPr>
          <a:lstStyle/>
          <a:p>
            <a:pPr>
              <a:spcAft>
                <a:spcPts val="900"/>
              </a:spcAft>
              <a:defRPr sz="2000" b="0">
                <a:solidFill>
                  <a:srgbClr val="EAF2F8"/>
                </a:solidFill>
                <a:latin typeface="DejaVu Sans"/>
              </a:defRPr>
            </a:pPr>
            <a:r>
              <a:t>One configuration per reproducible run</a:t>
            </a:r>
          </a:p>
          <a:p>
            <a:pPr>
              <a:spcAft>
                <a:spcPts val="900"/>
              </a:spcAft>
              <a:defRPr sz="2000" b="0">
                <a:solidFill>
                  <a:srgbClr val="EAF2F8"/>
                </a:solidFill>
                <a:latin typeface="DejaVu Sans"/>
              </a:defRPr>
            </a:pPr>
            <a:r>
              <a:t>Stage-II acceptance/rejection analysis</a:t>
            </a:r>
          </a:p>
          <a:p>
            <a:pPr>
              <a:spcAft>
                <a:spcPts val="900"/>
              </a:spcAft>
              <a:defRPr sz="2000" b="0">
                <a:solidFill>
                  <a:srgbClr val="EAF2F8"/>
                </a:solidFill>
                <a:latin typeface="DejaVu Sans"/>
              </a:defRPr>
            </a:pPr>
            <a:r>
              <a:t>Real EEG traces and repeated Diethe runs</a:t>
            </a:r>
          </a:p>
        </p:txBody>
      </p:sp>
      <p:sp>
        <p:nvSpPr>
          <p:cNvPr id="11" name="TextBox 10"/>
          <p:cNvSpPr txBox="1"/>
          <p:nvPr/>
        </p:nvSpPr>
        <p:spPr>
          <a:xfrm>
            <a:off x="11045952" y="6510528"/>
            <a:ext cx="548640" cy="182880"/>
          </a:xfrm>
          <a:prstGeom prst="rect">
            <a:avLst/>
          </a:prstGeom>
          <a:noFill/>
        </p:spPr>
        <p:txBody>
          <a:bodyPr wrap="square" lIns="0" rIns="0">
            <a:spAutoFit/>
          </a:bodyPr>
          <a:lstStyle/>
          <a:p>
            <a:pPr>
              <a:spcAft>
                <a:spcPts val="900"/>
              </a:spcAft>
              <a:defRPr sz="800" b="0">
                <a:solidFill>
                  <a:srgbClr val="9CB0C3"/>
                </a:solidFill>
                <a:latin typeface="DejaVu Sans"/>
              </a:defRPr>
            </a:pPr>
            <a:r>
              <a:t>16</a:t>
            </a:r>
          </a:p>
        </p:txBody>
      </p:sp>
    </p:spTree>
    <p:extLst>
      <p:ext uri="{BB962C8B-B14F-4D97-AF65-F5344CB8AC3E}">
        <p14:creationId xmlns:p14="http://schemas.microsoft.com/office/powerpoint/2010/main" val="1001070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DATA PROTOCOL</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Dataset roles differ across experiments</a:t>
            </a:r>
          </a:p>
        </p:txBody>
      </p:sp>
      <p:sp>
        <p:nvSpPr>
          <p:cNvPr id="4" name="TextBox 3"/>
          <p:cNvSpPr txBox="1"/>
          <p:nvPr/>
        </p:nvSpPr>
        <p:spPr>
          <a:xfrm>
            <a:off x="612648" y="6053328"/>
            <a:ext cx="10972800" cy="329184"/>
          </a:xfrm>
          <a:prstGeom prst="rect">
            <a:avLst/>
          </a:prstGeom>
          <a:noFill/>
        </p:spPr>
        <p:txBody>
          <a:bodyPr wrap="square" lIns="0" rIns="0">
            <a:spAutoFit/>
          </a:bodyPr>
          <a:lstStyle/>
          <a:p>
            <a:pPr>
              <a:spcAft>
                <a:spcPts val="900"/>
              </a:spcAft>
              <a:defRPr sz="1100" b="0">
                <a:solidFill>
                  <a:srgbClr val="9CB0C3"/>
                </a:solidFill>
                <a:latin typeface="DejaVu Sans"/>
              </a:defRPr>
            </a:pPr>
            <a:r>
              <a:t>Source: current runners and stored result files at 2a8d20b. Evaluation data do not fit the feature representation.</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graphicFrame>
        <p:nvGraphicFramePr>
          <p:cNvPr id="6" name="Table 5"/>
          <p:cNvGraphicFramePr>
            <a:graphicFrameLocks noGrp="1"/>
          </p:cNvGraphicFramePr>
          <p:nvPr/>
        </p:nvGraphicFramePr>
        <p:xfrm>
          <a:off x="685800" y="1691640"/>
          <a:ext cx="10789920" cy="35661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713232">
                <a:tc>
                  <a:txBody>
                    <a:bodyPr/>
                    <a:lstStyle/>
                    <a:p>
                      <a:pPr>
                        <a:defRPr sz="1700" b="1">
                          <a:solidFill>
                            <a:srgbClr val="78D8CC"/>
                          </a:solidFill>
                          <a:latin typeface="DejaVu Sans"/>
                        </a:defRPr>
                      </a:pPr>
                      <a:r>
                        <a:t>Experiment</a:t>
                      </a:r>
                    </a:p>
                  </a:txBody>
                  <a:tcPr marL="109728" marT="73152">
                    <a:solidFill>
                      <a:srgbClr val="142838"/>
                    </a:solidFill>
                  </a:tcPr>
                </a:tc>
                <a:tc>
                  <a:txBody>
                    <a:bodyPr/>
                    <a:lstStyle/>
                    <a:p>
                      <a:pPr>
                        <a:defRPr sz="1700" b="1">
                          <a:solidFill>
                            <a:srgbClr val="78D8CC"/>
                          </a:solidFill>
                          <a:latin typeface="DejaVu Sans"/>
                        </a:defRPr>
                      </a:pPr>
                      <a:r>
                        <a:t>2A</a:t>
                      </a:r>
                    </a:p>
                  </a:txBody>
                  <a:tcPr marL="109728" marT="73152">
                    <a:solidFill>
                      <a:srgbClr val="142838"/>
                    </a:solidFill>
                  </a:tcPr>
                </a:tc>
                <a:tc>
                  <a:txBody>
                    <a:bodyPr/>
                    <a:lstStyle/>
                    <a:p>
                      <a:pPr>
                        <a:defRPr sz="1700" b="1">
                          <a:solidFill>
                            <a:srgbClr val="78D8CC"/>
                          </a:solidFill>
                          <a:latin typeface="DejaVu Sans"/>
                        </a:defRPr>
                      </a:pPr>
                      <a:r>
                        <a:t>2B</a:t>
                      </a:r>
                    </a:p>
                  </a:txBody>
                  <a:tcPr marL="109728" marT="73152">
                    <a:solidFill>
                      <a:srgbClr val="142838"/>
                    </a:solidFill>
                  </a:tcPr>
                </a:tc>
                <a:extLst>
                  <a:ext uri="{0D108BD9-81ED-4DB2-BD59-A6C34878D82A}">
                    <a16:rowId xmlns:a16="http://schemas.microsoft.com/office/drawing/2014/main" val="10000"/>
                  </a:ext>
                </a:extLst>
              </a:tr>
              <a:tr h="713232">
                <a:tc>
                  <a:txBody>
                    <a:bodyPr/>
                    <a:lstStyle/>
                    <a:p>
                      <a:pPr>
                        <a:defRPr sz="1700" b="0">
                          <a:solidFill>
                            <a:srgbClr val="EAF2F8"/>
                          </a:solidFill>
                          <a:latin typeface="DejaVu Sans"/>
                        </a:defRPr>
                      </a:pPr>
                      <a:r>
                        <a:t>Table-I CSE</a:t>
                      </a:r>
                    </a:p>
                  </a:txBody>
                  <a:tcPr marL="109728" marT="73152">
                    <a:solidFill>
                      <a:srgbClr val="101D2A"/>
                    </a:solidFill>
                  </a:tcPr>
                </a:tc>
                <a:tc>
                  <a:txBody>
                    <a:bodyPr/>
                    <a:lstStyle/>
                    <a:p>
                      <a:pPr>
                        <a:defRPr sz="1700" b="0">
                          <a:solidFill>
                            <a:srgbClr val="EAF2F8"/>
                          </a:solidFill>
                          <a:latin typeface="DejaVu Sans"/>
                        </a:defRPr>
                      </a:pPr>
                      <a:r>
                        <a:t>Session I development;</a:t>
                      </a:r>
                    </a:p>
                    <a:p>
                      <a:pPr>
                        <a:defRPr sz="1700" b="0">
                          <a:solidFill>
                            <a:srgbClr val="EAF2F8"/>
                          </a:solidFill>
                          <a:latin typeface="DejaVu Sans"/>
                        </a:defRPr>
                      </a:pPr>
                      <a:r>
                        <a:t>Session II evaluation</a:t>
                      </a:r>
                    </a:p>
                  </a:txBody>
                  <a:tcPr marL="109728" marT="73152">
                    <a:solidFill>
                      <a:srgbClr val="101D2A"/>
                    </a:solidFill>
                  </a:tcPr>
                </a:tc>
                <a:tc>
                  <a:txBody>
                    <a:bodyPr/>
                    <a:lstStyle/>
                    <a:p>
                      <a:pPr>
                        <a:defRPr sz="1700" b="0">
                          <a:solidFill>
                            <a:srgbClr val="EAF2F8"/>
                          </a:solidFill>
                          <a:latin typeface="DejaVu Sans"/>
                        </a:defRPr>
                      </a:pPr>
                      <a:r>
                        <a:t>I–III development;</a:t>
                      </a:r>
                    </a:p>
                    <a:p>
                      <a:pPr>
                        <a:defRPr sz="1700" b="0">
                          <a:solidFill>
                            <a:srgbClr val="EAF2F8"/>
                          </a:solidFill>
                          <a:latin typeface="DejaVu Sans"/>
                        </a:defRPr>
                      </a:pPr>
                      <a:r>
                        <a:t>IV–V evaluation</a:t>
                      </a:r>
                    </a:p>
                  </a:txBody>
                  <a:tcPr marL="109728" marT="73152">
                    <a:solidFill>
                      <a:srgbClr val="101D2A"/>
                    </a:solidFill>
                  </a:tcPr>
                </a:tc>
                <a:extLst>
                  <a:ext uri="{0D108BD9-81ED-4DB2-BD59-A6C34878D82A}">
                    <a16:rowId xmlns:a16="http://schemas.microsoft.com/office/drawing/2014/main" val="10001"/>
                  </a:ext>
                </a:extLst>
              </a:tr>
              <a:tr h="713232">
                <a:tc>
                  <a:txBody>
                    <a:bodyPr/>
                    <a:lstStyle/>
                    <a:p>
                      <a:pPr>
                        <a:defRPr sz="1700" b="0">
                          <a:solidFill>
                            <a:srgbClr val="EAF2F8"/>
                          </a:solidFill>
                          <a:latin typeface="DejaVu Sans"/>
                        </a:defRPr>
                      </a:pPr>
                      <a:r>
                        <a:t>Stored classifier benchmark</a:t>
                      </a:r>
                    </a:p>
                  </a:txBody>
                  <a:tcPr marL="109728" marT="73152">
                    <a:solidFill>
                      <a:srgbClr val="101D2A"/>
                    </a:solidFill>
                  </a:tcPr>
                </a:tc>
                <a:tc>
                  <a:txBody>
                    <a:bodyPr/>
                    <a:lstStyle/>
                    <a:p>
                      <a:pPr>
                        <a:defRPr sz="1700" b="0">
                          <a:solidFill>
                            <a:srgbClr val="EAF2F8"/>
                          </a:solidFill>
                          <a:latin typeface="DejaVu Sans"/>
                        </a:defRPr>
                      </a:pPr>
                      <a:r>
                        <a:t>Fit I; evaluate II</a:t>
                      </a:r>
                    </a:p>
                  </a:txBody>
                  <a:tcPr marL="109728" marT="73152">
                    <a:solidFill>
                      <a:srgbClr val="101D2A"/>
                    </a:solidFill>
                  </a:tcPr>
                </a:tc>
                <a:tc>
                  <a:txBody>
                    <a:bodyPr/>
                    <a:lstStyle/>
                    <a:p>
                      <a:pPr>
                        <a:defRPr sz="1700" b="0">
                          <a:solidFill>
                            <a:srgbClr val="EAF2F8"/>
                          </a:solidFill>
                          <a:latin typeface="DejaVu Sans"/>
                        </a:defRPr>
                      </a:pPr>
                      <a:r>
                        <a:t>Fit I–II; evaluate III</a:t>
                      </a:r>
                    </a:p>
                  </a:txBody>
                  <a:tcPr marL="109728" marT="73152">
                    <a:solidFill>
                      <a:srgbClr val="101D2A"/>
                    </a:solidFill>
                  </a:tcPr>
                </a:tc>
                <a:extLst>
                  <a:ext uri="{0D108BD9-81ED-4DB2-BD59-A6C34878D82A}">
                    <a16:rowId xmlns:a16="http://schemas.microsoft.com/office/drawing/2014/main" val="10002"/>
                  </a:ext>
                </a:extLst>
              </a:tr>
              <a:tr h="713232">
                <a:tc>
                  <a:txBody>
                    <a:bodyPr/>
                    <a:lstStyle/>
                    <a:p>
                      <a:pPr>
                        <a:defRPr sz="1700" b="0">
                          <a:solidFill>
                            <a:srgbClr val="EAF2F8"/>
                          </a:solidFill>
                          <a:latin typeface="DejaVu Sans"/>
                        </a:defRPr>
                      </a:pPr>
                      <a:r>
                        <a:t>Complementary EEG runner</a:t>
                      </a:r>
                    </a:p>
                  </a:txBody>
                  <a:tcPr marL="109728" marT="73152">
                    <a:solidFill>
                      <a:srgbClr val="101D2A"/>
                    </a:solidFill>
                  </a:tcPr>
                </a:tc>
                <a:tc>
                  <a:txBody>
                    <a:bodyPr/>
                    <a:lstStyle/>
                    <a:p>
                      <a:pPr>
                        <a:defRPr sz="1700" b="0">
                          <a:solidFill>
                            <a:srgbClr val="EAF2F8"/>
                          </a:solidFill>
                          <a:latin typeface="DejaVu Sans"/>
                        </a:defRPr>
                      </a:pPr>
                      <a:r>
                        <a:t>I: training/calibration split;</a:t>
                      </a:r>
                    </a:p>
                    <a:p>
                      <a:pPr>
                        <a:defRPr sz="1700" b="0">
                          <a:solidFill>
                            <a:srgbClr val="EAF2F8"/>
                          </a:solidFill>
                          <a:latin typeface="DejaVu Sans"/>
                        </a:defRPr>
                      </a:pPr>
                      <a:r>
                        <a:t>II evaluation</a:t>
                      </a:r>
                    </a:p>
                  </a:txBody>
                  <a:tcPr marL="109728" marT="73152">
                    <a:solidFill>
                      <a:srgbClr val="101D2A"/>
                    </a:solidFill>
                  </a:tcPr>
                </a:tc>
                <a:tc>
                  <a:txBody>
                    <a:bodyPr/>
                    <a:lstStyle/>
                    <a:p>
                      <a:pPr>
                        <a:defRPr sz="1700" b="0">
                          <a:solidFill>
                            <a:srgbClr val="EAF2F8"/>
                          </a:solidFill>
                          <a:latin typeface="DejaVu Sans"/>
                        </a:defRPr>
                      </a:pPr>
                      <a:r>
                        <a:t>Fit I–II; calibrate III;</a:t>
                      </a:r>
                    </a:p>
                    <a:p>
                      <a:pPr>
                        <a:defRPr sz="1700" b="0">
                          <a:solidFill>
                            <a:srgbClr val="EAF2F8"/>
                          </a:solidFill>
                          <a:latin typeface="DejaVu Sans"/>
                        </a:defRPr>
                      </a:pPr>
                      <a:r>
                        <a:t>evaluate IV–V</a:t>
                      </a:r>
                    </a:p>
                  </a:txBody>
                  <a:tcPr marL="109728" marT="73152">
                    <a:solidFill>
                      <a:srgbClr val="101D2A"/>
                    </a:solidFill>
                  </a:tcPr>
                </a:tc>
                <a:extLst>
                  <a:ext uri="{0D108BD9-81ED-4DB2-BD59-A6C34878D82A}">
                    <a16:rowId xmlns:a16="http://schemas.microsoft.com/office/drawing/2014/main" val="10003"/>
                  </a:ext>
                </a:extLst>
              </a:tr>
              <a:tr h="713232">
                <a:tc>
                  <a:txBody>
                    <a:bodyPr/>
                    <a:lstStyle/>
                    <a:p>
                      <a:pPr>
                        <a:defRPr sz="1700" b="0">
                          <a:solidFill>
                            <a:srgbClr val="EAF2F8"/>
                          </a:solidFill>
                          <a:latin typeface="DejaVu Sans"/>
                        </a:defRPr>
                      </a:pPr>
                      <a:r>
                        <a:t>Diethe policy laboratory</a:t>
                      </a:r>
                    </a:p>
                  </a:txBody>
                  <a:tcPr marL="109728" marT="73152">
                    <a:solidFill>
                      <a:srgbClr val="101D2A"/>
                    </a:solidFill>
                  </a:tcPr>
                </a:tc>
                <a:tc>
                  <a:txBody>
                    <a:bodyPr/>
                    <a:lstStyle/>
                    <a:p>
                      <a:pPr>
                        <a:defRPr sz="1700" b="0">
                          <a:solidFill>
                            <a:srgbClr val="EAF2F8"/>
                          </a:solidFill>
                          <a:latin typeface="DejaVu Sans"/>
                        </a:defRPr>
                      </a:pPr>
                      <a:r>
                        <a:t>Synthetic feature streams by default; prepared EEG features accepted by CLI</a:t>
                      </a:r>
                    </a:p>
                  </a:txBody>
                  <a:tcPr marL="109728" marT="73152">
                    <a:solidFill>
                      <a:srgbClr val="101D2A"/>
                    </a:solidFill>
                  </a:tcPr>
                </a:tc>
                <a:tc>
                  <a:txBody>
                    <a:bodyPr/>
                    <a:lstStyle/>
                    <a:p>
                      <a:pPr>
                        <a:defRPr sz="1700" b="0">
                          <a:solidFill>
                            <a:srgbClr val="EAF2F8"/>
                          </a:solidFill>
                          <a:latin typeface="DejaVu Sans"/>
                        </a:defRPr>
                      </a:pPr>
                      <a:r>
                        <a:t>Raw EEG loading is not automatically integrated</a:t>
                      </a:r>
                    </a:p>
                  </a:txBody>
                  <a:tcPr marL="109728" marT="73152">
                    <a:solidFill>
                      <a:srgbClr val="101D2A"/>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85800" y="5504688"/>
            <a:ext cx="10789920" cy="457200"/>
          </a:xfrm>
          <a:prstGeom prst="rect">
            <a:avLst/>
          </a:prstGeom>
          <a:noFill/>
        </p:spPr>
        <p:txBody>
          <a:bodyPr wrap="square" lIns="0" rIns="0">
            <a:spAutoFit/>
          </a:bodyPr>
          <a:lstStyle/>
          <a:p>
            <a:pPr>
              <a:spcAft>
                <a:spcPts val="900"/>
              </a:spcAft>
              <a:defRPr sz="1800" b="0">
                <a:solidFill>
                  <a:srgbClr val="78D8CC"/>
                </a:solidFill>
                <a:latin typeface="DejaVu Sans"/>
              </a:defRPr>
            </a:pPr>
            <a:r>
              <a:t>Real EEG alarm traces describe alert burden. They do not supply ground-truth shift times.</a:t>
            </a:r>
          </a:p>
        </p:txBody>
      </p:sp>
      <p:sp>
        <p:nvSpPr>
          <p:cNvPr id="8" name="TextBox 7"/>
          <p:cNvSpPr txBox="1"/>
          <p:nvPr/>
        </p:nvSpPr>
        <p:spPr>
          <a:xfrm>
            <a:off x="11045952" y="6510528"/>
            <a:ext cx="548640" cy="182880"/>
          </a:xfrm>
          <a:prstGeom prst="rect">
            <a:avLst/>
          </a:prstGeom>
          <a:noFill/>
        </p:spPr>
        <p:txBody>
          <a:bodyPr wrap="square" lIns="0" rIns="0">
            <a:spAutoFit/>
          </a:bodyPr>
          <a:lstStyle/>
          <a:p>
            <a:pPr>
              <a:spcAft>
                <a:spcPts val="900"/>
              </a:spcAft>
              <a:defRPr sz="800" b="0">
                <a:solidFill>
                  <a:srgbClr val="9CB0C3"/>
                </a:solidFill>
                <a:latin typeface="DejaVu Sans"/>
              </a:defRPr>
            </a:pPr>
            <a:r>
              <a:t>17</a:t>
            </a:r>
          </a:p>
        </p:txBody>
      </p:sp>
    </p:spTree>
    <p:extLst>
      <p:ext uri="{BB962C8B-B14F-4D97-AF65-F5344CB8AC3E}">
        <p14:creationId xmlns:p14="http://schemas.microsoft.com/office/powerpoint/2010/main" val="344372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DIETHE POLICY LABORATORY</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Diethe: separate change, performance and action</a:t>
            </a:r>
          </a:p>
        </p:txBody>
      </p:sp>
      <p:sp>
        <p:nvSpPr>
          <p:cNvPr id="4" name="TextBox 3"/>
          <p:cNvSpPr txBox="1"/>
          <p:nvPr/>
        </p:nvSpPr>
        <p:spPr>
          <a:xfrm>
            <a:off x="612648" y="6053328"/>
            <a:ext cx="10972800" cy="329184"/>
          </a:xfrm>
          <a:prstGeom prst="rect">
            <a:avLst/>
          </a:prstGeom>
          <a:noFill/>
        </p:spPr>
        <p:txBody>
          <a:bodyPr wrap="square" lIns="0" rIns="0">
            <a:spAutoFit/>
          </a:bodyPr>
          <a:lstStyle/>
          <a:p>
            <a:pPr>
              <a:spcAft>
                <a:spcPts val="900"/>
              </a:spcAft>
              <a:defRPr sz="1100" b="0">
                <a:solidFill>
                  <a:srgbClr val="9CB0C3"/>
                </a:solidFill>
                <a:latin typeface="DejaVu Sans"/>
              </a:defRPr>
            </a:pPr>
            <a:r>
              <a:t>Sources: Diethe et al. (2019), §§3–5; docs/diethe_experiments.md; src/adaptation/experiments/diethe.py.</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graphicFrame>
        <p:nvGraphicFramePr>
          <p:cNvPr id="6" name="Table 5"/>
          <p:cNvGraphicFramePr>
            <a:graphicFrameLocks noGrp="1"/>
          </p:cNvGraphicFramePr>
          <p:nvPr/>
        </p:nvGraphicFramePr>
        <p:xfrm>
          <a:off x="685800" y="1783080"/>
          <a:ext cx="10789920" cy="2926080"/>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6126480">
                  <a:extLst>
                    <a:ext uri="{9D8B030D-6E8A-4147-A177-3AD203B41FA5}">
                      <a16:colId xmlns:a16="http://schemas.microsoft.com/office/drawing/2014/main" val="20001"/>
                    </a:ext>
                  </a:extLst>
                </a:gridCol>
              </a:tblGrid>
              <a:tr h="585216">
                <a:tc>
                  <a:txBody>
                    <a:bodyPr/>
                    <a:lstStyle/>
                    <a:p>
                      <a:pPr>
                        <a:defRPr sz="1900" b="1">
                          <a:solidFill>
                            <a:srgbClr val="78D8CC"/>
                          </a:solidFill>
                          <a:latin typeface="DejaVu Sans"/>
                        </a:defRPr>
                      </a:pPr>
                      <a:r>
                        <a:t>Question</a:t>
                      </a:r>
                    </a:p>
                  </a:txBody>
                  <a:tcPr marL="109728" marT="73152">
                    <a:solidFill>
                      <a:srgbClr val="142838"/>
                    </a:solidFill>
                  </a:tcPr>
                </a:tc>
                <a:tc>
                  <a:txBody>
                    <a:bodyPr/>
                    <a:lstStyle/>
                    <a:p>
                      <a:pPr>
                        <a:defRPr sz="1900" b="1">
                          <a:solidFill>
                            <a:srgbClr val="78D8CC"/>
                          </a:solidFill>
                          <a:latin typeface="DejaVu Sans"/>
                        </a:defRPr>
                      </a:pPr>
                      <a:r>
                        <a:t>Repository experiment</a:t>
                      </a:r>
                    </a:p>
                  </a:txBody>
                  <a:tcPr marL="109728" marT="73152">
                    <a:solidFill>
                      <a:srgbClr val="142838"/>
                    </a:solidFill>
                  </a:tcPr>
                </a:tc>
                <a:extLst>
                  <a:ext uri="{0D108BD9-81ED-4DB2-BD59-A6C34878D82A}">
                    <a16:rowId xmlns:a16="http://schemas.microsoft.com/office/drawing/2014/main" val="10000"/>
                  </a:ext>
                </a:extLst>
              </a:tr>
              <a:tr h="585216">
                <a:tc>
                  <a:txBody>
                    <a:bodyPr/>
                    <a:lstStyle/>
                    <a:p>
                      <a:pPr>
                        <a:defRPr sz="1900" b="0">
                          <a:solidFill>
                            <a:srgbClr val="EAF2F8"/>
                          </a:solidFill>
                          <a:latin typeface="DejaVu Sans"/>
                        </a:defRPr>
                      </a:pPr>
                      <a:r>
                        <a:t>Has the input changed?</a:t>
                      </a:r>
                    </a:p>
                  </a:txBody>
                  <a:tcPr marL="109728" marT="73152">
                    <a:solidFill>
                      <a:srgbClr val="101D2A"/>
                    </a:solidFill>
                  </a:tcPr>
                </a:tc>
                <a:tc>
                  <a:txBody>
                    <a:bodyPr/>
                    <a:lstStyle/>
                    <a:p>
                      <a:pPr>
                        <a:defRPr sz="1900" b="0">
                          <a:solidFill>
                            <a:srgbClr val="EAF2F8"/>
                          </a:solidFill>
                          <a:latin typeface="DejaVu Sans"/>
                        </a:defRPr>
                      </a:pPr>
                      <a:r>
                        <a:t>Shared CSE warnings and Stage-II validation records</a:t>
                      </a:r>
                    </a:p>
                  </a:txBody>
                  <a:tcPr marL="109728" marT="73152">
                    <a:solidFill>
                      <a:srgbClr val="101D2A"/>
                    </a:solidFill>
                  </a:tcPr>
                </a:tc>
                <a:extLst>
                  <a:ext uri="{0D108BD9-81ED-4DB2-BD59-A6C34878D82A}">
                    <a16:rowId xmlns:a16="http://schemas.microsoft.com/office/drawing/2014/main" val="10001"/>
                  </a:ext>
                </a:extLst>
              </a:tr>
              <a:tr h="585216">
                <a:tc>
                  <a:txBody>
                    <a:bodyPr/>
                    <a:lstStyle/>
                    <a:p>
                      <a:pPr>
                        <a:defRPr sz="1900" b="0">
                          <a:solidFill>
                            <a:srgbClr val="EAF2F8"/>
                          </a:solidFill>
                          <a:latin typeface="DejaVu Sans"/>
                        </a:defRPr>
                      </a:pPr>
                      <a:r>
                        <a:t>Has prediction quality changed?</a:t>
                      </a:r>
                    </a:p>
                  </a:txBody>
                  <a:tcPr marL="109728" marT="73152">
                    <a:solidFill>
                      <a:srgbClr val="101D2A"/>
                    </a:solidFill>
                  </a:tcPr>
                </a:tc>
                <a:tc>
                  <a:txBody>
                    <a:bodyPr/>
                    <a:lstStyle/>
                    <a:p>
                      <a:pPr>
                        <a:defRPr sz="1900" b="0">
                          <a:solidFill>
                            <a:srgbClr val="EAF2F8"/>
                          </a:solidFill>
                          <a:latin typeface="DejaVu Sans"/>
                        </a:defRPr>
                      </a:pPr>
                      <a:r>
                        <a:t>Rolling accuracy against a held-out validation reference</a:t>
                      </a:r>
                    </a:p>
                  </a:txBody>
                  <a:tcPr marL="109728" marT="73152">
                    <a:solidFill>
                      <a:srgbClr val="101D2A"/>
                    </a:solidFill>
                  </a:tcPr>
                </a:tc>
                <a:extLst>
                  <a:ext uri="{0D108BD9-81ED-4DB2-BD59-A6C34878D82A}">
                    <a16:rowId xmlns:a16="http://schemas.microsoft.com/office/drawing/2014/main" val="10002"/>
                  </a:ext>
                </a:extLst>
              </a:tr>
              <a:tr h="585216">
                <a:tc>
                  <a:txBody>
                    <a:bodyPr/>
                    <a:lstStyle/>
                    <a:p>
                      <a:pPr>
                        <a:defRPr sz="1900" b="0">
                          <a:solidFill>
                            <a:srgbClr val="EAF2F8"/>
                          </a:solidFill>
                          <a:latin typeface="DejaVu Sans"/>
                        </a:defRPr>
                      </a:pPr>
                      <a:r>
                        <a:t>Should the model update?</a:t>
                      </a:r>
                    </a:p>
                  </a:txBody>
                  <a:tcPr marL="109728" marT="73152">
                    <a:solidFill>
                      <a:srgbClr val="101D2A"/>
                    </a:solidFill>
                  </a:tcPr>
                </a:tc>
                <a:tc>
                  <a:txBody>
                    <a:bodyPr/>
                    <a:lstStyle/>
                    <a:p>
                      <a:pPr>
                        <a:defRPr sz="1900" b="0">
                          <a:solidFill>
                            <a:srgbClr val="EAF2F8"/>
                          </a:solidFill>
                          <a:latin typeface="DejaVu Sans"/>
                        </a:defRPr>
                      </a:pPr>
                      <a:r>
                        <a:t>Five explicit rules compared on the same stream</a:t>
                      </a:r>
                    </a:p>
                  </a:txBody>
                  <a:tcPr marL="109728" marT="73152">
                    <a:solidFill>
                      <a:srgbClr val="101D2A"/>
                    </a:solidFill>
                  </a:tcPr>
                </a:tc>
                <a:extLst>
                  <a:ext uri="{0D108BD9-81ED-4DB2-BD59-A6C34878D82A}">
                    <a16:rowId xmlns:a16="http://schemas.microsoft.com/office/drawing/2014/main" val="10003"/>
                  </a:ext>
                </a:extLst>
              </a:tr>
              <a:tr h="585216">
                <a:tc>
                  <a:txBody>
                    <a:bodyPr/>
                    <a:lstStyle/>
                    <a:p>
                      <a:pPr>
                        <a:defRPr sz="1900" b="0">
                          <a:solidFill>
                            <a:srgbClr val="EAF2F8"/>
                          </a:solidFill>
                          <a:latin typeface="DejaVu Sans"/>
                        </a:defRPr>
                      </a:pPr>
                      <a:r>
                        <a:t>What does updating cost?</a:t>
                      </a:r>
                    </a:p>
                  </a:txBody>
                  <a:tcPr marL="109728" marT="73152">
                    <a:solidFill>
                      <a:srgbClr val="101D2A"/>
                    </a:solidFill>
                  </a:tcPr>
                </a:tc>
                <a:tc>
                  <a:txBody>
                    <a:bodyPr/>
                    <a:lstStyle/>
                    <a:p>
                      <a:pPr>
                        <a:defRPr sz="1900" b="0">
                          <a:solidFill>
                            <a:srgbClr val="EAF2F8"/>
                          </a:solidFill>
                          <a:latin typeface="DejaVu Sans"/>
                        </a:defRPr>
                      </a:pPr>
                      <a:r>
                        <a:t>Update count, fitting time, prediction time and training size</a:t>
                      </a:r>
                    </a:p>
                  </a:txBody>
                  <a:tcPr marL="109728" marT="73152">
                    <a:solidFill>
                      <a:srgbClr val="101D2A"/>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85800" y="5047488"/>
            <a:ext cx="10789920" cy="822960"/>
          </a:xfrm>
          <a:prstGeom prst="rect">
            <a:avLst/>
          </a:prstGeom>
          <a:noFill/>
        </p:spPr>
        <p:txBody>
          <a:bodyPr wrap="square" lIns="0" rIns="0">
            <a:spAutoFit/>
          </a:bodyPr>
          <a:lstStyle/>
          <a:p>
            <a:pPr>
              <a:spcAft>
                <a:spcPts val="900"/>
              </a:spcAft>
              <a:defRPr sz="1800" b="0">
                <a:solidFill>
                  <a:srgbClr val="78D8CC"/>
                </a:solidFill>
                <a:latin typeface="DejaVu Sans"/>
              </a:defRPr>
            </a:pPr>
            <a:r>
              <a:t>First five-policy run is saved. Repeated comparisons across scenarios and seeds remain pending.</a:t>
            </a:r>
          </a:p>
          <a:p>
            <a:pPr>
              <a:spcAft>
                <a:spcPts val="900"/>
              </a:spcAft>
              <a:defRPr sz="1800" b="0">
                <a:solidFill>
                  <a:srgbClr val="78D8CC"/>
                </a:solidFill>
                <a:latin typeface="DejaVu Sans"/>
              </a:defRPr>
            </a:pPr>
            <a:r>
              <a:t>The five-policy comparison is a repository experiment inspired by the paper.</a:t>
            </a:r>
          </a:p>
        </p:txBody>
      </p:sp>
      <p:sp>
        <p:nvSpPr>
          <p:cNvPr id="8" name="TextBox 7"/>
          <p:cNvSpPr txBox="1"/>
          <p:nvPr/>
        </p:nvSpPr>
        <p:spPr>
          <a:xfrm>
            <a:off x="11045952" y="6510528"/>
            <a:ext cx="548640" cy="182880"/>
          </a:xfrm>
          <a:prstGeom prst="rect">
            <a:avLst/>
          </a:prstGeom>
          <a:noFill/>
        </p:spPr>
        <p:txBody>
          <a:bodyPr wrap="square" lIns="0" rIns="0">
            <a:spAutoFit/>
          </a:bodyPr>
          <a:lstStyle/>
          <a:p>
            <a:pPr>
              <a:spcAft>
                <a:spcPts val="900"/>
              </a:spcAft>
              <a:defRPr sz="800" b="0">
                <a:solidFill>
                  <a:srgbClr val="9CB0C3"/>
                </a:solidFill>
                <a:latin typeface="DejaVu Sans"/>
              </a:defRPr>
            </a:pPr>
            <a: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DIETHE EXPERIMENT DESIGN</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Five policies, three controlled scenarios</a:t>
            </a:r>
          </a:p>
        </p:txBody>
      </p:sp>
      <p:sp>
        <p:nvSpPr>
          <p:cNvPr id="4" name="TextBox 3"/>
          <p:cNvSpPr txBox="1"/>
          <p:nvPr/>
        </p:nvSpPr>
        <p:spPr>
          <a:xfrm>
            <a:off x="612648" y="6053328"/>
            <a:ext cx="10972800" cy="329184"/>
          </a:xfrm>
          <a:prstGeom prst="rect">
            <a:avLst/>
          </a:prstGeom>
          <a:noFill/>
        </p:spPr>
        <p:txBody>
          <a:bodyPr wrap="square" lIns="0" rIns="0">
            <a:spAutoFit/>
          </a:bodyPr>
          <a:lstStyle/>
          <a:p>
            <a:pPr>
              <a:spcAft>
                <a:spcPts val="900"/>
              </a:spcAft>
              <a:defRPr sz="1100" b="0">
                <a:solidFill>
                  <a:srgbClr val="9CB0C3"/>
                </a:solidFill>
                <a:latin typeface="DejaVu Sans"/>
              </a:defRPr>
            </a:pPr>
            <a:r>
              <a:t>Source: docs/diethe_experiments.md and current CLI. Defaults: 240 trials, 20-trial interval, 30-trial performance window.</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graphicFrame>
        <p:nvGraphicFramePr>
          <p:cNvPr id="6" name="Table 5"/>
          <p:cNvGraphicFramePr>
            <a:graphicFrameLocks noGrp="1"/>
          </p:cNvGraphicFramePr>
          <p:nvPr/>
        </p:nvGraphicFramePr>
        <p:xfrm>
          <a:off x="685800" y="1673352"/>
          <a:ext cx="10789920" cy="1965960"/>
        </p:xfrm>
        <a:graphic>
          <a:graphicData uri="http://schemas.openxmlformats.org/drawingml/2006/table">
            <a:tbl>
              <a:tblPr firstRow="1" bandRow="1">
                <a:tableStyleId>{5C22544A-7EE6-4342-B048-85BDC9FD1C3A}</a:tableStyleId>
              </a:tblPr>
              <a:tblGrid>
                <a:gridCol w="402336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491490">
                <a:tc>
                  <a:txBody>
                    <a:bodyPr/>
                    <a:lstStyle/>
                    <a:p>
                      <a:pPr>
                        <a:defRPr sz="1800" b="1">
                          <a:solidFill>
                            <a:srgbClr val="78D8CC"/>
                          </a:solidFill>
                          <a:latin typeface="DejaVu Sans"/>
                        </a:defRPr>
                      </a:pPr>
                      <a:r>
                        <a:t>Policy</a:t>
                      </a:r>
                    </a:p>
                  </a:txBody>
                  <a:tcPr marL="109728" marT="73152">
                    <a:solidFill>
                      <a:srgbClr val="142838"/>
                    </a:solidFill>
                  </a:tcPr>
                </a:tc>
                <a:tc>
                  <a:txBody>
                    <a:bodyPr/>
                    <a:lstStyle/>
                    <a:p>
                      <a:pPr>
                        <a:defRPr sz="1800" b="1">
                          <a:solidFill>
                            <a:srgbClr val="78D8CC"/>
                          </a:solidFill>
                          <a:latin typeface="DejaVu Sans"/>
                        </a:defRPr>
                      </a:pPr>
                      <a:r>
                        <a:t>Update trigger</a:t>
                      </a:r>
                    </a:p>
                  </a:txBody>
                  <a:tcPr marL="109728" marT="73152">
                    <a:solidFill>
                      <a:srgbClr val="142838"/>
                    </a:solidFill>
                  </a:tcPr>
                </a:tc>
                <a:extLst>
                  <a:ext uri="{0D108BD9-81ED-4DB2-BD59-A6C34878D82A}">
                    <a16:rowId xmlns:a16="http://schemas.microsoft.com/office/drawing/2014/main" val="10000"/>
                  </a:ext>
                </a:extLst>
              </a:tr>
              <a:tr h="491490">
                <a:tc>
                  <a:txBody>
                    <a:bodyPr/>
                    <a:lstStyle/>
                    <a:p>
                      <a:pPr>
                        <a:defRPr sz="1800" b="0">
                          <a:solidFill>
                            <a:srgbClr val="EAF2F8"/>
                          </a:solidFill>
                          <a:latin typeface="DejaVu Sans"/>
                        </a:defRPr>
                      </a:pPr>
                      <a:r>
                        <a:t>Never / periodic</a:t>
                      </a:r>
                    </a:p>
                  </a:txBody>
                  <a:tcPr marL="109728" marT="73152">
                    <a:solidFill>
                      <a:srgbClr val="101D2A"/>
                    </a:solidFill>
                  </a:tcPr>
                </a:tc>
                <a:tc>
                  <a:txBody>
                    <a:bodyPr/>
                    <a:lstStyle/>
                    <a:p>
                      <a:pPr>
                        <a:defRPr sz="1800" b="0">
                          <a:solidFill>
                            <a:srgbClr val="EAF2F8"/>
                          </a:solidFill>
                          <a:latin typeface="DejaVu Sans"/>
                        </a:defRPr>
                      </a:pPr>
                      <a:r>
                        <a:t>No update / every configured interval</a:t>
                      </a:r>
                    </a:p>
                  </a:txBody>
                  <a:tcPr marL="109728" marT="73152">
                    <a:solidFill>
                      <a:srgbClr val="101D2A"/>
                    </a:solidFill>
                  </a:tcPr>
                </a:tc>
                <a:extLst>
                  <a:ext uri="{0D108BD9-81ED-4DB2-BD59-A6C34878D82A}">
                    <a16:rowId xmlns:a16="http://schemas.microsoft.com/office/drawing/2014/main" val="10001"/>
                  </a:ext>
                </a:extLst>
              </a:tr>
              <a:tr h="491490">
                <a:tc>
                  <a:txBody>
                    <a:bodyPr/>
                    <a:lstStyle/>
                    <a:p>
                      <a:pPr>
                        <a:defRPr sz="1800" b="0">
                          <a:solidFill>
                            <a:srgbClr val="EAF2F8"/>
                          </a:solidFill>
                          <a:latin typeface="DejaVu Sans"/>
                        </a:defRPr>
                      </a:pPr>
                      <a:r>
                        <a:t>Warning / validated</a:t>
                      </a:r>
                    </a:p>
                  </a:txBody>
                  <a:tcPr marL="109728" marT="73152">
                    <a:solidFill>
                      <a:srgbClr val="101D2A"/>
                    </a:solidFill>
                  </a:tcPr>
                </a:tc>
                <a:tc>
                  <a:txBody>
                    <a:bodyPr/>
                    <a:lstStyle/>
                    <a:p>
                      <a:pPr>
                        <a:defRPr sz="1800" b="0">
                          <a:solidFill>
                            <a:srgbClr val="EAF2F8"/>
                          </a:solidFill>
                          <a:latin typeface="DejaVu Sans"/>
                        </a:defRPr>
                      </a:pPr>
                      <a:r>
                        <a:t>Stage-I warning / available Stage-II confirmation</a:t>
                      </a:r>
                    </a:p>
                  </a:txBody>
                  <a:tcPr marL="109728" marT="73152">
                    <a:solidFill>
                      <a:srgbClr val="101D2A"/>
                    </a:solidFill>
                  </a:tcPr>
                </a:tc>
                <a:extLst>
                  <a:ext uri="{0D108BD9-81ED-4DB2-BD59-A6C34878D82A}">
                    <a16:rowId xmlns:a16="http://schemas.microsoft.com/office/drawing/2014/main" val="10002"/>
                  </a:ext>
                </a:extLst>
              </a:tr>
              <a:tr h="491490">
                <a:tc>
                  <a:txBody>
                    <a:bodyPr/>
                    <a:lstStyle/>
                    <a:p>
                      <a:pPr>
                        <a:defRPr sz="1800" b="0">
                          <a:solidFill>
                            <a:srgbClr val="EAF2F8"/>
                          </a:solidFill>
                          <a:latin typeface="DejaVu Sans"/>
                        </a:defRPr>
                      </a:pPr>
                      <a:r>
                        <a:t>Performance drop</a:t>
                      </a:r>
                    </a:p>
                  </a:txBody>
                  <a:tcPr marL="109728" marT="73152">
                    <a:solidFill>
                      <a:srgbClr val="101D2A"/>
                    </a:solidFill>
                  </a:tcPr>
                </a:tc>
                <a:tc>
                  <a:txBody>
                    <a:bodyPr/>
                    <a:lstStyle/>
                    <a:p>
                      <a:pPr>
                        <a:defRPr sz="1800" b="0">
                          <a:solidFill>
                            <a:srgbClr val="EAF2F8"/>
                          </a:solidFill>
                          <a:latin typeface="DejaVu Sans"/>
                        </a:defRPr>
                      </a:pPr>
                      <a:r>
                        <a:t>Rolling accuracy drops below the validation reference</a:t>
                      </a:r>
                    </a:p>
                  </a:txBody>
                  <a:tcPr marL="109728" marT="73152">
                    <a:solidFill>
                      <a:srgbClr val="101D2A"/>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85800" y="3895344"/>
            <a:ext cx="10789920" cy="1234440"/>
          </a:xfrm>
          <a:prstGeom prst="rect">
            <a:avLst/>
          </a:prstGeom>
          <a:noFill/>
        </p:spPr>
        <p:txBody>
          <a:bodyPr wrap="square" lIns="0" rIns="0">
            <a:spAutoFit/>
          </a:bodyPr>
          <a:lstStyle/>
          <a:p>
            <a:pPr>
              <a:spcAft>
                <a:spcPts val="900"/>
              </a:spcAft>
              <a:defRPr sz="2000" b="0">
                <a:solidFill>
                  <a:srgbClr val="EAF2F8"/>
                </a:solidFill>
                <a:latin typeface="DejaVu Sans"/>
              </a:defRPr>
            </a:pPr>
            <a:r>
              <a:t>No shift: baseline alert and update burden.</a:t>
            </a:r>
          </a:p>
          <a:p>
            <a:pPr>
              <a:spcAft>
                <a:spcPts val="900"/>
              </a:spcAft>
              <a:defRPr sz="2000" b="0">
                <a:solidFill>
                  <a:srgbClr val="EAF2F8"/>
                </a:solidFill>
                <a:latin typeface="DejaVu Sans"/>
              </a:defRPr>
            </a:pPr>
            <a:r>
              <a:t>Feature shift: P(X) changes; the label rule stays fixed.</a:t>
            </a:r>
          </a:p>
          <a:p>
            <a:pPr>
              <a:spcAft>
                <a:spcPts val="900"/>
              </a:spcAft>
              <a:defRPr sz="2000" b="0">
                <a:solidFill>
                  <a:srgbClr val="EAF2F8"/>
                </a:solidFill>
                <a:latin typeface="DejaVu Sans"/>
              </a:defRPr>
            </a:pPr>
            <a:r>
              <a:t>Relationship shift: the label rule changes; P(X) stays fixed.</a:t>
            </a:r>
          </a:p>
        </p:txBody>
      </p:sp>
      <p:sp>
        <p:nvSpPr>
          <p:cNvPr id="8" name="TextBox 7"/>
          <p:cNvSpPr txBox="1"/>
          <p:nvPr/>
        </p:nvSpPr>
        <p:spPr>
          <a:xfrm>
            <a:off x="685800" y="5367528"/>
            <a:ext cx="10789920" cy="594360"/>
          </a:xfrm>
          <a:prstGeom prst="rect">
            <a:avLst/>
          </a:prstGeom>
          <a:noFill/>
        </p:spPr>
        <p:txBody>
          <a:bodyPr wrap="square" lIns="0" rIns="0">
            <a:spAutoFit/>
          </a:bodyPr>
          <a:lstStyle/>
          <a:p>
            <a:pPr>
              <a:spcAft>
                <a:spcPts val="900"/>
              </a:spcAft>
              <a:defRPr sz="1600" b="0">
                <a:solidFill>
                  <a:srgbClr val="9CB0C3"/>
                </a:solidFill>
                <a:latin typeface="DejaVu Sans"/>
              </a:defRPr>
            </a:pPr>
            <a:r>
              <a:t>Predict before revealing each label. Training expands after updates.</a:t>
            </a:r>
          </a:p>
          <a:p>
            <a:pPr>
              <a:spcAft>
                <a:spcPts val="900"/>
              </a:spcAft>
              <a:defRPr sz="1600" b="0">
                <a:solidFill>
                  <a:srgbClr val="9CB0C3"/>
                </a:solidFill>
                <a:latin typeface="DejaVu Sans"/>
              </a:defRPr>
            </a:pPr>
            <a:r>
              <a:t>Delayed labels, rollback and energy measurement remain outside this experiment.</a:t>
            </a:r>
          </a:p>
        </p:txBody>
      </p:sp>
      <p:sp>
        <p:nvSpPr>
          <p:cNvPr id="9" name="TextBox 8"/>
          <p:cNvSpPr txBox="1"/>
          <p:nvPr/>
        </p:nvSpPr>
        <p:spPr>
          <a:xfrm>
            <a:off x="11045952" y="6510528"/>
            <a:ext cx="548640" cy="182880"/>
          </a:xfrm>
          <a:prstGeom prst="rect">
            <a:avLst/>
          </a:prstGeom>
          <a:noFill/>
        </p:spPr>
        <p:txBody>
          <a:bodyPr wrap="square" lIns="0" rIns="0">
            <a:spAutoFit/>
          </a:bodyPr>
          <a:lstStyle/>
          <a:p>
            <a:pPr>
              <a:spcAft>
                <a:spcPts val="900"/>
              </a:spcAft>
              <a:defRPr sz="800" b="0">
                <a:solidFill>
                  <a:srgbClr val="9CB0C3"/>
                </a:solidFill>
                <a:latin typeface="DejaVu Sans"/>
              </a:defRPr>
            </a:pPr>
            <a: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320040"/>
          </a:xfrm>
          <a:prstGeom prst="rect">
            <a:avLst/>
          </a:prstGeom>
          <a:noFill/>
        </p:spPr>
        <p:txBody>
          <a:bodyPr wrap="square" lIns="0" rIns="0">
            <a:spAutoFit/>
          </a:bodyPr>
          <a:lstStyle/>
          <a:p>
            <a:pPr>
              <a:spcAft>
                <a:spcPts val="800"/>
              </a:spcAft>
              <a:defRPr sz="1300" b="1">
                <a:solidFill>
                  <a:srgbClr val="78D8CC"/>
                </a:solidFill>
                <a:latin typeface="DejaVu Sans"/>
              </a:defRPr>
            </a:pPr>
            <a:r>
              <a:t>DIETHE PILOT RESULT</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800"/>
              </a:spcAft>
              <a:defRPr sz="2600" b="1">
                <a:solidFill>
                  <a:srgbClr val="EAF2F8"/>
                </a:solidFill>
                <a:latin typeface="DejaVu Sans"/>
              </a:defRPr>
            </a:pPr>
            <a:r>
              <a:t>A detected shift does not guarantee a useful update</a:t>
            </a:r>
          </a:p>
        </p:txBody>
      </p:sp>
      <p:sp>
        <p:nvSpPr>
          <p:cNvPr id="4" name="TextBox 3"/>
          <p:cNvSpPr txBox="1"/>
          <p:nvPr/>
        </p:nvSpPr>
        <p:spPr>
          <a:xfrm>
            <a:off x="685800" y="1554480"/>
            <a:ext cx="10789920" cy="457200"/>
          </a:xfrm>
          <a:prstGeom prst="rect">
            <a:avLst/>
          </a:prstGeom>
          <a:noFill/>
        </p:spPr>
        <p:txBody>
          <a:bodyPr wrap="square" lIns="0" rIns="0">
            <a:spAutoFit/>
          </a:bodyPr>
          <a:lstStyle/>
          <a:p>
            <a:pPr>
              <a:spcAft>
                <a:spcPts val="800"/>
              </a:spcAft>
              <a:defRPr sz="1800" b="0">
                <a:solidFill>
                  <a:srgbClr val="EAF2F8"/>
                </a:solidFill>
                <a:latin typeface="DejaVu Sans"/>
              </a:defRPr>
            </a:pPr>
            <a:r>
              <a:t>Synthetic feature shift; seed 42; 240 trials; shift starts at index 120.</a:t>
            </a:r>
          </a:p>
        </p:txBody>
      </p:sp>
      <p:graphicFrame>
        <p:nvGraphicFramePr>
          <p:cNvPr id="5" name="Table 4"/>
          <p:cNvGraphicFramePr>
            <a:graphicFrameLocks noGrp="1"/>
          </p:cNvGraphicFramePr>
          <p:nvPr/>
        </p:nvGraphicFramePr>
        <p:xfrm>
          <a:off x="685800" y="2148840"/>
          <a:ext cx="10789920" cy="2423160"/>
        </p:xfrm>
        <a:graphic>
          <a:graphicData uri="http://schemas.openxmlformats.org/drawingml/2006/table">
            <a:tbl>
              <a:tblPr firstRow="1" bandRow="1">
                <a:tableStyleId>{5C22544A-7EE6-4342-B048-85BDC9FD1C3A}</a:tableStyleId>
              </a:tblPr>
              <a:tblGrid>
                <a:gridCol w="40233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403860">
                <a:tc>
                  <a:txBody>
                    <a:bodyPr/>
                    <a:lstStyle/>
                    <a:p>
                      <a:pPr>
                        <a:defRPr sz="1800" b="1">
                          <a:solidFill>
                            <a:srgbClr val="78D8CC"/>
                          </a:solidFill>
                          <a:latin typeface="DejaVu Sans"/>
                        </a:defRPr>
                      </a:pPr>
                      <a:r>
                        <a:t>Policy</a:t>
                      </a:r>
                    </a:p>
                  </a:txBody>
                  <a:tcPr marL="109728">
                    <a:solidFill>
                      <a:srgbClr val="142838"/>
                    </a:solidFill>
                  </a:tcPr>
                </a:tc>
                <a:tc>
                  <a:txBody>
                    <a:bodyPr/>
                    <a:lstStyle/>
                    <a:p>
                      <a:pPr>
                        <a:defRPr sz="1800" b="1">
                          <a:solidFill>
                            <a:srgbClr val="78D8CC"/>
                          </a:solidFill>
                          <a:latin typeface="DejaVu Sans"/>
                        </a:defRPr>
                      </a:pPr>
                      <a:r>
                        <a:t>Accuracy</a:t>
                      </a:r>
                    </a:p>
                  </a:txBody>
                  <a:tcPr marL="109728">
                    <a:solidFill>
                      <a:srgbClr val="142838"/>
                    </a:solidFill>
                  </a:tcPr>
                </a:tc>
                <a:tc>
                  <a:txBody>
                    <a:bodyPr/>
                    <a:lstStyle/>
                    <a:p>
                      <a:pPr>
                        <a:defRPr sz="1800" b="1">
                          <a:solidFill>
                            <a:srgbClr val="78D8CC"/>
                          </a:solidFill>
                          <a:latin typeface="DejaVu Sans"/>
                        </a:defRPr>
                      </a:pPr>
                      <a:r>
                        <a:t>Updates</a:t>
                      </a:r>
                    </a:p>
                  </a:txBody>
                  <a:tcPr marL="109728">
                    <a:solidFill>
                      <a:srgbClr val="142838"/>
                    </a:solidFill>
                  </a:tcPr>
                </a:tc>
                <a:tc>
                  <a:txBody>
                    <a:bodyPr/>
                    <a:lstStyle/>
                    <a:p>
                      <a:pPr>
                        <a:defRPr sz="1800" b="1">
                          <a:solidFill>
                            <a:srgbClr val="78D8CC"/>
                          </a:solidFill>
                          <a:latin typeface="DejaVu Sans"/>
                        </a:defRPr>
                      </a:pPr>
                      <a:r>
                        <a:t>Gain vs never</a:t>
                      </a:r>
                    </a:p>
                  </a:txBody>
                  <a:tcPr marL="109728">
                    <a:solidFill>
                      <a:srgbClr val="142838"/>
                    </a:solidFill>
                  </a:tcPr>
                </a:tc>
                <a:extLst>
                  <a:ext uri="{0D108BD9-81ED-4DB2-BD59-A6C34878D82A}">
                    <a16:rowId xmlns:a16="http://schemas.microsoft.com/office/drawing/2014/main" val="10000"/>
                  </a:ext>
                </a:extLst>
              </a:tr>
              <a:tr h="403860">
                <a:tc>
                  <a:txBody>
                    <a:bodyPr/>
                    <a:lstStyle/>
                    <a:p>
                      <a:pPr>
                        <a:defRPr sz="1800" b="0">
                          <a:solidFill>
                            <a:srgbClr val="EAF2F8"/>
                          </a:solidFill>
                          <a:latin typeface="DejaVu Sans"/>
                        </a:defRPr>
                      </a:pPr>
                      <a:r>
                        <a:t>Never</a:t>
                      </a:r>
                    </a:p>
                  </a:txBody>
                  <a:tcPr marL="109728">
                    <a:solidFill>
                      <a:srgbClr val="101D2A"/>
                    </a:solidFill>
                  </a:tcPr>
                </a:tc>
                <a:tc>
                  <a:txBody>
                    <a:bodyPr/>
                    <a:lstStyle/>
                    <a:p>
                      <a:pPr>
                        <a:defRPr sz="1800" b="0">
                          <a:solidFill>
                            <a:srgbClr val="EAF2F8"/>
                          </a:solidFill>
                          <a:latin typeface="DejaVu Sans"/>
                        </a:defRPr>
                      </a:pPr>
                      <a:r>
                        <a:t>97.92%</a:t>
                      </a:r>
                    </a:p>
                  </a:txBody>
                  <a:tcPr marL="109728">
                    <a:solidFill>
                      <a:srgbClr val="101D2A"/>
                    </a:solidFill>
                  </a:tcPr>
                </a:tc>
                <a:tc>
                  <a:txBody>
                    <a:bodyPr/>
                    <a:lstStyle/>
                    <a:p>
                      <a:pPr>
                        <a:defRPr sz="1800" b="0">
                          <a:solidFill>
                            <a:srgbClr val="EAF2F8"/>
                          </a:solidFill>
                          <a:latin typeface="DejaVu Sans"/>
                        </a:defRPr>
                      </a:pPr>
                      <a:r>
                        <a:t>0</a:t>
                      </a:r>
                    </a:p>
                  </a:txBody>
                  <a:tcPr marL="109728">
                    <a:solidFill>
                      <a:srgbClr val="101D2A"/>
                    </a:solidFill>
                  </a:tcPr>
                </a:tc>
                <a:tc>
                  <a:txBody>
                    <a:bodyPr/>
                    <a:lstStyle/>
                    <a:p>
                      <a:pPr>
                        <a:defRPr sz="1800" b="0">
                          <a:solidFill>
                            <a:srgbClr val="EAF2F8"/>
                          </a:solidFill>
                          <a:latin typeface="DejaVu Sans"/>
                        </a:defRPr>
                      </a:pPr>
                      <a:r>
                        <a:t>0.00 pp</a:t>
                      </a:r>
                    </a:p>
                  </a:txBody>
                  <a:tcPr marL="109728">
                    <a:solidFill>
                      <a:srgbClr val="101D2A"/>
                    </a:solidFill>
                  </a:tcPr>
                </a:tc>
                <a:extLst>
                  <a:ext uri="{0D108BD9-81ED-4DB2-BD59-A6C34878D82A}">
                    <a16:rowId xmlns:a16="http://schemas.microsoft.com/office/drawing/2014/main" val="10001"/>
                  </a:ext>
                </a:extLst>
              </a:tr>
              <a:tr h="403860">
                <a:tc>
                  <a:txBody>
                    <a:bodyPr/>
                    <a:lstStyle/>
                    <a:p>
                      <a:pPr>
                        <a:defRPr sz="1800" b="0">
                          <a:solidFill>
                            <a:srgbClr val="EAF2F8"/>
                          </a:solidFill>
                          <a:latin typeface="DejaVu Sans"/>
                        </a:defRPr>
                      </a:pPr>
                      <a:r>
                        <a:t>Periodic</a:t>
                      </a:r>
                    </a:p>
                  </a:txBody>
                  <a:tcPr marL="109728">
                    <a:solidFill>
                      <a:srgbClr val="101D2A"/>
                    </a:solidFill>
                  </a:tcPr>
                </a:tc>
                <a:tc>
                  <a:txBody>
                    <a:bodyPr/>
                    <a:lstStyle/>
                    <a:p>
                      <a:pPr>
                        <a:defRPr sz="1800" b="0">
                          <a:solidFill>
                            <a:srgbClr val="EAF2F8"/>
                          </a:solidFill>
                          <a:latin typeface="DejaVu Sans"/>
                        </a:defRPr>
                      </a:pPr>
                      <a:r>
                        <a:t>98.33%</a:t>
                      </a:r>
                    </a:p>
                  </a:txBody>
                  <a:tcPr marL="109728">
                    <a:solidFill>
                      <a:srgbClr val="101D2A"/>
                    </a:solidFill>
                  </a:tcPr>
                </a:tc>
                <a:tc>
                  <a:txBody>
                    <a:bodyPr/>
                    <a:lstStyle/>
                    <a:p>
                      <a:pPr>
                        <a:defRPr sz="1800" b="0">
                          <a:solidFill>
                            <a:srgbClr val="EAF2F8"/>
                          </a:solidFill>
                          <a:latin typeface="DejaVu Sans"/>
                        </a:defRPr>
                      </a:pPr>
                      <a:r>
                        <a:t>12</a:t>
                      </a:r>
                    </a:p>
                  </a:txBody>
                  <a:tcPr marL="109728">
                    <a:solidFill>
                      <a:srgbClr val="101D2A"/>
                    </a:solidFill>
                  </a:tcPr>
                </a:tc>
                <a:tc>
                  <a:txBody>
                    <a:bodyPr/>
                    <a:lstStyle/>
                    <a:p>
                      <a:pPr>
                        <a:defRPr sz="1800" b="0">
                          <a:solidFill>
                            <a:srgbClr val="EAF2F8"/>
                          </a:solidFill>
                          <a:latin typeface="DejaVu Sans"/>
                        </a:defRPr>
                      </a:pPr>
                      <a:r>
                        <a:t>+0.42 pp</a:t>
                      </a:r>
                    </a:p>
                  </a:txBody>
                  <a:tcPr marL="109728">
                    <a:solidFill>
                      <a:srgbClr val="101D2A"/>
                    </a:solidFill>
                  </a:tcPr>
                </a:tc>
                <a:extLst>
                  <a:ext uri="{0D108BD9-81ED-4DB2-BD59-A6C34878D82A}">
                    <a16:rowId xmlns:a16="http://schemas.microsoft.com/office/drawing/2014/main" val="10002"/>
                  </a:ext>
                </a:extLst>
              </a:tr>
              <a:tr h="403860">
                <a:tc>
                  <a:txBody>
                    <a:bodyPr/>
                    <a:lstStyle/>
                    <a:p>
                      <a:pPr>
                        <a:defRPr sz="1800" b="0">
                          <a:solidFill>
                            <a:srgbClr val="EAF2F8"/>
                          </a:solidFill>
                          <a:latin typeface="DejaVu Sans"/>
                        </a:defRPr>
                      </a:pPr>
                      <a:r>
                        <a:t>Warning</a:t>
                      </a:r>
                    </a:p>
                  </a:txBody>
                  <a:tcPr marL="109728">
                    <a:solidFill>
                      <a:srgbClr val="101D2A"/>
                    </a:solidFill>
                  </a:tcPr>
                </a:tc>
                <a:tc>
                  <a:txBody>
                    <a:bodyPr/>
                    <a:lstStyle/>
                    <a:p>
                      <a:pPr>
                        <a:defRPr sz="1800" b="0">
                          <a:solidFill>
                            <a:srgbClr val="EAF2F8"/>
                          </a:solidFill>
                          <a:latin typeface="DejaVu Sans"/>
                        </a:defRPr>
                      </a:pPr>
                      <a:r>
                        <a:t>97.50%</a:t>
                      </a:r>
                    </a:p>
                  </a:txBody>
                  <a:tcPr marL="109728">
                    <a:solidFill>
                      <a:srgbClr val="101D2A"/>
                    </a:solidFill>
                  </a:tcPr>
                </a:tc>
                <a:tc>
                  <a:txBody>
                    <a:bodyPr/>
                    <a:lstStyle/>
                    <a:p>
                      <a:pPr>
                        <a:defRPr sz="1800" b="0">
                          <a:solidFill>
                            <a:srgbClr val="EAF2F8"/>
                          </a:solidFill>
                          <a:latin typeface="DejaVu Sans"/>
                        </a:defRPr>
                      </a:pPr>
                      <a:r>
                        <a:t>3</a:t>
                      </a:r>
                    </a:p>
                  </a:txBody>
                  <a:tcPr marL="109728">
                    <a:solidFill>
                      <a:srgbClr val="101D2A"/>
                    </a:solidFill>
                  </a:tcPr>
                </a:tc>
                <a:tc>
                  <a:txBody>
                    <a:bodyPr/>
                    <a:lstStyle/>
                    <a:p>
                      <a:pPr>
                        <a:defRPr sz="1800" b="0">
                          <a:solidFill>
                            <a:srgbClr val="EAF2F8"/>
                          </a:solidFill>
                          <a:latin typeface="DejaVu Sans"/>
                        </a:defRPr>
                      </a:pPr>
                      <a:r>
                        <a:t>−0.42 pp</a:t>
                      </a:r>
                    </a:p>
                  </a:txBody>
                  <a:tcPr marL="109728">
                    <a:solidFill>
                      <a:srgbClr val="101D2A"/>
                    </a:solidFill>
                  </a:tcPr>
                </a:tc>
                <a:extLst>
                  <a:ext uri="{0D108BD9-81ED-4DB2-BD59-A6C34878D82A}">
                    <a16:rowId xmlns:a16="http://schemas.microsoft.com/office/drawing/2014/main" val="10003"/>
                  </a:ext>
                </a:extLst>
              </a:tr>
              <a:tr h="403860">
                <a:tc>
                  <a:txBody>
                    <a:bodyPr/>
                    <a:lstStyle/>
                    <a:p>
                      <a:pPr>
                        <a:defRPr sz="1800" b="0">
                          <a:solidFill>
                            <a:srgbClr val="EAF2F8"/>
                          </a:solidFill>
                          <a:latin typeface="DejaVu Sans"/>
                        </a:defRPr>
                      </a:pPr>
                      <a:r>
                        <a:t>Validated</a:t>
                      </a:r>
                    </a:p>
                  </a:txBody>
                  <a:tcPr marL="109728">
                    <a:solidFill>
                      <a:srgbClr val="101D2A"/>
                    </a:solidFill>
                  </a:tcPr>
                </a:tc>
                <a:tc>
                  <a:txBody>
                    <a:bodyPr/>
                    <a:lstStyle/>
                    <a:p>
                      <a:pPr>
                        <a:defRPr sz="1800" b="0">
                          <a:solidFill>
                            <a:srgbClr val="EAF2F8"/>
                          </a:solidFill>
                          <a:latin typeface="DejaVu Sans"/>
                        </a:defRPr>
                      </a:pPr>
                      <a:r>
                        <a:t>97.50%</a:t>
                      </a:r>
                    </a:p>
                  </a:txBody>
                  <a:tcPr marL="109728">
                    <a:solidFill>
                      <a:srgbClr val="101D2A"/>
                    </a:solidFill>
                  </a:tcPr>
                </a:tc>
                <a:tc>
                  <a:txBody>
                    <a:bodyPr/>
                    <a:lstStyle/>
                    <a:p>
                      <a:pPr>
                        <a:defRPr sz="1800" b="0">
                          <a:solidFill>
                            <a:srgbClr val="EAF2F8"/>
                          </a:solidFill>
                          <a:latin typeface="DejaVu Sans"/>
                        </a:defRPr>
                      </a:pPr>
                      <a:r>
                        <a:t>1</a:t>
                      </a:r>
                    </a:p>
                  </a:txBody>
                  <a:tcPr marL="109728">
                    <a:solidFill>
                      <a:srgbClr val="101D2A"/>
                    </a:solidFill>
                  </a:tcPr>
                </a:tc>
                <a:tc>
                  <a:txBody>
                    <a:bodyPr/>
                    <a:lstStyle/>
                    <a:p>
                      <a:pPr>
                        <a:defRPr sz="1800" b="0">
                          <a:solidFill>
                            <a:srgbClr val="EAF2F8"/>
                          </a:solidFill>
                          <a:latin typeface="DejaVu Sans"/>
                        </a:defRPr>
                      </a:pPr>
                      <a:r>
                        <a:t>−0.42 pp</a:t>
                      </a:r>
                    </a:p>
                  </a:txBody>
                  <a:tcPr marL="109728">
                    <a:solidFill>
                      <a:srgbClr val="101D2A"/>
                    </a:solidFill>
                  </a:tcPr>
                </a:tc>
                <a:extLst>
                  <a:ext uri="{0D108BD9-81ED-4DB2-BD59-A6C34878D82A}">
                    <a16:rowId xmlns:a16="http://schemas.microsoft.com/office/drawing/2014/main" val="10004"/>
                  </a:ext>
                </a:extLst>
              </a:tr>
              <a:tr h="403860">
                <a:tc>
                  <a:txBody>
                    <a:bodyPr/>
                    <a:lstStyle/>
                    <a:p>
                      <a:pPr>
                        <a:defRPr sz="1800" b="0">
                          <a:solidFill>
                            <a:srgbClr val="EAF2F8"/>
                          </a:solidFill>
                          <a:latin typeface="DejaVu Sans"/>
                        </a:defRPr>
                      </a:pPr>
                      <a:r>
                        <a:t>Performance drop</a:t>
                      </a:r>
                    </a:p>
                  </a:txBody>
                  <a:tcPr marL="109728">
                    <a:solidFill>
                      <a:srgbClr val="101D2A"/>
                    </a:solidFill>
                  </a:tcPr>
                </a:tc>
                <a:tc>
                  <a:txBody>
                    <a:bodyPr/>
                    <a:lstStyle/>
                    <a:p>
                      <a:pPr>
                        <a:defRPr sz="1800" b="0">
                          <a:solidFill>
                            <a:srgbClr val="EAF2F8"/>
                          </a:solidFill>
                          <a:latin typeface="DejaVu Sans"/>
                        </a:defRPr>
                      </a:pPr>
                      <a:r>
                        <a:t>97.92%</a:t>
                      </a:r>
                    </a:p>
                  </a:txBody>
                  <a:tcPr marL="109728">
                    <a:solidFill>
                      <a:srgbClr val="101D2A"/>
                    </a:solidFill>
                  </a:tcPr>
                </a:tc>
                <a:tc>
                  <a:txBody>
                    <a:bodyPr/>
                    <a:lstStyle/>
                    <a:p>
                      <a:pPr>
                        <a:defRPr sz="1800" b="0">
                          <a:solidFill>
                            <a:srgbClr val="EAF2F8"/>
                          </a:solidFill>
                          <a:latin typeface="DejaVu Sans"/>
                        </a:defRPr>
                      </a:pPr>
                      <a:r>
                        <a:t>0</a:t>
                      </a:r>
                    </a:p>
                  </a:txBody>
                  <a:tcPr marL="109728">
                    <a:solidFill>
                      <a:srgbClr val="101D2A"/>
                    </a:solidFill>
                  </a:tcPr>
                </a:tc>
                <a:tc>
                  <a:txBody>
                    <a:bodyPr/>
                    <a:lstStyle/>
                    <a:p>
                      <a:pPr>
                        <a:defRPr sz="1800" b="0">
                          <a:solidFill>
                            <a:srgbClr val="EAF2F8"/>
                          </a:solidFill>
                          <a:latin typeface="DejaVu Sans"/>
                        </a:defRPr>
                      </a:pPr>
                      <a:r>
                        <a:t>0.00 pp</a:t>
                      </a:r>
                    </a:p>
                  </a:txBody>
                  <a:tcPr marL="109728">
                    <a:solidFill>
                      <a:srgbClr val="101D2A"/>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685800" y="4846320"/>
            <a:ext cx="10789920" cy="685800"/>
          </a:xfrm>
          <a:prstGeom prst="rect">
            <a:avLst/>
          </a:prstGeom>
          <a:noFill/>
        </p:spPr>
        <p:txBody>
          <a:bodyPr wrap="square" lIns="0" rIns="0">
            <a:spAutoFit/>
          </a:bodyPr>
          <a:lstStyle/>
          <a:p>
            <a:pPr>
              <a:spcAft>
                <a:spcPts val="800"/>
              </a:spcAft>
              <a:defRPr sz="1900" b="0">
                <a:solidFill>
                  <a:srgbClr val="78D8CC"/>
                </a:solidFill>
                <a:latin typeface="DejaVu Sans"/>
              </a:defRPr>
            </a:pPr>
            <a:r>
              <a:t>Periodic updating gains one correct prediction overall for 12 updates.</a:t>
            </a:r>
          </a:p>
          <a:p>
            <a:pPr>
              <a:spcAft>
                <a:spcPts val="800"/>
              </a:spcAft>
              <a:defRPr sz="1900" b="0">
                <a:solidFill>
                  <a:srgbClr val="78D8CC"/>
                </a:solidFill>
                <a:latin typeface="DejaVu Sans"/>
              </a:defRPr>
            </a:pPr>
            <a:r>
              <a:t>Validated updating finishes one prediction below never-update.</a:t>
            </a:r>
          </a:p>
        </p:txBody>
      </p:sp>
      <p:sp>
        <p:nvSpPr>
          <p:cNvPr id="7" name="TextBox 6"/>
          <p:cNvSpPr txBox="1"/>
          <p:nvPr/>
        </p:nvSpPr>
        <p:spPr>
          <a:xfrm>
            <a:off x="685800" y="5641848"/>
            <a:ext cx="10789920" cy="365760"/>
          </a:xfrm>
          <a:prstGeom prst="rect">
            <a:avLst/>
          </a:prstGeom>
          <a:noFill/>
        </p:spPr>
        <p:txBody>
          <a:bodyPr wrap="square" lIns="0" rIns="0">
            <a:spAutoFit/>
          </a:bodyPr>
          <a:lstStyle/>
          <a:p>
            <a:pPr>
              <a:spcAft>
                <a:spcPts val="800"/>
              </a:spcAft>
              <a:defRPr sz="1400" b="0">
                <a:solidFill>
                  <a:srgbClr val="9CB0C3"/>
                </a:solidFill>
                <a:latin typeface="DejaVu Sans"/>
              </a:defRPr>
            </a:pPr>
            <a:r>
              <a:t>One-run illustration, not a policy ranking. Next: matched comparisons across scenarios and seeds.</a:t>
            </a:r>
          </a:p>
        </p:txBody>
      </p:sp>
      <p:sp>
        <p:nvSpPr>
          <p:cNvPr id="8" name="TextBox 7"/>
          <p:cNvSpPr txBox="1"/>
          <p:nvPr/>
        </p:nvSpPr>
        <p:spPr>
          <a:xfrm>
            <a:off x="685800" y="6099048"/>
            <a:ext cx="10789920" cy="292608"/>
          </a:xfrm>
          <a:prstGeom prst="rect">
            <a:avLst/>
          </a:prstGeom>
          <a:noFill/>
        </p:spPr>
        <p:txBody>
          <a:bodyPr wrap="square" lIns="0" rIns="0">
            <a:spAutoFit/>
          </a:bodyPr>
          <a:lstStyle/>
          <a:p>
            <a:pPr>
              <a:spcAft>
                <a:spcPts val="800"/>
              </a:spcAft>
              <a:defRPr sz="1100" b="0">
                <a:solidFill>
                  <a:srgbClr val="9CB0C3"/>
                </a:solidFill>
                <a:latin typeface="DejaVu Sans"/>
              </a:defRPr>
            </a:pPr>
            <a:r>
              <a:t>Source: outputs/diethe/20261004T111759599003Z/summary.csv; generating commit 2a8d20b.</a:t>
            </a:r>
          </a:p>
        </p:txBody>
      </p:sp>
      <p:sp>
        <p:nvSpPr>
          <p:cNvPr id="9" name="TextBox 8"/>
          <p:cNvSpPr txBox="1"/>
          <p:nvPr/>
        </p:nvSpPr>
        <p:spPr>
          <a:xfrm>
            <a:off x="612648" y="6510528"/>
            <a:ext cx="9144000" cy="182880"/>
          </a:xfrm>
          <a:prstGeom prst="rect">
            <a:avLst/>
          </a:prstGeom>
          <a:noFill/>
        </p:spPr>
        <p:txBody>
          <a:bodyPr wrap="square" lIns="0" rIns="0">
            <a:spAutoFit/>
          </a:bodyPr>
          <a:lstStyle/>
          <a:p>
            <a:pPr>
              <a:spcAft>
                <a:spcPts val="800"/>
              </a:spcAft>
              <a:defRPr sz="800" b="0">
                <a:solidFill>
                  <a:srgbClr val="9CB0C3"/>
                </a:solidFill>
                <a:latin typeface="DejaVu Sans"/>
              </a:defRPr>
            </a:pPr>
            <a:r>
              <a:t>hlin863/ewma_covariate_shift_demo</a:t>
            </a:r>
          </a:p>
        </p:txBody>
      </p:sp>
      <p:sp>
        <p:nvSpPr>
          <p:cNvPr id="10" name="TextBox 9"/>
          <p:cNvSpPr txBox="1"/>
          <p:nvPr/>
        </p:nvSpPr>
        <p:spPr>
          <a:xfrm>
            <a:off x="11045952" y="6510528"/>
            <a:ext cx="548640" cy="182880"/>
          </a:xfrm>
          <a:prstGeom prst="rect">
            <a:avLst/>
          </a:prstGeom>
          <a:noFill/>
        </p:spPr>
        <p:txBody>
          <a:bodyPr wrap="square" lIns="0" rIns="0">
            <a:spAutoFit/>
          </a:bodyPr>
          <a:lstStyle/>
          <a:p>
            <a:pPr>
              <a:spcAft>
                <a:spcPts val="800"/>
              </a:spcAft>
              <a:defRPr sz="800" b="0">
                <a:solidFill>
                  <a:srgbClr val="9CB0C3"/>
                </a:solidFill>
                <a:latin typeface="DejaVu Sans"/>
              </a:defRPr>
            </a:pPr>
            <a: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240E5E7D-C5A2-4E44-9F48-607BD6A5C5AF}"/>
              </a:ext>
            </a:extLst>
          </p:cNvPr>
          <p:cNvSpPr>
            <a:spLocks noGrp="1"/>
          </p:cNvSpPr>
          <p:nvPr/>
        </p:nvSpPr>
        <p:spPr>
          <a:xfrm>
            <a:off x="609600" y="400050"/>
            <a:ext cx="5715000" cy="228600"/>
          </a:xfrm>
          <a:prstGeom prst="rect">
            <a:avLst/>
          </a:prstGeom>
          <a:noFill/>
          <a:ln w="0">
            <a:noFill/>
          </a:ln>
        </p:spPr>
        <p:txBody>
          <a:bodyPr>
            <a:noAutofit/>
          </a:bodyPr>
          <a:lstStyle/>
          <a:p>
            <a:pPr>
              <a:buNone/>
              <a:defRPr sz="975" b="1">
                <a:solidFill>
                  <a:srgbClr val="2DD4BF"/>
                </a:solidFill>
                <a:latin typeface="DejaVu Sans"/>
                <a:ea typeface="DejaVu Sans"/>
                <a:cs typeface="DejaVu Sans"/>
              </a:defRPr>
            </a:pPr>
            <a:r>
              <a:rPr sz="975" b="1">
                <a:solidFill>
                  <a:srgbClr val="2DD4BF"/>
                </a:solidFill>
                <a:latin typeface="DejaVu Sans"/>
                <a:ea typeface="DejaVu Sans"/>
                <a:cs typeface="DejaVu Sans"/>
              </a:rPr>
              <a:t>PROJECT TIMELINE</a:t>
            </a:r>
          </a:p>
        </p:txBody>
      </p:sp>
      <p:sp>
        <p:nvSpPr>
          <p:cNvPr id="2" name="Rectangle 1">
            <a:extLst>
              <a:ext uri="{FF2B5EF4-FFF2-40B4-BE49-F238E27FC236}">
                <a16:creationId xmlns:a16="http://schemas.microsoft.com/office/drawing/2014/main" id="{8ABAC0B4-B39A-4482-95EF-D4853F6A4C28}"/>
              </a:ext>
            </a:extLst>
          </p:cNvPr>
          <p:cNvSpPr>
            <a:spLocks noGrp="1"/>
          </p:cNvSpPr>
          <p:nvPr/>
        </p:nvSpPr>
        <p:spPr>
          <a:xfrm>
            <a:off x="609600" y="685800"/>
            <a:ext cx="11049000" cy="552450"/>
          </a:xfrm>
          <a:prstGeom prst="rect">
            <a:avLst/>
          </a:prstGeom>
          <a:noFill/>
          <a:ln w="0">
            <a:noFill/>
          </a:ln>
        </p:spPr>
        <p:txBody>
          <a:bodyPr>
            <a:noAutofit/>
          </a:bodyPr>
          <a:lstStyle/>
          <a:p>
            <a:pPr>
              <a:buNone/>
              <a:defRPr sz="2400" b="1">
                <a:solidFill>
                  <a:srgbClr val="EAF2F8"/>
                </a:solidFill>
                <a:latin typeface="DejaVu Sans"/>
                <a:ea typeface="DejaVu Sans"/>
                <a:cs typeface="DejaVu Sans"/>
              </a:defRPr>
            </a:pPr>
            <a:r>
              <a:rPr sz="2400" b="1">
                <a:solidFill>
                  <a:srgbClr val="EAF2F8"/>
                </a:solidFill>
                <a:latin typeface="DejaVu Sans"/>
                <a:ea typeface="DejaVu Sans"/>
                <a:cs typeface="DejaVu Sans"/>
              </a:rPr>
              <a:t>First-year objectives across twelve months</a:t>
            </a:r>
          </a:p>
        </p:txBody>
      </p:sp>
      <p:sp>
        <p:nvSpPr>
          <p:cNvPr id="3" name="Rectangle 2">
            <a:extLst>
              <a:ext uri="{FF2B5EF4-FFF2-40B4-BE49-F238E27FC236}">
                <a16:creationId xmlns:a16="http://schemas.microsoft.com/office/drawing/2014/main" id="{13388DC5-D2F3-4DFC-BEBE-2C3AA555E256}"/>
              </a:ext>
            </a:extLst>
          </p:cNvPr>
          <p:cNvSpPr>
            <a:spLocks noGrp="1"/>
          </p:cNvSpPr>
          <p:nvPr/>
        </p:nvSpPr>
        <p:spPr>
          <a:xfrm>
            <a:off x="609600" y="1352550"/>
            <a:ext cx="10953750" cy="304800"/>
          </a:xfrm>
          <a:prstGeom prst="rect">
            <a:avLst/>
          </a:prstGeom>
          <a:noFill/>
          <a:ln w="0">
            <a:noFill/>
          </a:ln>
        </p:spPr>
        <p:txBody>
          <a:bodyPr>
            <a:noAutofit/>
          </a:bodyPr>
          <a:lstStyle/>
          <a:p>
            <a:pPr algn="l">
              <a:buNone/>
              <a:defRPr sz="1350" b="0">
                <a:solidFill>
                  <a:srgbClr val="9CB0C3"/>
                </a:solidFill>
                <a:latin typeface="DejaVu Sans"/>
                <a:ea typeface="DejaVu Sans"/>
                <a:cs typeface="DejaVu Sans"/>
              </a:defRPr>
            </a:pPr>
            <a:r>
              <a:rPr sz="1350" b="0">
                <a:solidFill>
                  <a:srgbClr val="9CB0C3"/>
                </a:solidFill>
                <a:latin typeface="DejaVu Sans"/>
                <a:ea typeface="DejaVu Sans"/>
                <a:cs typeface="DejaVu Sans"/>
              </a:rPr>
              <a:t>Proposed October 2026 to September 2027 plan. Existing outputs provide the initial baseline.</a:t>
            </a:r>
          </a:p>
        </p:txBody>
      </p:sp>
      <p:sp>
        <p:nvSpPr>
          <p:cNvPr id="38" name="Rectangle 37">
            <a:extLst>
              <a:ext uri="{FF2B5EF4-FFF2-40B4-BE49-F238E27FC236}">
                <a16:creationId xmlns:a16="http://schemas.microsoft.com/office/drawing/2014/main" id="{4FFF46D4-5C7A-4DAB-80D9-8CE11351F7BA}"/>
              </a:ext>
            </a:extLst>
          </p:cNvPr>
          <p:cNvSpPr>
            <a:spLocks noGrp="1"/>
          </p:cNvSpPr>
          <p:nvPr/>
        </p:nvSpPr>
        <p:spPr>
          <a:xfrm>
            <a:off x="609600" y="6515100"/>
            <a:ext cx="5238750" cy="190500"/>
          </a:xfrm>
          <a:prstGeom prst="rect">
            <a:avLst/>
          </a:prstGeom>
          <a:noFill/>
          <a:ln w="0">
            <a:noFill/>
          </a:ln>
        </p:spPr>
        <p:txBody>
          <a:bodyPr>
            <a:noAutofit/>
          </a:bodyPr>
          <a:lstStyle/>
          <a:p>
            <a:pPr>
              <a:buNone/>
              <a:defRPr sz="825" b="0">
                <a:solidFill>
                  <a:srgbClr val="9CB0C3"/>
                </a:solidFill>
                <a:latin typeface="DejaVu Sans"/>
                <a:ea typeface="DejaVu Sans"/>
                <a:cs typeface="DejaVu Sans"/>
              </a:defRPr>
            </a:pPr>
            <a:r>
              <a:rPr sz="825" b="0">
                <a:solidFill>
                  <a:srgbClr val="9CB0C3"/>
                </a:solidFill>
                <a:latin typeface="DejaVu Sans"/>
                <a:ea typeface="DejaVu Sans"/>
                <a:cs typeface="DejaVu Sans"/>
              </a:rPr>
              <a:t>hlin863/ewma_covariate_shift_demo</a:t>
            </a:r>
          </a:p>
        </p:txBody>
      </p:sp>
      <p:sp>
        <p:nvSpPr>
          <p:cNvPr id="39" name="Rectangle 38">
            <a:extLst>
              <a:ext uri="{FF2B5EF4-FFF2-40B4-BE49-F238E27FC236}">
                <a16:creationId xmlns:a16="http://schemas.microsoft.com/office/drawing/2014/main" id="{F0C3E7CB-BF47-4DA1-84C8-329232745D2F}"/>
              </a:ext>
            </a:extLst>
          </p:cNvPr>
          <p:cNvSpPr>
            <a:spLocks noGrp="1"/>
          </p:cNvSpPr>
          <p:nvPr/>
        </p:nvSpPr>
        <p:spPr>
          <a:xfrm>
            <a:off x="11430000" y="6515100"/>
            <a:ext cx="381000" cy="190500"/>
          </a:xfrm>
          <a:prstGeom prst="rect">
            <a:avLst/>
          </a:prstGeom>
          <a:noFill/>
          <a:ln w="0">
            <a:noFill/>
          </a:ln>
        </p:spPr>
        <p:txBody>
          <a:bodyPr>
            <a:noAutofit/>
          </a:bodyPr>
          <a:lstStyle/>
          <a:p>
            <a:r>
              <a:t>21</a:t>
            </a:r>
          </a:p>
        </p:txBody>
      </p:sp>
      <p:graphicFrame>
        <p:nvGraphicFramePr>
          <p:cNvPr id="47" name="Table 46"/>
          <p:cNvGraphicFramePr/>
          <p:nvPr/>
        </p:nvGraphicFramePr>
        <p:xfrm>
          <a:off x="609600" y="1885950"/>
          <a:ext cx="10972800" cy="3810000"/>
        </p:xfrm>
        <a:graphic>
          <a:graphicData uri="http://schemas.openxmlformats.org/drawingml/2006/table">
            <a:tbl>
              <a:tblPr/>
              <a:tblGrid>
                <a:gridCol w="2905125">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gridCol w="457200">
                  <a:extLst>
                    <a:ext uri="{9D8B030D-6E8A-4147-A177-3AD203B41FA5}">
                      <a16:colId xmlns:a16="http://schemas.microsoft.com/office/drawing/2014/main" val="20010"/>
                    </a:ext>
                  </a:extLst>
                </a:gridCol>
                <a:gridCol w="457200">
                  <a:extLst>
                    <a:ext uri="{9D8B030D-6E8A-4147-A177-3AD203B41FA5}">
                      <a16:colId xmlns:a16="http://schemas.microsoft.com/office/drawing/2014/main" val="20011"/>
                    </a:ext>
                  </a:extLst>
                </a:gridCol>
                <a:gridCol w="457200">
                  <a:extLst>
                    <a:ext uri="{9D8B030D-6E8A-4147-A177-3AD203B41FA5}">
                      <a16:colId xmlns:a16="http://schemas.microsoft.com/office/drawing/2014/main" val="20012"/>
                    </a:ext>
                  </a:extLst>
                </a:gridCol>
                <a:gridCol w="2581275">
                  <a:extLst>
                    <a:ext uri="{9D8B030D-6E8A-4147-A177-3AD203B41FA5}">
                      <a16:colId xmlns:a16="http://schemas.microsoft.com/office/drawing/2014/main" val="20013"/>
                    </a:ext>
                  </a:extLst>
                </a:gridCol>
              </a:tblGrid>
              <a:tr h="419100">
                <a:tc>
                  <a:txBody>
                    <a:bodyPr/>
                    <a:lstStyle/>
                    <a:p>
                      <a:pPr algn="l"/>
                      <a:r>
                        <a:rPr sz="975" b="1">
                          <a:solidFill>
                            <a:srgbClr val="2DD4BF"/>
                          </a:solidFill>
                          <a:latin typeface="DejaVu Sans"/>
                          <a:ea typeface="DejaVu Sans"/>
                          <a:cs typeface="DejaVu Sans"/>
                        </a:rPr>
                        <a:t>WORK PACKAGE</a:t>
                      </a:r>
                    </a:p>
                  </a:txBody>
                  <a:tcPr anchor="ctr">
                    <a:solidFill>
                      <a:srgbClr val="10253A"/>
                    </a:solidFill>
                  </a:tcPr>
                </a:tc>
                <a:tc>
                  <a:txBody>
                    <a:bodyPr/>
                    <a:lstStyle/>
                    <a:p>
                      <a:pPr algn="ctr"/>
                      <a:r>
                        <a:rPr sz="825" b="1">
                          <a:solidFill>
                            <a:srgbClr val="2DD4BF"/>
                          </a:solidFill>
                          <a:latin typeface="DejaVu Sans"/>
                          <a:ea typeface="DejaVu Sans"/>
                          <a:cs typeface="DejaVu Sans"/>
                        </a:rPr>
                        <a:t>Oct</a:t>
                      </a:r>
                    </a:p>
                  </a:txBody>
                  <a:tcPr anchor="ctr">
                    <a:solidFill>
                      <a:srgbClr val="10253A"/>
                    </a:solidFill>
                  </a:tcPr>
                </a:tc>
                <a:tc>
                  <a:txBody>
                    <a:bodyPr/>
                    <a:lstStyle/>
                    <a:p>
                      <a:pPr algn="ctr"/>
                      <a:r>
                        <a:rPr sz="825" b="1">
                          <a:solidFill>
                            <a:srgbClr val="2DD4BF"/>
                          </a:solidFill>
                          <a:latin typeface="DejaVu Sans"/>
                          <a:ea typeface="DejaVu Sans"/>
                          <a:cs typeface="DejaVu Sans"/>
                        </a:rPr>
                        <a:t>Nov</a:t>
                      </a:r>
                    </a:p>
                  </a:txBody>
                  <a:tcPr anchor="ctr">
                    <a:solidFill>
                      <a:srgbClr val="10253A"/>
                    </a:solidFill>
                  </a:tcPr>
                </a:tc>
                <a:tc>
                  <a:txBody>
                    <a:bodyPr/>
                    <a:lstStyle/>
                    <a:p>
                      <a:pPr algn="ctr"/>
                      <a:r>
                        <a:rPr sz="825" b="1">
                          <a:solidFill>
                            <a:srgbClr val="2DD4BF"/>
                          </a:solidFill>
                          <a:latin typeface="DejaVu Sans"/>
                          <a:ea typeface="DejaVu Sans"/>
                          <a:cs typeface="DejaVu Sans"/>
                        </a:rPr>
                        <a:t>Dec</a:t>
                      </a:r>
                    </a:p>
                  </a:txBody>
                  <a:tcPr anchor="ctr">
                    <a:solidFill>
                      <a:srgbClr val="10253A"/>
                    </a:solidFill>
                  </a:tcPr>
                </a:tc>
                <a:tc>
                  <a:txBody>
                    <a:bodyPr/>
                    <a:lstStyle/>
                    <a:p>
                      <a:pPr algn="ctr"/>
                      <a:r>
                        <a:rPr sz="825" b="1">
                          <a:solidFill>
                            <a:srgbClr val="2DD4BF"/>
                          </a:solidFill>
                          <a:latin typeface="DejaVu Sans"/>
                          <a:ea typeface="DejaVu Sans"/>
                          <a:cs typeface="DejaVu Sans"/>
                        </a:rPr>
                        <a:t>Jan</a:t>
                      </a:r>
                    </a:p>
                  </a:txBody>
                  <a:tcPr anchor="ctr">
                    <a:solidFill>
                      <a:srgbClr val="10253A"/>
                    </a:solidFill>
                  </a:tcPr>
                </a:tc>
                <a:tc>
                  <a:txBody>
                    <a:bodyPr/>
                    <a:lstStyle/>
                    <a:p>
                      <a:pPr algn="ctr"/>
                      <a:r>
                        <a:rPr sz="825" b="1">
                          <a:solidFill>
                            <a:srgbClr val="2DD4BF"/>
                          </a:solidFill>
                          <a:latin typeface="DejaVu Sans"/>
                          <a:ea typeface="DejaVu Sans"/>
                          <a:cs typeface="DejaVu Sans"/>
                        </a:rPr>
                        <a:t>Feb</a:t>
                      </a:r>
                    </a:p>
                  </a:txBody>
                  <a:tcPr anchor="ctr">
                    <a:solidFill>
                      <a:srgbClr val="10253A"/>
                    </a:solidFill>
                  </a:tcPr>
                </a:tc>
                <a:tc>
                  <a:txBody>
                    <a:bodyPr/>
                    <a:lstStyle/>
                    <a:p>
                      <a:pPr algn="ctr"/>
                      <a:r>
                        <a:rPr sz="825" b="1">
                          <a:solidFill>
                            <a:srgbClr val="2DD4BF"/>
                          </a:solidFill>
                          <a:latin typeface="DejaVu Sans"/>
                          <a:ea typeface="DejaVu Sans"/>
                          <a:cs typeface="DejaVu Sans"/>
                        </a:rPr>
                        <a:t>Mar</a:t>
                      </a:r>
                    </a:p>
                  </a:txBody>
                  <a:tcPr anchor="ctr">
                    <a:solidFill>
                      <a:srgbClr val="10253A"/>
                    </a:solidFill>
                  </a:tcPr>
                </a:tc>
                <a:tc>
                  <a:txBody>
                    <a:bodyPr/>
                    <a:lstStyle/>
                    <a:p>
                      <a:pPr algn="ctr"/>
                      <a:r>
                        <a:rPr sz="825" b="1">
                          <a:solidFill>
                            <a:srgbClr val="2DD4BF"/>
                          </a:solidFill>
                          <a:latin typeface="DejaVu Sans"/>
                          <a:ea typeface="DejaVu Sans"/>
                          <a:cs typeface="DejaVu Sans"/>
                        </a:rPr>
                        <a:t>Apr</a:t>
                      </a:r>
                    </a:p>
                  </a:txBody>
                  <a:tcPr anchor="ctr">
                    <a:solidFill>
                      <a:srgbClr val="10253A"/>
                    </a:solidFill>
                  </a:tcPr>
                </a:tc>
                <a:tc>
                  <a:txBody>
                    <a:bodyPr/>
                    <a:lstStyle/>
                    <a:p>
                      <a:pPr algn="ctr"/>
                      <a:r>
                        <a:rPr sz="825" b="1">
                          <a:solidFill>
                            <a:srgbClr val="2DD4BF"/>
                          </a:solidFill>
                          <a:latin typeface="DejaVu Sans"/>
                          <a:ea typeface="DejaVu Sans"/>
                          <a:cs typeface="DejaVu Sans"/>
                        </a:rPr>
                        <a:t>May</a:t>
                      </a:r>
                    </a:p>
                  </a:txBody>
                  <a:tcPr anchor="ctr">
                    <a:solidFill>
                      <a:srgbClr val="10253A"/>
                    </a:solidFill>
                  </a:tcPr>
                </a:tc>
                <a:tc>
                  <a:txBody>
                    <a:bodyPr/>
                    <a:lstStyle/>
                    <a:p>
                      <a:pPr algn="ctr"/>
                      <a:r>
                        <a:rPr sz="825" b="1">
                          <a:solidFill>
                            <a:srgbClr val="2DD4BF"/>
                          </a:solidFill>
                          <a:latin typeface="DejaVu Sans"/>
                          <a:ea typeface="DejaVu Sans"/>
                          <a:cs typeface="DejaVu Sans"/>
                        </a:rPr>
                        <a:t>Jun</a:t>
                      </a:r>
                    </a:p>
                  </a:txBody>
                  <a:tcPr anchor="ctr">
                    <a:solidFill>
                      <a:srgbClr val="10253A"/>
                    </a:solidFill>
                  </a:tcPr>
                </a:tc>
                <a:tc>
                  <a:txBody>
                    <a:bodyPr/>
                    <a:lstStyle/>
                    <a:p>
                      <a:pPr algn="ctr"/>
                      <a:r>
                        <a:rPr sz="825" b="1">
                          <a:solidFill>
                            <a:srgbClr val="2DD4BF"/>
                          </a:solidFill>
                          <a:latin typeface="DejaVu Sans"/>
                          <a:ea typeface="DejaVu Sans"/>
                          <a:cs typeface="DejaVu Sans"/>
                        </a:rPr>
                        <a:t>Jul</a:t>
                      </a:r>
                    </a:p>
                  </a:txBody>
                  <a:tcPr anchor="ctr">
                    <a:solidFill>
                      <a:srgbClr val="10253A"/>
                    </a:solidFill>
                  </a:tcPr>
                </a:tc>
                <a:tc>
                  <a:txBody>
                    <a:bodyPr/>
                    <a:lstStyle/>
                    <a:p>
                      <a:pPr algn="ctr"/>
                      <a:r>
                        <a:rPr sz="825" b="1">
                          <a:solidFill>
                            <a:srgbClr val="2DD4BF"/>
                          </a:solidFill>
                          <a:latin typeface="DejaVu Sans"/>
                          <a:ea typeface="DejaVu Sans"/>
                          <a:cs typeface="DejaVu Sans"/>
                        </a:rPr>
                        <a:t>Aug</a:t>
                      </a:r>
                    </a:p>
                  </a:txBody>
                  <a:tcPr anchor="ctr">
                    <a:solidFill>
                      <a:srgbClr val="10253A"/>
                    </a:solidFill>
                  </a:tcPr>
                </a:tc>
                <a:tc>
                  <a:txBody>
                    <a:bodyPr/>
                    <a:lstStyle/>
                    <a:p>
                      <a:pPr algn="ctr"/>
                      <a:r>
                        <a:rPr sz="825" b="1">
                          <a:solidFill>
                            <a:srgbClr val="2DD4BF"/>
                          </a:solidFill>
                          <a:latin typeface="DejaVu Sans"/>
                          <a:ea typeface="DejaVu Sans"/>
                          <a:cs typeface="DejaVu Sans"/>
                        </a:rPr>
                        <a:t>Sep</a:t>
                      </a:r>
                    </a:p>
                  </a:txBody>
                  <a:tcPr anchor="ctr">
                    <a:solidFill>
                      <a:srgbClr val="10253A"/>
                    </a:solidFill>
                  </a:tcPr>
                </a:tc>
                <a:tc>
                  <a:txBody>
                    <a:bodyPr/>
                    <a:lstStyle/>
                    <a:p>
                      <a:pPr algn="l"/>
                      <a:r>
                        <a:rPr sz="975" b="1">
                          <a:solidFill>
                            <a:srgbClr val="2DD4BF"/>
                          </a:solidFill>
                          <a:latin typeface="DejaVu Sans"/>
                          <a:ea typeface="DejaVu Sans"/>
                          <a:cs typeface="DejaVu Sans"/>
                        </a:rPr>
                        <a:t>EXPECTED OUTPUT</a:t>
                      </a:r>
                    </a:p>
                  </a:txBody>
                  <a:tcPr anchor="ctr">
                    <a:solidFill>
                      <a:srgbClr val="10253A"/>
                    </a:solidFill>
                  </a:tcPr>
                </a:tc>
                <a:extLst>
                  <a:ext uri="{0D108BD9-81ED-4DB2-BD59-A6C34878D82A}">
                    <a16:rowId xmlns:a16="http://schemas.microsoft.com/office/drawing/2014/main" val="10000"/>
                  </a:ext>
                </a:extLst>
              </a:tr>
              <a:tr h="561975">
                <a:tc>
                  <a:txBody>
                    <a:bodyPr/>
                    <a:lstStyle/>
                    <a:p>
                      <a:pPr algn="l"/>
                      <a:r>
                        <a:rPr sz="1050" b="1">
                          <a:solidFill>
                            <a:srgbClr val="EAF2F8"/>
                          </a:solidFill>
                          <a:latin typeface="DejaVu Sans"/>
                          <a:ea typeface="DejaVu Sans"/>
                          <a:cs typeface="DejaVu Sans"/>
                        </a:rPr>
                        <a:t>WP1  Theory and architecture</a:t>
                      </a:r>
                    </a:p>
                    <a:p>
                      <a:pPr algn="l"/>
                      <a:r>
                        <a:rPr sz="1050" b="1">
                          <a:solidFill>
                            <a:srgbClr val="EAF2F8"/>
                          </a:solidFill>
                          <a:latin typeface="DejaVu Sans"/>
                          <a:ea typeface="DejaVu Sans"/>
                          <a:cs typeface="DejaVu Sans"/>
                        </a:rPr>
                        <a:t>CPD, CL and twin design</a:t>
                      </a:r>
                    </a:p>
                  </a:txBody>
                  <a:tcPr anchor="ctr">
                    <a:solidFill>
                      <a:srgbClr val="0B1A2A"/>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pPr algn="l"/>
                      <a:r>
                        <a:rPr sz="975" b="0">
                          <a:solidFill>
                            <a:srgbClr val="B9CAD9"/>
                          </a:solidFill>
                          <a:latin typeface="DejaVu Sans"/>
                          <a:ea typeface="DejaVu Sans"/>
                          <a:cs typeface="DejaVu Sans"/>
                        </a:rPr>
                        <a:t>Architecture specification</a:t>
                      </a:r>
                    </a:p>
                  </a:txBody>
                  <a:tcPr anchor="ctr">
                    <a:solidFill>
                      <a:srgbClr val="0B1A2A"/>
                    </a:solidFill>
                  </a:tcPr>
                </a:tc>
                <a:extLst>
                  <a:ext uri="{0D108BD9-81ED-4DB2-BD59-A6C34878D82A}">
                    <a16:rowId xmlns:a16="http://schemas.microsoft.com/office/drawing/2014/main" val="10001"/>
                  </a:ext>
                </a:extLst>
              </a:tr>
              <a:tr h="561975">
                <a:tc>
                  <a:txBody>
                    <a:bodyPr/>
                    <a:lstStyle/>
                    <a:p>
                      <a:pPr algn="l"/>
                      <a:r>
                        <a:rPr sz="1050" b="1">
                          <a:solidFill>
                            <a:srgbClr val="EAF2F8"/>
                          </a:solidFill>
                          <a:latin typeface="DejaVu Sans"/>
                          <a:ea typeface="DejaVu Sans"/>
                          <a:cs typeface="DejaVu Sans"/>
                        </a:rPr>
                        <a:t>WP2  CPD benchmarking</a:t>
                      </a:r>
                    </a:p>
                    <a:p>
                      <a:pPr algn="l"/>
                      <a:r>
                        <a:rPr sz="1050" b="1">
                          <a:solidFill>
                            <a:srgbClr val="EAF2F8"/>
                          </a:solidFill>
                          <a:latin typeface="DejaVu Sans"/>
                          <a:ea typeface="DejaVu Sans"/>
                          <a:cs typeface="DejaVu Sans"/>
                        </a:rPr>
                        <a:t>EWMA, CUSUM, BOCPD, density ratios</a:t>
                      </a: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pPr algn="l"/>
                      <a:r>
                        <a:rPr sz="975" b="0">
                          <a:solidFill>
                            <a:srgbClr val="B9CAD9"/>
                          </a:solidFill>
                          <a:latin typeface="DejaVu Sans"/>
                          <a:ea typeface="DejaVu Sans"/>
                          <a:cs typeface="DejaVu Sans"/>
                        </a:rPr>
                        <a:t>Benchmark suite and report</a:t>
                      </a:r>
                    </a:p>
                  </a:txBody>
                  <a:tcPr anchor="ctr">
                    <a:solidFill>
                      <a:srgbClr val="0E2031"/>
                    </a:solidFill>
                  </a:tcPr>
                </a:tc>
                <a:extLst>
                  <a:ext uri="{0D108BD9-81ED-4DB2-BD59-A6C34878D82A}">
                    <a16:rowId xmlns:a16="http://schemas.microsoft.com/office/drawing/2014/main" val="10002"/>
                  </a:ext>
                </a:extLst>
              </a:tr>
              <a:tr h="561975">
                <a:tc>
                  <a:txBody>
                    <a:bodyPr/>
                    <a:lstStyle/>
                    <a:p>
                      <a:pPr algn="l"/>
                      <a:r>
                        <a:rPr sz="1050" b="1">
                          <a:solidFill>
                            <a:srgbClr val="EAF2F8"/>
                          </a:solidFill>
                          <a:latin typeface="DejaVu Sans"/>
                          <a:ea typeface="DejaVu Sans"/>
                          <a:cs typeface="DejaVu Sans"/>
                        </a:rPr>
                        <a:t>WP3  Continual learning and sustainability</a:t>
                      </a:r>
                    </a:p>
                    <a:p>
                      <a:pPr algn="l"/>
                      <a:r>
                        <a:rPr sz="1050" b="1">
                          <a:solidFill>
                            <a:srgbClr val="EAF2F8"/>
                          </a:solidFill>
                          <a:latin typeface="DejaVu Sans"/>
                          <a:ea typeface="DejaVu Sans"/>
                          <a:cs typeface="DejaVu Sans"/>
                        </a:rPr>
                        <a:t>Replay, forgetting, energy costs</a:t>
                      </a: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pPr algn="l"/>
                      <a:r>
                        <a:rPr sz="975" b="0">
                          <a:solidFill>
                            <a:srgbClr val="B9CAD9"/>
                          </a:solidFill>
                          <a:latin typeface="DejaVu Sans"/>
                          <a:ea typeface="DejaVu Sans"/>
                          <a:cs typeface="DejaVu Sans"/>
                        </a:rPr>
                        <a:t>CL module and cost analysis</a:t>
                      </a:r>
                    </a:p>
                  </a:txBody>
                  <a:tcPr anchor="ctr">
                    <a:solidFill>
                      <a:srgbClr val="0B1A2A"/>
                    </a:solidFill>
                  </a:tcPr>
                </a:tc>
                <a:extLst>
                  <a:ext uri="{0D108BD9-81ED-4DB2-BD59-A6C34878D82A}">
                    <a16:rowId xmlns:a16="http://schemas.microsoft.com/office/drawing/2014/main" val="10003"/>
                  </a:ext>
                </a:extLst>
              </a:tr>
              <a:tr h="561975">
                <a:tc>
                  <a:txBody>
                    <a:bodyPr/>
                    <a:lstStyle/>
                    <a:p>
                      <a:pPr algn="l"/>
                      <a:r>
                        <a:rPr sz="1050" b="1">
                          <a:solidFill>
                            <a:srgbClr val="EAF2F8"/>
                          </a:solidFill>
                          <a:latin typeface="DejaVu Sans"/>
                          <a:ea typeface="DejaVu Sans"/>
                          <a:cs typeface="DejaVu Sans"/>
                        </a:rPr>
                        <a:t>WP4  Digital twin co-evolution</a:t>
                      </a:r>
                    </a:p>
                    <a:p>
                      <a:pPr algn="l"/>
                      <a:r>
                        <a:rPr sz="1050" b="1">
                          <a:solidFill>
                            <a:srgbClr val="EAF2F8"/>
                          </a:solidFill>
                          <a:latin typeface="DejaVu Sans"/>
                          <a:ea typeface="DejaVu Sans"/>
                          <a:cs typeface="DejaVu Sans"/>
                        </a:rPr>
                        <a:t>Disagreement, joint updates, safety</a:t>
                      </a: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pPr algn="l"/>
                      <a:r>
                        <a:rPr sz="975" b="0">
                          <a:solidFill>
                            <a:srgbClr val="B9CAD9"/>
                          </a:solidFill>
                          <a:latin typeface="DejaVu Sans"/>
                          <a:ea typeface="DejaVu Sans"/>
                          <a:cs typeface="DejaVu Sans"/>
                        </a:rPr>
                        <a:t>Twin framework and testbed</a:t>
                      </a:r>
                    </a:p>
                  </a:txBody>
                  <a:tcPr anchor="ctr">
                    <a:solidFill>
                      <a:srgbClr val="0E2031"/>
                    </a:solidFill>
                  </a:tcPr>
                </a:tc>
                <a:extLst>
                  <a:ext uri="{0D108BD9-81ED-4DB2-BD59-A6C34878D82A}">
                    <a16:rowId xmlns:a16="http://schemas.microsoft.com/office/drawing/2014/main" val="10004"/>
                  </a:ext>
                </a:extLst>
              </a:tr>
              <a:tr h="561975">
                <a:tc>
                  <a:txBody>
                    <a:bodyPr/>
                    <a:lstStyle/>
                    <a:p>
                      <a:pPr algn="l"/>
                      <a:r>
                        <a:rPr sz="1050" b="1">
                          <a:solidFill>
                            <a:srgbClr val="EAF2F8"/>
                          </a:solidFill>
                          <a:latin typeface="DejaVu Sans"/>
                          <a:ea typeface="DejaVu Sans"/>
                          <a:cs typeface="DejaVu Sans"/>
                        </a:rPr>
                        <a:t>WP5  Cross-domain evaluation</a:t>
                      </a:r>
                    </a:p>
                    <a:p>
                      <a:pPr algn="l"/>
                      <a:r>
                        <a:rPr sz="1050" b="1">
                          <a:solidFill>
                            <a:srgbClr val="EAF2F8"/>
                          </a:solidFill>
                          <a:latin typeface="DejaVu Sans"/>
                          <a:ea typeface="DejaVu Sans"/>
                          <a:cs typeface="DejaVu Sans"/>
                        </a:rPr>
                        <a:t>BCI and photonic maintenance</a:t>
                      </a: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0B1A2A"/>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2DD4BF"/>
                    </a:solidFill>
                  </a:tcPr>
                </a:tc>
                <a:tc>
                  <a:txBody>
                    <a:bodyPr/>
                    <a:lstStyle/>
                    <a:p>
                      <a:endParaRPr/>
                    </a:p>
                  </a:txBody>
                  <a:tcPr anchor="ctr">
                    <a:solidFill>
                      <a:srgbClr val="0B1A2A"/>
                    </a:solidFill>
                  </a:tcPr>
                </a:tc>
                <a:tc>
                  <a:txBody>
                    <a:bodyPr/>
                    <a:lstStyle/>
                    <a:p>
                      <a:pPr algn="l"/>
                      <a:r>
                        <a:rPr sz="975" b="0">
                          <a:solidFill>
                            <a:srgbClr val="B9CAD9"/>
                          </a:solidFill>
                          <a:latin typeface="DejaVu Sans"/>
                          <a:ea typeface="DejaVu Sans"/>
                          <a:cs typeface="DejaVu Sans"/>
                        </a:rPr>
                        <a:t>Compare retraining and periodic updates</a:t>
                      </a:r>
                    </a:p>
                  </a:txBody>
                  <a:tcPr anchor="ctr">
                    <a:solidFill>
                      <a:srgbClr val="0B1A2A"/>
                    </a:solidFill>
                  </a:tcPr>
                </a:tc>
                <a:extLst>
                  <a:ext uri="{0D108BD9-81ED-4DB2-BD59-A6C34878D82A}">
                    <a16:rowId xmlns:a16="http://schemas.microsoft.com/office/drawing/2014/main" val="10005"/>
                  </a:ext>
                </a:extLst>
              </a:tr>
              <a:tr h="561975">
                <a:tc>
                  <a:txBody>
                    <a:bodyPr/>
                    <a:lstStyle/>
                    <a:p>
                      <a:pPr algn="l"/>
                      <a:r>
                        <a:rPr sz="1050" b="1">
                          <a:solidFill>
                            <a:srgbClr val="EAF2F8"/>
                          </a:solidFill>
                          <a:latin typeface="DejaVu Sans"/>
                          <a:ea typeface="DejaVu Sans"/>
                          <a:cs typeface="DejaVu Sans"/>
                        </a:rPr>
                        <a:t>WP6  Synthesis and engagement</a:t>
                      </a:r>
                    </a:p>
                    <a:p>
                      <a:pPr algn="l"/>
                      <a:r>
                        <a:rPr sz="1050" b="1">
                          <a:solidFill>
                            <a:srgbClr val="EAF2F8"/>
                          </a:solidFill>
                          <a:latin typeface="DejaVu Sans"/>
                          <a:ea typeface="DejaVu Sans"/>
                          <a:cs typeface="DejaVu Sans"/>
                        </a:rPr>
                        <a:t>Manuscripts, release, stakeholders</a:t>
                      </a: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0E2031"/>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endParaRPr/>
                    </a:p>
                  </a:txBody>
                  <a:tcPr anchor="ctr">
                    <a:solidFill>
                      <a:srgbClr val="4EA1FF"/>
                    </a:solidFill>
                  </a:tcPr>
                </a:tc>
                <a:tc>
                  <a:txBody>
                    <a:bodyPr/>
                    <a:lstStyle/>
                    <a:p>
                      <a:pPr algn="l"/>
                      <a:r>
                        <a:rPr sz="975" b="0">
                          <a:solidFill>
                            <a:srgbClr val="B9CAD9"/>
                          </a:solidFill>
                          <a:latin typeface="DejaVu Sans"/>
                          <a:ea typeface="DejaVu Sans"/>
                          <a:cs typeface="DejaVu Sans"/>
                        </a:rPr>
                        <a:t>Submissions and adoption roadmap</a:t>
                      </a:r>
                    </a:p>
                  </a:txBody>
                  <a:tcPr anchor="ctr">
                    <a:solidFill>
                      <a:srgbClr val="0E2031"/>
                    </a:solidFill>
                  </a:tcPr>
                </a:tc>
                <a:extLst>
                  <a:ext uri="{0D108BD9-81ED-4DB2-BD59-A6C34878D82A}">
                    <a16:rowId xmlns:a16="http://schemas.microsoft.com/office/drawing/2014/main" val="10006"/>
                  </a:ext>
                </a:extLst>
              </a:tr>
            </a:tbl>
          </a:graphicData>
        </a:graphic>
      </p:graphicFrame>
      <p:sp>
        <p:nvSpPr>
          <p:cNvPr id="48" name="Current starting point">
            <a:extLst>
              <a:ext uri="{FF2B5EF4-FFF2-40B4-BE49-F238E27FC236}">
                <a16:creationId xmlns:a16="http://schemas.microsoft.com/office/drawing/2014/main" id="{1321C9A0-D91F-45A7-936F-AF03CA8A91D8}"/>
              </a:ext>
            </a:extLst>
          </p:cNvPr>
          <p:cNvSpPr>
            <a:spLocks noGrp="1"/>
          </p:cNvSpPr>
          <p:nvPr/>
        </p:nvSpPr>
        <p:spPr>
          <a:xfrm>
            <a:off x="685800" y="5905500"/>
            <a:ext cx="10763250" cy="409575"/>
          </a:xfrm>
          <a:prstGeom prst="rect">
            <a:avLst/>
          </a:prstGeom>
          <a:noFill/>
          <a:ln w="0">
            <a:noFill/>
          </a:ln>
        </p:spPr>
        <p:txBody>
          <a:bodyPr>
            <a:noAutofit/>
          </a:bodyPr>
          <a:lstStyle/>
          <a:p>
            <a:pPr>
              <a:defRPr sz="1275" b="0">
                <a:solidFill>
                  <a:srgbClr val="EAF2F8"/>
                </a:solidFill>
                <a:latin typeface="DejaVu Sans"/>
                <a:ea typeface="DejaVu Sans"/>
                <a:cs typeface="DejaVu Sans"/>
              </a:defRPr>
            </a:pPr>
            <a:r>
              <a:rPr sz="1275" b="0">
                <a:solidFill>
                  <a:srgbClr val="EAF2F8"/>
                </a:solidFill>
                <a:latin typeface="DejaVu Sans"/>
                <a:ea typeface="DejaVu Sans"/>
                <a:cs typeface="DejaVu Sans"/>
              </a:rPr>
              <a:t>October priority: lock reproduction settings, explain Stage-II gaps and export real EEG complementary traces.</a:t>
            </a:r>
          </a:p>
        </p:txBody>
      </p:sp>
    </p:spTree>
    <p:extLst>
      <p:ext uri="{BB962C8B-B14F-4D97-AF65-F5344CB8AC3E}">
        <p14:creationId xmlns:p14="http://schemas.microsoft.com/office/powerpoint/2010/main" val="926554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1"/>
          <p:cNvSpPr txBox="1"/>
          <p:nvPr/>
        </p:nvSpPr>
        <p:spPr>
          <a:xfrm>
            <a:off x="612648" y="292608"/>
            <a:ext cx="10972800" cy="292608"/>
          </a:xfrm>
          <a:prstGeom prst="rect">
            <a:avLst/>
          </a:prstGeom>
          <a:noFill/>
        </p:spPr>
        <p:txBody>
          <a:bodyPr wrap="square" lIns="0" rIns="0">
            <a:spAutoFit/>
          </a:bodyPr>
          <a:lstStyle/>
          <a:p>
            <a:pPr>
              <a:spcAft>
                <a:spcPts val="900"/>
              </a:spcAft>
              <a:defRPr sz="1300" b="1">
                <a:solidFill>
                  <a:srgbClr val="78D8CC"/>
                </a:solidFill>
                <a:latin typeface="DejaVu Sans"/>
              </a:defRPr>
            </a:pPr>
            <a:r>
              <a:t>NEXT MILESTONE</a:t>
            </a:r>
          </a:p>
        </p:txBody>
      </p:sp>
      <p:sp>
        <p:nvSpPr>
          <p:cNvPr id="3" name="TextBox 2"/>
          <p:cNvSpPr txBox="1"/>
          <p:nvPr/>
        </p:nvSpPr>
        <p:spPr>
          <a:xfrm>
            <a:off x="612648" y="777240"/>
            <a:ext cx="10972800" cy="640080"/>
          </a:xfrm>
          <a:prstGeom prst="rect">
            <a:avLst/>
          </a:prstGeom>
          <a:noFill/>
        </p:spPr>
        <p:txBody>
          <a:bodyPr wrap="square" lIns="0" rIns="0">
            <a:spAutoFit/>
          </a:bodyPr>
          <a:lstStyle/>
          <a:p>
            <a:pPr>
              <a:spcAft>
                <a:spcPts val="900"/>
              </a:spcAft>
              <a:defRPr sz="2700" b="1">
                <a:solidFill>
                  <a:srgbClr val="EAF2F8"/>
                </a:solidFill>
                <a:latin typeface="DejaVu Sans"/>
              </a:defRPr>
            </a:pPr>
            <a:r>
              <a:t>Next milestone: a reproducible evidence package</a:t>
            </a:r>
          </a:p>
        </p:txBody>
      </p:sp>
      <p:sp>
        <p:nvSpPr>
          <p:cNvPr id="4" name="TextBox 3"/>
          <p:cNvSpPr txBox="1"/>
          <p:nvPr/>
        </p:nvSpPr>
        <p:spPr>
          <a:xfrm>
            <a:off x="612648" y="6053328"/>
            <a:ext cx="10972800" cy="329184"/>
          </a:xfrm>
          <a:prstGeom prst="rect">
            <a:avLst/>
          </a:prstGeom>
          <a:noFill/>
        </p:spPr>
        <p:txBody>
          <a:bodyPr wrap="square" lIns="0" rIns="0">
            <a:spAutoFit/>
          </a:bodyPr>
          <a:lstStyle/>
          <a:p>
            <a:pPr>
              <a:spcAft>
                <a:spcPts val="900"/>
              </a:spcAft>
              <a:defRPr sz="1100" b="0">
                <a:solidFill>
                  <a:srgbClr val="9CB0C3"/>
                </a:solidFill>
                <a:latin typeface="DejaVu Sans"/>
              </a:defRPr>
            </a:pPr>
            <a:r>
              <a:t>Repository evidence: 2a8d20b. Implemented capabilities and stored results are distinguished.</a:t>
            </a:r>
          </a:p>
        </p:txBody>
      </p:sp>
      <p:sp>
        <p:nvSpPr>
          <p:cNvPr id="5" name="TextBox 4"/>
          <p:cNvSpPr txBox="1"/>
          <p:nvPr/>
        </p:nvSpPr>
        <p:spPr>
          <a:xfrm>
            <a:off x="612648" y="6510528"/>
            <a:ext cx="9144000" cy="182880"/>
          </a:xfrm>
          <a:prstGeom prst="rect">
            <a:avLst/>
          </a:prstGeom>
          <a:noFill/>
        </p:spPr>
        <p:txBody>
          <a:bodyPr wrap="square" lIns="0" rIns="0">
            <a:spAutoFit/>
          </a:bodyPr>
          <a:lstStyle/>
          <a:p>
            <a:pPr>
              <a:spcAft>
                <a:spcPts val="900"/>
              </a:spcAft>
              <a:defRPr sz="800" b="0">
                <a:solidFill>
                  <a:srgbClr val="9CB0C3"/>
                </a:solidFill>
                <a:latin typeface="DejaVu Sans"/>
              </a:defRPr>
            </a:pPr>
            <a:r>
              <a:t>hlin863/ewma_covariate_shift_demo</a:t>
            </a:r>
          </a:p>
        </p:txBody>
      </p:sp>
      <p:sp>
        <p:nvSpPr>
          <p:cNvPr id="6" name="TextBox 5"/>
          <p:cNvSpPr txBox="1"/>
          <p:nvPr/>
        </p:nvSpPr>
        <p:spPr>
          <a:xfrm>
            <a:off x="685800" y="1709928"/>
            <a:ext cx="10789920" cy="457200"/>
          </a:xfrm>
          <a:prstGeom prst="rect">
            <a:avLst/>
          </a:prstGeom>
          <a:noFill/>
        </p:spPr>
        <p:txBody>
          <a:bodyPr wrap="square" lIns="0" rIns="0">
            <a:spAutoFit/>
          </a:bodyPr>
          <a:lstStyle/>
          <a:p>
            <a:pPr>
              <a:spcAft>
                <a:spcPts val="900"/>
              </a:spcAft>
              <a:defRPr sz="2300" b="1">
                <a:solidFill>
                  <a:srgbClr val="78D8CC"/>
                </a:solidFill>
                <a:latin typeface="DejaVu Sans"/>
              </a:defRPr>
            </a:pPr>
            <a:r>
              <a:t>1. Reconcile the saved reproduction runs</a:t>
            </a:r>
          </a:p>
        </p:txBody>
      </p:sp>
      <p:sp>
        <p:nvSpPr>
          <p:cNvPr id="7" name="TextBox 6"/>
          <p:cNvSpPr txBox="1"/>
          <p:nvPr/>
        </p:nvSpPr>
        <p:spPr>
          <a:xfrm>
            <a:off x="685800" y="2249424"/>
            <a:ext cx="10789920" cy="548640"/>
          </a:xfrm>
          <a:prstGeom prst="rect">
            <a:avLst/>
          </a:prstGeom>
          <a:noFill/>
        </p:spPr>
        <p:txBody>
          <a:bodyPr wrap="square" lIns="0" rIns="0">
            <a:spAutoFit/>
          </a:bodyPr>
          <a:lstStyle/>
          <a:p>
            <a:pPr>
              <a:spcAft>
                <a:spcPts val="900"/>
              </a:spcAft>
              <a:defRPr sz="2000" b="0">
                <a:solidFill>
                  <a:srgbClr val="EAF2F8"/>
                </a:solidFill>
                <a:latin typeface="DejaVu Sans"/>
              </a:defRPr>
            </a:pPr>
            <a:r>
              <a:t>Lock settings and explain the Stage-II accepted, rejected and ineligible events.</a:t>
            </a:r>
          </a:p>
        </p:txBody>
      </p:sp>
      <p:sp>
        <p:nvSpPr>
          <p:cNvPr id="8" name="TextBox 7"/>
          <p:cNvSpPr txBox="1"/>
          <p:nvPr/>
        </p:nvSpPr>
        <p:spPr>
          <a:xfrm>
            <a:off x="685800" y="2990088"/>
            <a:ext cx="10789920" cy="457200"/>
          </a:xfrm>
          <a:prstGeom prst="rect">
            <a:avLst/>
          </a:prstGeom>
          <a:noFill/>
        </p:spPr>
        <p:txBody>
          <a:bodyPr wrap="square" lIns="0" rIns="0">
            <a:spAutoFit/>
          </a:bodyPr>
          <a:lstStyle/>
          <a:p>
            <a:pPr>
              <a:spcAft>
                <a:spcPts val="900"/>
              </a:spcAft>
              <a:defRPr sz="2300" b="1">
                <a:solidFill>
                  <a:srgbClr val="78D8CC"/>
                </a:solidFill>
                <a:latin typeface="DejaVu Sans"/>
              </a:defRPr>
            </a:pPr>
            <a:r>
              <a:t>2. Generate adaptation and real EEG evidence</a:t>
            </a:r>
          </a:p>
        </p:txBody>
      </p:sp>
      <p:sp>
        <p:nvSpPr>
          <p:cNvPr id="9" name="TextBox 8"/>
          <p:cNvSpPr txBox="1"/>
          <p:nvPr/>
        </p:nvSpPr>
        <p:spPr>
          <a:xfrm>
            <a:off x="685800" y="3529584"/>
            <a:ext cx="10789920" cy="640080"/>
          </a:xfrm>
          <a:prstGeom prst="rect">
            <a:avLst/>
          </a:prstGeom>
          <a:noFill/>
        </p:spPr>
        <p:txBody>
          <a:bodyPr wrap="square" lIns="0" rIns="0">
            <a:spAutoFit/>
          </a:bodyPr>
          <a:lstStyle/>
          <a:p>
            <a:pPr>
              <a:spcAft>
                <a:spcPts val="900"/>
              </a:spcAft>
              <a:defRPr sz="2000" b="0">
                <a:solidFill>
                  <a:srgbClr val="EAF2F8"/>
                </a:solidFill>
                <a:latin typeface="DejaVu Sans"/>
              </a:defRPr>
            </a:pPr>
            <a:r>
              <a:t>Extend the saved Diethe pilot across three scenarios and 20 seeds. Export 2A/2B complementary traces.</a:t>
            </a:r>
          </a:p>
        </p:txBody>
      </p:sp>
      <p:sp>
        <p:nvSpPr>
          <p:cNvPr id="10" name="TextBox 9"/>
          <p:cNvSpPr txBox="1"/>
          <p:nvPr/>
        </p:nvSpPr>
        <p:spPr>
          <a:xfrm>
            <a:off x="685800" y="4389120"/>
            <a:ext cx="10789920" cy="457200"/>
          </a:xfrm>
          <a:prstGeom prst="rect">
            <a:avLst/>
          </a:prstGeom>
          <a:noFill/>
        </p:spPr>
        <p:txBody>
          <a:bodyPr wrap="square" lIns="0" rIns="0">
            <a:spAutoFit/>
          </a:bodyPr>
          <a:lstStyle/>
          <a:p>
            <a:pPr>
              <a:spcAft>
                <a:spcPts val="900"/>
              </a:spcAft>
              <a:defRPr sz="2300" b="1">
                <a:solidFill>
                  <a:srgbClr val="78D8CC"/>
                </a:solidFill>
                <a:latin typeface="DejaVu Sans"/>
              </a:defRPr>
            </a:pPr>
            <a:r>
              <a:t>3. Align tests, slides and research notes</a:t>
            </a:r>
          </a:p>
        </p:txBody>
      </p:sp>
      <p:sp>
        <p:nvSpPr>
          <p:cNvPr id="11" name="TextBox 10"/>
          <p:cNvSpPr txBox="1"/>
          <p:nvPr/>
        </p:nvSpPr>
        <p:spPr>
          <a:xfrm>
            <a:off x="685800" y="4919472"/>
            <a:ext cx="10789920" cy="777240"/>
          </a:xfrm>
          <a:prstGeom prst="rect">
            <a:avLst/>
          </a:prstGeom>
          <a:noFill/>
        </p:spPr>
        <p:txBody>
          <a:bodyPr wrap="square" lIns="0" rIns="0">
            <a:spAutoFit/>
          </a:bodyPr>
          <a:lstStyle/>
          <a:p>
            <a:pPr>
              <a:spcAft>
                <a:spcPts val="900"/>
              </a:spcAft>
              <a:defRPr sz="2000" b="0">
                <a:solidFill>
                  <a:srgbClr val="EAF2F8"/>
                </a:solidFill>
                <a:latin typeface="DejaVu Sans"/>
              </a:defRPr>
            </a:pPr>
            <a:r>
              <a:t>Resolve the homepage route assertion. Refresh Notion implementation status and link every numerical claim to its run.</a:t>
            </a:r>
          </a:p>
        </p:txBody>
      </p:sp>
      <p:sp>
        <p:nvSpPr>
          <p:cNvPr id="12" name="TextBox 11"/>
          <p:cNvSpPr txBox="1"/>
          <p:nvPr/>
        </p:nvSpPr>
        <p:spPr>
          <a:xfrm>
            <a:off x="11045952" y="6510528"/>
            <a:ext cx="548640" cy="182880"/>
          </a:xfrm>
          <a:prstGeom prst="rect">
            <a:avLst/>
          </a:prstGeom>
          <a:noFill/>
        </p:spPr>
        <p:txBody>
          <a:bodyPr wrap="square" lIns="0" rIns="0">
            <a:spAutoFit/>
          </a:bodyPr>
          <a:lstStyle/>
          <a:p>
            <a:pPr>
              <a:spcAft>
                <a:spcPts val="900"/>
              </a:spcAft>
              <a:defRPr sz="800" b="0">
                <a:solidFill>
                  <a:srgbClr val="9CB0C3"/>
                </a:solidFill>
                <a:latin typeface="DejaVu Sans"/>
              </a:defRPr>
            </a:pPr>
            <a:r>
              <a:t>22</a:t>
            </a:r>
          </a:p>
        </p:txBody>
      </p:sp>
    </p:spTree>
    <p:extLst>
      <p:ext uri="{BB962C8B-B14F-4D97-AF65-F5344CB8AC3E}">
        <p14:creationId xmlns:p14="http://schemas.microsoft.com/office/powerpoint/2010/main" val="190331914"/>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12648" y="292608"/>
            <a:ext cx="10881360" cy="310896"/>
          </a:xfrm>
          <a:prstGeom prst="rect">
            <a:avLst/>
          </a:prstGeom>
          <a:noFill/>
        </p:spPr>
        <p:txBody>
          <a:bodyPr wrap="none" lIns="18288" rIns="18288" tIns="9144" bIns="9144" anchor="t">
            <a:spAutoFit/>
          </a:bodyPr>
          <a:lstStyle/>
          <a:p>
            <a:pPr algn="l"/>
            <a:r>
              <a:rPr sz="1900" b="1">
                <a:solidFill>
                  <a:srgbClr val="24DED2"/>
                </a:solidFill>
                <a:latin typeface="Aptos"/>
              </a:rPr>
              <a:t>CONTINUAL LEARNING UPDATE</a:t>
            </a:r>
          </a:p>
        </p:txBody>
      </p:sp>
      <p:sp>
        <p:nvSpPr>
          <p:cNvPr id="3" name="TextBox 2"/>
          <p:cNvSpPr txBox="1"/>
          <p:nvPr/>
        </p:nvSpPr>
        <p:spPr>
          <a:xfrm>
            <a:off x="612648" y="713232"/>
            <a:ext cx="10881360" cy="676656"/>
          </a:xfrm>
          <a:prstGeom prst="rect">
            <a:avLst/>
          </a:prstGeom>
          <a:noFill/>
        </p:spPr>
        <p:txBody>
          <a:bodyPr wrap="none" lIns="18288" rIns="18288" tIns="9144" bIns="9144" anchor="t">
            <a:spAutoFit/>
          </a:bodyPr>
          <a:lstStyle/>
          <a:p>
            <a:pPr algn="l"/>
            <a:r>
              <a:rPr sz="2200" b="1">
                <a:solidFill>
                  <a:srgbClr val="F5F8FC"/>
                </a:solidFill>
                <a:latin typeface="Aptos"/>
              </a:rPr>
              <a:t>Hurtado-aligned passive updating: count new experience, not global trial position</a:t>
            </a:r>
          </a:p>
        </p:txBody>
      </p:sp>
      <p:sp>
        <p:nvSpPr>
          <p:cNvPr id="4" name="TextBox 3"/>
          <p:cNvSpPr txBox="1"/>
          <p:nvPr/>
        </p:nvSpPr>
        <p:spPr>
          <a:xfrm>
            <a:off x="612648" y="1453896"/>
            <a:ext cx="10881360" cy="274320"/>
          </a:xfrm>
          <a:prstGeom prst="rect">
            <a:avLst/>
          </a:prstGeom>
          <a:noFill/>
        </p:spPr>
        <p:txBody>
          <a:bodyPr wrap="none" lIns="18288" rIns="18288" tIns="9144" bIns="9144" anchor="t">
            <a:spAutoFit/>
          </a:bodyPr>
          <a:lstStyle/>
          <a:p>
            <a:pPr algn="l"/>
            <a:r>
              <a:rPr sz="1150" b="0">
                <a:solidFill>
                  <a:srgbClr val="B2BCC6"/>
                </a:solidFill>
                <a:latin typeface="Aptos"/>
              </a:rPr>
              <a:t>Source: Hurtado et al. (2023), §4.1.2; policy refinement for src/adaptation/policies.py</a:t>
            </a:r>
          </a:p>
        </p:txBody>
      </p:sp>
      <p:sp>
        <p:nvSpPr>
          <p:cNvPr id="5" name="Rounded Rectangle 4"/>
          <p:cNvSpPr/>
          <p:nvPr/>
        </p:nvSpPr>
        <p:spPr>
          <a:xfrm>
            <a:off x="658368" y="1856231"/>
            <a:ext cx="4160520" cy="2057400"/>
          </a:xfrm>
          <a:prstGeom prst="roundRect">
            <a:avLst/>
          </a:prstGeom>
          <a:solidFill>
            <a:srgbClr val="0C121A"/>
          </a:solidFill>
          <a:ln w="15875">
            <a:solidFill>
              <a:srgbClr val="BCA8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60920" y="1856231"/>
            <a:ext cx="4160520" cy="2057400"/>
          </a:xfrm>
          <a:prstGeom prst="roundRect">
            <a:avLst/>
          </a:prstGeom>
          <a:solidFill>
            <a:srgbClr val="0C121A"/>
          </a:solidFill>
          <a:ln w="15875">
            <a:solidFill>
              <a:srgbClr val="24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48256"/>
            <a:ext cx="2560320" cy="256032"/>
          </a:xfrm>
          <a:prstGeom prst="rect">
            <a:avLst/>
          </a:prstGeom>
          <a:noFill/>
        </p:spPr>
        <p:txBody>
          <a:bodyPr wrap="none" lIns="18288" rIns="18288" tIns="9144" bIns="9144" anchor="t">
            <a:spAutoFit/>
          </a:bodyPr>
          <a:lstStyle/>
          <a:p>
            <a:pPr algn="l"/>
            <a:r>
              <a:rPr sz="1200" b="1">
                <a:solidFill>
                  <a:srgbClr val="BCA869"/>
                </a:solidFill>
                <a:latin typeface="Aptos"/>
              </a:rPr>
              <a:t>BEFORE: CLOCKED SCHEDULE</a:t>
            </a:r>
          </a:p>
        </p:txBody>
      </p:sp>
      <p:sp>
        <p:nvSpPr>
          <p:cNvPr id="8" name="TextBox 7"/>
          <p:cNvSpPr txBox="1"/>
          <p:nvPr/>
        </p:nvSpPr>
        <p:spPr>
          <a:xfrm>
            <a:off x="868680" y="2560320"/>
            <a:ext cx="3611880" cy="347472"/>
          </a:xfrm>
          <a:prstGeom prst="rect">
            <a:avLst/>
          </a:prstGeom>
          <a:noFill/>
        </p:spPr>
        <p:txBody>
          <a:bodyPr wrap="none" lIns="18288" rIns="18288" tIns="9144" bIns="9144" anchor="t">
            <a:spAutoFit/>
          </a:bodyPr>
          <a:lstStyle/>
          <a:p>
            <a:pPr algn="l"/>
            <a:r>
              <a:rPr sz="1600" b="1">
                <a:solidFill>
                  <a:srgbClr val="F5F8FC"/>
                </a:solidFill>
                <a:latin typeface="Aptos"/>
              </a:rPr>
              <a:t>Absolute trial index</a:t>
            </a:r>
          </a:p>
        </p:txBody>
      </p:sp>
      <p:sp>
        <p:nvSpPr>
          <p:cNvPr id="9" name="TextBox 8"/>
          <p:cNvSpPr txBox="1"/>
          <p:nvPr/>
        </p:nvSpPr>
        <p:spPr>
          <a:xfrm>
            <a:off x="868680" y="2944368"/>
            <a:ext cx="3611880" cy="384048"/>
          </a:xfrm>
          <a:prstGeom prst="rect">
            <a:avLst/>
          </a:prstGeom>
          <a:solidFill>
            <a:srgbClr val="080D13"/>
          </a:solidFill>
          <a:ln>
            <a:solidFill>
              <a:srgbClr val="2D3A46"/>
            </a:solidFill>
          </a:ln>
        </p:spPr>
        <p:txBody>
          <a:bodyPr wrap="none" lIns="18288" rIns="18288" tIns="9144" bIns="9144" anchor="t">
            <a:spAutoFit/>
          </a:bodyPr>
          <a:lstStyle/>
          <a:p>
            <a:pPr algn="l"/>
            <a:r>
              <a:rPr sz="1550" b="0">
                <a:solidFill>
                  <a:srgbClr val="D2DCE6"/>
                </a:solidFill>
                <a:latin typeface="Consolas"/>
              </a:rPr>
              <a:t>(trial_index + 1) % interval == 0</a:t>
            </a:r>
          </a:p>
        </p:txBody>
      </p:sp>
      <p:sp>
        <p:nvSpPr>
          <p:cNvPr id="10" name="TextBox 9"/>
          <p:cNvSpPr txBox="1"/>
          <p:nvPr/>
        </p:nvSpPr>
        <p:spPr>
          <a:xfrm>
            <a:off x="868680" y="3410712"/>
            <a:ext cx="3611880" cy="438912"/>
          </a:xfrm>
          <a:prstGeom prst="rect">
            <a:avLst/>
          </a:prstGeom>
          <a:noFill/>
        </p:spPr>
        <p:txBody>
          <a:bodyPr wrap="square" lIns="45720" rIns="45720" tIns="36576" bIns="36576">
            <a:spAutoFit/>
          </a:bodyPr>
          <a:lstStyle/>
          <a:p>
            <a:pPr algn="l">
              <a:spcAft>
                <a:spcPts val="500"/>
              </a:spcAft>
            </a:pPr>
            <a:r>
              <a:rPr sz="1250">
                <a:solidFill>
                  <a:srgbClr val="B2BCC6"/>
                </a:solidFill>
                <a:latin typeface="Aptos"/>
              </a:rPr>
              <a:t>Can retrain soon after a separate update event.</a:t>
            </a:r>
          </a:p>
        </p:txBody>
      </p:sp>
      <p:sp>
        <p:nvSpPr>
          <p:cNvPr id="11" name="TextBox 10"/>
          <p:cNvSpPr txBox="1"/>
          <p:nvPr/>
        </p:nvSpPr>
        <p:spPr>
          <a:xfrm>
            <a:off x="7571231" y="2048256"/>
            <a:ext cx="2560320" cy="256032"/>
          </a:xfrm>
          <a:prstGeom prst="rect">
            <a:avLst/>
          </a:prstGeom>
          <a:noFill/>
        </p:spPr>
        <p:txBody>
          <a:bodyPr wrap="none" lIns="18288" rIns="18288" tIns="9144" bIns="9144" anchor="t">
            <a:spAutoFit/>
          </a:bodyPr>
          <a:lstStyle/>
          <a:p>
            <a:pPr algn="l"/>
            <a:r>
              <a:rPr sz="1200" b="1">
                <a:solidFill>
                  <a:srgbClr val="24DED2"/>
                </a:solidFill>
                <a:latin typeface="Aptos"/>
              </a:rPr>
              <a:t>AFTER: PASSIVE STREAM BASELINE</a:t>
            </a:r>
          </a:p>
        </p:txBody>
      </p:sp>
      <p:sp>
        <p:nvSpPr>
          <p:cNvPr id="12" name="TextBox 11"/>
          <p:cNvSpPr txBox="1"/>
          <p:nvPr/>
        </p:nvSpPr>
        <p:spPr>
          <a:xfrm>
            <a:off x="7571231" y="2560320"/>
            <a:ext cx="3611880" cy="347472"/>
          </a:xfrm>
          <a:prstGeom prst="rect">
            <a:avLst/>
          </a:prstGeom>
          <a:noFill/>
        </p:spPr>
        <p:txBody>
          <a:bodyPr wrap="none" lIns="18288" rIns="18288" tIns="9144" bIns="9144" anchor="t">
            <a:spAutoFit/>
          </a:bodyPr>
          <a:lstStyle/>
          <a:p>
            <a:pPr algn="l"/>
            <a:r>
              <a:rPr sz="1600" b="1">
                <a:solidFill>
                  <a:srgbClr val="F5F8FC"/>
                </a:solidFill>
                <a:latin typeface="Aptos"/>
              </a:rPr>
              <a:t>New data since last update</a:t>
            </a:r>
          </a:p>
        </p:txBody>
      </p:sp>
      <p:sp>
        <p:nvSpPr>
          <p:cNvPr id="13" name="TextBox 12"/>
          <p:cNvSpPr txBox="1"/>
          <p:nvPr/>
        </p:nvSpPr>
        <p:spPr>
          <a:xfrm>
            <a:off x="7571231" y="2944368"/>
            <a:ext cx="3611880" cy="384048"/>
          </a:xfrm>
          <a:prstGeom prst="rect">
            <a:avLst/>
          </a:prstGeom>
          <a:solidFill>
            <a:srgbClr val="080D13"/>
          </a:solidFill>
          <a:ln>
            <a:solidFill>
              <a:srgbClr val="2D3A46"/>
            </a:solidFill>
          </a:ln>
        </p:spPr>
        <p:txBody>
          <a:bodyPr wrap="none" lIns="18288" rIns="18288" tIns="9144" bIns="9144" anchor="t">
            <a:spAutoFit/>
          </a:bodyPr>
          <a:lstStyle/>
          <a:p>
            <a:pPr algn="l"/>
            <a:r>
              <a:rPr sz="1550" b="0">
                <a:solidFill>
                  <a:srgbClr val="D2DCE6"/>
                </a:solidFill>
                <a:latin typeface="Consolas"/>
              </a:rPr>
              <a:t>trials_since_update &gt;= interval</a:t>
            </a:r>
          </a:p>
        </p:txBody>
      </p:sp>
      <p:sp>
        <p:nvSpPr>
          <p:cNvPr id="14" name="TextBox 13"/>
          <p:cNvSpPr txBox="1"/>
          <p:nvPr/>
        </p:nvSpPr>
        <p:spPr>
          <a:xfrm>
            <a:off x="7571231" y="3410712"/>
            <a:ext cx="3611880" cy="438912"/>
          </a:xfrm>
          <a:prstGeom prst="rect">
            <a:avLst/>
          </a:prstGeom>
          <a:noFill/>
        </p:spPr>
        <p:txBody>
          <a:bodyPr wrap="square" lIns="45720" rIns="45720" tIns="36576" bIns="36576">
            <a:spAutoFit/>
          </a:bodyPr>
          <a:lstStyle/>
          <a:p>
            <a:pPr algn="l">
              <a:spcAft>
                <a:spcPts val="500"/>
              </a:spcAft>
            </a:pPr>
            <a:r>
              <a:rPr sz="1250">
                <a:solidFill>
                  <a:srgbClr val="B2BCC6"/>
                </a:solidFill>
                <a:latin typeface="Aptos"/>
              </a:rPr>
              <a:t>Updates only after enough fresh streaming observations.</a:t>
            </a:r>
          </a:p>
        </p:txBody>
      </p:sp>
      <p:sp>
        <p:nvSpPr>
          <p:cNvPr id="15" name="Right Arrow 14"/>
          <p:cNvSpPr/>
          <p:nvPr/>
        </p:nvSpPr>
        <p:spPr>
          <a:xfrm>
            <a:off x="4983480" y="2560320"/>
            <a:ext cx="2084831" cy="621792"/>
          </a:xfrm>
          <a:prstGeom prst="rightArrow">
            <a:avLst/>
          </a:prstGeom>
          <a:solidFill>
            <a:srgbClr val="24DED2"/>
          </a:solidFill>
          <a:ln>
            <a:solidFill>
              <a:srgbClr val="24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3246120"/>
            <a:ext cx="1920240" cy="384048"/>
          </a:xfrm>
          <a:prstGeom prst="rect">
            <a:avLst/>
          </a:prstGeom>
          <a:noFill/>
        </p:spPr>
        <p:txBody>
          <a:bodyPr wrap="none" lIns="18288" rIns="18288" tIns="9144" bIns="9144" anchor="t">
            <a:spAutoFit/>
          </a:bodyPr>
          <a:lstStyle/>
          <a:p>
            <a:pPr algn="ctr"/>
            <a:r>
              <a:rPr sz="1300" b="1">
                <a:solidFill>
                  <a:srgbClr val="F5F8FC"/>
                </a:solidFill>
                <a:latin typeface="Aptos"/>
              </a:rPr>
              <a:t>semantics</a:t>
            </a:r>
          </a:p>
        </p:txBody>
      </p:sp>
      <p:sp>
        <p:nvSpPr>
          <p:cNvPr id="17" name="TextBox 16"/>
          <p:cNvSpPr txBox="1"/>
          <p:nvPr/>
        </p:nvSpPr>
        <p:spPr>
          <a:xfrm>
            <a:off x="4983480" y="2066543"/>
            <a:ext cx="2121408" cy="365760"/>
          </a:xfrm>
          <a:prstGeom prst="rect">
            <a:avLst/>
          </a:prstGeom>
          <a:noFill/>
        </p:spPr>
        <p:txBody>
          <a:bodyPr wrap="none" lIns="18288" rIns="18288" tIns="9144" bIns="9144" anchor="t">
            <a:spAutoFit/>
          </a:bodyPr>
          <a:lstStyle/>
          <a:p>
            <a:pPr algn="ctr"/>
            <a:r>
              <a:rPr sz="1300" b="1">
                <a:solidFill>
                  <a:srgbClr val="BCA869"/>
                </a:solidFill>
                <a:latin typeface="Aptos"/>
              </a:rPr>
              <a:t>POLICY UPDATE</a:t>
            </a:r>
          </a:p>
        </p:txBody>
      </p:sp>
      <p:sp>
        <p:nvSpPr>
          <p:cNvPr id="18" name="Rounded Rectangle 17"/>
          <p:cNvSpPr/>
          <p:nvPr/>
        </p:nvSpPr>
        <p:spPr>
          <a:xfrm>
            <a:off x="658368" y="4069080"/>
            <a:ext cx="10863072" cy="1143000"/>
          </a:xfrm>
          <a:prstGeom prst="roundRect">
            <a:avLst/>
          </a:prstGeom>
          <a:solidFill>
            <a:srgbClr val="18242E"/>
          </a:solidFill>
          <a:ln w="15875">
            <a:solidFill>
              <a:srgbClr val="3C52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270248"/>
            <a:ext cx="3108960" cy="320040"/>
          </a:xfrm>
          <a:prstGeom prst="rect">
            <a:avLst/>
          </a:prstGeom>
          <a:noFill/>
        </p:spPr>
        <p:txBody>
          <a:bodyPr wrap="none" lIns="18288" rIns="18288" tIns="9144" bIns="9144" anchor="t">
            <a:spAutoFit/>
          </a:bodyPr>
          <a:lstStyle/>
          <a:p>
            <a:pPr algn="l"/>
            <a:r>
              <a:rPr sz="1600" b="1">
                <a:solidFill>
                  <a:srgbClr val="F5F8FC"/>
                </a:solidFill>
                <a:latin typeface="Aptos"/>
              </a:rPr>
              <a:t>Why this matters for PdM</a:t>
            </a:r>
          </a:p>
        </p:txBody>
      </p:sp>
      <p:sp>
        <p:nvSpPr>
          <p:cNvPr id="20" name="TextBox 19"/>
          <p:cNvSpPr txBox="1"/>
          <p:nvPr/>
        </p:nvSpPr>
        <p:spPr>
          <a:xfrm>
            <a:off x="896112" y="4599432"/>
            <a:ext cx="3246120" cy="411480"/>
          </a:xfrm>
          <a:prstGeom prst="rect">
            <a:avLst/>
          </a:prstGeom>
          <a:noFill/>
        </p:spPr>
        <p:txBody>
          <a:bodyPr wrap="square" lIns="45720" rIns="45720" tIns="36576" bIns="36576">
            <a:spAutoFit/>
          </a:bodyPr>
          <a:lstStyle/>
          <a:p>
            <a:pPr algn="l">
              <a:spcAft>
                <a:spcPts val="500"/>
              </a:spcAft>
            </a:pPr>
            <a:r>
              <a:rPr sz="1250">
                <a:solidFill>
                  <a:srgbClr val="B2BCC6"/>
                </a:solidFill>
                <a:latin typeface="Aptos"/>
              </a:rPr>
              <a:t>Hurtado’s passive side assumes a continuously evolving stream.</a:t>
            </a:r>
          </a:p>
        </p:txBody>
      </p:sp>
      <p:sp>
        <p:nvSpPr>
          <p:cNvPr id="21" name="TextBox 20"/>
          <p:cNvSpPr txBox="1"/>
          <p:nvPr/>
        </p:nvSpPr>
        <p:spPr>
          <a:xfrm>
            <a:off x="4434840" y="4270248"/>
            <a:ext cx="2743200" cy="320040"/>
          </a:xfrm>
          <a:prstGeom prst="rect">
            <a:avLst/>
          </a:prstGeom>
          <a:noFill/>
        </p:spPr>
        <p:txBody>
          <a:bodyPr wrap="none" lIns="18288" rIns="18288" tIns="9144" bIns="9144" anchor="t">
            <a:spAutoFit/>
          </a:bodyPr>
          <a:lstStyle/>
          <a:p>
            <a:pPr algn="l"/>
            <a:r>
              <a:rPr sz="1600" b="1">
                <a:solidFill>
                  <a:srgbClr val="F5F8FC"/>
                </a:solidFill>
                <a:latin typeface="Aptos"/>
              </a:rPr>
              <a:t>Cleaner experiment axis</a:t>
            </a:r>
          </a:p>
        </p:txBody>
      </p:sp>
      <p:sp>
        <p:nvSpPr>
          <p:cNvPr id="22" name="TextBox 21"/>
          <p:cNvSpPr txBox="1"/>
          <p:nvPr/>
        </p:nvSpPr>
        <p:spPr>
          <a:xfrm>
            <a:off x="4434840" y="4599432"/>
            <a:ext cx="2926080" cy="411480"/>
          </a:xfrm>
          <a:prstGeom prst="rect">
            <a:avLst/>
          </a:prstGeom>
          <a:noFill/>
        </p:spPr>
        <p:txBody>
          <a:bodyPr wrap="square" lIns="45720" rIns="45720" tIns="36576" bIns="36576">
            <a:spAutoFit/>
          </a:bodyPr>
          <a:lstStyle/>
          <a:p>
            <a:pPr algn="l">
              <a:spcAft>
                <a:spcPts val="500"/>
              </a:spcAft>
            </a:pPr>
            <a:r>
              <a:rPr sz="1250">
                <a:solidFill>
                  <a:srgbClr val="B2BCC6"/>
                </a:solidFill>
                <a:latin typeface="Aptos"/>
              </a:rPr>
              <a:t>Separate when to update from which data or labels enter training.</a:t>
            </a:r>
          </a:p>
        </p:txBody>
      </p:sp>
      <p:sp>
        <p:nvSpPr>
          <p:cNvPr id="23" name="TextBox 22"/>
          <p:cNvSpPr txBox="1"/>
          <p:nvPr/>
        </p:nvSpPr>
        <p:spPr>
          <a:xfrm>
            <a:off x="7818120" y="4270248"/>
            <a:ext cx="2926080" cy="320040"/>
          </a:xfrm>
          <a:prstGeom prst="rect">
            <a:avLst/>
          </a:prstGeom>
          <a:noFill/>
        </p:spPr>
        <p:txBody>
          <a:bodyPr wrap="none" lIns="18288" rIns="18288" tIns="9144" bIns="9144" anchor="t">
            <a:spAutoFit/>
          </a:bodyPr>
          <a:lstStyle/>
          <a:p>
            <a:pPr algn="l"/>
            <a:r>
              <a:rPr sz="1600" b="1">
                <a:solidFill>
                  <a:srgbClr val="F5F8FC"/>
                </a:solidFill>
                <a:latin typeface="Aptos"/>
              </a:rPr>
              <a:t>Next passive baseline</a:t>
            </a:r>
          </a:p>
        </p:txBody>
      </p:sp>
      <p:sp>
        <p:nvSpPr>
          <p:cNvPr id="24" name="TextBox 23"/>
          <p:cNvSpPr txBox="1"/>
          <p:nvPr/>
        </p:nvSpPr>
        <p:spPr>
          <a:xfrm>
            <a:off x="7818120" y="4599432"/>
            <a:ext cx="3063240" cy="411480"/>
          </a:xfrm>
          <a:prstGeom prst="rect">
            <a:avLst/>
          </a:prstGeom>
          <a:noFill/>
        </p:spPr>
        <p:txBody>
          <a:bodyPr wrap="square" lIns="45720" rIns="45720" tIns="36576" bIns="36576">
            <a:spAutoFit/>
          </a:bodyPr>
          <a:lstStyle/>
          <a:p>
            <a:pPr algn="l">
              <a:spcAft>
                <a:spcPts val="500"/>
              </a:spcAft>
            </a:pPr>
            <a:r>
              <a:rPr sz="1250">
                <a:solidFill>
                  <a:srgbClr val="B2BCC6"/>
                </a:solidFill>
                <a:latin typeface="Aptos"/>
              </a:rPr>
              <a:t>Add ContinuousRetrain(batch_size) for mini-batch or per-observation updates.</a:t>
            </a:r>
          </a:p>
        </p:txBody>
      </p:sp>
      <p:sp>
        <p:nvSpPr>
          <p:cNvPr id="25" name="TextBox 24"/>
          <p:cNvSpPr txBox="1"/>
          <p:nvPr/>
        </p:nvSpPr>
        <p:spPr>
          <a:xfrm>
            <a:off x="612648" y="5532120"/>
            <a:ext cx="9692640" cy="228600"/>
          </a:xfrm>
          <a:prstGeom prst="rect">
            <a:avLst/>
          </a:prstGeom>
          <a:noFill/>
        </p:spPr>
        <p:txBody>
          <a:bodyPr wrap="none" lIns="18288" rIns="18288" tIns="9144" bIns="9144" anchor="t">
            <a:spAutoFit/>
          </a:bodyPr>
          <a:lstStyle/>
          <a:p>
            <a:pPr algn="l"/>
            <a:r>
              <a:rPr sz="1180" b="0">
                <a:solidFill>
                  <a:srgbClr val="B2BCC6"/>
                </a:solidFill>
                <a:latin typeface="Aptos"/>
              </a:rPr>
              <a:t>Achievement: policy taxonomy now distinguishes active triggers from passive stream updates, supporting continual-learning experiments for predictive maintenance.</a:t>
            </a:r>
          </a:p>
        </p:txBody>
      </p:sp>
      <p:sp>
        <p:nvSpPr>
          <p:cNvPr id="26" name="TextBox 25"/>
          <p:cNvSpPr txBox="1"/>
          <p:nvPr/>
        </p:nvSpPr>
        <p:spPr>
          <a:xfrm>
            <a:off x="612648" y="5943600"/>
            <a:ext cx="8869680" cy="182880"/>
          </a:xfrm>
          <a:prstGeom prst="rect">
            <a:avLst/>
          </a:prstGeom>
          <a:noFill/>
        </p:spPr>
        <p:txBody>
          <a:bodyPr wrap="none" lIns="18288" rIns="18288" tIns="9144" bIns="9144" anchor="t">
            <a:spAutoFit/>
          </a:bodyPr>
          <a:lstStyle/>
          <a:p>
            <a:pPr algn="l"/>
            <a:r>
              <a:rPr sz="1050" b="0">
                <a:solidFill>
                  <a:srgbClr val="919CA8"/>
                </a:solidFill>
                <a:latin typeface="Aptos"/>
              </a:rPr>
              <a:t>hlin863/ewma_covariate_shift_demo</a:t>
            </a:r>
          </a:p>
        </p:txBody>
      </p:sp>
      <p:sp>
        <p:nvSpPr>
          <p:cNvPr id="27" name="TextBox 26"/>
          <p:cNvSpPr txBox="1"/>
          <p:nvPr/>
        </p:nvSpPr>
        <p:spPr>
          <a:xfrm>
            <a:off x="10771632" y="5943600"/>
            <a:ext cx="548640" cy="182880"/>
          </a:xfrm>
          <a:prstGeom prst="rect">
            <a:avLst/>
          </a:prstGeom>
          <a:noFill/>
        </p:spPr>
        <p:txBody>
          <a:bodyPr wrap="none" lIns="18288" rIns="18288" tIns="9144" bIns="9144" anchor="t">
            <a:spAutoFit/>
          </a:bodyPr>
          <a:lstStyle/>
          <a:p>
            <a:pPr algn="r"/>
            <a:r>
              <a:rPr sz="1050" b="0">
                <a:solidFill>
                  <a:srgbClr val="919CA8"/>
                </a:solidFill>
                <a:latin typeface="Aptos"/>
              </a:rPr>
              <a:t>23</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293</TotalTime>
  <Words>4653</Words>
  <Application>Microsoft Office PowerPoint</Application>
  <DocSecurity>0</DocSecurity>
  <PresentationFormat>Widescreen</PresentationFormat>
  <Paragraphs>656</Paragraphs>
  <Slides>22</Slides>
  <Notes>22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22</vt:i4>
      </vt:variant>
    </vt:vector>
  </HeadingPairs>
  <TitlesOfParts>
    <vt:vector size="28" baseType="lpstr">
      <vt:lpstr>DejaVu Sans</vt:lpstr>
      <vt:lpstr>Aptos</vt:lpstr>
      <vt:lpstr>Calibri</vt:lpstr>
      <vt:lpstr>Cambria Math</vt:lpstr>
      <vt:lpstr>ChatGPT</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Feature Extraction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Haocheng Lin</cp:lastModifiedBy>
  <cp:revision>23</cp:revision>
  <dcterms:created xsi:type="dcterms:W3CDTF">2026-09-28T11:03:11Z</dcterms:created>
  <dcterms:modified xsi:type="dcterms:W3CDTF">2026-10-04T17:49:28Z</dcterms:modified>
</cp:coreProperties>
</file>